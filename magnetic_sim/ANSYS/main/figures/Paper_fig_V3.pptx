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68" r:id="rId3"/>
    <p:sldId id="269" r:id="rId4"/>
    <p:sldId id="278" r:id="rId5"/>
    <p:sldId id="272" r:id="rId6"/>
    <p:sldId id="275" r:id="rId7"/>
    <p:sldId id="273" r:id="rId8"/>
    <p:sldId id="274" r:id="rId9"/>
    <p:sldId id="276" r:id="rId10"/>
    <p:sldId id="277" r:id="rId11"/>
  </p:sldIdLst>
  <p:sldSz cx="12192000" cy="6858000"/>
  <p:notesSz cx="6858000" cy="914400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p:cViewPr varScale="1">
        <p:scale>
          <a:sx n="113" d="100"/>
          <a:sy n="113" d="100"/>
        </p:scale>
        <p:origin x="510"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標題投影片">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AA313B5C-4451-4F85-8E22-4F6D30112120}"/>
              </a:ext>
            </a:extLst>
          </p:cNvPr>
          <p:cNvSpPr>
            <a:spLocks noGrp="1"/>
          </p:cNvSpPr>
          <p:nvPr>
            <p:ph type="ctrTitle"/>
          </p:nvPr>
        </p:nvSpPr>
        <p:spPr>
          <a:xfrm>
            <a:off x="1524000" y="1122363"/>
            <a:ext cx="9144000" cy="2387600"/>
          </a:xfrm>
        </p:spPr>
        <p:txBody>
          <a:bodyPr anchor="b"/>
          <a:lstStyle>
            <a:lvl1pPr algn="ctr">
              <a:defRPr sz="6000"/>
            </a:lvl1pPr>
          </a:lstStyle>
          <a:p>
            <a:r>
              <a:rPr lang="zh-TW" altLang="en-US"/>
              <a:t>按一下以編輯母片標題樣式</a:t>
            </a:r>
          </a:p>
        </p:txBody>
      </p:sp>
      <p:sp>
        <p:nvSpPr>
          <p:cNvPr id="3" name="副標題 2">
            <a:extLst>
              <a:ext uri="{FF2B5EF4-FFF2-40B4-BE49-F238E27FC236}">
                <a16:creationId xmlns:a16="http://schemas.microsoft.com/office/drawing/2014/main" id="{438C9657-D53F-4E4F-9171-BAB7C00D967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p>
        </p:txBody>
      </p:sp>
      <p:sp>
        <p:nvSpPr>
          <p:cNvPr id="4" name="日期版面配置區 3">
            <a:extLst>
              <a:ext uri="{FF2B5EF4-FFF2-40B4-BE49-F238E27FC236}">
                <a16:creationId xmlns:a16="http://schemas.microsoft.com/office/drawing/2014/main" id="{ECB1CB1F-3023-4059-8D9C-CF5C75B6AF97}"/>
              </a:ext>
            </a:extLst>
          </p:cNvPr>
          <p:cNvSpPr>
            <a:spLocks noGrp="1"/>
          </p:cNvSpPr>
          <p:nvPr>
            <p:ph type="dt" sz="half" idx="10"/>
          </p:nvPr>
        </p:nvSpPr>
        <p:spPr/>
        <p:txBody>
          <a:bodyPr/>
          <a:lstStyle/>
          <a:p>
            <a:fld id="{16D42070-5DAD-4E7E-A6F8-25E560BC7BBC}" type="datetimeFigureOut">
              <a:rPr lang="zh-TW" altLang="en-US" smtClean="0"/>
              <a:t>2026/8/3</a:t>
            </a:fld>
            <a:endParaRPr lang="zh-TW" altLang="en-US"/>
          </a:p>
        </p:txBody>
      </p:sp>
      <p:sp>
        <p:nvSpPr>
          <p:cNvPr id="5" name="頁尾版面配置區 4">
            <a:extLst>
              <a:ext uri="{FF2B5EF4-FFF2-40B4-BE49-F238E27FC236}">
                <a16:creationId xmlns:a16="http://schemas.microsoft.com/office/drawing/2014/main" id="{88FDADB6-4903-41BB-BC87-020BA3FBD9C3}"/>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7EFCEFEA-DE84-42FC-BE56-10A71321A99D}"/>
              </a:ext>
            </a:extLst>
          </p:cNvPr>
          <p:cNvSpPr>
            <a:spLocks noGrp="1"/>
          </p:cNvSpPr>
          <p:nvPr>
            <p:ph type="sldNum" sz="quarter" idx="12"/>
          </p:nvPr>
        </p:nvSpPr>
        <p:spPr/>
        <p:txBody>
          <a:body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330470851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標題及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D98524EB-4587-44AF-A65F-8CBAAF65D917}"/>
              </a:ext>
            </a:extLst>
          </p:cNvPr>
          <p:cNvSpPr>
            <a:spLocks noGrp="1"/>
          </p:cNvSpPr>
          <p:nvPr>
            <p:ph type="title"/>
          </p:nvPr>
        </p:nvSpPr>
        <p:spPr/>
        <p:txBody>
          <a:bodyPr/>
          <a:lstStyle/>
          <a:p>
            <a:r>
              <a:rPr lang="zh-TW" altLang="en-US"/>
              <a:t>按一下以編輯母片標題樣式</a:t>
            </a:r>
          </a:p>
        </p:txBody>
      </p:sp>
      <p:sp>
        <p:nvSpPr>
          <p:cNvPr id="3" name="內容版面配置區 2">
            <a:extLst>
              <a:ext uri="{FF2B5EF4-FFF2-40B4-BE49-F238E27FC236}">
                <a16:creationId xmlns:a16="http://schemas.microsoft.com/office/drawing/2014/main" id="{5A2C5D94-2521-44B1-AF19-188FFBBD19CB}"/>
              </a:ext>
            </a:extLst>
          </p:cNvPr>
          <p:cNvSpPr>
            <a:spLocks noGrp="1"/>
          </p:cNvSpPr>
          <p:nvPr>
            <p:ph idx="1"/>
          </p:nvPr>
        </p:nvSpPr>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65882776-4508-4BB4-B95B-94CABBBA1DAA}"/>
              </a:ext>
            </a:extLst>
          </p:cNvPr>
          <p:cNvSpPr>
            <a:spLocks noGrp="1"/>
          </p:cNvSpPr>
          <p:nvPr>
            <p:ph type="dt" sz="half" idx="10"/>
          </p:nvPr>
        </p:nvSpPr>
        <p:spPr/>
        <p:txBody>
          <a:bodyPr/>
          <a:lstStyle/>
          <a:p>
            <a:fld id="{16D42070-5DAD-4E7E-A6F8-25E560BC7BBC}" type="datetimeFigureOut">
              <a:rPr lang="zh-TW" altLang="en-US" smtClean="0"/>
              <a:t>2026/8/3</a:t>
            </a:fld>
            <a:endParaRPr lang="zh-TW" altLang="en-US"/>
          </a:p>
        </p:txBody>
      </p:sp>
      <p:sp>
        <p:nvSpPr>
          <p:cNvPr id="5" name="頁尾版面配置區 4">
            <a:extLst>
              <a:ext uri="{FF2B5EF4-FFF2-40B4-BE49-F238E27FC236}">
                <a16:creationId xmlns:a16="http://schemas.microsoft.com/office/drawing/2014/main" id="{180C8587-132A-4FA1-AC7D-93EABEB0372F}"/>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08ABA0DE-C7B2-4848-95AC-5A3E7CA5644D}"/>
              </a:ext>
            </a:extLst>
          </p:cNvPr>
          <p:cNvSpPr>
            <a:spLocks noGrp="1"/>
          </p:cNvSpPr>
          <p:nvPr>
            <p:ph type="sldNum" sz="quarter" idx="12"/>
          </p:nvPr>
        </p:nvSpPr>
        <p:spPr/>
        <p:txBody>
          <a:body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290991724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章節標題">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C2A3930A-494A-46F3-88CB-96081BB0DBF6}"/>
              </a:ext>
            </a:extLst>
          </p:cNvPr>
          <p:cNvSpPr>
            <a:spLocks noGrp="1"/>
          </p:cNvSpPr>
          <p:nvPr>
            <p:ph type="title"/>
          </p:nvPr>
        </p:nvSpPr>
        <p:spPr>
          <a:xfrm>
            <a:off x="831850" y="1709738"/>
            <a:ext cx="10515600" cy="2852737"/>
          </a:xfrm>
        </p:spPr>
        <p:txBody>
          <a:bodyPr anchor="b"/>
          <a:lstStyle>
            <a:lvl1pPr>
              <a:defRPr sz="6000"/>
            </a:lvl1pPr>
          </a:lstStyle>
          <a:p>
            <a:r>
              <a:rPr lang="zh-TW" altLang="en-US"/>
              <a:t>按一下以編輯母片標題樣式</a:t>
            </a:r>
          </a:p>
        </p:txBody>
      </p:sp>
      <p:sp>
        <p:nvSpPr>
          <p:cNvPr id="3" name="文字版面配置區 2">
            <a:extLst>
              <a:ext uri="{FF2B5EF4-FFF2-40B4-BE49-F238E27FC236}">
                <a16:creationId xmlns:a16="http://schemas.microsoft.com/office/drawing/2014/main" id="{0478FD7A-7A96-43E2-8961-E0DB15C178D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TW" altLang="en-US"/>
              <a:t>按一下以編輯母片文字樣式</a:t>
            </a:r>
          </a:p>
        </p:txBody>
      </p:sp>
      <p:sp>
        <p:nvSpPr>
          <p:cNvPr id="4" name="日期版面配置區 3">
            <a:extLst>
              <a:ext uri="{FF2B5EF4-FFF2-40B4-BE49-F238E27FC236}">
                <a16:creationId xmlns:a16="http://schemas.microsoft.com/office/drawing/2014/main" id="{7006FC20-C1D3-46B0-BF1E-03D546043D36}"/>
              </a:ext>
            </a:extLst>
          </p:cNvPr>
          <p:cNvSpPr>
            <a:spLocks noGrp="1"/>
          </p:cNvSpPr>
          <p:nvPr>
            <p:ph type="dt" sz="half" idx="10"/>
          </p:nvPr>
        </p:nvSpPr>
        <p:spPr/>
        <p:txBody>
          <a:bodyPr/>
          <a:lstStyle/>
          <a:p>
            <a:fld id="{16D42070-5DAD-4E7E-A6F8-25E560BC7BBC}" type="datetimeFigureOut">
              <a:rPr lang="zh-TW" altLang="en-US" smtClean="0"/>
              <a:t>2026/8/3</a:t>
            </a:fld>
            <a:endParaRPr lang="zh-TW" altLang="en-US"/>
          </a:p>
        </p:txBody>
      </p:sp>
      <p:sp>
        <p:nvSpPr>
          <p:cNvPr id="5" name="頁尾版面配置區 4">
            <a:extLst>
              <a:ext uri="{FF2B5EF4-FFF2-40B4-BE49-F238E27FC236}">
                <a16:creationId xmlns:a16="http://schemas.microsoft.com/office/drawing/2014/main" id="{C4F6D392-6F8A-4414-AA11-638326A9F37A}"/>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FE7B8EB7-22A4-447A-A525-998FA4AEC1F4}"/>
              </a:ext>
            </a:extLst>
          </p:cNvPr>
          <p:cNvSpPr>
            <a:spLocks noGrp="1"/>
          </p:cNvSpPr>
          <p:nvPr>
            <p:ph type="sldNum" sz="quarter" idx="12"/>
          </p:nvPr>
        </p:nvSpPr>
        <p:spPr/>
        <p:txBody>
          <a:body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8157239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兩個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D732D765-AEAD-45D9-9508-FB7BE0E0289D}"/>
              </a:ext>
            </a:extLst>
          </p:cNvPr>
          <p:cNvSpPr>
            <a:spLocks noGrp="1"/>
          </p:cNvSpPr>
          <p:nvPr>
            <p:ph type="title"/>
          </p:nvPr>
        </p:nvSpPr>
        <p:spPr/>
        <p:txBody>
          <a:bodyPr/>
          <a:lstStyle/>
          <a:p>
            <a:r>
              <a:rPr lang="zh-TW" altLang="en-US"/>
              <a:t>按一下以編輯母片標題樣式</a:t>
            </a:r>
          </a:p>
        </p:txBody>
      </p:sp>
      <p:sp>
        <p:nvSpPr>
          <p:cNvPr id="3" name="內容版面配置區 2">
            <a:extLst>
              <a:ext uri="{FF2B5EF4-FFF2-40B4-BE49-F238E27FC236}">
                <a16:creationId xmlns:a16="http://schemas.microsoft.com/office/drawing/2014/main" id="{B12A380E-4D39-4CB1-A9B1-CAAAABD809C1}"/>
              </a:ext>
            </a:extLst>
          </p:cNvPr>
          <p:cNvSpPr>
            <a:spLocks noGrp="1"/>
          </p:cNvSpPr>
          <p:nvPr>
            <p:ph sz="half" idx="1"/>
          </p:nvPr>
        </p:nvSpPr>
        <p:spPr>
          <a:xfrm>
            <a:off x="838200" y="1825625"/>
            <a:ext cx="5181600" cy="4351338"/>
          </a:xfr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內容版面配置區 3">
            <a:extLst>
              <a:ext uri="{FF2B5EF4-FFF2-40B4-BE49-F238E27FC236}">
                <a16:creationId xmlns:a16="http://schemas.microsoft.com/office/drawing/2014/main" id="{E4303AA3-878B-45F8-A4E8-92FA10CD26BC}"/>
              </a:ext>
            </a:extLst>
          </p:cNvPr>
          <p:cNvSpPr>
            <a:spLocks noGrp="1"/>
          </p:cNvSpPr>
          <p:nvPr>
            <p:ph sz="half" idx="2"/>
          </p:nvPr>
        </p:nvSpPr>
        <p:spPr>
          <a:xfrm>
            <a:off x="6172200" y="1825625"/>
            <a:ext cx="5181600" cy="4351338"/>
          </a:xfr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5" name="日期版面配置區 4">
            <a:extLst>
              <a:ext uri="{FF2B5EF4-FFF2-40B4-BE49-F238E27FC236}">
                <a16:creationId xmlns:a16="http://schemas.microsoft.com/office/drawing/2014/main" id="{E9C1F139-09FB-4A94-AA83-54F2B93E6A60}"/>
              </a:ext>
            </a:extLst>
          </p:cNvPr>
          <p:cNvSpPr>
            <a:spLocks noGrp="1"/>
          </p:cNvSpPr>
          <p:nvPr>
            <p:ph type="dt" sz="half" idx="10"/>
          </p:nvPr>
        </p:nvSpPr>
        <p:spPr/>
        <p:txBody>
          <a:bodyPr/>
          <a:lstStyle/>
          <a:p>
            <a:fld id="{16D42070-5DAD-4E7E-A6F8-25E560BC7BBC}" type="datetimeFigureOut">
              <a:rPr lang="zh-TW" altLang="en-US" smtClean="0"/>
              <a:t>2026/8/3</a:t>
            </a:fld>
            <a:endParaRPr lang="zh-TW" altLang="en-US"/>
          </a:p>
        </p:txBody>
      </p:sp>
      <p:sp>
        <p:nvSpPr>
          <p:cNvPr id="6" name="頁尾版面配置區 5">
            <a:extLst>
              <a:ext uri="{FF2B5EF4-FFF2-40B4-BE49-F238E27FC236}">
                <a16:creationId xmlns:a16="http://schemas.microsoft.com/office/drawing/2014/main" id="{D42CB685-F91E-4E52-9043-88820ECAF738}"/>
              </a:ext>
            </a:extLst>
          </p:cNvPr>
          <p:cNvSpPr>
            <a:spLocks noGrp="1"/>
          </p:cNvSpPr>
          <p:nvPr>
            <p:ph type="ftr" sz="quarter" idx="11"/>
          </p:nvPr>
        </p:nvSpPr>
        <p:spPr/>
        <p:txBody>
          <a:bodyPr/>
          <a:lstStyle/>
          <a:p>
            <a:endParaRPr lang="zh-TW" altLang="en-US"/>
          </a:p>
        </p:txBody>
      </p:sp>
      <p:sp>
        <p:nvSpPr>
          <p:cNvPr id="7" name="投影片編號版面配置區 6">
            <a:extLst>
              <a:ext uri="{FF2B5EF4-FFF2-40B4-BE49-F238E27FC236}">
                <a16:creationId xmlns:a16="http://schemas.microsoft.com/office/drawing/2014/main" id="{5047ED7B-0BBB-48C6-8CBE-10F473361AD8}"/>
              </a:ext>
            </a:extLst>
          </p:cNvPr>
          <p:cNvSpPr>
            <a:spLocks noGrp="1"/>
          </p:cNvSpPr>
          <p:nvPr>
            <p:ph type="sldNum" sz="quarter" idx="12"/>
          </p:nvPr>
        </p:nvSpPr>
        <p:spPr/>
        <p:txBody>
          <a:body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186347967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E328D6F7-2A01-404A-8E60-308B5B2DF66A}"/>
              </a:ext>
            </a:extLst>
          </p:cNvPr>
          <p:cNvSpPr>
            <a:spLocks noGrp="1"/>
          </p:cNvSpPr>
          <p:nvPr>
            <p:ph type="title"/>
          </p:nvPr>
        </p:nvSpPr>
        <p:spPr>
          <a:xfrm>
            <a:off x="839788" y="365125"/>
            <a:ext cx="10515600" cy="1325563"/>
          </a:xfrm>
        </p:spPr>
        <p:txBody>
          <a:bodyPr/>
          <a:lstStyle/>
          <a:p>
            <a:r>
              <a:rPr lang="zh-TW" altLang="en-US"/>
              <a:t>按一下以編輯母片標題樣式</a:t>
            </a:r>
          </a:p>
        </p:txBody>
      </p:sp>
      <p:sp>
        <p:nvSpPr>
          <p:cNvPr id="3" name="文字版面配置區 2">
            <a:extLst>
              <a:ext uri="{FF2B5EF4-FFF2-40B4-BE49-F238E27FC236}">
                <a16:creationId xmlns:a16="http://schemas.microsoft.com/office/drawing/2014/main" id="{F34BC229-0964-4EB2-A32F-3BE569B1158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按一下以編輯母片文字樣式</a:t>
            </a:r>
          </a:p>
        </p:txBody>
      </p:sp>
      <p:sp>
        <p:nvSpPr>
          <p:cNvPr id="4" name="內容版面配置區 3">
            <a:extLst>
              <a:ext uri="{FF2B5EF4-FFF2-40B4-BE49-F238E27FC236}">
                <a16:creationId xmlns:a16="http://schemas.microsoft.com/office/drawing/2014/main" id="{FBDD00DB-A2AC-4093-9580-16DB7A5856B6}"/>
              </a:ext>
            </a:extLst>
          </p:cNvPr>
          <p:cNvSpPr>
            <a:spLocks noGrp="1"/>
          </p:cNvSpPr>
          <p:nvPr>
            <p:ph sz="half" idx="2"/>
          </p:nvPr>
        </p:nvSpPr>
        <p:spPr>
          <a:xfrm>
            <a:off x="839788" y="2505075"/>
            <a:ext cx="5157787" cy="3684588"/>
          </a:xfr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5" name="文字版面配置區 4">
            <a:extLst>
              <a:ext uri="{FF2B5EF4-FFF2-40B4-BE49-F238E27FC236}">
                <a16:creationId xmlns:a16="http://schemas.microsoft.com/office/drawing/2014/main" id="{D98E98D9-1B64-42E0-BF51-3948B6593DF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按一下以編輯母片文字樣式</a:t>
            </a:r>
          </a:p>
        </p:txBody>
      </p:sp>
      <p:sp>
        <p:nvSpPr>
          <p:cNvPr id="6" name="內容版面配置區 5">
            <a:extLst>
              <a:ext uri="{FF2B5EF4-FFF2-40B4-BE49-F238E27FC236}">
                <a16:creationId xmlns:a16="http://schemas.microsoft.com/office/drawing/2014/main" id="{91B0C13F-E177-4192-B9A6-DEC49612F692}"/>
              </a:ext>
            </a:extLst>
          </p:cNvPr>
          <p:cNvSpPr>
            <a:spLocks noGrp="1"/>
          </p:cNvSpPr>
          <p:nvPr>
            <p:ph sz="quarter" idx="4"/>
          </p:nvPr>
        </p:nvSpPr>
        <p:spPr>
          <a:xfrm>
            <a:off x="6172200" y="2505075"/>
            <a:ext cx="5183188" cy="3684588"/>
          </a:xfr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7" name="日期版面配置區 6">
            <a:extLst>
              <a:ext uri="{FF2B5EF4-FFF2-40B4-BE49-F238E27FC236}">
                <a16:creationId xmlns:a16="http://schemas.microsoft.com/office/drawing/2014/main" id="{64F99ADD-F054-4E54-9158-162DB547028A}"/>
              </a:ext>
            </a:extLst>
          </p:cNvPr>
          <p:cNvSpPr>
            <a:spLocks noGrp="1"/>
          </p:cNvSpPr>
          <p:nvPr>
            <p:ph type="dt" sz="half" idx="10"/>
          </p:nvPr>
        </p:nvSpPr>
        <p:spPr/>
        <p:txBody>
          <a:bodyPr/>
          <a:lstStyle/>
          <a:p>
            <a:fld id="{16D42070-5DAD-4E7E-A6F8-25E560BC7BBC}" type="datetimeFigureOut">
              <a:rPr lang="zh-TW" altLang="en-US" smtClean="0"/>
              <a:t>2026/8/3</a:t>
            </a:fld>
            <a:endParaRPr lang="zh-TW" altLang="en-US"/>
          </a:p>
        </p:txBody>
      </p:sp>
      <p:sp>
        <p:nvSpPr>
          <p:cNvPr id="8" name="頁尾版面配置區 7">
            <a:extLst>
              <a:ext uri="{FF2B5EF4-FFF2-40B4-BE49-F238E27FC236}">
                <a16:creationId xmlns:a16="http://schemas.microsoft.com/office/drawing/2014/main" id="{56242129-DAAA-4FB1-8D26-7248AD72CF9B}"/>
              </a:ext>
            </a:extLst>
          </p:cNvPr>
          <p:cNvSpPr>
            <a:spLocks noGrp="1"/>
          </p:cNvSpPr>
          <p:nvPr>
            <p:ph type="ftr" sz="quarter" idx="11"/>
          </p:nvPr>
        </p:nvSpPr>
        <p:spPr/>
        <p:txBody>
          <a:bodyPr/>
          <a:lstStyle/>
          <a:p>
            <a:endParaRPr lang="zh-TW" altLang="en-US"/>
          </a:p>
        </p:txBody>
      </p:sp>
      <p:sp>
        <p:nvSpPr>
          <p:cNvPr id="9" name="投影片編號版面配置區 8">
            <a:extLst>
              <a:ext uri="{FF2B5EF4-FFF2-40B4-BE49-F238E27FC236}">
                <a16:creationId xmlns:a16="http://schemas.microsoft.com/office/drawing/2014/main" id="{FFDDDDE1-FD8E-4032-A6CC-B2F72DA857B5}"/>
              </a:ext>
            </a:extLst>
          </p:cNvPr>
          <p:cNvSpPr>
            <a:spLocks noGrp="1"/>
          </p:cNvSpPr>
          <p:nvPr>
            <p:ph type="sldNum" sz="quarter" idx="12"/>
          </p:nvPr>
        </p:nvSpPr>
        <p:spPr/>
        <p:txBody>
          <a:body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12857083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E0A7E1C2-942A-47E2-9A00-0B52E276B5CF}"/>
              </a:ext>
            </a:extLst>
          </p:cNvPr>
          <p:cNvSpPr>
            <a:spLocks noGrp="1"/>
          </p:cNvSpPr>
          <p:nvPr>
            <p:ph type="title"/>
          </p:nvPr>
        </p:nvSpPr>
        <p:spPr/>
        <p:txBody>
          <a:bodyPr/>
          <a:lstStyle/>
          <a:p>
            <a:r>
              <a:rPr lang="zh-TW" altLang="en-US"/>
              <a:t>按一下以編輯母片標題樣式</a:t>
            </a:r>
          </a:p>
        </p:txBody>
      </p:sp>
      <p:sp>
        <p:nvSpPr>
          <p:cNvPr id="3" name="日期版面配置區 2">
            <a:extLst>
              <a:ext uri="{FF2B5EF4-FFF2-40B4-BE49-F238E27FC236}">
                <a16:creationId xmlns:a16="http://schemas.microsoft.com/office/drawing/2014/main" id="{1FEC29EA-2303-41C4-8179-5DF5AC137E66}"/>
              </a:ext>
            </a:extLst>
          </p:cNvPr>
          <p:cNvSpPr>
            <a:spLocks noGrp="1"/>
          </p:cNvSpPr>
          <p:nvPr>
            <p:ph type="dt" sz="half" idx="10"/>
          </p:nvPr>
        </p:nvSpPr>
        <p:spPr/>
        <p:txBody>
          <a:bodyPr/>
          <a:lstStyle/>
          <a:p>
            <a:fld id="{16D42070-5DAD-4E7E-A6F8-25E560BC7BBC}" type="datetimeFigureOut">
              <a:rPr lang="zh-TW" altLang="en-US" smtClean="0"/>
              <a:t>2026/8/3</a:t>
            </a:fld>
            <a:endParaRPr lang="zh-TW" altLang="en-US"/>
          </a:p>
        </p:txBody>
      </p:sp>
      <p:sp>
        <p:nvSpPr>
          <p:cNvPr id="4" name="頁尾版面配置區 3">
            <a:extLst>
              <a:ext uri="{FF2B5EF4-FFF2-40B4-BE49-F238E27FC236}">
                <a16:creationId xmlns:a16="http://schemas.microsoft.com/office/drawing/2014/main" id="{3A7E344C-546C-4B5B-948D-F248F196BFE4}"/>
              </a:ext>
            </a:extLst>
          </p:cNvPr>
          <p:cNvSpPr>
            <a:spLocks noGrp="1"/>
          </p:cNvSpPr>
          <p:nvPr>
            <p:ph type="ftr" sz="quarter" idx="11"/>
          </p:nvPr>
        </p:nvSpPr>
        <p:spPr/>
        <p:txBody>
          <a:bodyPr/>
          <a:lstStyle/>
          <a:p>
            <a:endParaRPr lang="zh-TW" altLang="en-US"/>
          </a:p>
        </p:txBody>
      </p:sp>
      <p:sp>
        <p:nvSpPr>
          <p:cNvPr id="5" name="投影片編號版面配置區 4">
            <a:extLst>
              <a:ext uri="{FF2B5EF4-FFF2-40B4-BE49-F238E27FC236}">
                <a16:creationId xmlns:a16="http://schemas.microsoft.com/office/drawing/2014/main" id="{BB0CE009-148B-41C4-9070-05067E45A9DE}"/>
              </a:ext>
            </a:extLst>
          </p:cNvPr>
          <p:cNvSpPr>
            <a:spLocks noGrp="1"/>
          </p:cNvSpPr>
          <p:nvPr>
            <p:ph type="sldNum" sz="quarter" idx="12"/>
          </p:nvPr>
        </p:nvSpPr>
        <p:spPr/>
        <p:txBody>
          <a:body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126778462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版面配置區 1">
            <a:extLst>
              <a:ext uri="{FF2B5EF4-FFF2-40B4-BE49-F238E27FC236}">
                <a16:creationId xmlns:a16="http://schemas.microsoft.com/office/drawing/2014/main" id="{D54434E9-DB57-4C91-A8E8-AA7E4DE1E42C}"/>
              </a:ext>
            </a:extLst>
          </p:cNvPr>
          <p:cNvSpPr>
            <a:spLocks noGrp="1"/>
          </p:cNvSpPr>
          <p:nvPr>
            <p:ph type="dt" sz="half" idx="10"/>
          </p:nvPr>
        </p:nvSpPr>
        <p:spPr/>
        <p:txBody>
          <a:bodyPr/>
          <a:lstStyle/>
          <a:p>
            <a:fld id="{16D42070-5DAD-4E7E-A6F8-25E560BC7BBC}" type="datetimeFigureOut">
              <a:rPr lang="zh-TW" altLang="en-US" smtClean="0"/>
              <a:t>2026/8/3</a:t>
            </a:fld>
            <a:endParaRPr lang="zh-TW" altLang="en-US"/>
          </a:p>
        </p:txBody>
      </p:sp>
      <p:sp>
        <p:nvSpPr>
          <p:cNvPr id="3" name="頁尾版面配置區 2">
            <a:extLst>
              <a:ext uri="{FF2B5EF4-FFF2-40B4-BE49-F238E27FC236}">
                <a16:creationId xmlns:a16="http://schemas.microsoft.com/office/drawing/2014/main" id="{43CBD5B2-A875-4997-957A-2CACB4E8187F}"/>
              </a:ext>
            </a:extLst>
          </p:cNvPr>
          <p:cNvSpPr>
            <a:spLocks noGrp="1"/>
          </p:cNvSpPr>
          <p:nvPr>
            <p:ph type="ftr" sz="quarter" idx="11"/>
          </p:nvPr>
        </p:nvSpPr>
        <p:spPr/>
        <p:txBody>
          <a:bodyPr/>
          <a:lstStyle/>
          <a:p>
            <a:endParaRPr lang="zh-TW" altLang="en-US"/>
          </a:p>
        </p:txBody>
      </p:sp>
      <p:sp>
        <p:nvSpPr>
          <p:cNvPr id="4" name="投影片編號版面配置區 3">
            <a:extLst>
              <a:ext uri="{FF2B5EF4-FFF2-40B4-BE49-F238E27FC236}">
                <a16:creationId xmlns:a16="http://schemas.microsoft.com/office/drawing/2014/main" id="{1DAE9AF9-98E2-49BC-890E-C4901C5C96D7}"/>
              </a:ext>
            </a:extLst>
          </p:cNvPr>
          <p:cNvSpPr>
            <a:spLocks noGrp="1"/>
          </p:cNvSpPr>
          <p:nvPr>
            <p:ph type="sldNum" sz="quarter" idx="12"/>
          </p:nvPr>
        </p:nvSpPr>
        <p:spPr/>
        <p:txBody>
          <a:body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29844740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含輔助字幕的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137F9702-2F89-4C07-A091-A864CF9277AB}"/>
              </a:ext>
            </a:extLst>
          </p:cNvPr>
          <p:cNvSpPr>
            <a:spLocks noGrp="1"/>
          </p:cNvSpPr>
          <p:nvPr>
            <p:ph type="title"/>
          </p:nvPr>
        </p:nvSpPr>
        <p:spPr>
          <a:xfrm>
            <a:off x="839788" y="457200"/>
            <a:ext cx="3932237" cy="1600200"/>
          </a:xfrm>
        </p:spPr>
        <p:txBody>
          <a:bodyPr anchor="b"/>
          <a:lstStyle>
            <a:lvl1pPr>
              <a:defRPr sz="3200"/>
            </a:lvl1pPr>
          </a:lstStyle>
          <a:p>
            <a:r>
              <a:rPr lang="zh-TW" altLang="en-US"/>
              <a:t>按一下以編輯母片標題樣式</a:t>
            </a:r>
          </a:p>
        </p:txBody>
      </p:sp>
      <p:sp>
        <p:nvSpPr>
          <p:cNvPr id="3" name="內容版面配置區 2">
            <a:extLst>
              <a:ext uri="{FF2B5EF4-FFF2-40B4-BE49-F238E27FC236}">
                <a16:creationId xmlns:a16="http://schemas.microsoft.com/office/drawing/2014/main" id="{6B9A033B-67CA-4692-9F96-92929D8AB91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文字版面配置區 3">
            <a:extLst>
              <a:ext uri="{FF2B5EF4-FFF2-40B4-BE49-F238E27FC236}">
                <a16:creationId xmlns:a16="http://schemas.microsoft.com/office/drawing/2014/main" id="{02A61FCE-0216-475F-8DCF-C058715F47F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TW" altLang="en-US"/>
              <a:t>按一下以編輯母片文字樣式</a:t>
            </a:r>
          </a:p>
        </p:txBody>
      </p:sp>
      <p:sp>
        <p:nvSpPr>
          <p:cNvPr id="5" name="日期版面配置區 4">
            <a:extLst>
              <a:ext uri="{FF2B5EF4-FFF2-40B4-BE49-F238E27FC236}">
                <a16:creationId xmlns:a16="http://schemas.microsoft.com/office/drawing/2014/main" id="{87370C5D-745A-4EAE-A151-2541003A35B9}"/>
              </a:ext>
            </a:extLst>
          </p:cNvPr>
          <p:cNvSpPr>
            <a:spLocks noGrp="1"/>
          </p:cNvSpPr>
          <p:nvPr>
            <p:ph type="dt" sz="half" idx="10"/>
          </p:nvPr>
        </p:nvSpPr>
        <p:spPr/>
        <p:txBody>
          <a:bodyPr/>
          <a:lstStyle/>
          <a:p>
            <a:fld id="{16D42070-5DAD-4E7E-A6F8-25E560BC7BBC}" type="datetimeFigureOut">
              <a:rPr lang="zh-TW" altLang="en-US" smtClean="0"/>
              <a:t>2026/8/3</a:t>
            </a:fld>
            <a:endParaRPr lang="zh-TW" altLang="en-US"/>
          </a:p>
        </p:txBody>
      </p:sp>
      <p:sp>
        <p:nvSpPr>
          <p:cNvPr id="6" name="頁尾版面配置區 5">
            <a:extLst>
              <a:ext uri="{FF2B5EF4-FFF2-40B4-BE49-F238E27FC236}">
                <a16:creationId xmlns:a16="http://schemas.microsoft.com/office/drawing/2014/main" id="{706460B0-32D4-4AFB-8A7E-846482505E3F}"/>
              </a:ext>
            </a:extLst>
          </p:cNvPr>
          <p:cNvSpPr>
            <a:spLocks noGrp="1"/>
          </p:cNvSpPr>
          <p:nvPr>
            <p:ph type="ftr" sz="quarter" idx="11"/>
          </p:nvPr>
        </p:nvSpPr>
        <p:spPr/>
        <p:txBody>
          <a:bodyPr/>
          <a:lstStyle/>
          <a:p>
            <a:endParaRPr lang="zh-TW" altLang="en-US"/>
          </a:p>
        </p:txBody>
      </p:sp>
      <p:sp>
        <p:nvSpPr>
          <p:cNvPr id="7" name="投影片編號版面配置區 6">
            <a:extLst>
              <a:ext uri="{FF2B5EF4-FFF2-40B4-BE49-F238E27FC236}">
                <a16:creationId xmlns:a16="http://schemas.microsoft.com/office/drawing/2014/main" id="{0AD132A3-0D89-4417-A7DF-5A8A018E485A}"/>
              </a:ext>
            </a:extLst>
          </p:cNvPr>
          <p:cNvSpPr>
            <a:spLocks noGrp="1"/>
          </p:cNvSpPr>
          <p:nvPr>
            <p:ph type="sldNum" sz="quarter" idx="12"/>
          </p:nvPr>
        </p:nvSpPr>
        <p:spPr/>
        <p:txBody>
          <a:body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5177295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含輔助字幕的圖片">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BAC5306D-49B1-4801-B5D5-82BBCC509CAB}"/>
              </a:ext>
            </a:extLst>
          </p:cNvPr>
          <p:cNvSpPr>
            <a:spLocks noGrp="1"/>
          </p:cNvSpPr>
          <p:nvPr>
            <p:ph type="title"/>
          </p:nvPr>
        </p:nvSpPr>
        <p:spPr>
          <a:xfrm>
            <a:off x="839788" y="457200"/>
            <a:ext cx="3932237" cy="1600200"/>
          </a:xfrm>
        </p:spPr>
        <p:txBody>
          <a:bodyPr anchor="b"/>
          <a:lstStyle>
            <a:lvl1pPr>
              <a:defRPr sz="3200"/>
            </a:lvl1pPr>
          </a:lstStyle>
          <a:p>
            <a:r>
              <a:rPr lang="zh-TW" altLang="en-US"/>
              <a:t>按一下以編輯母片標題樣式</a:t>
            </a:r>
          </a:p>
        </p:txBody>
      </p:sp>
      <p:sp>
        <p:nvSpPr>
          <p:cNvPr id="3" name="圖片版面配置區 2">
            <a:extLst>
              <a:ext uri="{FF2B5EF4-FFF2-40B4-BE49-F238E27FC236}">
                <a16:creationId xmlns:a16="http://schemas.microsoft.com/office/drawing/2014/main" id="{E5F20369-2E94-4C2E-B0A1-93ADA101D8E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TW" altLang="en-US"/>
          </a:p>
        </p:txBody>
      </p:sp>
      <p:sp>
        <p:nvSpPr>
          <p:cNvPr id="4" name="文字版面配置區 3">
            <a:extLst>
              <a:ext uri="{FF2B5EF4-FFF2-40B4-BE49-F238E27FC236}">
                <a16:creationId xmlns:a16="http://schemas.microsoft.com/office/drawing/2014/main" id="{CAC760FC-4E62-42A9-8056-6EE8249B710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TW" altLang="en-US"/>
              <a:t>按一下以編輯母片文字樣式</a:t>
            </a:r>
          </a:p>
        </p:txBody>
      </p:sp>
      <p:sp>
        <p:nvSpPr>
          <p:cNvPr id="5" name="日期版面配置區 4">
            <a:extLst>
              <a:ext uri="{FF2B5EF4-FFF2-40B4-BE49-F238E27FC236}">
                <a16:creationId xmlns:a16="http://schemas.microsoft.com/office/drawing/2014/main" id="{05BD4D67-FBFA-40B4-9C57-519B88B3EC42}"/>
              </a:ext>
            </a:extLst>
          </p:cNvPr>
          <p:cNvSpPr>
            <a:spLocks noGrp="1"/>
          </p:cNvSpPr>
          <p:nvPr>
            <p:ph type="dt" sz="half" idx="10"/>
          </p:nvPr>
        </p:nvSpPr>
        <p:spPr/>
        <p:txBody>
          <a:bodyPr/>
          <a:lstStyle/>
          <a:p>
            <a:fld id="{16D42070-5DAD-4E7E-A6F8-25E560BC7BBC}" type="datetimeFigureOut">
              <a:rPr lang="zh-TW" altLang="en-US" smtClean="0"/>
              <a:t>2026/8/3</a:t>
            </a:fld>
            <a:endParaRPr lang="zh-TW" altLang="en-US"/>
          </a:p>
        </p:txBody>
      </p:sp>
      <p:sp>
        <p:nvSpPr>
          <p:cNvPr id="6" name="頁尾版面配置區 5">
            <a:extLst>
              <a:ext uri="{FF2B5EF4-FFF2-40B4-BE49-F238E27FC236}">
                <a16:creationId xmlns:a16="http://schemas.microsoft.com/office/drawing/2014/main" id="{28A5B214-3FE3-41C8-BAAF-7E87C796FFF3}"/>
              </a:ext>
            </a:extLst>
          </p:cNvPr>
          <p:cNvSpPr>
            <a:spLocks noGrp="1"/>
          </p:cNvSpPr>
          <p:nvPr>
            <p:ph type="ftr" sz="quarter" idx="11"/>
          </p:nvPr>
        </p:nvSpPr>
        <p:spPr/>
        <p:txBody>
          <a:bodyPr/>
          <a:lstStyle/>
          <a:p>
            <a:endParaRPr lang="zh-TW" altLang="en-US"/>
          </a:p>
        </p:txBody>
      </p:sp>
      <p:sp>
        <p:nvSpPr>
          <p:cNvPr id="7" name="投影片編號版面配置區 6">
            <a:extLst>
              <a:ext uri="{FF2B5EF4-FFF2-40B4-BE49-F238E27FC236}">
                <a16:creationId xmlns:a16="http://schemas.microsoft.com/office/drawing/2014/main" id="{34F60CC2-E109-4719-875D-510BAD1DAF71}"/>
              </a:ext>
            </a:extLst>
          </p:cNvPr>
          <p:cNvSpPr>
            <a:spLocks noGrp="1"/>
          </p:cNvSpPr>
          <p:nvPr>
            <p:ph type="sldNum" sz="quarter" idx="12"/>
          </p:nvPr>
        </p:nvSpPr>
        <p:spPr/>
        <p:txBody>
          <a:body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26151998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7658099F-549D-41D0-8656-FC0BCFF0AC8B}"/>
              </a:ext>
            </a:extLst>
          </p:cNvPr>
          <p:cNvSpPr>
            <a:spLocks noGrp="1"/>
          </p:cNvSpPr>
          <p:nvPr>
            <p:ph type="title"/>
          </p:nvPr>
        </p:nvSpPr>
        <p:spPr/>
        <p:txBody>
          <a:bodyPr/>
          <a:lstStyle/>
          <a:p>
            <a:r>
              <a:rPr lang="zh-TW" altLang="en-US"/>
              <a:t>按一下以編輯母片標題樣式</a:t>
            </a:r>
          </a:p>
        </p:txBody>
      </p:sp>
      <p:sp>
        <p:nvSpPr>
          <p:cNvPr id="3" name="直排文字版面配置區 2">
            <a:extLst>
              <a:ext uri="{FF2B5EF4-FFF2-40B4-BE49-F238E27FC236}">
                <a16:creationId xmlns:a16="http://schemas.microsoft.com/office/drawing/2014/main" id="{9A026EBC-D2D7-4484-A574-A0FDADFD83EC}"/>
              </a:ext>
            </a:extLst>
          </p:cNvPr>
          <p:cNvSpPr>
            <a:spLocks noGrp="1"/>
          </p:cNvSpPr>
          <p:nvPr>
            <p:ph type="body" orient="vert" idx="1"/>
          </p:nvPr>
        </p:nvSpPr>
        <p:spPr/>
        <p:txBody>
          <a:bodyPr vert="eaVert"/>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E955BDF0-F4E3-4A78-AC21-5996C7877466}"/>
              </a:ext>
            </a:extLst>
          </p:cNvPr>
          <p:cNvSpPr>
            <a:spLocks noGrp="1"/>
          </p:cNvSpPr>
          <p:nvPr>
            <p:ph type="dt" sz="half" idx="10"/>
          </p:nvPr>
        </p:nvSpPr>
        <p:spPr/>
        <p:txBody>
          <a:bodyPr/>
          <a:lstStyle/>
          <a:p>
            <a:fld id="{16D42070-5DAD-4E7E-A6F8-25E560BC7BBC}" type="datetimeFigureOut">
              <a:rPr lang="zh-TW" altLang="en-US" smtClean="0"/>
              <a:t>2026/8/3</a:t>
            </a:fld>
            <a:endParaRPr lang="zh-TW" altLang="en-US"/>
          </a:p>
        </p:txBody>
      </p:sp>
      <p:sp>
        <p:nvSpPr>
          <p:cNvPr id="5" name="頁尾版面配置區 4">
            <a:extLst>
              <a:ext uri="{FF2B5EF4-FFF2-40B4-BE49-F238E27FC236}">
                <a16:creationId xmlns:a16="http://schemas.microsoft.com/office/drawing/2014/main" id="{77A58278-9C37-44E9-A992-05A40C4C24BF}"/>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FEF221A9-3DF2-4243-8312-6B441A40B45B}"/>
              </a:ext>
            </a:extLst>
          </p:cNvPr>
          <p:cNvSpPr>
            <a:spLocks noGrp="1"/>
          </p:cNvSpPr>
          <p:nvPr>
            <p:ph type="sldNum" sz="quarter" idx="12"/>
          </p:nvPr>
        </p:nvSpPr>
        <p:spPr/>
        <p:txBody>
          <a:body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6398975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直排標題及文字">
    <p:spTree>
      <p:nvGrpSpPr>
        <p:cNvPr id="1" name=""/>
        <p:cNvGrpSpPr/>
        <p:nvPr/>
      </p:nvGrpSpPr>
      <p:grpSpPr>
        <a:xfrm>
          <a:off x="0" y="0"/>
          <a:ext cx="0" cy="0"/>
          <a:chOff x="0" y="0"/>
          <a:chExt cx="0" cy="0"/>
        </a:xfrm>
      </p:grpSpPr>
      <p:sp>
        <p:nvSpPr>
          <p:cNvPr id="2" name="直排標題 1">
            <a:extLst>
              <a:ext uri="{FF2B5EF4-FFF2-40B4-BE49-F238E27FC236}">
                <a16:creationId xmlns:a16="http://schemas.microsoft.com/office/drawing/2014/main" id="{D407E2F2-53D7-4D47-8536-D902F65329D3}"/>
              </a:ext>
            </a:extLst>
          </p:cNvPr>
          <p:cNvSpPr>
            <a:spLocks noGrp="1"/>
          </p:cNvSpPr>
          <p:nvPr>
            <p:ph type="title" orient="vert"/>
          </p:nvPr>
        </p:nvSpPr>
        <p:spPr>
          <a:xfrm>
            <a:off x="8724900" y="365125"/>
            <a:ext cx="2628900" cy="5811838"/>
          </a:xfrm>
        </p:spPr>
        <p:txBody>
          <a:bodyPr vert="eaVert"/>
          <a:lstStyle/>
          <a:p>
            <a:r>
              <a:rPr lang="zh-TW" altLang="en-US"/>
              <a:t>按一下以編輯母片標題樣式</a:t>
            </a:r>
          </a:p>
        </p:txBody>
      </p:sp>
      <p:sp>
        <p:nvSpPr>
          <p:cNvPr id="3" name="直排文字版面配置區 2">
            <a:extLst>
              <a:ext uri="{FF2B5EF4-FFF2-40B4-BE49-F238E27FC236}">
                <a16:creationId xmlns:a16="http://schemas.microsoft.com/office/drawing/2014/main" id="{AEB11135-92E3-4798-9365-99DC4319D221}"/>
              </a:ext>
            </a:extLst>
          </p:cNvPr>
          <p:cNvSpPr>
            <a:spLocks noGrp="1"/>
          </p:cNvSpPr>
          <p:nvPr>
            <p:ph type="body" orient="vert" idx="1"/>
          </p:nvPr>
        </p:nvSpPr>
        <p:spPr>
          <a:xfrm>
            <a:off x="838200" y="365125"/>
            <a:ext cx="7734300" cy="5811838"/>
          </a:xfrm>
        </p:spPr>
        <p:txBody>
          <a:bodyPr vert="eaVert"/>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55D66D9F-EC40-4B77-81BD-B3B6ACD4C9DF}"/>
              </a:ext>
            </a:extLst>
          </p:cNvPr>
          <p:cNvSpPr>
            <a:spLocks noGrp="1"/>
          </p:cNvSpPr>
          <p:nvPr>
            <p:ph type="dt" sz="half" idx="10"/>
          </p:nvPr>
        </p:nvSpPr>
        <p:spPr/>
        <p:txBody>
          <a:bodyPr/>
          <a:lstStyle/>
          <a:p>
            <a:fld id="{16D42070-5DAD-4E7E-A6F8-25E560BC7BBC}" type="datetimeFigureOut">
              <a:rPr lang="zh-TW" altLang="en-US" smtClean="0"/>
              <a:t>2026/8/3</a:t>
            </a:fld>
            <a:endParaRPr lang="zh-TW" altLang="en-US"/>
          </a:p>
        </p:txBody>
      </p:sp>
      <p:sp>
        <p:nvSpPr>
          <p:cNvPr id="5" name="頁尾版面配置區 4">
            <a:extLst>
              <a:ext uri="{FF2B5EF4-FFF2-40B4-BE49-F238E27FC236}">
                <a16:creationId xmlns:a16="http://schemas.microsoft.com/office/drawing/2014/main" id="{328EDF41-8BB7-4F4D-866E-39DEF3CE579A}"/>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2A909E83-6E85-417E-A5C0-394F0D780B89}"/>
              </a:ext>
            </a:extLst>
          </p:cNvPr>
          <p:cNvSpPr>
            <a:spLocks noGrp="1"/>
          </p:cNvSpPr>
          <p:nvPr>
            <p:ph type="sldNum" sz="quarter" idx="12"/>
          </p:nvPr>
        </p:nvSpPr>
        <p:spPr/>
        <p:txBody>
          <a:body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33666469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標題版面配置區 1">
            <a:extLst>
              <a:ext uri="{FF2B5EF4-FFF2-40B4-BE49-F238E27FC236}">
                <a16:creationId xmlns:a16="http://schemas.microsoft.com/office/drawing/2014/main" id="{4809FC75-802D-4B19-AFA4-8A8D60B43C9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TW" altLang="en-US"/>
              <a:t>按一下以編輯母片標題樣式</a:t>
            </a:r>
          </a:p>
        </p:txBody>
      </p:sp>
      <p:sp>
        <p:nvSpPr>
          <p:cNvPr id="3" name="文字版面配置區 2">
            <a:extLst>
              <a:ext uri="{FF2B5EF4-FFF2-40B4-BE49-F238E27FC236}">
                <a16:creationId xmlns:a16="http://schemas.microsoft.com/office/drawing/2014/main" id="{3EE7658D-1874-4965-86A1-F9DC152E33E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16D7FBAA-F52E-4E99-ABAC-AD4E8AA23C1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6D42070-5DAD-4E7E-A6F8-25E560BC7BBC}" type="datetimeFigureOut">
              <a:rPr lang="zh-TW" altLang="en-US" smtClean="0"/>
              <a:t>2026/8/3</a:t>
            </a:fld>
            <a:endParaRPr lang="zh-TW" altLang="en-US"/>
          </a:p>
        </p:txBody>
      </p:sp>
      <p:sp>
        <p:nvSpPr>
          <p:cNvPr id="5" name="頁尾版面配置區 4">
            <a:extLst>
              <a:ext uri="{FF2B5EF4-FFF2-40B4-BE49-F238E27FC236}">
                <a16:creationId xmlns:a16="http://schemas.microsoft.com/office/drawing/2014/main" id="{E5AA8CD1-761B-436C-81CD-04B671C3147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TW" altLang="en-US"/>
          </a:p>
        </p:txBody>
      </p:sp>
      <p:sp>
        <p:nvSpPr>
          <p:cNvPr id="6" name="投影片編號版面配置區 5">
            <a:extLst>
              <a:ext uri="{FF2B5EF4-FFF2-40B4-BE49-F238E27FC236}">
                <a16:creationId xmlns:a16="http://schemas.microsoft.com/office/drawing/2014/main" id="{247BE989-E3A2-4C5A-A4B2-D5729A6C57B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123467099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image" Target="../media/image41.png"/><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image" Target="../media/image33.png"/><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59.png"/><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59.png"/><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7.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image" Target="../media/image59.png"/><Relationship Id="rId1" Type="http://schemas.openxmlformats.org/officeDocument/2006/relationships/slideLayout" Target="../slideLayouts/slideLayout2.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_rels/slide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10.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0A29E60B-ABEB-4B38-8D6C-620B64DB3808}"/>
              </a:ext>
            </a:extLst>
          </p:cNvPr>
          <p:cNvSpPr>
            <a:spLocks noGrp="1"/>
          </p:cNvSpPr>
          <p:nvPr>
            <p:ph type="ctrTitle"/>
          </p:nvPr>
        </p:nvSpPr>
        <p:spPr>
          <a:xfrm>
            <a:off x="423333" y="868362"/>
            <a:ext cx="11345334" cy="2387600"/>
          </a:xfrm>
        </p:spPr>
        <p:txBody>
          <a:bodyPr>
            <a:normAutofit/>
          </a:bodyPr>
          <a:lstStyle/>
          <a:p>
            <a:pPr>
              <a:lnSpc>
                <a:spcPct val="115000"/>
              </a:lnSpc>
              <a:spcAft>
                <a:spcPts val="100"/>
              </a:spcAft>
            </a:pPr>
            <a:r>
              <a:rPr lang="en-US" altLang="zh-TW" sz="2800" b="1" kern="100" dirty="0">
                <a:solidFill>
                  <a:srgbClr val="000000"/>
                </a:solidFill>
                <a:effectLst/>
                <a:latin typeface="Aptos"/>
                <a:ea typeface="新細明體" panose="02020500000000000000" pitchFamily="18" charset="-120"/>
                <a:cs typeface="Times New Roman" panose="02020603050405020304" pitchFamily="18" charset="0"/>
              </a:rPr>
              <a:t>A Lumped-Parameter Modeling, Calibration, and Capacity-Measure Framework for Flux Generation in Symmetric</a:t>
            </a:r>
            <a:br>
              <a:rPr lang="zh-TW" altLang="zh-TW" sz="2800" kern="100" dirty="0">
                <a:effectLst/>
                <a:latin typeface="Aptos"/>
                <a:ea typeface="新細明體" panose="02020500000000000000" pitchFamily="18" charset="-120"/>
                <a:cs typeface="Times New Roman" panose="02020603050405020304" pitchFamily="18" charset="0"/>
              </a:rPr>
            </a:br>
            <a:r>
              <a:rPr lang="en-US" altLang="zh-TW" sz="2800" b="1" dirty="0">
                <a:solidFill>
                  <a:srgbClr val="000000"/>
                </a:solidFill>
                <a:effectLst/>
                <a:latin typeface="Aptos"/>
                <a:ea typeface="新細明體" panose="02020500000000000000" pitchFamily="18" charset="-120"/>
                <a:cs typeface="Times New Roman" panose="02020603050405020304" pitchFamily="18" charset="0"/>
              </a:rPr>
              <a:t>Multipole Electromagnetic Actuators </a:t>
            </a:r>
            <a:endParaRPr lang="zh-TW" altLang="en-US" sz="8000" dirty="0"/>
          </a:p>
        </p:txBody>
      </p:sp>
      <p:sp>
        <p:nvSpPr>
          <p:cNvPr id="3" name="副標題 2">
            <a:extLst>
              <a:ext uri="{FF2B5EF4-FFF2-40B4-BE49-F238E27FC236}">
                <a16:creationId xmlns:a16="http://schemas.microsoft.com/office/drawing/2014/main" id="{19B95CEF-03F4-426E-B312-4404BF04FCFA}"/>
              </a:ext>
            </a:extLst>
          </p:cNvPr>
          <p:cNvSpPr>
            <a:spLocks noGrp="1"/>
          </p:cNvSpPr>
          <p:nvPr>
            <p:ph type="subTitle" idx="1"/>
          </p:nvPr>
        </p:nvSpPr>
        <p:spPr>
          <a:xfrm>
            <a:off x="1524000" y="4203171"/>
            <a:ext cx="9144000" cy="1655762"/>
          </a:xfrm>
        </p:spPr>
        <p:txBody>
          <a:bodyPr/>
          <a:lstStyle/>
          <a:p>
            <a:r>
              <a:rPr lang="en-US" altLang="zh-TW" sz="2800" b="1" kern="100" dirty="0">
                <a:solidFill>
                  <a:srgbClr val="000000"/>
                </a:solidFill>
                <a:latin typeface="Aptos"/>
                <a:ea typeface="新細明體" panose="02020500000000000000" pitchFamily="18" charset="-120"/>
                <a:cs typeface="Times New Roman" panose="02020603050405020304" pitchFamily="18" charset="0"/>
              </a:rPr>
              <a:t>KUO,CHIEN-CHI</a:t>
            </a:r>
            <a:endParaRPr lang="zh-TW" altLang="en-US" sz="2800" b="1" kern="100" dirty="0">
              <a:solidFill>
                <a:srgbClr val="000000"/>
              </a:solidFill>
              <a:latin typeface="Aptos"/>
              <a:ea typeface="新細明體" panose="02020500000000000000" pitchFamily="18" charset="-120"/>
              <a:cs typeface="Times New Roman" panose="02020603050405020304" pitchFamily="18" charset="0"/>
            </a:endParaRPr>
          </a:p>
        </p:txBody>
      </p:sp>
    </p:spTree>
    <p:extLst>
      <p:ext uri="{BB962C8B-B14F-4D97-AF65-F5344CB8AC3E}">
        <p14:creationId xmlns:p14="http://schemas.microsoft.com/office/powerpoint/2010/main" val="4068006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081933" cy="837142"/>
          </a:xfrm>
        </p:spPr>
        <p:txBody>
          <a:bodyPr>
            <a:normAutofit fontScale="90000"/>
          </a:bodyPr>
          <a:lstStyle/>
          <a:p>
            <a:r>
              <a:rPr lang="en-US" altLang="zh-TW" sz="4000" b="1" kern="100" dirty="0">
                <a:solidFill>
                  <a:srgbClr val="000000"/>
                </a:solidFill>
                <a:latin typeface="Aptos"/>
                <a:ea typeface="新細明體" panose="02020500000000000000" pitchFamily="18" charset="-120"/>
                <a:cs typeface="Times New Roman" panose="02020603050405020304" pitchFamily="18" charset="0"/>
              </a:rPr>
              <a:t>Current-based lumped-parameter modeling and calibration</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40" name="文字方塊 39">
            <a:extLst>
              <a:ext uri="{FF2B5EF4-FFF2-40B4-BE49-F238E27FC236}">
                <a16:creationId xmlns:a16="http://schemas.microsoft.com/office/drawing/2014/main" id="{B1E82766-E1D8-4AA6-A2B9-6AEA170385C0}"/>
              </a:ext>
            </a:extLst>
          </p:cNvPr>
          <p:cNvSpPr txBox="1"/>
          <p:nvPr/>
        </p:nvSpPr>
        <p:spPr>
          <a:xfrm>
            <a:off x="0" y="265108"/>
            <a:ext cx="6324600" cy="390684"/>
          </a:xfrm>
          <a:prstGeom prst="rect">
            <a:avLst/>
          </a:prstGeom>
          <a:noFill/>
        </p:spPr>
        <p:txBody>
          <a:bodyPr wrap="square" rtlCol="0">
            <a:spAutoFit/>
          </a:bodyPr>
          <a:lstStyle/>
          <a:p>
            <a:pPr>
              <a:lnSpc>
                <a:spcPct val="115000"/>
              </a:lnSpc>
              <a:spcAft>
                <a:spcPts val="800"/>
              </a:spcAft>
            </a:pPr>
            <a:r>
              <a:rPr lang="en-US" altLang="zh-TW"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E</a:t>
            </a:r>
            <a:r>
              <a:rPr lang="en-US" altLang="zh-TW" kern="1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 </a:t>
            </a:r>
            <a:r>
              <a:rPr lang="en-US" altLang="zh-TW" i="1"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Validation</a:t>
            </a:r>
            <a:endParaRPr lang="zh-TW" altLang="zh-TW" kern="100" dirty="0">
              <a:effectLst/>
              <a:latin typeface="Aptos"/>
              <a:ea typeface="新細明體" panose="02020500000000000000" pitchFamily="18" charset="-12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文字方塊 2">
                <a:extLst>
                  <a:ext uri="{FF2B5EF4-FFF2-40B4-BE49-F238E27FC236}">
                    <a16:creationId xmlns:a16="http://schemas.microsoft.com/office/drawing/2014/main" id="{B6964577-860D-4EB3-8219-1A6240335DA6}"/>
                  </a:ext>
                </a:extLst>
              </p:cNvPr>
              <p:cNvSpPr txBox="1"/>
              <p:nvPr/>
            </p:nvSpPr>
            <p:spPr>
              <a:xfrm>
                <a:off x="8573024" y="416640"/>
                <a:ext cx="3508909" cy="32156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b="0" i="1" smtClean="0">
                          <a:latin typeface="Cambria Math" panose="02040503050406030204" pitchFamily="18" charset="0"/>
                        </a:rPr>
                        <m:t>𝐶𝑎𝑙𝑖𝑏𝑟𝑎𝑡𝑒</m:t>
                      </m:r>
                      <m:r>
                        <a:rPr lang="en-US" altLang="zh-TW" b="0" i="1" smtClean="0">
                          <a:latin typeface="Cambria Math" panose="02040503050406030204" pitchFamily="18" charset="0"/>
                        </a:rPr>
                        <m:t> </m:t>
                      </m:r>
                      <m:r>
                        <a:rPr lang="en-US" altLang="zh-TW" b="0" i="1" smtClean="0">
                          <a:latin typeface="Cambria Math" panose="02040503050406030204" pitchFamily="18" charset="0"/>
                        </a:rPr>
                        <m:t>𝑚𝑜𝑑𝑒𝑙</m:t>
                      </m:r>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𝑏</m:t>
                          </m:r>
                        </m:e>
                        <m:sub>
                          <m:r>
                            <a:rPr lang="en-US" altLang="zh-TW" b="0" i="1" smtClean="0">
                              <a:latin typeface="Cambria Math" panose="02040503050406030204" pitchFamily="18" charset="0"/>
                              <a:ea typeface="Cambria Math" panose="02040503050406030204" pitchFamily="18" charset="0"/>
                            </a:rPr>
                            <m:t>𝑖𝑗</m:t>
                          </m:r>
                        </m:sub>
                      </m:sSub>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𝑆</m:t>
                          </m:r>
                        </m:e>
                        <m:sub>
                          <m:r>
                            <a:rPr lang="en-US" altLang="zh-TW" b="0" i="1" smtClean="0">
                              <a:latin typeface="Cambria Math" panose="02040503050406030204" pitchFamily="18" charset="0"/>
                              <a:ea typeface="Cambria Math" panose="02040503050406030204" pitchFamily="18" charset="0"/>
                            </a:rPr>
                            <m:t>𝑖</m:t>
                          </m:r>
                        </m:sub>
                      </m:sSub>
                      <m:sPre>
                        <m:sPrePr>
                          <m:ctrlPr>
                            <a:rPr lang="en-US" altLang="zh-TW" b="0" i="1" smtClean="0">
                              <a:latin typeface="Cambria Math" panose="02040503050406030204" pitchFamily="18" charset="0"/>
                              <a:ea typeface="Cambria Math" panose="02040503050406030204" pitchFamily="18" charset="0"/>
                            </a:rPr>
                          </m:ctrlPr>
                        </m:sPrePr>
                        <m:sub/>
                        <m:sup>
                          <m:r>
                            <a:rPr lang="en-US" altLang="zh-TW" b="0" i="1" smtClean="0">
                              <a:latin typeface="Cambria Math" panose="02040503050406030204" pitchFamily="18" charset="0"/>
                            </a:rPr>
                            <m:t>𝐵</m:t>
                          </m:r>
                        </m:sup>
                        <m:e>
                          <m:sSub>
                            <m:sSubPr>
                              <m:ctrlPr>
                                <a:rPr lang="en-US" altLang="zh-TW" i="1" smtClean="0">
                                  <a:latin typeface="Cambria Math" panose="02040503050406030204" pitchFamily="18" charset="0"/>
                                </a:rPr>
                              </m:ctrlPr>
                            </m:sSubPr>
                            <m:e>
                              <m:acc>
                                <m:accPr>
                                  <m:chr m:val="̂"/>
                                  <m:ctrlPr>
                                    <a:rPr lang="en-US" altLang="zh-TW" b="0" i="1" smtClean="0">
                                      <a:latin typeface="Cambria Math" panose="02040503050406030204" pitchFamily="18" charset="0"/>
                                    </a:rPr>
                                  </m:ctrlPr>
                                </m:accPr>
                                <m:e>
                                  <m:r>
                                    <a:rPr lang="en-US" altLang="zh-TW" b="0" i="1" smtClean="0">
                                      <a:latin typeface="Cambria Math" panose="02040503050406030204" pitchFamily="18" charset="0"/>
                                    </a:rPr>
                                    <m:t>𝑔</m:t>
                                  </m:r>
                                </m:e>
                              </m:acc>
                            </m:e>
                            <m:sub>
                              <m:r>
                                <a:rPr lang="en-US" altLang="zh-TW" b="0" i="1" smtClean="0">
                                  <a:latin typeface="Cambria Math" panose="02040503050406030204" pitchFamily="18" charset="0"/>
                                </a:rPr>
                                <m:t>𝐼</m:t>
                              </m:r>
                            </m:sub>
                          </m:sSub>
                        </m:e>
                      </m:sPre>
                      <m:acc>
                        <m:accPr>
                          <m:chr m:val="̅"/>
                          <m:ctrlPr>
                            <a:rPr lang="zh-TW" altLang="en-US" b="0" i="1" smtClean="0">
                              <a:latin typeface="Cambria Math" panose="02040503050406030204" pitchFamily="18" charset="0"/>
                            </a:rPr>
                          </m:ctrlPr>
                        </m:accPr>
                        <m:e>
                          <m:r>
                            <a:rPr lang="en-US" altLang="zh-TW" b="0" i="1" smtClean="0">
                              <a:latin typeface="Cambria Math" panose="02040503050406030204" pitchFamily="18" charset="0"/>
                            </a:rPr>
                            <m:t>𝐾</m:t>
                          </m:r>
                        </m:e>
                      </m:acc>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𝐼</m:t>
                          </m:r>
                        </m:e>
                        <m:sub>
                          <m:r>
                            <a:rPr lang="en-US" altLang="zh-TW" b="0" i="1" smtClean="0">
                              <a:latin typeface="Cambria Math" panose="02040503050406030204" pitchFamily="18" charset="0"/>
                            </a:rPr>
                            <m:t>𝑗</m:t>
                          </m:r>
                        </m:sub>
                      </m:sSub>
                    </m:oMath>
                  </m:oMathPara>
                </a14:m>
                <a:endParaRPr lang="zh-TW" altLang="en-US" dirty="0"/>
              </a:p>
            </p:txBody>
          </p:sp>
        </mc:Choice>
        <mc:Fallback xmlns="">
          <p:sp>
            <p:nvSpPr>
              <p:cNvPr id="3" name="文字方塊 2">
                <a:extLst>
                  <a:ext uri="{FF2B5EF4-FFF2-40B4-BE49-F238E27FC236}">
                    <a16:creationId xmlns:a16="http://schemas.microsoft.com/office/drawing/2014/main" id="{B6964577-860D-4EB3-8219-1A6240335DA6}"/>
                  </a:ext>
                </a:extLst>
              </p:cNvPr>
              <p:cNvSpPr txBox="1">
                <a:spLocks noRot="1" noChangeAspect="1" noMove="1" noResize="1" noEditPoints="1" noAdjustHandles="1" noChangeArrowheads="1" noChangeShapeType="1" noTextEdit="1"/>
              </p:cNvSpPr>
              <p:nvPr/>
            </p:nvSpPr>
            <p:spPr>
              <a:xfrm>
                <a:off x="8573024" y="416640"/>
                <a:ext cx="3508909" cy="321563"/>
              </a:xfrm>
              <a:prstGeom prst="rect">
                <a:avLst/>
              </a:prstGeom>
              <a:blipFill>
                <a:blip r:embed="rId2"/>
                <a:stretch>
                  <a:fillRect l="-1215" t="-13208" r="-6944" b="-22642"/>
                </a:stretch>
              </a:blipFill>
            </p:spPr>
            <p:txBody>
              <a:bodyPr/>
              <a:lstStyle/>
              <a:p>
                <a:r>
                  <a:rPr lang="zh-TW" altLang="en-US">
                    <a:noFill/>
                  </a:rPr>
                  <a:t> </a:t>
                </a:r>
              </a:p>
            </p:txBody>
          </p:sp>
        </mc:Fallback>
      </mc:AlternateContent>
      <p:sp>
        <p:nvSpPr>
          <p:cNvPr id="6" name="文字方塊 5">
            <a:extLst>
              <a:ext uri="{FF2B5EF4-FFF2-40B4-BE49-F238E27FC236}">
                <a16:creationId xmlns:a16="http://schemas.microsoft.com/office/drawing/2014/main" id="{31ACE95C-3F52-4F1D-AC27-AFA6A8DD7680}"/>
              </a:ext>
            </a:extLst>
          </p:cNvPr>
          <p:cNvSpPr txBox="1"/>
          <p:nvPr/>
        </p:nvSpPr>
        <p:spPr>
          <a:xfrm>
            <a:off x="27459" y="552713"/>
            <a:ext cx="1879600" cy="369332"/>
          </a:xfrm>
          <a:prstGeom prst="rect">
            <a:avLst/>
          </a:prstGeom>
          <a:noFill/>
        </p:spPr>
        <p:txBody>
          <a:bodyPr wrap="square" rtlCol="0">
            <a:spAutoFit/>
          </a:bodyPr>
          <a:lstStyle/>
          <a:p>
            <a:pPr marL="285750" indent="-285750">
              <a:buFont typeface="Arial" panose="020B0604020202020204" pitchFamily="34" charset="0"/>
              <a:buChar char="•"/>
            </a:pPr>
            <a:r>
              <a:rPr lang="en-US" altLang="zh-TW" dirty="0"/>
              <a:t>Fitting results</a:t>
            </a:r>
            <a:endParaRPr lang="zh-TW" altLang="en-US" dirty="0"/>
          </a:p>
        </p:txBody>
      </p:sp>
      <mc:AlternateContent xmlns:mc="http://schemas.openxmlformats.org/markup-compatibility/2006">
        <mc:Choice xmlns:a14="http://schemas.microsoft.com/office/drawing/2010/main" Requires="a14">
          <p:sp>
            <p:nvSpPr>
              <p:cNvPr id="11" name="文字方塊 10">
                <a:extLst>
                  <a:ext uri="{FF2B5EF4-FFF2-40B4-BE49-F238E27FC236}">
                    <a16:creationId xmlns:a16="http://schemas.microsoft.com/office/drawing/2014/main" id="{2F5EBC69-B8D1-446B-925C-8FAE56F5113E}"/>
                  </a:ext>
                </a:extLst>
              </p:cNvPr>
              <p:cNvSpPr txBox="1"/>
              <p:nvPr/>
            </p:nvSpPr>
            <p:spPr>
              <a:xfrm>
                <a:off x="-67257" y="922045"/>
                <a:ext cx="7221144" cy="1515158"/>
              </a:xfrm>
              <a:prstGeom prst="rect">
                <a:avLst/>
              </a:prstGeom>
              <a:noFill/>
            </p:spPr>
            <p:txBody>
              <a:bodyPr wrap="none" lIns="0" tIns="0" rIns="0" bIns="0" rtlCol="0">
                <a:spAutoFit/>
              </a:bodyPr>
              <a:lstStyle/>
              <a:p>
                <a:pPr/>
                <a14:m>
                  <m:oMathPara xmlns:m="http://schemas.openxmlformats.org/officeDocument/2006/math">
                    <m:oMathParaPr>
                      <m:jc m:val="center"/>
                    </m:oMathParaPr>
                    <m:oMath xmlns:m="http://schemas.openxmlformats.org/officeDocument/2006/math">
                      <m:sSub>
                        <m:sSubPr>
                          <m:ctrlPr>
                            <a:rPr lang="en-US" altLang="zh-TW" b="0" i="1" smtClean="0">
                              <a:latin typeface="Cambria Math" panose="02040503050406030204" pitchFamily="18" charset="0"/>
                            </a:rPr>
                          </m:ctrlPr>
                        </m:sSubPr>
                        <m:e>
                          <m:acc>
                            <m:accPr>
                              <m:chr m:val="̅"/>
                              <m:ctrlPr>
                                <a:rPr lang="en-US" altLang="zh-TW" b="0" i="1" smtClean="0">
                                  <a:latin typeface="Cambria Math" panose="02040503050406030204" pitchFamily="18" charset="0"/>
                                </a:rPr>
                              </m:ctrlPr>
                            </m:accPr>
                            <m:e>
                              <m:r>
                                <a:rPr lang="en-US" altLang="zh-TW" b="0" i="1" smtClean="0">
                                  <a:latin typeface="Cambria Math" panose="02040503050406030204" pitchFamily="18" charset="0"/>
                                </a:rPr>
                                <m:t>𝐾</m:t>
                              </m:r>
                            </m:e>
                          </m:acc>
                        </m:e>
                        <m:sub>
                          <m:r>
                            <a:rPr lang="en-US" altLang="zh-TW" b="0" i="1" smtClean="0">
                              <a:latin typeface="Cambria Math" panose="02040503050406030204" pitchFamily="18" charset="0"/>
                            </a:rPr>
                            <m:t>𝐼</m:t>
                          </m:r>
                        </m:sub>
                      </m:sSub>
                      <m:r>
                        <a:rPr lang="en-US" altLang="zh-TW" b="0" i="1" smtClean="0">
                          <a:latin typeface="Cambria Math" panose="02040503050406030204" pitchFamily="18" charset="0"/>
                        </a:rPr>
                        <m:t>=</m:t>
                      </m:r>
                      <m:d>
                        <m:dPr>
                          <m:begChr m:val="["/>
                          <m:endChr m:val="]"/>
                          <m:ctrlPr>
                            <a:rPr lang="en-US" altLang="zh-TW" b="0" i="1" smtClean="0">
                              <a:latin typeface="Cambria Math" panose="02040503050406030204" pitchFamily="18" charset="0"/>
                            </a:rPr>
                          </m:ctrlPr>
                        </m:dPr>
                        <m:e>
                          <m:m>
                            <m:mPr>
                              <m:mcs>
                                <m:mc>
                                  <m:mcPr>
                                    <m:count m:val="2"/>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m:t>
                                </m:r>
                                <m:r>
                                  <a:rPr lang="en-US" altLang="zh-TW" b="0" i="1" smtClean="0">
                                    <a:latin typeface="Cambria Math" panose="02040503050406030204" pitchFamily="18" charset="0"/>
                                  </a:rPr>
                                  <m:t>.8333</m:t>
                                </m:r>
                              </m:e>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a:rPr lang="en-US" altLang="zh-TW" b="0" i="1" smtClean="0">
                                          <a:latin typeface="Cambria Math" panose="02040503050406030204" pitchFamily="18" charset="0"/>
                                        </a:rPr>
                                        <m:t>0.1046</m:t>
                                      </m:r>
                                    </m:e>
                                    <m:e>
                                      <m:r>
                                        <a:rPr lang="en-US" altLang="zh-TW" b="0" i="1" smtClean="0">
                                          <a:latin typeface="Cambria Math" panose="02040503050406030204" pitchFamily="18" charset="0"/>
                                        </a:rPr>
                                        <m:t>−0.1809</m:t>
                                      </m:r>
                                    </m:e>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a:rPr lang="en-US" altLang="zh-TW" b="0" i="1" smtClean="0">
                                                <a:latin typeface="Cambria Math" panose="02040503050406030204" pitchFamily="18" charset="0"/>
                                              </a:rPr>
                                              <m:t>0.1745</m:t>
                                            </m:r>
                                          </m:e>
                                          <m:e>
                                            <m:r>
                                              <a:rPr lang="en-US" altLang="zh-TW" b="0" i="1" smtClean="0">
                                                <a:latin typeface="Cambria Math" panose="02040503050406030204" pitchFamily="18" charset="0"/>
                                              </a:rPr>
                                              <m:t>−0.1737</m:t>
                                            </m:r>
                                          </m:e>
                                          <m:e>
                                            <m:r>
                                              <a:rPr lang="en-US" altLang="zh-TW" b="0" i="1" smtClean="0">
                                                <a:latin typeface="Cambria Math" panose="02040503050406030204" pitchFamily="18" charset="0"/>
                                              </a:rPr>
                                              <m:t>−0.1827</m:t>
                                            </m:r>
                                          </m:e>
                                        </m:mr>
                                      </m:m>
                                    </m:e>
                                  </m:mr>
                                </m:m>
                              </m:e>
                            </m:mr>
                            <m:mr>
                              <m:e>
                                <m:m>
                                  <m:mPr>
                                    <m:mcs>
                                      <m:mc>
                                        <m:mcPr>
                                          <m:count m:val="1"/>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a:rPr lang="en-US" altLang="zh-TW" b="0" i="1" smtClean="0">
                                          <a:latin typeface="Cambria Math" panose="02040503050406030204" pitchFamily="18" charset="0"/>
                                        </a:rPr>
                                        <m:t>0.2145</m:t>
                                      </m:r>
                                    </m:e>
                                  </m:mr>
                                  <m:mr>
                                    <m:e>
                                      <m:r>
                                        <a:rPr lang="en-US" altLang="zh-TW" b="0" i="1" smtClean="0">
                                          <a:latin typeface="Cambria Math" panose="02040503050406030204" pitchFamily="18" charset="0"/>
                                        </a:rPr>
                                        <m:t>−0.1870</m:t>
                                      </m:r>
                                    </m:e>
                                  </m:mr>
                                  <m:mr>
                                    <m:e>
                                      <m:m>
                                        <m:mPr>
                                          <m:mcs>
                                            <m:mc>
                                              <m:mcPr>
                                                <m:count m:val="1"/>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a:rPr lang="en-US" altLang="zh-TW" b="0" i="1" smtClean="0">
                                                <a:latin typeface="Cambria Math" panose="02040503050406030204" pitchFamily="18" charset="0"/>
                                              </a:rPr>
                                              <m:t>0.2040</m:t>
                                            </m:r>
                                          </m:e>
                                        </m:mr>
                                        <m:mr>
                                          <m:e>
                                            <m:r>
                                              <a:rPr lang="en-US" altLang="zh-TW" b="0" i="1" smtClean="0">
                                                <a:latin typeface="Cambria Math" panose="02040503050406030204" pitchFamily="18" charset="0"/>
                                              </a:rPr>
                                              <m:t>−0.2045</m:t>
                                            </m:r>
                                          </m:e>
                                        </m:mr>
                                        <m:mr>
                                          <m:e>
                                            <m:r>
                                              <a:rPr lang="en-US" altLang="zh-TW" b="0" i="1" smtClean="0">
                                                <a:latin typeface="Cambria Math" panose="02040503050406030204" pitchFamily="18" charset="0"/>
                                              </a:rPr>
                                              <m:t>−0.1870</m:t>
                                            </m:r>
                                          </m:e>
                                        </m:mr>
                                      </m:m>
                                    </m:e>
                                  </m:mr>
                                </m:m>
                              </m:e>
                              <m:e>
                                <m:m>
                                  <m:mPr>
                                    <m:mcs>
                                      <m:mc>
                                        <m:mcPr>
                                          <m:count m:val="1"/>
                                          <m:mcJc m:val="center"/>
                                        </m:mcPr>
                                      </m:mc>
                                    </m:mcs>
                                    <m:ctrlPr>
                                      <a:rPr lang="en-US" altLang="zh-TW" b="0" i="1" smtClean="0">
                                        <a:latin typeface="Cambria Math" panose="02040503050406030204" pitchFamily="18" charset="0"/>
                                      </a:rPr>
                                    </m:ctrlPr>
                                  </m:mPr>
                                  <m:mr>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m:t>
                                            </m:r>
                                            <m:r>
                                              <a:rPr lang="en-US" altLang="zh-TW" b="0" i="1" smtClean="0">
                                                <a:latin typeface="Cambria Math" panose="02040503050406030204" pitchFamily="18" charset="0"/>
                                              </a:rPr>
                                              <m:t>.9517</m:t>
                                            </m:r>
                                          </m:e>
                                          <m:e>
                                            <m:r>
                                              <a:rPr lang="en-US" altLang="zh-TW" b="0" i="1" smtClean="0">
                                                <a:latin typeface="Cambria Math" panose="02040503050406030204" pitchFamily="18" charset="0"/>
                                              </a:rPr>
                                              <m:t>−0.1986</m:t>
                                            </m:r>
                                          </m:e>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a:rPr lang="en-US" altLang="zh-TW" b="0" i="1" smtClean="0">
                                                      <a:latin typeface="Cambria Math" panose="02040503050406030204" pitchFamily="18" charset="0"/>
                                                    </a:rPr>
                                                    <m:t>0.1589</m:t>
                                                  </m:r>
                                                </m:e>
                                                <m:e>
                                                  <m:r>
                                                    <a:rPr lang="en-US" altLang="zh-TW" b="0" i="1" smtClean="0">
                                                      <a:latin typeface="Cambria Math" panose="02040503050406030204" pitchFamily="18" charset="0"/>
                                                    </a:rPr>
                                                    <m:t>−0.1576</m:t>
                                                  </m:r>
                                                </m:e>
                                                <m:e>
                                                  <m:r>
                                                    <a:rPr lang="en-US" altLang="zh-TW" b="0" i="1" smtClean="0">
                                                      <a:latin typeface="Cambria Math" panose="02040503050406030204" pitchFamily="18" charset="0"/>
                                                    </a:rPr>
                                                    <m:t>−0.2002</m:t>
                                                  </m:r>
                                                </m:e>
                                              </m:mr>
                                            </m:m>
                                          </m:e>
                                        </m:mr>
                                      </m:m>
                                    </m:e>
                                  </m:mr>
                                  <m:mr>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a:rPr lang="en-US" altLang="zh-TW" b="0" i="1" smtClean="0">
                                                <a:latin typeface="Cambria Math" panose="02040503050406030204" pitchFamily="18" charset="0"/>
                                              </a:rPr>
                                              <m:t>0.1737</m:t>
                                            </m:r>
                                          </m:e>
                                          <m:e>
                                            <m:r>
                                              <a:rPr lang="en-US" altLang="zh-TW" b="0" i="1" smtClean="0">
                                                <a:latin typeface="Cambria Math" panose="02040503050406030204" pitchFamily="18" charset="0"/>
                                              </a:rPr>
                                              <m:t>0.8427</m:t>
                                            </m:r>
                                          </m:e>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a:rPr lang="en-US" altLang="zh-TW" b="0" i="1" smtClean="0">
                                                      <a:latin typeface="Cambria Math" panose="02040503050406030204" pitchFamily="18" charset="0"/>
                                                    </a:rPr>
                                                    <m:t>0.1076</m:t>
                                                  </m:r>
                                                </m:e>
                                                <m:e>
                                                  <m:r>
                                                    <a:rPr lang="en-US" altLang="zh-TW" b="0" i="1" smtClean="0">
                                                      <a:latin typeface="Cambria Math" panose="02040503050406030204" pitchFamily="18" charset="0"/>
                                                    </a:rPr>
                                                    <m:t>−0.1740</m:t>
                                                  </m:r>
                                                </m:e>
                                                <m:e>
                                                  <m:r>
                                                    <a:rPr lang="en-US" altLang="zh-TW" b="0" i="1" smtClean="0">
                                                      <a:latin typeface="Cambria Math" panose="02040503050406030204" pitchFamily="18" charset="0"/>
                                                    </a:rPr>
                                                    <m:t>−0.1827</m:t>
                                                  </m:r>
                                                </m:e>
                                              </m:mr>
                                            </m:m>
                                          </m:e>
                                        </m:mr>
                                      </m:m>
                                    </m:e>
                                  </m:mr>
                                  <m:mr>
                                    <m:e>
                                      <m:m>
                                        <m:mPr>
                                          <m:mcs>
                                            <m:mc>
                                              <m:mcPr>
                                                <m:count m:val="1"/>
                                                <m:mcJc m:val="center"/>
                                              </m:mcPr>
                                            </m:mc>
                                          </m:mcs>
                                          <m:ctrlPr>
                                            <a:rPr lang="en-US" altLang="zh-TW" b="0" i="1" smtClean="0">
                                              <a:latin typeface="Cambria Math" panose="02040503050406030204" pitchFamily="18" charset="0"/>
                                            </a:rPr>
                                          </m:ctrlPr>
                                        </m:mPr>
                                        <m:mr>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a:rPr lang="en-US" altLang="zh-TW" b="0" i="1" smtClean="0">
                                                      <a:latin typeface="Cambria Math" panose="02040503050406030204" pitchFamily="18" charset="0"/>
                                                    </a:rPr>
                                                    <m:t>0.1571</m:t>
                                                  </m:r>
                                                </m:e>
                                                <m:e>
                                                  <m:r>
                                                    <a:rPr lang="en-US" altLang="zh-TW" b="0" i="1" smtClean="0">
                                                      <a:latin typeface="Cambria Math" panose="02040503050406030204" pitchFamily="18" charset="0"/>
                                                    </a:rPr>
                                                    <m:t>−0.2068</m:t>
                                                  </m:r>
                                                </m:e>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m:t>
                                                        </m:r>
                                                        <m:r>
                                                          <a:rPr lang="en-US" altLang="zh-TW" b="0" i="1" smtClean="0">
                                                            <a:latin typeface="Cambria Math" panose="02040503050406030204" pitchFamily="18" charset="0"/>
                                                          </a:rPr>
                                                          <m:t>.9456</m:t>
                                                        </m:r>
                                                      </m:e>
                                                      <m:e>
                                                        <m:r>
                                                          <a:rPr lang="en-US" altLang="zh-TW" b="0" i="1" smtClean="0">
                                                            <a:latin typeface="Cambria Math" panose="02040503050406030204" pitchFamily="18" charset="0"/>
                                                          </a:rPr>
                                                          <m:t>−0.1569</m:t>
                                                        </m:r>
                                                      </m:e>
                                                      <m:e>
                                                        <m:r>
                                                          <a:rPr lang="en-US" altLang="zh-TW" b="0" i="1" smtClean="0">
                                                            <a:latin typeface="Cambria Math" panose="02040503050406030204" pitchFamily="18" charset="0"/>
                                                          </a:rPr>
                                                          <m:t>−0.1994</m:t>
                                                        </m:r>
                                                      </m:e>
                                                    </m:mr>
                                                  </m:m>
                                                </m:e>
                                              </m:mr>
                                            </m:m>
                                          </m:e>
                                        </m:mr>
                                        <m:mr>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a:rPr lang="en-US" altLang="zh-TW" b="0" i="1" smtClean="0">
                                                      <a:latin typeface="Cambria Math" panose="02040503050406030204" pitchFamily="18" charset="0"/>
                                                    </a:rPr>
                                                    <m:t>0.1573</m:t>
                                                  </m:r>
                                                </m:e>
                                                <m:e>
                                                  <m:r>
                                                    <a:rPr lang="en-US" altLang="zh-TW" b="0" i="1" smtClean="0">
                                                      <a:latin typeface="Cambria Math" panose="02040503050406030204" pitchFamily="18" charset="0"/>
                                                    </a:rPr>
                                                    <m:t>−0.1983</m:t>
                                                  </m:r>
                                                </m:e>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a:rPr lang="en-US" altLang="zh-TW" b="0" i="1" smtClean="0">
                                                            <a:latin typeface="Cambria Math" panose="02040503050406030204" pitchFamily="18" charset="0"/>
                                                          </a:rPr>
                                                          <m:t>0.1589</m:t>
                                                        </m:r>
                                                      </m:e>
                                                      <m:e>
                                                        <m:r>
                                                          <a:rPr lang="en-US" altLang="zh-TW" b="0" i="1" smtClean="0">
                                                            <a:latin typeface="Cambria Math" panose="02040503050406030204" pitchFamily="18" charset="0"/>
                                                          </a:rPr>
                                                          <m:t>0.9514</m:t>
                                                        </m:r>
                                                      </m:e>
                                                      <m:e>
                                                        <m:r>
                                                          <a:rPr lang="en-US" altLang="zh-TW" b="0" i="1" smtClean="0">
                                                            <a:latin typeface="Cambria Math" panose="02040503050406030204" pitchFamily="18" charset="0"/>
                                                          </a:rPr>
                                                          <m:t>−0.2097</m:t>
                                                        </m:r>
                                                      </m:e>
                                                    </m:mr>
                                                  </m:m>
                                                </m:e>
                                              </m:mr>
                                            </m:m>
                                          </m:e>
                                        </m:mr>
                                        <m:mr>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a:rPr lang="en-US" altLang="zh-TW" b="0" i="1" smtClean="0">
                                                      <a:latin typeface="Cambria Math" panose="02040503050406030204" pitchFamily="18" charset="0"/>
                                                    </a:rPr>
                                                    <m:t>0.1734</m:t>
                                                  </m:r>
                                                </m:e>
                                                <m:e>
                                                  <m:r>
                                                    <a:rPr lang="en-US" altLang="zh-TW" b="0" i="1" smtClean="0">
                                                      <a:latin typeface="Cambria Math" panose="02040503050406030204" pitchFamily="18" charset="0"/>
                                                    </a:rPr>
                                                    <m:t>−0.1804</m:t>
                                                  </m:r>
                                                </m:e>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a:rPr lang="en-US" altLang="zh-TW" b="0" i="1" smtClean="0">
                                                            <a:latin typeface="Cambria Math" panose="02040503050406030204" pitchFamily="18" charset="0"/>
                                                          </a:rPr>
                                                          <m:t>0.1746</m:t>
                                                        </m:r>
                                                      </m:e>
                                                      <m:e>
                                                        <m:r>
                                                          <a:rPr lang="en-US" altLang="zh-TW" b="0" i="1" smtClean="0">
                                                            <a:latin typeface="Cambria Math" panose="02040503050406030204" pitchFamily="18" charset="0"/>
                                                          </a:rPr>
                                                          <m:t>−0.1054</m:t>
                                                        </m:r>
                                                      </m:e>
                                                      <m:e>
                                                        <m:r>
                                                          <a:rPr lang="en-US" altLang="zh-TW" b="0" i="1" smtClean="0">
                                                            <a:latin typeface="Cambria Math" panose="02040503050406030204" pitchFamily="18" charset="0"/>
                                                          </a:rPr>
                                                          <m:t>0.8382</m:t>
                                                        </m:r>
                                                      </m:e>
                                                    </m:mr>
                                                  </m:m>
                                                </m:e>
                                              </m:mr>
                                            </m:m>
                                          </m:e>
                                        </m:mr>
                                      </m:m>
                                    </m:e>
                                  </m:mr>
                                </m:m>
                              </m:e>
                            </m:mr>
                          </m:m>
                        </m:e>
                      </m:d>
                    </m:oMath>
                  </m:oMathPara>
                </a14:m>
                <a:endParaRPr lang="zh-TW" altLang="en-US" dirty="0"/>
              </a:p>
            </p:txBody>
          </p:sp>
        </mc:Choice>
        <mc:Fallback>
          <p:sp>
            <p:nvSpPr>
              <p:cNvPr id="11" name="文字方塊 10">
                <a:extLst>
                  <a:ext uri="{FF2B5EF4-FFF2-40B4-BE49-F238E27FC236}">
                    <a16:creationId xmlns:a16="http://schemas.microsoft.com/office/drawing/2014/main" id="{2F5EBC69-B8D1-446B-925C-8FAE56F5113E}"/>
                  </a:ext>
                </a:extLst>
              </p:cNvPr>
              <p:cNvSpPr txBox="1">
                <a:spLocks noRot="1" noChangeAspect="1" noMove="1" noResize="1" noEditPoints="1" noAdjustHandles="1" noChangeArrowheads="1" noChangeShapeType="1" noTextEdit="1"/>
              </p:cNvSpPr>
              <p:nvPr/>
            </p:nvSpPr>
            <p:spPr>
              <a:xfrm>
                <a:off x="-67257" y="922045"/>
                <a:ext cx="7221144" cy="1515158"/>
              </a:xfrm>
              <a:prstGeom prst="rect">
                <a:avLst/>
              </a:prstGeom>
              <a:blipFill>
                <a:blip r:embed="rId3"/>
                <a:stretch>
                  <a:fillRect/>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12" name="文字方塊 11">
                <a:extLst>
                  <a:ext uri="{FF2B5EF4-FFF2-40B4-BE49-F238E27FC236}">
                    <a16:creationId xmlns:a16="http://schemas.microsoft.com/office/drawing/2014/main" id="{A9288B2E-2A0E-4CBD-B1AA-E51A8026C007}"/>
                  </a:ext>
                </a:extLst>
              </p:cNvPr>
              <p:cNvSpPr txBox="1"/>
              <p:nvPr/>
            </p:nvSpPr>
            <p:spPr>
              <a:xfrm>
                <a:off x="245534" y="2602752"/>
                <a:ext cx="1417824" cy="291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zh-TW" altLang="en-US" i="1" smtClean="0">
                              <a:latin typeface="Cambria Math" panose="02040503050406030204" pitchFamily="18" charset="0"/>
                            </a:rPr>
                          </m:ctrlPr>
                        </m:accPr>
                        <m:e>
                          <m:r>
                            <a:rPr lang="en-US" altLang="zh-TW" i="1" smtClean="0">
                              <a:latin typeface="Cambria Math" panose="02040503050406030204" pitchFamily="18" charset="0"/>
                              <a:ea typeface="Cambria Math" panose="02040503050406030204" pitchFamily="18" charset="0"/>
                            </a:rPr>
                            <m:t>ℓ</m:t>
                          </m:r>
                        </m:e>
                      </m:acc>
                      <m:r>
                        <a:rPr lang="en-US" altLang="zh-TW" b="0" i="1" smtClean="0">
                          <a:latin typeface="Cambria Math" panose="02040503050406030204" pitchFamily="18" charset="0"/>
                        </a:rPr>
                        <m:t>=874.3 </m:t>
                      </m:r>
                      <m:r>
                        <a:rPr lang="en-US" altLang="zh-TW" b="0" i="1" smtClean="0">
                          <a:latin typeface="Cambria Math" panose="02040503050406030204" pitchFamily="18" charset="0"/>
                        </a:rPr>
                        <m:t>𝑢𝑚</m:t>
                      </m:r>
                    </m:oMath>
                  </m:oMathPara>
                </a14:m>
                <a:endParaRPr lang="zh-TW" altLang="en-US" dirty="0"/>
              </a:p>
            </p:txBody>
          </p:sp>
        </mc:Choice>
        <mc:Fallback>
          <p:sp>
            <p:nvSpPr>
              <p:cNvPr id="12" name="文字方塊 11">
                <a:extLst>
                  <a:ext uri="{FF2B5EF4-FFF2-40B4-BE49-F238E27FC236}">
                    <a16:creationId xmlns:a16="http://schemas.microsoft.com/office/drawing/2014/main" id="{A9288B2E-2A0E-4CBD-B1AA-E51A8026C007}"/>
                  </a:ext>
                </a:extLst>
              </p:cNvPr>
              <p:cNvSpPr txBox="1">
                <a:spLocks noRot="1" noChangeAspect="1" noMove="1" noResize="1" noEditPoints="1" noAdjustHandles="1" noChangeArrowheads="1" noChangeShapeType="1" noTextEdit="1"/>
              </p:cNvSpPr>
              <p:nvPr/>
            </p:nvSpPr>
            <p:spPr>
              <a:xfrm>
                <a:off x="245534" y="2602752"/>
                <a:ext cx="1417824" cy="291234"/>
              </a:xfrm>
              <a:prstGeom prst="rect">
                <a:avLst/>
              </a:prstGeom>
              <a:blipFill>
                <a:blip r:embed="rId4"/>
                <a:stretch>
                  <a:fillRect l="-3863" t="-18750" r="-2146" b="-8333"/>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13" name="文字方塊 12">
                <a:extLst>
                  <a:ext uri="{FF2B5EF4-FFF2-40B4-BE49-F238E27FC236}">
                    <a16:creationId xmlns:a16="http://schemas.microsoft.com/office/drawing/2014/main" id="{A60A8065-04E1-4355-AB61-D4FB54543C6C}"/>
                  </a:ext>
                </a:extLst>
              </p:cNvPr>
              <p:cNvSpPr txBox="1"/>
              <p:nvPr/>
            </p:nvSpPr>
            <p:spPr>
              <a:xfrm>
                <a:off x="1907059" y="2588646"/>
                <a:ext cx="2021194" cy="30534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Pre>
                        <m:sPrePr>
                          <m:ctrlPr>
                            <a:rPr lang="en-US" altLang="zh-TW" i="1" smtClean="0">
                              <a:latin typeface="Cambria Math" panose="02040503050406030204" pitchFamily="18" charset="0"/>
                            </a:rPr>
                          </m:ctrlPr>
                        </m:sPrePr>
                        <m:sub/>
                        <m:sup>
                          <m:r>
                            <a:rPr lang="en-US" altLang="zh-TW" b="0" i="1" smtClean="0">
                              <a:latin typeface="Cambria Math" panose="02040503050406030204" pitchFamily="18" charset="0"/>
                            </a:rPr>
                            <m:t>𝐵</m:t>
                          </m:r>
                        </m:sup>
                        <m:e>
                          <m:sSub>
                            <m:sSubPr>
                              <m:ctrlPr>
                                <a:rPr lang="en-US" altLang="zh-TW" i="1" smtClean="0">
                                  <a:latin typeface="Cambria Math" panose="02040503050406030204" pitchFamily="18" charset="0"/>
                                </a:rPr>
                              </m:ctrlPr>
                            </m:sSubPr>
                            <m:e>
                              <m:acc>
                                <m:accPr>
                                  <m:chr m:val="̂"/>
                                  <m:ctrlPr>
                                    <a:rPr lang="en-US" altLang="zh-TW" i="1" smtClean="0">
                                      <a:latin typeface="Cambria Math" panose="02040503050406030204" pitchFamily="18" charset="0"/>
                                    </a:rPr>
                                  </m:ctrlPr>
                                </m:accPr>
                                <m:e>
                                  <m:r>
                                    <a:rPr lang="en-US" altLang="zh-TW" b="0" i="1" smtClean="0">
                                      <a:latin typeface="Cambria Math" panose="02040503050406030204" pitchFamily="18" charset="0"/>
                                    </a:rPr>
                                    <m:t>𝑔</m:t>
                                  </m:r>
                                </m:e>
                              </m:acc>
                            </m:e>
                            <m:sub>
                              <m:r>
                                <a:rPr lang="en-US" altLang="zh-TW" b="0" i="1" smtClean="0">
                                  <a:latin typeface="Cambria Math" panose="02040503050406030204" pitchFamily="18" charset="0"/>
                                </a:rPr>
                                <m:t>𝐼</m:t>
                              </m:r>
                            </m:sub>
                          </m:sSub>
                          <m:r>
                            <a:rPr lang="en-US" altLang="zh-TW" b="0" i="1" smtClean="0">
                              <a:latin typeface="Cambria Math" panose="02040503050406030204" pitchFamily="18" charset="0"/>
                            </a:rPr>
                            <m:t>=9.6717</m:t>
                          </m:r>
                          <m:r>
                            <a:rPr lang="en-US" altLang="zh-TW" b="0" i="1" smtClean="0">
                              <a:latin typeface="Cambria Math" panose="02040503050406030204" pitchFamily="18" charset="0"/>
                            </a:rPr>
                            <m:t>𝑚𝑇</m:t>
                          </m:r>
                          <m:r>
                            <a:rPr lang="en-US" altLang="zh-TW" b="0" i="1" smtClean="0">
                              <a:latin typeface="Cambria Math" panose="02040503050406030204" pitchFamily="18" charset="0"/>
                            </a:rPr>
                            <m:t>/</m:t>
                          </m:r>
                          <m:r>
                            <a:rPr lang="en-US" altLang="zh-TW" b="0" i="1" smtClean="0">
                              <a:latin typeface="Cambria Math" panose="02040503050406030204" pitchFamily="18" charset="0"/>
                            </a:rPr>
                            <m:t>𝐴</m:t>
                          </m:r>
                        </m:e>
                      </m:sPre>
                    </m:oMath>
                  </m:oMathPara>
                </a14:m>
                <a:endParaRPr lang="zh-TW" altLang="en-US" dirty="0"/>
              </a:p>
            </p:txBody>
          </p:sp>
        </mc:Choice>
        <mc:Fallback>
          <p:sp>
            <p:nvSpPr>
              <p:cNvPr id="13" name="文字方塊 12">
                <a:extLst>
                  <a:ext uri="{FF2B5EF4-FFF2-40B4-BE49-F238E27FC236}">
                    <a16:creationId xmlns:a16="http://schemas.microsoft.com/office/drawing/2014/main" id="{A60A8065-04E1-4355-AB61-D4FB54543C6C}"/>
                  </a:ext>
                </a:extLst>
              </p:cNvPr>
              <p:cNvSpPr txBox="1">
                <a:spLocks noRot="1" noChangeAspect="1" noMove="1" noResize="1" noEditPoints="1" noAdjustHandles="1" noChangeArrowheads="1" noChangeShapeType="1" noTextEdit="1"/>
              </p:cNvSpPr>
              <p:nvPr/>
            </p:nvSpPr>
            <p:spPr>
              <a:xfrm>
                <a:off x="1907059" y="2588646"/>
                <a:ext cx="2021194" cy="305340"/>
              </a:xfrm>
              <a:prstGeom prst="rect">
                <a:avLst/>
              </a:prstGeom>
              <a:blipFill>
                <a:blip r:embed="rId5"/>
                <a:stretch>
                  <a:fillRect t="-16000" r="-2417" b="-30000"/>
                </a:stretch>
              </a:blipFill>
            </p:spPr>
            <p:txBody>
              <a:bodyPr/>
              <a:lstStyle/>
              <a:p>
                <a:r>
                  <a:rPr lang="zh-TW" altLang="en-US">
                    <a:noFill/>
                  </a:rPr>
                  <a:t> </a:t>
                </a:r>
              </a:p>
            </p:txBody>
          </p:sp>
        </mc:Fallback>
      </mc:AlternateContent>
      <p:sp>
        <p:nvSpPr>
          <p:cNvPr id="14" name="文字方塊 13">
            <a:extLst>
              <a:ext uri="{FF2B5EF4-FFF2-40B4-BE49-F238E27FC236}">
                <a16:creationId xmlns:a16="http://schemas.microsoft.com/office/drawing/2014/main" id="{FE41946E-17EE-4133-80BE-043AEBF903C7}"/>
              </a:ext>
            </a:extLst>
          </p:cNvPr>
          <p:cNvSpPr txBox="1"/>
          <p:nvPr/>
        </p:nvSpPr>
        <p:spPr>
          <a:xfrm>
            <a:off x="7181346" y="792117"/>
            <a:ext cx="4680454" cy="1200329"/>
          </a:xfrm>
          <a:prstGeom prst="rect">
            <a:avLst/>
          </a:prstGeom>
          <a:noFill/>
        </p:spPr>
        <p:txBody>
          <a:bodyPr wrap="square" rtlCol="0">
            <a:spAutoFit/>
          </a:bodyPr>
          <a:lstStyle/>
          <a:p>
            <a:pPr marL="285750" indent="-285750">
              <a:buFont typeface="Arial" panose="020B0604020202020204" pitchFamily="34" charset="0"/>
              <a:buChar char="•"/>
            </a:pPr>
            <a:r>
              <a:rPr lang="en-US" altLang="zh-TW" dirty="0">
                <a:latin typeface="Times New Roman" panose="02020603050405020304" pitchFamily="18" charset="0"/>
                <a:cs typeface="Times New Roman" panose="02020603050405020304" pitchFamily="18" charset="0"/>
              </a:rPr>
              <a:t>One parameter fitting results</a:t>
            </a:r>
          </a:p>
          <a:p>
            <a:pPr marL="285750" indent="-285750">
              <a:buFont typeface="Arial" panose="020B0604020202020204" pitchFamily="34" charset="0"/>
              <a:buChar char="•"/>
            </a:pPr>
            <a:r>
              <a:rPr lang="en-US" altLang="zh-TW" dirty="0">
                <a:latin typeface="Times New Roman" panose="02020603050405020304" pitchFamily="18" charset="0"/>
                <a:cs typeface="Times New Roman" panose="02020603050405020304" pitchFamily="18" charset="0"/>
              </a:rPr>
              <a:t>Calibration region R&lt;=150um</a:t>
            </a:r>
          </a:p>
          <a:p>
            <a:pPr marL="285750" indent="-285750">
              <a:buFont typeface="Arial" panose="020B0604020202020204" pitchFamily="34" charset="0"/>
              <a:buChar char="•"/>
            </a:pPr>
            <a:endParaRPr lang="en-US" altLang="zh-TW"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endParaRPr lang="zh-TW" altLang="en-US" dirty="0">
              <a:latin typeface="Times New Roman" panose="02020603050405020304" pitchFamily="18" charset="0"/>
              <a:cs typeface="Times New Roman" panose="02020603050405020304" pitchFamily="18" charset="0"/>
            </a:endParaRPr>
          </a:p>
        </p:txBody>
      </p:sp>
      <p:pic>
        <p:nvPicPr>
          <p:cNvPr id="5" name="圖片 4">
            <a:extLst>
              <a:ext uri="{FF2B5EF4-FFF2-40B4-BE49-F238E27FC236}">
                <a16:creationId xmlns:a16="http://schemas.microsoft.com/office/drawing/2014/main" id="{F8EAF5C4-9E6F-4FBF-8E8C-62C9CFA6C86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14867" y="3059535"/>
            <a:ext cx="4147532" cy="3533357"/>
          </a:xfrm>
          <a:prstGeom prst="rect">
            <a:avLst/>
          </a:prstGeom>
        </p:spPr>
      </p:pic>
      <p:pic>
        <p:nvPicPr>
          <p:cNvPr id="9" name="圖片 8">
            <a:extLst>
              <a:ext uri="{FF2B5EF4-FFF2-40B4-BE49-F238E27FC236}">
                <a16:creationId xmlns:a16="http://schemas.microsoft.com/office/drawing/2014/main" id="{34102C21-F5B9-47F1-AB1B-CE2F5E28D0B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5942880" y="2828764"/>
            <a:ext cx="4342061" cy="3764128"/>
          </a:xfrm>
          <a:prstGeom prst="rect">
            <a:avLst/>
          </a:prstGeom>
        </p:spPr>
      </p:pic>
    </p:spTree>
    <p:extLst>
      <p:ext uri="{BB962C8B-B14F-4D97-AF65-F5344CB8AC3E}">
        <p14:creationId xmlns:p14="http://schemas.microsoft.com/office/powerpoint/2010/main" val="350881734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081933" cy="837142"/>
          </a:xfrm>
        </p:spPr>
        <p:txBody>
          <a:bodyPr>
            <a:normAutofit fontScale="90000"/>
          </a:bodyPr>
          <a:lstStyle/>
          <a:p>
            <a:r>
              <a:rPr lang="en-US" altLang="zh-TW" sz="4000" b="1" kern="100" dirty="0">
                <a:solidFill>
                  <a:srgbClr val="000000"/>
                </a:solidFill>
                <a:latin typeface="Aptos"/>
                <a:ea typeface="新細明體" panose="02020500000000000000" pitchFamily="18" charset="-120"/>
                <a:cs typeface="Times New Roman" panose="02020603050405020304" pitchFamily="18" charset="0"/>
              </a:rPr>
              <a:t>Current-based lumped-parameter modeling and calibration</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40" name="文字方塊 39">
            <a:extLst>
              <a:ext uri="{FF2B5EF4-FFF2-40B4-BE49-F238E27FC236}">
                <a16:creationId xmlns:a16="http://schemas.microsoft.com/office/drawing/2014/main" id="{B1E82766-E1D8-4AA6-A2B9-6AEA170385C0}"/>
              </a:ext>
            </a:extLst>
          </p:cNvPr>
          <p:cNvSpPr txBox="1"/>
          <p:nvPr/>
        </p:nvSpPr>
        <p:spPr>
          <a:xfrm>
            <a:off x="0" y="324377"/>
            <a:ext cx="6324600" cy="390684"/>
          </a:xfrm>
          <a:prstGeom prst="rect">
            <a:avLst/>
          </a:prstGeom>
          <a:noFill/>
        </p:spPr>
        <p:txBody>
          <a:bodyPr wrap="square" rtlCol="0">
            <a:spAutoFit/>
          </a:bodyPr>
          <a:lstStyle/>
          <a:p>
            <a:pPr>
              <a:lnSpc>
                <a:spcPct val="115000"/>
              </a:lnSpc>
              <a:spcAft>
                <a:spcPts val="800"/>
              </a:spcAft>
            </a:pPr>
            <a:r>
              <a:rPr lang="en-US" altLang="zh-TW"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E</a:t>
            </a:r>
            <a:r>
              <a:rPr lang="en-US" altLang="zh-TW" kern="1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 </a:t>
            </a:r>
            <a:r>
              <a:rPr lang="en-US" altLang="zh-TW" i="1"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Validation</a:t>
            </a:r>
            <a:endParaRPr lang="zh-TW" altLang="zh-TW" kern="100" dirty="0">
              <a:effectLst/>
              <a:latin typeface="Aptos"/>
              <a:ea typeface="新細明體" panose="02020500000000000000" pitchFamily="18" charset="-12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文字方塊 2">
                <a:extLst>
                  <a:ext uri="{FF2B5EF4-FFF2-40B4-BE49-F238E27FC236}">
                    <a16:creationId xmlns:a16="http://schemas.microsoft.com/office/drawing/2014/main" id="{B6964577-860D-4EB3-8219-1A6240335DA6}"/>
                  </a:ext>
                </a:extLst>
              </p:cNvPr>
              <p:cNvSpPr txBox="1"/>
              <p:nvPr/>
            </p:nvSpPr>
            <p:spPr>
              <a:xfrm>
                <a:off x="8573024" y="570245"/>
                <a:ext cx="3508909" cy="32156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b="0" i="1" smtClean="0">
                          <a:latin typeface="Cambria Math" panose="02040503050406030204" pitchFamily="18" charset="0"/>
                        </a:rPr>
                        <m:t>𝐶𝑎𝑙𝑖𝑏𝑟𝑎𝑡𝑒</m:t>
                      </m:r>
                      <m:r>
                        <a:rPr lang="en-US" altLang="zh-TW" b="0" i="1" smtClean="0">
                          <a:latin typeface="Cambria Math" panose="02040503050406030204" pitchFamily="18" charset="0"/>
                        </a:rPr>
                        <m:t> </m:t>
                      </m:r>
                      <m:r>
                        <a:rPr lang="en-US" altLang="zh-TW" b="0" i="1" smtClean="0">
                          <a:latin typeface="Cambria Math" panose="02040503050406030204" pitchFamily="18" charset="0"/>
                        </a:rPr>
                        <m:t>𝑚𝑜𝑑𝑒𝑙</m:t>
                      </m:r>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𝑏</m:t>
                          </m:r>
                        </m:e>
                        <m:sub>
                          <m:r>
                            <a:rPr lang="en-US" altLang="zh-TW" b="0" i="1" smtClean="0">
                              <a:latin typeface="Cambria Math" panose="02040503050406030204" pitchFamily="18" charset="0"/>
                              <a:ea typeface="Cambria Math" panose="02040503050406030204" pitchFamily="18" charset="0"/>
                            </a:rPr>
                            <m:t>𝑖𝑗</m:t>
                          </m:r>
                        </m:sub>
                      </m:sSub>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𝑆</m:t>
                          </m:r>
                        </m:e>
                        <m:sub>
                          <m:r>
                            <a:rPr lang="en-US" altLang="zh-TW" b="0" i="1" smtClean="0">
                              <a:latin typeface="Cambria Math" panose="02040503050406030204" pitchFamily="18" charset="0"/>
                              <a:ea typeface="Cambria Math" panose="02040503050406030204" pitchFamily="18" charset="0"/>
                            </a:rPr>
                            <m:t>𝑖</m:t>
                          </m:r>
                        </m:sub>
                      </m:sSub>
                      <m:sPre>
                        <m:sPrePr>
                          <m:ctrlPr>
                            <a:rPr lang="en-US" altLang="zh-TW" b="0" i="1" smtClean="0">
                              <a:latin typeface="Cambria Math" panose="02040503050406030204" pitchFamily="18" charset="0"/>
                              <a:ea typeface="Cambria Math" panose="02040503050406030204" pitchFamily="18" charset="0"/>
                            </a:rPr>
                          </m:ctrlPr>
                        </m:sPrePr>
                        <m:sub/>
                        <m:sup>
                          <m:r>
                            <a:rPr lang="en-US" altLang="zh-TW" b="0" i="1" smtClean="0">
                              <a:latin typeface="Cambria Math" panose="02040503050406030204" pitchFamily="18" charset="0"/>
                            </a:rPr>
                            <m:t>𝐵</m:t>
                          </m:r>
                        </m:sup>
                        <m:e>
                          <m:sSub>
                            <m:sSubPr>
                              <m:ctrlPr>
                                <a:rPr lang="en-US" altLang="zh-TW" i="1" smtClean="0">
                                  <a:latin typeface="Cambria Math" panose="02040503050406030204" pitchFamily="18" charset="0"/>
                                </a:rPr>
                              </m:ctrlPr>
                            </m:sSubPr>
                            <m:e>
                              <m:acc>
                                <m:accPr>
                                  <m:chr m:val="̂"/>
                                  <m:ctrlPr>
                                    <a:rPr lang="en-US" altLang="zh-TW" b="0" i="1" smtClean="0">
                                      <a:latin typeface="Cambria Math" panose="02040503050406030204" pitchFamily="18" charset="0"/>
                                    </a:rPr>
                                  </m:ctrlPr>
                                </m:accPr>
                                <m:e>
                                  <m:r>
                                    <a:rPr lang="en-US" altLang="zh-TW" b="0" i="1" smtClean="0">
                                      <a:latin typeface="Cambria Math" panose="02040503050406030204" pitchFamily="18" charset="0"/>
                                    </a:rPr>
                                    <m:t>𝑔</m:t>
                                  </m:r>
                                </m:e>
                              </m:acc>
                            </m:e>
                            <m:sub>
                              <m:r>
                                <a:rPr lang="en-US" altLang="zh-TW" b="0" i="1" smtClean="0">
                                  <a:latin typeface="Cambria Math" panose="02040503050406030204" pitchFamily="18" charset="0"/>
                                </a:rPr>
                                <m:t>𝐼</m:t>
                              </m:r>
                            </m:sub>
                          </m:sSub>
                        </m:e>
                      </m:sPre>
                      <m:acc>
                        <m:accPr>
                          <m:chr m:val="̅"/>
                          <m:ctrlPr>
                            <a:rPr lang="zh-TW" altLang="en-US" b="0" i="1" smtClean="0">
                              <a:latin typeface="Cambria Math" panose="02040503050406030204" pitchFamily="18" charset="0"/>
                            </a:rPr>
                          </m:ctrlPr>
                        </m:accPr>
                        <m:e>
                          <m:r>
                            <a:rPr lang="en-US" altLang="zh-TW" b="0" i="1" smtClean="0">
                              <a:latin typeface="Cambria Math" panose="02040503050406030204" pitchFamily="18" charset="0"/>
                            </a:rPr>
                            <m:t>𝐾</m:t>
                          </m:r>
                        </m:e>
                      </m:acc>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𝐼</m:t>
                          </m:r>
                        </m:e>
                        <m:sub>
                          <m:r>
                            <a:rPr lang="en-US" altLang="zh-TW" b="0" i="1" smtClean="0">
                              <a:latin typeface="Cambria Math" panose="02040503050406030204" pitchFamily="18" charset="0"/>
                            </a:rPr>
                            <m:t>𝑗</m:t>
                          </m:r>
                        </m:sub>
                      </m:sSub>
                    </m:oMath>
                  </m:oMathPara>
                </a14:m>
                <a:endParaRPr lang="zh-TW" altLang="en-US" dirty="0"/>
              </a:p>
            </p:txBody>
          </p:sp>
        </mc:Choice>
        <mc:Fallback xmlns="">
          <p:sp>
            <p:nvSpPr>
              <p:cNvPr id="3" name="文字方塊 2">
                <a:extLst>
                  <a:ext uri="{FF2B5EF4-FFF2-40B4-BE49-F238E27FC236}">
                    <a16:creationId xmlns:a16="http://schemas.microsoft.com/office/drawing/2014/main" id="{B6964577-860D-4EB3-8219-1A6240335DA6}"/>
                  </a:ext>
                </a:extLst>
              </p:cNvPr>
              <p:cNvSpPr txBox="1">
                <a:spLocks noRot="1" noChangeAspect="1" noMove="1" noResize="1" noEditPoints="1" noAdjustHandles="1" noChangeArrowheads="1" noChangeShapeType="1" noTextEdit="1"/>
              </p:cNvSpPr>
              <p:nvPr/>
            </p:nvSpPr>
            <p:spPr>
              <a:xfrm>
                <a:off x="8573024" y="570245"/>
                <a:ext cx="3508909" cy="321563"/>
              </a:xfrm>
              <a:prstGeom prst="rect">
                <a:avLst/>
              </a:prstGeom>
              <a:blipFill>
                <a:blip r:embed="rId2"/>
                <a:stretch>
                  <a:fillRect l="-1215" t="-15385" r="-6944" b="-25000"/>
                </a:stretch>
              </a:blipFill>
            </p:spPr>
            <p:txBody>
              <a:bodyPr/>
              <a:lstStyle/>
              <a:p>
                <a:r>
                  <a:rPr lang="zh-TW" altLang="en-US">
                    <a:noFill/>
                  </a:rPr>
                  <a:t> </a:t>
                </a:r>
              </a:p>
            </p:txBody>
          </p:sp>
        </mc:Fallback>
      </mc:AlternateContent>
      <p:sp>
        <p:nvSpPr>
          <p:cNvPr id="19" name="文字方塊 18">
            <a:extLst>
              <a:ext uri="{FF2B5EF4-FFF2-40B4-BE49-F238E27FC236}">
                <a16:creationId xmlns:a16="http://schemas.microsoft.com/office/drawing/2014/main" id="{EBA17566-B42C-4B02-B869-9832F66C8C0A}"/>
              </a:ext>
            </a:extLst>
          </p:cNvPr>
          <p:cNvSpPr txBox="1"/>
          <p:nvPr/>
        </p:nvSpPr>
        <p:spPr>
          <a:xfrm>
            <a:off x="0" y="587243"/>
            <a:ext cx="1879600" cy="369332"/>
          </a:xfrm>
          <a:prstGeom prst="rect">
            <a:avLst/>
          </a:prstGeom>
          <a:noFill/>
        </p:spPr>
        <p:txBody>
          <a:bodyPr wrap="square" rtlCol="0">
            <a:spAutoFit/>
          </a:bodyPr>
          <a:lstStyle/>
          <a:p>
            <a:pPr marL="285750" indent="-285750">
              <a:buFont typeface="Arial" panose="020B0604020202020204" pitchFamily="34" charset="0"/>
              <a:buChar char="•"/>
            </a:pPr>
            <a:r>
              <a:rPr lang="en-US" altLang="zh-TW" dirty="0"/>
              <a:t>Fitting results</a:t>
            </a:r>
            <a:endParaRPr lang="zh-TW" altLang="en-US" dirty="0"/>
          </a:p>
        </p:txBody>
      </p:sp>
      <mc:AlternateContent xmlns:mc="http://schemas.openxmlformats.org/markup-compatibility/2006">
        <mc:Choice xmlns:a14="http://schemas.microsoft.com/office/drawing/2010/main" Requires="a14">
          <p:sp>
            <p:nvSpPr>
              <p:cNvPr id="11" name="文字方塊 10">
                <a:extLst>
                  <a:ext uri="{FF2B5EF4-FFF2-40B4-BE49-F238E27FC236}">
                    <a16:creationId xmlns:a16="http://schemas.microsoft.com/office/drawing/2014/main" id="{4207ED95-D254-4C8C-9DFA-A3E72278EE2C}"/>
                  </a:ext>
                </a:extLst>
              </p:cNvPr>
              <p:cNvSpPr txBox="1"/>
              <p:nvPr/>
            </p:nvSpPr>
            <p:spPr>
              <a:xfrm>
                <a:off x="93602" y="991968"/>
                <a:ext cx="7068538" cy="150823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TW" b="0" i="1" smtClean="0">
                              <a:latin typeface="Cambria Math" panose="02040503050406030204" pitchFamily="18" charset="0"/>
                            </a:rPr>
                          </m:ctrlPr>
                        </m:sSubPr>
                        <m:e>
                          <m:acc>
                            <m:accPr>
                              <m:chr m:val="̅"/>
                              <m:ctrlPr>
                                <a:rPr lang="en-US" altLang="zh-TW" b="0" i="1" smtClean="0">
                                  <a:latin typeface="Cambria Math" panose="02040503050406030204" pitchFamily="18" charset="0"/>
                                </a:rPr>
                              </m:ctrlPr>
                            </m:accPr>
                            <m:e>
                              <m:r>
                                <a:rPr lang="en-US" altLang="zh-TW" b="0" i="1" smtClean="0">
                                  <a:latin typeface="Cambria Math" panose="02040503050406030204" pitchFamily="18" charset="0"/>
                                </a:rPr>
                                <m:t>𝐾</m:t>
                              </m:r>
                            </m:e>
                          </m:acc>
                        </m:e>
                        <m:sub>
                          <m:r>
                            <a:rPr lang="en-US" altLang="zh-TW" b="0" i="1" smtClean="0">
                              <a:latin typeface="Cambria Math" panose="02040503050406030204" pitchFamily="18" charset="0"/>
                            </a:rPr>
                            <m:t>𝐼</m:t>
                          </m:r>
                        </m:sub>
                      </m:sSub>
                      <m:r>
                        <a:rPr lang="en-US" altLang="zh-TW" b="0" i="1" smtClean="0">
                          <a:latin typeface="Cambria Math" panose="02040503050406030204" pitchFamily="18" charset="0"/>
                        </a:rPr>
                        <m:t>=</m:t>
                      </m:r>
                      <m:d>
                        <m:dPr>
                          <m:begChr m:val="["/>
                          <m:endChr m:val="]"/>
                          <m:ctrlPr>
                            <a:rPr lang="en-US" altLang="zh-TW" b="0" i="1" smtClean="0">
                              <a:latin typeface="Cambria Math" panose="02040503050406030204" pitchFamily="18" charset="0"/>
                            </a:rPr>
                          </m:ctrlPr>
                        </m:dPr>
                        <m:e>
                          <m:m>
                            <m:mPr>
                              <m:mcs>
                                <m:mc>
                                  <m:mcPr>
                                    <m:count m:val="2"/>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m:t>
                                </m:r>
                                <m:r>
                                  <a:rPr lang="en-US" altLang="zh-TW" b="0" i="1" smtClean="0">
                                    <a:latin typeface="Cambria Math" panose="02040503050406030204" pitchFamily="18" charset="0"/>
                                  </a:rPr>
                                  <m:t>.8333</m:t>
                                </m:r>
                              </m:e>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a:rPr lang="en-US" altLang="zh-TW" b="0" i="1" smtClean="0">
                                          <a:latin typeface="Cambria Math" panose="02040503050406030204" pitchFamily="18" charset="0"/>
                                        </a:rPr>
                                        <m:t>0.1369</m:t>
                                      </m:r>
                                    </m:e>
                                    <m:e>
                                      <m:r>
                                        <a:rPr lang="en-US" altLang="zh-TW" b="0" i="1" smtClean="0">
                                          <a:latin typeface="Cambria Math" panose="02040503050406030204" pitchFamily="18" charset="0"/>
                                        </a:rPr>
                                        <m:t>−0.1291</m:t>
                                      </m:r>
                                    </m:e>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a:rPr lang="en-US" altLang="zh-TW" b="0" i="1" smtClean="0">
                                                <a:latin typeface="Cambria Math" panose="02040503050406030204" pitchFamily="18" charset="0"/>
                                              </a:rPr>
                                              <m:t>0.1993</m:t>
                                            </m:r>
                                          </m:e>
                                          <m:e>
                                            <m:r>
                                              <a:rPr lang="en-US" altLang="zh-TW" b="0" i="1" smtClean="0">
                                                <a:latin typeface="Cambria Math" panose="02040503050406030204" pitchFamily="18" charset="0"/>
                                              </a:rPr>
                                              <m:t>−0.1996</m:t>
                                            </m:r>
                                          </m:e>
                                          <m:e>
                                            <m:r>
                                              <a:rPr lang="en-US" altLang="zh-TW" b="0" i="1" smtClean="0">
                                                <a:latin typeface="Cambria Math" panose="02040503050406030204" pitchFamily="18" charset="0"/>
                                              </a:rPr>
                                              <m:t>−0.1289</m:t>
                                            </m:r>
                                          </m:e>
                                        </m:mr>
                                      </m:m>
                                    </m:e>
                                  </m:mr>
                                </m:m>
                              </m:e>
                            </m:mr>
                            <m:mr>
                              <m:e>
                                <m:m>
                                  <m:mPr>
                                    <m:mcs>
                                      <m:mc>
                                        <m:mcPr>
                                          <m:count m:val="1"/>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a:rPr lang="en-US" altLang="zh-TW" b="0" i="1" smtClean="0">
                                          <a:latin typeface="Cambria Math" panose="02040503050406030204" pitchFamily="18" charset="0"/>
                                        </a:rPr>
                                        <m:t>0.1380</m:t>
                                      </m:r>
                                    </m:e>
                                  </m:mr>
                                  <m:mr>
                                    <m:e>
                                      <m:r>
                                        <a:rPr lang="en-US" altLang="zh-TW" b="0" i="1" smtClean="0">
                                          <a:latin typeface="Cambria Math" panose="02040503050406030204" pitchFamily="18" charset="0"/>
                                        </a:rPr>
                                        <m:t>−0.1276</m:t>
                                      </m:r>
                                    </m:e>
                                  </m:mr>
                                  <m:mr>
                                    <m:e>
                                      <m:m>
                                        <m:mPr>
                                          <m:mcs>
                                            <m:mc>
                                              <m:mcPr>
                                                <m:count m:val="1"/>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a:rPr lang="en-US" altLang="zh-TW" b="0" i="1" smtClean="0">
                                                <a:latin typeface="Cambria Math" panose="02040503050406030204" pitchFamily="18" charset="0"/>
                                              </a:rPr>
                                              <m:t>0.2042</m:t>
                                            </m:r>
                                          </m:e>
                                        </m:mr>
                                        <m:mr>
                                          <m:e>
                                            <m:r>
                                              <a:rPr lang="en-US" altLang="zh-TW" b="0" i="1" smtClean="0">
                                                <a:latin typeface="Cambria Math" panose="02040503050406030204" pitchFamily="18" charset="0"/>
                                              </a:rPr>
                                              <m:t>−0.2033</m:t>
                                            </m:r>
                                          </m:e>
                                        </m:mr>
                                        <m:mr>
                                          <m:e>
                                            <m:r>
                                              <a:rPr lang="en-US" altLang="zh-TW" b="0" i="1" smtClean="0">
                                                <a:latin typeface="Cambria Math" panose="02040503050406030204" pitchFamily="18" charset="0"/>
                                              </a:rPr>
                                              <m:t>−0.1279</m:t>
                                            </m:r>
                                          </m:e>
                                        </m:mr>
                                      </m:m>
                                    </m:e>
                                  </m:mr>
                                </m:m>
                              </m:e>
                              <m:e>
                                <m:m>
                                  <m:mPr>
                                    <m:mcs>
                                      <m:mc>
                                        <m:mcPr>
                                          <m:count m:val="1"/>
                                          <m:mcJc m:val="center"/>
                                        </m:mcPr>
                                      </m:mc>
                                    </m:mcs>
                                    <m:ctrlPr>
                                      <a:rPr lang="en-US" altLang="zh-TW" b="0" i="1" smtClean="0">
                                        <a:latin typeface="Cambria Math" panose="02040503050406030204" pitchFamily="18" charset="0"/>
                                      </a:rPr>
                                    </m:ctrlPr>
                                  </m:mPr>
                                  <m:mr>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m:t>
                                            </m:r>
                                            <m:r>
                                              <a:rPr lang="en-US" altLang="zh-TW" b="0" i="1" smtClean="0">
                                                <a:latin typeface="Cambria Math" panose="02040503050406030204" pitchFamily="18" charset="0"/>
                                              </a:rPr>
                                              <m:t>.8309</m:t>
                                            </m:r>
                                          </m:e>
                                          <m:e>
                                            <m:r>
                                              <a:rPr lang="en-US" altLang="zh-TW" b="0" i="1" smtClean="0">
                                                <a:latin typeface="Cambria Math" panose="02040503050406030204" pitchFamily="18" charset="0"/>
                                              </a:rPr>
                                              <m:t>−0.2033</m:t>
                                            </m:r>
                                          </m:e>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a:rPr lang="en-US" altLang="zh-TW" b="0" i="1" smtClean="0">
                                                      <a:latin typeface="Cambria Math" panose="02040503050406030204" pitchFamily="18" charset="0"/>
                                                    </a:rPr>
                                                    <m:t>0.1231</m:t>
                                                  </m:r>
                                                </m:e>
                                                <m:e>
                                                  <m:r>
                                                    <a:rPr lang="en-US" altLang="zh-TW" b="0" i="1" smtClean="0">
                                                      <a:latin typeface="Cambria Math" panose="02040503050406030204" pitchFamily="18" charset="0"/>
                                                    </a:rPr>
                                                    <m:t>−0.1230</m:t>
                                                  </m:r>
                                                </m:e>
                                                <m:e>
                                                  <m:r>
                                                    <a:rPr lang="en-US" altLang="zh-TW" b="0" i="1" smtClean="0">
                                                      <a:latin typeface="Cambria Math" panose="02040503050406030204" pitchFamily="18" charset="0"/>
                                                    </a:rPr>
                                                    <m:t>−0.2030</m:t>
                                                  </m:r>
                                                </m:e>
                                              </m:mr>
                                            </m:m>
                                          </m:e>
                                        </m:mr>
                                      </m:m>
                                    </m:e>
                                  </m:mr>
                                  <m:mr>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a:rPr lang="en-US" altLang="zh-TW" b="0" i="1" smtClean="0">
                                                <a:latin typeface="Cambria Math" panose="02040503050406030204" pitchFamily="18" charset="0"/>
                                              </a:rPr>
                                              <m:t>0.1923</m:t>
                                            </m:r>
                                          </m:e>
                                          <m:e>
                                            <m:r>
                                              <a:rPr lang="en-US" altLang="zh-TW" b="0" i="1" smtClean="0">
                                                <a:latin typeface="Cambria Math" panose="02040503050406030204" pitchFamily="18" charset="0"/>
                                              </a:rPr>
                                              <m:t>0.8291</m:t>
                                            </m:r>
                                          </m:e>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a:rPr lang="en-US" altLang="zh-TW" b="0" i="1" smtClean="0">
                                                      <a:latin typeface="Cambria Math" panose="02040503050406030204" pitchFamily="18" charset="0"/>
                                                    </a:rPr>
                                                    <m:t>0.1358</m:t>
                                                  </m:r>
                                                </m:e>
                                                <m:e>
                                                  <m:r>
                                                    <a:rPr lang="en-US" altLang="zh-TW" b="0" i="1" smtClean="0">
                                                      <a:latin typeface="Cambria Math" panose="02040503050406030204" pitchFamily="18" charset="0"/>
                                                    </a:rPr>
                                                    <m:t>−0.1920</m:t>
                                                  </m:r>
                                                </m:e>
                                                <m:e>
                                                  <m:r>
                                                    <a:rPr lang="en-US" altLang="zh-TW" b="0" i="1" smtClean="0">
                                                      <a:latin typeface="Cambria Math" panose="02040503050406030204" pitchFamily="18" charset="0"/>
                                                    </a:rPr>
                                                    <m:t>−0.1284</m:t>
                                                  </m:r>
                                                </m:e>
                                              </m:mr>
                                            </m:m>
                                          </m:e>
                                        </m:mr>
                                      </m:m>
                                    </m:e>
                                  </m:mr>
                                  <m:mr>
                                    <m:e>
                                      <m:m>
                                        <m:mPr>
                                          <m:mcs>
                                            <m:mc>
                                              <m:mcPr>
                                                <m:count m:val="1"/>
                                                <m:mcJc m:val="center"/>
                                              </m:mcPr>
                                            </m:mc>
                                          </m:mcs>
                                          <m:ctrlPr>
                                            <a:rPr lang="en-US" altLang="zh-TW" b="0" i="1" smtClean="0">
                                              <a:latin typeface="Cambria Math" panose="02040503050406030204" pitchFamily="18" charset="0"/>
                                            </a:rPr>
                                          </m:ctrlPr>
                                        </m:mPr>
                                        <m:mr>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a:rPr lang="en-US" altLang="zh-TW" b="0" i="1" smtClean="0">
                                                      <a:latin typeface="Cambria Math" panose="02040503050406030204" pitchFamily="18" charset="0"/>
                                                    </a:rPr>
                                                    <m:t>0.1233</m:t>
                                                  </m:r>
                                                </m:e>
                                                <m:e>
                                                  <m:r>
                                                    <a:rPr lang="en-US" altLang="zh-TW" b="0" i="1" smtClean="0">
                                                      <a:latin typeface="Cambria Math" panose="02040503050406030204" pitchFamily="18" charset="0"/>
                                                    </a:rPr>
                                                    <m:t>−0.1403</m:t>
                                                  </m:r>
                                                </m:e>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m:t>
                                                        </m:r>
                                                        <m:r>
                                                          <a:rPr lang="en-US" altLang="zh-TW" b="0" i="1" smtClean="0">
                                                            <a:latin typeface="Cambria Math" panose="02040503050406030204" pitchFamily="18" charset="0"/>
                                                          </a:rPr>
                                                          <m:t>.8365</m:t>
                                                        </m:r>
                                                      </m:e>
                                                      <m:e>
                                                        <m:r>
                                                          <a:rPr lang="en-US" altLang="zh-TW" b="0" i="1" smtClean="0">
                                                            <a:latin typeface="Cambria Math" panose="02040503050406030204" pitchFamily="18" charset="0"/>
                                                          </a:rPr>
                                                          <m:t>−0.1235</m:t>
                                                        </m:r>
                                                      </m:e>
                                                      <m:e>
                                                        <m:r>
                                                          <a:rPr lang="en-US" altLang="zh-TW" b="0" i="1" smtClean="0">
                                                            <a:latin typeface="Cambria Math" panose="02040503050406030204" pitchFamily="18" charset="0"/>
                                                          </a:rPr>
                                                          <m:t>−0.2048</m:t>
                                                        </m:r>
                                                      </m:e>
                                                    </m:mr>
                                                  </m:m>
                                                </m:e>
                                              </m:mr>
                                            </m:m>
                                          </m:e>
                                        </m:mr>
                                        <m:mr>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a:rPr lang="en-US" altLang="zh-TW" b="0" i="1" smtClean="0">
                                                      <a:latin typeface="Cambria Math" panose="02040503050406030204" pitchFamily="18" charset="0"/>
                                                    </a:rPr>
                                                    <m:t>0.1230</m:t>
                                                  </m:r>
                                                </m:e>
                                                <m:e>
                                                  <m:r>
                                                    <a:rPr lang="en-US" altLang="zh-TW" b="0" i="1" smtClean="0">
                                                      <a:latin typeface="Cambria Math" panose="02040503050406030204" pitchFamily="18" charset="0"/>
                                                    </a:rPr>
                                                    <m:t>−0.2038</m:t>
                                                  </m:r>
                                                </m:e>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a:rPr lang="en-US" altLang="zh-TW" b="0" i="1" smtClean="0">
                                                            <a:latin typeface="Cambria Math" panose="02040503050406030204" pitchFamily="18" charset="0"/>
                                                          </a:rPr>
                                                          <m:t>0.1234</m:t>
                                                        </m:r>
                                                      </m:e>
                                                      <m:e>
                                                        <m:r>
                                                          <a:rPr lang="en-US" altLang="zh-TW" b="0" i="1" smtClean="0">
                                                            <a:latin typeface="Cambria Math" panose="02040503050406030204" pitchFamily="18" charset="0"/>
                                                          </a:rPr>
                                                          <m:t>0.8338</m:t>
                                                        </m:r>
                                                      </m:e>
                                                      <m:e>
                                                        <m:r>
                                                          <a:rPr lang="en-US" altLang="zh-TW" b="0" i="1" smtClean="0">
                                                            <a:latin typeface="Cambria Math" panose="02040503050406030204" pitchFamily="18" charset="0"/>
                                                          </a:rPr>
                                                          <m:t>−0.1392</m:t>
                                                        </m:r>
                                                      </m:e>
                                                    </m:mr>
                                                  </m:m>
                                                </m:e>
                                              </m:mr>
                                            </m:m>
                                          </m:e>
                                        </m:mr>
                                        <m:mr>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a:rPr lang="en-US" altLang="zh-TW" b="0" i="1" smtClean="0">
                                                      <a:latin typeface="Cambria Math" panose="02040503050406030204" pitchFamily="18" charset="0"/>
                                                    </a:rPr>
                                                    <m:t>0.1928</m:t>
                                                  </m:r>
                                                </m:e>
                                                <m:e>
                                                  <m:r>
                                                    <a:rPr lang="en-US" altLang="zh-TW" b="0" i="1" smtClean="0">
                                                      <a:latin typeface="Cambria Math" panose="02040503050406030204" pitchFamily="18" charset="0"/>
                                                    </a:rPr>
                                                    <m:t>−0.1288</m:t>
                                                  </m:r>
                                                </m:e>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a:rPr lang="en-US" altLang="zh-TW" b="0" i="1" smtClean="0">
                                                            <a:latin typeface="Cambria Math" panose="02040503050406030204" pitchFamily="18" charset="0"/>
                                                          </a:rPr>
                                                          <m:t>0.1936</m:t>
                                                        </m:r>
                                                      </m:e>
                                                      <m:e>
                                                        <m:r>
                                                          <a:rPr lang="en-US" altLang="zh-TW" b="0" i="1" smtClean="0">
                                                            <a:latin typeface="Cambria Math" panose="02040503050406030204" pitchFamily="18" charset="0"/>
                                                          </a:rPr>
                                                          <m:t>−0.1366</m:t>
                                                        </m:r>
                                                      </m:e>
                                                      <m:e>
                                                        <m:r>
                                                          <a:rPr lang="en-US" altLang="zh-TW" b="0" i="1" smtClean="0">
                                                            <a:latin typeface="Cambria Math" panose="02040503050406030204" pitchFamily="18" charset="0"/>
                                                          </a:rPr>
                                                          <m:t>0.8328</m:t>
                                                        </m:r>
                                                      </m:e>
                                                    </m:mr>
                                                  </m:m>
                                                </m:e>
                                              </m:mr>
                                            </m:m>
                                          </m:e>
                                        </m:mr>
                                      </m:m>
                                    </m:e>
                                  </m:mr>
                                </m:m>
                              </m:e>
                            </m:mr>
                          </m:m>
                        </m:e>
                      </m:d>
                    </m:oMath>
                  </m:oMathPara>
                </a14:m>
                <a:endParaRPr lang="zh-TW" altLang="en-US" dirty="0"/>
              </a:p>
            </p:txBody>
          </p:sp>
        </mc:Choice>
        <mc:Fallback>
          <p:sp>
            <p:nvSpPr>
              <p:cNvPr id="11" name="文字方塊 10">
                <a:extLst>
                  <a:ext uri="{FF2B5EF4-FFF2-40B4-BE49-F238E27FC236}">
                    <a16:creationId xmlns:a16="http://schemas.microsoft.com/office/drawing/2014/main" id="{4207ED95-D254-4C8C-9DFA-A3E72278EE2C}"/>
                  </a:ext>
                </a:extLst>
              </p:cNvPr>
              <p:cNvSpPr txBox="1">
                <a:spLocks noRot="1" noChangeAspect="1" noMove="1" noResize="1" noEditPoints="1" noAdjustHandles="1" noChangeArrowheads="1" noChangeShapeType="1" noTextEdit="1"/>
              </p:cNvSpPr>
              <p:nvPr/>
            </p:nvSpPr>
            <p:spPr>
              <a:xfrm>
                <a:off x="93602" y="991968"/>
                <a:ext cx="7068538" cy="1508233"/>
              </a:xfrm>
              <a:prstGeom prst="rect">
                <a:avLst/>
              </a:prstGeom>
              <a:blipFill>
                <a:blip r:embed="rId3"/>
                <a:stretch>
                  <a:fillRect/>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12" name="文字方塊 11">
                <a:extLst>
                  <a:ext uri="{FF2B5EF4-FFF2-40B4-BE49-F238E27FC236}">
                    <a16:creationId xmlns:a16="http://schemas.microsoft.com/office/drawing/2014/main" id="{09DFD6CB-D8CB-4E1A-9FDD-034A016BE8DA}"/>
                  </a:ext>
                </a:extLst>
              </p:cNvPr>
              <p:cNvSpPr txBox="1"/>
              <p:nvPr/>
            </p:nvSpPr>
            <p:spPr>
              <a:xfrm>
                <a:off x="237300" y="2605723"/>
                <a:ext cx="1405000" cy="291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zh-TW" altLang="en-US" i="1" smtClean="0">
                              <a:latin typeface="Cambria Math" panose="02040503050406030204" pitchFamily="18" charset="0"/>
                            </a:rPr>
                          </m:ctrlPr>
                        </m:accPr>
                        <m:e>
                          <m:r>
                            <a:rPr lang="en-US" altLang="zh-TW" i="1" smtClean="0">
                              <a:latin typeface="Cambria Math" panose="02040503050406030204" pitchFamily="18" charset="0"/>
                              <a:ea typeface="Cambria Math" panose="02040503050406030204" pitchFamily="18" charset="0"/>
                            </a:rPr>
                            <m:t>ℓ</m:t>
                          </m:r>
                        </m:e>
                      </m:acc>
                      <m:r>
                        <a:rPr lang="en-US" altLang="zh-TW" b="0" i="1" smtClean="0">
                          <a:latin typeface="Cambria Math" panose="02040503050406030204" pitchFamily="18" charset="0"/>
                        </a:rPr>
                        <m:t>=874. 0</m:t>
                      </m:r>
                      <m:r>
                        <a:rPr lang="en-US" altLang="zh-TW" b="0" i="1" smtClean="0">
                          <a:latin typeface="Cambria Math" panose="02040503050406030204" pitchFamily="18" charset="0"/>
                        </a:rPr>
                        <m:t>𝑢𝑚</m:t>
                      </m:r>
                    </m:oMath>
                  </m:oMathPara>
                </a14:m>
                <a:endParaRPr lang="zh-TW" altLang="en-US" dirty="0"/>
              </a:p>
            </p:txBody>
          </p:sp>
        </mc:Choice>
        <mc:Fallback>
          <p:sp>
            <p:nvSpPr>
              <p:cNvPr id="12" name="文字方塊 11">
                <a:extLst>
                  <a:ext uri="{FF2B5EF4-FFF2-40B4-BE49-F238E27FC236}">
                    <a16:creationId xmlns:a16="http://schemas.microsoft.com/office/drawing/2014/main" id="{09DFD6CB-D8CB-4E1A-9FDD-034A016BE8DA}"/>
                  </a:ext>
                </a:extLst>
              </p:cNvPr>
              <p:cNvSpPr txBox="1">
                <a:spLocks noRot="1" noChangeAspect="1" noMove="1" noResize="1" noEditPoints="1" noAdjustHandles="1" noChangeArrowheads="1" noChangeShapeType="1" noTextEdit="1"/>
              </p:cNvSpPr>
              <p:nvPr/>
            </p:nvSpPr>
            <p:spPr>
              <a:xfrm>
                <a:off x="237300" y="2605723"/>
                <a:ext cx="1405000" cy="291234"/>
              </a:xfrm>
              <a:prstGeom prst="rect">
                <a:avLst/>
              </a:prstGeom>
              <a:blipFill>
                <a:blip r:embed="rId4"/>
                <a:stretch>
                  <a:fillRect l="-3913" t="-16667" r="-3478" b="-8333"/>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13" name="文字方塊 12">
                <a:extLst>
                  <a:ext uri="{FF2B5EF4-FFF2-40B4-BE49-F238E27FC236}">
                    <a16:creationId xmlns:a16="http://schemas.microsoft.com/office/drawing/2014/main" id="{D3C1F35D-FB92-4CF8-9E33-10CEB2945F74}"/>
                  </a:ext>
                </a:extLst>
              </p:cNvPr>
              <p:cNvSpPr txBox="1"/>
              <p:nvPr/>
            </p:nvSpPr>
            <p:spPr>
              <a:xfrm>
                <a:off x="1974123" y="2605723"/>
                <a:ext cx="2200731" cy="30534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Pre>
                        <m:sPrePr>
                          <m:ctrlPr>
                            <a:rPr lang="en-US" altLang="zh-TW" i="1" smtClean="0">
                              <a:latin typeface="Cambria Math" panose="02040503050406030204" pitchFamily="18" charset="0"/>
                            </a:rPr>
                          </m:ctrlPr>
                        </m:sPrePr>
                        <m:sub/>
                        <m:sup>
                          <m:r>
                            <a:rPr lang="en-US" altLang="zh-TW" b="0" i="1" smtClean="0">
                              <a:latin typeface="Cambria Math" panose="02040503050406030204" pitchFamily="18" charset="0"/>
                            </a:rPr>
                            <m:t>𝐵</m:t>
                          </m:r>
                        </m:sup>
                        <m:e>
                          <m:sSub>
                            <m:sSubPr>
                              <m:ctrlPr>
                                <a:rPr lang="en-US" altLang="zh-TW" i="1" smtClean="0">
                                  <a:latin typeface="Cambria Math" panose="02040503050406030204" pitchFamily="18" charset="0"/>
                                </a:rPr>
                              </m:ctrlPr>
                            </m:sSubPr>
                            <m:e>
                              <m:acc>
                                <m:accPr>
                                  <m:chr m:val="̂"/>
                                  <m:ctrlPr>
                                    <a:rPr lang="en-US" altLang="zh-TW" i="1" smtClean="0">
                                      <a:latin typeface="Cambria Math" panose="02040503050406030204" pitchFamily="18" charset="0"/>
                                    </a:rPr>
                                  </m:ctrlPr>
                                </m:accPr>
                                <m:e>
                                  <m:r>
                                    <a:rPr lang="en-US" altLang="zh-TW" b="0" i="1" smtClean="0">
                                      <a:latin typeface="Cambria Math" panose="02040503050406030204" pitchFamily="18" charset="0"/>
                                    </a:rPr>
                                    <m:t>𝑔</m:t>
                                  </m:r>
                                </m:e>
                              </m:acc>
                            </m:e>
                            <m:sub>
                              <m:r>
                                <a:rPr lang="en-US" altLang="zh-TW" b="0" i="1" smtClean="0">
                                  <a:latin typeface="Cambria Math" panose="02040503050406030204" pitchFamily="18" charset="0"/>
                                </a:rPr>
                                <m:t>𝐼</m:t>
                              </m:r>
                            </m:sub>
                          </m:sSub>
                          <m:r>
                            <a:rPr lang="en-US" altLang="zh-TW" b="0" i="1" smtClean="0">
                              <a:latin typeface="Cambria Math" panose="02040503050406030204" pitchFamily="18" charset="0"/>
                            </a:rPr>
                            <m:t>=10.7518 </m:t>
                          </m:r>
                          <m:r>
                            <a:rPr lang="en-US" altLang="zh-TW" b="0" i="1" smtClean="0">
                              <a:latin typeface="Cambria Math" panose="02040503050406030204" pitchFamily="18" charset="0"/>
                            </a:rPr>
                            <m:t>𝑚𝑇</m:t>
                          </m:r>
                          <m:r>
                            <a:rPr lang="en-US" altLang="zh-TW" b="0" i="1" smtClean="0">
                              <a:latin typeface="Cambria Math" panose="02040503050406030204" pitchFamily="18" charset="0"/>
                            </a:rPr>
                            <m:t>/</m:t>
                          </m:r>
                          <m:r>
                            <a:rPr lang="en-US" altLang="zh-TW" b="0" i="1" smtClean="0">
                              <a:latin typeface="Cambria Math" panose="02040503050406030204" pitchFamily="18" charset="0"/>
                            </a:rPr>
                            <m:t>𝐴</m:t>
                          </m:r>
                        </m:e>
                      </m:sPre>
                    </m:oMath>
                  </m:oMathPara>
                </a14:m>
                <a:endParaRPr lang="zh-TW" altLang="en-US" dirty="0"/>
              </a:p>
            </p:txBody>
          </p:sp>
        </mc:Choice>
        <mc:Fallback>
          <p:sp>
            <p:nvSpPr>
              <p:cNvPr id="13" name="文字方塊 12">
                <a:extLst>
                  <a:ext uri="{FF2B5EF4-FFF2-40B4-BE49-F238E27FC236}">
                    <a16:creationId xmlns:a16="http://schemas.microsoft.com/office/drawing/2014/main" id="{D3C1F35D-FB92-4CF8-9E33-10CEB2945F74}"/>
                  </a:ext>
                </a:extLst>
              </p:cNvPr>
              <p:cNvSpPr txBox="1">
                <a:spLocks noRot="1" noChangeAspect="1" noMove="1" noResize="1" noEditPoints="1" noAdjustHandles="1" noChangeArrowheads="1" noChangeShapeType="1" noTextEdit="1"/>
              </p:cNvSpPr>
              <p:nvPr/>
            </p:nvSpPr>
            <p:spPr>
              <a:xfrm>
                <a:off x="1974123" y="2605723"/>
                <a:ext cx="2200731" cy="305340"/>
              </a:xfrm>
              <a:prstGeom prst="rect">
                <a:avLst/>
              </a:prstGeom>
              <a:blipFill>
                <a:blip r:embed="rId5"/>
                <a:stretch>
                  <a:fillRect t="-13725" r="-2216" b="-27451"/>
                </a:stretch>
              </a:blipFill>
            </p:spPr>
            <p:txBody>
              <a:bodyPr/>
              <a:lstStyle/>
              <a:p>
                <a:r>
                  <a:rPr lang="zh-TW" altLang="en-US">
                    <a:noFill/>
                  </a:rPr>
                  <a:t> </a:t>
                </a:r>
              </a:p>
            </p:txBody>
          </p:sp>
        </mc:Fallback>
      </mc:AlternateContent>
      <p:pic>
        <p:nvPicPr>
          <p:cNvPr id="5" name="圖片 4">
            <a:extLst>
              <a:ext uri="{FF2B5EF4-FFF2-40B4-BE49-F238E27FC236}">
                <a16:creationId xmlns:a16="http://schemas.microsoft.com/office/drawing/2014/main" id="{73055B59-78B2-4FFF-925E-957A63C0E6B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73556" y="3208867"/>
            <a:ext cx="4018123" cy="3548030"/>
          </a:xfrm>
          <a:prstGeom prst="rect">
            <a:avLst/>
          </a:prstGeom>
        </p:spPr>
      </p:pic>
      <p:sp>
        <p:nvSpPr>
          <p:cNvPr id="20" name="文字方塊 19">
            <a:extLst>
              <a:ext uri="{FF2B5EF4-FFF2-40B4-BE49-F238E27FC236}">
                <a16:creationId xmlns:a16="http://schemas.microsoft.com/office/drawing/2014/main" id="{17D1534C-2DB1-421C-95B8-9D127C67F4F1}"/>
              </a:ext>
            </a:extLst>
          </p:cNvPr>
          <p:cNvSpPr txBox="1"/>
          <p:nvPr/>
        </p:nvSpPr>
        <p:spPr>
          <a:xfrm>
            <a:off x="7366468" y="1039974"/>
            <a:ext cx="3878298" cy="1711366"/>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altLang="zh-TW" dirty="0"/>
              <a:t>Eighteen parameter </a:t>
            </a:r>
            <a:r>
              <a:rPr lang="en-US" altLang="zh-TW" dirty="0">
                <a:latin typeface="Times New Roman" panose="02020603050405020304" pitchFamily="18" charset="0"/>
                <a:cs typeface="Times New Roman" panose="02020603050405020304" pitchFamily="18" charset="0"/>
              </a:rPr>
              <a:t>fitting results</a:t>
            </a:r>
          </a:p>
          <a:p>
            <a:pPr marL="285750" indent="-285750">
              <a:lnSpc>
                <a:spcPct val="150000"/>
              </a:lnSpc>
              <a:buFont typeface="Arial" panose="020B0604020202020204" pitchFamily="34" charset="0"/>
              <a:buChar char="•"/>
            </a:pPr>
            <a:r>
              <a:rPr lang="en-US" altLang="zh-TW" dirty="0">
                <a:latin typeface="Times New Roman" panose="02020603050405020304" pitchFamily="18" charset="0"/>
                <a:cs typeface="Times New Roman" panose="02020603050405020304" pitchFamily="18" charset="0"/>
              </a:rPr>
              <a:t>Calibration region R&lt;=150um</a:t>
            </a:r>
            <a:endParaRPr lang="zh-TW" altLang="en-US" dirty="0">
              <a:latin typeface="Times New Roman" panose="02020603050405020304" pitchFamily="18" charset="0"/>
              <a:cs typeface="Times New Roman" panose="02020603050405020304" pitchFamily="18" charset="0"/>
            </a:endParaRPr>
          </a:p>
          <a:p>
            <a:pPr marL="285750" indent="-285750">
              <a:lnSpc>
                <a:spcPct val="150000"/>
              </a:lnSpc>
              <a:buFont typeface="Arial" panose="020B0604020202020204" pitchFamily="34" charset="0"/>
              <a:buChar char="•"/>
            </a:pPr>
            <a:endParaRPr lang="en-US" altLang="zh-TW" dirty="0"/>
          </a:p>
          <a:p>
            <a:pPr marL="285750" indent="-285750">
              <a:lnSpc>
                <a:spcPct val="150000"/>
              </a:lnSpc>
              <a:buFont typeface="Arial" panose="020B0604020202020204" pitchFamily="34" charset="0"/>
              <a:buChar char="•"/>
            </a:pPr>
            <a:endParaRPr lang="zh-TW" altLang="en-US" dirty="0"/>
          </a:p>
        </p:txBody>
      </p:sp>
      <p:pic>
        <p:nvPicPr>
          <p:cNvPr id="8" name="圖片 7">
            <a:extLst>
              <a:ext uri="{FF2B5EF4-FFF2-40B4-BE49-F238E27FC236}">
                <a16:creationId xmlns:a16="http://schemas.microsoft.com/office/drawing/2014/main" id="{1D5507D6-621A-4ED8-B47D-7B11233DC07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5807222" y="2970080"/>
            <a:ext cx="4200378" cy="3786818"/>
          </a:xfrm>
          <a:prstGeom prst="rect">
            <a:avLst/>
          </a:prstGeom>
        </p:spPr>
      </p:pic>
      <p:pic>
        <p:nvPicPr>
          <p:cNvPr id="10" name="圖片 9">
            <a:extLst>
              <a:ext uri="{FF2B5EF4-FFF2-40B4-BE49-F238E27FC236}">
                <a16:creationId xmlns:a16="http://schemas.microsoft.com/office/drawing/2014/main" id="{0EF9351B-8FB9-4BEA-B172-C702D9474320}"/>
              </a:ext>
            </a:extLst>
          </p:cNvPr>
          <p:cNvPicPr>
            <a:picLocks noChangeAspect="1"/>
          </p:cNvPicPr>
          <p:nvPr/>
        </p:nvPicPr>
        <p:blipFill>
          <a:blip r:embed="rId8"/>
          <a:stretch>
            <a:fillRect/>
          </a:stretch>
        </p:blipFill>
        <p:spPr>
          <a:xfrm>
            <a:off x="7269839" y="2164576"/>
            <a:ext cx="4812094" cy="671250"/>
          </a:xfrm>
          <a:prstGeom prst="rect">
            <a:avLst/>
          </a:prstGeom>
        </p:spPr>
      </p:pic>
    </p:spTree>
    <p:extLst>
      <p:ext uri="{BB962C8B-B14F-4D97-AF65-F5344CB8AC3E}">
        <p14:creationId xmlns:p14="http://schemas.microsoft.com/office/powerpoint/2010/main" val="42783174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081933" cy="837142"/>
          </a:xfrm>
        </p:spPr>
        <p:txBody>
          <a:bodyPr>
            <a:normAutofit fontScale="90000"/>
          </a:bodyPr>
          <a:lstStyle/>
          <a:p>
            <a:r>
              <a:rPr lang="en-US" altLang="zh-TW" sz="4000" b="1" kern="100" dirty="0">
                <a:solidFill>
                  <a:srgbClr val="000000"/>
                </a:solidFill>
                <a:latin typeface="Aptos"/>
                <a:ea typeface="新細明體" panose="02020500000000000000" pitchFamily="18" charset="-120"/>
                <a:cs typeface="Times New Roman" panose="02020603050405020304" pitchFamily="18" charset="0"/>
              </a:rPr>
              <a:t>Current-based lumped-parameter modeling and calibration</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40" name="文字方塊 39">
            <a:extLst>
              <a:ext uri="{FF2B5EF4-FFF2-40B4-BE49-F238E27FC236}">
                <a16:creationId xmlns:a16="http://schemas.microsoft.com/office/drawing/2014/main" id="{B1E82766-E1D8-4AA6-A2B9-6AEA170385C0}"/>
              </a:ext>
            </a:extLst>
          </p:cNvPr>
          <p:cNvSpPr txBox="1"/>
          <p:nvPr/>
        </p:nvSpPr>
        <p:spPr>
          <a:xfrm>
            <a:off x="0" y="324377"/>
            <a:ext cx="6324600" cy="390684"/>
          </a:xfrm>
          <a:prstGeom prst="rect">
            <a:avLst/>
          </a:prstGeom>
          <a:noFill/>
        </p:spPr>
        <p:txBody>
          <a:bodyPr wrap="square" rtlCol="0">
            <a:spAutoFit/>
          </a:bodyPr>
          <a:lstStyle/>
          <a:p>
            <a:pPr>
              <a:lnSpc>
                <a:spcPct val="115000"/>
              </a:lnSpc>
              <a:spcAft>
                <a:spcPts val="800"/>
              </a:spcAft>
            </a:pPr>
            <a:r>
              <a:rPr lang="en-US" altLang="zh-TW"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E</a:t>
            </a:r>
            <a:r>
              <a:rPr lang="en-US" altLang="zh-TW" kern="1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 </a:t>
            </a:r>
            <a:r>
              <a:rPr lang="en-US" altLang="zh-TW" i="1"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Validation</a:t>
            </a:r>
            <a:endParaRPr lang="zh-TW" altLang="zh-TW" kern="100" dirty="0">
              <a:effectLst/>
              <a:latin typeface="Aptos"/>
              <a:ea typeface="新細明體" panose="02020500000000000000" pitchFamily="18" charset="-120"/>
              <a:cs typeface="Times New Roman" panose="02020603050405020304" pitchFamily="18" charset="0"/>
            </a:endParaRPr>
          </a:p>
        </p:txBody>
      </p:sp>
      <p:sp>
        <p:nvSpPr>
          <p:cNvPr id="19" name="文字方塊 18">
            <a:extLst>
              <a:ext uri="{FF2B5EF4-FFF2-40B4-BE49-F238E27FC236}">
                <a16:creationId xmlns:a16="http://schemas.microsoft.com/office/drawing/2014/main" id="{EBA17566-B42C-4B02-B869-9832F66C8C0A}"/>
              </a:ext>
            </a:extLst>
          </p:cNvPr>
          <p:cNvSpPr txBox="1"/>
          <p:nvPr/>
        </p:nvSpPr>
        <p:spPr>
          <a:xfrm>
            <a:off x="0" y="587243"/>
            <a:ext cx="1879600" cy="369332"/>
          </a:xfrm>
          <a:prstGeom prst="rect">
            <a:avLst/>
          </a:prstGeom>
          <a:noFill/>
        </p:spPr>
        <p:txBody>
          <a:bodyPr wrap="square" rtlCol="0">
            <a:spAutoFit/>
          </a:bodyPr>
          <a:lstStyle/>
          <a:p>
            <a:pPr marL="285750" indent="-285750">
              <a:buFont typeface="Arial" panose="020B0604020202020204" pitchFamily="34" charset="0"/>
              <a:buChar char="•"/>
            </a:pPr>
            <a:r>
              <a:rPr lang="en-US" altLang="zh-TW" dirty="0"/>
              <a:t>Fitting results</a:t>
            </a:r>
            <a:endParaRPr lang="zh-TW" altLang="en-US" dirty="0"/>
          </a:p>
        </p:txBody>
      </p:sp>
      <p:pic>
        <p:nvPicPr>
          <p:cNvPr id="6" name="圖片 5">
            <a:extLst>
              <a:ext uri="{FF2B5EF4-FFF2-40B4-BE49-F238E27FC236}">
                <a16:creationId xmlns:a16="http://schemas.microsoft.com/office/drawing/2014/main" id="{4864F629-7696-4A52-8BF6-7B5B024F5B0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10177" y="1295399"/>
            <a:ext cx="5285823" cy="5097994"/>
          </a:xfrm>
          <a:prstGeom prst="rect">
            <a:avLst/>
          </a:prstGeom>
        </p:spPr>
      </p:pic>
    </p:spTree>
    <p:extLst>
      <p:ext uri="{BB962C8B-B14F-4D97-AF65-F5344CB8AC3E}">
        <p14:creationId xmlns:p14="http://schemas.microsoft.com/office/powerpoint/2010/main" val="2409976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081933" cy="837142"/>
          </a:xfrm>
        </p:spPr>
        <p:txBody>
          <a:bodyPr>
            <a:normAutofit fontScale="90000"/>
          </a:bodyPr>
          <a:lstStyle/>
          <a:p>
            <a:r>
              <a:rPr lang="en-US" altLang="zh-TW" sz="4000" b="1" kern="100" dirty="0">
                <a:solidFill>
                  <a:srgbClr val="000000"/>
                </a:solidFill>
                <a:latin typeface="Aptos"/>
                <a:ea typeface="新細明體" panose="02020500000000000000" pitchFamily="18" charset="-120"/>
                <a:cs typeface="Times New Roman" panose="02020603050405020304" pitchFamily="18" charset="0"/>
              </a:rPr>
              <a:t>Current-based lumped-parameter modeling and calibration</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40" name="文字方塊 39">
            <a:extLst>
              <a:ext uri="{FF2B5EF4-FFF2-40B4-BE49-F238E27FC236}">
                <a16:creationId xmlns:a16="http://schemas.microsoft.com/office/drawing/2014/main" id="{B1E82766-E1D8-4AA6-A2B9-6AEA170385C0}"/>
              </a:ext>
            </a:extLst>
          </p:cNvPr>
          <p:cNvSpPr txBox="1"/>
          <p:nvPr/>
        </p:nvSpPr>
        <p:spPr>
          <a:xfrm>
            <a:off x="0" y="324377"/>
            <a:ext cx="6324600" cy="390684"/>
          </a:xfrm>
          <a:prstGeom prst="rect">
            <a:avLst/>
          </a:prstGeom>
          <a:noFill/>
        </p:spPr>
        <p:txBody>
          <a:bodyPr wrap="square" rtlCol="0">
            <a:spAutoFit/>
          </a:bodyPr>
          <a:lstStyle/>
          <a:p>
            <a:pPr>
              <a:lnSpc>
                <a:spcPct val="115000"/>
              </a:lnSpc>
              <a:spcAft>
                <a:spcPts val="800"/>
              </a:spcAft>
            </a:pPr>
            <a:r>
              <a:rPr lang="en-US" altLang="zh-TW"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E</a:t>
            </a:r>
            <a:r>
              <a:rPr lang="en-US" altLang="zh-TW" kern="1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 </a:t>
            </a:r>
            <a:r>
              <a:rPr lang="en-US" altLang="zh-TW" i="1"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Validation</a:t>
            </a:r>
            <a:endParaRPr lang="zh-TW" altLang="zh-TW" kern="100" dirty="0">
              <a:effectLst/>
              <a:latin typeface="Aptos"/>
              <a:ea typeface="新細明體" panose="02020500000000000000" pitchFamily="18" charset="-12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文字方塊 2">
                <a:extLst>
                  <a:ext uri="{FF2B5EF4-FFF2-40B4-BE49-F238E27FC236}">
                    <a16:creationId xmlns:a16="http://schemas.microsoft.com/office/drawing/2014/main" id="{B6964577-860D-4EB3-8219-1A6240335DA6}"/>
                  </a:ext>
                </a:extLst>
              </p:cNvPr>
              <p:cNvSpPr txBox="1"/>
              <p:nvPr/>
            </p:nvSpPr>
            <p:spPr>
              <a:xfrm>
                <a:off x="8217453" y="423838"/>
                <a:ext cx="3508909" cy="32156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b="0" i="1" smtClean="0">
                          <a:latin typeface="Cambria Math" panose="02040503050406030204" pitchFamily="18" charset="0"/>
                        </a:rPr>
                        <m:t>𝐶𝑎𝑙𝑖𝑏𝑟𝑎𝑡𝑒</m:t>
                      </m:r>
                      <m:r>
                        <a:rPr lang="en-US" altLang="zh-TW" b="0" i="1" smtClean="0">
                          <a:latin typeface="Cambria Math" panose="02040503050406030204" pitchFamily="18" charset="0"/>
                        </a:rPr>
                        <m:t> </m:t>
                      </m:r>
                      <m:r>
                        <a:rPr lang="en-US" altLang="zh-TW" b="0" i="1" smtClean="0">
                          <a:latin typeface="Cambria Math" panose="02040503050406030204" pitchFamily="18" charset="0"/>
                        </a:rPr>
                        <m:t>𝑚𝑜𝑑𝑒𝑙</m:t>
                      </m:r>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𝑏</m:t>
                          </m:r>
                        </m:e>
                        <m:sub>
                          <m:r>
                            <a:rPr lang="en-US" altLang="zh-TW" b="0" i="1" smtClean="0">
                              <a:latin typeface="Cambria Math" panose="02040503050406030204" pitchFamily="18" charset="0"/>
                              <a:ea typeface="Cambria Math" panose="02040503050406030204" pitchFamily="18" charset="0"/>
                            </a:rPr>
                            <m:t>𝑖𝑗</m:t>
                          </m:r>
                        </m:sub>
                      </m:sSub>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𝑆</m:t>
                          </m:r>
                        </m:e>
                        <m:sub>
                          <m:r>
                            <a:rPr lang="en-US" altLang="zh-TW" b="0" i="1" smtClean="0">
                              <a:latin typeface="Cambria Math" panose="02040503050406030204" pitchFamily="18" charset="0"/>
                              <a:ea typeface="Cambria Math" panose="02040503050406030204" pitchFamily="18" charset="0"/>
                            </a:rPr>
                            <m:t>𝑖</m:t>
                          </m:r>
                        </m:sub>
                      </m:sSub>
                      <m:sPre>
                        <m:sPrePr>
                          <m:ctrlPr>
                            <a:rPr lang="en-US" altLang="zh-TW" b="0" i="1" smtClean="0">
                              <a:latin typeface="Cambria Math" panose="02040503050406030204" pitchFamily="18" charset="0"/>
                              <a:ea typeface="Cambria Math" panose="02040503050406030204" pitchFamily="18" charset="0"/>
                            </a:rPr>
                          </m:ctrlPr>
                        </m:sPrePr>
                        <m:sub/>
                        <m:sup>
                          <m:r>
                            <a:rPr lang="en-US" altLang="zh-TW" b="0" i="1" smtClean="0">
                              <a:latin typeface="Cambria Math" panose="02040503050406030204" pitchFamily="18" charset="0"/>
                            </a:rPr>
                            <m:t>𝐵</m:t>
                          </m:r>
                        </m:sup>
                        <m:e>
                          <m:sSub>
                            <m:sSubPr>
                              <m:ctrlPr>
                                <a:rPr lang="en-US" altLang="zh-TW" i="1" smtClean="0">
                                  <a:latin typeface="Cambria Math" panose="02040503050406030204" pitchFamily="18" charset="0"/>
                                </a:rPr>
                              </m:ctrlPr>
                            </m:sSubPr>
                            <m:e>
                              <m:acc>
                                <m:accPr>
                                  <m:chr m:val="̂"/>
                                  <m:ctrlPr>
                                    <a:rPr lang="en-US" altLang="zh-TW" b="0" i="1" smtClean="0">
                                      <a:latin typeface="Cambria Math" panose="02040503050406030204" pitchFamily="18" charset="0"/>
                                    </a:rPr>
                                  </m:ctrlPr>
                                </m:accPr>
                                <m:e>
                                  <m:r>
                                    <a:rPr lang="en-US" altLang="zh-TW" b="0" i="1" smtClean="0">
                                      <a:latin typeface="Cambria Math" panose="02040503050406030204" pitchFamily="18" charset="0"/>
                                    </a:rPr>
                                    <m:t>𝑔</m:t>
                                  </m:r>
                                </m:e>
                              </m:acc>
                            </m:e>
                            <m:sub>
                              <m:r>
                                <a:rPr lang="en-US" altLang="zh-TW" b="0" i="1" smtClean="0">
                                  <a:latin typeface="Cambria Math" panose="02040503050406030204" pitchFamily="18" charset="0"/>
                                </a:rPr>
                                <m:t>𝐼</m:t>
                              </m:r>
                            </m:sub>
                          </m:sSub>
                        </m:e>
                      </m:sPre>
                      <m:acc>
                        <m:accPr>
                          <m:chr m:val="̅"/>
                          <m:ctrlPr>
                            <a:rPr lang="zh-TW" altLang="en-US" b="0" i="1" smtClean="0">
                              <a:latin typeface="Cambria Math" panose="02040503050406030204" pitchFamily="18" charset="0"/>
                            </a:rPr>
                          </m:ctrlPr>
                        </m:accPr>
                        <m:e>
                          <m:r>
                            <a:rPr lang="en-US" altLang="zh-TW" b="0" i="1" smtClean="0">
                              <a:latin typeface="Cambria Math" panose="02040503050406030204" pitchFamily="18" charset="0"/>
                            </a:rPr>
                            <m:t>𝐾</m:t>
                          </m:r>
                        </m:e>
                      </m:acc>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𝐼</m:t>
                          </m:r>
                        </m:e>
                        <m:sub>
                          <m:r>
                            <a:rPr lang="en-US" altLang="zh-TW" b="0" i="1" smtClean="0">
                              <a:latin typeface="Cambria Math" panose="02040503050406030204" pitchFamily="18" charset="0"/>
                            </a:rPr>
                            <m:t>𝑗</m:t>
                          </m:r>
                        </m:sub>
                      </m:sSub>
                    </m:oMath>
                  </m:oMathPara>
                </a14:m>
                <a:endParaRPr lang="zh-TW" altLang="en-US" dirty="0"/>
              </a:p>
            </p:txBody>
          </p:sp>
        </mc:Choice>
        <mc:Fallback xmlns="">
          <p:sp>
            <p:nvSpPr>
              <p:cNvPr id="3" name="文字方塊 2">
                <a:extLst>
                  <a:ext uri="{FF2B5EF4-FFF2-40B4-BE49-F238E27FC236}">
                    <a16:creationId xmlns:a16="http://schemas.microsoft.com/office/drawing/2014/main" id="{B6964577-860D-4EB3-8219-1A6240335DA6}"/>
                  </a:ext>
                </a:extLst>
              </p:cNvPr>
              <p:cNvSpPr txBox="1">
                <a:spLocks noRot="1" noChangeAspect="1" noMove="1" noResize="1" noEditPoints="1" noAdjustHandles="1" noChangeArrowheads="1" noChangeShapeType="1" noTextEdit="1"/>
              </p:cNvSpPr>
              <p:nvPr/>
            </p:nvSpPr>
            <p:spPr>
              <a:xfrm>
                <a:off x="8217453" y="423838"/>
                <a:ext cx="3508909" cy="321563"/>
              </a:xfrm>
              <a:prstGeom prst="rect">
                <a:avLst/>
              </a:prstGeom>
              <a:blipFill>
                <a:blip r:embed="rId2"/>
                <a:stretch>
                  <a:fillRect l="-1215" t="-15385" r="-6944" b="-25000"/>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11" name="文字方塊 10">
                <a:extLst>
                  <a:ext uri="{FF2B5EF4-FFF2-40B4-BE49-F238E27FC236}">
                    <a16:creationId xmlns:a16="http://schemas.microsoft.com/office/drawing/2014/main" id="{54C8E874-6E04-4F06-97C3-1C58F72C5F9C}"/>
                  </a:ext>
                </a:extLst>
              </p:cNvPr>
              <p:cNvSpPr txBox="1"/>
              <p:nvPr/>
            </p:nvSpPr>
            <p:spPr>
              <a:xfrm>
                <a:off x="5420171" y="1337731"/>
                <a:ext cx="5858933" cy="2957156"/>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altLang="zh-TW" dirty="0"/>
                  <a:t>This figure overlays the distributions of the two models. The red distribution is noticeably more concentrated than the blue one, indicating that the eighteen-parameter model performs better than the one-parameter model in fitting the magnetic field.</a:t>
                </a:r>
              </a:p>
              <a:p>
                <a:pPr marL="285750" indent="-285750">
                  <a:lnSpc>
                    <a:spcPct val="150000"/>
                  </a:lnSpc>
                  <a:buFont typeface="Arial" panose="020B0604020202020204" pitchFamily="34" charset="0"/>
                  <a:buChar char="•"/>
                </a:pPr>
                <a:endParaRPr lang="en-US" altLang="zh-TW" dirty="0"/>
              </a:p>
              <a:p>
                <a:pPr marL="285750" indent="-285750">
                  <a:lnSpc>
                    <a:spcPct val="150000"/>
                  </a:lnSpc>
                  <a:buFont typeface="Arial" panose="020B0604020202020204" pitchFamily="34" charset="0"/>
                  <a:buChar char="•"/>
                </a:pPr>
                <a:r>
                  <a:rPr lang="en-US" altLang="zh-TW" dirty="0"/>
                  <a:t>Sampling range:</a:t>
                </a:r>
                <a14:m>
                  <m:oMath xmlns:m="http://schemas.openxmlformats.org/officeDocument/2006/math">
                    <m:r>
                      <a:rPr lang="en-US" altLang="zh-TW" b="0" i="1" smtClean="0">
                        <a:latin typeface="Cambria Math" panose="02040503050406030204" pitchFamily="18" charset="0"/>
                      </a:rPr>
                      <m:t>𝑅</m:t>
                    </m:r>
                    <m:r>
                      <a:rPr lang="en-US" altLang="zh-TW" b="0" i="1" smtClean="0">
                        <a:latin typeface="Cambria Math" panose="02040503050406030204" pitchFamily="18" charset="0"/>
                        <a:ea typeface="Cambria Math" panose="02040503050406030204" pitchFamily="18" charset="0"/>
                      </a:rPr>
                      <m:t>≤150</m:t>
                    </m:r>
                    <m:r>
                      <a:rPr lang="en-US" altLang="zh-TW" b="0" i="1" smtClean="0">
                        <a:latin typeface="Cambria Math" panose="02040503050406030204" pitchFamily="18" charset="0"/>
                        <a:ea typeface="Cambria Math" panose="02040503050406030204" pitchFamily="18" charset="0"/>
                      </a:rPr>
                      <m:t>𝑢𝑚</m:t>
                    </m:r>
                  </m:oMath>
                </a14:m>
                <a:endParaRPr lang="zh-TW" altLang="en-US" dirty="0"/>
              </a:p>
            </p:txBody>
          </p:sp>
        </mc:Choice>
        <mc:Fallback>
          <p:sp>
            <p:nvSpPr>
              <p:cNvPr id="11" name="文字方塊 10">
                <a:extLst>
                  <a:ext uri="{FF2B5EF4-FFF2-40B4-BE49-F238E27FC236}">
                    <a16:creationId xmlns:a16="http://schemas.microsoft.com/office/drawing/2014/main" id="{54C8E874-6E04-4F06-97C3-1C58F72C5F9C}"/>
                  </a:ext>
                </a:extLst>
              </p:cNvPr>
              <p:cNvSpPr txBox="1">
                <a:spLocks noRot="1" noChangeAspect="1" noMove="1" noResize="1" noEditPoints="1" noAdjustHandles="1" noChangeArrowheads="1" noChangeShapeType="1" noTextEdit="1"/>
              </p:cNvSpPr>
              <p:nvPr/>
            </p:nvSpPr>
            <p:spPr>
              <a:xfrm>
                <a:off x="5420171" y="1337731"/>
                <a:ext cx="5858933" cy="2957156"/>
              </a:xfrm>
              <a:prstGeom prst="rect">
                <a:avLst/>
              </a:prstGeom>
              <a:blipFill>
                <a:blip r:embed="rId3"/>
                <a:stretch>
                  <a:fillRect l="-624" r="-1457" b="-2263"/>
                </a:stretch>
              </a:blipFill>
            </p:spPr>
            <p:txBody>
              <a:bodyPr/>
              <a:lstStyle/>
              <a:p>
                <a:r>
                  <a:rPr lang="zh-TW" altLang="en-US">
                    <a:noFill/>
                  </a:rPr>
                  <a:t> </a:t>
                </a:r>
              </a:p>
            </p:txBody>
          </p:sp>
        </mc:Fallback>
      </mc:AlternateContent>
      <p:pic>
        <p:nvPicPr>
          <p:cNvPr id="6" name="圖片 5">
            <a:extLst>
              <a:ext uri="{FF2B5EF4-FFF2-40B4-BE49-F238E27FC236}">
                <a16:creationId xmlns:a16="http://schemas.microsoft.com/office/drawing/2014/main" id="{19DC279A-BD36-4119-8439-ACBBE884C7B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0067" y="1016334"/>
            <a:ext cx="5200037" cy="4309534"/>
          </a:xfrm>
          <a:prstGeom prst="rect">
            <a:avLst/>
          </a:prstGeom>
        </p:spPr>
      </p:pic>
    </p:spTree>
    <p:extLst>
      <p:ext uri="{BB962C8B-B14F-4D97-AF65-F5344CB8AC3E}">
        <p14:creationId xmlns:p14="http://schemas.microsoft.com/office/powerpoint/2010/main" val="39634389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081933" cy="837142"/>
          </a:xfrm>
        </p:spPr>
        <p:txBody>
          <a:bodyPr>
            <a:normAutofit fontScale="90000"/>
          </a:bodyPr>
          <a:lstStyle/>
          <a:p>
            <a:r>
              <a:rPr lang="en-US" altLang="zh-TW" sz="4000" b="1" kern="100" dirty="0">
                <a:solidFill>
                  <a:srgbClr val="000000"/>
                </a:solidFill>
                <a:latin typeface="Aptos"/>
                <a:ea typeface="新細明體" panose="02020500000000000000" pitchFamily="18" charset="-120"/>
                <a:cs typeface="Times New Roman" panose="02020603050405020304" pitchFamily="18" charset="0"/>
              </a:rPr>
              <a:t>Current-based lumped-parameter modeling and calibration</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40" name="文字方塊 39">
            <a:extLst>
              <a:ext uri="{FF2B5EF4-FFF2-40B4-BE49-F238E27FC236}">
                <a16:creationId xmlns:a16="http://schemas.microsoft.com/office/drawing/2014/main" id="{B1E82766-E1D8-4AA6-A2B9-6AEA170385C0}"/>
              </a:ext>
            </a:extLst>
          </p:cNvPr>
          <p:cNvSpPr txBox="1"/>
          <p:nvPr/>
        </p:nvSpPr>
        <p:spPr>
          <a:xfrm>
            <a:off x="0" y="324377"/>
            <a:ext cx="6324600" cy="390684"/>
          </a:xfrm>
          <a:prstGeom prst="rect">
            <a:avLst/>
          </a:prstGeom>
          <a:noFill/>
        </p:spPr>
        <p:txBody>
          <a:bodyPr wrap="square" rtlCol="0">
            <a:spAutoFit/>
          </a:bodyPr>
          <a:lstStyle/>
          <a:p>
            <a:pPr>
              <a:lnSpc>
                <a:spcPct val="115000"/>
              </a:lnSpc>
              <a:spcAft>
                <a:spcPts val="800"/>
              </a:spcAft>
            </a:pPr>
            <a:r>
              <a:rPr lang="en-US" altLang="zh-TW"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E</a:t>
            </a:r>
            <a:r>
              <a:rPr lang="en-US" altLang="zh-TW" kern="1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 </a:t>
            </a:r>
            <a:r>
              <a:rPr lang="en-US" altLang="zh-TW" i="1"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Validation</a:t>
            </a:r>
            <a:endParaRPr lang="zh-TW" altLang="zh-TW" kern="100" dirty="0">
              <a:effectLst/>
              <a:latin typeface="Aptos"/>
              <a:ea typeface="新細明體" panose="02020500000000000000" pitchFamily="18" charset="-12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文字方塊 2">
                <a:extLst>
                  <a:ext uri="{FF2B5EF4-FFF2-40B4-BE49-F238E27FC236}">
                    <a16:creationId xmlns:a16="http://schemas.microsoft.com/office/drawing/2014/main" id="{B6964577-860D-4EB3-8219-1A6240335DA6}"/>
                  </a:ext>
                </a:extLst>
              </p:cNvPr>
              <p:cNvSpPr txBox="1"/>
              <p:nvPr/>
            </p:nvSpPr>
            <p:spPr>
              <a:xfrm>
                <a:off x="8217453" y="423838"/>
                <a:ext cx="3508909" cy="32156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b="0" i="1" smtClean="0">
                          <a:latin typeface="Cambria Math" panose="02040503050406030204" pitchFamily="18" charset="0"/>
                        </a:rPr>
                        <m:t>𝐶𝑎𝑙𝑖𝑏𝑟𝑎𝑡𝑒</m:t>
                      </m:r>
                      <m:r>
                        <a:rPr lang="en-US" altLang="zh-TW" b="0" i="1" smtClean="0">
                          <a:latin typeface="Cambria Math" panose="02040503050406030204" pitchFamily="18" charset="0"/>
                        </a:rPr>
                        <m:t> </m:t>
                      </m:r>
                      <m:r>
                        <a:rPr lang="en-US" altLang="zh-TW" b="0" i="1" smtClean="0">
                          <a:latin typeface="Cambria Math" panose="02040503050406030204" pitchFamily="18" charset="0"/>
                        </a:rPr>
                        <m:t>𝑚𝑜𝑑𝑒𝑙</m:t>
                      </m:r>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𝑏</m:t>
                          </m:r>
                        </m:e>
                        <m:sub>
                          <m:r>
                            <a:rPr lang="en-US" altLang="zh-TW" b="0" i="1" smtClean="0">
                              <a:latin typeface="Cambria Math" panose="02040503050406030204" pitchFamily="18" charset="0"/>
                              <a:ea typeface="Cambria Math" panose="02040503050406030204" pitchFamily="18" charset="0"/>
                            </a:rPr>
                            <m:t>𝑖𝑗</m:t>
                          </m:r>
                        </m:sub>
                      </m:sSub>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𝑆</m:t>
                          </m:r>
                        </m:e>
                        <m:sub>
                          <m:r>
                            <a:rPr lang="en-US" altLang="zh-TW" b="0" i="1" smtClean="0">
                              <a:latin typeface="Cambria Math" panose="02040503050406030204" pitchFamily="18" charset="0"/>
                              <a:ea typeface="Cambria Math" panose="02040503050406030204" pitchFamily="18" charset="0"/>
                            </a:rPr>
                            <m:t>𝑖</m:t>
                          </m:r>
                        </m:sub>
                      </m:sSub>
                      <m:sPre>
                        <m:sPrePr>
                          <m:ctrlPr>
                            <a:rPr lang="en-US" altLang="zh-TW" b="0" i="1" smtClean="0">
                              <a:latin typeface="Cambria Math" panose="02040503050406030204" pitchFamily="18" charset="0"/>
                              <a:ea typeface="Cambria Math" panose="02040503050406030204" pitchFamily="18" charset="0"/>
                            </a:rPr>
                          </m:ctrlPr>
                        </m:sPrePr>
                        <m:sub/>
                        <m:sup>
                          <m:r>
                            <a:rPr lang="en-US" altLang="zh-TW" b="0" i="1" smtClean="0">
                              <a:latin typeface="Cambria Math" panose="02040503050406030204" pitchFamily="18" charset="0"/>
                            </a:rPr>
                            <m:t>𝐵</m:t>
                          </m:r>
                        </m:sup>
                        <m:e>
                          <m:sSub>
                            <m:sSubPr>
                              <m:ctrlPr>
                                <a:rPr lang="en-US" altLang="zh-TW" i="1" smtClean="0">
                                  <a:latin typeface="Cambria Math" panose="02040503050406030204" pitchFamily="18" charset="0"/>
                                </a:rPr>
                              </m:ctrlPr>
                            </m:sSubPr>
                            <m:e>
                              <m:acc>
                                <m:accPr>
                                  <m:chr m:val="̂"/>
                                  <m:ctrlPr>
                                    <a:rPr lang="en-US" altLang="zh-TW" b="0" i="1" smtClean="0">
                                      <a:latin typeface="Cambria Math" panose="02040503050406030204" pitchFamily="18" charset="0"/>
                                    </a:rPr>
                                  </m:ctrlPr>
                                </m:accPr>
                                <m:e>
                                  <m:r>
                                    <a:rPr lang="en-US" altLang="zh-TW" b="0" i="1" smtClean="0">
                                      <a:latin typeface="Cambria Math" panose="02040503050406030204" pitchFamily="18" charset="0"/>
                                    </a:rPr>
                                    <m:t>𝑔</m:t>
                                  </m:r>
                                </m:e>
                              </m:acc>
                            </m:e>
                            <m:sub>
                              <m:r>
                                <a:rPr lang="en-US" altLang="zh-TW" b="0" i="1" smtClean="0">
                                  <a:latin typeface="Cambria Math" panose="02040503050406030204" pitchFamily="18" charset="0"/>
                                </a:rPr>
                                <m:t>𝐼</m:t>
                              </m:r>
                            </m:sub>
                          </m:sSub>
                        </m:e>
                      </m:sPre>
                      <m:acc>
                        <m:accPr>
                          <m:chr m:val="̅"/>
                          <m:ctrlPr>
                            <a:rPr lang="zh-TW" altLang="en-US" b="0" i="1" smtClean="0">
                              <a:latin typeface="Cambria Math" panose="02040503050406030204" pitchFamily="18" charset="0"/>
                            </a:rPr>
                          </m:ctrlPr>
                        </m:accPr>
                        <m:e>
                          <m:r>
                            <a:rPr lang="en-US" altLang="zh-TW" b="0" i="1" smtClean="0">
                              <a:latin typeface="Cambria Math" panose="02040503050406030204" pitchFamily="18" charset="0"/>
                            </a:rPr>
                            <m:t>𝐾</m:t>
                          </m:r>
                        </m:e>
                      </m:acc>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𝐼</m:t>
                          </m:r>
                        </m:e>
                        <m:sub>
                          <m:r>
                            <a:rPr lang="en-US" altLang="zh-TW" b="0" i="1" smtClean="0">
                              <a:latin typeface="Cambria Math" panose="02040503050406030204" pitchFamily="18" charset="0"/>
                            </a:rPr>
                            <m:t>𝑗</m:t>
                          </m:r>
                        </m:sub>
                      </m:sSub>
                    </m:oMath>
                  </m:oMathPara>
                </a14:m>
                <a:endParaRPr lang="zh-TW" altLang="en-US" dirty="0"/>
              </a:p>
            </p:txBody>
          </p:sp>
        </mc:Choice>
        <mc:Fallback xmlns="">
          <p:sp>
            <p:nvSpPr>
              <p:cNvPr id="3" name="文字方塊 2">
                <a:extLst>
                  <a:ext uri="{FF2B5EF4-FFF2-40B4-BE49-F238E27FC236}">
                    <a16:creationId xmlns:a16="http://schemas.microsoft.com/office/drawing/2014/main" id="{B6964577-860D-4EB3-8219-1A6240335DA6}"/>
                  </a:ext>
                </a:extLst>
              </p:cNvPr>
              <p:cNvSpPr txBox="1">
                <a:spLocks noRot="1" noChangeAspect="1" noMove="1" noResize="1" noEditPoints="1" noAdjustHandles="1" noChangeArrowheads="1" noChangeShapeType="1" noTextEdit="1"/>
              </p:cNvSpPr>
              <p:nvPr/>
            </p:nvSpPr>
            <p:spPr>
              <a:xfrm>
                <a:off x="8217453" y="423838"/>
                <a:ext cx="3508909" cy="321563"/>
              </a:xfrm>
              <a:prstGeom prst="rect">
                <a:avLst/>
              </a:prstGeom>
              <a:blipFill>
                <a:blip r:embed="rId2"/>
                <a:stretch>
                  <a:fillRect l="-1215" t="-15385" r="-6944" b="-25000"/>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11" name="文字方塊 10">
                <a:extLst>
                  <a:ext uri="{FF2B5EF4-FFF2-40B4-BE49-F238E27FC236}">
                    <a16:creationId xmlns:a16="http://schemas.microsoft.com/office/drawing/2014/main" id="{54C8E874-6E04-4F06-97C3-1C58F72C5F9C}"/>
                  </a:ext>
                </a:extLst>
              </p:cNvPr>
              <p:cNvSpPr txBox="1"/>
              <p:nvPr/>
            </p:nvSpPr>
            <p:spPr>
              <a:xfrm>
                <a:off x="5420171" y="1337731"/>
                <a:ext cx="5858933" cy="2957156"/>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altLang="zh-TW" dirty="0"/>
                  <a:t>This figure overlays the distributions of the two models. The red distribution is noticeably more concentrated than the blue one, indicating that the eighteen-parameter model performs better than the one-parameter model in fitting the magnetic field.</a:t>
                </a:r>
              </a:p>
              <a:p>
                <a:pPr marL="285750" indent="-285750">
                  <a:lnSpc>
                    <a:spcPct val="150000"/>
                  </a:lnSpc>
                  <a:buFont typeface="Arial" panose="020B0604020202020204" pitchFamily="34" charset="0"/>
                  <a:buChar char="•"/>
                </a:pPr>
                <a:endParaRPr lang="en-US" altLang="zh-TW" dirty="0"/>
              </a:p>
              <a:p>
                <a:pPr marL="285750" indent="-285750">
                  <a:lnSpc>
                    <a:spcPct val="150000"/>
                  </a:lnSpc>
                  <a:buFont typeface="Arial" panose="020B0604020202020204" pitchFamily="34" charset="0"/>
                  <a:buChar char="•"/>
                </a:pPr>
                <a:r>
                  <a:rPr lang="en-US" altLang="zh-TW" dirty="0"/>
                  <a:t>Sampling range:</a:t>
                </a:r>
                <a14:m>
                  <m:oMath xmlns:m="http://schemas.openxmlformats.org/officeDocument/2006/math">
                    <m:r>
                      <a:rPr lang="en-US" altLang="zh-TW" b="0" i="1" smtClean="0">
                        <a:latin typeface="Cambria Math" panose="02040503050406030204" pitchFamily="18" charset="0"/>
                      </a:rPr>
                      <m:t>𝑅</m:t>
                    </m:r>
                    <m:r>
                      <a:rPr lang="en-US" altLang="zh-TW" b="0" i="1" smtClean="0">
                        <a:latin typeface="Cambria Math" panose="02040503050406030204" pitchFamily="18" charset="0"/>
                        <a:ea typeface="Cambria Math" panose="02040503050406030204" pitchFamily="18" charset="0"/>
                      </a:rPr>
                      <m:t>≤300</m:t>
                    </m:r>
                    <m:r>
                      <a:rPr lang="en-US" altLang="zh-TW" b="0" i="1" smtClean="0">
                        <a:latin typeface="Cambria Math" panose="02040503050406030204" pitchFamily="18" charset="0"/>
                        <a:ea typeface="Cambria Math" panose="02040503050406030204" pitchFamily="18" charset="0"/>
                      </a:rPr>
                      <m:t>𝑢𝑚</m:t>
                    </m:r>
                  </m:oMath>
                </a14:m>
                <a:endParaRPr lang="zh-TW" altLang="en-US" dirty="0"/>
              </a:p>
            </p:txBody>
          </p:sp>
        </mc:Choice>
        <mc:Fallback>
          <p:sp>
            <p:nvSpPr>
              <p:cNvPr id="11" name="文字方塊 10">
                <a:extLst>
                  <a:ext uri="{FF2B5EF4-FFF2-40B4-BE49-F238E27FC236}">
                    <a16:creationId xmlns:a16="http://schemas.microsoft.com/office/drawing/2014/main" id="{54C8E874-6E04-4F06-97C3-1C58F72C5F9C}"/>
                  </a:ext>
                </a:extLst>
              </p:cNvPr>
              <p:cNvSpPr txBox="1">
                <a:spLocks noRot="1" noChangeAspect="1" noMove="1" noResize="1" noEditPoints="1" noAdjustHandles="1" noChangeArrowheads="1" noChangeShapeType="1" noTextEdit="1"/>
              </p:cNvSpPr>
              <p:nvPr/>
            </p:nvSpPr>
            <p:spPr>
              <a:xfrm>
                <a:off x="5420171" y="1337731"/>
                <a:ext cx="5858933" cy="2957156"/>
              </a:xfrm>
              <a:prstGeom prst="rect">
                <a:avLst/>
              </a:prstGeom>
              <a:blipFill>
                <a:blip r:embed="rId3"/>
                <a:stretch>
                  <a:fillRect l="-624" r="-1457" b="-2263"/>
                </a:stretch>
              </a:blipFill>
            </p:spPr>
            <p:txBody>
              <a:bodyPr/>
              <a:lstStyle/>
              <a:p>
                <a:r>
                  <a:rPr lang="zh-TW" altLang="en-US">
                    <a:noFill/>
                  </a:rPr>
                  <a:t> </a:t>
                </a:r>
              </a:p>
            </p:txBody>
          </p:sp>
        </mc:Fallback>
      </mc:AlternateContent>
      <p:pic>
        <p:nvPicPr>
          <p:cNvPr id="8" name="圖片 7">
            <a:extLst>
              <a:ext uri="{FF2B5EF4-FFF2-40B4-BE49-F238E27FC236}">
                <a16:creationId xmlns:a16="http://schemas.microsoft.com/office/drawing/2014/main" id="{380297B8-45C0-455E-B040-6068A877E42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85598" y="953711"/>
            <a:ext cx="5234573" cy="4292600"/>
          </a:xfrm>
          <a:prstGeom prst="rect">
            <a:avLst/>
          </a:prstGeom>
        </p:spPr>
      </p:pic>
    </p:spTree>
    <p:extLst>
      <p:ext uri="{BB962C8B-B14F-4D97-AF65-F5344CB8AC3E}">
        <p14:creationId xmlns:p14="http://schemas.microsoft.com/office/powerpoint/2010/main" val="41586816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081933" cy="837142"/>
          </a:xfrm>
        </p:spPr>
        <p:txBody>
          <a:bodyPr>
            <a:normAutofit fontScale="90000"/>
          </a:bodyPr>
          <a:lstStyle/>
          <a:p>
            <a:r>
              <a:rPr lang="en-US" altLang="zh-TW" sz="4000" b="1" kern="100" dirty="0">
                <a:solidFill>
                  <a:srgbClr val="000000"/>
                </a:solidFill>
                <a:latin typeface="Aptos"/>
                <a:ea typeface="新細明體" panose="02020500000000000000" pitchFamily="18" charset="-120"/>
                <a:cs typeface="Times New Roman" panose="02020603050405020304" pitchFamily="18" charset="0"/>
              </a:rPr>
              <a:t>Current-based lumped-parameter modeling and calibration</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40" name="文字方塊 39">
            <a:extLst>
              <a:ext uri="{FF2B5EF4-FFF2-40B4-BE49-F238E27FC236}">
                <a16:creationId xmlns:a16="http://schemas.microsoft.com/office/drawing/2014/main" id="{B1E82766-E1D8-4AA6-A2B9-6AEA170385C0}"/>
              </a:ext>
            </a:extLst>
          </p:cNvPr>
          <p:cNvSpPr txBox="1"/>
          <p:nvPr/>
        </p:nvSpPr>
        <p:spPr>
          <a:xfrm>
            <a:off x="0" y="324377"/>
            <a:ext cx="6324600" cy="390684"/>
          </a:xfrm>
          <a:prstGeom prst="rect">
            <a:avLst/>
          </a:prstGeom>
          <a:noFill/>
        </p:spPr>
        <p:txBody>
          <a:bodyPr wrap="square" rtlCol="0">
            <a:spAutoFit/>
          </a:bodyPr>
          <a:lstStyle/>
          <a:p>
            <a:pPr>
              <a:lnSpc>
                <a:spcPct val="115000"/>
              </a:lnSpc>
              <a:spcAft>
                <a:spcPts val="800"/>
              </a:spcAft>
            </a:pPr>
            <a:r>
              <a:rPr lang="en-US" altLang="zh-TW"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E</a:t>
            </a:r>
            <a:r>
              <a:rPr lang="en-US" altLang="zh-TW" kern="1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 </a:t>
            </a:r>
            <a:r>
              <a:rPr lang="en-US" altLang="zh-TW" i="1"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Validation</a:t>
            </a:r>
            <a:endParaRPr lang="zh-TW" altLang="zh-TW" kern="100" dirty="0">
              <a:effectLst/>
              <a:latin typeface="Aptos"/>
              <a:ea typeface="新細明體" panose="02020500000000000000" pitchFamily="18" charset="-12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文字方塊 2">
                <a:extLst>
                  <a:ext uri="{FF2B5EF4-FFF2-40B4-BE49-F238E27FC236}">
                    <a16:creationId xmlns:a16="http://schemas.microsoft.com/office/drawing/2014/main" id="{B6964577-860D-4EB3-8219-1A6240335DA6}"/>
                  </a:ext>
                </a:extLst>
              </p:cNvPr>
              <p:cNvSpPr txBox="1"/>
              <p:nvPr/>
            </p:nvSpPr>
            <p:spPr>
              <a:xfrm>
                <a:off x="8217453" y="423838"/>
                <a:ext cx="3508909" cy="32156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b="0" i="1" smtClean="0">
                          <a:latin typeface="Cambria Math" panose="02040503050406030204" pitchFamily="18" charset="0"/>
                        </a:rPr>
                        <m:t>𝐶𝑎𝑙𝑖𝑏𝑟𝑎𝑡𝑒</m:t>
                      </m:r>
                      <m:r>
                        <a:rPr lang="en-US" altLang="zh-TW" b="0" i="1" smtClean="0">
                          <a:latin typeface="Cambria Math" panose="02040503050406030204" pitchFamily="18" charset="0"/>
                        </a:rPr>
                        <m:t> </m:t>
                      </m:r>
                      <m:r>
                        <a:rPr lang="en-US" altLang="zh-TW" b="0" i="1" smtClean="0">
                          <a:latin typeface="Cambria Math" panose="02040503050406030204" pitchFamily="18" charset="0"/>
                        </a:rPr>
                        <m:t>𝑚𝑜𝑑𝑒𝑙</m:t>
                      </m:r>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𝑏</m:t>
                          </m:r>
                        </m:e>
                        <m:sub>
                          <m:r>
                            <a:rPr lang="en-US" altLang="zh-TW" b="0" i="1" smtClean="0">
                              <a:latin typeface="Cambria Math" panose="02040503050406030204" pitchFamily="18" charset="0"/>
                              <a:ea typeface="Cambria Math" panose="02040503050406030204" pitchFamily="18" charset="0"/>
                            </a:rPr>
                            <m:t>𝑖𝑗</m:t>
                          </m:r>
                        </m:sub>
                      </m:sSub>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𝑆</m:t>
                          </m:r>
                        </m:e>
                        <m:sub>
                          <m:r>
                            <a:rPr lang="en-US" altLang="zh-TW" b="0" i="1" smtClean="0">
                              <a:latin typeface="Cambria Math" panose="02040503050406030204" pitchFamily="18" charset="0"/>
                              <a:ea typeface="Cambria Math" panose="02040503050406030204" pitchFamily="18" charset="0"/>
                            </a:rPr>
                            <m:t>𝑖</m:t>
                          </m:r>
                        </m:sub>
                      </m:sSub>
                      <m:sPre>
                        <m:sPrePr>
                          <m:ctrlPr>
                            <a:rPr lang="en-US" altLang="zh-TW" b="0" i="1" smtClean="0">
                              <a:latin typeface="Cambria Math" panose="02040503050406030204" pitchFamily="18" charset="0"/>
                              <a:ea typeface="Cambria Math" panose="02040503050406030204" pitchFamily="18" charset="0"/>
                            </a:rPr>
                          </m:ctrlPr>
                        </m:sPrePr>
                        <m:sub/>
                        <m:sup>
                          <m:r>
                            <a:rPr lang="en-US" altLang="zh-TW" b="0" i="1" smtClean="0">
                              <a:latin typeface="Cambria Math" panose="02040503050406030204" pitchFamily="18" charset="0"/>
                            </a:rPr>
                            <m:t>𝐵</m:t>
                          </m:r>
                        </m:sup>
                        <m:e>
                          <m:sSub>
                            <m:sSubPr>
                              <m:ctrlPr>
                                <a:rPr lang="en-US" altLang="zh-TW" i="1" smtClean="0">
                                  <a:latin typeface="Cambria Math" panose="02040503050406030204" pitchFamily="18" charset="0"/>
                                </a:rPr>
                              </m:ctrlPr>
                            </m:sSubPr>
                            <m:e>
                              <m:acc>
                                <m:accPr>
                                  <m:chr m:val="̂"/>
                                  <m:ctrlPr>
                                    <a:rPr lang="en-US" altLang="zh-TW" b="0" i="1" smtClean="0">
                                      <a:latin typeface="Cambria Math" panose="02040503050406030204" pitchFamily="18" charset="0"/>
                                    </a:rPr>
                                  </m:ctrlPr>
                                </m:accPr>
                                <m:e>
                                  <m:r>
                                    <a:rPr lang="en-US" altLang="zh-TW" b="0" i="1" smtClean="0">
                                      <a:latin typeface="Cambria Math" panose="02040503050406030204" pitchFamily="18" charset="0"/>
                                    </a:rPr>
                                    <m:t>𝑔</m:t>
                                  </m:r>
                                </m:e>
                              </m:acc>
                            </m:e>
                            <m:sub>
                              <m:r>
                                <a:rPr lang="en-US" altLang="zh-TW" b="0" i="1" smtClean="0">
                                  <a:latin typeface="Cambria Math" panose="02040503050406030204" pitchFamily="18" charset="0"/>
                                </a:rPr>
                                <m:t>𝐼</m:t>
                              </m:r>
                            </m:sub>
                          </m:sSub>
                        </m:e>
                      </m:sPre>
                      <m:acc>
                        <m:accPr>
                          <m:chr m:val="̅"/>
                          <m:ctrlPr>
                            <a:rPr lang="zh-TW" altLang="en-US" b="0" i="1" smtClean="0">
                              <a:latin typeface="Cambria Math" panose="02040503050406030204" pitchFamily="18" charset="0"/>
                            </a:rPr>
                          </m:ctrlPr>
                        </m:accPr>
                        <m:e>
                          <m:r>
                            <a:rPr lang="en-US" altLang="zh-TW" b="0" i="1" smtClean="0">
                              <a:latin typeface="Cambria Math" panose="02040503050406030204" pitchFamily="18" charset="0"/>
                            </a:rPr>
                            <m:t>𝐾</m:t>
                          </m:r>
                        </m:e>
                      </m:acc>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𝐼</m:t>
                          </m:r>
                        </m:e>
                        <m:sub>
                          <m:r>
                            <a:rPr lang="en-US" altLang="zh-TW" b="0" i="1" smtClean="0">
                              <a:latin typeface="Cambria Math" panose="02040503050406030204" pitchFamily="18" charset="0"/>
                            </a:rPr>
                            <m:t>𝑗</m:t>
                          </m:r>
                        </m:sub>
                      </m:sSub>
                    </m:oMath>
                  </m:oMathPara>
                </a14:m>
                <a:endParaRPr lang="zh-TW" altLang="en-US" dirty="0"/>
              </a:p>
            </p:txBody>
          </p:sp>
        </mc:Choice>
        <mc:Fallback xmlns="">
          <p:sp>
            <p:nvSpPr>
              <p:cNvPr id="3" name="文字方塊 2">
                <a:extLst>
                  <a:ext uri="{FF2B5EF4-FFF2-40B4-BE49-F238E27FC236}">
                    <a16:creationId xmlns:a16="http://schemas.microsoft.com/office/drawing/2014/main" id="{B6964577-860D-4EB3-8219-1A6240335DA6}"/>
                  </a:ext>
                </a:extLst>
              </p:cNvPr>
              <p:cNvSpPr txBox="1">
                <a:spLocks noRot="1" noChangeAspect="1" noMove="1" noResize="1" noEditPoints="1" noAdjustHandles="1" noChangeArrowheads="1" noChangeShapeType="1" noTextEdit="1"/>
              </p:cNvSpPr>
              <p:nvPr/>
            </p:nvSpPr>
            <p:spPr>
              <a:xfrm>
                <a:off x="8217453" y="423838"/>
                <a:ext cx="3508909" cy="321563"/>
              </a:xfrm>
              <a:prstGeom prst="rect">
                <a:avLst/>
              </a:prstGeom>
              <a:blipFill>
                <a:blip r:embed="rId2"/>
                <a:stretch>
                  <a:fillRect l="-1215" t="-15385" r="-6944" b="-25000"/>
                </a:stretch>
              </a:blipFill>
            </p:spPr>
            <p:txBody>
              <a:bodyPr/>
              <a:lstStyle/>
              <a:p>
                <a:r>
                  <a:rPr lang="zh-TW" altLang="en-US">
                    <a:noFill/>
                  </a:rPr>
                  <a:t> </a:t>
                </a:r>
              </a:p>
            </p:txBody>
          </p:sp>
        </mc:Fallback>
      </mc:AlternateContent>
      <p:sp>
        <p:nvSpPr>
          <p:cNvPr id="19" name="文字方塊 18">
            <a:extLst>
              <a:ext uri="{FF2B5EF4-FFF2-40B4-BE49-F238E27FC236}">
                <a16:creationId xmlns:a16="http://schemas.microsoft.com/office/drawing/2014/main" id="{7AEE1245-C1D7-468D-B66E-D359C98E02EC}"/>
              </a:ext>
            </a:extLst>
          </p:cNvPr>
          <p:cNvSpPr txBox="1"/>
          <p:nvPr/>
        </p:nvSpPr>
        <p:spPr>
          <a:xfrm>
            <a:off x="6885600" y="840717"/>
            <a:ext cx="5384798" cy="4801314"/>
          </a:xfrm>
          <a:prstGeom prst="rect">
            <a:avLst/>
          </a:prstGeom>
          <a:noFill/>
        </p:spPr>
        <p:txBody>
          <a:bodyPr wrap="square" rtlCol="0">
            <a:spAutoFit/>
          </a:bodyPr>
          <a:lstStyle/>
          <a:p>
            <a:pPr marL="285750" indent="-285750">
              <a:buFont typeface="Arial" panose="020B0604020202020204" pitchFamily="34" charset="0"/>
              <a:buChar char="•"/>
            </a:pPr>
            <a:r>
              <a:rPr lang="en-US" altLang="zh-TW" dirty="0"/>
              <a:t>These two figures show the differences in the calibrated magnetic charge locations between the two models. The upper row presents the magnetic charge locations calibrated by the one-parameter model, shown using side views of poles P1 and P2. It can be clearly seen that, for the lower pole, some of the magnetic charge locations are located outside the pole. This is because the one-parameter model constrains the magnetic charges to lie along the actuator coordinate axes. The lower row presents the results of the eighteen-parameter model, in which the magnetic charge locations of the lower pole move inside the pole. This is more consistent with the expected physical situation. Moreover, the error histograms shown above also indicate that these magnetic charge locations are more consistent with the theoretical positions.</a:t>
            </a:r>
            <a:endParaRPr lang="zh-TW" altLang="en-US" dirty="0"/>
          </a:p>
        </p:txBody>
      </p:sp>
      <p:grpSp>
        <p:nvGrpSpPr>
          <p:cNvPr id="14" name="群組 13">
            <a:extLst>
              <a:ext uri="{FF2B5EF4-FFF2-40B4-BE49-F238E27FC236}">
                <a16:creationId xmlns:a16="http://schemas.microsoft.com/office/drawing/2014/main" id="{64E9D2C7-AEB1-4663-859F-39CE074FAC70}"/>
              </a:ext>
            </a:extLst>
          </p:cNvPr>
          <p:cNvGrpSpPr/>
          <p:nvPr/>
        </p:nvGrpSpPr>
        <p:grpSpPr>
          <a:xfrm>
            <a:off x="118534" y="1305871"/>
            <a:ext cx="6891866" cy="2882179"/>
            <a:chOff x="1531604" y="1823941"/>
            <a:chExt cx="9019980" cy="3194391"/>
          </a:xfrm>
        </p:grpSpPr>
        <p:pic>
          <p:nvPicPr>
            <p:cNvPr id="20" name="圖片 19">
              <a:extLst>
                <a:ext uri="{FF2B5EF4-FFF2-40B4-BE49-F238E27FC236}">
                  <a16:creationId xmlns:a16="http://schemas.microsoft.com/office/drawing/2014/main" id="{AD271051-67E7-45AF-AF1F-E9465B7B5A1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930894" y="1823941"/>
              <a:ext cx="8330211" cy="2917392"/>
            </a:xfrm>
            <a:prstGeom prst="rect">
              <a:avLst/>
            </a:prstGeom>
          </p:spPr>
        </p:pic>
        <mc:AlternateContent xmlns:mc="http://schemas.openxmlformats.org/markup-compatibility/2006">
          <mc:Choice xmlns:a14="http://schemas.microsoft.com/office/drawing/2010/main" Requires="a14">
            <p:sp>
              <p:nvSpPr>
                <p:cNvPr id="21" name="文字方塊 20">
                  <a:extLst>
                    <a:ext uri="{FF2B5EF4-FFF2-40B4-BE49-F238E27FC236}">
                      <a16:creationId xmlns:a16="http://schemas.microsoft.com/office/drawing/2014/main" id="{CFACE528-FF85-4598-BB7F-2BD8E9CF39F8}"/>
                    </a:ext>
                  </a:extLst>
                </p:cNvPr>
                <p:cNvSpPr txBox="1"/>
                <p:nvPr/>
              </p:nvSpPr>
              <p:spPr>
                <a:xfrm rot="16200000">
                  <a:off x="965199" y="3144138"/>
                  <a:ext cx="1409810" cy="276999"/>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altLang="zh-TW" b="0" i="1" smtClean="0">
                            <a:latin typeface="Cambria Math" panose="02040503050406030204" pitchFamily="18" charset="0"/>
                          </a:rPr>
                          <m:t>𝑧</m:t>
                        </m:r>
                        <m:r>
                          <a:rPr lang="en-US" altLang="zh-TW" b="0" i="1" smtClean="0">
                            <a:latin typeface="Cambria Math" panose="02040503050406030204" pitchFamily="18" charset="0"/>
                          </a:rPr>
                          <m:t>−</m:t>
                        </m:r>
                        <m:r>
                          <m:rPr>
                            <m:sty m:val="p"/>
                          </m:rPr>
                          <a:rPr lang="en-US" altLang="zh-TW" b="0" i="0" smtClean="0">
                            <a:latin typeface="Cambria Math" panose="02040503050406030204" pitchFamily="18" charset="0"/>
                          </a:rPr>
                          <m:t>axis</m:t>
                        </m:r>
                        <m:r>
                          <a:rPr lang="en-US" altLang="zh-TW" b="0" i="1" smtClean="0">
                            <a:latin typeface="Cambria Math" panose="02040503050406030204" pitchFamily="18" charset="0"/>
                          </a:rPr>
                          <m:t>(</m:t>
                        </m:r>
                        <m:r>
                          <a:rPr lang="en-US" altLang="zh-TW" b="0" i="1" smtClean="0">
                            <a:latin typeface="Cambria Math" panose="02040503050406030204" pitchFamily="18" charset="0"/>
                          </a:rPr>
                          <m:t>𝑚𝑚</m:t>
                        </m:r>
                        <m:r>
                          <a:rPr lang="en-US" altLang="zh-TW" b="0" i="1" smtClean="0">
                            <a:latin typeface="Cambria Math" panose="02040503050406030204" pitchFamily="18" charset="0"/>
                          </a:rPr>
                          <m:t>)</m:t>
                        </m:r>
                      </m:oMath>
                    </m:oMathPara>
                  </a14:m>
                  <a:endParaRPr lang="zh-TW" altLang="en-US" i="1" dirty="0">
                    <a:latin typeface="Times New Roman" panose="02020603050405020304" pitchFamily="18" charset="0"/>
                    <a:cs typeface="Times New Roman" panose="02020603050405020304" pitchFamily="18" charset="0"/>
                  </a:endParaRPr>
                </a:p>
              </p:txBody>
            </p:sp>
          </mc:Choice>
          <mc:Fallback>
            <p:sp>
              <p:nvSpPr>
                <p:cNvPr id="21" name="文字方塊 20">
                  <a:extLst>
                    <a:ext uri="{FF2B5EF4-FFF2-40B4-BE49-F238E27FC236}">
                      <a16:creationId xmlns:a16="http://schemas.microsoft.com/office/drawing/2014/main" id="{CFACE528-FF85-4598-BB7F-2BD8E9CF39F8}"/>
                    </a:ext>
                  </a:extLst>
                </p:cNvPr>
                <p:cNvSpPr txBox="1">
                  <a:spLocks noRot="1" noChangeAspect="1" noMove="1" noResize="1" noEditPoints="1" noAdjustHandles="1" noChangeArrowheads="1" noChangeShapeType="1" noTextEdit="1"/>
                </p:cNvSpPr>
                <p:nvPr/>
              </p:nvSpPr>
              <p:spPr>
                <a:xfrm rot="16200000">
                  <a:off x="965199" y="3144138"/>
                  <a:ext cx="1409810" cy="276999"/>
                </a:xfrm>
                <a:prstGeom prst="rect">
                  <a:avLst/>
                </a:prstGeom>
                <a:blipFill>
                  <a:blip r:embed="rId4"/>
                  <a:stretch>
                    <a:fillRect t="-15385" r="-77143" b="-4808"/>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22" name="文字方塊 21">
                  <a:extLst>
                    <a:ext uri="{FF2B5EF4-FFF2-40B4-BE49-F238E27FC236}">
                      <a16:creationId xmlns:a16="http://schemas.microsoft.com/office/drawing/2014/main" id="{8934D2CD-F332-4C6E-BF0A-C3EB722D0277}"/>
                    </a:ext>
                  </a:extLst>
                </p:cNvPr>
                <p:cNvSpPr txBox="1"/>
                <p:nvPr/>
              </p:nvSpPr>
              <p:spPr>
                <a:xfrm>
                  <a:off x="3361267" y="4741333"/>
                  <a:ext cx="1436034" cy="276999"/>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altLang="zh-TW" b="0" i="1" smtClean="0">
                            <a:latin typeface="Cambria Math" panose="02040503050406030204" pitchFamily="18" charset="0"/>
                          </a:rPr>
                          <m:t>𝑥</m:t>
                        </m:r>
                        <m:r>
                          <a:rPr lang="en-US" altLang="zh-TW" b="0" i="1" smtClean="0">
                            <a:latin typeface="Cambria Math" panose="02040503050406030204" pitchFamily="18" charset="0"/>
                          </a:rPr>
                          <m:t>−</m:t>
                        </m:r>
                        <m:r>
                          <m:rPr>
                            <m:sty m:val="p"/>
                          </m:rPr>
                          <a:rPr lang="en-US" altLang="zh-TW" b="0" i="0" smtClean="0">
                            <a:latin typeface="Cambria Math" panose="02040503050406030204" pitchFamily="18" charset="0"/>
                          </a:rPr>
                          <m:t>axis</m:t>
                        </m:r>
                        <m:r>
                          <a:rPr lang="en-US" altLang="zh-TW" b="0" i="1" smtClean="0">
                            <a:latin typeface="Cambria Math" panose="02040503050406030204" pitchFamily="18" charset="0"/>
                          </a:rPr>
                          <m:t>(</m:t>
                        </m:r>
                        <m:r>
                          <a:rPr lang="en-US" altLang="zh-TW" b="0" i="1" smtClean="0">
                            <a:latin typeface="Cambria Math" panose="02040503050406030204" pitchFamily="18" charset="0"/>
                          </a:rPr>
                          <m:t>𝑚𝑚</m:t>
                        </m:r>
                        <m:r>
                          <a:rPr lang="en-US" altLang="zh-TW" b="0" i="1" smtClean="0">
                            <a:latin typeface="Cambria Math" panose="02040503050406030204" pitchFamily="18" charset="0"/>
                          </a:rPr>
                          <m:t>)</m:t>
                        </m:r>
                      </m:oMath>
                    </m:oMathPara>
                  </a14:m>
                  <a:endParaRPr lang="zh-TW" altLang="en-US" i="1" dirty="0">
                    <a:latin typeface="Times New Roman" panose="02020603050405020304" pitchFamily="18" charset="0"/>
                    <a:cs typeface="Times New Roman" panose="02020603050405020304" pitchFamily="18" charset="0"/>
                  </a:endParaRPr>
                </a:p>
              </p:txBody>
            </p:sp>
          </mc:Choice>
          <mc:Fallback>
            <p:sp>
              <p:nvSpPr>
                <p:cNvPr id="22" name="文字方塊 21">
                  <a:extLst>
                    <a:ext uri="{FF2B5EF4-FFF2-40B4-BE49-F238E27FC236}">
                      <a16:creationId xmlns:a16="http://schemas.microsoft.com/office/drawing/2014/main" id="{8934D2CD-F332-4C6E-BF0A-C3EB722D0277}"/>
                    </a:ext>
                  </a:extLst>
                </p:cNvPr>
                <p:cNvSpPr txBox="1">
                  <a:spLocks noRot="1" noChangeAspect="1" noMove="1" noResize="1" noEditPoints="1" noAdjustHandles="1" noChangeArrowheads="1" noChangeShapeType="1" noTextEdit="1"/>
                </p:cNvSpPr>
                <p:nvPr/>
              </p:nvSpPr>
              <p:spPr>
                <a:xfrm>
                  <a:off x="3361267" y="4741333"/>
                  <a:ext cx="1436034" cy="276999"/>
                </a:xfrm>
                <a:prstGeom prst="rect">
                  <a:avLst/>
                </a:prstGeom>
                <a:blipFill>
                  <a:blip r:embed="rId5"/>
                  <a:stretch>
                    <a:fillRect l="-5556" r="-35000" b="-51220"/>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23" name="文字方塊 22">
                  <a:extLst>
                    <a:ext uri="{FF2B5EF4-FFF2-40B4-BE49-F238E27FC236}">
                      <a16:creationId xmlns:a16="http://schemas.microsoft.com/office/drawing/2014/main" id="{76C4A9A4-7145-45FC-85DF-F28C462F1F93}"/>
                    </a:ext>
                  </a:extLst>
                </p:cNvPr>
                <p:cNvSpPr txBox="1"/>
                <p:nvPr/>
              </p:nvSpPr>
              <p:spPr>
                <a:xfrm>
                  <a:off x="7323667" y="4741333"/>
                  <a:ext cx="1436034" cy="276999"/>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altLang="zh-TW" b="0" i="1" smtClean="0">
                            <a:latin typeface="Cambria Math" panose="02040503050406030204" pitchFamily="18" charset="0"/>
                          </a:rPr>
                          <m:t>𝑥</m:t>
                        </m:r>
                        <m:r>
                          <a:rPr lang="en-US" altLang="zh-TW" b="0" i="1" smtClean="0">
                            <a:latin typeface="Cambria Math" panose="02040503050406030204" pitchFamily="18" charset="0"/>
                          </a:rPr>
                          <m:t>−</m:t>
                        </m:r>
                        <m:r>
                          <m:rPr>
                            <m:sty m:val="p"/>
                          </m:rPr>
                          <a:rPr lang="en-US" altLang="zh-TW" b="0" i="0" smtClean="0">
                            <a:latin typeface="Cambria Math" panose="02040503050406030204" pitchFamily="18" charset="0"/>
                          </a:rPr>
                          <m:t>axis</m:t>
                        </m:r>
                        <m:r>
                          <a:rPr lang="en-US" altLang="zh-TW" b="0" i="1" smtClean="0">
                            <a:latin typeface="Cambria Math" panose="02040503050406030204" pitchFamily="18" charset="0"/>
                          </a:rPr>
                          <m:t>(</m:t>
                        </m:r>
                        <m:r>
                          <a:rPr lang="en-US" altLang="zh-TW" b="0" i="1" smtClean="0">
                            <a:latin typeface="Cambria Math" panose="02040503050406030204" pitchFamily="18" charset="0"/>
                          </a:rPr>
                          <m:t>𝑚𝑚</m:t>
                        </m:r>
                        <m:r>
                          <a:rPr lang="en-US" altLang="zh-TW" b="0" i="1" smtClean="0">
                            <a:latin typeface="Cambria Math" panose="02040503050406030204" pitchFamily="18" charset="0"/>
                          </a:rPr>
                          <m:t>)</m:t>
                        </m:r>
                      </m:oMath>
                    </m:oMathPara>
                  </a14:m>
                  <a:endParaRPr lang="zh-TW" altLang="en-US" i="1" dirty="0">
                    <a:latin typeface="Times New Roman" panose="02020603050405020304" pitchFamily="18" charset="0"/>
                    <a:cs typeface="Times New Roman" panose="02020603050405020304" pitchFamily="18" charset="0"/>
                  </a:endParaRPr>
                </a:p>
              </p:txBody>
            </p:sp>
          </mc:Choice>
          <mc:Fallback>
            <p:sp>
              <p:nvSpPr>
                <p:cNvPr id="23" name="文字方塊 22">
                  <a:extLst>
                    <a:ext uri="{FF2B5EF4-FFF2-40B4-BE49-F238E27FC236}">
                      <a16:creationId xmlns:a16="http://schemas.microsoft.com/office/drawing/2014/main" id="{76C4A9A4-7145-45FC-85DF-F28C462F1F93}"/>
                    </a:ext>
                  </a:extLst>
                </p:cNvPr>
                <p:cNvSpPr txBox="1">
                  <a:spLocks noRot="1" noChangeAspect="1" noMove="1" noResize="1" noEditPoints="1" noAdjustHandles="1" noChangeArrowheads="1" noChangeShapeType="1" noTextEdit="1"/>
                </p:cNvSpPr>
                <p:nvPr/>
              </p:nvSpPr>
              <p:spPr>
                <a:xfrm>
                  <a:off x="7323667" y="4741333"/>
                  <a:ext cx="1436034" cy="276999"/>
                </a:xfrm>
                <a:prstGeom prst="rect">
                  <a:avLst/>
                </a:prstGeom>
                <a:blipFill>
                  <a:blip r:embed="rId6"/>
                  <a:stretch>
                    <a:fillRect l="-5556" r="-35000" b="-51220"/>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24" name="文字方塊 23">
                  <a:extLst>
                    <a:ext uri="{FF2B5EF4-FFF2-40B4-BE49-F238E27FC236}">
                      <a16:creationId xmlns:a16="http://schemas.microsoft.com/office/drawing/2014/main" id="{6719CC11-E6B7-45B3-BF16-41AEDBBBBF33}"/>
                    </a:ext>
                  </a:extLst>
                </p:cNvPr>
                <p:cNvSpPr txBox="1"/>
                <p:nvPr/>
              </p:nvSpPr>
              <p:spPr>
                <a:xfrm>
                  <a:off x="2751666" y="3216181"/>
                  <a:ext cx="563604" cy="34111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altLang="zh-TW" sz="2000" b="1" i="1" smtClean="0">
                                <a:latin typeface="Cambria Math" panose="02040503050406030204" pitchFamily="18" charset="0"/>
                              </a:rPr>
                            </m:ctrlPr>
                          </m:sSubPr>
                          <m:e>
                            <m:r>
                              <a:rPr lang="en-US" altLang="zh-TW" sz="2000" b="1" i="1" smtClean="0">
                                <a:latin typeface="Cambria Math" panose="02040503050406030204" pitchFamily="18" charset="0"/>
                              </a:rPr>
                              <m:t>𝒒</m:t>
                            </m:r>
                          </m:e>
                          <m:sub>
                            <m:r>
                              <a:rPr lang="en-US" altLang="zh-TW" sz="2000" b="1" i="1" smtClean="0">
                                <a:latin typeface="Cambria Math" panose="02040503050406030204" pitchFamily="18" charset="0"/>
                              </a:rPr>
                              <m:t>𝒄</m:t>
                            </m:r>
                            <m:r>
                              <a:rPr lang="en-US" altLang="zh-TW" sz="2000" b="1" i="1" smtClean="0">
                                <a:latin typeface="Cambria Math" panose="02040503050406030204" pitchFamily="18" charset="0"/>
                              </a:rPr>
                              <m:t>𝟐</m:t>
                            </m:r>
                          </m:sub>
                        </m:sSub>
                      </m:oMath>
                    </m:oMathPara>
                  </a14:m>
                  <a:endParaRPr lang="zh-TW" altLang="en-US" sz="1600" b="1" dirty="0"/>
                </a:p>
              </p:txBody>
            </p:sp>
          </mc:Choice>
          <mc:Fallback>
            <p:sp>
              <p:nvSpPr>
                <p:cNvPr id="24" name="文字方塊 23">
                  <a:extLst>
                    <a:ext uri="{FF2B5EF4-FFF2-40B4-BE49-F238E27FC236}">
                      <a16:creationId xmlns:a16="http://schemas.microsoft.com/office/drawing/2014/main" id="{6719CC11-E6B7-45B3-BF16-41AEDBBBBF33}"/>
                    </a:ext>
                  </a:extLst>
                </p:cNvPr>
                <p:cNvSpPr txBox="1">
                  <a:spLocks noRot="1" noChangeAspect="1" noMove="1" noResize="1" noEditPoints="1" noAdjustHandles="1" noChangeArrowheads="1" noChangeShapeType="1" noTextEdit="1"/>
                </p:cNvSpPr>
                <p:nvPr/>
              </p:nvSpPr>
              <p:spPr>
                <a:xfrm>
                  <a:off x="2751666" y="3216181"/>
                  <a:ext cx="563604" cy="341117"/>
                </a:xfrm>
                <a:prstGeom prst="rect">
                  <a:avLst/>
                </a:prstGeom>
                <a:blipFill>
                  <a:blip r:embed="rId7"/>
                  <a:stretch>
                    <a:fillRect l="-14085" r="-7042" b="-25490"/>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25" name="文字方塊 24">
                  <a:extLst>
                    <a:ext uri="{FF2B5EF4-FFF2-40B4-BE49-F238E27FC236}">
                      <a16:creationId xmlns:a16="http://schemas.microsoft.com/office/drawing/2014/main" id="{8A854CBD-77ED-4E25-86B1-2E134EBC4E63}"/>
                    </a:ext>
                  </a:extLst>
                </p:cNvPr>
                <p:cNvSpPr txBox="1"/>
                <p:nvPr/>
              </p:nvSpPr>
              <p:spPr>
                <a:xfrm>
                  <a:off x="8906932" y="3636979"/>
                  <a:ext cx="563604" cy="34111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altLang="zh-TW" sz="2000" b="1" i="1" smtClean="0">
                                <a:latin typeface="Cambria Math" panose="02040503050406030204" pitchFamily="18" charset="0"/>
                              </a:rPr>
                            </m:ctrlPr>
                          </m:sSubPr>
                          <m:e>
                            <m:r>
                              <a:rPr lang="en-US" altLang="zh-TW" sz="2000" b="1" i="1" smtClean="0">
                                <a:latin typeface="Cambria Math" panose="02040503050406030204" pitchFamily="18" charset="0"/>
                              </a:rPr>
                              <m:t>𝒒</m:t>
                            </m:r>
                          </m:e>
                          <m:sub>
                            <m:r>
                              <a:rPr lang="en-US" altLang="zh-TW" sz="2000" b="1" i="1" smtClean="0">
                                <a:latin typeface="Cambria Math" panose="02040503050406030204" pitchFamily="18" charset="0"/>
                              </a:rPr>
                              <m:t>𝒄</m:t>
                            </m:r>
                            <m:r>
                              <a:rPr lang="en-US" altLang="zh-TW" sz="2000" b="1" i="1" smtClean="0">
                                <a:latin typeface="Cambria Math" panose="02040503050406030204" pitchFamily="18" charset="0"/>
                              </a:rPr>
                              <m:t>𝟏</m:t>
                            </m:r>
                          </m:sub>
                        </m:sSub>
                      </m:oMath>
                    </m:oMathPara>
                  </a14:m>
                  <a:endParaRPr lang="zh-TW" altLang="en-US" sz="1600" b="1" dirty="0"/>
                </a:p>
              </p:txBody>
            </p:sp>
          </mc:Choice>
          <mc:Fallback>
            <p:sp>
              <p:nvSpPr>
                <p:cNvPr id="25" name="文字方塊 24">
                  <a:extLst>
                    <a:ext uri="{FF2B5EF4-FFF2-40B4-BE49-F238E27FC236}">
                      <a16:creationId xmlns:a16="http://schemas.microsoft.com/office/drawing/2014/main" id="{8A854CBD-77ED-4E25-86B1-2E134EBC4E63}"/>
                    </a:ext>
                  </a:extLst>
                </p:cNvPr>
                <p:cNvSpPr txBox="1">
                  <a:spLocks noRot="1" noChangeAspect="1" noMove="1" noResize="1" noEditPoints="1" noAdjustHandles="1" noChangeArrowheads="1" noChangeShapeType="1" noTextEdit="1"/>
                </p:cNvSpPr>
                <p:nvPr/>
              </p:nvSpPr>
              <p:spPr>
                <a:xfrm>
                  <a:off x="8906932" y="3636979"/>
                  <a:ext cx="563604" cy="341117"/>
                </a:xfrm>
                <a:prstGeom prst="rect">
                  <a:avLst/>
                </a:prstGeom>
                <a:blipFill>
                  <a:blip r:embed="rId8"/>
                  <a:stretch>
                    <a:fillRect l="-15493" r="-7042" b="-26000"/>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26" name="文字方塊 25">
                  <a:extLst>
                    <a:ext uri="{FF2B5EF4-FFF2-40B4-BE49-F238E27FC236}">
                      <a16:creationId xmlns:a16="http://schemas.microsoft.com/office/drawing/2014/main" id="{D6B9F2F8-1919-493A-919C-43C072A36E79}"/>
                    </a:ext>
                  </a:extLst>
                </p:cNvPr>
                <p:cNvSpPr txBox="1"/>
                <p:nvPr/>
              </p:nvSpPr>
              <p:spPr>
                <a:xfrm>
                  <a:off x="4334934" y="3574086"/>
                  <a:ext cx="423625" cy="34111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altLang="zh-TW" sz="2000" i="1" smtClean="0">
                                <a:latin typeface="Cambria Math" panose="02040503050406030204" pitchFamily="18" charset="0"/>
                              </a:rPr>
                            </m:ctrlPr>
                          </m:sSubPr>
                          <m:e>
                            <m:acc>
                              <m:accPr>
                                <m:chr m:val="̂"/>
                                <m:ctrlPr>
                                  <a:rPr lang="en-US" altLang="zh-TW" sz="2000" i="1" smtClean="0">
                                    <a:latin typeface="Cambria Math" panose="02040503050406030204" pitchFamily="18" charset="0"/>
                                  </a:rPr>
                                </m:ctrlPr>
                              </m:accPr>
                              <m:e>
                                <m:r>
                                  <a:rPr lang="en-US" altLang="zh-TW" sz="2000" b="0" i="1" smtClean="0">
                                    <a:latin typeface="Cambria Math" panose="02040503050406030204" pitchFamily="18" charset="0"/>
                                  </a:rPr>
                                  <m:t>𝑥</m:t>
                                </m:r>
                              </m:e>
                            </m:acc>
                          </m:e>
                          <m:sub>
                            <m:r>
                              <a:rPr lang="en-US" altLang="zh-TW" sz="2000" b="0" i="1" smtClean="0">
                                <a:latin typeface="Cambria Math" panose="02040503050406030204" pitchFamily="18" charset="0"/>
                              </a:rPr>
                              <m:t>𝑎</m:t>
                            </m:r>
                          </m:sub>
                        </m:sSub>
                      </m:oMath>
                    </m:oMathPara>
                  </a14:m>
                  <a:endParaRPr lang="zh-TW" altLang="en-US" sz="1600" dirty="0"/>
                </a:p>
              </p:txBody>
            </p:sp>
          </mc:Choice>
          <mc:Fallback>
            <p:sp>
              <p:nvSpPr>
                <p:cNvPr id="26" name="文字方塊 25">
                  <a:extLst>
                    <a:ext uri="{FF2B5EF4-FFF2-40B4-BE49-F238E27FC236}">
                      <a16:creationId xmlns:a16="http://schemas.microsoft.com/office/drawing/2014/main" id="{D6B9F2F8-1919-493A-919C-43C072A36E79}"/>
                    </a:ext>
                  </a:extLst>
                </p:cNvPr>
                <p:cNvSpPr txBox="1">
                  <a:spLocks noRot="1" noChangeAspect="1" noMove="1" noResize="1" noEditPoints="1" noAdjustHandles="1" noChangeArrowheads="1" noChangeShapeType="1" noTextEdit="1"/>
                </p:cNvSpPr>
                <p:nvPr/>
              </p:nvSpPr>
              <p:spPr>
                <a:xfrm>
                  <a:off x="4334934" y="3574086"/>
                  <a:ext cx="423625" cy="341117"/>
                </a:xfrm>
                <a:prstGeom prst="rect">
                  <a:avLst/>
                </a:prstGeom>
                <a:blipFill>
                  <a:blip r:embed="rId9"/>
                  <a:stretch>
                    <a:fillRect l="-11321" t="-21569" r="-50943" b="-9804"/>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27" name="文字方塊 26">
                  <a:extLst>
                    <a:ext uri="{FF2B5EF4-FFF2-40B4-BE49-F238E27FC236}">
                      <a16:creationId xmlns:a16="http://schemas.microsoft.com/office/drawing/2014/main" id="{2BCA6F2D-4A69-4559-84AB-0B1DC41C8EFC}"/>
                    </a:ext>
                  </a:extLst>
                </p:cNvPr>
                <p:cNvSpPr txBox="1"/>
                <p:nvPr/>
              </p:nvSpPr>
              <p:spPr>
                <a:xfrm>
                  <a:off x="6866467" y="2143220"/>
                  <a:ext cx="423625" cy="34111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altLang="zh-TW" sz="2000" i="1" smtClean="0">
                                <a:latin typeface="Cambria Math" panose="02040503050406030204" pitchFamily="18" charset="0"/>
                              </a:rPr>
                            </m:ctrlPr>
                          </m:sSubPr>
                          <m:e>
                            <m:acc>
                              <m:accPr>
                                <m:chr m:val="̂"/>
                                <m:ctrlPr>
                                  <a:rPr lang="en-US" altLang="zh-TW" sz="2000" i="1" smtClean="0">
                                    <a:latin typeface="Cambria Math" panose="02040503050406030204" pitchFamily="18" charset="0"/>
                                  </a:rPr>
                                </m:ctrlPr>
                              </m:accPr>
                              <m:e>
                                <m:r>
                                  <a:rPr lang="en-US" altLang="zh-TW" sz="2000" b="0" i="1" smtClean="0">
                                    <a:latin typeface="Cambria Math" panose="02040503050406030204" pitchFamily="18" charset="0"/>
                                  </a:rPr>
                                  <m:t>𝑥</m:t>
                                </m:r>
                              </m:e>
                            </m:acc>
                          </m:e>
                          <m:sub>
                            <m:r>
                              <a:rPr lang="en-US" altLang="zh-TW" sz="2000" b="0" i="1" smtClean="0">
                                <a:latin typeface="Cambria Math" panose="02040503050406030204" pitchFamily="18" charset="0"/>
                              </a:rPr>
                              <m:t>𝑎</m:t>
                            </m:r>
                          </m:sub>
                        </m:sSub>
                      </m:oMath>
                    </m:oMathPara>
                  </a14:m>
                  <a:endParaRPr lang="zh-TW" altLang="en-US" sz="1600" dirty="0"/>
                </a:p>
              </p:txBody>
            </p:sp>
          </mc:Choice>
          <mc:Fallback>
            <p:sp>
              <p:nvSpPr>
                <p:cNvPr id="27" name="文字方塊 26">
                  <a:extLst>
                    <a:ext uri="{FF2B5EF4-FFF2-40B4-BE49-F238E27FC236}">
                      <a16:creationId xmlns:a16="http://schemas.microsoft.com/office/drawing/2014/main" id="{2BCA6F2D-4A69-4559-84AB-0B1DC41C8EFC}"/>
                    </a:ext>
                  </a:extLst>
                </p:cNvPr>
                <p:cNvSpPr txBox="1">
                  <a:spLocks noRot="1" noChangeAspect="1" noMove="1" noResize="1" noEditPoints="1" noAdjustHandles="1" noChangeArrowheads="1" noChangeShapeType="1" noTextEdit="1"/>
                </p:cNvSpPr>
                <p:nvPr/>
              </p:nvSpPr>
              <p:spPr>
                <a:xfrm>
                  <a:off x="6866467" y="2143220"/>
                  <a:ext cx="423625" cy="341117"/>
                </a:xfrm>
                <a:prstGeom prst="rect">
                  <a:avLst/>
                </a:prstGeom>
                <a:blipFill>
                  <a:blip r:embed="rId10"/>
                  <a:stretch>
                    <a:fillRect l="-9434" t="-21569" r="-52830" b="-9804"/>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28" name="文字方塊 27">
                  <a:extLst>
                    <a:ext uri="{FF2B5EF4-FFF2-40B4-BE49-F238E27FC236}">
                      <a16:creationId xmlns:a16="http://schemas.microsoft.com/office/drawing/2014/main" id="{0BC53BC9-728A-4101-9464-09F3F02DFCD9}"/>
                    </a:ext>
                  </a:extLst>
                </p:cNvPr>
                <p:cNvSpPr txBox="1"/>
                <p:nvPr/>
              </p:nvSpPr>
              <p:spPr>
                <a:xfrm rot="16200000">
                  <a:off x="9863319" y="2958220"/>
                  <a:ext cx="1068754"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d>
                          <m:dPr>
                            <m:begChr m:val="‖"/>
                            <m:endChr m:val="‖"/>
                            <m:ctrlPr>
                              <a:rPr lang="en-US" altLang="zh-TW" sz="2000" b="1" smtClean="0">
                                <a:latin typeface="Cambria Math" panose="02040503050406030204" pitchFamily="18" charset="0"/>
                              </a:rPr>
                            </m:ctrlPr>
                          </m:dPr>
                          <m:e>
                            <m:r>
                              <a:rPr lang="en-US" altLang="zh-TW" sz="2000" b="1" i="0" smtClean="0">
                                <a:latin typeface="Cambria Math" panose="02040503050406030204" pitchFamily="18" charset="0"/>
                              </a:rPr>
                              <m:t>𝐛</m:t>
                            </m:r>
                          </m:e>
                        </m:d>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𝑚𝑇</m:t>
                        </m:r>
                        <m:r>
                          <a:rPr lang="en-US" altLang="zh-TW" sz="2000" b="0" i="1" smtClean="0">
                            <a:latin typeface="Cambria Math" panose="02040503050406030204" pitchFamily="18" charset="0"/>
                          </a:rPr>
                          <m:t>)</m:t>
                        </m:r>
                      </m:oMath>
                    </m:oMathPara>
                  </a14:m>
                  <a:endParaRPr lang="zh-TW" altLang="en-US" sz="1600" dirty="0"/>
                </a:p>
              </p:txBody>
            </p:sp>
          </mc:Choice>
          <mc:Fallback>
            <p:sp>
              <p:nvSpPr>
                <p:cNvPr id="28" name="文字方塊 27">
                  <a:extLst>
                    <a:ext uri="{FF2B5EF4-FFF2-40B4-BE49-F238E27FC236}">
                      <a16:creationId xmlns:a16="http://schemas.microsoft.com/office/drawing/2014/main" id="{0BC53BC9-728A-4101-9464-09F3F02DFCD9}"/>
                    </a:ext>
                  </a:extLst>
                </p:cNvPr>
                <p:cNvSpPr txBox="1">
                  <a:spLocks noRot="1" noChangeAspect="1" noMove="1" noResize="1" noEditPoints="1" noAdjustHandles="1" noChangeArrowheads="1" noChangeShapeType="1" noTextEdit="1"/>
                </p:cNvSpPr>
                <p:nvPr/>
              </p:nvSpPr>
              <p:spPr>
                <a:xfrm rot="16200000">
                  <a:off x="9863319" y="2958220"/>
                  <a:ext cx="1068754" cy="307777"/>
                </a:xfrm>
                <a:prstGeom prst="rect">
                  <a:avLst/>
                </a:prstGeom>
                <a:blipFill>
                  <a:blip r:embed="rId11"/>
                  <a:stretch>
                    <a:fillRect l="-2564" t="-16456" r="-74359"/>
                  </a:stretch>
                </a:blipFill>
              </p:spPr>
              <p:txBody>
                <a:bodyPr/>
                <a:lstStyle/>
                <a:p>
                  <a:r>
                    <a:rPr lang="zh-TW" altLang="en-US">
                      <a:noFill/>
                    </a:rPr>
                    <a:t> </a:t>
                  </a:r>
                </a:p>
              </p:txBody>
            </p:sp>
          </mc:Fallback>
        </mc:AlternateContent>
      </p:grpSp>
    </p:spTree>
    <p:extLst>
      <p:ext uri="{BB962C8B-B14F-4D97-AF65-F5344CB8AC3E}">
        <p14:creationId xmlns:p14="http://schemas.microsoft.com/office/powerpoint/2010/main" val="180889954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1">
            <a:extLst>
              <a:ext uri="{FF2B5EF4-FFF2-40B4-BE49-F238E27FC236}">
                <a16:creationId xmlns:a16="http://schemas.microsoft.com/office/drawing/2014/main" id="{2081F314-29CA-4B46-B557-C4EEC2EFBDA5}"/>
              </a:ext>
            </a:extLst>
          </p:cNvPr>
          <p:cNvSpPr>
            <a:spLocks noGrp="1"/>
          </p:cNvSpPr>
          <p:nvPr>
            <p:ph type="title"/>
          </p:nvPr>
        </p:nvSpPr>
        <p:spPr>
          <a:xfrm>
            <a:off x="0" y="85727"/>
            <a:ext cx="12081933" cy="837142"/>
          </a:xfrm>
        </p:spPr>
        <p:txBody>
          <a:bodyPr>
            <a:normAutofit fontScale="90000"/>
          </a:bodyPr>
          <a:lstStyle/>
          <a:p>
            <a:r>
              <a:rPr lang="en-US" altLang="zh-TW" sz="4000" b="1" kern="100" dirty="0">
                <a:solidFill>
                  <a:srgbClr val="000000"/>
                </a:solidFill>
                <a:latin typeface="Aptos"/>
                <a:ea typeface="新細明體" panose="02020500000000000000" pitchFamily="18" charset="-120"/>
                <a:cs typeface="Times New Roman" panose="02020603050405020304" pitchFamily="18" charset="0"/>
              </a:rPr>
              <a:t>Reference</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pic>
        <p:nvPicPr>
          <p:cNvPr id="6" name="圖片 5">
            <a:extLst>
              <a:ext uri="{FF2B5EF4-FFF2-40B4-BE49-F238E27FC236}">
                <a16:creationId xmlns:a16="http://schemas.microsoft.com/office/drawing/2014/main" id="{07704BA0-DF19-4F39-92BE-6060E4A6B9B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0067" y="495831"/>
            <a:ext cx="5034425" cy="3720569"/>
          </a:xfrm>
          <a:prstGeom prst="rect">
            <a:avLst/>
          </a:prstGeom>
        </p:spPr>
      </p:pic>
      <p:pic>
        <p:nvPicPr>
          <p:cNvPr id="8" name="圖片 7">
            <a:extLst>
              <a:ext uri="{FF2B5EF4-FFF2-40B4-BE49-F238E27FC236}">
                <a16:creationId xmlns:a16="http://schemas.microsoft.com/office/drawing/2014/main" id="{A756B7B1-8E99-4952-A272-F4BB1D49D68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40288" y="495831"/>
            <a:ext cx="5435245" cy="3894666"/>
          </a:xfrm>
          <a:prstGeom prst="rect">
            <a:avLst/>
          </a:prstGeom>
        </p:spPr>
      </p:pic>
      <mc:AlternateContent xmlns:mc="http://schemas.openxmlformats.org/markup-compatibility/2006">
        <mc:Choice xmlns:a14="http://schemas.microsoft.com/office/drawing/2010/main" Requires="a14">
          <p:sp>
            <p:nvSpPr>
              <p:cNvPr id="10" name="文字方塊 9">
                <a:extLst>
                  <a:ext uri="{FF2B5EF4-FFF2-40B4-BE49-F238E27FC236}">
                    <a16:creationId xmlns:a16="http://schemas.microsoft.com/office/drawing/2014/main" id="{5D498C57-8584-407F-9D89-CA7E1125EC77}"/>
                  </a:ext>
                </a:extLst>
              </p:cNvPr>
              <p:cNvSpPr txBox="1"/>
              <p:nvPr/>
            </p:nvSpPr>
            <p:spPr>
              <a:xfrm>
                <a:off x="266700" y="4626504"/>
                <a:ext cx="11137900" cy="369332"/>
              </a:xfrm>
              <a:prstGeom prst="rect">
                <a:avLst/>
              </a:prstGeom>
              <a:noFill/>
            </p:spPr>
            <p:txBody>
              <a:bodyPr wrap="square">
                <a:spAutoFit/>
              </a:bodyPr>
              <a:lstStyle/>
              <a:p>
                <a:pPr marL="285750" indent="-285750">
                  <a:buFont typeface="Arial" panose="020B0604020202020204" pitchFamily="34" charset="0"/>
                  <a:buChar char="•"/>
                </a:pPr>
                <a:r>
                  <a:rPr lang="en-US" altLang="zh-TW" dirty="0"/>
                  <a:t>Histograms of the One-Parameter and Eighteen-Parameter Models within the Sampling Range</a:t>
                </a:r>
                <a:r>
                  <a:rPr lang="zh-TW" altLang="en-US" dirty="0"/>
                  <a:t> </a:t>
                </a:r>
                <a14:m>
                  <m:oMath xmlns:m="http://schemas.openxmlformats.org/officeDocument/2006/math">
                    <m:r>
                      <a:rPr lang="en-US" altLang="zh-TW" b="0" i="1" smtClean="0">
                        <a:latin typeface="Cambria Math" panose="02040503050406030204" pitchFamily="18" charset="0"/>
                      </a:rPr>
                      <m:t>𝑅</m:t>
                    </m:r>
                    <m:r>
                      <a:rPr lang="en-US" altLang="zh-TW" b="0" i="1" smtClean="0">
                        <a:latin typeface="Cambria Math" panose="02040503050406030204" pitchFamily="18" charset="0"/>
                        <a:ea typeface="Cambria Math" panose="02040503050406030204" pitchFamily="18" charset="0"/>
                      </a:rPr>
                      <m:t>≤150</m:t>
                    </m:r>
                    <m:r>
                      <a:rPr lang="en-US" altLang="zh-TW" b="0" i="1" smtClean="0">
                        <a:latin typeface="Cambria Math" panose="02040503050406030204" pitchFamily="18" charset="0"/>
                        <a:ea typeface="Cambria Math" panose="02040503050406030204" pitchFamily="18" charset="0"/>
                      </a:rPr>
                      <m:t>𝑢𝑚</m:t>
                    </m:r>
                  </m:oMath>
                </a14:m>
                <a:endParaRPr lang="zh-TW" altLang="en-US" dirty="0"/>
              </a:p>
            </p:txBody>
          </p:sp>
        </mc:Choice>
        <mc:Fallback>
          <p:sp>
            <p:nvSpPr>
              <p:cNvPr id="10" name="文字方塊 9">
                <a:extLst>
                  <a:ext uri="{FF2B5EF4-FFF2-40B4-BE49-F238E27FC236}">
                    <a16:creationId xmlns:a16="http://schemas.microsoft.com/office/drawing/2014/main" id="{5D498C57-8584-407F-9D89-CA7E1125EC77}"/>
                  </a:ext>
                </a:extLst>
              </p:cNvPr>
              <p:cNvSpPr txBox="1">
                <a:spLocks noRot="1" noChangeAspect="1" noMove="1" noResize="1" noEditPoints="1" noAdjustHandles="1" noChangeArrowheads="1" noChangeShapeType="1" noTextEdit="1"/>
              </p:cNvSpPr>
              <p:nvPr/>
            </p:nvSpPr>
            <p:spPr>
              <a:xfrm>
                <a:off x="266700" y="4626504"/>
                <a:ext cx="11137900" cy="369332"/>
              </a:xfrm>
              <a:prstGeom prst="rect">
                <a:avLst/>
              </a:prstGeom>
              <a:blipFill>
                <a:blip r:embed="rId4"/>
                <a:stretch>
                  <a:fillRect l="-383" t="-9836" b="-24590"/>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147071540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1">
            <a:extLst>
              <a:ext uri="{FF2B5EF4-FFF2-40B4-BE49-F238E27FC236}">
                <a16:creationId xmlns:a16="http://schemas.microsoft.com/office/drawing/2014/main" id="{2081F314-29CA-4B46-B557-C4EEC2EFBDA5}"/>
              </a:ext>
            </a:extLst>
          </p:cNvPr>
          <p:cNvSpPr>
            <a:spLocks noGrp="1"/>
          </p:cNvSpPr>
          <p:nvPr>
            <p:ph type="title"/>
          </p:nvPr>
        </p:nvSpPr>
        <p:spPr>
          <a:xfrm>
            <a:off x="0" y="85727"/>
            <a:ext cx="12081933" cy="837142"/>
          </a:xfrm>
        </p:spPr>
        <p:txBody>
          <a:bodyPr>
            <a:normAutofit fontScale="90000"/>
          </a:bodyPr>
          <a:lstStyle/>
          <a:p>
            <a:r>
              <a:rPr lang="en-US" altLang="zh-TW" sz="4000" b="1" kern="100" dirty="0">
                <a:solidFill>
                  <a:srgbClr val="000000"/>
                </a:solidFill>
                <a:latin typeface="Aptos"/>
                <a:ea typeface="新細明體" panose="02020500000000000000" pitchFamily="18" charset="-120"/>
                <a:cs typeface="Times New Roman" panose="02020603050405020304" pitchFamily="18" charset="0"/>
              </a:rPr>
              <a:t>Reference</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mc:AlternateContent xmlns:mc="http://schemas.openxmlformats.org/markup-compatibility/2006">
        <mc:Choice xmlns:a14="http://schemas.microsoft.com/office/drawing/2010/main" Requires="a14">
          <p:sp>
            <p:nvSpPr>
              <p:cNvPr id="9" name="文字方塊 8">
                <a:extLst>
                  <a:ext uri="{FF2B5EF4-FFF2-40B4-BE49-F238E27FC236}">
                    <a16:creationId xmlns:a16="http://schemas.microsoft.com/office/drawing/2014/main" id="{95B9B500-BE39-4A2E-848D-C7FDE3646D2C}"/>
                  </a:ext>
                </a:extLst>
              </p:cNvPr>
              <p:cNvSpPr txBox="1"/>
              <p:nvPr/>
            </p:nvSpPr>
            <p:spPr>
              <a:xfrm>
                <a:off x="198966" y="4595841"/>
                <a:ext cx="11137900" cy="369332"/>
              </a:xfrm>
              <a:prstGeom prst="rect">
                <a:avLst/>
              </a:prstGeom>
              <a:noFill/>
            </p:spPr>
            <p:txBody>
              <a:bodyPr wrap="square">
                <a:spAutoFit/>
              </a:bodyPr>
              <a:lstStyle/>
              <a:p>
                <a:pPr marL="285750" indent="-285750">
                  <a:buFont typeface="Arial" panose="020B0604020202020204" pitchFamily="34" charset="0"/>
                  <a:buChar char="•"/>
                </a:pPr>
                <a:r>
                  <a:rPr lang="en-US" altLang="zh-TW" dirty="0"/>
                  <a:t>Histograms of the One-Parameter and Eighteen-Parameter Models within the Sampling Range</a:t>
                </a:r>
                <a:r>
                  <a:rPr lang="zh-TW" altLang="en-US" dirty="0"/>
                  <a:t> </a:t>
                </a:r>
                <a14:m>
                  <m:oMath xmlns:m="http://schemas.openxmlformats.org/officeDocument/2006/math">
                    <m:r>
                      <a:rPr lang="en-US" altLang="zh-TW" b="0" i="1" smtClean="0">
                        <a:latin typeface="Cambria Math" panose="02040503050406030204" pitchFamily="18" charset="0"/>
                      </a:rPr>
                      <m:t>𝑅</m:t>
                    </m:r>
                    <m:r>
                      <a:rPr lang="en-US" altLang="zh-TW" b="0" i="1" smtClean="0">
                        <a:latin typeface="Cambria Math" panose="02040503050406030204" pitchFamily="18" charset="0"/>
                        <a:ea typeface="Cambria Math" panose="02040503050406030204" pitchFamily="18" charset="0"/>
                      </a:rPr>
                      <m:t>≤300</m:t>
                    </m:r>
                    <m:r>
                      <a:rPr lang="en-US" altLang="zh-TW" b="0" i="1" smtClean="0">
                        <a:latin typeface="Cambria Math" panose="02040503050406030204" pitchFamily="18" charset="0"/>
                        <a:ea typeface="Cambria Math" panose="02040503050406030204" pitchFamily="18" charset="0"/>
                      </a:rPr>
                      <m:t>𝑢𝑚</m:t>
                    </m:r>
                  </m:oMath>
                </a14:m>
                <a:endParaRPr lang="zh-TW" altLang="en-US" dirty="0"/>
              </a:p>
            </p:txBody>
          </p:sp>
        </mc:Choice>
        <mc:Fallback>
          <p:sp>
            <p:nvSpPr>
              <p:cNvPr id="9" name="文字方塊 8">
                <a:extLst>
                  <a:ext uri="{FF2B5EF4-FFF2-40B4-BE49-F238E27FC236}">
                    <a16:creationId xmlns:a16="http://schemas.microsoft.com/office/drawing/2014/main" id="{95B9B500-BE39-4A2E-848D-C7FDE3646D2C}"/>
                  </a:ext>
                </a:extLst>
              </p:cNvPr>
              <p:cNvSpPr txBox="1">
                <a:spLocks noRot="1" noChangeAspect="1" noMove="1" noResize="1" noEditPoints="1" noAdjustHandles="1" noChangeArrowheads="1" noChangeShapeType="1" noTextEdit="1"/>
              </p:cNvSpPr>
              <p:nvPr/>
            </p:nvSpPr>
            <p:spPr>
              <a:xfrm>
                <a:off x="198966" y="4595841"/>
                <a:ext cx="11137900" cy="369332"/>
              </a:xfrm>
              <a:prstGeom prst="rect">
                <a:avLst/>
              </a:prstGeom>
              <a:blipFill>
                <a:blip r:embed="rId2"/>
                <a:stretch>
                  <a:fillRect l="-383" t="-10000" b="-26667"/>
                </a:stretch>
              </a:blipFill>
            </p:spPr>
            <p:txBody>
              <a:bodyPr/>
              <a:lstStyle/>
              <a:p>
                <a:r>
                  <a:rPr lang="zh-TW" altLang="en-US">
                    <a:noFill/>
                  </a:rPr>
                  <a:t> </a:t>
                </a:r>
              </a:p>
            </p:txBody>
          </p:sp>
        </mc:Fallback>
      </mc:AlternateContent>
      <p:pic>
        <p:nvPicPr>
          <p:cNvPr id="11" name="圖片 10">
            <a:extLst>
              <a:ext uri="{FF2B5EF4-FFF2-40B4-BE49-F238E27FC236}">
                <a16:creationId xmlns:a16="http://schemas.microsoft.com/office/drawing/2014/main" id="{DDC11D6E-A454-4551-9482-0985607903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29990" y="553539"/>
            <a:ext cx="5036478" cy="3683000"/>
          </a:xfrm>
          <a:prstGeom prst="rect">
            <a:avLst/>
          </a:prstGeom>
        </p:spPr>
      </p:pic>
      <p:pic>
        <p:nvPicPr>
          <p:cNvPr id="13" name="圖片 12">
            <a:extLst>
              <a:ext uri="{FF2B5EF4-FFF2-40B4-BE49-F238E27FC236}">
                <a16:creationId xmlns:a16="http://schemas.microsoft.com/office/drawing/2014/main" id="{28EE2BA1-3A58-4BF0-AED5-5CBCF16D8DE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6000" y="553539"/>
            <a:ext cx="5113867" cy="3804739"/>
          </a:xfrm>
          <a:prstGeom prst="rect">
            <a:avLst/>
          </a:prstGeom>
        </p:spPr>
      </p:pic>
    </p:spTree>
    <p:extLst>
      <p:ext uri="{BB962C8B-B14F-4D97-AF65-F5344CB8AC3E}">
        <p14:creationId xmlns:p14="http://schemas.microsoft.com/office/powerpoint/2010/main" val="350147994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1">
            <a:extLst>
              <a:ext uri="{FF2B5EF4-FFF2-40B4-BE49-F238E27FC236}">
                <a16:creationId xmlns:a16="http://schemas.microsoft.com/office/drawing/2014/main" id="{2081F314-29CA-4B46-B557-C4EEC2EFBDA5}"/>
              </a:ext>
            </a:extLst>
          </p:cNvPr>
          <p:cNvSpPr>
            <a:spLocks noGrp="1"/>
          </p:cNvSpPr>
          <p:nvPr>
            <p:ph type="title"/>
          </p:nvPr>
        </p:nvSpPr>
        <p:spPr>
          <a:xfrm>
            <a:off x="0" y="85727"/>
            <a:ext cx="12081933" cy="837142"/>
          </a:xfrm>
        </p:spPr>
        <p:txBody>
          <a:bodyPr>
            <a:normAutofit fontScale="90000"/>
          </a:bodyPr>
          <a:lstStyle/>
          <a:p>
            <a:r>
              <a:rPr lang="en-US" altLang="zh-TW" sz="4000" b="1" kern="100" dirty="0">
                <a:solidFill>
                  <a:srgbClr val="000000"/>
                </a:solidFill>
                <a:latin typeface="Aptos"/>
                <a:ea typeface="新細明體" panose="02020500000000000000" pitchFamily="18" charset="-120"/>
                <a:cs typeface="Times New Roman" panose="02020603050405020304" pitchFamily="18" charset="0"/>
              </a:rPr>
              <a:t>Reference</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mc:AlternateContent xmlns:mc="http://schemas.openxmlformats.org/markup-compatibility/2006">
        <mc:Choice xmlns:a14="http://schemas.microsoft.com/office/drawing/2010/main" Requires="a14">
          <p:sp>
            <p:nvSpPr>
              <p:cNvPr id="9" name="文字方塊 8">
                <a:extLst>
                  <a:ext uri="{FF2B5EF4-FFF2-40B4-BE49-F238E27FC236}">
                    <a16:creationId xmlns:a16="http://schemas.microsoft.com/office/drawing/2014/main" id="{95B9B500-BE39-4A2E-848D-C7FDE3646D2C}"/>
                  </a:ext>
                </a:extLst>
              </p:cNvPr>
              <p:cNvSpPr txBox="1"/>
              <p:nvPr/>
            </p:nvSpPr>
            <p:spPr>
              <a:xfrm>
                <a:off x="110067" y="504298"/>
                <a:ext cx="11137900" cy="5858783"/>
              </a:xfrm>
              <a:prstGeom prst="rect">
                <a:avLst/>
              </a:prstGeom>
              <a:noFill/>
            </p:spPr>
            <p:txBody>
              <a:bodyPr wrap="square">
                <a:spAutoFit/>
              </a:bodyPr>
              <a:lstStyle/>
              <a:p>
                <a:pPr marL="285750" indent="-285750">
                  <a:buFont typeface="Arial" panose="020B0604020202020204" pitchFamily="34" charset="0"/>
                  <a:buChar char="•"/>
                </a:pPr>
                <a:r>
                  <a:rPr lang="en-US" altLang="zh-TW" dirty="0"/>
                  <a:t>Sampling range </a:t>
                </a:r>
                <a14:m>
                  <m:oMath xmlns:m="http://schemas.openxmlformats.org/officeDocument/2006/math">
                    <m:r>
                      <a:rPr lang="en-US" altLang="zh-TW" b="0" i="1" smtClean="0">
                        <a:latin typeface="Cambria Math" panose="02040503050406030204" pitchFamily="18" charset="0"/>
                      </a:rPr>
                      <m:t>𝑅</m:t>
                    </m:r>
                    <m:r>
                      <a:rPr lang="en-US" altLang="zh-TW" b="0" i="1" smtClean="0">
                        <a:latin typeface="Cambria Math" panose="02040503050406030204" pitchFamily="18" charset="0"/>
                        <a:ea typeface="Cambria Math" panose="02040503050406030204" pitchFamily="18" charset="0"/>
                      </a:rPr>
                      <m:t>≤150</m:t>
                    </m:r>
                    <m:r>
                      <a:rPr lang="en-US" altLang="zh-TW" b="0" i="1" smtClean="0">
                        <a:latin typeface="Cambria Math" panose="02040503050406030204" pitchFamily="18" charset="0"/>
                        <a:ea typeface="Cambria Math" panose="02040503050406030204" pitchFamily="18" charset="0"/>
                      </a:rPr>
                      <m:t>𝑢𝑚</m:t>
                    </m:r>
                  </m:oMath>
                </a14:m>
                <a:endParaRPr lang="en-US" altLang="zh-TW" b="0" dirty="0">
                  <a:ea typeface="Cambria Math" panose="02040503050406030204" pitchFamily="18" charset="0"/>
                </a:endParaRPr>
              </a:p>
              <a:p>
                <a:pPr marL="742950" lvl="1" indent="-285750">
                  <a:buFont typeface="Wingdings" panose="05000000000000000000" pitchFamily="2" charset="2"/>
                  <a:buChar char="Ø"/>
                </a:pPr>
                <a14:m>
                  <m:oMath xmlns:m="http://schemas.openxmlformats.org/officeDocument/2006/math">
                    <m:r>
                      <m:rPr>
                        <m:sty m:val="p"/>
                      </m:rPr>
                      <a:rPr lang="en-US" altLang="zh-TW" i="1" dirty="0">
                        <a:latin typeface="Cambria Math" panose="02040503050406030204" pitchFamily="18" charset="0"/>
                        <a:ea typeface="Cambria Math" panose="02040503050406030204" pitchFamily="18" charset="0"/>
                      </a:rPr>
                      <m:t>R</m:t>
                    </m:r>
                    <m:r>
                      <m:rPr>
                        <m:sty m:val="p"/>
                      </m:rPr>
                      <a:rPr lang="en-US" altLang="zh-TW" i="1" dirty="0" smtClean="0">
                        <a:latin typeface="Cambria Math" panose="02040503050406030204" pitchFamily="18" charset="0"/>
                        <a:ea typeface="Cambria Math" panose="02040503050406030204" pitchFamily="18" charset="0"/>
                      </a:rPr>
                      <m:t>M</m:t>
                    </m:r>
                    <m:r>
                      <m:rPr>
                        <m:sty m:val="p"/>
                      </m:rPr>
                      <a:rPr lang="en-US" altLang="zh-TW" i="1" dirty="0">
                        <a:latin typeface="Cambria Math" panose="02040503050406030204" pitchFamily="18" charset="0"/>
                        <a:ea typeface="Cambria Math" panose="02040503050406030204" pitchFamily="18" charset="0"/>
                      </a:rPr>
                      <m:t>S</m:t>
                    </m:r>
                    <m:r>
                      <m:rPr>
                        <m:sty m:val="p"/>
                      </m:rPr>
                      <a:rPr lang="en-US" altLang="zh-TW" i="1" dirty="0" smtClean="0">
                        <a:latin typeface="Cambria Math" panose="02040503050406030204" pitchFamily="18" charset="0"/>
                        <a:ea typeface="Cambria Math" panose="02040503050406030204" pitchFamily="18" charset="0"/>
                      </a:rPr>
                      <m:t>P</m:t>
                    </m:r>
                    <m:r>
                      <m:rPr>
                        <m:sty m:val="p"/>
                      </m:rPr>
                      <a:rPr lang="en-US" altLang="zh-TW" i="1" dirty="0">
                        <a:latin typeface="Cambria Math" panose="02040503050406030204" pitchFamily="18" charset="0"/>
                        <a:ea typeface="Cambria Math" panose="02040503050406030204" pitchFamily="18" charset="0"/>
                      </a:rPr>
                      <m:t>E</m:t>
                    </m:r>
                    <m:r>
                      <a:rPr lang="en-US" altLang="zh-TW" i="1" dirty="0" smtClean="0">
                        <a:latin typeface="Cambria Math" panose="02040503050406030204" pitchFamily="18" charset="0"/>
                        <a:ea typeface="Cambria Math" panose="02040503050406030204" pitchFamily="18" charset="0"/>
                      </a:rPr>
                      <m:t>=</m:t>
                    </m:r>
                    <m:rad>
                      <m:radPr>
                        <m:degHide m:val="on"/>
                        <m:ctrlPr>
                          <a:rPr lang="en-US" altLang="zh-TW" b="0" i="1" smtClean="0">
                            <a:latin typeface="Cambria Math" panose="02040503050406030204" pitchFamily="18" charset="0"/>
                          </a:rPr>
                        </m:ctrlPr>
                      </m:radPr>
                      <m:deg/>
                      <m:e>
                        <m:f>
                          <m:fPr>
                            <m:ctrlPr>
                              <a:rPr lang="en-US" altLang="zh-TW" b="0" i="1" smtClean="0">
                                <a:latin typeface="Cambria Math" panose="02040503050406030204" pitchFamily="18" charset="0"/>
                              </a:rPr>
                            </m:ctrlPr>
                          </m:fPr>
                          <m:num>
                            <m:nary>
                              <m:naryPr>
                                <m:chr m:val="∑"/>
                                <m:subHide m:val="on"/>
                                <m:supHide m:val="on"/>
                                <m:ctrlPr>
                                  <a:rPr lang="en-US" altLang="zh-TW" b="0" i="1" smtClean="0">
                                    <a:latin typeface="Cambria Math" panose="02040503050406030204" pitchFamily="18" charset="0"/>
                                  </a:rPr>
                                </m:ctrlPr>
                              </m:naryPr>
                              <m:sub/>
                              <m:sup/>
                              <m:e>
                                <m:sSup>
                                  <m:sSupPr>
                                    <m:ctrlPr>
                                      <a:rPr lang="en-US" altLang="zh-TW" b="0" i="1" smtClean="0">
                                        <a:latin typeface="Cambria Math" panose="02040503050406030204" pitchFamily="18" charset="0"/>
                                      </a:rPr>
                                    </m:ctrlPr>
                                  </m:sSupPr>
                                  <m:e>
                                    <m:d>
                                      <m:dPr>
                                        <m:begChr m:val="‖"/>
                                        <m:endChr m:val="‖"/>
                                        <m:ctrlPr>
                                          <a:rPr lang="en-US" altLang="zh-TW" b="0" i="1" smtClean="0">
                                            <a:latin typeface="Cambria Math" panose="02040503050406030204" pitchFamily="18" charset="0"/>
                                          </a:rPr>
                                        </m:ctrlPr>
                                      </m:dPr>
                                      <m:e>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𝑏</m:t>
                                            </m:r>
                                          </m:e>
                                          <m:sub>
                                            <m:r>
                                              <a:rPr lang="en-US" altLang="zh-TW" b="0" i="1" smtClean="0">
                                                <a:latin typeface="Cambria Math" panose="02040503050406030204" pitchFamily="18" charset="0"/>
                                              </a:rPr>
                                              <m:t>𝐹𝐸𝑀</m:t>
                                            </m:r>
                                          </m:sub>
                                        </m:sSub>
                                        <m:r>
                                          <a:rPr lang="en-US" altLang="zh-TW" b="0" i="1" smtClean="0">
                                            <a:latin typeface="Cambria Math" panose="02040503050406030204" pitchFamily="18" charset="0"/>
                                          </a:rPr>
                                          <m:t>−</m:t>
                                        </m:r>
                                        <m:sSub>
                                          <m:sSubPr>
                                            <m:ctrlPr>
                                              <a:rPr lang="en-US" altLang="zh-TW" i="1">
                                                <a:latin typeface="Cambria Math" panose="02040503050406030204" pitchFamily="18" charset="0"/>
                                                <a:ea typeface="Cambria Math" panose="02040503050406030204" pitchFamily="18" charset="0"/>
                                              </a:rPr>
                                            </m:ctrlPr>
                                          </m:sSubPr>
                                          <m:e>
                                            <m:r>
                                              <a:rPr lang="en-US" altLang="zh-TW" i="1">
                                                <a:latin typeface="Cambria Math" panose="02040503050406030204" pitchFamily="18" charset="0"/>
                                                <a:ea typeface="Cambria Math" panose="02040503050406030204" pitchFamily="18" charset="0"/>
                                              </a:rPr>
                                              <m:t>𝑆</m:t>
                                            </m:r>
                                          </m:e>
                                          <m:sub>
                                            <m:r>
                                              <a:rPr lang="en-US" altLang="zh-TW" i="1">
                                                <a:latin typeface="Cambria Math" panose="02040503050406030204" pitchFamily="18" charset="0"/>
                                                <a:ea typeface="Cambria Math" panose="02040503050406030204" pitchFamily="18" charset="0"/>
                                              </a:rPr>
                                              <m:t>𝑖</m:t>
                                            </m:r>
                                          </m:sub>
                                        </m:sSub>
                                        <m:sPre>
                                          <m:sPrePr>
                                            <m:ctrlPr>
                                              <a:rPr lang="en-US" altLang="zh-TW" i="1">
                                                <a:latin typeface="Cambria Math" panose="02040503050406030204" pitchFamily="18" charset="0"/>
                                                <a:ea typeface="Cambria Math" panose="02040503050406030204" pitchFamily="18" charset="0"/>
                                              </a:rPr>
                                            </m:ctrlPr>
                                          </m:sPrePr>
                                          <m:sub/>
                                          <m:sup>
                                            <m:r>
                                              <a:rPr lang="en-US" altLang="zh-TW" i="1">
                                                <a:latin typeface="Cambria Math" panose="02040503050406030204" pitchFamily="18" charset="0"/>
                                              </a:rPr>
                                              <m:t>𝐵</m:t>
                                            </m:r>
                                          </m:sup>
                                          <m:e>
                                            <m:sSub>
                                              <m:sSubPr>
                                                <m:ctrlPr>
                                                  <a:rPr lang="en-US" altLang="zh-TW" i="1">
                                                    <a:latin typeface="Cambria Math" panose="02040503050406030204" pitchFamily="18" charset="0"/>
                                                  </a:rPr>
                                                </m:ctrlPr>
                                              </m:sSubPr>
                                              <m:e>
                                                <m:acc>
                                                  <m:accPr>
                                                    <m:chr m:val="̂"/>
                                                    <m:ctrlPr>
                                                      <a:rPr lang="en-US" altLang="zh-TW" i="1">
                                                        <a:latin typeface="Cambria Math" panose="02040503050406030204" pitchFamily="18" charset="0"/>
                                                      </a:rPr>
                                                    </m:ctrlPr>
                                                  </m:accPr>
                                                  <m:e>
                                                    <m:r>
                                                      <a:rPr lang="en-US" altLang="zh-TW" i="1">
                                                        <a:latin typeface="Cambria Math" panose="02040503050406030204" pitchFamily="18" charset="0"/>
                                                      </a:rPr>
                                                      <m:t>𝑔</m:t>
                                                    </m:r>
                                                  </m:e>
                                                </m:acc>
                                              </m:e>
                                              <m:sub>
                                                <m:r>
                                                  <a:rPr lang="en-US" altLang="zh-TW" i="1">
                                                    <a:latin typeface="Cambria Math" panose="02040503050406030204" pitchFamily="18" charset="0"/>
                                                  </a:rPr>
                                                  <m:t>𝑉</m:t>
                                                </m:r>
                                              </m:sub>
                                            </m:sSub>
                                          </m:e>
                                        </m:sPre>
                                        <m:acc>
                                          <m:accPr>
                                            <m:chr m:val="̅"/>
                                            <m:ctrlPr>
                                              <a:rPr lang="zh-TW" altLang="en-US" i="1">
                                                <a:latin typeface="Cambria Math" panose="02040503050406030204" pitchFamily="18" charset="0"/>
                                              </a:rPr>
                                            </m:ctrlPr>
                                          </m:accPr>
                                          <m:e>
                                            <m:r>
                                              <a:rPr lang="en-US" altLang="zh-TW" i="1">
                                                <a:latin typeface="Cambria Math" panose="02040503050406030204" pitchFamily="18" charset="0"/>
                                              </a:rPr>
                                              <m:t>𝐷</m:t>
                                            </m:r>
                                          </m:e>
                                        </m:acc>
                                        <m:sSub>
                                          <m:sSubPr>
                                            <m:ctrlPr>
                                              <a:rPr lang="en-US" altLang="zh-TW" i="1">
                                                <a:latin typeface="Cambria Math" panose="02040503050406030204" pitchFamily="18" charset="0"/>
                                              </a:rPr>
                                            </m:ctrlPr>
                                          </m:sSubPr>
                                          <m:e>
                                            <m:r>
                                              <a:rPr lang="en-US" altLang="zh-TW" i="1">
                                                <a:latin typeface="Cambria Math" panose="02040503050406030204" pitchFamily="18" charset="0"/>
                                              </a:rPr>
                                              <m:t>𝑉</m:t>
                                            </m:r>
                                          </m:e>
                                          <m:sub>
                                            <m:r>
                                              <a:rPr lang="en-US" altLang="zh-TW" i="1">
                                                <a:latin typeface="Cambria Math" panose="02040503050406030204" pitchFamily="18" charset="0"/>
                                              </a:rPr>
                                              <m:t>𝑗</m:t>
                                            </m:r>
                                          </m:sub>
                                        </m:sSub>
                                      </m:e>
                                    </m:d>
                                  </m:e>
                                  <m:sup>
                                    <m:r>
                                      <a:rPr lang="en-US" altLang="zh-TW" b="0" i="1" smtClean="0">
                                        <a:latin typeface="Cambria Math" panose="02040503050406030204" pitchFamily="18" charset="0"/>
                                      </a:rPr>
                                      <m:t>2</m:t>
                                    </m:r>
                                  </m:sup>
                                </m:sSup>
                              </m:e>
                            </m:nary>
                          </m:num>
                          <m:den>
                            <m:nary>
                              <m:naryPr>
                                <m:chr m:val="∑"/>
                                <m:subHide m:val="on"/>
                                <m:supHide m:val="on"/>
                                <m:ctrlPr>
                                  <a:rPr lang="en-US" altLang="zh-TW" b="0" i="1" smtClean="0">
                                    <a:latin typeface="Cambria Math" panose="02040503050406030204" pitchFamily="18" charset="0"/>
                                  </a:rPr>
                                </m:ctrlPr>
                              </m:naryPr>
                              <m:sub/>
                              <m:sup/>
                              <m:e>
                                <m:sSup>
                                  <m:sSupPr>
                                    <m:ctrlPr>
                                      <a:rPr lang="en-US" altLang="zh-TW" b="0" i="1" smtClean="0">
                                        <a:latin typeface="Cambria Math" panose="02040503050406030204" pitchFamily="18" charset="0"/>
                                      </a:rPr>
                                    </m:ctrlPr>
                                  </m:sSupPr>
                                  <m:e>
                                    <m:d>
                                      <m:dPr>
                                        <m:begChr m:val="‖"/>
                                        <m:endChr m:val="‖"/>
                                        <m:ctrlPr>
                                          <a:rPr lang="en-US" altLang="zh-TW" b="0" i="1" smtClean="0">
                                            <a:latin typeface="Cambria Math" panose="02040503050406030204" pitchFamily="18" charset="0"/>
                                          </a:rPr>
                                        </m:ctrlPr>
                                      </m:dPr>
                                      <m:e>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𝑏</m:t>
                                            </m:r>
                                          </m:e>
                                          <m:sub>
                                            <m:r>
                                              <a:rPr lang="en-US" altLang="zh-TW" b="0" i="1" smtClean="0">
                                                <a:latin typeface="Cambria Math" panose="02040503050406030204" pitchFamily="18" charset="0"/>
                                              </a:rPr>
                                              <m:t>𝐹𝐸𝑀</m:t>
                                            </m:r>
                                          </m:sub>
                                        </m:sSub>
                                      </m:e>
                                    </m:d>
                                  </m:e>
                                  <m:sup>
                                    <m:r>
                                      <a:rPr lang="en-US" altLang="zh-TW" b="0" i="1" smtClean="0">
                                        <a:latin typeface="Cambria Math" panose="02040503050406030204" pitchFamily="18" charset="0"/>
                                      </a:rPr>
                                      <m:t>2</m:t>
                                    </m:r>
                                  </m:sup>
                                </m:sSup>
                              </m:e>
                            </m:nary>
                          </m:den>
                        </m:f>
                      </m:e>
                    </m:rad>
                    <m:r>
                      <a:rPr lang="en-US" altLang="zh-TW" b="0" i="1" smtClean="0">
                        <a:latin typeface="Cambria Math" panose="02040503050406030204" pitchFamily="18" charset="0"/>
                        <a:ea typeface="Cambria Math" panose="02040503050406030204" pitchFamily="18" charset="0"/>
                      </a:rPr>
                      <m:t>×100</m:t>
                    </m:r>
                    <m:r>
                      <a:rPr lang="en-US" altLang="zh-TW" b="0" i="1" smtClean="0">
                        <a:latin typeface="Cambria Math" panose="02040503050406030204" pitchFamily="18" charset="0"/>
                      </a:rPr>
                      <m:t>=</m:t>
                    </m:r>
                    <m:r>
                      <a:rPr lang="en-US" altLang="zh-TW" b="0" i="1" smtClean="0">
                        <a:latin typeface="Cambria Math" panose="02040503050406030204" pitchFamily="18" charset="0"/>
                      </a:rPr>
                      <m:t>3.16</m:t>
                    </m:r>
                    <m:r>
                      <a:rPr lang="en-US" altLang="zh-TW" b="0" i="1" smtClean="0">
                        <a:latin typeface="Cambria Math" panose="02040503050406030204" pitchFamily="18" charset="0"/>
                      </a:rPr>
                      <m:t>%</m:t>
                    </m:r>
                    <m:r>
                      <m:rPr>
                        <m:nor/>
                      </m:rPr>
                      <a:rPr lang="en-US" altLang="zh-TW" dirty="0">
                        <a:ea typeface="Cambria Math" panose="02040503050406030204" pitchFamily="18" charset="0"/>
                      </a:rPr>
                      <m:t>(</m:t>
                    </m:r>
                    <m:r>
                      <m:rPr>
                        <m:nor/>
                      </m:rPr>
                      <a:rPr lang="en-US" altLang="zh-TW" dirty="0">
                        <a:ea typeface="Cambria Math" panose="02040503050406030204" pitchFamily="18" charset="0"/>
                      </a:rPr>
                      <m:t>Single</m:t>
                    </m:r>
                    <m:r>
                      <m:rPr>
                        <m:nor/>
                      </m:rPr>
                      <a:rPr lang="en-US" altLang="zh-TW" dirty="0">
                        <a:ea typeface="Cambria Math" panose="02040503050406030204" pitchFamily="18" charset="0"/>
                      </a:rPr>
                      <m:t> </m:t>
                    </m:r>
                    <m:r>
                      <m:rPr>
                        <m:nor/>
                      </m:rPr>
                      <a:rPr lang="en-US" altLang="zh-TW" dirty="0">
                        <a:ea typeface="Cambria Math" panose="02040503050406030204" pitchFamily="18" charset="0"/>
                      </a:rPr>
                      <m:t>parameter</m:t>
                    </m:r>
                    <m:r>
                      <m:rPr>
                        <m:nor/>
                      </m:rPr>
                      <a:rPr lang="en-US" altLang="zh-TW" dirty="0">
                        <a:ea typeface="Cambria Math" panose="02040503050406030204" pitchFamily="18" charset="0"/>
                      </a:rPr>
                      <m:t>)</m:t>
                    </m:r>
                  </m:oMath>
                </a14:m>
                <a:endParaRPr lang="en-US" altLang="zh-TW" dirty="0">
                  <a:ea typeface="Cambria Math" panose="02040503050406030204" pitchFamily="18" charset="0"/>
                </a:endParaRPr>
              </a:p>
              <a:p>
                <a:pPr marL="742950" lvl="1" indent="-285750">
                  <a:buFont typeface="Wingdings" panose="05000000000000000000" pitchFamily="2" charset="2"/>
                  <a:buChar char="Ø"/>
                </a:pPr>
                <a:endParaRPr lang="en-US" altLang="zh-TW" b="0" dirty="0"/>
              </a:p>
              <a:p>
                <a:pPr marL="742950" lvl="1" indent="-285750">
                  <a:buFont typeface="Wingdings" panose="05000000000000000000" pitchFamily="2" charset="2"/>
                  <a:buChar char="Ø"/>
                </a:pPr>
                <a14:m>
                  <m:oMath xmlns:m="http://schemas.openxmlformats.org/officeDocument/2006/math">
                    <m:r>
                      <m:rPr>
                        <m:sty m:val="p"/>
                      </m:rPr>
                      <a:rPr lang="en-US" altLang="zh-TW" i="1" dirty="0" smtClean="0">
                        <a:latin typeface="Cambria Math" panose="02040503050406030204" pitchFamily="18" charset="0"/>
                        <a:ea typeface="Cambria Math" panose="02040503050406030204" pitchFamily="18" charset="0"/>
                      </a:rPr>
                      <m:t>R</m:t>
                    </m:r>
                    <m:r>
                      <m:rPr>
                        <m:sty m:val="p"/>
                      </m:rPr>
                      <a:rPr lang="en-US" altLang="zh-TW" i="1" dirty="0" smtClean="0">
                        <a:latin typeface="Cambria Math" panose="02040503050406030204" pitchFamily="18" charset="0"/>
                        <a:ea typeface="Cambria Math" panose="02040503050406030204" pitchFamily="18" charset="0"/>
                      </a:rPr>
                      <m:t>M</m:t>
                    </m:r>
                    <m:r>
                      <m:rPr>
                        <m:sty m:val="p"/>
                      </m:rPr>
                      <a:rPr lang="en-US" altLang="zh-TW" i="1" dirty="0">
                        <a:latin typeface="Cambria Math" panose="02040503050406030204" pitchFamily="18" charset="0"/>
                        <a:ea typeface="Cambria Math" panose="02040503050406030204" pitchFamily="18" charset="0"/>
                      </a:rPr>
                      <m:t>S</m:t>
                    </m:r>
                    <m:r>
                      <m:rPr>
                        <m:sty m:val="p"/>
                      </m:rPr>
                      <a:rPr lang="en-US" altLang="zh-TW" i="1" dirty="0" smtClean="0">
                        <a:latin typeface="Cambria Math" panose="02040503050406030204" pitchFamily="18" charset="0"/>
                        <a:ea typeface="Cambria Math" panose="02040503050406030204" pitchFamily="18" charset="0"/>
                      </a:rPr>
                      <m:t>P</m:t>
                    </m:r>
                    <m:r>
                      <m:rPr>
                        <m:sty m:val="p"/>
                      </m:rPr>
                      <a:rPr lang="en-US" altLang="zh-TW" i="1" dirty="0">
                        <a:latin typeface="Cambria Math" panose="02040503050406030204" pitchFamily="18" charset="0"/>
                        <a:ea typeface="Cambria Math" panose="02040503050406030204" pitchFamily="18" charset="0"/>
                      </a:rPr>
                      <m:t>E</m:t>
                    </m:r>
                    <m:r>
                      <a:rPr lang="en-US" altLang="zh-TW" i="1" dirty="0" smtClean="0">
                        <a:latin typeface="Cambria Math" panose="02040503050406030204" pitchFamily="18" charset="0"/>
                        <a:ea typeface="Cambria Math" panose="02040503050406030204" pitchFamily="18" charset="0"/>
                      </a:rPr>
                      <m:t>=</m:t>
                    </m:r>
                    <m:rad>
                      <m:radPr>
                        <m:degHide m:val="on"/>
                        <m:ctrlPr>
                          <a:rPr lang="en-US" altLang="zh-TW" b="0" i="1" smtClean="0">
                            <a:latin typeface="Cambria Math" panose="02040503050406030204" pitchFamily="18" charset="0"/>
                          </a:rPr>
                        </m:ctrlPr>
                      </m:radPr>
                      <m:deg/>
                      <m:e>
                        <m:f>
                          <m:fPr>
                            <m:ctrlPr>
                              <a:rPr lang="en-US" altLang="zh-TW" b="0" i="1" smtClean="0">
                                <a:latin typeface="Cambria Math" panose="02040503050406030204" pitchFamily="18" charset="0"/>
                              </a:rPr>
                            </m:ctrlPr>
                          </m:fPr>
                          <m:num>
                            <m:nary>
                              <m:naryPr>
                                <m:chr m:val="∑"/>
                                <m:subHide m:val="on"/>
                                <m:supHide m:val="on"/>
                                <m:ctrlPr>
                                  <a:rPr lang="en-US" altLang="zh-TW" b="0" i="1" smtClean="0">
                                    <a:latin typeface="Cambria Math" panose="02040503050406030204" pitchFamily="18" charset="0"/>
                                  </a:rPr>
                                </m:ctrlPr>
                              </m:naryPr>
                              <m:sub/>
                              <m:sup/>
                              <m:e>
                                <m:sSup>
                                  <m:sSupPr>
                                    <m:ctrlPr>
                                      <a:rPr lang="en-US" altLang="zh-TW" b="0" i="1" smtClean="0">
                                        <a:latin typeface="Cambria Math" panose="02040503050406030204" pitchFamily="18" charset="0"/>
                                      </a:rPr>
                                    </m:ctrlPr>
                                  </m:sSupPr>
                                  <m:e>
                                    <m:d>
                                      <m:dPr>
                                        <m:begChr m:val="‖"/>
                                        <m:endChr m:val="‖"/>
                                        <m:ctrlPr>
                                          <a:rPr lang="en-US" altLang="zh-TW" b="0" i="1" smtClean="0">
                                            <a:latin typeface="Cambria Math" panose="02040503050406030204" pitchFamily="18" charset="0"/>
                                          </a:rPr>
                                        </m:ctrlPr>
                                      </m:dPr>
                                      <m:e>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𝑏</m:t>
                                            </m:r>
                                          </m:e>
                                          <m:sub>
                                            <m:r>
                                              <a:rPr lang="en-US" altLang="zh-TW" b="0" i="1" smtClean="0">
                                                <a:latin typeface="Cambria Math" panose="02040503050406030204" pitchFamily="18" charset="0"/>
                                              </a:rPr>
                                              <m:t>𝐹𝐸𝑀</m:t>
                                            </m:r>
                                          </m:sub>
                                        </m:sSub>
                                        <m:r>
                                          <a:rPr lang="en-US" altLang="zh-TW" b="0" i="1" smtClean="0">
                                            <a:latin typeface="Cambria Math" panose="02040503050406030204" pitchFamily="18" charset="0"/>
                                          </a:rPr>
                                          <m:t>−</m:t>
                                        </m:r>
                                        <m:sSub>
                                          <m:sSubPr>
                                            <m:ctrlPr>
                                              <a:rPr lang="en-US" altLang="zh-TW" i="1">
                                                <a:latin typeface="Cambria Math" panose="02040503050406030204" pitchFamily="18" charset="0"/>
                                                <a:ea typeface="Cambria Math" panose="02040503050406030204" pitchFamily="18" charset="0"/>
                                              </a:rPr>
                                            </m:ctrlPr>
                                          </m:sSubPr>
                                          <m:e>
                                            <m:r>
                                              <a:rPr lang="en-US" altLang="zh-TW" i="1">
                                                <a:latin typeface="Cambria Math" panose="02040503050406030204" pitchFamily="18" charset="0"/>
                                                <a:ea typeface="Cambria Math" panose="02040503050406030204" pitchFamily="18" charset="0"/>
                                              </a:rPr>
                                              <m:t>𝑆</m:t>
                                            </m:r>
                                          </m:e>
                                          <m:sub>
                                            <m:r>
                                              <a:rPr lang="en-US" altLang="zh-TW" i="1">
                                                <a:latin typeface="Cambria Math" panose="02040503050406030204" pitchFamily="18" charset="0"/>
                                                <a:ea typeface="Cambria Math" panose="02040503050406030204" pitchFamily="18" charset="0"/>
                                              </a:rPr>
                                              <m:t>𝑖</m:t>
                                            </m:r>
                                          </m:sub>
                                        </m:sSub>
                                        <m:sPre>
                                          <m:sPrePr>
                                            <m:ctrlPr>
                                              <a:rPr lang="en-US" altLang="zh-TW" i="1">
                                                <a:latin typeface="Cambria Math" panose="02040503050406030204" pitchFamily="18" charset="0"/>
                                                <a:ea typeface="Cambria Math" panose="02040503050406030204" pitchFamily="18" charset="0"/>
                                              </a:rPr>
                                            </m:ctrlPr>
                                          </m:sPrePr>
                                          <m:sub/>
                                          <m:sup>
                                            <m:r>
                                              <a:rPr lang="en-US" altLang="zh-TW" i="1">
                                                <a:latin typeface="Cambria Math" panose="02040503050406030204" pitchFamily="18" charset="0"/>
                                              </a:rPr>
                                              <m:t>𝐵</m:t>
                                            </m:r>
                                          </m:sup>
                                          <m:e>
                                            <m:sSub>
                                              <m:sSubPr>
                                                <m:ctrlPr>
                                                  <a:rPr lang="en-US" altLang="zh-TW" i="1">
                                                    <a:latin typeface="Cambria Math" panose="02040503050406030204" pitchFamily="18" charset="0"/>
                                                  </a:rPr>
                                                </m:ctrlPr>
                                              </m:sSubPr>
                                              <m:e>
                                                <m:acc>
                                                  <m:accPr>
                                                    <m:chr m:val="̂"/>
                                                    <m:ctrlPr>
                                                      <a:rPr lang="en-US" altLang="zh-TW" i="1">
                                                        <a:latin typeface="Cambria Math" panose="02040503050406030204" pitchFamily="18" charset="0"/>
                                                      </a:rPr>
                                                    </m:ctrlPr>
                                                  </m:accPr>
                                                  <m:e>
                                                    <m:r>
                                                      <a:rPr lang="en-US" altLang="zh-TW" i="1">
                                                        <a:latin typeface="Cambria Math" panose="02040503050406030204" pitchFamily="18" charset="0"/>
                                                      </a:rPr>
                                                      <m:t>𝑔</m:t>
                                                    </m:r>
                                                  </m:e>
                                                </m:acc>
                                              </m:e>
                                              <m:sub>
                                                <m:r>
                                                  <a:rPr lang="en-US" altLang="zh-TW" i="1">
                                                    <a:latin typeface="Cambria Math" panose="02040503050406030204" pitchFamily="18" charset="0"/>
                                                  </a:rPr>
                                                  <m:t>𝑉</m:t>
                                                </m:r>
                                              </m:sub>
                                            </m:sSub>
                                          </m:e>
                                        </m:sPre>
                                        <m:acc>
                                          <m:accPr>
                                            <m:chr m:val="̅"/>
                                            <m:ctrlPr>
                                              <a:rPr lang="zh-TW" altLang="en-US" i="1">
                                                <a:latin typeface="Cambria Math" panose="02040503050406030204" pitchFamily="18" charset="0"/>
                                              </a:rPr>
                                            </m:ctrlPr>
                                          </m:accPr>
                                          <m:e>
                                            <m:r>
                                              <a:rPr lang="en-US" altLang="zh-TW" i="1">
                                                <a:latin typeface="Cambria Math" panose="02040503050406030204" pitchFamily="18" charset="0"/>
                                              </a:rPr>
                                              <m:t>𝐷</m:t>
                                            </m:r>
                                          </m:e>
                                        </m:acc>
                                        <m:sSub>
                                          <m:sSubPr>
                                            <m:ctrlPr>
                                              <a:rPr lang="en-US" altLang="zh-TW" i="1">
                                                <a:latin typeface="Cambria Math" panose="02040503050406030204" pitchFamily="18" charset="0"/>
                                              </a:rPr>
                                            </m:ctrlPr>
                                          </m:sSubPr>
                                          <m:e>
                                            <m:r>
                                              <a:rPr lang="en-US" altLang="zh-TW" i="1">
                                                <a:latin typeface="Cambria Math" panose="02040503050406030204" pitchFamily="18" charset="0"/>
                                              </a:rPr>
                                              <m:t>𝑉</m:t>
                                            </m:r>
                                          </m:e>
                                          <m:sub>
                                            <m:r>
                                              <a:rPr lang="en-US" altLang="zh-TW" i="1">
                                                <a:latin typeface="Cambria Math" panose="02040503050406030204" pitchFamily="18" charset="0"/>
                                              </a:rPr>
                                              <m:t>𝑗</m:t>
                                            </m:r>
                                          </m:sub>
                                        </m:sSub>
                                      </m:e>
                                    </m:d>
                                  </m:e>
                                  <m:sup>
                                    <m:r>
                                      <a:rPr lang="en-US" altLang="zh-TW" b="0" i="1" smtClean="0">
                                        <a:latin typeface="Cambria Math" panose="02040503050406030204" pitchFamily="18" charset="0"/>
                                      </a:rPr>
                                      <m:t>2</m:t>
                                    </m:r>
                                  </m:sup>
                                </m:sSup>
                              </m:e>
                            </m:nary>
                          </m:num>
                          <m:den>
                            <m:nary>
                              <m:naryPr>
                                <m:chr m:val="∑"/>
                                <m:subHide m:val="on"/>
                                <m:supHide m:val="on"/>
                                <m:ctrlPr>
                                  <a:rPr lang="en-US" altLang="zh-TW" b="0" i="1" smtClean="0">
                                    <a:latin typeface="Cambria Math" panose="02040503050406030204" pitchFamily="18" charset="0"/>
                                  </a:rPr>
                                </m:ctrlPr>
                              </m:naryPr>
                              <m:sub/>
                              <m:sup/>
                              <m:e>
                                <m:sSup>
                                  <m:sSupPr>
                                    <m:ctrlPr>
                                      <a:rPr lang="en-US" altLang="zh-TW" b="0" i="1" smtClean="0">
                                        <a:latin typeface="Cambria Math" panose="02040503050406030204" pitchFamily="18" charset="0"/>
                                      </a:rPr>
                                    </m:ctrlPr>
                                  </m:sSupPr>
                                  <m:e>
                                    <m:d>
                                      <m:dPr>
                                        <m:begChr m:val="‖"/>
                                        <m:endChr m:val="‖"/>
                                        <m:ctrlPr>
                                          <a:rPr lang="en-US" altLang="zh-TW" b="0" i="1" smtClean="0">
                                            <a:latin typeface="Cambria Math" panose="02040503050406030204" pitchFamily="18" charset="0"/>
                                          </a:rPr>
                                        </m:ctrlPr>
                                      </m:dPr>
                                      <m:e>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𝑏</m:t>
                                            </m:r>
                                          </m:e>
                                          <m:sub>
                                            <m:r>
                                              <a:rPr lang="en-US" altLang="zh-TW" b="0" i="1" smtClean="0">
                                                <a:latin typeface="Cambria Math" panose="02040503050406030204" pitchFamily="18" charset="0"/>
                                              </a:rPr>
                                              <m:t>𝐹𝐸𝑀</m:t>
                                            </m:r>
                                          </m:sub>
                                        </m:sSub>
                                      </m:e>
                                    </m:d>
                                  </m:e>
                                  <m:sup>
                                    <m:r>
                                      <a:rPr lang="en-US" altLang="zh-TW" b="0" i="1" smtClean="0">
                                        <a:latin typeface="Cambria Math" panose="02040503050406030204" pitchFamily="18" charset="0"/>
                                      </a:rPr>
                                      <m:t>2</m:t>
                                    </m:r>
                                  </m:sup>
                                </m:sSup>
                              </m:e>
                            </m:nary>
                          </m:den>
                        </m:f>
                      </m:e>
                    </m:rad>
                    <m:r>
                      <a:rPr lang="en-US" altLang="zh-TW" b="0" i="1" smtClean="0">
                        <a:latin typeface="Cambria Math" panose="02040503050406030204" pitchFamily="18" charset="0"/>
                        <a:ea typeface="Cambria Math" panose="02040503050406030204" pitchFamily="18" charset="0"/>
                      </a:rPr>
                      <m:t>×100</m:t>
                    </m:r>
                    <m:r>
                      <a:rPr lang="en-US" altLang="zh-TW" b="0" i="1" smtClean="0">
                        <a:latin typeface="Cambria Math" panose="02040503050406030204" pitchFamily="18" charset="0"/>
                      </a:rPr>
                      <m:t>=</m:t>
                    </m:r>
                    <m:r>
                      <a:rPr lang="en-US" altLang="zh-TW" b="0" i="1" smtClean="0">
                        <a:latin typeface="Cambria Math" panose="02040503050406030204" pitchFamily="18" charset="0"/>
                      </a:rPr>
                      <m:t>0.31</m:t>
                    </m:r>
                    <m:r>
                      <a:rPr lang="en-US" altLang="zh-TW" b="0" i="1" smtClean="0">
                        <a:latin typeface="Cambria Math" panose="02040503050406030204" pitchFamily="18" charset="0"/>
                      </a:rPr>
                      <m:t>%</m:t>
                    </m:r>
                    <m:r>
                      <m:rPr>
                        <m:nor/>
                      </m:rPr>
                      <a:rPr lang="en-US" altLang="zh-TW" dirty="0">
                        <a:ea typeface="Cambria Math" panose="02040503050406030204" pitchFamily="18" charset="0"/>
                      </a:rPr>
                      <m:t>(</m:t>
                    </m:r>
                    <m:r>
                      <m:rPr>
                        <m:nor/>
                      </m:rPr>
                      <a:rPr lang="en-US" altLang="zh-TW" b="0" i="0" dirty="0" smtClean="0">
                        <a:ea typeface="Cambria Math" panose="02040503050406030204" pitchFamily="18" charset="0"/>
                      </a:rPr>
                      <m:t>Eighteen</m:t>
                    </m:r>
                    <m:r>
                      <m:rPr>
                        <m:nor/>
                      </m:rPr>
                      <a:rPr lang="en-US" altLang="zh-TW" dirty="0">
                        <a:ea typeface="Cambria Math" panose="02040503050406030204" pitchFamily="18" charset="0"/>
                      </a:rPr>
                      <m:t> </m:t>
                    </m:r>
                    <m:r>
                      <m:rPr>
                        <m:nor/>
                      </m:rPr>
                      <a:rPr lang="en-US" altLang="zh-TW" dirty="0">
                        <a:ea typeface="Cambria Math" panose="02040503050406030204" pitchFamily="18" charset="0"/>
                      </a:rPr>
                      <m:t>parameters</m:t>
                    </m:r>
                    <m:r>
                      <m:rPr>
                        <m:nor/>
                      </m:rPr>
                      <a:rPr lang="en-US" altLang="zh-TW" dirty="0">
                        <a:ea typeface="Cambria Math" panose="02040503050406030204" pitchFamily="18" charset="0"/>
                      </a:rPr>
                      <m:t>)</m:t>
                    </m:r>
                  </m:oMath>
                </a14:m>
                <a:endParaRPr lang="en-US" altLang="zh-TW" dirty="0">
                  <a:ea typeface="Cambria Math" panose="02040503050406030204" pitchFamily="18" charset="0"/>
                </a:endParaRPr>
              </a:p>
              <a:p>
                <a:pPr lvl="1"/>
                <a:endParaRPr lang="en-US" altLang="zh-TW" dirty="0"/>
              </a:p>
              <a:p>
                <a:pPr marL="285750" indent="-285750">
                  <a:buFont typeface="Arial" panose="020B0604020202020204" pitchFamily="34" charset="0"/>
                  <a:buChar char="•"/>
                </a:pPr>
                <a:r>
                  <a:rPr lang="en-US" altLang="zh-TW" dirty="0"/>
                  <a:t>Sampling range </a:t>
                </a:r>
                <a14:m>
                  <m:oMath xmlns:m="http://schemas.openxmlformats.org/officeDocument/2006/math">
                    <m:r>
                      <a:rPr lang="en-US" altLang="zh-TW" b="0" i="1" smtClean="0">
                        <a:latin typeface="Cambria Math" panose="02040503050406030204" pitchFamily="18" charset="0"/>
                      </a:rPr>
                      <m:t>𝑅</m:t>
                    </m:r>
                    <m:r>
                      <a:rPr lang="en-US" altLang="zh-TW" b="0" i="1" smtClean="0">
                        <a:latin typeface="Cambria Math" panose="02040503050406030204" pitchFamily="18" charset="0"/>
                        <a:ea typeface="Cambria Math" panose="02040503050406030204" pitchFamily="18" charset="0"/>
                      </a:rPr>
                      <m:t>≤</m:t>
                    </m:r>
                    <m:r>
                      <a:rPr lang="en-US" altLang="zh-TW" b="0" i="1" smtClean="0">
                        <a:latin typeface="Cambria Math" panose="02040503050406030204" pitchFamily="18" charset="0"/>
                        <a:ea typeface="Cambria Math" panose="02040503050406030204" pitchFamily="18" charset="0"/>
                      </a:rPr>
                      <m:t>30</m:t>
                    </m:r>
                    <m:r>
                      <a:rPr lang="en-US" altLang="zh-TW" b="0" i="1" smtClean="0">
                        <a:latin typeface="Cambria Math" panose="02040503050406030204" pitchFamily="18" charset="0"/>
                        <a:ea typeface="Cambria Math" panose="02040503050406030204" pitchFamily="18" charset="0"/>
                      </a:rPr>
                      <m:t>0</m:t>
                    </m:r>
                    <m:r>
                      <a:rPr lang="en-US" altLang="zh-TW" b="0" i="1" smtClean="0">
                        <a:latin typeface="Cambria Math" panose="02040503050406030204" pitchFamily="18" charset="0"/>
                        <a:ea typeface="Cambria Math" panose="02040503050406030204" pitchFamily="18" charset="0"/>
                      </a:rPr>
                      <m:t>𝑢𝑚</m:t>
                    </m:r>
                  </m:oMath>
                </a14:m>
                <a:endParaRPr lang="en-US" altLang="zh-TW" b="0" dirty="0">
                  <a:ea typeface="Cambria Math" panose="02040503050406030204" pitchFamily="18" charset="0"/>
                </a:endParaRPr>
              </a:p>
              <a:p>
                <a:pPr marL="285750" indent="-285750">
                  <a:buFont typeface="Arial" panose="020B0604020202020204" pitchFamily="34" charset="0"/>
                  <a:buChar char="•"/>
                </a:pPr>
                <a:endParaRPr lang="en-US" altLang="zh-TW" dirty="0">
                  <a:ea typeface="Cambria Math" panose="02040503050406030204" pitchFamily="18" charset="0"/>
                </a:endParaRPr>
              </a:p>
              <a:p>
                <a:pPr marL="742950" lvl="1" indent="-285750">
                  <a:buFont typeface="Wingdings" panose="05000000000000000000" pitchFamily="2" charset="2"/>
                  <a:buChar char="Ø"/>
                </a:pPr>
                <a14:m>
                  <m:oMath xmlns:m="http://schemas.openxmlformats.org/officeDocument/2006/math">
                    <m:r>
                      <m:rPr>
                        <m:sty m:val="p"/>
                      </m:rPr>
                      <a:rPr lang="en-US" altLang="zh-TW" i="1" dirty="0" smtClean="0">
                        <a:latin typeface="Cambria Math" panose="02040503050406030204" pitchFamily="18" charset="0"/>
                        <a:ea typeface="Cambria Math" panose="02040503050406030204" pitchFamily="18" charset="0"/>
                      </a:rPr>
                      <m:t>R</m:t>
                    </m:r>
                    <m:r>
                      <m:rPr>
                        <m:sty m:val="p"/>
                      </m:rPr>
                      <a:rPr lang="en-US" altLang="zh-TW" i="1" dirty="0" smtClean="0">
                        <a:latin typeface="Cambria Math" panose="02040503050406030204" pitchFamily="18" charset="0"/>
                        <a:ea typeface="Cambria Math" panose="02040503050406030204" pitchFamily="18" charset="0"/>
                      </a:rPr>
                      <m:t>M</m:t>
                    </m:r>
                    <m:r>
                      <m:rPr>
                        <m:sty m:val="p"/>
                      </m:rPr>
                      <a:rPr lang="en-US" altLang="zh-TW" i="1" dirty="0">
                        <a:latin typeface="Cambria Math" panose="02040503050406030204" pitchFamily="18" charset="0"/>
                        <a:ea typeface="Cambria Math" panose="02040503050406030204" pitchFamily="18" charset="0"/>
                      </a:rPr>
                      <m:t>S</m:t>
                    </m:r>
                    <m:r>
                      <m:rPr>
                        <m:sty m:val="p"/>
                      </m:rPr>
                      <a:rPr lang="en-US" altLang="zh-TW" i="1" dirty="0" smtClean="0">
                        <a:latin typeface="Cambria Math" panose="02040503050406030204" pitchFamily="18" charset="0"/>
                        <a:ea typeface="Cambria Math" panose="02040503050406030204" pitchFamily="18" charset="0"/>
                      </a:rPr>
                      <m:t>P</m:t>
                    </m:r>
                    <m:r>
                      <m:rPr>
                        <m:sty m:val="p"/>
                      </m:rPr>
                      <a:rPr lang="en-US" altLang="zh-TW" i="1" dirty="0">
                        <a:latin typeface="Cambria Math" panose="02040503050406030204" pitchFamily="18" charset="0"/>
                        <a:ea typeface="Cambria Math" panose="02040503050406030204" pitchFamily="18" charset="0"/>
                      </a:rPr>
                      <m:t>E</m:t>
                    </m:r>
                    <m:r>
                      <a:rPr lang="en-US" altLang="zh-TW" i="1" dirty="0" smtClean="0">
                        <a:latin typeface="Cambria Math" panose="02040503050406030204" pitchFamily="18" charset="0"/>
                        <a:ea typeface="Cambria Math" panose="02040503050406030204" pitchFamily="18" charset="0"/>
                      </a:rPr>
                      <m:t>=</m:t>
                    </m:r>
                    <m:rad>
                      <m:radPr>
                        <m:degHide m:val="on"/>
                        <m:ctrlPr>
                          <a:rPr lang="en-US" altLang="zh-TW" b="0" i="1" smtClean="0">
                            <a:latin typeface="Cambria Math" panose="02040503050406030204" pitchFamily="18" charset="0"/>
                          </a:rPr>
                        </m:ctrlPr>
                      </m:radPr>
                      <m:deg/>
                      <m:e>
                        <m:f>
                          <m:fPr>
                            <m:ctrlPr>
                              <a:rPr lang="en-US" altLang="zh-TW" b="0" i="1" smtClean="0">
                                <a:latin typeface="Cambria Math" panose="02040503050406030204" pitchFamily="18" charset="0"/>
                              </a:rPr>
                            </m:ctrlPr>
                          </m:fPr>
                          <m:num>
                            <m:nary>
                              <m:naryPr>
                                <m:chr m:val="∑"/>
                                <m:subHide m:val="on"/>
                                <m:supHide m:val="on"/>
                                <m:ctrlPr>
                                  <a:rPr lang="en-US" altLang="zh-TW" b="0" i="1" smtClean="0">
                                    <a:latin typeface="Cambria Math" panose="02040503050406030204" pitchFamily="18" charset="0"/>
                                  </a:rPr>
                                </m:ctrlPr>
                              </m:naryPr>
                              <m:sub/>
                              <m:sup/>
                              <m:e>
                                <m:sSup>
                                  <m:sSupPr>
                                    <m:ctrlPr>
                                      <a:rPr lang="en-US" altLang="zh-TW" b="0" i="1" smtClean="0">
                                        <a:latin typeface="Cambria Math" panose="02040503050406030204" pitchFamily="18" charset="0"/>
                                      </a:rPr>
                                    </m:ctrlPr>
                                  </m:sSupPr>
                                  <m:e>
                                    <m:d>
                                      <m:dPr>
                                        <m:begChr m:val="‖"/>
                                        <m:endChr m:val="‖"/>
                                        <m:ctrlPr>
                                          <a:rPr lang="en-US" altLang="zh-TW" b="0" i="1" smtClean="0">
                                            <a:latin typeface="Cambria Math" panose="02040503050406030204" pitchFamily="18" charset="0"/>
                                          </a:rPr>
                                        </m:ctrlPr>
                                      </m:dPr>
                                      <m:e>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𝑏</m:t>
                                            </m:r>
                                          </m:e>
                                          <m:sub>
                                            <m:r>
                                              <a:rPr lang="en-US" altLang="zh-TW" b="0" i="1" smtClean="0">
                                                <a:latin typeface="Cambria Math" panose="02040503050406030204" pitchFamily="18" charset="0"/>
                                              </a:rPr>
                                              <m:t>𝐹𝐸𝑀</m:t>
                                            </m:r>
                                          </m:sub>
                                        </m:sSub>
                                        <m:r>
                                          <a:rPr lang="en-US" altLang="zh-TW" b="0" i="1" smtClean="0">
                                            <a:latin typeface="Cambria Math" panose="02040503050406030204" pitchFamily="18" charset="0"/>
                                          </a:rPr>
                                          <m:t>−</m:t>
                                        </m:r>
                                        <m:sSub>
                                          <m:sSubPr>
                                            <m:ctrlPr>
                                              <a:rPr lang="en-US" altLang="zh-TW" i="1">
                                                <a:latin typeface="Cambria Math" panose="02040503050406030204" pitchFamily="18" charset="0"/>
                                                <a:ea typeface="Cambria Math" panose="02040503050406030204" pitchFamily="18" charset="0"/>
                                              </a:rPr>
                                            </m:ctrlPr>
                                          </m:sSubPr>
                                          <m:e>
                                            <m:r>
                                              <a:rPr lang="en-US" altLang="zh-TW" i="1">
                                                <a:latin typeface="Cambria Math" panose="02040503050406030204" pitchFamily="18" charset="0"/>
                                                <a:ea typeface="Cambria Math" panose="02040503050406030204" pitchFamily="18" charset="0"/>
                                              </a:rPr>
                                              <m:t>𝑆</m:t>
                                            </m:r>
                                          </m:e>
                                          <m:sub>
                                            <m:r>
                                              <a:rPr lang="en-US" altLang="zh-TW" i="1">
                                                <a:latin typeface="Cambria Math" panose="02040503050406030204" pitchFamily="18" charset="0"/>
                                                <a:ea typeface="Cambria Math" panose="02040503050406030204" pitchFamily="18" charset="0"/>
                                              </a:rPr>
                                              <m:t>𝑖</m:t>
                                            </m:r>
                                          </m:sub>
                                        </m:sSub>
                                        <m:sPre>
                                          <m:sPrePr>
                                            <m:ctrlPr>
                                              <a:rPr lang="en-US" altLang="zh-TW" i="1">
                                                <a:latin typeface="Cambria Math" panose="02040503050406030204" pitchFamily="18" charset="0"/>
                                                <a:ea typeface="Cambria Math" panose="02040503050406030204" pitchFamily="18" charset="0"/>
                                              </a:rPr>
                                            </m:ctrlPr>
                                          </m:sPrePr>
                                          <m:sub/>
                                          <m:sup>
                                            <m:r>
                                              <a:rPr lang="en-US" altLang="zh-TW" i="1">
                                                <a:latin typeface="Cambria Math" panose="02040503050406030204" pitchFamily="18" charset="0"/>
                                              </a:rPr>
                                              <m:t>𝐵</m:t>
                                            </m:r>
                                          </m:sup>
                                          <m:e>
                                            <m:sSub>
                                              <m:sSubPr>
                                                <m:ctrlPr>
                                                  <a:rPr lang="en-US" altLang="zh-TW" i="1">
                                                    <a:latin typeface="Cambria Math" panose="02040503050406030204" pitchFamily="18" charset="0"/>
                                                  </a:rPr>
                                                </m:ctrlPr>
                                              </m:sSubPr>
                                              <m:e>
                                                <m:acc>
                                                  <m:accPr>
                                                    <m:chr m:val="̂"/>
                                                    <m:ctrlPr>
                                                      <a:rPr lang="en-US" altLang="zh-TW" i="1">
                                                        <a:latin typeface="Cambria Math" panose="02040503050406030204" pitchFamily="18" charset="0"/>
                                                      </a:rPr>
                                                    </m:ctrlPr>
                                                  </m:accPr>
                                                  <m:e>
                                                    <m:r>
                                                      <a:rPr lang="en-US" altLang="zh-TW" i="1">
                                                        <a:latin typeface="Cambria Math" panose="02040503050406030204" pitchFamily="18" charset="0"/>
                                                      </a:rPr>
                                                      <m:t>𝑔</m:t>
                                                    </m:r>
                                                  </m:e>
                                                </m:acc>
                                              </m:e>
                                              <m:sub>
                                                <m:r>
                                                  <a:rPr lang="en-US" altLang="zh-TW" i="1">
                                                    <a:latin typeface="Cambria Math" panose="02040503050406030204" pitchFamily="18" charset="0"/>
                                                  </a:rPr>
                                                  <m:t>𝑉</m:t>
                                                </m:r>
                                              </m:sub>
                                            </m:sSub>
                                          </m:e>
                                        </m:sPre>
                                        <m:acc>
                                          <m:accPr>
                                            <m:chr m:val="̅"/>
                                            <m:ctrlPr>
                                              <a:rPr lang="zh-TW" altLang="en-US" i="1">
                                                <a:latin typeface="Cambria Math" panose="02040503050406030204" pitchFamily="18" charset="0"/>
                                              </a:rPr>
                                            </m:ctrlPr>
                                          </m:accPr>
                                          <m:e>
                                            <m:r>
                                              <a:rPr lang="en-US" altLang="zh-TW" i="1">
                                                <a:latin typeface="Cambria Math" panose="02040503050406030204" pitchFamily="18" charset="0"/>
                                              </a:rPr>
                                              <m:t>𝐷</m:t>
                                            </m:r>
                                          </m:e>
                                        </m:acc>
                                        <m:sSub>
                                          <m:sSubPr>
                                            <m:ctrlPr>
                                              <a:rPr lang="en-US" altLang="zh-TW" i="1">
                                                <a:latin typeface="Cambria Math" panose="02040503050406030204" pitchFamily="18" charset="0"/>
                                              </a:rPr>
                                            </m:ctrlPr>
                                          </m:sSubPr>
                                          <m:e>
                                            <m:r>
                                              <a:rPr lang="en-US" altLang="zh-TW" i="1">
                                                <a:latin typeface="Cambria Math" panose="02040503050406030204" pitchFamily="18" charset="0"/>
                                              </a:rPr>
                                              <m:t>𝑉</m:t>
                                            </m:r>
                                          </m:e>
                                          <m:sub>
                                            <m:r>
                                              <a:rPr lang="en-US" altLang="zh-TW" i="1">
                                                <a:latin typeface="Cambria Math" panose="02040503050406030204" pitchFamily="18" charset="0"/>
                                              </a:rPr>
                                              <m:t>𝑗</m:t>
                                            </m:r>
                                          </m:sub>
                                        </m:sSub>
                                      </m:e>
                                    </m:d>
                                  </m:e>
                                  <m:sup>
                                    <m:r>
                                      <a:rPr lang="en-US" altLang="zh-TW" b="0" i="1" smtClean="0">
                                        <a:latin typeface="Cambria Math" panose="02040503050406030204" pitchFamily="18" charset="0"/>
                                      </a:rPr>
                                      <m:t>2</m:t>
                                    </m:r>
                                  </m:sup>
                                </m:sSup>
                              </m:e>
                            </m:nary>
                          </m:num>
                          <m:den>
                            <m:nary>
                              <m:naryPr>
                                <m:chr m:val="∑"/>
                                <m:subHide m:val="on"/>
                                <m:supHide m:val="on"/>
                                <m:ctrlPr>
                                  <a:rPr lang="en-US" altLang="zh-TW" b="0" i="1" smtClean="0">
                                    <a:latin typeface="Cambria Math" panose="02040503050406030204" pitchFamily="18" charset="0"/>
                                  </a:rPr>
                                </m:ctrlPr>
                              </m:naryPr>
                              <m:sub/>
                              <m:sup/>
                              <m:e>
                                <m:sSup>
                                  <m:sSupPr>
                                    <m:ctrlPr>
                                      <a:rPr lang="en-US" altLang="zh-TW" b="0" i="1" smtClean="0">
                                        <a:latin typeface="Cambria Math" panose="02040503050406030204" pitchFamily="18" charset="0"/>
                                      </a:rPr>
                                    </m:ctrlPr>
                                  </m:sSupPr>
                                  <m:e>
                                    <m:d>
                                      <m:dPr>
                                        <m:begChr m:val="‖"/>
                                        <m:endChr m:val="‖"/>
                                        <m:ctrlPr>
                                          <a:rPr lang="en-US" altLang="zh-TW" b="0" i="1" smtClean="0">
                                            <a:latin typeface="Cambria Math" panose="02040503050406030204" pitchFamily="18" charset="0"/>
                                          </a:rPr>
                                        </m:ctrlPr>
                                      </m:dPr>
                                      <m:e>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𝑏</m:t>
                                            </m:r>
                                          </m:e>
                                          <m:sub>
                                            <m:r>
                                              <a:rPr lang="en-US" altLang="zh-TW" b="0" i="1" smtClean="0">
                                                <a:latin typeface="Cambria Math" panose="02040503050406030204" pitchFamily="18" charset="0"/>
                                              </a:rPr>
                                              <m:t>𝐹𝐸𝑀</m:t>
                                            </m:r>
                                          </m:sub>
                                        </m:sSub>
                                      </m:e>
                                    </m:d>
                                  </m:e>
                                  <m:sup>
                                    <m:r>
                                      <a:rPr lang="en-US" altLang="zh-TW" b="0" i="1" smtClean="0">
                                        <a:latin typeface="Cambria Math" panose="02040503050406030204" pitchFamily="18" charset="0"/>
                                      </a:rPr>
                                      <m:t>2</m:t>
                                    </m:r>
                                  </m:sup>
                                </m:sSup>
                              </m:e>
                            </m:nary>
                          </m:den>
                        </m:f>
                      </m:e>
                    </m:rad>
                    <m:r>
                      <a:rPr lang="en-US" altLang="zh-TW" b="0" i="1" smtClean="0">
                        <a:latin typeface="Cambria Math" panose="02040503050406030204" pitchFamily="18" charset="0"/>
                        <a:ea typeface="Cambria Math" panose="02040503050406030204" pitchFamily="18" charset="0"/>
                      </a:rPr>
                      <m:t>×100</m:t>
                    </m:r>
                    <m:r>
                      <a:rPr lang="en-US" altLang="zh-TW" b="0" i="1" smtClean="0">
                        <a:latin typeface="Cambria Math" panose="02040503050406030204" pitchFamily="18" charset="0"/>
                      </a:rPr>
                      <m:t>=</m:t>
                    </m:r>
                    <m:r>
                      <a:rPr lang="en-US" altLang="zh-TW" b="0" i="1" smtClean="0">
                        <a:latin typeface="Cambria Math" panose="02040503050406030204" pitchFamily="18" charset="0"/>
                      </a:rPr>
                      <m:t>7.03</m:t>
                    </m:r>
                    <m:r>
                      <a:rPr lang="en-US" altLang="zh-TW" b="0" i="1" smtClean="0">
                        <a:latin typeface="Cambria Math" panose="02040503050406030204" pitchFamily="18" charset="0"/>
                      </a:rPr>
                      <m:t>%</m:t>
                    </m:r>
                    <m:r>
                      <m:rPr>
                        <m:nor/>
                      </m:rPr>
                      <a:rPr lang="en-US" altLang="zh-TW" dirty="0">
                        <a:ea typeface="Cambria Math" panose="02040503050406030204" pitchFamily="18" charset="0"/>
                      </a:rPr>
                      <m:t>(</m:t>
                    </m:r>
                    <m:r>
                      <m:rPr>
                        <m:nor/>
                      </m:rPr>
                      <a:rPr lang="en-US" altLang="zh-TW" dirty="0">
                        <a:ea typeface="Cambria Math" panose="02040503050406030204" pitchFamily="18" charset="0"/>
                      </a:rPr>
                      <m:t>Single</m:t>
                    </m:r>
                    <m:r>
                      <m:rPr>
                        <m:nor/>
                      </m:rPr>
                      <a:rPr lang="en-US" altLang="zh-TW" dirty="0">
                        <a:ea typeface="Cambria Math" panose="02040503050406030204" pitchFamily="18" charset="0"/>
                      </a:rPr>
                      <m:t> </m:t>
                    </m:r>
                    <m:r>
                      <m:rPr>
                        <m:nor/>
                      </m:rPr>
                      <a:rPr lang="en-US" altLang="zh-TW" dirty="0">
                        <a:ea typeface="Cambria Math" panose="02040503050406030204" pitchFamily="18" charset="0"/>
                      </a:rPr>
                      <m:t>parameter</m:t>
                    </m:r>
                    <m:r>
                      <m:rPr>
                        <m:nor/>
                      </m:rPr>
                      <a:rPr lang="en-US" altLang="zh-TW" dirty="0">
                        <a:ea typeface="Cambria Math" panose="02040503050406030204" pitchFamily="18" charset="0"/>
                      </a:rPr>
                      <m:t>)</m:t>
                    </m:r>
                  </m:oMath>
                </a14:m>
                <a:endParaRPr lang="en-US" altLang="zh-TW" dirty="0">
                  <a:ea typeface="Cambria Math" panose="02040503050406030204" pitchFamily="18" charset="0"/>
                </a:endParaRPr>
              </a:p>
              <a:p>
                <a:pPr marL="742950" lvl="1" indent="-285750">
                  <a:buFont typeface="Wingdings" panose="05000000000000000000" pitchFamily="2" charset="2"/>
                  <a:buChar char="Ø"/>
                </a:pPr>
                <a:endParaRPr lang="en-US" altLang="zh-TW" b="0" dirty="0"/>
              </a:p>
              <a:p>
                <a:pPr marL="742950" lvl="1" indent="-285750">
                  <a:buFont typeface="Wingdings" panose="05000000000000000000" pitchFamily="2" charset="2"/>
                  <a:buChar char="Ø"/>
                </a:pPr>
                <a14:m>
                  <m:oMath xmlns:m="http://schemas.openxmlformats.org/officeDocument/2006/math">
                    <m:r>
                      <m:rPr>
                        <m:sty m:val="p"/>
                      </m:rPr>
                      <a:rPr lang="en-US" altLang="zh-TW" i="1" dirty="0" smtClean="0">
                        <a:latin typeface="Cambria Math" panose="02040503050406030204" pitchFamily="18" charset="0"/>
                        <a:ea typeface="Cambria Math" panose="02040503050406030204" pitchFamily="18" charset="0"/>
                      </a:rPr>
                      <m:t>RM</m:t>
                    </m:r>
                    <m:r>
                      <m:rPr>
                        <m:sty m:val="p"/>
                      </m:rPr>
                      <a:rPr lang="en-US" altLang="zh-TW" i="1" dirty="0">
                        <a:latin typeface="Cambria Math" panose="02040503050406030204" pitchFamily="18" charset="0"/>
                        <a:ea typeface="Cambria Math" panose="02040503050406030204" pitchFamily="18" charset="0"/>
                      </a:rPr>
                      <m:t>S</m:t>
                    </m:r>
                    <m:r>
                      <m:rPr>
                        <m:sty m:val="p"/>
                      </m:rPr>
                      <a:rPr lang="en-US" altLang="zh-TW" i="1" dirty="0" smtClean="0">
                        <a:latin typeface="Cambria Math" panose="02040503050406030204" pitchFamily="18" charset="0"/>
                        <a:ea typeface="Cambria Math" panose="02040503050406030204" pitchFamily="18" charset="0"/>
                      </a:rPr>
                      <m:t>P</m:t>
                    </m:r>
                    <m:r>
                      <m:rPr>
                        <m:sty m:val="p"/>
                      </m:rPr>
                      <a:rPr lang="en-US" altLang="zh-TW" i="1" dirty="0">
                        <a:latin typeface="Cambria Math" panose="02040503050406030204" pitchFamily="18" charset="0"/>
                        <a:ea typeface="Cambria Math" panose="02040503050406030204" pitchFamily="18" charset="0"/>
                      </a:rPr>
                      <m:t>E</m:t>
                    </m:r>
                    <m:r>
                      <a:rPr lang="en-US" altLang="zh-TW" i="1" dirty="0" smtClean="0">
                        <a:latin typeface="Cambria Math" panose="02040503050406030204" pitchFamily="18" charset="0"/>
                        <a:ea typeface="Cambria Math" panose="02040503050406030204" pitchFamily="18" charset="0"/>
                      </a:rPr>
                      <m:t>=</m:t>
                    </m:r>
                    <m:rad>
                      <m:radPr>
                        <m:degHide m:val="on"/>
                        <m:ctrlPr>
                          <a:rPr lang="en-US" altLang="zh-TW" b="0" i="1" smtClean="0">
                            <a:latin typeface="Cambria Math" panose="02040503050406030204" pitchFamily="18" charset="0"/>
                          </a:rPr>
                        </m:ctrlPr>
                      </m:radPr>
                      <m:deg/>
                      <m:e>
                        <m:f>
                          <m:fPr>
                            <m:ctrlPr>
                              <a:rPr lang="en-US" altLang="zh-TW" b="0" i="1" smtClean="0">
                                <a:latin typeface="Cambria Math" panose="02040503050406030204" pitchFamily="18" charset="0"/>
                              </a:rPr>
                            </m:ctrlPr>
                          </m:fPr>
                          <m:num>
                            <m:nary>
                              <m:naryPr>
                                <m:chr m:val="∑"/>
                                <m:subHide m:val="on"/>
                                <m:supHide m:val="on"/>
                                <m:ctrlPr>
                                  <a:rPr lang="en-US" altLang="zh-TW" b="0" i="1" smtClean="0">
                                    <a:latin typeface="Cambria Math" panose="02040503050406030204" pitchFamily="18" charset="0"/>
                                  </a:rPr>
                                </m:ctrlPr>
                              </m:naryPr>
                              <m:sub/>
                              <m:sup/>
                              <m:e>
                                <m:sSup>
                                  <m:sSupPr>
                                    <m:ctrlPr>
                                      <a:rPr lang="en-US" altLang="zh-TW" b="0" i="1" smtClean="0">
                                        <a:latin typeface="Cambria Math" panose="02040503050406030204" pitchFamily="18" charset="0"/>
                                      </a:rPr>
                                    </m:ctrlPr>
                                  </m:sSupPr>
                                  <m:e>
                                    <m:d>
                                      <m:dPr>
                                        <m:begChr m:val="‖"/>
                                        <m:endChr m:val="‖"/>
                                        <m:ctrlPr>
                                          <a:rPr lang="en-US" altLang="zh-TW" b="0" i="1" smtClean="0">
                                            <a:latin typeface="Cambria Math" panose="02040503050406030204" pitchFamily="18" charset="0"/>
                                          </a:rPr>
                                        </m:ctrlPr>
                                      </m:dPr>
                                      <m:e>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𝑏</m:t>
                                            </m:r>
                                          </m:e>
                                          <m:sub>
                                            <m:r>
                                              <a:rPr lang="en-US" altLang="zh-TW" b="0" i="1" smtClean="0">
                                                <a:latin typeface="Cambria Math" panose="02040503050406030204" pitchFamily="18" charset="0"/>
                                              </a:rPr>
                                              <m:t>𝐹𝐸𝑀</m:t>
                                            </m:r>
                                          </m:sub>
                                        </m:sSub>
                                        <m:r>
                                          <a:rPr lang="en-US" altLang="zh-TW" b="0" i="1" smtClean="0">
                                            <a:latin typeface="Cambria Math" panose="02040503050406030204" pitchFamily="18" charset="0"/>
                                          </a:rPr>
                                          <m:t>−</m:t>
                                        </m:r>
                                        <m:sSub>
                                          <m:sSubPr>
                                            <m:ctrlPr>
                                              <a:rPr lang="en-US" altLang="zh-TW" i="1">
                                                <a:latin typeface="Cambria Math" panose="02040503050406030204" pitchFamily="18" charset="0"/>
                                                <a:ea typeface="Cambria Math" panose="02040503050406030204" pitchFamily="18" charset="0"/>
                                              </a:rPr>
                                            </m:ctrlPr>
                                          </m:sSubPr>
                                          <m:e>
                                            <m:r>
                                              <a:rPr lang="en-US" altLang="zh-TW" i="1">
                                                <a:latin typeface="Cambria Math" panose="02040503050406030204" pitchFamily="18" charset="0"/>
                                                <a:ea typeface="Cambria Math" panose="02040503050406030204" pitchFamily="18" charset="0"/>
                                              </a:rPr>
                                              <m:t>𝑆</m:t>
                                            </m:r>
                                          </m:e>
                                          <m:sub>
                                            <m:r>
                                              <a:rPr lang="en-US" altLang="zh-TW" i="1">
                                                <a:latin typeface="Cambria Math" panose="02040503050406030204" pitchFamily="18" charset="0"/>
                                                <a:ea typeface="Cambria Math" panose="02040503050406030204" pitchFamily="18" charset="0"/>
                                              </a:rPr>
                                              <m:t>𝑖</m:t>
                                            </m:r>
                                          </m:sub>
                                        </m:sSub>
                                        <m:sPre>
                                          <m:sPrePr>
                                            <m:ctrlPr>
                                              <a:rPr lang="en-US" altLang="zh-TW" i="1">
                                                <a:latin typeface="Cambria Math" panose="02040503050406030204" pitchFamily="18" charset="0"/>
                                                <a:ea typeface="Cambria Math" panose="02040503050406030204" pitchFamily="18" charset="0"/>
                                              </a:rPr>
                                            </m:ctrlPr>
                                          </m:sPrePr>
                                          <m:sub/>
                                          <m:sup>
                                            <m:r>
                                              <a:rPr lang="en-US" altLang="zh-TW" i="1">
                                                <a:latin typeface="Cambria Math" panose="02040503050406030204" pitchFamily="18" charset="0"/>
                                              </a:rPr>
                                              <m:t>𝐵</m:t>
                                            </m:r>
                                          </m:sup>
                                          <m:e>
                                            <m:sSub>
                                              <m:sSubPr>
                                                <m:ctrlPr>
                                                  <a:rPr lang="en-US" altLang="zh-TW" i="1">
                                                    <a:latin typeface="Cambria Math" panose="02040503050406030204" pitchFamily="18" charset="0"/>
                                                  </a:rPr>
                                                </m:ctrlPr>
                                              </m:sSubPr>
                                              <m:e>
                                                <m:acc>
                                                  <m:accPr>
                                                    <m:chr m:val="̂"/>
                                                    <m:ctrlPr>
                                                      <a:rPr lang="en-US" altLang="zh-TW" i="1">
                                                        <a:latin typeface="Cambria Math" panose="02040503050406030204" pitchFamily="18" charset="0"/>
                                                      </a:rPr>
                                                    </m:ctrlPr>
                                                  </m:accPr>
                                                  <m:e>
                                                    <m:r>
                                                      <a:rPr lang="en-US" altLang="zh-TW" i="1">
                                                        <a:latin typeface="Cambria Math" panose="02040503050406030204" pitchFamily="18" charset="0"/>
                                                      </a:rPr>
                                                      <m:t>𝑔</m:t>
                                                    </m:r>
                                                  </m:e>
                                                </m:acc>
                                              </m:e>
                                              <m:sub>
                                                <m:r>
                                                  <a:rPr lang="en-US" altLang="zh-TW" i="1">
                                                    <a:latin typeface="Cambria Math" panose="02040503050406030204" pitchFamily="18" charset="0"/>
                                                  </a:rPr>
                                                  <m:t>𝑉</m:t>
                                                </m:r>
                                              </m:sub>
                                            </m:sSub>
                                          </m:e>
                                        </m:sPre>
                                        <m:acc>
                                          <m:accPr>
                                            <m:chr m:val="̅"/>
                                            <m:ctrlPr>
                                              <a:rPr lang="zh-TW" altLang="en-US" i="1">
                                                <a:latin typeface="Cambria Math" panose="02040503050406030204" pitchFamily="18" charset="0"/>
                                              </a:rPr>
                                            </m:ctrlPr>
                                          </m:accPr>
                                          <m:e>
                                            <m:r>
                                              <a:rPr lang="en-US" altLang="zh-TW" i="1">
                                                <a:latin typeface="Cambria Math" panose="02040503050406030204" pitchFamily="18" charset="0"/>
                                              </a:rPr>
                                              <m:t>𝐷</m:t>
                                            </m:r>
                                          </m:e>
                                        </m:acc>
                                        <m:sSub>
                                          <m:sSubPr>
                                            <m:ctrlPr>
                                              <a:rPr lang="en-US" altLang="zh-TW" i="1">
                                                <a:latin typeface="Cambria Math" panose="02040503050406030204" pitchFamily="18" charset="0"/>
                                              </a:rPr>
                                            </m:ctrlPr>
                                          </m:sSubPr>
                                          <m:e>
                                            <m:r>
                                              <a:rPr lang="en-US" altLang="zh-TW" i="1">
                                                <a:latin typeface="Cambria Math" panose="02040503050406030204" pitchFamily="18" charset="0"/>
                                              </a:rPr>
                                              <m:t>𝑉</m:t>
                                            </m:r>
                                          </m:e>
                                          <m:sub>
                                            <m:r>
                                              <a:rPr lang="en-US" altLang="zh-TW" i="1">
                                                <a:latin typeface="Cambria Math" panose="02040503050406030204" pitchFamily="18" charset="0"/>
                                              </a:rPr>
                                              <m:t>𝑗</m:t>
                                            </m:r>
                                          </m:sub>
                                        </m:sSub>
                                      </m:e>
                                    </m:d>
                                  </m:e>
                                  <m:sup>
                                    <m:r>
                                      <a:rPr lang="en-US" altLang="zh-TW" b="0" i="1" smtClean="0">
                                        <a:latin typeface="Cambria Math" panose="02040503050406030204" pitchFamily="18" charset="0"/>
                                      </a:rPr>
                                      <m:t>2</m:t>
                                    </m:r>
                                  </m:sup>
                                </m:sSup>
                              </m:e>
                            </m:nary>
                          </m:num>
                          <m:den>
                            <m:nary>
                              <m:naryPr>
                                <m:chr m:val="∑"/>
                                <m:subHide m:val="on"/>
                                <m:supHide m:val="on"/>
                                <m:ctrlPr>
                                  <a:rPr lang="en-US" altLang="zh-TW" b="0" i="1" smtClean="0">
                                    <a:latin typeface="Cambria Math" panose="02040503050406030204" pitchFamily="18" charset="0"/>
                                  </a:rPr>
                                </m:ctrlPr>
                              </m:naryPr>
                              <m:sub/>
                              <m:sup/>
                              <m:e>
                                <m:sSup>
                                  <m:sSupPr>
                                    <m:ctrlPr>
                                      <a:rPr lang="en-US" altLang="zh-TW" b="0" i="1" smtClean="0">
                                        <a:latin typeface="Cambria Math" panose="02040503050406030204" pitchFamily="18" charset="0"/>
                                      </a:rPr>
                                    </m:ctrlPr>
                                  </m:sSupPr>
                                  <m:e>
                                    <m:d>
                                      <m:dPr>
                                        <m:begChr m:val="‖"/>
                                        <m:endChr m:val="‖"/>
                                        <m:ctrlPr>
                                          <a:rPr lang="en-US" altLang="zh-TW" b="0" i="1" smtClean="0">
                                            <a:latin typeface="Cambria Math" panose="02040503050406030204" pitchFamily="18" charset="0"/>
                                          </a:rPr>
                                        </m:ctrlPr>
                                      </m:dPr>
                                      <m:e>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𝑏</m:t>
                                            </m:r>
                                          </m:e>
                                          <m:sub>
                                            <m:r>
                                              <a:rPr lang="en-US" altLang="zh-TW" b="0" i="1" smtClean="0">
                                                <a:latin typeface="Cambria Math" panose="02040503050406030204" pitchFamily="18" charset="0"/>
                                              </a:rPr>
                                              <m:t>𝐹𝐸𝑀</m:t>
                                            </m:r>
                                          </m:sub>
                                        </m:sSub>
                                      </m:e>
                                    </m:d>
                                  </m:e>
                                  <m:sup>
                                    <m:r>
                                      <a:rPr lang="en-US" altLang="zh-TW" b="0" i="1" smtClean="0">
                                        <a:latin typeface="Cambria Math" panose="02040503050406030204" pitchFamily="18" charset="0"/>
                                      </a:rPr>
                                      <m:t>2</m:t>
                                    </m:r>
                                  </m:sup>
                                </m:sSup>
                              </m:e>
                            </m:nary>
                          </m:den>
                        </m:f>
                      </m:e>
                    </m:rad>
                    <m:r>
                      <a:rPr lang="en-US" altLang="zh-TW" b="0" i="1" smtClean="0">
                        <a:latin typeface="Cambria Math" panose="02040503050406030204" pitchFamily="18" charset="0"/>
                        <a:ea typeface="Cambria Math" panose="02040503050406030204" pitchFamily="18" charset="0"/>
                      </a:rPr>
                      <m:t>×100</m:t>
                    </m:r>
                    <m:r>
                      <a:rPr lang="en-US" altLang="zh-TW" b="0" i="1" smtClean="0">
                        <a:latin typeface="Cambria Math" panose="02040503050406030204" pitchFamily="18" charset="0"/>
                      </a:rPr>
                      <m:t>=</m:t>
                    </m:r>
                    <m:r>
                      <a:rPr lang="en-US" altLang="zh-TW" b="0" i="1" smtClean="0">
                        <a:latin typeface="Cambria Math" panose="02040503050406030204" pitchFamily="18" charset="0"/>
                      </a:rPr>
                      <m:t>2.06</m:t>
                    </m:r>
                    <m:r>
                      <a:rPr lang="en-US" altLang="zh-TW" b="0" i="1" smtClean="0">
                        <a:latin typeface="Cambria Math" panose="02040503050406030204" pitchFamily="18" charset="0"/>
                      </a:rPr>
                      <m:t>%</m:t>
                    </m:r>
                    <m:r>
                      <m:rPr>
                        <m:nor/>
                      </m:rPr>
                      <a:rPr lang="en-US" altLang="zh-TW" dirty="0">
                        <a:ea typeface="Cambria Math" panose="02040503050406030204" pitchFamily="18" charset="0"/>
                      </a:rPr>
                      <m:t>(</m:t>
                    </m:r>
                    <m:r>
                      <m:rPr>
                        <m:nor/>
                      </m:rPr>
                      <a:rPr lang="en-US" altLang="zh-TW" b="0" i="0" dirty="0" smtClean="0">
                        <a:ea typeface="Cambria Math" panose="02040503050406030204" pitchFamily="18" charset="0"/>
                      </a:rPr>
                      <m:t>Eighteen</m:t>
                    </m:r>
                    <m:r>
                      <m:rPr>
                        <m:nor/>
                      </m:rPr>
                      <a:rPr lang="en-US" altLang="zh-TW" dirty="0">
                        <a:ea typeface="Cambria Math" panose="02040503050406030204" pitchFamily="18" charset="0"/>
                      </a:rPr>
                      <m:t> </m:t>
                    </m:r>
                    <m:r>
                      <m:rPr>
                        <m:nor/>
                      </m:rPr>
                      <a:rPr lang="en-US" altLang="zh-TW" dirty="0">
                        <a:ea typeface="Cambria Math" panose="02040503050406030204" pitchFamily="18" charset="0"/>
                      </a:rPr>
                      <m:t>parameters</m:t>
                    </m:r>
                    <m:r>
                      <m:rPr>
                        <m:nor/>
                      </m:rPr>
                      <a:rPr lang="en-US" altLang="zh-TW" dirty="0">
                        <a:ea typeface="Cambria Math" panose="02040503050406030204" pitchFamily="18" charset="0"/>
                      </a:rPr>
                      <m:t>)</m:t>
                    </m:r>
                  </m:oMath>
                </a14:m>
                <a:endParaRPr lang="en-US" altLang="zh-TW" dirty="0">
                  <a:ea typeface="Cambria Math" panose="02040503050406030204" pitchFamily="18" charset="0"/>
                </a:endParaRPr>
              </a:p>
              <a:p>
                <a:pPr lvl="1"/>
                <a:endParaRPr lang="en-US" altLang="zh-TW" b="0" dirty="0">
                  <a:ea typeface="Cambria Math" panose="02040503050406030204" pitchFamily="18" charset="0"/>
                </a:endParaRPr>
              </a:p>
              <a:p>
                <a:pPr marL="285750" indent="-285750">
                  <a:buFont typeface="Arial" panose="020B0604020202020204" pitchFamily="34" charset="0"/>
                  <a:buChar char="•"/>
                </a:pPr>
                <a:endParaRPr lang="en-US" altLang="zh-TW" b="0" dirty="0"/>
              </a:p>
              <a:p>
                <a:pPr lvl="1"/>
                <a:endParaRPr lang="zh-TW" altLang="en-US" dirty="0"/>
              </a:p>
            </p:txBody>
          </p:sp>
        </mc:Choice>
        <mc:Fallback>
          <p:sp>
            <p:nvSpPr>
              <p:cNvPr id="9" name="文字方塊 8">
                <a:extLst>
                  <a:ext uri="{FF2B5EF4-FFF2-40B4-BE49-F238E27FC236}">
                    <a16:creationId xmlns:a16="http://schemas.microsoft.com/office/drawing/2014/main" id="{95B9B500-BE39-4A2E-848D-C7FDE3646D2C}"/>
                  </a:ext>
                </a:extLst>
              </p:cNvPr>
              <p:cNvSpPr txBox="1">
                <a:spLocks noRot="1" noChangeAspect="1" noMove="1" noResize="1" noEditPoints="1" noAdjustHandles="1" noChangeArrowheads="1" noChangeShapeType="1" noTextEdit="1"/>
              </p:cNvSpPr>
              <p:nvPr/>
            </p:nvSpPr>
            <p:spPr>
              <a:xfrm>
                <a:off x="110067" y="504298"/>
                <a:ext cx="11137900" cy="5858783"/>
              </a:xfrm>
              <a:prstGeom prst="rect">
                <a:avLst/>
              </a:prstGeom>
              <a:blipFill>
                <a:blip r:embed="rId2"/>
                <a:stretch>
                  <a:fillRect l="-328" t="-624"/>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4207051437"/>
      </p:ext>
    </p:extLst>
  </p:cSld>
  <p:clrMapOvr>
    <a:masterClrMapping/>
  </p:clrMapOvr>
</p:sld>
</file>

<file path=ppt/theme/theme1.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9123</TotalTime>
  <Words>505</Words>
  <Application>Microsoft Office PowerPoint</Application>
  <PresentationFormat>寬螢幕</PresentationFormat>
  <Paragraphs>63</Paragraphs>
  <Slides>10</Slides>
  <Notes>0</Notes>
  <HiddenSlides>0</HiddenSlides>
  <MMClips>0</MMClips>
  <ScaleCrop>false</ScaleCrop>
  <HeadingPairs>
    <vt:vector size="6" baseType="variant">
      <vt:variant>
        <vt:lpstr>使用字型</vt:lpstr>
      </vt:variant>
      <vt:variant>
        <vt:i4>7</vt:i4>
      </vt:variant>
      <vt:variant>
        <vt:lpstr>佈景主題</vt:lpstr>
      </vt:variant>
      <vt:variant>
        <vt:i4>1</vt:i4>
      </vt:variant>
      <vt:variant>
        <vt:lpstr>投影片標題</vt:lpstr>
      </vt:variant>
      <vt:variant>
        <vt:i4>10</vt:i4>
      </vt:variant>
    </vt:vector>
  </HeadingPairs>
  <TitlesOfParts>
    <vt:vector size="18" baseType="lpstr">
      <vt:lpstr>Aptos</vt:lpstr>
      <vt:lpstr>Arial</vt:lpstr>
      <vt:lpstr>Calibri</vt:lpstr>
      <vt:lpstr>Calibri Light</vt:lpstr>
      <vt:lpstr>Cambria Math</vt:lpstr>
      <vt:lpstr>Times New Roman</vt:lpstr>
      <vt:lpstr>Wingdings</vt:lpstr>
      <vt:lpstr>Office 佈景主題</vt:lpstr>
      <vt:lpstr>A Lumped-Parameter Modeling, Calibration, and Capacity-Measure Framework for Flux Generation in Symmetric Multipole Electromagnetic Actuators </vt:lpstr>
      <vt:lpstr>Current-based lumped-parameter modeling and calibration </vt:lpstr>
      <vt:lpstr>Current-based lumped-parameter modeling and calibration </vt:lpstr>
      <vt:lpstr>Current-based lumped-parameter modeling and calibration </vt:lpstr>
      <vt:lpstr>Current-based lumped-parameter modeling and calibration </vt:lpstr>
      <vt:lpstr>Current-based lumped-parameter modeling and calibration </vt:lpstr>
      <vt:lpstr>Current-based lumped-parameter modeling and calibration </vt:lpstr>
      <vt:lpstr>Reference </vt:lpstr>
      <vt:lpstr>Reference </vt:lpstr>
      <vt:lpstr>Reference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Lumped-Parameter Modeling, Calibration, and Capacity-Measure Framework for Flux Generation in Symmetric Multipole Electromagnetic Actuators</dc:title>
  <dc:creator>郭建棋</dc:creator>
  <cp:lastModifiedBy>郭建棋</cp:lastModifiedBy>
  <cp:revision>104</cp:revision>
  <dcterms:created xsi:type="dcterms:W3CDTF">2026-07-23T11:39:15Z</dcterms:created>
  <dcterms:modified xsi:type="dcterms:W3CDTF">2026-08-03T04:35:11Z</dcterms:modified>
</cp:coreProperties>
</file>