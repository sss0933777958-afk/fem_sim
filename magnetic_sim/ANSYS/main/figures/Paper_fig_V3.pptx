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60" r:id="rId4"/>
    <p:sldId id="262" r:id="rId5"/>
    <p:sldId id="266" r:id="rId6"/>
    <p:sldId id="267" r:id="rId7"/>
    <p:sldId id="268" r:id="rId8"/>
    <p:sldId id="270" r:id="rId9"/>
    <p:sldId id="269" r:id="rId10"/>
    <p:sldId id="271" r:id="rId11"/>
    <p:sldId id="272" r:id="rId12"/>
    <p:sldId id="273" r:id="rId13"/>
    <p:sldId id="276" r:id="rId14"/>
    <p:sldId id="274" r:id="rId15"/>
    <p:sldId id="275" r:id="rId16"/>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3" d="100"/>
          <a:sy n="113" d="100"/>
        </p:scale>
        <p:origin x="510"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A313B5C-4451-4F85-8E22-4F6D30112120}"/>
              </a:ext>
            </a:extLst>
          </p:cNvPr>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a:extLst>
              <a:ext uri="{FF2B5EF4-FFF2-40B4-BE49-F238E27FC236}">
                <a16:creationId xmlns:a16="http://schemas.microsoft.com/office/drawing/2014/main" id="{438C9657-D53F-4E4F-9171-BAB7C00D96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p>
        </p:txBody>
      </p:sp>
      <p:sp>
        <p:nvSpPr>
          <p:cNvPr id="4" name="日期版面配置區 3">
            <a:extLst>
              <a:ext uri="{FF2B5EF4-FFF2-40B4-BE49-F238E27FC236}">
                <a16:creationId xmlns:a16="http://schemas.microsoft.com/office/drawing/2014/main" id="{ECB1CB1F-3023-4059-8D9C-CF5C75B6AF97}"/>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5" name="頁尾版面配置區 4">
            <a:extLst>
              <a:ext uri="{FF2B5EF4-FFF2-40B4-BE49-F238E27FC236}">
                <a16:creationId xmlns:a16="http://schemas.microsoft.com/office/drawing/2014/main" id="{88FDADB6-4903-41BB-BC87-020BA3FBD9C3}"/>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7EFCEFEA-DE84-42FC-BE56-10A71321A99D}"/>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33047085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98524EB-4587-44AF-A65F-8CBAAF65D917}"/>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5A2C5D94-2521-44B1-AF19-188FFBBD19CB}"/>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65882776-4508-4BB4-B95B-94CABBBA1DAA}"/>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5" name="頁尾版面配置區 4">
            <a:extLst>
              <a:ext uri="{FF2B5EF4-FFF2-40B4-BE49-F238E27FC236}">
                <a16:creationId xmlns:a16="http://schemas.microsoft.com/office/drawing/2014/main" id="{180C8587-132A-4FA1-AC7D-93EABEB0372F}"/>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08ABA0DE-C7B2-4848-95AC-5A3E7CA5644D}"/>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9099172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2A3930A-494A-46F3-88CB-96081BB0DBF6}"/>
              </a:ext>
            </a:extLst>
          </p:cNvPr>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a:extLst>
              <a:ext uri="{FF2B5EF4-FFF2-40B4-BE49-F238E27FC236}">
                <a16:creationId xmlns:a16="http://schemas.microsoft.com/office/drawing/2014/main" id="{0478FD7A-7A96-43E2-8961-E0DB15C178D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a:t>按一下以編輯母片文字樣式</a:t>
            </a:r>
          </a:p>
        </p:txBody>
      </p:sp>
      <p:sp>
        <p:nvSpPr>
          <p:cNvPr id="4" name="日期版面配置區 3">
            <a:extLst>
              <a:ext uri="{FF2B5EF4-FFF2-40B4-BE49-F238E27FC236}">
                <a16:creationId xmlns:a16="http://schemas.microsoft.com/office/drawing/2014/main" id="{7006FC20-C1D3-46B0-BF1E-03D546043D36}"/>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5" name="頁尾版面配置區 4">
            <a:extLst>
              <a:ext uri="{FF2B5EF4-FFF2-40B4-BE49-F238E27FC236}">
                <a16:creationId xmlns:a16="http://schemas.microsoft.com/office/drawing/2014/main" id="{C4F6D392-6F8A-4414-AA11-638326A9F37A}"/>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FE7B8EB7-22A4-447A-A525-998FA4AEC1F4}"/>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815723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732D765-AEAD-45D9-9508-FB7BE0E0289D}"/>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B12A380E-4D39-4CB1-A9B1-CAAAABD809C1}"/>
              </a:ext>
            </a:extLst>
          </p:cNvPr>
          <p:cNvSpPr>
            <a:spLocks noGrp="1"/>
          </p:cNvSpPr>
          <p:nvPr>
            <p:ph sz="half" idx="1"/>
          </p:nvPr>
        </p:nvSpPr>
        <p:spPr>
          <a:xfrm>
            <a:off x="838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a:extLst>
              <a:ext uri="{FF2B5EF4-FFF2-40B4-BE49-F238E27FC236}">
                <a16:creationId xmlns:a16="http://schemas.microsoft.com/office/drawing/2014/main" id="{E4303AA3-878B-45F8-A4E8-92FA10CD26BC}"/>
              </a:ext>
            </a:extLst>
          </p:cNvPr>
          <p:cNvSpPr>
            <a:spLocks noGrp="1"/>
          </p:cNvSpPr>
          <p:nvPr>
            <p:ph sz="half" idx="2"/>
          </p:nvPr>
        </p:nvSpPr>
        <p:spPr>
          <a:xfrm>
            <a:off x="6172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a:extLst>
              <a:ext uri="{FF2B5EF4-FFF2-40B4-BE49-F238E27FC236}">
                <a16:creationId xmlns:a16="http://schemas.microsoft.com/office/drawing/2014/main" id="{E9C1F139-09FB-4A94-AA83-54F2B93E6A60}"/>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6" name="頁尾版面配置區 5">
            <a:extLst>
              <a:ext uri="{FF2B5EF4-FFF2-40B4-BE49-F238E27FC236}">
                <a16:creationId xmlns:a16="http://schemas.microsoft.com/office/drawing/2014/main" id="{D42CB685-F91E-4E52-9043-88820ECAF738}"/>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5047ED7B-0BBB-48C6-8CBE-10F473361AD8}"/>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8634796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328D6F7-2A01-404A-8E60-308B5B2DF66A}"/>
              </a:ext>
            </a:extLst>
          </p:cNvPr>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a:extLst>
              <a:ext uri="{FF2B5EF4-FFF2-40B4-BE49-F238E27FC236}">
                <a16:creationId xmlns:a16="http://schemas.microsoft.com/office/drawing/2014/main" id="{F34BC229-0964-4EB2-A32F-3BE569B1158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a:extLst>
              <a:ext uri="{FF2B5EF4-FFF2-40B4-BE49-F238E27FC236}">
                <a16:creationId xmlns:a16="http://schemas.microsoft.com/office/drawing/2014/main" id="{FBDD00DB-A2AC-4093-9580-16DB7A5856B6}"/>
              </a:ext>
            </a:extLst>
          </p:cNvPr>
          <p:cNvSpPr>
            <a:spLocks noGrp="1"/>
          </p:cNvSpPr>
          <p:nvPr>
            <p:ph sz="half" idx="2"/>
          </p:nvPr>
        </p:nvSpPr>
        <p:spPr>
          <a:xfrm>
            <a:off x="839788" y="2505075"/>
            <a:ext cx="5157787"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a:extLst>
              <a:ext uri="{FF2B5EF4-FFF2-40B4-BE49-F238E27FC236}">
                <a16:creationId xmlns:a16="http://schemas.microsoft.com/office/drawing/2014/main" id="{D98E98D9-1B64-42E0-BF51-3948B6593DF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a:extLst>
              <a:ext uri="{FF2B5EF4-FFF2-40B4-BE49-F238E27FC236}">
                <a16:creationId xmlns:a16="http://schemas.microsoft.com/office/drawing/2014/main" id="{91B0C13F-E177-4192-B9A6-DEC49612F692}"/>
              </a:ext>
            </a:extLst>
          </p:cNvPr>
          <p:cNvSpPr>
            <a:spLocks noGrp="1"/>
          </p:cNvSpPr>
          <p:nvPr>
            <p:ph sz="quarter" idx="4"/>
          </p:nvPr>
        </p:nvSpPr>
        <p:spPr>
          <a:xfrm>
            <a:off x="6172200" y="2505075"/>
            <a:ext cx="5183188"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a:extLst>
              <a:ext uri="{FF2B5EF4-FFF2-40B4-BE49-F238E27FC236}">
                <a16:creationId xmlns:a16="http://schemas.microsoft.com/office/drawing/2014/main" id="{64F99ADD-F054-4E54-9158-162DB547028A}"/>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8" name="頁尾版面配置區 7">
            <a:extLst>
              <a:ext uri="{FF2B5EF4-FFF2-40B4-BE49-F238E27FC236}">
                <a16:creationId xmlns:a16="http://schemas.microsoft.com/office/drawing/2014/main" id="{56242129-DAAA-4FB1-8D26-7248AD72CF9B}"/>
              </a:ext>
            </a:extLst>
          </p:cNvPr>
          <p:cNvSpPr>
            <a:spLocks noGrp="1"/>
          </p:cNvSpPr>
          <p:nvPr>
            <p:ph type="ftr" sz="quarter" idx="11"/>
          </p:nvPr>
        </p:nvSpPr>
        <p:spPr/>
        <p:txBody>
          <a:bodyPr/>
          <a:lstStyle/>
          <a:p>
            <a:endParaRPr lang="zh-TW" altLang="en-US"/>
          </a:p>
        </p:txBody>
      </p:sp>
      <p:sp>
        <p:nvSpPr>
          <p:cNvPr id="9" name="投影片編號版面配置區 8">
            <a:extLst>
              <a:ext uri="{FF2B5EF4-FFF2-40B4-BE49-F238E27FC236}">
                <a16:creationId xmlns:a16="http://schemas.microsoft.com/office/drawing/2014/main" id="{FFDDDDE1-FD8E-4032-A6CC-B2F72DA857B5}"/>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857083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0A7E1C2-942A-47E2-9A00-0B52E276B5CF}"/>
              </a:ext>
            </a:extLst>
          </p:cNvPr>
          <p:cNvSpPr>
            <a:spLocks noGrp="1"/>
          </p:cNvSpPr>
          <p:nvPr>
            <p:ph type="title"/>
          </p:nvPr>
        </p:nvSpPr>
        <p:spPr/>
        <p:txBody>
          <a:bodyPr/>
          <a:lstStyle/>
          <a:p>
            <a:r>
              <a:rPr lang="zh-TW" altLang="en-US"/>
              <a:t>按一下以編輯母片標題樣式</a:t>
            </a:r>
          </a:p>
        </p:txBody>
      </p:sp>
      <p:sp>
        <p:nvSpPr>
          <p:cNvPr id="3" name="日期版面配置區 2">
            <a:extLst>
              <a:ext uri="{FF2B5EF4-FFF2-40B4-BE49-F238E27FC236}">
                <a16:creationId xmlns:a16="http://schemas.microsoft.com/office/drawing/2014/main" id="{1FEC29EA-2303-41C4-8179-5DF5AC137E66}"/>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4" name="頁尾版面配置區 3">
            <a:extLst>
              <a:ext uri="{FF2B5EF4-FFF2-40B4-BE49-F238E27FC236}">
                <a16:creationId xmlns:a16="http://schemas.microsoft.com/office/drawing/2014/main" id="{3A7E344C-546C-4B5B-948D-F248F196BFE4}"/>
              </a:ext>
            </a:extLst>
          </p:cNvPr>
          <p:cNvSpPr>
            <a:spLocks noGrp="1"/>
          </p:cNvSpPr>
          <p:nvPr>
            <p:ph type="ftr" sz="quarter" idx="11"/>
          </p:nvPr>
        </p:nvSpPr>
        <p:spPr/>
        <p:txBody>
          <a:bodyPr/>
          <a:lstStyle/>
          <a:p>
            <a:endParaRPr lang="zh-TW" altLang="en-US"/>
          </a:p>
        </p:txBody>
      </p:sp>
      <p:sp>
        <p:nvSpPr>
          <p:cNvPr id="5" name="投影片編號版面配置區 4">
            <a:extLst>
              <a:ext uri="{FF2B5EF4-FFF2-40B4-BE49-F238E27FC236}">
                <a16:creationId xmlns:a16="http://schemas.microsoft.com/office/drawing/2014/main" id="{BB0CE009-148B-41C4-9070-05067E45A9DE}"/>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677846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a:extLst>
              <a:ext uri="{FF2B5EF4-FFF2-40B4-BE49-F238E27FC236}">
                <a16:creationId xmlns:a16="http://schemas.microsoft.com/office/drawing/2014/main" id="{D54434E9-DB57-4C91-A8E8-AA7E4DE1E42C}"/>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3" name="頁尾版面配置區 2">
            <a:extLst>
              <a:ext uri="{FF2B5EF4-FFF2-40B4-BE49-F238E27FC236}">
                <a16:creationId xmlns:a16="http://schemas.microsoft.com/office/drawing/2014/main" id="{43CBD5B2-A875-4997-957A-2CACB4E8187F}"/>
              </a:ext>
            </a:extLst>
          </p:cNvPr>
          <p:cNvSpPr>
            <a:spLocks noGrp="1"/>
          </p:cNvSpPr>
          <p:nvPr>
            <p:ph type="ftr" sz="quarter" idx="11"/>
          </p:nvPr>
        </p:nvSpPr>
        <p:spPr/>
        <p:txBody>
          <a:bodyPr/>
          <a:lstStyle/>
          <a:p>
            <a:endParaRPr lang="zh-TW" altLang="en-US"/>
          </a:p>
        </p:txBody>
      </p:sp>
      <p:sp>
        <p:nvSpPr>
          <p:cNvPr id="4" name="投影片編號版面配置區 3">
            <a:extLst>
              <a:ext uri="{FF2B5EF4-FFF2-40B4-BE49-F238E27FC236}">
                <a16:creationId xmlns:a16="http://schemas.microsoft.com/office/drawing/2014/main" id="{1DAE9AF9-98E2-49BC-890E-C4901C5C96D7}"/>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9844740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37F9702-2F89-4C07-A091-A864CF9277AB}"/>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a:extLst>
              <a:ext uri="{FF2B5EF4-FFF2-40B4-BE49-F238E27FC236}">
                <a16:creationId xmlns:a16="http://schemas.microsoft.com/office/drawing/2014/main" id="{6B9A033B-67CA-4692-9F96-92929D8AB91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a:extLst>
              <a:ext uri="{FF2B5EF4-FFF2-40B4-BE49-F238E27FC236}">
                <a16:creationId xmlns:a16="http://schemas.microsoft.com/office/drawing/2014/main" id="{02A61FCE-0216-475F-8DCF-C058715F47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87370C5D-745A-4EAE-A151-2541003A35B9}"/>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6" name="頁尾版面配置區 5">
            <a:extLst>
              <a:ext uri="{FF2B5EF4-FFF2-40B4-BE49-F238E27FC236}">
                <a16:creationId xmlns:a16="http://schemas.microsoft.com/office/drawing/2014/main" id="{706460B0-32D4-4AFB-8A7E-846482505E3F}"/>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0AD132A3-0D89-4417-A7DF-5A8A018E485A}"/>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5177295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AC5306D-49B1-4801-B5D5-82BBCC509CAB}"/>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a:extLst>
              <a:ext uri="{FF2B5EF4-FFF2-40B4-BE49-F238E27FC236}">
                <a16:creationId xmlns:a16="http://schemas.microsoft.com/office/drawing/2014/main" id="{E5F20369-2E94-4C2E-B0A1-93ADA101D8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a:extLst>
              <a:ext uri="{FF2B5EF4-FFF2-40B4-BE49-F238E27FC236}">
                <a16:creationId xmlns:a16="http://schemas.microsoft.com/office/drawing/2014/main" id="{CAC760FC-4E62-42A9-8056-6EE8249B71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05BD4D67-FBFA-40B4-9C57-519B88B3EC42}"/>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6" name="頁尾版面配置區 5">
            <a:extLst>
              <a:ext uri="{FF2B5EF4-FFF2-40B4-BE49-F238E27FC236}">
                <a16:creationId xmlns:a16="http://schemas.microsoft.com/office/drawing/2014/main" id="{28A5B214-3FE3-41C8-BAAF-7E87C796FFF3}"/>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34F60CC2-E109-4719-875D-510BAD1DAF71}"/>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6151998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658099F-549D-41D0-8656-FC0BCFF0AC8B}"/>
              </a:ext>
            </a:extLst>
          </p:cNvPr>
          <p:cNvSpPr>
            <a:spLocks noGrp="1"/>
          </p:cNvSpPr>
          <p:nvPr>
            <p:ph type="title"/>
          </p:nvPr>
        </p:nvSpPr>
        <p:spPr/>
        <p:txBody>
          <a:bodyPr/>
          <a:lstStyle/>
          <a:p>
            <a:r>
              <a:rPr lang="zh-TW" altLang="en-US"/>
              <a:t>按一下以編輯母片標題樣式</a:t>
            </a:r>
          </a:p>
        </p:txBody>
      </p:sp>
      <p:sp>
        <p:nvSpPr>
          <p:cNvPr id="3" name="直排文字版面配置區 2">
            <a:extLst>
              <a:ext uri="{FF2B5EF4-FFF2-40B4-BE49-F238E27FC236}">
                <a16:creationId xmlns:a16="http://schemas.microsoft.com/office/drawing/2014/main" id="{9A026EBC-D2D7-4484-A574-A0FDADFD83EC}"/>
              </a:ext>
            </a:extLst>
          </p:cNvPr>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E955BDF0-F4E3-4A78-AC21-5996C7877466}"/>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5" name="頁尾版面配置區 4">
            <a:extLst>
              <a:ext uri="{FF2B5EF4-FFF2-40B4-BE49-F238E27FC236}">
                <a16:creationId xmlns:a16="http://schemas.microsoft.com/office/drawing/2014/main" id="{77A58278-9C37-44E9-A992-05A40C4C24BF}"/>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FEF221A9-3DF2-4243-8312-6B441A40B45B}"/>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639897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a:extLst>
              <a:ext uri="{FF2B5EF4-FFF2-40B4-BE49-F238E27FC236}">
                <a16:creationId xmlns:a16="http://schemas.microsoft.com/office/drawing/2014/main" id="{D407E2F2-53D7-4D47-8536-D902F65329D3}"/>
              </a:ext>
            </a:extLst>
          </p:cNvPr>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a:extLst>
              <a:ext uri="{FF2B5EF4-FFF2-40B4-BE49-F238E27FC236}">
                <a16:creationId xmlns:a16="http://schemas.microsoft.com/office/drawing/2014/main" id="{AEB11135-92E3-4798-9365-99DC4319D221}"/>
              </a:ext>
            </a:extLst>
          </p:cNvPr>
          <p:cNvSpPr>
            <a:spLocks noGrp="1"/>
          </p:cNvSpPr>
          <p:nvPr>
            <p:ph type="body" orient="vert" idx="1"/>
          </p:nvPr>
        </p:nvSpPr>
        <p:spPr>
          <a:xfrm>
            <a:off x="838200" y="365125"/>
            <a:ext cx="7734300" cy="5811838"/>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55D66D9F-EC40-4B77-81BD-B3B6ACD4C9DF}"/>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5" name="頁尾版面配置區 4">
            <a:extLst>
              <a:ext uri="{FF2B5EF4-FFF2-40B4-BE49-F238E27FC236}">
                <a16:creationId xmlns:a16="http://schemas.microsoft.com/office/drawing/2014/main" id="{328EDF41-8BB7-4F4D-866E-39DEF3CE579A}"/>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2A909E83-6E85-417E-A5C0-394F0D780B89}"/>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33666469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a:extLst>
              <a:ext uri="{FF2B5EF4-FFF2-40B4-BE49-F238E27FC236}">
                <a16:creationId xmlns:a16="http://schemas.microsoft.com/office/drawing/2014/main" id="{4809FC75-802D-4B19-AFA4-8A8D60B43C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a:extLst>
              <a:ext uri="{FF2B5EF4-FFF2-40B4-BE49-F238E27FC236}">
                <a16:creationId xmlns:a16="http://schemas.microsoft.com/office/drawing/2014/main" id="{3EE7658D-1874-4965-86A1-F9DC152E33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16D7FBAA-F52E-4E99-ABAC-AD4E8AA23C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D42070-5DAD-4E7E-A6F8-25E560BC7BBC}" type="datetimeFigureOut">
              <a:rPr lang="zh-TW" altLang="en-US" smtClean="0"/>
              <a:t>2026/7/28</a:t>
            </a:fld>
            <a:endParaRPr lang="zh-TW" altLang="en-US"/>
          </a:p>
        </p:txBody>
      </p:sp>
      <p:sp>
        <p:nvSpPr>
          <p:cNvPr id="5" name="頁尾版面配置區 4">
            <a:extLst>
              <a:ext uri="{FF2B5EF4-FFF2-40B4-BE49-F238E27FC236}">
                <a16:creationId xmlns:a16="http://schemas.microsoft.com/office/drawing/2014/main" id="{E5AA8CD1-761B-436C-81CD-04B671C3147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a:extLst>
              <a:ext uri="{FF2B5EF4-FFF2-40B4-BE49-F238E27FC236}">
                <a16:creationId xmlns:a16="http://schemas.microsoft.com/office/drawing/2014/main" id="{247BE989-E3A2-4C5A-A4B2-D5729A6C57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346709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0.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6.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 Id="rId9" Type="http://schemas.openxmlformats.org/officeDocument/2006/relationships/image" Target="../media/image27.png"/></Relationships>
</file>

<file path=ppt/slides/_rels/slide7.xml.rels><?xml version="1.0" encoding="UTF-8" standalone="yes"?>
<Relationships xmlns="http://schemas.openxmlformats.org/package/2006/relationships"><Relationship Id="rId13" Type="http://schemas.openxmlformats.org/officeDocument/2006/relationships/image" Target="../media/image35.png"/><Relationship Id="rId12" Type="http://schemas.openxmlformats.org/officeDocument/2006/relationships/image" Target="../media/image34.png"/><Relationship Id="rId2" Type="http://schemas.openxmlformats.org/officeDocument/2006/relationships/image" Target="../media/image41.png"/><Relationship Id="rId1" Type="http://schemas.openxmlformats.org/officeDocument/2006/relationships/slideLayout" Target="../slideLayouts/slideLayout2.xml"/><Relationship Id="rId11" Type="http://schemas.openxmlformats.org/officeDocument/2006/relationships/image" Target="../media/image29.png"/><Relationship Id="rId10" Type="http://schemas.openxmlformats.org/officeDocument/2006/relationships/image" Target="../media/image28.png"/><Relationship Id="rId9" Type="http://schemas.openxmlformats.org/officeDocument/2006/relationships/image" Target="../media/image48.png"/></Relationships>
</file>

<file path=ppt/slides/_rels/slide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3" Type="http://schemas.openxmlformats.org/officeDocument/2006/relationships/image" Target="../media/image40.png"/><Relationship Id="rId12" Type="http://schemas.openxmlformats.org/officeDocument/2006/relationships/image" Target="../media/image39.png"/><Relationship Id="rId2" Type="http://schemas.openxmlformats.org/officeDocument/2006/relationships/image" Target="../media/image33.png"/><Relationship Id="rId1" Type="http://schemas.openxmlformats.org/officeDocument/2006/relationships/slideLayout" Target="../slideLayouts/slideLayout2.xml"/><Relationship Id="rId11" Type="http://schemas.openxmlformats.org/officeDocument/2006/relationships/image" Target="../media/image38.png"/><Relationship Id="rId10" Type="http://schemas.openxmlformats.org/officeDocument/2006/relationships/image" Target="../media/image37.png"/><Relationship Id="rId9" Type="http://schemas.openxmlformats.org/officeDocument/2006/relationships/image" Target="../media/image58.png"/></Relationships>
</file>

<file path=ppt/slides/_rels/slide1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69.png"/><Relationship Id="rId3" Type="http://schemas.openxmlformats.org/officeDocument/2006/relationships/image" Target="../media/image44.png"/><Relationship Id="rId7" Type="http://schemas.openxmlformats.org/officeDocument/2006/relationships/image" Target="../media/image68.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66.png"/><Relationship Id="rId4" Type="http://schemas.openxmlformats.org/officeDocument/2006/relationships/image" Target="../media/image65.png"/></Relationships>
</file>

<file path=ppt/slides/_rels/slide13.xml.rels><?xml version="1.0" encoding="UTF-8" standalone="yes"?>
<Relationships xmlns="http://schemas.openxmlformats.org/package/2006/relationships"><Relationship Id="rId8" Type="http://schemas.openxmlformats.org/officeDocument/2006/relationships/image" Target="../media/image54.png"/><Relationship Id="rId13" Type="http://schemas.openxmlformats.org/officeDocument/2006/relationships/image" Target="../media/image61.png"/><Relationship Id="rId3" Type="http://schemas.openxmlformats.org/officeDocument/2006/relationships/image" Target="../media/image47.png"/><Relationship Id="rId7" Type="http://schemas.openxmlformats.org/officeDocument/2006/relationships/image" Target="../media/image53.png"/><Relationship Id="rId12" Type="http://schemas.openxmlformats.org/officeDocument/2006/relationships/image" Target="../media/image60.png"/><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52.png"/><Relationship Id="rId11" Type="http://schemas.openxmlformats.org/officeDocument/2006/relationships/image" Target="../media/image57.png"/><Relationship Id="rId5" Type="http://schemas.openxmlformats.org/officeDocument/2006/relationships/image" Target="../media/image51.png"/><Relationship Id="rId10" Type="http://schemas.openxmlformats.org/officeDocument/2006/relationships/image" Target="../media/image56.png"/><Relationship Id="rId4" Type="http://schemas.openxmlformats.org/officeDocument/2006/relationships/image" Target="../media/image50.png"/><Relationship Id="rId9" Type="http://schemas.openxmlformats.org/officeDocument/2006/relationships/image" Target="../media/image55.png"/></Relationships>
</file>

<file path=ppt/slides/_rels/slide14.xml.rels><?xml version="1.0" encoding="UTF-8" standalone="yes"?>
<Relationships xmlns="http://schemas.openxmlformats.org/package/2006/relationships"><Relationship Id="rId8" Type="http://schemas.openxmlformats.org/officeDocument/2006/relationships/image" Target="../media/image72.png"/><Relationship Id="rId13" Type="http://schemas.openxmlformats.org/officeDocument/2006/relationships/image" Target="../media/image77.png"/><Relationship Id="rId3" Type="http://schemas.openxmlformats.org/officeDocument/2006/relationships/image" Target="../media/image63.png"/><Relationship Id="rId7" Type="http://schemas.openxmlformats.org/officeDocument/2006/relationships/image" Target="../media/image71.png"/><Relationship Id="rId12" Type="http://schemas.openxmlformats.org/officeDocument/2006/relationships/image" Target="../media/image76.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70.png"/><Relationship Id="rId11" Type="http://schemas.openxmlformats.org/officeDocument/2006/relationships/image" Target="../media/image75.png"/><Relationship Id="rId5" Type="http://schemas.openxmlformats.org/officeDocument/2006/relationships/image" Target="../media/image67.png"/><Relationship Id="rId10" Type="http://schemas.openxmlformats.org/officeDocument/2006/relationships/image" Target="../media/image74.png"/><Relationship Id="rId4" Type="http://schemas.openxmlformats.org/officeDocument/2006/relationships/image" Target="../media/image64.png"/><Relationship Id="rId9" Type="http://schemas.openxmlformats.org/officeDocument/2006/relationships/image" Target="../media/image73.png"/><Relationship Id="rId14" Type="http://schemas.openxmlformats.org/officeDocument/2006/relationships/image" Target="../media/image78.png"/></Relationships>
</file>

<file path=ppt/slides/_rels/slide15.xml.rels><?xml version="1.0" encoding="UTF-8" standalone="yes"?>
<Relationships xmlns="http://schemas.openxmlformats.org/package/2006/relationships"><Relationship Id="rId8" Type="http://schemas.openxmlformats.org/officeDocument/2006/relationships/image" Target="../media/image83.png"/><Relationship Id="rId7" Type="http://schemas.openxmlformats.org/officeDocument/2006/relationships/image" Target="../media/image82.png"/><Relationship Id="rId12" Type="http://schemas.openxmlformats.org/officeDocument/2006/relationships/image" Target="../media/image87.png"/><Relationship Id="rId2" Type="http://schemas.openxmlformats.org/officeDocument/2006/relationships/image" Target="../media/image79.png"/><Relationship Id="rId1" Type="http://schemas.openxmlformats.org/officeDocument/2006/relationships/slideLayout" Target="../slideLayouts/slideLayout2.xml"/><Relationship Id="rId6" Type="http://schemas.openxmlformats.org/officeDocument/2006/relationships/image" Target="../media/image81.png"/><Relationship Id="rId11" Type="http://schemas.openxmlformats.org/officeDocument/2006/relationships/image" Target="../media/image86.png"/><Relationship Id="rId5" Type="http://schemas.openxmlformats.org/officeDocument/2006/relationships/image" Target="../media/image80.png"/><Relationship Id="rId10" Type="http://schemas.openxmlformats.org/officeDocument/2006/relationships/image" Target="../media/image85.png"/><Relationship Id="rId4" Type="http://schemas.openxmlformats.org/officeDocument/2006/relationships/image" Target="../media/image84.png"/><Relationship Id="rId9" Type="http://schemas.openxmlformats.org/officeDocument/2006/relationships/image" Target="../media/image8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A29E60B-ABEB-4B38-8D6C-620B64DB3808}"/>
              </a:ext>
            </a:extLst>
          </p:cNvPr>
          <p:cNvSpPr>
            <a:spLocks noGrp="1"/>
          </p:cNvSpPr>
          <p:nvPr>
            <p:ph type="ctrTitle"/>
          </p:nvPr>
        </p:nvSpPr>
        <p:spPr>
          <a:xfrm>
            <a:off x="423333" y="868362"/>
            <a:ext cx="11345334" cy="2387600"/>
          </a:xfrm>
        </p:spPr>
        <p:txBody>
          <a:bodyPr>
            <a:normAutofit/>
          </a:bodyPr>
          <a:lstStyle/>
          <a:p>
            <a:pPr>
              <a:lnSpc>
                <a:spcPct val="115000"/>
              </a:lnSpc>
              <a:spcAft>
                <a:spcPts val="100"/>
              </a:spcAft>
            </a:pPr>
            <a:r>
              <a:rPr lang="en-US" altLang="zh-TW" sz="2800" b="1" kern="100" dirty="0">
                <a:solidFill>
                  <a:srgbClr val="000000"/>
                </a:solidFill>
                <a:effectLst/>
                <a:latin typeface="Aptos"/>
                <a:ea typeface="新細明體" panose="02020500000000000000" pitchFamily="18" charset="-120"/>
                <a:cs typeface="Times New Roman" panose="02020603050405020304" pitchFamily="18" charset="0"/>
              </a:rPr>
              <a:t>A Lumped-Parameter Modeling, Calibration, and Capacity-Measure Framework for Flux Generation in Symmetric</a:t>
            </a:r>
            <a:br>
              <a:rPr lang="zh-TW" altLang="zh-TW" sz="2800" kern="100" dirty="0">
                <a:effectLst/>
                <a:latin typeface="Aptos"/>
                <a:ea typeface="新細明體" panose="02020500000000000000" pitchFamily="18" charset="-120"/>
                <a:cs typeface="Times New Roman" panose="02020603050405020304" pitchFamily="18" charset="0"/>
              </a:rPr>
            </a:br>
            <a:r>
              <a:rPr lang="en-US" altLang="zh-TW" sz="2800" b="1" dirty="0">
                <a:solidFill>
                  <a:srgbClr val="000000"/>
                </a:solidFill>
                <a:effectLst/>
                <a:latin typeface="Aptos"/>
                <a:ea typeface="新細明體" panose="02020500000000000000" pitchFamily="18" charset="-120"/>
                <a:cs typeface="Times New Roman" panose="02020603050405020304" pitchFamily="18" charset="0"/>
              </a:rPr>
              <a:t>Multipole Electromagnetic Actuators </a:t>
            </a:r>
            <a:endParaRPr lang="zh-TW" altLang="en-US" sz="8000" dirty="0"/>
          </a:p>
        </p:txBody>
      </p:sp>
      <p:sp>
        <p:nvSpPr>
          <p:cNvPr id="3" name="副標題 2">
            <a:extLst>
              <a:ext uri="{FF2B5EF4-FFF2-40B4-BE49-F238E27FC236}">
                <a16:creationId xmlns:a16="http://schemas.microsoft.com/office/drawing/2014/main" id="{19B95CEF-03F4-426E-B312-4404BF04FCFA}"/>
              </a:ext>
            </a:extLst>
          </p:cNvPr>
          <p:cNvSpPr>
            <a:spLocks noGrp="1"/>
          </p:cNvSpPr>
          <p:nvPr>
            <p:ph type="subTitle" idx="1"/>
          </p:nvPr>
        </p:nvSpPr>
        <p:spPr>
          <a:xfrm>
            <a:off x="1524000" y="4203171"/>
            <a:ext cx="9144000" cy="1655762"/>
          </a:xfrm>
        </p:spPr>
        <p:txBody>
          <a:bodyPr/>
          <a:lstStyle/>
          <a:p>
            <a:r>
              <a:rPr lang="en-US" altLang="zh-TW" sz="2800" b="1" kern="100" dirty="0">
                <a:solidFill>
                  <a:srgbClr val="000000"/>
                </a:solidFill>
                <a:latin typeface="Aptos"/>
                <a:ea typeface="新細明體" panose="02020500000000000000" pitchFamily="18" charset="-120"/>
                <a:cs typeface="Times New Roman" panose="02020603050405020304" pitchFamily="18" charset="0"/>
              </a:rPr>
              <a:t>KUO,CHIEN-CHI</a:t>
            </a:r>
            <a:endParaRPr lang="zh-TW" altLang="en-US" sz="2800" b="1" kern="100" dirty="0">
              <a:solidFill>
                <a:srgbClr val="000000"/>
              </a:solidFill>
              <a:latin typeface="Aptos"/>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4068006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 name="文字方塊 3">
            <a:extLst>
              <a:ext uri="{FF2B5EF4-FFF2-40B4-BE49-F238E27FC236}">
                <a16:creationId xmlns:a16="http://schemas.microsoft.com/office/drawing/2014/main" id="{7560EB76-638C-43CC-ABEA-EE55E408A666}"/>
              </a:ext>
            </a:extLst>
          </p:cNvPr>
          <p:cNvSpPr txBox="1"/>
          <p:nvPr/>
        </p:nvSpPr>
        <p:spPr>
          <a:xfrm>
            <a:off x="110067" y="308956"/>
            <a:ext cx="6324600" cy="390684"/>
          </a:xfrm>
          <a:prstGeom prst="rect">
            <a:avLst/>
          </a:prstGeom>
          <a:noFill/>
        </p:spPr>
        <p:txBody>
          <a:bodyPr wrap="square" rtlCol="0">
            <a:spAutoFit/>
          </a:bodyPr>
          <a:lstStyle/>
          <a:p>
            <a:pPr marL="342900" lvl="0" indent="-342900">
              <a:lnSpc>
                <a:spcPct val="115000"/>
              </a:lnSpc>
              <a:spcAft>
                <a:spcPts val="800"/>
              </a:spcAft>
              <a:buFont typeface="+mj-lt"/>
              <a:buAutoNum type="alphaUcPeriod"/>
            </a:pPr>
            <a:r>
              <a:rPr lang="en-US" altLang="zh-TW" sz="1800" i="1"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Multiple-electromagnetic-pole actuation</a:t>
            </a:r>
            <a:endParaRPr lang="zh-TW" altLang="zh-TW" sz="1800" i="1" kern="100" dirty="0">
              <a:effectLst/>
              <a:latin typeface="Aptos"/>
              <a:ea typeface="新細明體" panose="02020500000000000000" pitchFamily="18" charset="-120"/>
              <a:cs typeface="Times New Roman" panose="02020603050405020304" pitchFamily="18" charset="0"/>
            </a:endParaRPr>
          </a:p>
        </p:txBody>
      </p:sp>
      <p:sp>
        <p:nvSpPr>
          <p:cNvPr id="13" name="文字方塊 12">
            <a:extLst>
              <a:ext uri="{FF2B5EF4-FFF2-40B4-BE49-F238E27FC236}">
                <a16:creationId xmlns:a16="http://schemas.microsoft.com/office/drawing/2014/main" id="{23DE0321-051F-4463-A62F-589D2C2C0E2D}"/>
              </a:ext>
            </a:extLst>
          </p:cNvPr>
          <p:cNvSpPr txBox="1"/>
          <p:nvPr/>
        </p:nvSpPr>
        <p:spPr>
          <a:xfrm>
            <a:off x="110067" y="4839152"/>
            <a:ext cx="11904133" cy="1709892"/>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This figure shows the actuator coordinate system defined for the multipole electromagnetic actuator, with the corresponding magnetic pole numbers labeled. All subsequent model calibration and analysis are conducted in this coordinate system. In addition, the tips of the six magnetic poles lie on a common spherical surface, whose radius is determined by the geometric design of the magnetic tweezer.</a:t>
            </a:r>
            <a:endParaRPr lang="zh-TW" altLang="en-US" dirty="0">
              <a:latin typeface="Times New Roman" panose="02020603050405020304" pitchFamily="18" charset="0"/>
              <a:cs typeface="Times New Roman" panose="02020603050405020304" pitchFamily="18" charset="0"/>
            </a:endParaRPr>
          </a:p>
        </p:txBody>
      </p:sp>
      <p:grpSp>
        <p:nvGrpSpPr>
          <p:cNvPr id="38" name="群組 37">
            <a:extLst>
              <a:ext uri="{FF2B5EF4-FFF2-40B4-BE49-F238E27FC236}">
                <a16:creationId xmlns:a16="http://schemas.microsoft.com/office/drawing/2014/main" id="{AA62B6A9-7877-495D-B0BD-E5924BECB820}"/>
              </a:ext>
            </a:extLst>
          </p:cNvPr>
          <p:cNvGrpSpPr/>
          <p:nvPr/>
        </p:nvGrpSpPr>
        <p:grpSpPr>
          <a:xfrm>
            <a:off x="680041" y="786715"/>
            <a:ext cx="4247557" cy="4083724"/>
            <a:chOff x="1835121" y="897465"/>
            <a:chExt cx="4819678" cy="4812706"/>
          </a:xfrm>
        </p:grpSpPr>
        <p:pic>
          <p:nvPicPr>
            <p:cNvPr id="39" name="圖片 38">
              <a:extLst>
                <a:ext uri="{FF2B5EF4-FFF2-40B4-BE49-F238E27FC236}">
                  <a16:creationId xmlns:a16="http://schemas.microsoft.com/office/drawing/2014/main" id="{32AB840E-7D18-4046-9A2F-2F6AC1DAE2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65060" y="897465"/>
              <a:ext cx="4389739" cy="4463826"/>
            </a:xfrm>
            <a:prstGeom prst="rect">
              <a:avLst/>
            </a:prstGeom>
          </p:spPr>
        </p:pic>
        <mc:AlternateContent xmlns:mc="http://schemas.openxmlformats.org/markup-compatibility/2006">
          <mc:Choice xmlns:a14="http://schemas.microsoft.com/office/drawing/2010/main" Requires="a14">
            <p:sp>
              <p:nvSpPr>
                <p:cNvPr id="40" name="文字方塊 39">
                  <a:extLst>
                    <a:ext uri="{FF2B5EF4-FFF2-40B4-BE49-F238E27FC236}">
                      <a16:creationId xmlns:a16="http://schemas.microsoft.com/office/drawing/2014/main" id="{1D8A4C9E-9DB8-482A-BD04-44467C3D9608}"/>
                    </a:ext>
                  </a:extLst>
                </p:cNvPr>
                <p:cNvSpPr txBox="1"/>
                <p:nvPr/>
              </p:nvSpPr>
              <p:spPr>
                <a:xfrm rot="18912997">
                  <a:off x="2303014" y="4398496"/>
                  <a:ext cx="623961" cy="726755"/>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𝐱</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000" b="1" dirty="0"/>
                </a:p>
              </p:txBody>
            </p:sp>
          </mc:Choice>
          <mc:Fallback>
            <p:sp>
              <p:nvSpPr>
                <p:cNvPr id="40" name="文字方塊 39">
                  <a:extLst>
                    <a:ext uri="{FF2B5EF4-FFF2-40B4-BE49-F238E27FC236}">
                      <a16:creationId xmlns:a16="http://schemas.microsoft.com/office/drawing/2014/main" id="{1D8A4C9E-9DB8-482A-BD04-44467C3D9608}"/>
                    </a:ext>
                  </a:extLst>
                </p:cNvPr>
                <p:cNvSpPr txBox="1">
                  <a:spLocks noRot="1" noChangeAspect="1" noMove="1" noResize="1" noEditPoints="1" noAdjustHandles="1" noChangeArrowheads="1" noChangeShapeType="1" noTextEdit="1"/>
                </p:cNvSpPr>
                <p:nvPr/>
              </p:nvSpPr>
              <p:spPr>
                <a:xfrm rot="18912997">
                  <a:off x="2303014" y="4398496"/>
                  <a:ext cx="623961" cy="726755"/>
                </a:xfrm>
                <a:prstGeom prst="rect">
                  <a:avLst/>
                </a:prstGeom>
                <a:blipFill>
                  <a:blip r:embed="rId3"/>
                  <a:stretch>
                    <a:fillRect b="-2941"/>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41" name="文字方塊 40">
                  <a:extLst>
                    <a:ext uri="{FF2B5EF4-FFF2-40B4-BE49-F238E27FC236}">
                      <a16:creationId xmlns:a16="http://schemas.microsoft.com/office/drawing/2014/main" id="{2D066EE1-A98A-4568-B8A4-C73397C3BF73}"/>
                    </a:ext>
                  </a:extLst>
                </p:cNvPr>
                <p:cNvSpPr txBox="1"/>
                <p:nvPr/>
              </p:nvSpPr>
              <p:spPr>
                <a:xfrm rot="15569608">
                  <a:off x="5198718" y="5036276"/>
                  <a:ext cx="648055" cy="699735"/>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𝐲</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000" b="1" dirty="0"/>
                </a:p>
              </p:txBody>
            </p:sp>
          </mc:Choice>
          <mc:Fallback>
            <p:sp>
              <p:nvSpPr>
                <p:cNvPr id="41" name="文字方塊 40">
                  <a:extLst>
                    <a:ext uri="{FF2B5EF4-FFF2-40B4-BE49-F238E27FC236}">
                      <a16:creationId xmlns:a16="http://schemas.microsoft.com/office/drawing/2014/main" id="{2D066EE1-A98A-4568-B8A4-C73397C3BF73}"/>
                    </a:ext>
                  </a:extLst>
                </p:cNvPr>
                <p:cNvSpPr txBox="1">
                  <a:spLocks noRot="1" noChangeAspect="1" noMove="1" noResize="1" noEditPoints="1" noAdjustHandles="1" noChangeArrowheads="1" noChangeShapeType="1" noTextEdit="1"/>
                </p:cNvSpPr>
                <p:nvPr/>
              </p:nvSpPr>
              <p:spPr>
                <a:xfrm rot="15569608">
                  <a:off x="5198718" y="5036276"/>
                  <a:ext cx="648055" cy="699735"/>
                </a:xfrm>
                <a:prstGeom prst="rect">
                  <a:avLst/>
                </a:prstGeom>
                <a:blipFill>
                  <a:blip r:embed="rId4"/>
                  <a:stretch>
                    <a:fillRect r="-24786"/>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42" name="文字方塊 41">
                  <a:extLst>
                    <a:ext uri="{FF2B5EF4-FFF2-40B4-BE49-F238E27FC236}">
                      <a16:creationId xmlns:a16="http://schemas.microsoft.com/office/drawing/2014/main" id="{D10CA883-1346-42F7-8B76-2062F1364404}"/>
                    </a:ext>
                  </a:extLst>
                </p:cNvPr>
                <p:cNvSpPr txBox="1"/>
                <p:nvPr/>
              </p:nvSpPr>
              <p:spPr>
                <a:xfrm rot="10800000">
                  <a:off x="1835121" y="2500749"/>
                  <a:ext cx="623961" cy="719271"/>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𝐳</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000" b="1" dirty="0"/>
                </a:p>
              </p:txBody>
            </p:sp>
          </mc:Choice>
          <mc:Fallback>
            <p:sp>
              <p:nvSpPr>
                <p:cNvPr id="42" name="文字方塊 41">
                  <a:extLst>
                    <a:ext uri="{FF2B5EF4-FFF2-40B4-BE49-F238E27FC236}">
                      <a16:creationId xmlns:a16="http://schemas.microsoft.com/office/drawing/2014/main" id="{D10CA883-1346-42F7-8B76-2062F1364404}"/>
                    </a:ext>
                  </a:extLst>
                </p:cNvPr>
                <p:cNvSpPr txBox="1">
                  <a:spLocks noRot="1" noChangeAspect="1" noMove="1" noResize="1" noEditPoints="1" noAdjustHandles="1" noChangeArrowheads="1" noChangeShapeType="1" noTextEdit="1"/>
                </p:cNvSpPr>
                <p:nvPr/>
              </p:nvSpPr>
              <p:spPr>
                <a:xfrm rot="10800000">
                  <a:off x="1835121" y="2500749"/>
                  <a:ext cx="623961" cy="719271"/>
                </a:xfrm>
                <a:prstGeom prst="rect">
                  <a:avLst/>
                </a:prstGeom>
                <a:blipFill>
                  <a:blip r:embed="rId5"/>
                  <a:stretch>
                    <a:fillRect t="-35000"/>
                  </a:stretch>
                </a:blipFill>
              </p:spPr>
              <p:txBody>
                <a:bodyPr/>
                <a:lstStyle/>
                <a:p>
                  <a:r>
                    <a:rPr lang="zh-TW" altLang="en-US">
                      <a:noFill/>
                    </a:rPr>
                    <a:t> </a:t>
                  </a:r>
                </a:p>
              </p:txBody>
            </p:sp>
          </mc:Fallback>
        </mc:AlternateContent>
        <p:sp>
          <p:nvSpPr>
            <p:cNvPr id="43" name="文字方塊 42">
              <a:extLst>
                <a:ext uri="{FF2B5EF4-FFF2-40B4-BE49-F238E27FC236}">
                  <a16:creationId xmlns:a16="http://schemas.microsoft.com/office/drawing/2014/main" id="{9816DB7A-5600-4648-81CF-FC77A97F59A7}"/>
                </a:ext>
              </a:extLst>
            </p:cNvPr>
            <p:cNvSpPr txBox="1"/>
            <p:nvPr/>
          </p:nvSpPr>
          <p:spPr>
            <a:xfrm>
              <a:off x="3616323" y="1369932"/>
              <a:ext cx="591045" cy="471533"/>
            </a:xfrm>
            <a:prstGeom prst="rect">
              <a:avLst/>
            </a:prstGeom>
            <a:noFill/>
          </p:spPr>
          <p:txBody>
            <a:bodyPr vert="horz" wrap="square" rtlCol="0" anchor="ctr" anchorCtr="0">
              <a:spAutoFit/>
            </a:bodyPr>
            <a:lstStyle/>
            <a:p>
              <a:r>
                <a:rPr lang="en-US" altLang="zh-TW" sz="2000" b="1" dirty="0">
                  <a:solidFill>
                    <a:srgbClr val="FF0000"/>
                  </a:solidFill>
                  <a:latin typeface="Times New Roman" panose="02020603050405020304" pitchFamily="18" charset="0"/>
                  <a:cs typeface="Times New Roman" panose="02020603050405020304" pitchFamily="18" charset="0"/>
                </a:rPr>
                <a:t>P2</a:t>
              </a:r>
              <a:endParaRPr lang="zh-TW" altLang="en-US" sz="2000" b="1" dirty="0">
                <a:solidFill>
                  <a:srgbClr val="FF0000"/>
                </a:solidFill>
                <a:latin typeface="Times New Roman" panose="02020603050405020304" pitchFamily="18" charset="0"/>
                <a:cs typeface="Times New Roman" panose="02020603050405020304" pitchFamily="18" charset="0"/>
              </a:endParaRPr>
            </a:p>
          </p:txBody>
        </p:sp>
        <p:sp>
          <p:nvSpPr>
            <p:cNvPr id="44" name="文字方塊 43">
              <a:extLst>
                <a:ext uri="{FF2B5EF4-FFF2-40B4-BE49-F238E27FC236}">
                  <a16:creationId xmlns:a16="http://schemas.microsoft.com/office/drawing/2014/main" id="{B01D7049-DD29-4D0B-B2B1-625F6E20E98A}"/>
                </a:ext>
              </a:extLst>
            </p:cNvPr>
            <p:cNvSpPr txBox="1"/>
            <p:nvPr/>
          </p:nvSpPr>
          <p:spPr>
            <a:xfrm>
              <a:off x="5423731" y="4033461"/>
              <a:ext cx="591045" cy="471533"/>
            </a:xfrm>
            <a:prstGeom prst="rect">
              <a:avLst/>
            </a:prstGeom>
            <a:noFill/>
          </p:spPr>
          <p:txBody>
            <a:bodyPr vert="horz" wrap="square" rtlCol="0" anchor="ctr" anchorCtr="0">
              <a:spAutoFit/>
            </a:bodyPr>
            <a:lstStyle/>
            <a:p>
              <a:r>
                <a:rPr lang="en-US" altLang="zh-TW" sz="2000" b="1" dirty="0">
                  <a:solidFill>
                    <a:srgbClr val="FF0000"/>
                  </a:solidFill>
                  <a:latin typeface="Times New Roman" panose="02020603050405020304" pitchFamily="18" charset="0"/>
                  <a:cs typeface="Times New Roman" panose="02020603050405020304" pitchFamily="18" charset="0"/>
                </a:rPr>
                <a:t>P1</a:t>
              </a:r>
              <a:endParaRPr lang="zh-TW" altLang="en-US" sz="2000" b="1" dirty="0">
                <a:solidFill>
                  <a:srgbClr val="FF0000"/>
                </a:solidFill>
                <a:latin typeface="Times New Roman" panose="02020603050405020304" pitchFamily="18" charset="0"/>
                <a:cs typeface="Times New Roman" panose="02020603050405020304" pitchFamily="18" charset="0"/>
              </a:endParaRPr>
            </a:p>
          </p:txBody>
        </p:sp>
        <p:sp>
          <p:nvSpPr>
            <p:cNvPr id="45" name="文字方塊 44">
              <a:extLst>
                <a:ext uri="{FF2B5EF4-FFF2-40B4-BE49-F238E27FC236}">
                  <a16:creationId xmlns:a16="http://schemas.microsoft.com/office/drawing/2014/main" id="{986ADB67-D550-4D05-9BCC-7595C10496CC}"/>
                </a:ext>
              </a:extLst>
            </p:cNvPr>
            <p:cNvSpPr txBox="1"/>
            <p:nvPr/>
          </p:nvSpPr>
          <p:spPr>
            <a:xfrm>
              <a:off x="5527082" y="2879760"/>
              <a:ext cx="591045" cy="471533"/>
            </a:xfrm>
            <a:prstGeom prst="rect">
              <a:avLst/>
            </a:prstGeom>
            <a:noFill/>
          </p:spPr>
          <p:txBody>
            <a:bodyPr vert="horz" wrap="square" rtlCol="0" anchor="ctr" anchorCtr="0">
              <a:spAutoFit/>
            </a:bodyPr>
            <a:lstStyle/>
            <a:p>
              <a:r>
                <a:rPr lang="en-US" altLang="zh-TW" sz="2000" b="1" dirty="0">
                  <a:solidFill>
                    <a:srgbClr val="FF0000"/>
                  </a:solidFill>
                  <a:latin typeface="Times New Roman" panose="02020603050405020304" pitchFamily="18" charset="0"/>
                  <a:cs typeface="Times New Roman" panose="02020603050405020304" pitchFamily="18" charset="0"/>
                </a:rPr>
                <a:t>P3</a:t>
              </a:r>
              <a:endParaRPr lang="zh-TW" altLang="en-US" sz="2000" b="1" dirty="0">
                <a:solidFill>
                  <a:srgbClr val="FF0000"/>
                </a:solidFill>
                <a:latin typeface="Times New Roman" panose="02020603050405020304" pitchFamily="18" charset="0"/>
                <a:cs typeface="Times New Roman" panose="02020603050405020304" pitchFamily="18" charset="0"/>
              </a:endParaRPr>
            </a:p>
          </p:txBody>
        </p:sp>
        <p:sp>
          <p:nvSpPr>
            <p:cNvPr id="46" name="文字方塊 45">
              <a:extLst>
                <a:ext uri="{FF2B5EF4-FFF2-40B4-BE49-F238E27FC236}">
                  <a16:creationId xmlns:a16="http://schemas.microsoft.com/office/drawing/2014/main" id="{5A6023E5-6C81-4C53-ABB9-EF9DF517A728}"/>
                </a:ext>
              </a:extLst>
            </p:cNvPr>
            <p:cNvSpPr txBox="1"/>
            <p:nvPr/>
          </p:nvSpPr>
          <p:spPr>
            <a:xfrm>
              <a:off x="3616323" y="2110536"/>
              <a:ext cx="591045" cy="471533"/>
            </a:xfrm>
            <a:prstGeom prst="rect">
              <a:avLst/>
            </a:prstGeom>
            <a:noFill/>
          </p:spPr>
          <p:txBody>
            <a:bodyPr vert="horz" wrap="square" rtlCol="0" anchor="ctr" anchorCtr="0">
              <a:spAutoFit/>
            </a:bodyPr>
            <a:lstStyle/>
            <a:p>
              <a:r>
                <a:rPr lang="en-US" altLang="zh-TW" sz="2000" b="1" dirty="0">
                  <a:solidFill>
                    <a:srgbClr val="FF0000"/>
                  </a:solidFill>
                  <a:latin typeface="Times New Roman" panose="02020603050405020304" pitchFamily="18" charset="0"/>
                  <a:cs typeface="Times New Roman" panose="02020603050405020304" pitchFamily="18" charset="0"/>
                </a:rPr>
                <a:t>P4</a:t>
              </a:r>
              <a:endParaRPr lang="zh-TW" altLang="en-US" sz="2000" b="1" dirty="0">
                <a:solidFill>
                  <a:srgbClr val="FF0000"/>
                </a:solidFill>
                <a:latin typeface="Times New Roman" panose="02020603050405020304" pitchFamily="18" charset="0"/>
                <a:cs typeface="Times New Roman" panose="02020603050405020304" pitchFamily="18" charset="0"/>
              </a:endParaRPr>
            </a:p>
          </p:txBody>
        </p:sp>
        <p:sp>
          <p:nvSpPr>
            <p:cNvPr id="47" name="文字方塊 46">
              <a:extLst>
                <a:ext uri="{FF2B5EF4-FFF2-40B4-BE49-F238E27FC236}">
                  <a16:creationId xmlns:a16="http://schemas.microsoft.com/office/drawing/2014/main" id="{491E7F4D-D5D4-48A1-BCD7-01D13ADACFE0}"/>
                </a:ext>
              </a:extLst>
            </p:cNvPr>
            <p:cNvSpPr txBox="1"/>
            <p:nvPr/>
          </p:nvSpPr>
          <p:spPr>
            <a:xfrm>
              <a:off x="3020245" y="3220020"/>
              <a:ext cx="591045" cy="471533"/>
            </a:xfrm>
            <a:prstGeom prst="rect">
              <a:avLst/>
            </a:prstGeom>
            <a:noFill/>
          </p:spPr>
          <p:txBody>
            <a:bodyPr vert="horz" wrap="square" rtlCol="0" anchor="ctr" anchorCtr="0">
              <a:spAutoFit/>
            </a:bodyPr>
            <a:lstStyle/>
            <a:p>
              <a:r>
                <a:rPr lang="en-US" altLang="zh-TW" sz="2000" b="1" dirty="0">
                  <a:solidFill>
                    <a:srgbClr val="FF0000"/>
                  </a:solidFill>
                  <a:latin typeface="Times New Roman" panose="02020603050405020304" pitchFamily="18" charset="0"/>
                  <a:cs typeface="Times New Roman" panose="02020603050405020304" pitchFamily="18" charset="0"/>
                </a:rPr>
                <a:t>P6</a:t>
              </a:r>
              <a:endParaRPr lang="zh-TW" altLang="en-US" sz="2000" b="1" dirty="0">
                <a:solidFill>
                  <a:srgbClr val="FF0000"/>
                </a:solidFill>
                <a:latin typeface="Times New Roman" panose="02020603050405020304" pitchFamily="18" charset="0"/>
                <a:cs typeface="Times New Roman" panose="02020603050405020304" pitchFamily="18" charset="0"/>
              </a:endParaRPr>
            </a:p>
          </p:txBody>
        </p:sp>
        <p:sp>
          <p:nvSpPr>
            <p:cNvPr id="48" name="文字方塊 47">
              <a:extLst>
                <a:ext uri="{FF2B5EF4-FFF2-40B4-BE49-F238E27FC236}">
                  <a16:creationId xmlns:a16="http://schemas.microsoft.com/office/drawing/2014/main" id="{7AF339C0-5449-41BD-AC87-E12ABE856DA0}"/>
                </a:ext>
              </a:extLst>
            </p:cNvPr>
            <p:cNvSpPr txBox="1"/>
            <p:nvPr/>
          </p:nvSpPr>
          <p:spPr>
            <a:xfrm>
              <a:off x="5758370" y="1695649"/>
              <a:ext cx="591045" cy="471533"/>
            </a:xfrm>
            <a:prstGeom prst="rect">
              <a:avLst/>
            </a:prstGeom>
            <a:noFill/>
          </p:spPr>
          <p:txBody>
            <a:bodyPr vert="horz" wrap="square" rtlCol="0" anchor="ctr" anchorCtr="0">
              <a:spAutoFit/>
            </a:bodyPr>
            <a:lstStyle/>
            <a:p>
              <a:r>
                <a:rPr lang="en-US" altLang="zh-TW" sz="2000" b="1" dirty="0">
                  <a:solidFill>
                    <a:srgbClr val="FF0000"/>
                  </a:solidFill>
                  <a:latin typeface="Times New Roman" panose="02020603050405020304" pitchFamily="18" charset="0"/>
                  <a:cs typeface="Times New Roman" panose="02020603050405020304" pitchFamily="18" charset="0"/>
                </a:rPr>
                <a:t>P5</a:t>
              </a:r>
              <a:endParaRPr lang="zh-TW" altLang="en-US" sz="2000" b="1" dirty="0">
                <a:solidFill>
                  <a:srgbClr val="FF0000"/>
                </a:solidFill>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49" name="文字方塊 48">
                  <a:extLst>
                    <a:ext uri="{FF2B5EF4-FFF2-40B4-BE49-F238E27FC236}">
                      <a16:creationId xmlns:a16="http://schemas.microsoft.com/office/drawing/2014/main" id="{B00A9E93-BF26-4BA1-A4EB-7BCD8BBA08AF}"/>
                    </a:ext>
                  </a:extLst>
                </p:cNvPr>
                <p:cNvSpPr txBox="1"/>
                <p:nvPr/>
              </p:nvSpPr>
              <p:spPr>
                <a:xfrm>
                  <a:off x="4366476" y="3115526"/>
                  <a:ext cx="623935" cy="471533"/>
                </a:xfrm>
                <a:prstGeom prst="rect">
                  <a:avLst/>
                </a:prstGeom>
                <a:noFill/>
              </p:spPr>
              <p:txBody>
                <a:bodyPr vert="horz" wrap="square" rtlCol="0" anchor="ctr" anchorCtr="0">
                  <a:spAutoFit/>
                </a:bodyPr>
                <a:lstStyle/>
                <a:p>
                  <a:pPr/>
                  <a14:m>
                    <m:oMathPara xmlns:m="http://schemas.openxmlformats.org/officeDocument/2006/math">
                      <m:oMathParaPr>
                        <m:jc m:val="centerGroup"/>
                      </m:oMathParaPr>
                      <m:oMath xmlns:m="http://schemas.openxmlformats.org/officeDocument/2006/math">
                        <m:sSub>
                          <m:sSubPr>
                            <m:ctrlPr>
                              <a:rPr lang="en-US" altLang="zh-TW" sz="2000" b="1" smtClean="0">
                                <a:solidFill>
                                  <a:schemeClr val="accent1"/>
                                </a:solidFill>
                                <a:latin typeface="Cambria Math" panose="02040503050406030204" pitchFamily="18" charset="0"/>
                              </a:rPr>
                            </m:ctrlPr>
                          </m:sSubPr>
                          <m:e>
                            <m:r>
                              <a:rPr lang="en-US" altLang="zh-TW" sz="2000" b="1" i="0" smtClean="0">
                                <a:solidFill>
                                  <a:schemeClr val="accent1"/>
                                </a:solidFill>
                                <a:latin typeface="Cambria Math" panose="02040503050406030204" pitchFamily="18" charset="0"/>
                              </a:rPr>
                              <m:t>𝐱</m:t>
                            </m:r>
                          </m:e>
                          <m:sub>
                            <m:r>
                              <a:rPr lang="en-US" altLang="zh-TW" sz="2000" b="1" i="0" smtClean="0">
                                <a:solidFill>
                                  <a:schemeClr val="accent1"/>
                                </a:solidFill>
                                <a:latin typeface="Cambria Math" panose="02040503050406030204" pitchFamily="18" charset="0"/>
                              </a:rPr>
                              <m:t>𝐚</m:t>
                            </m:r>
                          </m:sub>
                        </m:sSub>
                      </m:oMath>
                    </m:oMathPara>
                  </a14:m>
                  <a:endParaRPr lang="zh-TW" altLang="en-US" sz="3200" b="1" dirty="0">
                    <a:solidFill>
                      <a:srgbClr val="FF0000"/>
                    </a:solidFill>
                    <a:latin typeface="Times New Roman" panose="02020603050405020304" pitchFamily="18" charset="0"/>
                    <a:cs typeface="Times New Roman" panose="02020603050405020304" pitchFamily="18" charset="0"/>
                  </a:endParaRPr>
                </a:p>
              </p:txBody>
            </p:sp>
          </mc:Choice>
          <mc:Fallback>
            <p:sp>
              <p:nvSpPr>
                <p:cNvPr id="49" name="文字方塊 48">
                  <a:extLst>
                    <a:ext uri="{FF2B5EF4-FFF2-40B4-BE49-F238E27FC236}">
                      <a16:creationId xmlns:a16="http://schemas.microsoft.com/office/drawing/2014/main" id="{B00A9E93-BF26-4BA1-A4EB-7BCD8BBA08AF}"/>
                    </a:ext>
                  </a:extLst>
                </p:cNvPr>
                <p:cNvSpPr txBox="1">
                  <a:spLocks noRot="1" noChangeAspect="1" noMove="1" noResize="1" noEditPoints="1" noAdjustHandles="1" noChangeArrowheads="1" noChangeShapeType="1" noTextEdit="1"/>
                </p:cNvSpPr>
                <p:nvPr/>
              </p:nvSpPr>
              <p:spPr>
                <a:xfrm>
                  <a:off x="4366476" y="3115526"/>
                  <a:ext cx="623935" cy="471533"/>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50" name="文字方塊 49">
                  <a:extLst>
                    <a:ext uri="{FF2B5EF4-FFF2-40B4-BE49-F238E27FC236}">
                      <a16:creationId xmlns:a16="http://schemas.microsoft.com/office/drawing/2014/main" id="{D4692E77-59D7-419B-A306-129394131306}"/>
                    </a:ext>
                  </a:extLst>
                </p:cNvPr>
                <p:cNvSpPr txBox="1"/>
                <p:nvPr/>
              </p:nvSpPr>
              <p:spPr>
                <a:xfrm>
                  <a:off x="4914360" y="2705631"/>
                  <a:ext cx="623935" cy="471533"/>
                </a:xfrm>
                <a:prstGeom prst="rect">
                  <a:avLst/>
                </a:prstGeom>
                <a:noFill/>
              </p:spPr>
              <p:txBody>
                <a:bodyPr vert="horz" wrap="square" rtlCol="0" anchor="ctr" anchorCtr="0">
                  <a:spAutoFit/>
                </a:bodyPr>
                <a:lstStyle/>
                <a:p>
                  <a:pPr/>
                  <a14:m>
                    <m:oMathPara xmlns:m="http://schemas.openxmlformats.org/officeDocument/2006/math">
                      <m:oMathParaPr>
                        <m:jc m:val="centerGroup"/>
                      </m:oMathParaPr>
                      <m:oMath xmlns:m="http://schemas.openxmlformats.org/officeDocument/2006/math">
                        <m:sSub>
                          <m:sSubPr>
                            <m:ctrlPr>
                              <a:rPr lang="en-US" altLang="zh-TW" sz="2000" b="1" smtClean="0">
                                <a:solidFill>
                                  <a:schemeClr val="accent1"/>
                                </a:solidFill>
                                <a:latin typeface="Cambria Math" panose="02040503050406030204" pitchFamily="18" charset="0"/>
                              </a:rPr>
                            </m:ctrlPr>
                          </m:sSubPr>
                          <m:e>
                            <m:r>
                              <a:rPr lang="en-US" altLang="zh-TW" sz="2000" b="1" i="0" smtClean="0">
                                <a:solidFill>
                                  <a:schemeClr val="accent1"/>
                                </a:solidFill>
                                <a:latin typeface="Cambria Math" panose="02040503050406030204" pitchFamily="18" charset="0"/>
                              </a:rPr>
                              <m:t>𝐲</m:t>
                            </m:r>
                          </m:e>
                          <m:sub>
                            <m:r>
                              <a:rPr lang="en-US" altLang="zh-TW" sz="2000" b="1" i="0" smtClean="0">
                                <a:solidFill>
                                  <a:schemeClr val="accent1"/>
                                </a:solidFill>
                                <a:latin typeface="Cambria Math" panose="02040503050406030204" pitchFamily="18" charset="0"/>
                              </a:rPr>
                              <m:t>𝐚</m:t>
                            </m:r>
                          </m:sub>
                        </m:sSub>
                      </m:oMath>
                    </m:oMathPara>
                  </a14:m>
                  <a:endParaRPr lang="zh-TW" altLang="en-US" sz="3200" b="1" dirty="0">
                    <a:solidFill>
                      <a:srgbClr val="FF0000"/>
                    </a:solidFill>
                    <a:latin typeface="Times New Roman" panose="02020603050405020304" pitchFamily="18" charset="0"/>
                    <a:cs typeface="Times New Roman" panose="02020603050405020304" pitchFamily="18" charset="0"/>
                  </a:endParaRPr>
                </a:p>
              </p:txBody>
            </p:sp>
          </mc:Choice>
          <mc:Fallback>
            <p:sp>
              <p:nvSpPr>
                <p:cNvPr id="50" name="文字方塊 49">
                  <a:extLst>
                    <a:ext uri="{FF2B5EF4-FFF2-40B4-BE49-F238E27FC236}">
                      <a16:creationId xmlns:a16="http://schemas.microsoft.com/office/drawing/2014/main" id="{D4692E77-59D7-419B-A306-129394131306}"/>
                    </a:ext>
                  </a:extLst>
                </p:cNvPr>
                <p:cNvSpPr txBox="1">
                  <a:spLocks noRot="1" noChangeAspect="1" noMove="1" noResize="1" noEditPoints="1" noAdjustHandles="1" noChangeArrowheads="1" noChangeShapeType="1" noTextEdit="1"/>
                </p:cNvSpPr>
                <p:nvPr/>
              </p:nvSpPr>
              <p:spPr>
                <a:xfrm>
                  <a:off x="4914360" y="2705631"/>
                  <a:ext cx="623935" cy="471533"/>
                </a:xfrm>
                <a:prstGeom prst="rect">
                  <a:avLst/>
                </a:prstGeom>
                <a:blipFill>
                  <a:blip r:embed="rId7"/>
                  <a:stretch>
                    <a:fillRect b="-10769"/>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51" name="文字方塊 50">
                  <a:extLst>
                    <a:ext uri="{FF2B5EF4-FFF2-40B4-BE49-F238E27FC236}">
                      <a16:creationId xmlns:a16="http://schemas.microsoft.com/office/drawing/2014/main" id="{FED75631-3C23-4326-928D-C25573DE51D4}"/>
                    </a:ext>
                  </a:extLst>
                </p:cNvPr>
                <p:cNvSpPr txBox="1"/>
                <p:nvPr/>
              </p:nvSpPr>
              <p:spPr>
                <a:xfrm>
                  <a:off x="4799795" y="2245806"/>
                  <a:ext cx="623935" cy="471533"/>
                </a:xfrm>
                <a:prstGeom prst="rect">
                  <a:avLst/>
                </a:prstGeom>
                <a:noFill/>
              </p:spPr>
              <p:txBody>
                <a:bodyPr vert="horz" wrap="square" rtlCol="0" anchor="ctr" anchorCtr="0">
                  <a:spAutoFit/>
                </a:bodyPr>
                <a:lstStyle/>
                <a:p>
                  <a:pPr/>
                  <a14:m>
                    <m:oMathPara xmlns:m="http://schemas.openxmlformats.org/officeDocument/2006/math">
                      <m:oMathParaPr>
                        <m:jc m:val="centerGroup"/>
                      </m:oMathParaPr>
                      <m:oMath xmlns:m="http://schemas.openxmlformats.org/officeDocument/2006/math">
                        <m:sSub>
                          <m:sSubPr>
                            <m:ctrlPr>
                              <a:rPr lang="en-US" altLang="zh-TW" sz="2000" b="1" smtClean="0">
                                <a:solidFill>
                                  <a:schemeClr val="accent1"/>
                                </a:solidFill>
                                <a:latin typeface="Cambria Math" panose="02040503050406030204" pitchFamily="18" charset="0"/>
                              </a:rPr>
                            </m:ctrlPr>
                          </m:sSubPr>
                          <m:e>
                            <m:r>
                              <a:rPr lang="en-US" altLang="zh-TW" sz="2000" b="1" i="0" smtClean="0">
                                <a:solidFill>
                                  <a:schemeClr val="accent1"/>
                                </a:solidFill>
                                <a:latin typeface="Cambria Math" panose="02040503050406030204" pitchFamily="18" charset="0"/>
                              </a:rPr>
                              <m:t>𝐳</m:t>
                            </m:r>
                          </m:e>
                          <m:sub>
                            <m:r>
                              <a:rPr lang="en-US" altLang="zh-TW" sz="2000" b="1" i="0" smtClean="0">
                                <a:solidFill>
                                  <a:schemeClr val="accent1"/>
                                </a:solidFill>
                                <a:latin typeface="Cambria Math" panose="02040503050406030204" pitchFamily="18" charset="0"/>
                              </a:rPr>
                              <m:t>𝐚</m:t>
                            </m:r>
                          </m:sub>
                        </m:sSub>
                      </m:oMath>
                    </m:oMathPara>
                  </a14:m>
                  <a:endParaRPr lang="zh-TW" altLang="en-US" sz="3200" b="1" dirty="0">
                    <a:solidFill>
                      <a:srgbClr val="FF0000"/>
                    </a:solidFill>
                    <a:latin typeface="Times New Roman" panose="02020603050405020304" pitchFamily="18" charset="0"/>
                    <a:cs typeface="Times New Roman" panose="02020603050405020304" pitchFamily="18" charset="0"/>
                  </a:endParaRPr>
                </a:p>
              </p:txBody>
            </p:sp>
          </mc:Choice>
          <mc:Fallback>
            <p:sp>
              <p:nvSpPr>
                <p:cNvPr id="51" name="文字方塊 50">
                  <a:extLst>
                    <a:ext uri="{FF2B5EF4-FFF2-40B4-BE49-F238E27FC236}">
                      <a16:creationId xmlns:a16="http://schemas.microsoft.com/office/drawing/2014/main" id="{FED75631-3C23-4326-928D-C25573DE51D4}"/>
                    </a:ext>
                  </a:extLst>
                </p:cNvPr>
                <p:cNvSpPr txBox="1">
                  <a:spLocks noRot="1" noChangeAspect="1" noMove="1" noResize="1" noEditPoints="1" noAdjustHandles="1" noChangeArrowheads="1" noChangeShapeType="1" noTextEdit="1"/>
                </p:cNvSpPr>
                <p:nvPr/>
              </p:nvSpPr>
              <p:spPr>
                <a:xfrm>
                  <a:off x="4799795" y="2245806"/>
                  <a:ext cx="623935" cy="471533"/>
                </a:xfrm>
                <a:prstGeom prst="rect">
                  <a:avLst/>
                </a:prstGeom>
                <a:blipFill>
                  <a:blip r:embed="rId8"/>
                  <a:stretch>
                    <a:fillRect/>
                  </a:stretch>
                </a:blipFill>
              </p:spPr>
              <p:txBody>
                <a:bodyPr/>
                <a:lstStyle/>
                <a:p>
                  <a:r>
                    <a:rPr lang="zh-TW" altLang="en-US">
                      <a:noFill/>
                    </a:rPr>
                    <a:t> </a:t>
                  </a:r>
                </a:p>
              </p:txBody>
            </p:sp>
          </mc:Fallback>
        </mc:AlternateContent>
      </p:grpSp>
    </p:spTree>
    <p:extLst>
      <p:ext uri="{BB962C8B-B14F-4D97-AF65-F5344CB8AC3E}">
        <p14:creationId xmlns:p14="http://schemas.microsoft.com/office/powerpoint/2010/main" val="22486274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 name="文字方塊 3">
            <a:extLst>
              <a:ext uri="{FF2B5EF4-FFF2-40B4-BE49-F238E27FC236}">
                <a16:creationId xmlns:a16="http://schemas.microsoft.com/office/drawing/2014/main" id="{7560EB76-638C-43CC-ABEA-EE55E408A666}"/>
              </a:ext>
            </a:extLst>
          </p:cNvPr>
          <p:cNvSpPr txBox="1"/>
          <p:nvPr/>
        </p:nvSpPr>
        <p:spPr>
          <a:xfrm>
            <a:off x="0" y="324377"/>
            <a:ext cx="6324600" cy="390684"/>
          </a:xfrm>
          <a:prstGeom prst="rect">
            <a:avLst/>
          </a:prstGeom>
          <a:noFill/>
        </p:spPr>
        <p:txBody>
          <a:bodyPr wrap="square" rtlCol="0">
            <a:spAutoFit/>
          </a:bodyPr>
          <a:lstStyle/>
          <a:p>
            <a:pPr marL="342900" indent="-342900">
              <a:lnSpc>
                <a:spcPct val="115000"/>
              </a:lnSpc>
              <a:spcAft>
                <a:spcPts val="800"/>
              </a:spcAft>
              <a:buFont typeface="+mj-lt"/>
              <a:buAutoNum type="alphaUcPeriod"/>
            </a:pP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Multiple-electromagnetic-pole actuation</a:t>
            </a:r>
            <a:endParaRPr lang="zh-TW"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endParaRPr>
          </a:p>
        </p:txBody>
      </p:sp>
      <p:sp>
        <p:nvSpPr>
          <p:cNvPr id="13" name="文字方塊 12">
            <a:extLst>
              <a:ext uri="{FF2B5EF4-FFF2-40B4-BE49-F238E27FC236}">
                <a16:creationId xmlns:a16="http://schemas.microsoft.com/office/drawing/2014/main" id="{23DE0321-051F-4463-A62F-589D2C2C0E2D}"/>
              </a:ext>
            </a:extLst>
          </p:cNvPr>
          <p:cNvSpPr txBox="1"/>
          <p:nvPr/>
        </p:nvSpPr>
        <p:spPr>
          <a:xfrm>
            <a:off x="139700" y="4718757"/>
            <a:ext cx="11802532" cy="170456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The simulation conditions are an excitation current of 1 A and a 70-turn coil, and the results shown are obtained from Long’s model. The left figure presents a top view of the magnetic flux path through the entire structure when pole P2 is excited. The magnetic flux emerges from pole P2, enters the other poles, and then returns through the yoke. The right figure is an enlarged view of the central region in the left figure, allowing the magnetic flux path to be observed more clearly.</a:t>
            </a:r>
            <a:endParaRPr lang="zh-TW" altLang="en-US" dirty="0">
              <a:latin typeface="Times New Roman" panose="02020603050405020304" pitchFamily="18" charset="0"/>
              <a:cs typeface="Times New Roman" panose="02020603050405020304" pitchFamily="18" charset="0"/>
            </a:endParaRPr>
          </a:p>
        </p:txBody>
      </p:sp>
      <p:grpSp>
        <p:nvGrpSpPr>
          <p:cNvPr id="6" name="群組 5">
            <a:extLst>
              <a:ext uri="{FF2B5EF4-FFF2-40B4-BE49-F238E27FC236}">
                <a16:creationId xmlns:a16="http://schemas.microsoft.com/office/drawing/2014/main" id="{6ACEBE40-98D9-4A5A-8905-7C5F258AD8ED}"/>
              </a:ext>
            </a:extLst>
          </p:cNvPr>
          <p:cNvGrpSpPr/>
          <p:nvPr/>
        </p:nvGrpSpPr>
        <p:grpSpPr>
          <a:xfrm>
            <a:off x="1876201" y="1036796"/>
            <a:ext cx="7920854" cy="3407507"/>
            <a:chOff x="1486734" y="1074423"/>
            <a:chExt cx="7920854" cy="3407507"/>
          </a:xfrm>
        </p:grpSpPr>
        <p:pic>
          <p:nvPicPr>
            <p:cNvPr id="5" name="圖片 4">
              <a:extLst>
                <a:ext uri="{FF2B5EF4-FFF2-40B4-BE49-F238E27FC236}">
                  <a16:creationId xmlns:a16="http://schemas.microsoft.com/office/drawing/2014/main" id="{DCE6BEAD-4874-4B1F-9882-79E0FE40DA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189" y="1080886"/>
              <a:ext cx="7772399" cy="3118488"/>
            </a:xfrm>
            <a:prstGeom prst="rect">
              <a:avLst/>
            </a:prstGeom>
          </p:spPr>
        </p:pic>
        <p:grpSp>
          <p:nvGrpSpPr>
            <p:cNvPr id="9" name="群組 8">
              <a:extLst>
                <a:ext uri="{FF2B5EF4-FFF2-40B4-BE49-F238E27FC236}">
                  <a16:creationId xmlns:a16="http://schemas.microsoft.com/office/drawing/2014/main" id="{63F53FDF-1E8F-42BC-9E62-338722C7CC60}"/>
                </a:ext>
              </a:extLst>
            </p:cNvPr>
            <p:cNvGrpSpPr/>
            <p:nvPr/>
          </p:nvGrpSpPr>
          <p:grpSpPr>
            <a:xfrm>
              <a:off x="1486734" y="1074423"/>
              <a:ext cx="6256580" cy="3407507"/>
              <a:chOff x="1512134" y="2427700"/>
              <a:chExt cx="6256580" cy="3407507"/>
            </a:xfrm>
          </p:grpSpPr>
          <mc:AlternateContent xmlns:mc="http://schemas.openxmlformats.org/markup-compatibility/2006">
            <mc:Choice xmlns:a14="http://schemas.microsoft.com/office/drawing/2010/main" Requires="a14">
              <p:sp>
                <p:nvSpPr>
                  <p:cNvPr id="30" name="文字方塊 29">
                    <a:extLst>
                      <a:ext uri="{FF2B5EF4-FFF2-40B4-BE49-F238E27FC236}">
                        <a16:creationId xmlns:a16="http://schemas.microsoft.com/office/drawing/2014/main" id="{48A5C6BB-931B-4F4B-A1BB-3497A0FDA336}"/>
                      </a:ext>
                    </a:extLst>
                  </p:cNvPr>
                  <p:cNvSpPr txBox="1"/>
                  <p:nvPr/>
                </p:nvSpPr>
                <p:spPr>
                  <a:xfrm>
                    <a:off x="6877444" y="5527430"/>
                    <a:ext cx="891270"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𝐱</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400" b="1" dirty="0"/>
                  </a:p>
                </p:txBody>
              </p:sp>
            </mc:Choice>
            <mc:Fallback>
              <p:sp>
                <p:nvSpPr>
                  <p:cNvPr id="30" name="文字方塊 29">
                    <a:extLst>
                      <a:ext uri="{FF2B5EF4-FFF2-40B4-BE49-F238E27FC236}">
                        <a16:creationId xmlns:a16="http://schemas.microsoft.com/office/drawing/2014/main" id="{48A5C6BB-931B-4F4B-A1BB-3497A0FDA336}"/>
                      </a:ext>
                    </a:extLst>
                  </p:cNvPr>
                  <p:cNvSpPr txBox="1">
                    <a:spLocks noRot="1" noChangeAspect="1" noMove="1" noResize="1" noEditPoints="1" noAdjustHandles="1" noChangeArrowheads="1" noChangeShapeType="1" noTextEdit="1"/>
                  </p:cNvSpPr>
                  <p:nvPr/>
                </p:nvSpPr>
                <p:spPr>
                  <a:xfrm>
                    <a:off x="6877444" y="5527430"/>
                    <a:ext cx="891270" cy="307777"/>
                  </a:xfrm>
                  <a:prstGeom prst="rect">
                    <a:avLst/>
                  </a:prstGeom>
                  <a:blipFill>
                    <a:blip r:embed="rId3"/>
                    <a:stretch>
                      <a:fillRect l="-2740" t="-4000" r="-8904" b="-36000"/>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1" name="文字方塊 30">
                    <a:extLst>
                      <a:ext uri="{FF2B5EF4-FFF2-40B4-BE49-F238E27FC236}">
                        <a16:creationId xmlns:a16="http://schemas.microsoft.com/office/drawing/2014/main" id="{BF3B71D8-6AC7-44F0-B911-59DBD9506675}"/>
                      </a:ext>
                    </a:extLst>
                  </p:cNvPr>
                  <p:cNvSpPr txBox="1"/>
                  <p:nvPr/>
                </p:nvSpPr>
                <p:spPr>
                  <a:xfrm rot="16200000">
                    <a:off x="4996409" y="3622186"/>
                    <a:ext cx="8976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𝐲</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400" b="1" dirty="0"/>
                  </a:p>
                </p:txBody>
              </p:sp>
            </mc:Choice>
            <mc:Fallback>
              <p:sp>
                <p:nvSpPr>
                  <p:cNvPr id="31" name="文字方塊 30">
                    <a:extLst>
                      <a:ext uri="{FF2B5EF4-FFF2-40B4-BE49-F238E27FC236}">
                        <a16:creationId xmlns:a16="http://schemas.microsoft.com/office/drawing/2014/main" id="{BF3B71D8-6AC7-44F0-B911-59DBD9506675}"/>
                      </a:ext>
                    </a:extLst>
                  </p:cNvPr>
                  <p:cNvSpPr txBox="1">
                    <a:spLocks noRot="1" noChangeAspect="1" noMove="1" noResize="1" noEditPoints="1" noAdjustHandles="1" noChangeArrowheads="1" noChangeShapeType="1" noTextEdit="1"/>
                  </p:cNvSpPr>
                  <p:nvPr/>
                </p:nvSpPr>
                <p:spPr>
                  <a:xfrm rot="16200000">
                    <a:off x="4996409" y="3622186"/>
                    <a:ext cx="897682" cy="307777"/>
                  </a:xfrm>
                  <a:prstGeom prst="rect">
                    <a:avLst/>
                  </a:prstGeom>
                  <a:blipFill>
                    <a:blip r:embed="rId4"/>
                    <a:stretch>
                      <a:fillRect l="-4000" t="-8844" r="-36000" b="-5442"/>
                    </a:stretch>
                  </a:blipFill>
                </p:spPr>
                <p:txBody>
                  <a:bodyPr/>
                  <a:lstStyle/>
                  <a:p>
                    <a:r>
                      <a:rPr lang="zh-TW" altLang="en-US">
                        <a:noFill/>
                      </a:rPr>
                      <a:t> </a:t>
                    </a:r>
                  </a:p>
                </p:txBody>
              </p:sp>
            </mc:Fallback>
          </mc:AlternateContent>
          <p:sp>
            <p:nvSpPr>
              <p:cNvPr id="11" name="文字方塊 10">
                <a:extLst>
                  <a:ext uri="{FF2B5EF4-FFF2-40B4-BE49-F238E27FC236}">
                    <a16:creationId xmlns:a16="http://schemas.microsoft.com/office/drawing/2014/main" id="{8AE40657-1031-448C-A4D9-24F68F910341}"/>
                  </a:ext>
                </a:extLst>
              </p:cNvPr>
              <p:cNvSpPr txBox="1"/>
              <p:nvPr/>
            </p:nvSpPr>
            <p:spPr>
              <a:xfrm>
                <a:off x="4809071" y="3638435"/>
                <a:ext cx="516466" cy="400110"/>
              </a:xfrm>
              <a:prstGeom prst="rect">
                <a:avLst/>
              </a:prstGeom>
              <a:noFill/>
            </p:spPr>
            <p:txBody>
              <a:bodyPr wrap="square" rtlCol="0">
                <a:spAutoFit/>
              </a:bodyPr>
              <a:lstStyle/>
              <a:p>
                <a:r>
                  <a:rPr lang="en-US" altLang="zh-TW" sz="2000" b="1" dirty="0">
                    <a:solidFill>
                      <a:srgbClr val="FF0000"/>
                    </a:solidFill>
                    <a:latin typeface="Times New Roman" panose="02020603050405020304" pitchFamily="18" charset="0"/>
                    <a:cs typeface="Times New Roman" panose="02020603050405020304" pitchFamily="18" charset="0"/>
                  </a:rPr>
                  <a:t>P1</a:t>
                </a:r>
                <a:endParaRPr lang="zh-TW" altLang="en-US" sz="2000" b="1" dirty="0">
                  <a:solidFill>
                    <a:srgbClr val="FF0000"/>
                  </a:solidFill>
                  <a:latin typeface="Times New Roman" panose="02020603050405020304" pitchFamily="18" charset="0"/>
                  <a:cs typeface="Times New Roman" panose="02020603050405020304" pitchFamily="18" charset="0"/>
                </a:endParaRPr>
              </a:p>
            </p:txBody>
          </p:sp>
          <p:sp>
            <p:nvSpPr>
              <p:cNvPr id="15" name="文字方塊 14">
                <a:extLst>
                  <a:ext uri="{FF2B5EF4-FFF2-40B4-BE49-F238E27FC236}">
                    <a16:creationId xmlns:a16="http://schemas.microsoft.com/office/drawing/2014/main" id="{D72E3C9E-F1C5-4412-9D66-FFC829DEB1D9}"/>
                  </a:ext>
                </a:extLst>
              </p:cNvPr>
              <p:cNvSpPr txBox="1"/>
              <p:nvPr/>
            </p:nvSpPr>
            <p:spPr>
              <a:xfrm>
                <a:off x="4165602" y="2427700"/>
                <a:ext cx="516466" cy="400110"/>
              </a:xfrm>
              <a:prstGeom prst="rect">
                <a:avLst/>
              </a:prstGeom>
              <a:noFill/>
            </p:spPr>
            <p:txBody>
              <a:bodyPr wrap="square" rtlCol="0">
                <a:spAutoFit/>
              </a:bodyPr>
              <a:lstStyle/>
              <a:p>
                <a:r>
                  <a:rPr lang="en-US" altLang="zh-TW" sz="2000" b="1" dirty="0">
                    <a:solidFill>
                      <a:srgbClr val="FF0000"/>
                    </a:solidFill>
                    <a:latin typeface="Times New Roman" panose="02020603050405020304" pitchFamily="18" charset="0"/>
                    <a:cs typeface="Times New Roman" panose="02020603050405020304" pitchFamily="18" charset="0"/>
                  </a:rPr>
                  <a:t>P5</a:t>
                </a:r>
                <a:endParaRPr lang="zh-TW" altLang="en-US" sz="2000" b="1" dirty="0">
                  <a:solidFill>
                    <a:srgbClr val="FF0000"/>
                  </a:solidFill>
                  <a:latin typeface="Times New Roman" panose="02020603050405020304" pitchFamily="18" charset="0"/>
                  <a:cs typeface="Times New Roman" panose="02020603050405020304" pitchFamily="18" charset="0"/>
                </a:endParaRPr>
              </a:p>
            </p:txBody>
          </p:sp>
          <p:sp>
            <p:nvSpPr>
              <p:cNvPr id="14" name="文字方塊 13">
                <a:extLst>
                  <a:ext uri="{FF2B5EF4-FFF2-40B4-BE49-F238E27FC236}">
                    <a16:creationId xmlns:a16="http://schemas.microsoft.com/office/drawing/2014/main" id="{6EBE3124-E78F-43FB-9199-917095FCC580}"/>
                  </a:ext>
                </a:extLst>
              </p:cNvPr>
              <p:cNvSpPr txBox="1"/>
              <p:nvPr/>
            </p:nvSpPr>
            <p:spPr>
              <a:xfrm>
                <a:off x="2489202" y="2447223"/>
                <a:ext cx="516466" cy="400110"/>
              </a:xfrm>
              <a:prstGeom prst="rect">
                <a:avLst/>
              </a:prstGeom>
              <a:noFill/>
            </p:spPr>
            <p:txBody>
              <a:bodyPr wrap="square" rtlCol="0">
                <a:spAutoFit/>
              </a:bodyPr>
              <a:lstStyle/>
              <a:p>
                <a:r>
                  <a:rPr lang="en-US" altLang="zh-TW" sz="2000" b="1" dirty="0">
                    <a:solidFill>
                      <a:srgbClr val="FF0000"/>
                    </a:solidFill>
                    <a:latin typeface="Times New Roman" panose="02020603050405020304" pitchFamily="18" charset="0"/>
                    <a:cs typeface="Times New Roman" panose="02020603050405020304" pitchFamily="18" charset="0"/>
                  </a:rPr>
                  <a:t>P3</a:t>
                </a:r>
                <a:endParaRPr lang="zh-TW" altLang="en-US" sz="2000" b="1" dirty="0">
                  <a:solidFill>
                    <a:srgbClr val="FF0000"/>
                  </a:solidFill>
                  <a:latin typeface="Times New Roman" panose="02020603050405020304" pitchFamily="18" charset="0"/>
                  <a:cs typeface="Times New Roman" panose="02020603050405020304" pitchFamily="18" charset="0"/>
                </a:endParaRPr>
              </a:p>
            </p:txBody>
          </p:sp>
          <p:sp>
            <p:nvSpPr>
              <p:cNvPr id="20" name="文字方塊 19">
                <a:extLst>
                  <a:ext uri="{FF2B5EF4-FFF2-40B4-BE49-F238E27FC236}">
                    <a16:creationId xmlns:a16="http://schemas.microsoft.com/office/drawing/2014/main" id="{B0FDEC11-AEB6-4036-8112-D94BFF1A310A}"/>
                  </a:ext>
                </a:extLst>
              </p:cNvPr>
              <p:cNvSpPr txBox="1"/>
              <p:nvPr/>
            </p:nvSpPr>
            <p:spPr>
              <a:xfrm>
                <a:off x="4165602" y="4806832"/>
                <a:ext cx="516466" cy="400110"/>
              </a:xfrm>
              <a:prstGeom prst="rect">
                <a:avLst/>
              </a:prstGeom>
              <a:noFill/>
            </p:spPr>
            <p:txBody>
              <a:bodyPr wrap="square" rtlCol="0">
                <a:spAutoFit/>
              </a:bodyPr>
              <a:lstStyle/>
              <a:p>
                <a:r>
                  <a:rPr lang="en-US" altLang="zh-TW" sz="2000" b="1" dirty="0">
                    <a:solidFill>
                      <a:srgbClr val="FF0000"/>
                    </a:solidFill>
                    <a:latin typeface="Times New Roman" panose="02020603050405020304" pitchFamily="18" charset="0"/>
                    <a:cs typeface="Times New Roman" panose="02020603050405020304" pitchFamily="18" charset="0"/>
                  </a:rPr>
                  <a:t>P4</a:t>
                </a:r>
                <a:endParaRPr lang="zh-TW" altLang="en-US" sz="2000" b="1" dirty="0">
                  <a:solidFill>
                    <a:srgbClr val="FF0000"/>
                  </a:solidFill>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28" name="文字方塊 27">
                    <a:extLst>
                      <a:ext uri="{FF2B5EF4-FFF2-40B4-BE49-F238E27FC236}">
                        <a16:creationId xmlns:a16="http://schemas.microsoft.com/office/drawing/2014/main" id="{A78EBD6D-62AE-441A-90B8-C293F22D1BA0}"/>
                      </a:ext>
                    </a:extLst>
                  </p:cNvPr>
                  <p:cNvSpPr txBox="1"/>
                  <p:nvPr/>
                </p:nvSpPr>
                <p:spPr>
                  <a:xfrm>
                    <a:off x="3187700" y="5548720"/>
                    <a:ext cx="78867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1" i="0" smtClean="0">
                              <a:latin typeface="Cambria Math" panose="02040503050406030204" pitchFamily="18" charset="0"/>
                            </a:rPr>
                            <m:t>𝐱</m:t>
                          </m:r>
                          <m:r>
                            <a:rPr lang="en-US" altLang="zh-TW" b="1" i="0" smtClean="0">
                              <a:latin typeface="Cambria Math" panose="02040503050406030204" pitchFamily="18" charset="0"/>
                            </a:rPr>
                            <m:t>(</m:t>
                          </m:r>
                          <m:r>
                            <a:rPr lang="en-US" altLang="zh-TW" b="1" i="0" smtClean="0">
                              <a:latin typeface="Cambria Math" panose="02040503050406030204" pitchFamily="18" charset="0"/>
                            </a:rPr>
                            <m:t>𝐦𝐦</m:t>
                          </m:r>
                          <m:r>
                            <a:rPr lang="en-US" altLang="zh-TW" b="1" i="0" smtClean="0">
                              <a:latin typeface="Cambria Math" panose="02040503050406030204" pitchFamily="18" charset="0"/>
                            </a:rPr>
                            <m:t>)</m:t>
                          </m:r>
                        </m:oMath>
                      </m:oMathPara>
                    </a14:m>
                    <a:endParaRPr lang="zh-TW" altLang="en-US" sz="2000" b="1" dirty="0">
                      <a:latin typeface="Times New Roman" panose="02020603050405020304" pitchFamily="18" charset="0"/>
                      <a:cs typeface="Times New Roman" panose="02020603050405020304" pitchFamily="18" charset="0"/>
                    </a:endParaRPr>
                  </a:p>
                </p:txBody>
              </p:sp>
            </mc:Choice>
            <mc:Fallback>
              <p:sp>
                <p:nvSpPr>
                  <p:cNvPr id="28" name="文字方塊 27">
                    <a:extLst>
                      <a:ext uri="{FF2B5EF4-FFF2-40B4-BE49-F238E27FC236}">
                        <a16:creationId xmlns:a16="http://schemas.microsoft.com/office/drawing/2014/main" id="{A78EBD6D-62AE-441A-90B8-C293F22D1BA0}"/>
                      </a:ext>
                    </a:extLst>
                  </p:cNvPr>
                  <p:cNvSpPr txBox="1">
                    <a:spLocks noRot="1" noChangeAspect="1" noMove="1" noResize="1" noEditPoints="1" noAdjustHandles="1" noChangeArrowheads="1" noChangeShapeType="1" noTextEdit="1"/>
                  </p:cNvSpPr>
                  <p:nvPr/>
                </p:nvSpPr>
                <p:spPr>
                  <a:xfrm>
                    <a:off x="3187700" y="5548720"/>
                    <a:ext cx="788677" cy="276999"/>
                  </a:xfrm>
                  <a:prstGeom prst="rect">
                    <a:avLst/>
                  </a:prstGeom>
                  <a:blipFill>
                    <a:blip r:embed="rId5"/>
                    <a:stretch>
                      <a:fillRect l="-3876" r="-10853" b="-37778"/>
                    </a:stretch>
                  </a:blipFill>
                </p:spPr>
                <p:txBody>
                  <a:bodyPr/>
                  <a:lstStyle/>
                  <a:p>
                    <a:r>
                      <a:rPr lang="zh-TW" altLang="en-US">
                        <a:noFill/>
                      </a:rPr>
                      <a:t> </a:t>
                    </a:r>
                  </a:p>
                </p:txBody>
              </p:sp>
            </mc:Fallback>
          </mc:AlternateContent>
          <p:sp>
            <p:nvSpPr>
              <p:cNvPr id="17" name="文字方塊 16">
                <a:extLst>
                  <a:ext uri="{FF2B5EF4-FFF2-40B4-BE49-F238E27FC236}">
                    <a16:creationId xmlns:a16="http://schemas.microsoft.com/office/drawing/2014/main" id="{193AEBC4-A127-4463-AACD-719EFC10D233}"/>
                  </a:ext>
                </a:extLst>
              </p:cNvPr>
              <p:cNvSpPr txBox="1"/>
              <p:nvPr/>
            </p:nvSpPr>
            <p:spPr>
              <a:xfrm>
                <a:off x="2489202" y="4798365"/>
                <a:ext cx="516466" cy="400110"/>
              </a:xfrm>
              <a:prstGeom prst="rect">
                <a:avLst/>
              </a:prstGeom>
              <a:noFill/>
            </p:spPr>
            <p:txBody>
              <a:bodyPr wrap="square" rtlCol="0">
                <a:spAutoFit/>
              </a:bodyPr>
              <a:lstStyle/>
              <a:p>
                <a:r>
                  <a:rPr lang="en-US" altLang="zh-TW" sz="2000" b="1" dirty="0">
                    <a:solidFill>
                      <a:srgbClr val="FF0000"/>
                    </a:solidFill>
                    <a:latin typeface="Times New Roman" panose="02020603050405020304" pitchFamily="18" charset="0"/>
                    <a:cs typeface="Times New Roman" panose="02020603050405020304" pitchFamily="18" charset="0"/>
                  </a:rPr>
                  <a:t>P6</a:t>
                </a:r>
                <a:endParaRPr lang="zh-TW" altLang="en-US" sz="2000" b="1" dirty="0">
                  <a:solidFill>
                    <a:srgbClr val="FF0000"/>
                  </a:solidFill>
                  <a:latin typeface="Times New Roman" panose="02020603050405020304" pitchFamily="18" charset="0"/>
                  <a:cs typeface="Times New Roman" panose="02020603050405020304" pitchFamily="18" charset="0"/>
                </a:endParaRPr>
              </a:p>
            </p:txBody>
          </p:sp>
          <p:sp>
            <p:nvSpPr>
              <p:cNvPr id="12" name="文字方塊 11">
                <a:extLst>
                  <a:ext uri="{FF2B5EF4-FFF2-40B4-BE49-F238E27FC236}">
                    <a16:creationId xmlns:a16="http://schemas.microsoft.com/office/drawing/2014/main" id="{4AD49A9E-9AF1-42D6-8A88-19BA4EB49796}"/>
                  </a:ext>
                </a:extLst>
              </p:cNvPr>
              <p:cNvSpPr txBox="1"/>
              <p:nvPr/>
            </p:nvSpPr>
            <p:spPr>
              <a:xfrm>
                <a:off x="1935313" y="3638435"/>
                <a:ext cx="516466" cy="400110"/>
              </a:xfrm>
              <a:prstGeom prst="rect">
                <a:avLst/>
              </a:prstGeom>
              <a:noFill/>
            </p:spPr>
            <p:txBody>
              <a:bodyPr wrap="square" rtlCol="0">
                <a:spAutoFit/>
              </a:bodyPr>
              <a:lstStyle/>
              <a:p>
                <a:r>
                  <a:rPr lang="en-US" altLang="zh-TW" sz="2000" b="1" dirty="0">
                    <a:solidFill>
                      <a:srgbClr val="FF0000"/>
                    </a:solidFill>
                    <a:latin typeface="Times New Roman" panose="02020603050405020304" pitchFamily="18" charset="0"/>
                    <a:cs typeface="Times New Roman" panose="02020603050405020304" pitchFamily="18" charset="0"/>
                  </a:rPr>
                  <a:t>P2</a:t>
                </a:r>
                <a:endParaRPr lang="zh-TW" altLang="en-US" sz="2000" b="1" dirty="0">
                  <a:solidFill>
                    <a:srgbClr val="FF0000"/>
                  </a:solidFill>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29" name="文字方塊 28">
                    <a:extLst>
                      <a:ext uri="{FF2B5EF4-FFF2-40B4-BE49-F238E27FC236}">
                        <a16:creationId xmlns:a16="http://schemas.microsoft.com/office/drawing/2014/main" id="{BDB6F4CE-21C6-4DFF-A293-2C7DF6583880}"/>
                      </a:ext>
                    </a:extLst>
                  </p:cNvPr>
                  <p:cNvSpPr txBox="1"/>
                  <p:nvPr/>
                </p:nvSpPr>
                <p:spPr>
                  <a:xfrm rot="16200000">
                    <a:off x="1254692" y="3713778"/>
                    <a:ext cx="79188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1" i="0" smtClean="0">
                              <a:latin typeface="Cambria Math" panose="02040503050406030204" pitchFamily="18" charset="0"/>
                            </a:rPr>
                            <m:t>𝐲</m:t>
                          </m:r>
                          <m:r>
                            <a:rPr lang="en-US" altLang="zh-TW" b="1" i="0" smtClean="0">
                              <a:latin typeface="Cambria Math" panose="02040503050406030204" pitchFamily="18" charset="0"/>
                            </a:rPr>
                            <m:t>(</m:t>
                          </m:r>
                          <m:r>
                            <a:rPr lang="en-US" altLang="zh-TW" b="1" i="0" smtClean="0">
                              <a:latin typeface="Cambria Math" panose="02040503050406030204" pitchFamily="18" charset="0"/>
                            </a:rPr>
                            <m:t>𝐦𝐦</m:t>
                          </m:r>
                          <m:r>
                            <a:rPr lang="en-US" altLang="zh-TW" b="1" i="0" smtClean="0">
                              <a:latin typeface="Cambria Math" panose="02040503050406030204" pitchFamily="18" charset="0"/>
                            </a:rPr>
                            <m:t>)</m:t>
                          </m:r>
                        </m:oMath>
                      </m:oMathPara>
                    </a14:m>
                    <a:endParaRPr lang="zh-TW" altLang="en-US" sz="2000" b="1" dirty="0">
                      <a:latin typeface="Times New Roman" panose="02020603050405020304" pitchFamily="18" charset="0"/>
                      <a:cs typeface="Times New Roman" panose="02020603050405020304" pitchFamily="18" charset="0"/>
                    </a:endParaRPr>
                  </a:p>
                </p:txBody>
              </p:sp>
            </mc:Choice>
            <mc:Fallback>
              <p:sp>
                <p:nvSpPr>
                  <p:cNvPr id="29" name="文字方塊 28">
                    <a:extLst>
                      <a:ext uri="{FF2B5EF4-FFF2-40B4-BE49-F238E27FC236}">
                        <a16:creationId xmlns:a16="http://schemas.microsoft.com/office/drawing/2014/main" id="{BDB6F4CE-21C6-4DFF-A293-2C7DF6583880}"/>
                      </a:ext>
                    </a:extLst>
                  </p:cNvPr>
                  <p:cNvSpPr txBox="1">
                    <a:spLocks noRot="1" noChangeAspect="1" noMove="1" noResize="1" noEditPoints="1" noAdjustHandles="1" noChangeArrowheads="1" noChangeShapeType="1" noTextEdit="1"/>
                  </p:cNvSpPr>
                  <p:nvPr/>
                </p:nvSpPr>
                <p:spPr>
                  <a:xfrm rot="16200000">
                    <a:off x="1254692" y="3713778"/>
                    <a:ext cx="791883" cy="276999"/>
                  </a:xfrm>
                  <a:prstGeom prst="rect">
                    <a:avLst/>
                  </a:prstGeom>
                  <a:blipFill>
                    <a:blip r:embed="rId6"/>
                    <a:stretch>
                      <a:fillRect t="-10000" r="-37778" b="-6923"/>
                    </a:stretch>
                  </a:blipFill>
                </p:spPr>
                <p:txBody>
                  <a:bodyPr/>
                  <a:lstStyle/>
                  <a:p>
                    <a:r>
                      <a:rPr lang="zh-TW" altLang="en-US">
                        <a:noFill/>
                      </a:rPr>
                      <a:t> </a:t>
                    </a:r>
                  </a:p>
                </p:txBody>
              </p:sp>
            </mc:Fallback>
          </mc:AlternateContent>
        </p:grpSp>
      </p:grpSp>
    </p:spTree>
    <p:extLst>
      <p:ext uri="{BB962C8B-B14F-4D97-AF65-F5344CB8AC3E}">
        <p14:creationId xmlns:p14="http://schemas.microsoft.com/office/powerpoint/2010/main" val="16616045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 name="文字方塊 3">
            <a:extLst>
              <a:ext uri="{FF2B5EF4-FFF2-40B4-BE49-F238E27FC236}">
                <a16:creationId xmlns:a16="http://schemas.microsoft.com/office/drawing/2014/main" id="{7560EB76-638C-43CC-ABEA-EE55E408A666}"/>
              </a:ext>
            </a:extLst>
          </p:cNvPr>
          <p:cNvSpPr txBox="1"/>
          <p:nvPr/>
        </p:nvSpPr>
        <p:spPr>
          <a:xfrm>
            <a:off x="0" y="324377"/>
            <a:ext cx="6324600" cy="390684"/>
          </a:xfrm>
          <a:prstGeom prst="rect">
            <a:avLst/>
          </a:prstGeom>
          <a:noFill/>
        </p:spPr>
        <p:txBody>
          <a:bodyPr wrap="square" rtlCol="0">
            <a:spAutoFit/>
          </a:bodyPr>
          <a:lstStyle/>
          <a:p>
            <a:pPr marL="342900" lvl="0" indent="-342900">
              <a:lnSpc>
                <a:spcPct val="115000"/>
              </a:lnSpc>
              <a:spcAft>
                <a:spcPts val="800"/>
              </a:spcAft>
              <a:buFont typeface="+mj-lt"/>
              <a:buAutoNum type="alphaUcPeriod"/>
            </a:pPr>
            <a:r>
              <a:rPr lang="en-US" altLang="zh-TW" sz="1800" i="1"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Multiple-electromagnetic-pole actuation</a:t>
            </a:r>
            <a:endParaRPr lang="zh-TW" altLang="zh-TW" sz="1800" i="1" kern="100" dirty="0">
              <a:effectLst/>
              <a:latin typeface="Aptos"/>
              <a:ea typeface="新細明體" panose="02020500000000000000" pitchFamily="18" charset="-120"/>
              <a:cs typeface="Times New Roman" panose="02020603050405020304" pitchFamily="18" charset="0"/>
            </a:endParaRPr>
          </a:p>
        </p:txBody>
      </p:sp>
      <p:sp>
        <p:nvSpPr>
          <p:cNvPr id="13" name="文字方塊 12">
            <a:extLst>
              <a:ext uri="{FF2B5EF4-FFF2-40B4-BE49-F238E27FC236}">
                <a16:creationId xmlns:a16="http://schemas.microsoft.com/office/drawing/2014/main" id="{23DE0321-051F-4463-A62F-589D2C2C0E2D}"/>
              </a:ext>
            </a:extLst>
          </p:cNvPr>
          <p:cNvSpPr txBox="1"/>
          <p:nvPr/>
        </p:nvSpPr>
        <p:spPr>
          <a:xfrm>
            <a:off x="186267" y="4876086"/>
            <a:ext cx="9491132" cy="873572"/>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Two 3D views of the central spherical region are also presented. These views clearly show that the magnetic flux emerges from pole P2 and is then received by the other magnetic poles.</a:t>
            </a:r>
            <a:endParaRPr lang="zh-TW" altLang="en-US" dirty="0">
              <a:latin typeface="Times New Roman" panose="02020603050405020304" pitchFamily="18" charset="0"/>
              <a:cs typeface="Times New Roman" panose="02020603050405020304" pitchFamily="18" charset="0"/>
            </a:endParaRPr>
          </a:p>
        </p:txBody>
      </p:sp>
      <p:grpSp>
        <p:nvGrpSpPr>
          <p:cNvPr id="15" name="群組 14">
            <a:extLst>
              <a:ext uri="{FF2B5EF4-FFF2-40B4-BE49-F238E27FC236}">
                <a16:creationId xmlns:a16="http://schemas.microsoft.com/office/drawing/2014/main" id="{71F356A7-0F86-4F80-B8C7-C0BFACA376AC}"/>
              </a:ext>
            </a:extLst>
          </p:cNvPr>
          <p:cNvGrpSpPr/>
          <p:nvPr/>
        </p:nvGrpSpPr>
        <p:grpSpPr>
          <a:xfrm>
            <a:off x="1248130" y="953711"/>
            <a:ext cx="8429269" cy="3540300"/>
            <a:chOff x="1371733" y="1339668"/>
            <a:chExt cx="8898334" cy="3741404"/>
          </a:xfrm>
        </p:grpSpPr>
        <p:pic>
          <p:nvPicPr>
            <p:cNvPr id="16" name="圖片 15">
              <a:extLst>
                <a:ext uri="{FF2B5EF4-FFF2-40B4-BE49-F238E27FC236}">
                  <a16:creationId xmlns:a16="http://schemas.microsoft.com/office/drawing/2014/main" id="{5597486B-848B-4221-A01F-EB932C4867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76682" y="1339668"/>
              <a:ext cx="8493385" cy="3432942"/>
            </a:xfrm>
            <a:prstGeom prst="rect">
              <a:avLst/>
            </a:prstGeom>
          </p:spPr>
        </p:pic>
        <mc:AlternateContent xmlns:mc="http://schemas.openxmlformats.org/markup-compatibility/2006">
          <mc:Choice xmlns:a14="http://schemas.microsoft.com/office/drawing/2010/main" Requires="a14">
            <p:sp>
              <p:nvSpPr>
                <p:cNvPr id="17" name="文字方塊 16">
                  <a:extLst>
                    <a:ext uri="{FF2B5EF4-FFF2-40B4-BE49-F238E27FC236}">
                      <a16:creationId xmlns:a16="http://schemas.microsoft.com/office/drawing/2014/main" id="{07930E2C-1E82-4A26-A2E7-158DE77E49AF}"/>
                    </a:ext>
                  </a:extLst>
                </p:cNvPr>
                <p:cNvSpPr txBox="1"/>
                <p:nvPr/>
              </p:nvSpPr>
              <p:spPr>
                <a:xfrm rot="19298709">
                  <a:off x="1756336" y="3920401"/>
                  <a:ext cx="580494" cy="739483"/>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𝐱</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400" b="1" dirty="0"/>
                </a:p>
              </p:txBody>
            </p:sp>
          </mc:Choice>
          <mc:Fallback>
            <p:sp>
              <p:nvSpPr>
                <p:cNvPr id="17" name="文字方塊 16">
                  <a:extLst>
                    <a:ext uri="{FF2B5EF4-FFF2-40B4-BE49-F238E27FC236}">
                      <a16:creationId xmlns:a16="http://schemas.microsoft.com/office/drawing/2014/main" id="{07930E2C-1E82-4A26-A2E7-158DE77E49AF}"/>
                    </a:ext>
                  </a:extLst>
                </p:cNvPr>
                <p:cNvSpPr txBox="1">
                  <a:spLocks noRot="1" noChangeAspect="1" noMove="1" noResize="1" noEditPoints="1" noAdjustHandles="1" noChangeArrowheads="1" noChangeShapeType="1" noTextEdit="1"/>
                </p:cNvSpPr>
                <p:nvPr/>
              </p:nvSpPr>
              <p:spPr>
                <a:xfrm rot="19298709">
                  <a:off x="1756336" y="3920401"/>
                  <a:ext cx="580494" cy="739483"/>
                </a:xfrm>
                <a:prstGeom prst="rect">
                  <a:avLst/>
                </a:prstGeom>
                <a:blipFill>
                  <a:blip r:embed="rId3"/>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0" name="文字方塊 19">
                  <a:extLst>
                    <a:ext uri="{FF2B5EF4-FFF2-40B4-BE49-F238E27FC236}">
                      <a16:creationId xmlns:a16="http://schemas.microsoft.com/office/drawing/2014/main" id="{8D570927-CB9B-4120-AA60-E9ACE7DFD9C1}"/>
                    </a:ext>
                  </a:extLst>
                </p:cNvPr>
                <p:cNvSpPr txBox="1"/>
                <p:nvPr/>
              </p:nvSpPr>
              <p:spPr>
                <a:xfrm rot="15396139">
                  <a:off x="3879022" y="4319747"/>
                  <a:ext cx="581130" cy="738673"/>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𝐲</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400" b="1" dirty="0"/>
                </a:p>
              </p:txBody>
            </p:sp>
          </mc:Choice>
          <mc:Fallback>
            <p:sp>
              <p:nvSpPr>
                <p:cNvPr id="20" name="文字方塊 19">
                  <a:extLst>
                    <a:ext uri="{FF2B5EF4-FFF2-40B4-BE49-F238E27FC236}">
                      <a16:creationId xmlns:a16="http://schemas.microsoft.com/office/drawing/2014/main" id="{8D570927-CB9B-4120-AA60-E9ACE7DFD9C1}"/>
                    </a:ext>
                  </a:extLst>
                </p:cNvPr>
                <p:cNvSpPr txBox="1">
                  <a:spLocks noRot="1" noChangeAspect="1" noMove="1" noResize="1" noEditPoints="1" noAdjustHandles="1" noChangeArrowheads="1" noChangeShapeType="1" noTextEdit="1"/>
                </p:cNvSpPr>
                <p:nvPr/>
              </p:nvSpPr>
              <p:spPr>
                <a:xfrm rot="15396139">
                  <a:off x="3879022" y="4319747"/>
                  <a:ext cx="581130" cy="738673"/>
                </a:xfrm>
                <a:prstGeom prst="rect">
                  <a:avLst/>
                </a:prstGeom>
                <a:blipFill>
                  <a:blip r:embed="rId4"/>
                  <a:stretch>
                    <a:fillRect r="-10526"/>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2" name="文字方塊 21">
                  <a:extLst>
                    <a:ext uri="{FF2B5EF4-FFF2-40B4-BE49-F238E27FC236}">
                      <a16:creationId xmlns:a16="http://schemas.microsoft.com/office/drawing/2014/main" id="{2BFC1C62-FD09-4AAF-B51A-BBEB0C11E032}"/>
                    </a:ext>
                  </a:extLst>
                </p:cNvPr>
                <p:cNvSpPr txBox="1"/>
                <p:nvPr/>
              </p:nvSpPr>
              <p:spPr>
                <a:xfrm rot="10800000">
                  <a:off x="1371733" y="2376809"/>
                  <a:ext cx="580494" cy="760129"/>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𝐳</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400" b="1" dirty="0"/>
                </a:p>
              </p:txBody>
            </p:sp>
          </mc:Choice>
          <mc:Fallback>
            <p:sp>
              <p:nvSpPr>
                <p:cNvPr id="22" name="文字方塊 21">
                  <a:extLst>
                    <a:ext uri="{FF2B5EF4-FFF2-40B4-BE49-F238E27FC236}">
                      <a16:creationId xmlns:a16="http://schemas.microsoft.com/office/drawing/2014/main" id="{2BFC1C62-FD09-4AAF-B51A-BBEB0C11E032}"/>
                    </a:ext>
                  </a:extLst>
                </p:cNvPr>
                <p:cNvSpPr txBox="1">
                  <a:spLocks noRot="1" noChangeAspect="1" noMove="1" noResize="1" noEditPoints="1" noAdjustHandles="1" noChangeArrowheads="1" noChangeShapeType="1" noTextEdit="1"/>
                </p:cNvSpPr>
                <p:nvPr/>
              </p:nvSpPr>
              <p:spPr>
                <a:xfrm rot="10800000">
                  <a:off x="1371733" y="2376809"/>
                  <a:ext cx="580494" cy="760129"/>
                </a:xfrm>
                <a:prstGeom prst="rect">
                  <a:avLst/>
                </a:prstGeom>
                <a:blipFill>
                  <a:blip r:embed="rId5"/>
                  <a:stretch>
                    <a:fillRect t="-14407"/>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5" name="文字方塊 24">
                  <a:extLst>
                    <a:ext uri="{FF2B5EF4-FFF2-40B4-BE49-F238E27FC236}">
                      <a16:creationId xmlns:a16="http://schemas.microsoft.com/office/drawing/2014/main" id="{04DB4083-6EA8-4CD9-9B72-38F6986AB676}"/>
                    </a:ext>
                  </a:extLst>
                </p:cNvPr>
                <p:cNvSpPr txBox="1"/>
                <p:nvPr/>
              </p:nvSpPr>
              <p:spPr>
                <a:xfrm rot="10800000">
                  <a:off x="4897900" y="2742906"/>
                  <a:ext cx="580494" cy="996867"/>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𝐳</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400" b="1" dirty="0"/>
                </a:p>
              </p:txBody>
            </p:sp>
          </mc:Choice>
          <mc:Fallback>
            <p:sp>
              <p:nvSpPr>
                <p:cNvPr id="25" name="文字方塊 24">
                  <a:extLst>
                    <a:ext uri="{FF2B5EF4-FFF2-40B4-BE49-F238E27FC236}">
                      <a16:creationId xmlns:a16="http://schemas.microsoft.com/office/drawing/2014/main" id="{04DB4083-6EA8-4CD9-9B72-38F6986AB676}"/>
                    </a:ext>
                  </a:extLst>
                </p:cNvPr>
                <p:cNvSpPr txBox="1">
                  <a:spLocks noRot="1" noChangeAspect="1" noMove="1" noResize="1" noEditPoints="1" noAdjustHandles="1" noChangeArrowheads="1" noChangeShapeType="1" noTextEdit="1"/>
                </p:cNvSpPr>
                <p:nvPr/>
              </p:nvSpPr>
              <p:spPr>
                <a:xfrm rot="10800000">
                  <a:off x="4897900" y="2742906"/>
                  <a:ext cx="580494" cy="996867"/>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6" name="文字方塊 25">
                  <a:extLst>
                    <a:ext uri="{FF2B5EF4-FFF2-40B4-BE49-F238E27FC236}">
                      <a16:creationId xmlns:a16="http://schemas.microsoft.com/office/drawing/2014/main" id="{51429D37-B8DA-4A46-A33D-2BE259795933}"/>
                    </a:ext>
                  </a:extLst>
                </p:cNvPr>
                <p:cNvSpPr txBox="1"/>
                <p:nvPr/>
              </p:nvSpPr>
              <p:spPr>
                <a:xfrm rot="16470662">
                  <a:off x="6262350" y="4421170"/>
                  <a:ext cx="581130" cy="738673"/>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𝐲</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400" b="1" dirty="0"/>
                </a:p>
              </p:txBody>
            </p:sp>
          </mc:Choice>
          <mc:Fallback>
            <p:sp>
              <p:nvSpPr>
                <p:cNvPr id="26" name="文字方塊 25">
                  <a:extLst>
                    <a:ext uri="{FF2B5EF4-FFF2-40B4-BE49-F238E27FC236}">
                      <a16:creationId xmlns:a16="http://schemas.microsoft.com/office/drawing/2014/main" id="{51429D37-B8DA-4A46-A33D-2BE259795933}"/>
                    </a:ext>
                  </a:extLst>
                </p:cNvPr>
                <p:cNvSpPr txBox="1">
                  <a:spLocks noRot="1" noChangeAspect="1" noMove="1" noResize="1" noEditPoints="1" noAdjustHandles="1" noChangeArrowheads="1" noChangeShapeType="1" noTextEdit="1"/>
                </p:cNvSpPr>
                <p:nvPr/>
              </p:nvSpPr>
              <p:spPr>
                <a:xfrm rot="16470662">
                  <a:off x="6262350" y="4421170"/>
                  <a:ext cx="581130" cy="738673"/>
                </a:xfrm>
                <a:prstGeom prst="rect">
                  <a:avLst/>
                </a:prstGeom>
                <a:blipFill>
                  <a:blip r:embed="rId7"/>
                  <a:stretch>
                    <a:fillRect r="-15574"/>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7" name="文字方塊 26">
                  <a:extLst>
                    <a:ext uri="{FF2B5EF4-FFF2-40B4-BE49-F238E27FC236}">
                      <a16:creationId xmlns:a16="http://schemas.microsoft.com/office/drawing/2014/main" id="{4BDABCEF-28D3-42F9-9B2C-BEFEE52776AF}"/>
                    </a:ext>
                  </a:extLst>
                </p:cNvPr>
                <p:cNvSpPr txBox="1"/>
                <p:nvPr/>
              </p:nvSpPr>
              <p:spPr>
                <a:xfrm rot="12331078">
                  <a:off x="8546862" y="3931803"/>
                  <a:ext cx="580494" cy="739483"/>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𝐱</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400" b="1" dirty="0"/>
                </a:p>
              </p:txBody>
            </p:sp>
          </mc:Choice>
          <mc:Fallback>
            <p:sp>
              <p:nvSpPr>
                <p:cNvPr id="27" name="文字方塊 26">
                  <a:extLst>
                    <a:ext uri="{FF2B5EF4-FFF2-40B4-BE49-F238E27FC236}">
                      <a16:creationId xmlns:a16="http://schemas.microsoft.com/office/drawing/2014/main" id="{4BDABCEF-28D3-42F9-9B2C-BEFEE52776AF}"/>
                    </a:ext>
                  </a:extLst>
                </p:cNvPr>
                <p:cNvSpPr txBox="1">
                  <a:spLocks noRot="1" noChangeAspect="1" noMove="1" noResize="1" noEditPoints="1" noAdjustHandles="1" noChangeArrowheads="1" noChangeShapeType="1" noTextEdit="1"/>
                </p:cNvSpPr>
                <p:nvPr/>
              </p:nvSpPr>
              <p:spPr>
                <a:xfrm rot="12331078">
                  <a:off x="8546862" y="3931803"/>
                  <a:ext cx="580494" cy="739483"/>
                </a:xfrm>
                <a:prstGeom prst="rect">
                  <a:avLst/>
                </a:prstGeom>
                <a:blipFill>
                  <a:blip r:embed="rId8"/>
                  <a:stretch>
                    <a:fillRect/>
                  </a:stretch>
                </a:blipFill>
              </p:spPr>
              <p:txBody>
                <a:bodyPr/>
                <a:lstStyle/>
                <a:p>
                  <a:r>
                    <a:rPr lang="zh-TW" altLang="en-US">
                      <a:noFill/>
                    </a:rPr>
                    <a:t> </a:t>
                  </a:r>
                </a:p>
              </p:txBody>
            </p:sp>
          </mc:Fallback>
        </mc:AlternateContent>
      </p:grpSp>
    </p:spTree>
    <p:extLst>
      <p:ext uri="{BB962C8B-B14F-4D97-AF65-F5344CB8AC3E}">
        <p14:creationId xmlns:p14="http://schemas.microsoft.com/office/powerpoint/2010/main" val="34648215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813300"/>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C. </a:t>
            </a:r>
            <a:r>
              <a:rPr lang="en-US" altLang="zh-TW" sz="1800" i="1"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Charge-location model</a:t>
            </a:r>
            <a:endParaRPr lang="zh-TW" altLang="zh-TW" sz="1800" kern="100" dirty="0">
              <a:effectLst/>
              <a:latin typeface="Aptos"/>
              <a:ea typeface="新細明體" panose="02020500000000000000" pitchFamily="18" charset="-120"/>
              <a:cs typeface="Times New Roman" panose="02020603050405020304" pitchFamily="18" charset="0"/>
            </a:endParaRPr>
          </a:p>
          <a:p>
            <a:pPr lvl="0">
              <a:lnSpc>
                <a:spcPct val="115000"/>
              </a:lnSpc>
              <a:spcAft>
                <a:spcPts val="800"/>
              </a:spcAft>
            </a:pPr>
            <a:endParaRPr lang="zh-TW" altLang="zh-TW" kern="100" dirty="0">
              <a:effectLst/>
              <a:latin typeface="Aptos"/>
              <a:ea typeface="新細明體" panose="02020500000000000000" pitchFamily="18" charset="-120"/>
              <a:cs typeface="Times New Roman" panose="02020603050405020304" pitchFamily="18" charset="0"/>
            </a:endParaRPr>
          </a:p>
        </p:txBody>
      </p:sp>
      <p:grpSp>
        <p:nvGrpSpPr>
          <p:cNvPr id="41" name="群組 40">
            <a:extLst>
              <a:ext uri="{FF2B5EF4-FFF2-40B4-BE49-F238E27FC236}">
                <a16:creationId xmlns:a16="http://schemas.microsoft.com/office/drawing/2014/main" id="{E5D74248-2FB9-447E-806C-879E4EA42806}"/>
              </a:ext>
            </a:extLst>
          </p:cNvPr>
          <p:cNvGrpSpPr/>
          <p:nvPr/>
        </p:nvGrpSpPr>
        <p:grpSpPr>
          <a:xfrm>
            <a:off x="248852" y="731027"/>
            <a:ext cx="6168881" cy="3223850"/>
            <a:chOff x="993919" y="2062391"/>
            <a:chExt cx="6168881" cy="3223850"/>
          </a:xfrm>
        </p:grpSpPr>
        <p:pic>
          <p:nvPicPr>
            <p:cNvPr id="42" name="圖片 41">
              <a:extLst>
                <a:ext uri="{FF2B5EF4-FFF2-40B4-BE49-F238E27FC236}">
                  <a16:creationId xmlns:a16="http://schemas.microsoft.com/office/drawing/2014/main" id="{E9B9F390-E249-4AE4-825F-C2F0956E30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3919" y="2062391"/>
              <a:ext cx="6168881" cy="3223850"/>
            </a:xfrm>
            <a:prstGeom prst="rect">
              <a:avLst/>
            </a:prstGeom>
          </p:spPr>
        </p:pic>
        <mc:AlternateContent xmlns:mc="http://schemas.openxmlformats.org/markup-compatibility/2006" xmlns:a14="http://schemas.microsoft.com/office/drawing/2010/main">
          <mc:Choice Requires="a14">
            <p:sp>
              <p:nvSpPr>
                <p:cNvPr id="43" name="文字方塊 42">
                  <a:extLst>
                    <a:ext uri="{FF2B5EF4-FFF2-40B4-BE49-F238E27FC236}">
                      <a16:creationId xmlns:a16="http://schemas.microsoft.com/office/drawing/2014/main" id="{16EA59F1-6545-4924-8CB2-3B8DCE3FE7FE}"/>
                    </a:ext>
                  </a:extLst>
                </p:cNvPr>
                <p:cNvSpPr txBox="1"/>
                <p:nvPr/>
              </p:nvSpPr>
              <p:spPr>
                <a:xfrm>
                  <a:off x="1684869" y="3142046"/>
                  <a:ext cx="298159"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2800" b="1" i="1" smtClean="0">
                            <a:solidFill>
                              <a:schemeClr val="tx1"/>
                            </a:solidFill>
                            <a:latin typeface="Cambria Math" panose="02040503050406030204" pitchFamily="18" charset="0"/>
                          </a:rPr>
                          <m:t>𝒒</m:t>
                        </m:r>
                      </m:oMath>
                    </m:oMathPara>
                  </a14:m>
                  <a:endParaRPr lang="zh-TW" altLang="en-US" sz="2400" b="1" dirty="0">
                    <a:solidFill>
                      <a:schemeClr val="tx1"/>
                    </a:solidFill>
                  </a:endParaRPr>
                </a:p>
              </p:txBody>
            </p:sp>
          </mc:Choice>
          <mc:Fallback xmlns="">
            <p:sp>
              <p:nvSpPr>
                <p:cNvPr id="43" name="文字方塊 42">
                  <a:extLst>
                    <a:ext uri="{FF2B5EF4-FFF2-40B4-BE49-F238E27FC236}">
                      <a16:creationId xmlns:a16="http://schemas.microsoft.com/office/drawing/2014/main" id="{16EA59F1-6545-4924-8CB2-3B8DCE3FE7FE}"/>
                    </a:ext>
                  </a:extLst>
                </p:cNvPr>
                <p:cNvSpPr txBox="1">
                  <a:spLocks noRot="1" noChangeAspect="1" noMove="1" noResize="1" noEditPoints="1" noAdjustHandles="1" noChangeArrowheads="1" noChangeShapeType="1" noTextEdit="1"/>
                </p:cNvSpPr>
                <p:nvPr/>
              </p:nvSpPr>
              <p:spPr>
                <a:xfrm>
                  <a:off x="1684869" y="3142046"/>
                  <a:ext cx="298159" cy="430887"/>
                </a:xfrm>
                <a:prstGeom prst="rect">
                  <a:avLst/>
                </a:prstGeom>
                <a:blipFill>
                  <a:blip r:embed="rId3"/>
                  <a:stretch>
                    <a:fillRect/>
                  </a:stretch>
                </a:blipFill>
              </p:spPr>
              <p:txBody>
                <a:bodyPr/>
                <a:lstStyle/>
                <a:p>
                  <a:r>
                    <a:rPr lang="zh-TW" altLang="en-US">
                      <a:noFill/>
                    </a:rPr>
                    <a:t> </a:t>
                  </a:r>
                </a:p>
              </p:txBody>
            </p:sp>
          </mc:Fallback>
        </mc:AlternateContent>
        <p:sp>
          <p:nvSpPr>
            <p:cNvPr id="44" name="流程圖: 接點 43">
              <a:extLst>
                <a:ext uri="{FF2B5EF4-FFF2-40B4-BE49-F238E27FC236}">
                  <a16:creationId xmlns:a16="http://schemas.microsoft.com/office/drawing/2014/main" id="{79E84CC5-B121-4A76-8AED-C5FA912EB4DB}"/>
                </a:ext>
              </a:extLst>
            </p:cNvPr>
            <p:cNvSpPr/>
            <p:nvPr/>
          </p:nvSpPr>
          <p:spPr>
            <a:xfrm>
              <a:off x="1617134" y="3572933"/>
              <a:ext cx="152402" cy="152130"/>
            </a:xfrm>
            <a:prstGeom prst="flowChartConnector">
              <a:avLst/>
            </a:prstGeom>
            <a:solidFill>
              <a:srgbClr val="FF33C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45" name="流程圖: 接點 44">
              <a:extLst>
                <a:ext uri="{FF2B5EF4-FFF2-40B4-BE49-F238E27FC236}">
                  <a16:creationId xmlns:a16="http://schemas.microsoft.com/office/drawing/2014/main" id="{6E922107-DB2F-4528-92B8-BB413A77C354}"/>
                </a:ext>
              </a:extLst>
            </p:cNvPr>
            <p:cNvSpPr/>
            <p:nvPr/>
          </p:nvSpPr>
          <p:spPr>
            <a:xfrm>
              <a:off x="5562600" y="4328564"/>
              <a:ext cx="132147" cy="160867"/>
            </a:xfrm>
            <a:prstGeom prst="flowChartConnector">
              <a:avLst/>
            </a:prstGeom>
            <a:solidFill>
              <a:srgbClr val="FF33C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A9C4A2B7-ECCE-4C37-A3E3-74474ED139A7}"/>
                    </a:ext>
                  </a:extLst>
                </p:cNvPr>
                <p:cNvSpPr txBox="1"/>
                <p:nvPr/>
              </p:nvSpPr>
              <p:spPr>
                <a:xfrm>
                  <a:off x="4886014" y="4204155"/>
                  <a:ext cx="298159"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2800" b="1" i="1" smtClean="0">
                            <a:solidFill>
                              <a:schemeClr val="tx1"/>
                            </a:solidFill>
                            <a:latin typeface="Cambria Math" panose="02040503050406030204" pitchFamily="18" charset="0"/>
                          </a:rPr>
                          <m:t>𝒒</m:t>
                        </m:r>
                      </m:oMath>
                    </m:oMathPara>
                  </a14:m>
                  <a:endParaRPr lang="zh-TW" altLang="en-US" sz="2400" b="1" dirty="0">
                    <a:solidFill>
                      <a:schemeClr val="tx1"/>
                    </a:solidFill>
                  </a:endParaRPr>
                </a:p>
              </p:txBody>
            </p:sp>
          </mc:Choice>
          <mc:Fallback xmlns="">
            <p:sp>
              <p:nvSpPr>
                <p:cNvPr id="46" name="文字方塊 45">
                  <a:extLst>
                    <a:ext uri="{FF2B5EF4-FFF2-40B4-BE49-F238E27FC236}">
                      <a16:creationId xmlns:a16="http://schemas.microsoft.com/office/drawing/2014/main" id="{A9C4A2B7-ECCE-4C37-A3E3-74474ED139A7}"/>
                    </a:ext>
                  </a:extLst>
                </p:cNvPr>
                <p:cNvSpPr txBox="1">
                  <a:spLocks noRot="1" noChangeAspect="1" noMove="1" noResize="1" noEditPoints="1" noAdjustHandles="1" noChangeArrowheads="1" noChangeShapeType="1" noTextEdit="1"/>
                </p:cNvSpPr>
                <p:nvPr/>
              </p:nvSpPr>
              <p:spPr>
                <a:xfrm>
                  <a:off x="4886014" y="4204155"/>
                  <a:ext cx="298159" cy="430887"/>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A73A518E-4196-493F-AA17-EAE8E882E004}"/>
                    </a:ext>
                  </a:extLst>
                </p:cNvPr>
                <p:cNvSpPr txBox="1"/>
                <p:nvPr/>
              </p:nvSpPr>
              <p:spPr>
                <a:xfrm>
                  <a:off x="5501585" y="2763541"/>
                  <a:ext cx="38632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zh-TW" altLang="en-US" sz="2800" b="1" i="1" smtClean="0">
                            <a:solidFill>
                              <a:srgbClr val="FF0000"/>
                            </a:solidFill>
                            <a:latin typeface="Cambria Math" panose="02040503050406030204" pitchFamily="18" charset="0"/>
                          </a:rPr>
                          <m:t>𝚽</m:t>
                        </m:r>
                      </m:oMath>
                    </m:oMathPara>
                  </a14:m>
                  <a:endParaRPr lang="zh-TW" altLang="en-US" sz="2400" b="1" dirty="0">
                    <a:solidFill>
                      <a:srgbClr val="FF0000"/>
                    </a:solidFill>
                  </a:endParaRPr>
                </a:p>
              </p:txBody>
            </p:sp>
          </mc:Choice>
          <mc:Fallback xmlns="">
            <p:sp>
              <p:nvSpPr>
                <p:cNvPr id="47" name="文字方塊 46">
                  <a:extLst>
                    <a:ext uri="{FF2B5EF4-FFF2-40B4-BE49-F238E27FC236}">
                      <a16:creationId xmlns:a16="http://schemas.microsoft.com/office/drawing/2014/main" id="{A73A518E-4196-493F-AA17-EAE8E882E004}"/>
                    </a:ext>
                  </a:extLst>
                </p:cNvPr>
                <p:cNvSpPr txBox="1">
                  <a:spLocks noRot="1" noChangeAspect="1" noMove="1" noResize="1" noEditPoints="1" noAdjustHandles="1" noChangeArrowheads="1" noChangeShapeType="1" noTextEdit="1"/>
                </p:cNvSpPr>
                <p:nvPr/>
              </p:nvSpPr>
              <p:spPr>
                <a:xfrm>
                  <a:off x="5501585" y="2763541"/>
                  <a:ext cx="386324" cy="430887"/>
                </a:xfrm>
                <a:prstGeom prst="rect">
                  <a:avLst/>
                </a:prstGeom>
                <a:blipFill>
                  <a:blip r:embed="rId5"/>
                  <a:stretch>
                    <a:fillRect/>
                  </a:stretch>
                </a:blipFill>
              </p:spPr>
              <p:txBody>
                <a:bodyPr/>
                <a:lstStyle/>
                <a:p>
                  <a:r>
                    <a:rPr lang="zh-TW" altLang="en-US">
                      <a:noFill/>
                    </a:rPr>
                    <a:t> </a:t>
                  </a:r>
                </a:p>
              </p:txBody>
            </p:sp>
          </mc:Fallback>
        </mc:AlternateContent>
      </p:grpSp>
      <p:sp>
        <p:nvSpPr>
          <p:cNvPr id="3" name="文字方塊 2">
            <a:extLst>
              <a:ext uri="{FF2B5EF4-FFF2-40B4-BE49-F238E27FC236}">
                <a16:creationId xmlns:a16="http://schemas.microsoft.com/office/drawing/2014/main" id="{6E14EA9D-F563-4C83-AF17-053A51497E94}"/>
              </a:ext>
            </a:extLst>
          </p:cNvPr>
          <p:cNvSpPr txBox="1"/>
          <p:nvPr/>
        </p:nvSpPr>
        <p:spPr>
          <a:xfrm>
            <a:off x="6481232" y="656272"/>
            <a:ext cx="5461915" cy="337335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This figure illustrates the magnetic flux path when pole P2 is excited. The left figure presents a top view, with the theoretical magnetic charge locations labeled to clarify the magnetic charge concept used in this study. The right figure shows a three-dimensional view of the same model, in which the theoretical magnetic charge locations and the magnetic flux distribution can be clearly observed.</a:t>
            </a:r>
            <a:endParaRPr lang="zh-TW" alt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592114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573024" y="570245"/>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573024" y="570245"/>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p:grpSp>
        <p:nvGrpSpPr>
          <p:cNvPr id="12" name="群組 11">
            <a:extLst>
              <a:ext uri="{FF2B5EF4-FFF2-40B4-BE49-F238E27FC236}">
                <a16:creationId xmlns:a16="http://schemas.microsoft.com/office/drawing/2014/main" id="{CEAE18FC-9EE7-4435-BAB1-9248663C9F44}"/>
              </a:ext>
            </a:extLst>
          </p:cNvPr>
          <p:cNvGrpSpPr/>
          <p:nvPr/>
        </p:nvGrpSpPr>
        <p:grpSpPr>
          <a:xfrm>
            <a:off x="159841" y="762087"/>
            <a:ext cx="4293229" cy="4117681"/>
            <a:chOff x="6645705" y="1408712"/>
            <a:chExt cx="4293229" cy="4117681"/>
          </a:xfrm>
        </p:grpSpPr>
        <p:pic>
          <p:nvPicPr>
            <p:cNvPr id="13" name="圖片 12">
              <a:extLst>
                <a:ext uri="{FF2B5EF4-FFF2-40B4-BE49-F238E27FC236}">
                  <a16:creationId xmlns:a16="http://schemas.microsoft.com/office/drawing/2014/main" id="{F47A8023-42E1-413C-B2F6-B59CEFDCAE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00217" y="1408712"/>
              <a:ext cx="3838717" cy="3772888"/>
            </a:xfrm>
            <a:prstGeom prst="rect">
              <a:avLst/>
            </a:prstGeom>
          </p:spPr>
        </p:pic>
        <mc:AlternateContent xmlns:mc="http://schemas.openxmlformats.org/markup-compatibility/2006">
          <mc:Choice xmlns:a14="http://schemas.microsoft.com/office/drawing/2010/main" Requires="a14">
            <p:sp>
              <p:nvSpPr>
                <p:cNvPr id="14" name="文字方塊 13">
                  <a:extLst>
                    <a:ext uri="{FF2B5EF4-FFF2-40B4-BE49-F238E27FC236}">
                      <a16:creationId xmlns:a16="http://schemas.microsoft.com/office/drawing/2014/main" id="{23B36AA3-C2D5-4458-B140-6119FE1F4076}"/>
                    </a:ext>
                  </a:extLst>
                </p:cNvPr>
                <p:cNvSpPr txBox="1"/>
                <p:nvPr/>
              </p:nvSpPr>
              <p:spPr>
                <a:xfrm>
                  <a:off x="8886053" y="3327480"/>
                  <a:ext cx="623935" cy="414478"/>
                </a:xfrm>
                <a:prstGeom prst="rect">
                  <a:avLst/>
                </a:prstGeom>
                <a:noFill/>
              </p:spPr>
              <p:txBody>
                <a:bodyPr vert="horz" wrap="square" rtlCol="0" anchor="ctr" anchorCtr="0">
                  <a:spAutoFit/>
                </a:bodyPr>
                <a:lstStyle/>
                <a:p>
                  <a:pPr/>
                  <a14:m>
                    <m:oMathPara xmlns:m="http://schemas.openxmlformats.org/officeDocument/2006/math">
                      <m:oMathParaPr>
                        <m:jc m:val="centerGroup"/>
                      </m:oMathParaPr>
                      <m:oMath xmlns:m="http://schemas.openxmlformats.org/officeDocument/2006/math">
                        <m:sSub>
                          <m:sSubPr>
                            <m:ctrlPr>
                              <a:rPr lang="en-US" altLang="zh-TW" sz="2000" b="1" smtClean="0">
                                <a:solidFill>
                                  <a:schemeClr val="accent1"/>
                                </a:solidFill>
                                <a:latin typeface="Cambria Math" panose="02040503050406030204" pitchFamily="18" charset="0"/>
                              </a:rPr>
                            </m:ctrlPr>
                          </m:sSubPr>
                          <m:e>
                            <m:r>
                              <a:rPr lang="en-US" altLang="zh-TW" sz="2000" b="1" i="0" smtClean="0">
                                <a:solidFill>
                                  <a:schemeClr val="accent1"/>
                                </a:solidFill>
                                <a:latin typeface="Cambria Math" panose="02040503050406030204" pitchFamily="18" charset="0"/>
                              </a:rPr>
                              <m:t>𝐱</m:t>
                            </m:r>
                          </m:e>
                          <m:sub>
                            <m:r>
                              <a:rPr lang="en-US" altLang="zh-TW" sz="2000" b="1" i="0" smtClean="0">
                                <a:solidFill>
                                  <a:schemeClr val="accent1"/>
                                </a:solidFill>
                                <a:latin typeface="Cambria Math" panose="02040503050406030204" pitchFamily="18" charset="0"/>
                              </a:rPr>
                              <m:t>𝐚</m:t>
                            </m:r>
                          </m:sub>
                        </m:sSub>
                      </m:oMath>
                    </m:oMathPara>
                  </a14:m>
                  <a:endParaRPr lang="zh-TW" altLang="en-US" sz="3200" b="1" dirty="0">
                    <a:solidFill>
                      <a:srgbClr val="FF0000"/>
                    </a:solidFill>
                  </a:endParaRPr>
                </a:p>
              </p:txBody>
            </p:sp>
          </mc:Choice>
          <mc:Fallback>
            <p:sp>
              <p:nvSpPr>
                <p:cNvPr id="14" name="文字方塊 13">
                  <a:extLst>
                    <a:ext uri="{FF2B5EF4-FFF2-40B4-BE49-F238E27FC236}">
                      <a16:creationId xmlns:a16="http://schemas.microsoft.com/office/drawing/2014/main" id="{23B36AA3-C2D5-4458-B140-6119FE1F4076}"/>
                    </a:ext>
                  </a:extLst>
                </p:cNvPr>
                <p:cNvSpPr txBox="1">
                  <a:spLocks noRot="1" noChangeAspect="1" noMove="1" noResize="1" noEditPoints="1" noAdjustHandles="1" noChangeArrowheads="1" noChangeShapeType="1" noTextEdit="1"/>
                </p:cNvSpPr>
                <p:nvPr/>
              </p:nvSpPr>
              <p:spPr>
                <a:xfrm>
                  <a:off x="8886053" y="3327480"/>
                  <a:ext cx="623935" cy="414478"/>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5" name="文字方塊 14">
                  <a:extLst>
                    <a:ext uri="{FF2B5EF4-FFF2-40B4-BE49-F238E27FC236}">
                      <a16:creationId xmlns:a16="http://schemas.microsoft.com/office/drawing/2014/main" id="{488DB032-8448-4BE0-8A63-56E40746539F}"/>
                    </a:ext>
                  </a:extLst>
                </p:cNvPr>
                <p:cNvSpPr txBox="1"/>
                <p:nvPr/>
              </p:nvSpPr>
              <p:spPr>
                <a:xfrm>
                  <a:off x="9366204" y="2939165"/>
                  <a:ext cx="623935" cy="414478"/>
                </a:xfrm>
                <a:prstGeom prst="rect">
                  <a:avLst/>
                </a:prstGeom>
                <a:noFill/>
              </p:spPr>
              <p:txBody>
                <a:bodyPr vert="horz" wrap="square" rtlCol="0" anchor="ctr" anchorCtr="0">
                  <a:spAutoFit/>
                </a:bodyPr>
                <a:lstStyle/>
                <a:p>
                  <a:pPr/>
                  <a14:m>
                    <m:oMathPara xmlns:m="http://schemas.openxmlformats.org/officeDocument/2006/math">
                      <m:oMathParaPr>
                        <m:jc m:val="centerGroup"/>
                      </m:oMathParaPr>
                      <m:oMath xmlns:m="http://schemas.openxmlformats.org/officeDocument/2006/math">
                        <m:sSub>
                          <m:sSubPr>
                            <m:ctrlPr>
                              <a:rPr lang="en-US" altLang="zh-TW" sz="2000" b="1" smtClean="0">
                                <a:solidFill>
                                  <a:schemeClr val="accent1"/>
                                </a:solidFill>
                                <a:latin typeface="Cambria Math" panose="02040503050406030204" pitchFamily="18" charset="0"/>
                              </a:rPr>
                            </m:ctrlPr>
                          </m:sSubPr>
                          <m:e>
                            <m:r>
                              <a:rPr lang="en-US" altLang="zh-TW" sz="2000" b="1" i="0" smtClean="0">
                                <a:solidFill>
                                  <a:schemeClr val="accent1"/>
                                </a:solidFill>
                                <a:latin typeface="Cambria Math" panose="02040503050406030204" pitchFamily="18" charset="0"/>
                              </a:rPr>
                              <m:t>𝐲</m:t>
                            </m:r>
                          </m:e>
                          <m:sub>
                            <m:r>
                              <a:rPr lang="en-US" altLang="zh-TW" sz="2000" b="1" i="0" smtClean="0">
                                <a:solidFill>
                                  <a:schemeClr val="accent1"/>
                                </a:solidFill>
                                <a:latin typeface="Cambria Math" panose="02040503050406030204" pitchFamily="18" charset="0"/>
                              </a:rPr>
                              <m:t>𝐚</m:t>
                            </m:r>
                          </m:sub>
                        </m:sSub>
                      </m:oMath>
                    </m:oMathPara>
                  </a14:m>
                  <a:endParaRPr lang="zh-TW" altLang="en-US" sz="3200" b="1" dirty="0">
                    <a:solidFill>
                      <a:srgbClr val="FF0000"/>
                    </a:solidFill>
                  </a:endParaRPr>
                </a:p>
              </p:txBody>
            </p:sp>
          </mc:Choice>
          <mc:Fallback>
            <p:sp>
              <p:nvSpPr>
                <p:cNvPr id="15" name="文字方塊 14">
                  <a:extLst>
                    <a:ext uri="{FF2B5EF4-FFF2-40B4-BE49-F238E27FC236}">
                      <a16:creationId xmlns:a16="http://schemas.microsoft.com/office/drawing/2014/main" id="{488DB032-8448-4BE0-8A63-56E40746539F}"/>
                    </a:ext>
                  </a:extLst>
                </p:cNvPr>
                <p:cNvSpPr txBox="1">
                  <a:spLocks noRot="1" noChangeAspect="1" noMove="1" noResize="1" noEditPoints="1" noAdjustHandles="1" noChangeArrowheads="1" noChangeShapeType="1" noTextEdit="1"/>
                </p:cNvSpPr>
                <p:nvPr/>
              </p:nvSpPr>
              <p:spPr>
                <a:xfrm>
                  <a:off x="9366204" y="2939165"/>
                  <a:ext cx="623935" cy="414478"/>
                </a:xfrm>
                <a:prstGeom prst="rect">
                  <a:avLst/>
                </a:prstGeom>
                <a:blipFill>
                  <a:blip r:embed="rId5"/>
                  <a:stretch>
                    <a:fillRect b="-7353"/>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6" name="文字方塊 15">
                  <a:extLst>
                    <a:ext uri="{FF2B5EF4-FFF2-40B4-BE49-F238E27FC236}">
                      <a16:creationId xmlns:a16="http://schemas.microsoft.com/office/drawing/2014/main" id="{B2E39C46-90A9-4109-A14F-26CE67886198}"/>
                    </a:ext>
                  </a:extLst>
                </p:cNvPr>
                <p:cNvSpPr txBox="1"/>
                <p:nvPr/>
              </p:nvSpPr>
              <p:spPr>
                <a:xfrm>
                  <a:off x="9285506" y="2550850"/>
                  <a:ext cx="623935" cy="414478"/>
                </a:xfrm>
                <a:prstGeom prst="rect">
                  <a:avLst/>
                </a:prstGeom>
                <a:noFill/>
              </p:spPr>
              <p:txBody>
                <a:bodyPr vert="horz" wrap="square" rtlCol="0" anchor="ctr" anchorCtr="0">
                  <a:spAutoFit/>
                </a:bodyPr>
                <a:lstStyle/>
                <a:p>
                  <a:pPr/>
                  <a14:m>
                    <m:oMathPara xmlns:m="http://schemas.openxmlformats.org/officeDocument/2006/math">
                      <m:oMathParaPr>
                        <m:jc m:val="centerGroup"/>
                      </m:oMathParaPr>
                      <m:oMath xmlns:m="http://schemas.openxmlformats.org/officeDocument/2006/math">
                        <m:sSub>
                          <m:sSubPr>
                            <m:ctrlPr>
                              <a:rPr lang="en-US" altLang="zh-TW" sz="2000" b="1" smtClean="0">
                                <a:solidFill>
                                  <a:schemeClr val="accent1"/>
                                </a:solidFill>
                                <a:latin typeface="Cambria Math" panose="02040503050406030204" pitchFamily="18" charset="0"/>
                              </a:rPr>
                            </m:ctrlPr>
                          </m:sSubPr>
                          <m:e>
                            <m:r>
                              <a:rPr lang="en-US" altLang="zh-TW" sz="2000" b="1" i="0" smtClean="0">
                                <a:solidFill>
                                  <a:schemeClr val="accent1"/>
                                </a:solidFill>
                                <a:latin typeface="Cambria Math" panose="02040503050406030204" pitchFamily="18" charset="0"/>
                              </a:rPr>
                              <m:t>𝐳</m:t>
                            </m:r>
                          </m:e>
                          <m:sub>
                            <m:r>
                              <a:rPr lang="en-US" altLang="zh-TW" sz="2000" b="1" i="0" smtClean="0">
                                <a:solidFill>
                                  <a:schemeClr val="accent1"/>
                                </a:solidFill>
                                <a:latin typeface="Cambria Math" panose="02040503050406030204" pitchFamily="18" charset="0"/>
                              </a:rPr>
                              <m:t>𝐚</m:t>
                            </m:r>
                          </m:sub>
                        </m:sSub>
                      </m:oMath>
                    </m:oMathPara>
                  </a14:m>
                  <a:endParaRPr lang="zh-TW" altLang="en-US" sz="3200" b="1" dirty="0">
                    <a:solidFill>
                      <a:srgbClr val="FF0000"/>
                    </a:solidFill>
                  </a:endParaRPr>
                </a:p>
              </p:txBody>
            </p:sp>
          </mc:Choice>
          <mc:Fallback>
            <p:sp>
              <p:nvSpPr>
                <p:cNvPr id="16" name="文字方塊 15">
                  <a:extLst>
                    <a:ext uri="{FF2B5EF4-FFF2-40B4-BE49-F238E27FC236}">
                      <a16:creationId xmlns:a16="http://schemas.microsoft.com/office/drawing/2014/main" id="{B2E39C46-90A9-4109-A14F-26CE67886198}"/>
                    </a:ext>
                  </a:extLst>
                </p:cNvPr>
                <p:cNvSpPr txBox="1">
                  <a:spLocks noRot="1" noChangeAspect="1" noMove="1" noResize="1" noEditPoints="1" noAdjustHandles="1" noChangeArrowheads="1" noChangeShapeType="1" noTextEdit="1"/>
                </p:cNvSpPr>
                <p:nvPr/>
              </p:nvSpPr>
              <p:spPr>
                <a:xfrm>
                  <a:off x="9285506" y="2550850"/>
                  <a:ext cx="623935" cy="414478"/>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3" name="文字方塊 22">
                  <a:extLst>
                    <a:ext uri="{FF2B5EF4-FFF2-40B4-BE49-F238E27FC236}">
                      <a16:creationId xmlns:a16="http://schemas.microsoft.com/office/drawing/2014/main" id="{FF9AE951-04CE-41B8-9C4D-CAF613B68EC8}"/>
                    </a:ext>
                  </a:extLst>
                </p:cNvPr>
                <p:cNvSpPr txBox="1"/>
                <p:nvPr/>
              </p:nvSpPr>
              <p:spPr>
                <a:xfrm rot="19091857">
                  <a:off x="7076158" y="4318598"/>
                  <a:ext cx="622927" cy="699735"/>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400" b="1" i="0" smtClean="0">
                            <a:latin typeface="Cambria Math" panose="02040503050406030204" pitchFamily="18" charset="0"/>
                          </a:rPr>
                          <m:t>𝐱</m:t>
                        </m:r>
                        <m:r>
                          <a:rPr lang="en-US" altLang="zh-TW" sz="2400" b="1" i="0" smtClean="0">
                            <a:latin typeface="Cambria Math" panose="02040503050406030204" pitchFamily="18" charset="0"/>
                          </a:rPr>
                          <m:t>(</m:t>
                        </m:r>
                        <m:r>
                          <a:rPr lang="en-US" altLang="zh-TW" sz="2400" b="1" i="0" smtClean="0">
                            <a:latin typeface="Cambria Math" panose="02040503050406030204" pitchFamily="18" charset="0"/>
                          </a:rPr>
                          <m:t>𝐦𝐦</m:t>
                        </m:r>
                        <m:r>
                          <a:rPr lang="en-US" altLang="zh-TW" sz="2400" b="1" i="0" smtClean="0">
                            <a:latin typeface="Cambria Math" panose="02040503050406030204" pitchFamily="18" charset="0"/>
                          </a:rPr>
                          <m:t>)</m:t>
                        </m:r>
                      </m:oMath>
                    </m:oMathPara>
                  </a14:m>
                  <a:endParaRPr lang="zh-TW" altLang="en-US" sz="2400" b="1" dirty="0"/>
                </a:p>
              </p:txBody>
            </p:sp>
          </mc:Choice>
          <mc:Fallback>
            <p:sp>
              <p:nvSpPr>
                <p:cNvPr id="23" name="文字方塊 22">
                  <a:extLst>
                    <a:ext uri="{FF2B5EF4-FFF2-40B4-BE49-F238E27FC236}">
                      <a16:creationId xmlns:a16="http://schemas.microsoft.com/office/drawing/2014/main" id="{FF9AE951-04CE-41B8-9C4D-CAF613B68EC8}"/>
                    </a:ext>
                  </a:extLst>
                </p:cNvPr>
                <p:cNvSpPr txBox="1">
                  <a:spLocks noRot="1" noChangeAspect="1" noMove="1" noResize="1" noEditPoints="1" noAdjustHandles="1" noChangeArrowheads="1" noChangeShapeType="1" noTextEdit="1"/>
                </p:cNvSpPr>
                <p:nvPr/>
              </p:nvSpPr>
              <p:spPr>
                <a:xfrm rot="19091857">
                  <a:off x="7076158" y="4318598"/>
                  <a:ext cx="622927" cy="699735"/>
                </a:xfrm>
                <a:prstGeom prst="rect">
                  <a:avLst/>
                </a:prstGeom>
                <a:blipFill>
                  <a:blip r:embed="rId7"/>
                  <a:stretch>
                    <a:fillRect b="-8387"/>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4" name="文字方塊 23">
                  <a:extLst>
                    <a:ext uri="{FF2B5EF4-FFF2-40B4-BE49-F238E27FC236}">
                      <a16:creationId xmlns:a16="http://schemas.microsoft.com/office/drawing/2014/main" id="{CE9C3455-67ED-4035-B41C-6658A47E0813}"/>
                    </a:ext>
                  </a:extLst>
                </p:cNvPr>
                <p:cNvSpPr txBox="1"/>
                <p:nvPr/>
              </p:nvSpPr>
              <p:spPr>
                <a:xfrm rot="15569608">
                  <a:off x="9597978" y="4865062"/>
                  <a:ext cx="622927" cy="699735"/>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400" b="1" i="0" smtClean="0">
                            <a:latin typeface="Cambria Math" panose="02040503050406030204" pitchFamily="18" charset="0"/>
                          </a:rPr>
                          <m:t>𝐲</m:t>
                        </m:r>
                        <m:r>
                          <a:rPr lang="en-US" altLang="zh-TW" sz="2400" b="1" i="0" smtClean="0">
                            <a:latin typeface="Cambria Math" panose="02040503050406030204" pitchFamily="18" charset="0"/>
                          </a:rPr>
                          <m:t>(</m:t>
                        </m:r>
                        <m:r>
                          <a:rPr lang="en-US" altLang="zh-TW" sz="2400" b="1" i="0" smtClean="0">
                            <a:latin typeface="Cambria Math" panose="02040503050406030204" pitchFamily="18" charset="0"/>
                          </a:rPr>
                          <m:t>𝐦𝐦</m:t>
                        </m:r>
                        <m:r>
                          <a:rPr lang="en-US" altLang="zh-TW" sz="2400" b="1" i="0" smtClean="0">
                            <a:latin typeface="Cambria Math" panose="02040503050406030204" pitchFamily="18" charset="0"/>
                          </a:rPr>
                          <m:t>)</m:t>
                        </m:r>
                      </m:oMath>
                    </m:oMathPara>
                  </a14:m>
                  <a:endParaRPr lang="zh-TW" altLang="en-US" sz="2400" b="1" dirty="0"/>
                </a:p>
              </p:txBody>
            </p:sp>
          </mc:Choice>
          <mc:Fallback>
            <p:sp>
              <p:nvSpPr>
                <p:cNvPr id="24" name="文字方塊 23">
                  <a:extLst>
                    <a:ext uri="{FF2B5EF4-FFF2-40B4-BE49-F238E27FC236}">
                      <a16:creationId xmlns:a16="http://schemas.microsoft.com/office/drawing/2014/main" id="{CE9C3455-67ED-4035-B41C-6658A47E0813}"/>
                    </a:ext>
                  </a:extLst>
                </p:cNvPr>
                <p:cNvSpPr txBox="1">
                  <a:spLocks noRot="1" noChangeAspect="1" noMove="1" noResize="1" noEditPoints="1" noAdjustHandles="1" noChangeArrowheads="1" noChangeShapeType="1" noTextEdit="1"/>
                </p:cNvSpPr>
                <p:nvPr/>
              </p:nvSpPr>
              <p:spPr>
                <a:xfrm rot="15569608">
                  <a:off x="9597978" y="4865062"/>
                  <a:ext cx="622927" cy="699735"/>
                </a:xfrm>
                <a:prstGeom prst="rect">
                  <a:avLst/>
                </a:prstGeom>
                <a:blipFill>
                  <a:blip r:embed="rId8"/>
                  <a:stretch>
                    <a:fillRect r="-30075"/>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5" name="文字方塊 24">
                  <a:extLst>
                    <a:ext uri="{FF2B5EF4-FFF2-40B4-BE49-F238E27FC236}">
                      <a16:creationId xmlns:a16="http://schemas.microsoft.com/office/drawing/2014/main" id="{14080182-E948-44FD-8D97-568D1FC08FB1}"/>
                    </a:ext>
                  </a:extLst>
                </p:cNvPr>
                <p:cNvSpPr txBox="1"/>
                <p:nvPr/>
              </p:nvSpPr>
              <p:spPr>
                <a:xfrm rot="10800000">
                  <a:off x="6645705" y="2763514"/>
                  <a:ext cx="622927" cy="719271"/>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400" b="1" i="0" smtClean="0">
                            <a:latin typeface="Cambria Math" panose="02040503050406030204" pitchFamily="18" charset="0"/>
                          </a:rPr>
                          <m:t>𝐳</m:t>
                        </m:r>
                        <m:r>
                          <a:rPr lang="en-US" altLang="zh-TW" sz="2400" b="1" i="0" smtClean="0">
                            <a:latin typeface="Cambria Math" panose="02040503050406030204" pitchFamily="18" charset="0"/>
                          </a:rPr>
                          <m:t>(</m:t>
                        </m:r>
                        <m:r>
                          <a:rPr lang="en-US" altLang="zh-TW" sz="2400" b="1" i="0" smtClean="0">
                            <a:latin typeface="Cambria Math" panose="02040503050406030204" pitchFamily="18" charset="0"/>
                          </a:rPr>
                          <m:t>𝐦𝐦</m:t>
                        </m:r>
                        <m:r>
                          <a:rPr lang="en-US" altLang="zh-TW" sz="2400" b="1" i="0" smtClean="0">
                            <a:latin typeface="Cambria Math" panose="02040503050406030204" pitchFamily="18" charset="0"/>
                          </a:rPr>
                          <m:t>)</m:t>
                        </m:r>
                      </m:oMath>
                    </m:oMathPara>
                  </a14:m>
                  <a:endParaRPr lang="zh-TW" altLang="en-US" sz="2400" b="1" dirty="0"/>
                </a:p>
              </p:txBody>
            </p:sp>
          </mc:Choice>
          <mc:Fallback>
            <p:sp>
              <p:nvSpPr>
                <p:cNvPr id="25" name="文字方塊 24">
                  <a:extLst>
                    <a:ext uri="{FF2B5EF4-FFF2-40B4-BE49-F238E27FC236}">
                      <a16:creationId xmlns:a16="http://schemas.microsoft.com/office/drawing/2014/main" id="{14080182-E948-44FD-8D97-568D1FC08FB1}"/>
                    </a:ext>
                  </a:extLst>
                </p:cNvPr>
                <p:cNvSpPr txBox="1">
                  <a:spLocks noRot="1" noChangeAspect="1" noMove="1" noResize="1" noEditPoints="1" noAdjustHandles="1" noChangeArrowheads="1" noChangeShapeType="1" noTextEdit="1"/>
                </p:cNvSpPr>
                <p:nvPr/>
              </p:nvSpPr>
              <p:spPr>
                <a:xfrm rot="10800000">
                  <a:off x="6645705" y="2763514"/>
                  <a:ext cx="622927" cy="719271"/>
                </a:xfrm>
                <a:prstGeom prst="rect">
                  <a:avLst/>
                </a:prstGeom>
                <a:blipFill>
                  <a:blip r:embed="rId9"/>
                  <a:stretch>
                    <a:fillRect t="-35593"/>
                  </a:stretch>
                </a:blipFill>
              </p:spPr>
              <p:txBody>
                <a:bodyPr/>
                <a:lstStyle/>
                <a:p>
                  <a:r>
                    <a:rPr lang="zh-TW" altLang="en-US">
                      <a:noFill/>
                    </a:rPr>
                    <a:t> </a:t>
                  </a:r>
                </a:p>
              </p:txBody>
            </p:sp>
          </mc:Fallback>
        </mc:AlternateContent>
      </p:grpSp>
      <p:sp>
        <p:nvSpPr>
          <p:cNvPr id="26" name="文字方塊 25">
            <a:extLst>
              <a:ext uri="{FF2B5EF4-FFF2-40B4-BE49-F238E27FC236}">
                <a16:creationId xmlns:a16="http://schemas.microsoft.com/office/drawing/2014/main" id="{0CE4A89D-7C4F-47E6-AFD7-2D7F5FD3E175}"/>
              </a:ext>
            </a:extLst>
          </p:cNvPr>
          <p:cNvSpPr txBox="1"/>
          <p:nvPr/>
        </p:nvSpPr>
        <p:spPr>
          <a:xfrm>
            <a:off x="4918337" y="1150217"/>
            <a:ext cx="6802360" cy="2951064"/>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This figure consists of two parts. The first part shows the outer spherical surface formed by the six magnetic pole tips, as described previously. The size of this spherical surface is determined by the geometric design of the magnetic tweezer. The second part, shown in green, represents the model’s sampling region. It is recommended that the sampling region cover the entire operating range, because the model exhibits reduced performance outside the sampled region.</a:t>
            </a:r>
            <a:endParaRPr lang="zh-TW" alt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333809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573024" y="416640"/>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573024" y="416640"/>
                <a:ext cx="3508909" cy="321563"/>
              </a:xfrm>
              <a:prstGeom prst="rect">
                <a:avLst/>
              </a:prstGeom>
              <a:blipFill>
                <a:blip r:embed="rId2"/>
                <a:stretch>
                  <a:fillRect l="-1215" t="-13208" r="-6944" b="-22642"/>
                </a:stretch>
              </a:blipFill>
            </p:spPr>
            <p:txBody>
              <a:bodyPr/>
              <a:lstStyle/>
              <a:p>
                <a:r>
                  <a:rPr lang="zh-TW" altLang="en-US">
                    <a:noFill/>
                  </a:rPr>
                  <a:t> </a:t>
                </a:r>
              </a:p>
            </p:txBody>
          </p:sp>
        </mc:Fallback>
      </mc:AlternateContent>
      <p:sp>
        <p:nvSpPr>
          <p:cNvPr id="6" name="文字方塊 5">
            <a:extLst>
              <a:ext uri="{FF2B5EF4-FFF2-40B4-BE49-F238E27FC236}">
                <a16:creationId xmlns:a16="http://schemas.microsoft.com/office/drawing/2014/main" id="{31ACE95C-3F52-4F1D-AC27-AFA6A8DD7680}"/>
              </a:ext>
            </a:extLst>
          </p:cNvPr>
          <p:cNvSpPr txBox="1"/>
          <p:nvPr/>
        </p:nvSpPr>
        <p:spPr>
          <a:xfrm>
            <a:off x="4943397" y="449633"/>
            <a:ext cx="1879600"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Fitting results</a:t>
            </a:r>
            <a:endParaRPr lang="zh-TW" altLang="en-US" dirty="0"/>
          </a:p>
        </p:txBody>
      </p:sp>
      <mc:AlternateContent xmlns:mc="http://schemas.openxmlformats.org/markup-compatibility/2006" xmlns:a14="http://schemas.microsoft.com/office/drawing/2010/main">
        <mc:Choice Requires="a14">
          <p:sp>
            <p:nvSpPr>
              <p:cNvPr id="30" name="文字方塊 29">
                <a:extLst>
                  <a:ext uri="{FF2B5EF4-FFF2-40B4-BE49-F238E27FC236}">
                    <a16:creationId xmlns:a16="http://schemas.microsoft.com/office/drawing/2014/main" id="{48FF51F3-095D-484A-BDEA-E3C00BED58DC}"/>
                  </a:ext>
                </a:extLst>
              </p:cNvPr>
              <p:cNvSpPr txBox="1"/>
              <p:nvPr/>
            </p:nvSpPr>
            <p:spPr>
              <a:xfrm>
                <a:off x="5013405" y="3240705"/>
                <a:ext cx="7068528" cy="316766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The left figure shows the trends of </a:t>
                </a:r>
                <a14:m>
                  <m:oMath xmlns:m="http://schemas.openxmlformats.org/officeDocument/2006/math">
                    <m:acc>
                      <m:accPr>
                        <m:chr m:val="̂"/>
                        <m:ctrlPr>
                          <a:rPr lang="en-US" altLang="zh-TW"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oMath>
                </a14:m>
                <a:r>
                  <a:rPr lang="en-US" altLang="zh-TW" dirty="0"/>
                  <a:t>  and </a:t>
                </a:r>
                <a14:m>
                  <m:oMath xmlns:m="http://schemas.openxmlformats.org/officeDocument/2006/math">
                    <m:sPre>
                      <m:sPrePr>
                        <m:ctrlPr>
                          <a:rPr lang="en-US" altLang="zh-TW" i="1" smtClean="0">
                            <a:latin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oMath>
                </a14:m>
                <a:r>
                  <a:rPr lang="en-US" altLang="zh-TW" dirty="0"/>
                  <a:t>for different sampling ranges. When the sampling range is very small, the sampling sphere is too small and tightly confined around the WP. Consequently, the field distributions generated by the six magnetic poles within the sphere exhibit insufficient variation, causing the estimated values to fluctuate as the sampling range changes and preventing them from converging to stable values. Once the sampling range exceeds approximately 80 </a:t>
                </a:r>
                <a:r>
                  <a:rPr lang="en-US" altLang="zh-TW" dirty="0" err="1"/>
                  <a:t>μm</a:t>
                </a:r>
                <a:r>
                  <a:rPr lang="en-US" altLang="zh-TW" dirty="0"/>
                  <a:t>, sufficient spatial variation in the magnetic field is included, and the estimated values become stable. In this study, the calibration values obtained using a sampling range of 150 </a:t>
                </a:r>
                <a:r>
                  <a:rPr lang="en-US" altLang="zh-TW" dirty="0" err="1"/>
                  <a:t>μm</a:t>
                </a:r>
                <a:r>
                  <a:rPr lang="en-US" altLang="zh-TW" dirty="0"/>
                  <a:t> are adopted because this range covers the required operating region.</a:t>
                </a:r>
                <a:endParaRPr lang="zh-TW" altLang="en-US" dirty="0">
                  <a:latin typeface="Times New Roman" panose="02020603050405020304" pitchFamily="18" charset="0"/>
                  <a:cs typeface="Times New Roman" panose="02020603050405020304" pitchFamily="18" charset="0"/>
                </a:endParaRPr>
              </a:p>
            </p:txBody>
          </p:sp>
        </mc:Choice>
        <mc:Fallback xmlns="">
          <p:sp>
            <p:nvSpPr>
              <p:cNvPr id="30" name="文字方塊 29">
                <a:extLst>
                  <a:ext uri="{FF2B5EF4-FFF2-40B4-BE49-F238E27FC236}">
                    <a16:creationId xmlns:a16="http://schemas.microsoft.com/office/drawing/2014/main" id="{48FF51F3-095D-484A-BDEA-E3C00BED58DC}"/>
                  </a:ext>
                </a:extLst>
              </p:cNvPr>
              <p:cNvSpPr txBox="1">
                <a:spLocks noRot="1" noChangeAspect="1" noMove="1" noResize="1" noEditPoints="1" noAdjustHandles="1" noChangeArrowheads="1" noChangeShapeType="1" noTextEdit="1"/>
              </p:cNvSpPr>
              <p:nvPr/>
            </p:nvSpPr>
            <p:spPr>
              <a:xfrm>
                <a:off x="5013405" y="3240705"/>
                <a:ext cx="7068528" cy="3167662"/>
              </a:xfrm>
              <a:prstGeom prst="rect">
                <a:avLst/>
              </a:prstGeom>
              <a:blipFill>
                <a:blip r:embed="rId9"/>
                <a:stretch>
                  <a:fillRect l="-517" t="-385" r="-86" b="-2312"/>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5" name="文字方塊 14">
                <a:extLst>
                  <a:ext uri="{FF2B5EF4-FFF2-40B4-BE49-F238E27FC236}">
                    <a16:creationId xmlns:a16="http://schemas.microsoft.com/office/drawing/2014/main" id="{E37FDE3F-DFA3-4ED8-9A80-EF9E57A4AB2A}"/>
                  </a:ext>
                </a:extLst>
              </p:cNvPr>
              <p:cNvSpPr txBox="1"/>
              <p:nvPr/>
            </p:nvSpPr>
            <p:spPr>
              <a:xfrm>
                <a:off x="5002148" y="801849"/>
                <a:ext cx="7013395" cy="1511055"/>
              </a:xfrm>
              <a:prstGeom prst="rect">
                <a:avLst/>
              </a:prstGeom>
              <a:noFill/>
            </p:spPr>
            <p:txBody>
              <a:bodyPr wrap="none" lIns="0" tIns="0" rIns="0" bIns="0" rtlCol="0">
                <a:spAutoFit/>
              </a:bodyPr>
              <a:lstStyle/>
              <a:p>
                <a:pPr/>
                <a14:m>
                  <m:oMathPara xmlns:m="http://schemas.openxmlformats.org/officeDocument/2006/math">
                    <m:oMathParaPr>
                      <m:jc m:val="center"/>
                    </m:oMathParaPr>
                    <m:oMath xmlns:m="http://schemas.openxmlformats.org/officeDocument/2006/math">
                      <m:acc>
                        <m:accPr>
                          <m:chr m:val="̅"/>
                          <m:ctrlPr>
                            <a:rPr lang="zh-TW" altLang="en-US" i="1" smtClean="0">
                              <a:latin typeface="Cambria Math" panose="02040503050406030204" pitchFamily="18" charset="0"/>
                            </a:rPr>
                          </m:ctrlPr>
                        </m:accPr>
                        <m:e>
                          <m:r>
                            <a:rPr lang="en-US" altLang="zh-TW" b="0" i="1" smtClean="0">
                              <a:latin typeface="Cambria Math" panose="02040503050406030204" pitchFamily="18" charset="0"/>
                            </a:rPr>
                            <m:t>𝐾</m:t>
                          </m:r>
                        </m:e>
                      </m:acc>
                      <m:r>
                        <a:rPr lang="en-US" altLang="zh-TW" b="0" i="1" smtClean="0">
                          <a:latin typeface="Cambria Math" panose="02040503050406030204" pitchFamily="18" charset="0"/>
                        </a:rPr>
                        <m:t>=</m:t>
                      </m:r>
                      <m:d>
                        <m:dPr>
                          <m:begChr m:val="["/>
                          <m:endChr m:val="]"/>
                          <m:ctrlPr>
                            <a:rPr lang="en-US" altLang="zh-TW" b="0" i="1" smtClean="0">
                              <a:latin typeface="Cambria Math" panose="02040503050406030204" pitchFamily="18" charset="0"/>
                            </a:rPr>
                          </m:ctrlPr>
                        </m:dPr>
                        <m:e>
                          <m:m>
                            <m:mPr>
                              <m:mcs>
                                <m:mc>
                                  <m:mcPr>
                                    <m:count m:val="2"/>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0.8333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−0.0734</m:t>
                                      </m:r>
                                    </m:e>
                                    <m:e>
                                      <m:r>
                                        <a:rPr lang="en-US" altLang="zh-TW" b="0" i="1" smtClean="0">
                                          <a:latin typeface="Cambria Math" panose="02040503050406030204" pitchFamily="18" charset="0"/>
                                        </a:rPr>
                                        <m:t>−0.2013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−0.1693</m:t>
                                            </m:r>
                                          </m:e>
                                          <m:e>
                                            <m:r>
                                              <a:rPr lang="en-US" altLang="zh-TW" b="0" i="1" smtClean="0">
                                                <a:latin typeface="Cambria Math" panose="02040503050406030204" pitchFamily="18" charset="0"/>
                                              </a:rPr>
                                              <m:t>−0.1679</m:t>
                                            </m:r>
                                          </m:e>
                                          <m:e>
                                            <m:r>
                                              <a:rPr lang="en-US" altLang="zh-TW" b="0" i="1" smtClean="0">
                                                <a:latin typeface="Cambria Math" panose="02040503050406030204" pitchFamily="18" charset="0"/>
                                              </a:rPr>
                                              <m:t>−0.2032</m:t>
                                            </m:r>
                                          </m:e>
                                        </m:mr>
                                      </m:m>
                                    </m:e>
                                  </m:mr>
                                </m:m>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−0.2064</m:t>
                                      </m:r>
                                    </m:e>
                                  </m:mr>
                                  <m:mr>
                                    <m:e>
                                      <m:r>
                                        <a:rPr lang="en-US" altLang="zh-TW" b="0" i="1" smtClean="0">
                                          <a:latin typeface="Cambria Math" panose="02040503050406030204" pitchFamily="18" charset="0"/>
                                        </a:rPr>
                                        <m:t>−0.2062</m:t>
                                      </m:r>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−0.2378</m:t>
                                            </m:r>
                                          </m:e>
                                        </m:mr>
                                        <m:mr>
                                          <m:e>
                                            <m:r>
                                              <a:rPr lang="en-US" altLang="zh-TW" b="0" i="1" smtClean="0">
                                                <a:latin typeface="Cambria Math" panose="02040503050406030204" pitchFamily="18" charset="0"/>
                                              </a:rPr>
                                              <m:t>−0.2385</m:t>
                                            </m:r>
                                          </m:e>
                                        </m:mr>
                                        <m:mr>
                                          <m:e>
                                            <m:r>
                                              <a:rPr lang="en-US" altLang="zh-TW" b="0" i="1" smtClean="0">
                                                <a:latin typeface="Cambria Math" panose="02040503050406030204" pitchFamily="18" charset="0"/>
                                              </a:rPr>
                                              <m:t>−0.2052</m:t>
                                            </m:r>
                                          </m:e>
                                        </m:mr>
                                      </m:m>
                                    </m:e>
                                  </m:mr>
                                </m:m>
                              </m:e>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0.9903</m:t>
                                            </m:r>
                                          </m:e>
                                          <m:e>
                                            <m:r>
                                              <a:rPr lang="en-US" altLang="zh-TW" b="0" i="1" smtClean="0">
                                                <a:latin typeface="Cambria Math" panose="02040503050406030204" pitchFamily="18" charset="0"/>
                                              </a:rPr>
                                              <m:t>−0.2362</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−0.1431</m:t>
                                                  </m:r>
                                                </m:e>
                                                <m:e>
                                                  <m:r>
                                                    <a:rPr lang="en-US" altLang="zh-TW" b="0" i="1" smtClean="0">
                                                      <a:latin typeface="Cambria Math" panose="02040503050406030204" pitchFamily="18" charset="0"/>
                                                    </a:rPr>
                                                    <m:t>−0.1394</m:t>
                                                  </m:r>
                                                </m:e>
                                                <m:e>
                                                  <m:r>
                                                    <a:rPr lang="en-US" altLang="zh-TW" b="0" i="1" smtClean="0">
                                                      <a:latin typeface="Cambria Math" panose="02040503050406030204" pitchFamily="18" charset="0"/>
                                                    </a:rPr>
                                                    <m:t>−0.2428</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−0.1668</m:t>
                                            </m:r>
                                          </m:e>
                                          <m:e>
                                            <m:r>
                                              <a:rPr lang="en-US" altLang="zh-TW" b="0" i="1" smtClean="0">
                                                <a:latin typeface="Cambria Math" panose="02040503050406030204" pitchFamily="18" charset="0"/>
                                              </a:rPr>
                                              <m:t>0.8422</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−0.0742</m:t>
                                                  </m:r>
                                                </m:e>
                                                <m:e>
                                                  <m:r>
                                                    <a:rPr lang="en-US" altLang="zh-TW" b="0" i="1" smtClean="0">
                                                      <a:latin typeface="Cambria Math" panose="02040503050406030204" pitchFamily="18" charset="0"/>
                                                    </a:rPr>
                                                    <m:t>−0.1648</m:t>
                                                  </m:r>
                                                </m:e>
                                                <m:e>
                                                  <m:r>
                                                    <a:rPr lang="en-US" altLang="zh-TW" b="0" i="1" smtClean="0">
                                                      <a:latin typeface="Cambria Math" panose="02040503050406030204" pitchFamily="18" charset="0"/>
                                                    </a:rPr>
                                                    <m:t>−0.2040</m:t>
                                                  </m:r>
                                                </m:e>
                                              </m:mr>
                                            </m:m>
                                          </m:e>
                                        </m:mr>
                                      </m:m>
                                    </m:e>
                                  </m:mr>
                                  <m:mr>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−0.1423</m:t>
                                                  </m:r>
                                                </m:e>
                                                <m:e>
                                                  <m:r>
                                                    <a:rPr lang="en-US" altLang="zh-TW" b="0" i="1" smtClean="0">
                                                      <a:latin typeface="Cambria Math" panose="02040503050406030204" pitchFamily="18" charset="0"/>
                                                    </a:rPr>
                                                    <m:t>−0.2027</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0.9951</m:t>
                                                        </m:r>
                                                      </m:e>
                                                      <m:e>
                                                        <m:r>
                                                          <a:rPr lang="en-US" altLang="zh-TW" b="0" i="1" smtClean="0">
                                                            <a:latin typeface="Cambria Math" panose="02040503050406030204" pitchFamily="18" charset="0"/>
                                                          </a:rPr>
                                                          <m:t>−0.1407</m:t>
                                                        </m:r>
                                                      </m:e>
                                                      <m:e>
                                                        <m:r>
                                                          <a:rPr lang="en-US" altLang="zh-TW" b="0" i="1" smtClean="0">
                                                            <a:latin typeface="Cambria Math" panose="02040503050406030204" pitchFamily="18" charset="0"/>
                                                          </a:rPr>
                                                          <m:t>−0.2406</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−0.1423</m:t>
                                                  </m:r>
                                                </m:e>
                                                <m:e>
                                                  <m:r>
                                                    <a:rPr lang="en-US" altLang="zh-TW" b="0" i="1" smtClean="0">
                                                      <a:latin typeface="Cambria Math" panose="02040503050406030204" pitchFamily="18" charset="0"/>
                                                    </a:rPr>
                                                    <m:t>−0.2323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−0.1435</m:t>
                                                        </m:r>
                                                      </m:e>
                                                      <m:e>
                                                        <m:r>
                                                          <a:rPr lang="en-US" altLang="zh-TW" b="0" i="1" smtClean="0">
                                                            <a:latin typeface="Cambria Math" panose="02040503050406030204" pitchFamily="18" charset="0"/>
                                                          </a:rPr>
                                                          <m:t>0.9923</m:t>
                                                        </m:r>
                                                      </m:e>
                                                      <m:e>
                                                        <m:r>
                                                          <a:rPr lang="en-US" altLang="zh-TW" b="0" i="1" smtClean="0">
                                                            <a:latin typeface="Cambria Math" panose="02040503050406030204" pitchFamily="18" charset="0"/>
                                                          </a:rPr>
                                                          <m:t>−0.2032</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−0.1671</m:t>
                                                  </m:r>
                                                </m:e>
                                                <m:e>
                                                  <m:r>
                                                    <a:rPr lang="en-US" altLang="zh-TW" b="0" i="1" smtClean="0">
                                                      <a:latin typeface="Cambria Math" panose="02040503050406030204" pitchFamily="18" charset="0"/>
                                                    </a:rPr>
                                                    <m:t>−0.2016</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−0.1667</m:t>
                                                        </m:r>
                                                      </m:e>
                                                      <m:e>
                                                        <m:r>
                                                          <a:rPr lang="en-US" altLang="zh-TW" b="0" i="1" smtClean="0">
                                                            <a:latin typeface="Cambria Math" panose="02040503050406030204" pitchFamily="18" charset="0"/>
                                                          </a:rPr>
                                                          <m:t>−0.0709</m:t>
                                                        </m:r>
                                                      </m:e>
                                                      <m:e>
                                                        <m:r>
                                                          <a:rPr lang="en-US" altLang="zh-TW" b="0" i="1" smtClean="0">
                                                            <a:latin typeface="Cambria Math" panose="02040503050406030204" pitchFamily="18" charset="0"/>
                                                          </a:rPr>
                                                          <m:t>0.8276</m:t>
                                                        </m:r>
                                                      </m:e>
                                                    </m:mr>
                                                  </m:m>
                                                </m:e>
                                              </m:mr>
                                            </m:m>
                                          </m:e>
                                        </m:mr>
                                      </m:m>
                                    </m:e>
                                  </m:mr>
                                </m:m>
                              </m:e>
                            </m:mr>
                          </m:m>
                        </m:e>
                      </m:d>
                    </m:oMath>
                  </m:oMathPara>
                </a14:m>
                <a:endParaRPr lang="zh-TW" altLang="en-US" dirty="0"/>
              </a:p>
            </p:txBody>
          </p:sp>
        </mc:Choice>
        <mc:Fallback>
          <p:sp>
            <p:nvSpPr>
              <p:cNvPr id="15" name="文字方塊 14">
                <a:extLst>
                  <a:ext uri="{FF2B5EF4-FFF2-40B4-BE49-F238E27FC236}">
                    <a16:creationId xmlns:a16="http://schemas.microsoft.com/office/drawing/2014/main" id="{E37FDE3F-DFA3-4ED8-9A80-EF9E57A4AB2A}"/>
                  </a:ext>
                </a:extLst>
              </p:cNvPr>
              <p:cNvSpPr txBox="1">
                <a:spLocks noRot="1" noChangeAspect="1" noMove="1" noResize="1" noEditPoints="1" noAdjustHandles="1" noChangeArrowheads="1" noChangeShapeType="1" noTextEdit="1"/>
              </p:cNvSpPr>
              <p:nvPr/>
            </p:nvSpPr>
            <p:spPr>
              <a:xfrm>
                <a:off x="5002148" y="801849"/>
                <a:ext cx="7013395" cy="1511055"/>
              </a:xfrm>
              <a:prstGeom prst="rect">
                <a:avLst/>
              </a:prstGeom>
              <a:blipFill>
                <a:blip r:embed="rId10"/>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6" name="文字方塊 15">
                <a:extLst>
                  <a:ext uri="{FF2B5EF4-FFF2-40B4-BE49-F238E27FC236}">
                    <a16:creationId xmlns:a16="http://schemas.microsoft.com/office/drawing/2014/main" id="{79A71302-02C1-4BB1-AD43-52D235BC709B}"/>
                  </a:ext>
                </a:extLst>
              </p:cNvPr>
              <p:cNvSpPr txBox="1"/>
              <p:nvPr/>
            </p:nvSpPr>
            <p:spPr>
              <a:xfrm>
                <a:off x="5405173" y="2617462"/>
                <a:ext cx="1417824" cy="291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acc>
                        <m:accPr>
                          <m:chr m:val="̂"/>
                          <m:ctrlPr>
                            <a:rPr lang="zh-TW" altLang="en-US"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r>
                        <a:rPr lang="en-US" altLang="zh-TW" b="0" i="1" smtClean="0">
                          <a:latin typeface="Cambria Math" panose="02040503050406030204" pitchFamily="18" charset="0"/>
                        </a:rPr>
                        <m:t>=860.3 </m:t>
                      </m:r>
                      <m:r>
                        <a:rPr lang="en-US" altLang="zh-TW" b="0" i="1" smtClean="0">
                          <a:latin typeface="Cambria Math" panose="02040503050406030204" pitchFamily="18" charset="0"/>
                        </a:rPr>
                        <m:t>𝑢𝑚</m:t>
                      </m:r>
                    </m:oMath>
                  </m:oMathPara>
                </a14:m>
                <a:endParaRPr lang="zh-TW" altLang="en-US" dirty="0"/>
              </a:p>
            </p:txBody>
          </p:sp>
        </mc:Choice>
        <mc:Fallback>
          <p:sp>
            <p:nvSpPr>
              <p:cNvPr id="16" name="文字方塊 15">
                <a:extLst>
                  <a:ext uri="{FF2B5EF4-FFF2-40B4-BE49-F238E27FC236}">
                    <a16:creationId xmlns:a16="http://schemas.microsoft.com/office/drawing/2014/main" id="{79A71302-02C1-4BB1-AD43-52D235BC709B}"/>
                  </a:ext>
                </a:extLst>
              </p:cNvPr>
              <p:cNvSpPr txBox="1">
                <a:spLocks noRot="1" noChangeAspect="1" noMove="1" noResize="1" noEditPoints="1" noAdjustHandles="1" noChangeArrowheads="1" noChangeShapeType="1" noTextEdit="1"/>
              </p:cNvSpPr>
              <p:nvPr/>
            </p:nvSpPr>
            <p:spPr>
              <a:xfrm>
                <a:off x="5405173" y="2617462"/>
                <a:ext cx="1417824" cy="291234"/>
              </a:xfrm>
              <a:prstGeom prst="rect">
                <a:avLst/>
              </a:prstGeom>
              <a:blipFill>
                <a:blip r:embed="rId11"/>
                <a:stretch>
                  <a:fillRect l="-3879" t="-16667" r="-2586" b="-8333"/>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7" name="文字方塊 16">
                <a:extLst>
                  <a:ext uri="{FF2B5EF4-FFF2-40B4-BE49-F238E27FC236}">
                    <a16:creationId xmlns:a16="http://schemas.microsoft.com/office/drawing/2014/main" id="{CABF0CCA-E5B5-473B-A529-1B2B8D65789C}"/>
                  </a:ext>
                </a:extLst>
              </p:cNvPr>
              <p:cNvSpPr txBox="1"/>
              <p:nvPr/>
            </p:nvSpPr>
            <p:spPr>
              <a:xfrm>
                <a:off x="7281852" y="2594008"/>
                <a:ext cx="2059666" cy="30534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Pre>
                        <m:sPrePr>
                          <m:ctrlPr>
                            <a:rPr lang="en-US" altLang="zh-TW" i="1" smtClean="0">
                              <a:latin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r>
                            <a:rPr lang="en-US" altLang="zh-TW" b="0" i="1" smtClean="0">
                              <a:latin typeface="Cambria Math" panose="02040503050406030204" pitchFamily="18" charset="0"/>
                            </a:rPr>
                            <m:t>=8. 4534</m:t>
                          </m:r>
                          <m:r>
                            <a:rPr lang="en-US" altLang="zh-TW" b="0" i="1" smtClean="0">
                              <a:latin typeface="Cambria Math" panose="02040503050406030204" pitchFamily="18" charset="0"/>
                            </a:rPr>
                            <m:t>𝑚𝑇</m:t>
                          </m:r>
                          <m:r>
                            <a:rPr lang="en-US" altLang="zh-TW" b="0" i="1" smtClean="0">
                              <a:latin typeface="Cambria Math" panose="02040503050406030204" pitchFamily="18" charset="0"/>
                            </a:rPr>
                            <m:t>/</m:t>
                          </m:r>
                          <m:r>
                            <a:rPr lang="en-US" altLang="zh-TW" b="0" i="1" smtClean="0">
                              <a:latin typeface="Cambria Math" panose="02040503050406030204" pitchFamily="18" charset="0"/>
                            </a:rPr>
                            <m:t>𝐴</m:t>
                          </m:r>
                        </m:e>
                      </m:sPre>
                    </m:oMath>
                  </m:oMathPara>
                </a14:m>
                <a:endParaRPr lang="zh-TW" altLang="en-US" dirty="0"/>
              </a:p>
            </p:txBody>
          </p:sp>
        </mc:Choice>
        <mc:Fallback>
          <p:sp>
            <p:nvSpPr>
              <p:cNvPr id="17" name="文字方塊 16">
                <a:extLst>
                  <a:ext uri="{FF2B5EF4-FFF2-40B4-BE49-F238E27FC236}">
                    <a16:creationId xmlns:a16="http://schemas.microsoft.com/office/drawing/2014/main" id="{CABF0CCA-E5B5-473B-A529-1B2B8D65789C}"/>
                  </a:ext>
                </a:extLst>
              </p:cNvPr>
              <p:cNvSpPr txBox="1">
                <a:spLocks noRot="1" noChangeAspect="1" noMove="1" noResize="1" noEditPoints="1" noAdjustHandles="1" noChangeArrowheads="1" noChangeShapeType="1" noTextEdit="1"/>
              </p:cNvSpPr>
              <p:nvPr/>
            </p:nvSpPr>
            <p:spPr>
              <a:xfrm>
                <a:off x="7281852" y="2594008"/>
                <a:ext cx="2059666" cy="305340"/>
              </a:xfrm>
              <a:prstGeom prst="rect">
                <a:avLst/>
              </a:prstGeom>
              <a:blipFill>
                <a:blip r:embed="rId12"/>
                <a:stretch>
                  <a:fillRect t="-16000" r="-2671" b="-30000"/>
                </a:stretch>
              </a:blipFill>
            </p:spPr>
            <p:txBody>
              <a:bodyPr/>
              <a:lstStyle/>
              <a:p>
                <a:r>
                  <a:rPr lang="zh-TW" altLang="en-US">
                    <a:noFill/>
                  </a:rPr>
                  <a:t> </a:t>
                </a:r>
              </a:p>
            </p:txBody>
          </p:sp>
        </mc:Fallback>
      </mc:AlternateContent>
      <p:pic>
        <p:nvPicPr>
          <p:cNvPr id="7" name="圖片 6">
            <a:extLst>
              <a:ext uri="{FF2B5EF4-FFF2-40B4-BE49-F238E27FC236}">
                <a16:creationId xmlns:a16="http://schemas.microsoft.com/office/drawing/2014/main" id="{BB0FF60A-B186-48DF-9C65-3B378A95E4FE}"/>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46237" y="819546"/>
            <a:ext cx="4941675" cy="4718081"/>
          </a:xfrm>
          <a:prstGeom prst="rect">
            <a:avLst/>
          </a:prstGeom>
        </p:spPr>
      </p:pic>
    </p:spTree>
    <p:extLst>
      <p:ext uri="{BB962C8B-B14F-4D97-AF65-F5344CB8AC3E}">
        <p14:creationId xmlns:p14="http://schemas.microsoft.com/office/powerpoint/2010/main" val="35088173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5036477" y="533559"/>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5036477" y="533559"/>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p:sp>
        <p:nvSpPr>
          <p:cNvPr id="24" name="文字方塊 23">
            <a:extLst>
              <a:ext uri="{FF2B5EF4-FFF2-40B4-BE49-F238E27FC236}">
                <a16:creationId xmlns:a16="http://schemas.microsoft.com/office/drawing/2014/main" id="{745AFEF4-E7A8-4692-ADBE-AAAC2F9849EE}"/>
              </a:ext>
            </a:extLst>
          </p:cNvPr>
          <p:cNvSpPr txBox="1"/>
          <p:nvPr/>
        </p:nvSpPr>
        <p:spPr>
          <a:xfrm>
            <a:off x="4918337" y="1150217"/>
            <a:ext cx="6802360" cy="254088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t>This figure presents the error histogram of the parametric model. The horizontal axis represents the absolute difference between the magnetic-field magnitude obtained from the simulation and that predicted by the model. The vertical axis represents the number of samples within each error interval divided by the total number of samples in the sampling region.</a:t>
            </a:r>
            <a:endParaRPr lang="zh-TW" altLang="en-US" dirty="0">
              <a:latin typeface="Times New Roman" panose="02020603050405020304" pitchFamily="18" charset="0"/>
              <a:cs typeface="Times New Roman" panose="02020603050405020304" pitchFamily="18" charset="0"/>
            </a:endParaRPr>
          </a:p>
        </p:txBody>
      </p:sp>
      <p:pic>
        <p:nvPicPr>
          <p:cNvPr id="5" name="圖片 4">
            <a:extLst>
              <a:ext uri="{FF2B5EF4-FFF2-40B4-BE49-F238E27FC236}">
                <a16:creationId xmlns:a16="http://schemas.microsoft.com/office/drawing/2014/main" id="{5FAD3A0E-D7DE-4F1C-8DB6-75F0B207B2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3567" y="1121435"/>
            <a:ext cx="4350105" cy="3214839"/>
          </a:xfrm>
          <a:prstGeom prst="rect">
            <a:avLst/>
          </a:prstGeom>
        </p:spPr>
      </p:pic>
    </p:spTree>
    <p:extLst>
      <p:ext uri="{BB962C8B-B14F-4D97-AF65-F5344CB8AC3E}">
        <p14:creationId xmlns:p14="http://schemas.microsoft.com/office/powerpoint/2010/main" val="26999499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573024" y="570245"/>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573024" y="570245"/>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p:sp>
        <p:nvSpPr>
          <p:cNvPr id="19" name="文字方塊 18">
            <a:extLst>
              <a:ext uri="{FF2B5EF4-FFF2-40B4-BE49-F238E27FC236}">
                <a16:creationId xmlns:a16="http://schemas.microsoft.com/office/drawing/2014/main" id="{EBA17566-B42C-4B02-B869-9832F66C8C0A}"/>
              </a:ext>
            </a:extLst>
          </p:cNvPr>
          <p:cNvSpPr txBox="1"/>
          <p:nvPr/>
        </p:nvSpPr>
        <p:spPr>
          <a:xfrm>
            <a:off x="4754723" y="612470"/>
            <a:ext cx="1879600"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Fitting results</a:t>
            </a:r>
            <a:endParaRPr lang="zh-TW" altLang="en-US" dirty="0"/>
          </a:p>
        </p:txBody>
      </p:sp>
      <mc:AlternateContent xmlns:mc="http://schemas.openxmlformats.org/markup-compatibility/2006" xmlns:a14="http://schemas.microsoft.com/office/drawing/2010/main">
        <mc:Choice Requires="a14">
          <p:sp>
            <p:nvSpPr>
              <p:cNvPr id="14" name="文字方塊 13">
                <a:extLst>
                  <a:ext uri="{FF2B5EF4-FFF2-40B4-BE49-F238E27FC236}">
                    <a16:creationId xmlns:a16="http://schemas.microsoft.com/office/drawing/2014/main" id="{36B864DE-D4E0-45CF-A983-5B487047D8F7}"/>
                  </a:ext>
                </a:extLst>
              </p:cNvPr>
              <p:cNvSpPr txBox="1"/>
              <p:nvPr/>
            </p:nvSpPr>
            <p:spPr>
              <a:xfrm>
                <a:off x="4818002" y="3026630"/>
                <a:ext cx="7120466" cy="3831370"/>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t>This figure shows the trends of the eighteen parameters. A notable difference can be observed in </a:t>
                </a:r>
                <a14:m>
                  <m:oMath xmlns:m="http://schemas.openxmlformats.org/officeDocument/2006/math">
                    <m:sPre>
                      <m:sPrePr>
                        <m:ctrlPr>
                          <a:rPr lang="en-US" altLang="zh-TW" i="1" smtClean="0">
                            <a:latin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oMath>
                </a14:m>
                <a:r>
                  <a:rPr lang="en-US" altLang="zh-TW" dirty="0"/>
                  <a:t>, whose trend is opposite to that of the one-parameter model. In the eighteen-parameter model, the additional degrees of freedom associated with the magnetic charge locations allow the model to simultaneously fit the magnetic field in both the near-field and near-pole regions. As the sampling sphere becomes larger, a greater magnetic charge strength is required to reproduce the magnetic field over the expanded region. Therefore, </a:t>
                </a:r>
                <a14:m>
                  <m:oMath xmlns:m="http://schemas.openxmlformats.org/officeDocument/2006/math">
                    <m:sPre>
                      <m:sPrePr>
                        <m:ctrlPr>
                          <a:rPr lang="en-US" altLang="zh-TW" i="1">
                            <a:latin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𝐼</m:t>
                            </m:r>
                          </m:sub>
                        </m:sSub>
                      </m:e>
                    </m:sPre>
                  </m:oMath>
                </a14:m>
                <a:r>
                  <a:rPr lang="en-US" altLang="zh-TW" dirty="0"/>
                  <a:t> increases as the sampling range increases.</a:t>
                </a:r>
                <a:endParaRPr lang="zh-TW" altLang="en-US" dirty="0"/>
              </a:p>
            </p:txBody>
          </p:sp>
        </mc:Choice>
        <mc:Fallback xmlns="">
          <p:sp>
            <p:nvSpPr>
              <p:cNvPr id="14" name="文字方塊 13">
                <a:extLst>
                  <a:ext uri="{FF2B5EF4-FFF2-40B4-BE49-F238E27FC236}">
                    <a16:creationId xmlns:a16="http://schemas.microsoft.com/office/drawing/2014/main" id="{36B864DE-D4E0-45CF-A983-5B487047D8F7}"/>
                  </a:ext>
                </a:extLst>
              </p:cNvPr>
              <p:cNvSpPr txBox="1">
                <a:spLocks noRot="1" noChangeAspect="1" noMove="1" noResize="1" noEditPoints="1" noAdjustHandles="1" noChangeArrowheads="1" noChangeShapeType="1" noTextEdit="1"/>
              </p:cNvSpPr>
              <p:nvPr/>
            </p:nvSpPr>
            <p:spPr>
              <a:xfrm>
                <a:off x="4818002" y="3026630"/>
                <a:ext cx="7120466" cy="3831370"/>
              </a:xfrm>
              <a:prstGeom prst="rect">
                <a:avLst/>
              </a:prstGeom>
              <a:blipFill>
                <a:blip r:embed="rId9"/>
                <a:stretch>
                  <a:fillRect l="-514" r="-3168" b="-2544"/>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6" name="文字方塊 15">
                <a:extLst>
                  <a:ext uri="{FF2B5EF4-FFF2-40B4-BE49-F238E27FC236}">
                    <a16:creationId xmlns:a16="http://schemas.microsoft.com/office/drawing/2014/main" id="{3514A624-EDE9-40AF-BE57-A60AD18744E7}"/>
                  </a:ext>
                </a:extLst>
              </p:cNvPr>
              <p:cNvSpPr txBox="1"/>
              <p:nvPr/>
            </p:nvSpPr>
            <p:spPr>
              <a:xfrm>
                <a:off x="4860789" y="981802"/>
                <a:ext cx="7221144" cy="1511055"/>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r>
                        <a:rPr lang="en-US" altLang="zh-TW" b="0" i="1" smtClean="0">
                          <a:latin typeface="Cambria Math" panose="02040503050406030204" pitchFamily="18" charset="0"/>
                        </a:rPr>
                        <m:t>=</m:t>
                      </m:r>
                      <m:d>
                        <m:dPr>
                          <m:begChr m:val="["/>
                          <m:endChr m:val="]"/>
                          <m:ctrlPr>
                            <a:rPr lang="en-US" altLang="zh-TW" b="0" i="1" smtClean="0">
                              <a:latin typeface="Cambria Math" panose="02040503050406030204" pitchFamily="18" charset="0"/>
                            </a:rPr>
                          </m:ctrlPr>
                        </m:dPr>
                        <m:e>
                          <m:m>
                            <m:mPr>
                              <m:mcs>
                                <m:mc>
                                  <m:mcPr>
                                    <m:count m:val="2"/>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0.8333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−0.1241</m:t>
                                      </m:r>
                                    </m:e>
                                    <m:e>
                                      <m:r>
                                        <a:rPr lang="en-US" altLang="zh-TW" b="0" i="1" smtClean="0">
                                          <a:latin typeface="Cambria Math" panose="02040503050406030204" pitchFamily="18" charset="0"/>
                                        </a:rPr>
                                        <m:t>−0.1247</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−0.1993</m:t>
                                            </m:r>
                                          </m:e>
                                          <m:e>
                                            <m:r>
                                              <a:rPr lang="en-US" altLang="zh-TW" b="0" i="1" smtClean="0">
                                                <a:latin typeface="Cambria Math" panose="02040503050406030204" pitchFamily="18" charset="0"/>
                                              </a:rPr>
                                              <m:t>−0.1996</m:t>
                                            </m:r>
                                          </m:e>
                                          <m:e>
                                            <m:r>
                                              <a:rPr lang="en-US" altLang="zh-TW" b="0" i="1" smtClean="0">
                                                <a:latin typeface="Cambria Math" panose="02040503050406030204" pitchFamily="18" charset="0"/>
                                              </a:rPr>
                                              <m:t>−0.1228</m:t>
                                            </m:r>
                                          </m:e>
                                        </m:mr>
                                      </m:m>
                                    </m:e>
                                  </m:mr>
                                </m:m>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−0.1116</m:t>
                                      </m:r>
                                    </m:e>
                                  </m:mr>
                                  <m:mr>
                                    <m:e>
                                      <m:r>
                                        <a:rPr lang="en-US" altLang="zh-TW" b="0" i="1" smtClean="0">
                                          <a:latin typeface="Cambria Math" panose="02040503050406030204" pitchFamily="18" charset="0"/>
                                        </a:rPr>
                                        <m:t>−0.1239</m:t>
                                      </m:r>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−0.2063</m:t>
                                            </m:r>
                                          </m:e>
                                        </m:mr>
                                        <m:mr>
                                          <m:e>
                                            <m:r>
                                              <a:rPr lang="en-US" altLang="zh-TW" b="0" i="1" smtClean="0">
                                                <a:latin typeface="Cambria Math" panose="02040503050406030204" pitchFamily="18" charset="0"/>
                                              </a:rPr>
                                              <m:t>−0.2062</m:t>
                                            </m:r>
                                          </m:e>
                                        </m:mr>
                                        <m:mr>
                                          <m:e>
                                            <m:r>
                                              <a:rPr lang="en-US" altLang="zh-TW" b="0" i="1" smtClean="0">
                                                <a:latin typeface="Cambria Math" panose="02040503050406030204" pitchFamily="18" charset="0"/>
                                              </a:rPr>
                                              <m:t>−0.1237</m:t>
                                            </m:r>
                                          </m:e>
                                        </m:mr>
                                      </m:m>
                                    </m:e>
                                  </m:mr>
                                </m:m>
                              </m:e>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0.8173</m:t>
                                            </m:r>
                                          </m:e>
                                          <m:e>
                                            <m:r>
                                              <a:rPr lang="en-US" altLang="zh-TW" b="0" i="1" smtClean="0">
                                                <a:latin typeface="Cambria Math" panose="02040503050406030204" pitchFamily="18" charset="0"/>
                                              </a:rPr>
                                              <m:t>−0.2089</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−0.1208</m:t>
                                                  </m:r>
                                                </m:e>
                                                <m:e>
                                                  <m:r>
                                                    <a:rPr lang="en-US" altLang="zh-TW" b="0" i="1" smtClean="0">
                                                      <a:latin typeface="Cambria Math" panose="02040503050406030204" pitchFamily="18" charset="0"/>
                                                    </a:rPr>
                                                    <m:t>−0.1198</m:t>
                                                  </m:r>
                                                </m:e>
                                                <m:e>
                                                  <m:r>
                                                    <a:rPr lang="en-US" altLang="zh-TW" b="0" i="1" smtClean="0">
                                                      <a:latin typeface="Cambria Math" panose="02040503050406030204" pitchFamily="18" charset="0"/>
                                                    </a:rPr>
                                                    <m:t>−0.2102</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−0.1971</m:t>
                                            </m:r>
                                          </m:e>
                                          <m:e>
                                            <m:r>
                                              <a:rPr lang="en-US" altLang="zh-TW" b="0" i="1" smtClean="0">
                                                <a:latin typeface="Cambria Math" panose="02040503050406030204" pitchFamily="18" charset="0"/>
                                              </a:rPr>
                                              <m:t>0.8358</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−0.1243</m:t>
                                                  </m:r>
                                                </m:e>
                                                <m:e>
                                                  <m:r>
                                                    <a:rPr lang="en-US" altLang="zh-TW" b="0" i="1" smtClean="0">
                                                      <a:latin typeface="Cambria Math" panose="02040503050406030204" pitchFamily="18" charset="0"/>
                                                    </a:rPr>
                                                    <m:t>−0.1970</m:t>
                                                  </m:r>
                                                </m:e>
                                                <m:e>
                                                  <m:r>
                                                    <a:rPr lang="en-US" altLang="zh-TW" b="0" i="1" smtClean="0">
                                                      <a:latin typeface="Cambria Math" panose="02040503050406030204" pitchFamily="18" charset="0"/>
                                                    </a:rPr>
                                                    <m:t>−0.1232</m:t>
                                                  </m:r>
                                                </m:e>
                                              </m:mr>
                                            </m:m>
                                          </m:e>
                                        </m:mr>
                                      </m:m>
                                    </m:e>
                                  </m:mr>
                                  <m:mr>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−0.1207</m:t>
                                                  </m:r>
                                                </m:e>
                                                <m:e>
                                                  <m:r>
                                                    <a:rPr lang="en-US" altLang="zh-TW" b="0" i="1" smtClean="0">
                                                      <a:latin typeface="Cambria Math" panose="02040503050406030204" pitchFamily="18" charset="0"/>
                                                    </a:rPr>
                                                    <m:t>−0.1130</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0.8230</m:t>
                                                        </m:r>
                                                      </m:e>
                                                      <m:e>
                                                        <m:r>
                                                          <a:rPr lang="en-US" altLang="zh-TW" b="0" i="1" smtClean="0">
                                                            <a:latin typeface="Cambria Math" panose="02040503050406030204" pitchFamily="18" charset="0"/>
                                                          </a:rPr>
                                                          <m:t>−0.1206</m:t>
                                                        </m:r>
                                                      </m:e>
                                                      <m:e>
                                                        <m:r>
                                                          <a:rPr lang="en-US" altLang="zh-TW" b="0" i="1" smtClean="0">
                                                            <a:latin typeface="Cambria Math" panose="02040503050406030204" pitchFamily="18" charset="0"/>
                                                          </a:rPr>
                                                          <m:t>−0.2085</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−0.1206</m:t>
                                                  </m:r>
                                                </m:e>
                                                <m:e>
                                                  <m:r>
                                                    <a:rPr lang="en-US" altLang="zh-TW" b="0" i="1" smtClean="0">
                                                      <a:latin typeface="Cambria Math" panose="02040503050406030204" pitchFamily="18" charset="0"/>
                                                    </a:rPr>
                                                    <m:t>−0.2053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−0.1211</m:t>
                                                        </m:r>
                                                      </m:e>
                                                      <m:e>
                                                        <m:r>
                                                          <a:rPr lang="en-US" altLang="zh-TW" b="0" i="1" smtClean="0">
                                                            <a:latin typeface="Cambria Math" panose="02040503050406030204" pitchFamily="18" charset="0"/>
                                                          </a:rPr>
                                                          <m:t>0.8174</m:t>
                                                        </m:r>
                                                      </m:e>
                                                      <m:e>
                                                        <m:r>
                                                          <a:rPr lang="en-US" altLang="zh-TW" b="0" i="1" smtClean="0">
                                                            <a:latin typeface="Cambria Math" panose="02040503050406030204" pitchFamily="18" charset="0"/>
                                                          </a:rPr>
                                                          <m:t>−0.1098</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−0.1973</m:t>
                                                  </m:r>
                                                </m:e>
                                                <m:e>
                                                  <m:r>
                                                    <a:rPr lang="en-US" altLang="zh-TW" b="0" i="1" smtClean="0">
                                                      <a:latin typeface="Cambria Math" panose="02040503050406030204" pitchFamily="18" charset="0"/>
                                                    </a:rPr>
                                                    <m:t>−0.1254</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−0.1968</m:t>
                                                        </m:r>
                                                      </m:e>
                                                      <m:e>
                                                        <m:r>
                                                          <a:rPr lang="en-US" altLang="zh-TW" b="0" i="1" smtClean="0">
                                                            <a:latin typeface="Cambria Math" panose="02040503050406030204" pitchFamily="18" charset="0"/>
                                                          </a:rPr>
                                                          <m:t>−0.1234</m:t>
                                                        </m:r>
                                                      </m:e>
                                                      <m:e>
                                                        <m:r>
                                                          <a:rPr lang="en-US" altLang="zh-TW" b="0" i="1" smtClean="0">
                                                            <a:latin typeface="Cambria Math" panose="02040503050406030204" pitchFamily="18" charset="0"/>
                                                          </a:rPr>
                                                          <m:t>0.8277</m:t>
                                                        </m:r>
                                                      </m:e>
                                                    </m:mr>
                                                  </m:m>
                                                </m:e>
                                              </m:mr>
                                            </m:m>
                                          </m:e>
                                        </m:mr>
                                      </m:m>
                                    </m:e>
                                  </m:mr>
                                </m:m>
                              </m:e>
                            </m:mr>
                          </m:m>
                        </m:e>
                      </m:d>
                    </m:oMath>
                  </m:oMathPara>
                </a14:m>
                <a:endParaRPr lang="zh-TW" altLang="en-US" dirty="0"/>
              </a:p>
            </p:txBody>
          </p:sp>
        </mc:Choice>
        <mc:Fallback>
          <p:sp>
            <p:nvSpPr>
              <p:cNvPr id="16" name="文字方塊 15">
                <a:extLst>
                  <a:ext uri="{FF2B5EF4-FFF2-40B4-BE49-F238E27FC236}">
                    <a16:creationId xmlns:a16="http://schemas.microsoft.com/office/drawing/2014/main" id="{3514A624-EDE9-40AF-BE57-A60AD18744E7}"/>
                  </a:ext>
                </a:extLst>
              </p:cNvPr>
              <p:cNvSpPr txBox="1">
                <a:spLocks noRot="1" noChangeAspect="1" noMove="1" noResize="1" noEditPoints="1" noAdjustHandles="1" noChangeArrowheads="1" noChangeShapeType="1" noTextEdit="1"/>
              </p:cNvSpPr>
              <p:nvPr/>
            </p:nvSpPr>
            <p:spPr>
              <a:xfrm>
                <a:off x="4860789" y="981802"/>
                <a:ext cx="7221144" cy="1511055"/>
              </a:xfrm>
              <a:prstGeom prst="rect">
                <a:avLst/>
              </a:prstGeom>
              <a:blipFill>
                <a:blip r:embed="rId10"/>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7" name="文字方塊 16">
                <a:extLst>
                  <a:ext uri="{FF2B5EF4-FFF2-40B4-BE49-F238E27FC236}">
                    <a16:creationId xmlns:a16="http://schemas.microsoft.com/office/drawing/2014/main" id="{F6595C69-CAA3-4008-80B0-FCBDF01775AC}"/>
                  </a:ext>
                </a:extLst>
              </p:cNvPr>
              <p:cNvSpPr txBox="1"/>
              <p:nvPr/>
            </p:nvSpPr>
            <p:spPr>
              <a:xfrm>
                <a:off x="5177326" y="2620894"/>
                <a:ext cx="1417824" cy="291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acc>
                        <m:accPr>
                          <m:chr m:val="̂"/>
                          <m:ctrlPr>
                            <a:rPr lang="zh-TW" altLang="en-US"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r>
                        <a:rPr lang="en-US" altLang="zh-TW" b="0" i="1" smtClean="0">
                          <a:latin typeface="Cambria Math" panose="02040503050406030204" pitchFamily="18" charset="0"/>
                        </a:rPr>
                        <m:t>=857.3 </m:t>
                      </m:r>
                      <m:r>
                        <a:rPr lang="en-US" altLang="zh-TW" b="0" i="1" smtClean="0">
                          <a:latin typeface="Cambria Math" panose="02040503050406030204" pitchFamily="18" charset="0"/>
                        </a:rPr>
                        <m:t>𝑢𝑚</m:t>
                      </m:r>
                    </m:oMath>
                  </m:oMathPara>
                </a14:m>
                <a:endParaRPr lang="zh-TW" altLang="en-US" dirty="0"/>
              </a:p>
            </p:txBody>
          </p:sp>
        </mc:Choice>
        <mc:Fallback>
          <p:sp>
            <p:nvSpPr>
              <p:cNvPr id="17" name="文字方塊 16">
                <a:extLst>
                  <a:ext uri="{FF2B5EF4-FFF2-40B4-BE49-F238E27FC236}">
                    <a16:creationId xmlns:a16="http://schemas.microsoft.com/office/drawing/2014/main" id="{F6595C69-CAA3-4008-80B0-FCBDF01775AC}"/>
                  </a:ext>
                </a:extLst>
              </p:cNvPr>
              <p:cNvSpPr txBox="1">
                <a:spLocks noRot="1" noChangeAspect="1" noMove="1" noResize="1" noEditPoints="1" noAdjustHandles="1" noChangeArrowheads="1" noChangeShapeType="1" noTextEdit="1"/>
              </p:cNvSpPr>
              <p:nvPr/>
            </p:nvSpPr>
            <p:spPr>
              <a:xfrm>
                <a:off x="5177326" y="2620894"/>
                <a:ext cx="1417824" cy="291234"/>
              </a:xfrm>
              <a:prstGeom prst="rect">
                <a:avLst/>
              </a:prstGeom>
              <a:blipFill>
                <a:blip r:embed="rId11"/>
                <a:stretch>
                  <a:fillRect l="-3863" t="-18750" r="-2146" b="-8333"/>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8" name="文字方塊 17">
                <a:extLst>
                  <a:ext uri="{FF2B5EF4-FFF2-40B4-BE49-F238E27FC236}">
                    <a16:creationId xmlns:a16="http://schemas.microsoft.com/office/drawing/2014/main" id="{134DFDD4-5BF9-44FC-9723-CF4F06DE5453}"/>
                  </a:ext>
                </a:extLst>
              </p:cNvPr>
              <p:cNvSpPr txBox="1"/>
              <p:nvPr/>
            </p:nvSpPr>
            <p:spPr>
              <a:xfrm>
                <a:off x="7341990" y="2631296"/>
                <a:ext cx="2072490" cy="30534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Pre>
                        <m:sPrePr>
                          <m:ctrlPr>
                            <a:rPr lang="en-US" altLang="zh-TW" i="1" smtClean="0">
                              <a:latin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r>
                            <a:rPr lang="en-US" altLang="zh-TW" b="0" i="1" smtClean="0">
                              <a:latin typeface="Cambria Math" panose="02040503050406030204" pitchFamily="18" charset="0"/>
                            </a:rPr>
                            <m:t>=9.6603 </m:t>
                          </m:r>
                          <m:r>
                            <a:rPr lang="en-US" altLang="zh-TW" b="0" i="1" smtClean="0">
                              <a:latin typeface="Cambria Math" panose="02040503050406030204" pitchFamily="18" charset="0"/>
                            </a:rPr>
                            <m:t>𝑚𝑇</m:t>
                          </m:r>
                          <m:r>
                            <a:rPr lang="en-US" altLang="zh-TW" b="0" i="1" smtClean="0">
                              <a:latin typeface="Cambria Math" panose="02040503050406030204" pitchFamily="18" charset="0"/>
                            </a:rPr>
                            <m:t>/</m:t>
                          </m:r>
                          <m:r>
                            <a:rPr lang="en-US" altLang="zh-TW" b="0" i="1" smtClean="0">
                              <a:latin typeface="Cambria Math" panose="02040503050406030204" pitchFamily="18" charset="0"/>
                            </a:rPr>
                            <m:t>𝐴</m:t>
                          </m:r>
                        </m:e>
                      </m:sPre>
                    </m:oMath>
                  </m:oMathPara>
                </a14:m>
                <a:endParaRPr lang="zh-TW" altLang="en-US" dirty="0"/>
              </a:p>
            </p:txBody>
          </p:sp>
        </mc:Choice>
        <mc:Fallback>
          <p:sp>
            <p:nvSpPr>
              <p:cNvPr id="18" name="文字方塊 17">
                <a:extLst>
                  <a:ext uri="{FF2B5EF4-FFF2-40B4-BE49-F238E27FC236}">
                    <a16:creationId xmlns:a16="http://schemas.microsoft.com/office/drawing/2014/main" id="{134DFDD4-5BF9-44FC-9723-CF4F06DE5453}"/>
                  </a:ext>
                </a:extLst>
              </p:cNvPr>
              <p:cNvSpPr txBox="1">
                <a:spLocks noRot="1" noChangeAspect="1" noMove="1" noResize="1" noEditPoints="1" noAdjustHandles="1" noChangeArrowheads="1" noChangeShapeType="1" noTextEdit="1"/>
              </p:cNvSpPr>
              <p:nvPr/>
            </p:nvSpPr>
            <p:spPr>
              <a:xfrm>
                <a:off x="7341990" y="2631296"/>
                <a:ext cx="2072490" cy="305340"/>
              </a:xfrm>
              <a:prstGeom prst="rect">
                <a:avLst/>
              </a:prstGeom>
              <a:blipFill>
                <a:blip r:embed="rId12"/>
                <a:stretch>
                  <a:fillRect t="-16000" r="-2647" b="-30000"/>
                </a:stretch>
              </a:blipFill>
            </p:spPr>
            <p:txBody>
              <a:bodyPr/>
              <a:lstStyle/>
              <a:p>
                <a:r>
                  <a:rPr lang="zh-TW" altLang="en-US">
                    <a:noFill/>
                  </a:rPr>
                  <a:t> </a:t>
                </a:r>
              </a:p>
            </p:txBody>
          </p:sp>
        </mc:Fallback>
      </mc:AlternateContent>
      <p:pic>
        <p:nvPicPr>
          <p:cNvPr id="6" name="圖片 5">
            <a:extLst>
              <a:ext uri="{FF2B5EF4-FFF2-40B4-BE49-F238E27FC236}">
                <a16:creationId xmlns:a16="http://schemas.microsoft.com/office/drawing/2014/main" id="{43B7724E-A0E1-4270-9B71-2AA83F6B2C33}"/>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15157" y="838430"/>
            <a:ext cx="4486533" cy="4281356"/>
          </a:xfrm>
          <a:prstGeom prst="rect">
            <a:avLst/>
          </a:prstGeom>
        </p:spPr>
      </p:pic>
    </p:spTree>
    <p:extLst>
      <p:ext uri="{BB962C8B-B14F-4D97-AF65-F5344CB8AC3E}">
        <p14:creationId xmlns:p14="http://schemas.microsoft.com/office/powerpoint/2010/main" val="42783174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217453" y="423838"/>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217453" y="423838"/>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p:sp>
        <p:nvSpPr>
          <p:cNvPr id="4" name="文字方塊 3">
            <a:extLst>
              <a:ext uri="{FF2B5EF4-FFF2-40B4-BE49-F238E27FC236}">
                <a16:creationId xmlns:a16="http://schemas.microsoft.com/office/drawing/2014/main" id="{16209D20-3D4A-4EC3-83E8-3467A9F0B2BC}"/>
              </a:ext>
            </a:extLst>
          </p:cNvPr>
          <p:cNvSpPr txBox="1"/>
          <p:nvPr/>
        </p:nvSpPr>
        <p:spPr>
          <a:xfrm>
            <a:off x="5054600" y="1083512"/>
            <a:ext cx="6383867" cy="2957861"/>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t>This figure presents the error histogram of the eighteen-parameter model. The horizontal axis represents the absolute difference between the magnetic-field magnitude obtained from the simulation and that predicted by the model. The vertical axis represents the number of samples within each error interval divided by the total number of samples in the sampling region.</a:t>
            </a:r>
            <a:endParaRPr lang="zh-TW" altLang="en-US" dirty="0"/>
          </a:p>
        </p:txBody>
      </p:sp>
      <p:pic>
        <p:nvPicPr>
          <p:cNvPr id="6" name="圖片 5">
            <a:extLst>
              <a:ext uri="{FF2B5EF4-FFF2-40B4-BE49-F238E27FC236}">
                <a16:creationId xmlns:a16="http://schemas.microsoft.com/office/drawing/2014/main" id="{65841BBD-7059-4E81-B8EC-BFF8C2A54D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1000" y="1069794"/>
            <a:ext cx="4478866" cy="3242733"/>
          </a:xfrm>
          <a:prstGeom prst="rect">
            <a:avLst/>
          </a:prstGeom>
        </p:spPr>
      </p:pic>
    </p:spTree>
    <p:extLst>
      <p:ext uri="{BB962C8B-B14F-4D97-AF65-F5344CB8AC3E}">
        <p14:creationId xmlns:p14="http://schemas.microsoft.com/office/powerpoint/2010/main" val="32977377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217453" y="423838"/>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217453" y="423838"/>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p:sp>
        <p:nvSpPr>
          <p:cNvPr id="11" name="文字方塊 10">
            <a:extLst>
              <a:ext uri="{FF2B5EF4-FFF2-40B4-BE49-F238E27FC236}">
                <a16:creationId xmlns:a16="http://schemas.microsoft.com/office/drawing/2014/main" id="{54C8E874-6E04-4F06-97C3-1C58F72C5F9C}"/>
              </a:ext>
            </a:extLst>
          </p:cNvPr>
          <p:cNvSpPr txBox="1"/>
          <p:nvPr/>
        </p:nvSpPr>
        <p:spPr>
          <a:xfrm>
            <a:off x="5367867" y="1413931"/>
            <a:ext cx="5858933" cy="2126864"/>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t>This figure overlays the distributions of the two models. The red distribution is noticeably more concentrated than the blue one, indicating that the eighteen-parameter model performs better than the one-parameter model in fitting the magnetic field.</a:t>
            </a:r>
            <a:endParaRPr lang="zh-TW" altLang="en-US" dirty="0"/>
          </a:p>
        </p:txBody>
      </p:sp>
      <p:pic>
        <p:nvPicPr>
          <p:cNvPr id="5" name="圖片 4">
            <a:extLst>
              <a:ext uri="{FF2B5EF4-FFF2-40B4-BE49-F238E27FC236}">
                <a16:creationId xmlns:a16="http://schemas.microsoft.com/office/drawing/2014/main" id="{481A712F-D1EA-4152-859F-5CA6A7A47E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3133" y="1112447"/>
            <a:ext cx="4852687" cy="4021667"/>
          </a:xfrm>
          <a:prstGeom prst="rect">
            <a:avLst/>
          </a:prstGeom>
        </p:spPr>
      </p:pic>
    </p:spTree>
    <p:extLst>
      <p:ext uri="{BB962C8B-B14F-4D97-AF65-F5344CB8AC3E}">
        <p14:creationId xmlns:p14="http://schemas.microsoft.com/office/powerpoint/2010/main" val="39634389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217453" y="423838"/>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217453" y="423838"/>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p:grpSp>
        <p:nvGrpSpPr>
          <p:cNvPr id="8" name="群組 7">
            <a:extLst>
              <a:ext uri="{FF2B5EF4-FFF2-40B4-BE49-F238E27FC236}">
                <a16:creationId xmlns:a16="http://schemas.microsoft.com/office/drawing/2014/main" id="{F8F8D7F6-3655-40C8-AA72-9C00122318B8}"/>
              </a:ext>
            </a:extLst>
          </p:cNvPr>
          <p:cNvGrpSpPr/>
          <p:nvPr/>
        </p:nvGrpSpPr>
        <p:grpSpPr>
          <a:xfrm>
            <a:off x="110067" y="648773"/>
            <a:ext cx="6756400" cy="2947279"/>
            <a:chOff x="677333" y="1544881"/>
            <a:chExt cx="9186333" cy="3360781"/>
          </a:xfrm>
        </p:grpSpPr>
        <p:pic>
          <p:nvPicPr>
            <p:cNvPr id="9" name="圖片 8">
              <a:extLst>
                <a:ext uri="{FF2B5EF4-FFF2-40B4-BE49-F238E27FC236}">
                  <a16:creationId xmlns:a16="http://schemas.microsoft.com/office/drawing/2014/main" id="{BAA675CB-6E9C-4C5A-A66D-1A58C6472C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7333" y="1544881"/>
              <a:ext cx="9186333" cy="3360781"/>
            </a:xfrm>
            <a:prstGeom prst="rect">
              <a:avLst/>
            </a:prstGeom>
          </p:spPr>
        </p:pic>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AF139932-2969-4529-BFE8-AE1A2A91B32A}"/>
                    </a:ext>
                  </a:extLst>
                </p:cNvPr>
                <p:cNvSpPr txBox="1"/>
                <p:nvPr/>
              </p:nvSpPr>
              <p:spPr>
                <a:xfrm>
                  <a:off x="2915483" y="3723129"/>
                  <a:ext cx="719758" cy="43762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400" b="1" i="1" smtClean="0">
                                <a:latin typeface="Cambria Math" panose="02040503050406030204" pitchFamily="18" charset="0"/>
                              </a:rPr>
                            </m:ctrlPr>
                          </m:sSubPr>
                          <m:e>
                            <m:r>
                              <a:rPr lang="en-US" altLang="zh-TW" sz="2400" b="1" i="1" smtClean="0">
                                <a:latin typeface="Cambria Math" panose="02040503050406030204" pitchFamily="18" charset="0"/>
                              </a:rPr>
                              <m:t>𝒒</m:t>
                            </m:r>
                          </m:e>
                          <m:sub>
                            <m:r>
                              <a:rPr lang="en-US" altLang="zh-TW" sz="2400" b="1" i="1" smtClean="0">
                                <a:latin typeface="Cambria Math" panose="02040503050406030204" pitchFamily="18" charset="0"/>
                              </a:rPr>
                              <m:t>𝒄</m:t>
                            </m:r>
                            <m:r>
                              <a:rPr lang="en-US" altLang="zh-TW" sz="2400" b="1" i="1" smtClean="0">
                                <a:latin typeface="Cambria Math" panose="02040503050406030204" pitchFamily="18" charset="0"/>
                              </a:rPr>
                              <m:t>𝟏</m:t>
                            </m:r>
                          </m:sub>
                        </m:sSub>
                      </m:oMath>
                    </m:oMathPara>
                  </a14:m>
                  <a:endParaRPr lang="zh-TW" altLang="en-US" b="1" dirty="0"/>
                </a:p>
              </p:txBody>
            </p:sp>
          </mc:Choice>
          <mc:Fallback xmlns="">
            <p:sp>
              <p:nvSpPr>
                <p:cNvPr id="10" name="文字方塊 9">
                  <a:extLst>
                    <a:ext uri="{FF2B5EF4-FFF2-40B4-BE49-F238E27FC236}">
                      <a16:creationId xmlns:a16="http://schemas.microsoft.com/office/drawing/2014/main" id="{AF139932-2969-4529-BFE8-AE1A2A91B32A}"/>
                    </a:ext>
                  </a:extLst>
                </p:cNvPr>
                <p:cNvSpPr txBox="1">
                  <a:spLocks noRot="1" noChangeAspect="1" noMove="1" noResize="1" noEditPoints="1" noAdjustHandles="1" noChangeArrowheads="1" noChangeShapeType="1" noTextEdit="1"/>
                </p:cNvSpPr>
                <p:nvPr/>
              </p:nvSpPr>
              <p:spPr>
                <a:xfrm>
                  <a:off x="2915483" y="3723129"/>
                  <a:ext cx="719758" cy="437623"/>
                </a:xfrm>
                <a:prstGeom prst="rect">
                  <a:avLst/>
                </a:prstGeom>
                <a:blipFill>
                  <a:blip r:embed="rId4"/>
                  <a:stretch>
                    <a:fillRect l="-12644" r="-4598" b="-2063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CF0BDD73-F94E-40DB-90DC-023DE4671636}"/>
                    </a:ext>
                  </a:extLst>
                </p:cNvPr>
                <p:cNvSpPr txBox="1"/>
                <p:nvPr/>
              </p:nvSpPr>
              <p:spPr>
                <a:xfrm>
                  <a:off x="5990638" y="3187238"/>
                  <a:ext cx="719758" cy="43762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400" b="1" i="1" smtClean="0">
                                <a:latin typeface="Cambria Math" panose="02040503050406030204" pitchFamily="18" charset="0"/>
                              </a:rPr>
                            </m:ctrlPr>
                          </m:sSubPr>
                          <m:e>
                            <m:r>
                              <a:rPr lang="en-US" altLang="zh-TW" sz="2400" b="1" i="1" smtClean="0">
                                <a:latin typeface="Cambria Math" panose="02040503050406030204" pitchFamily="18" charset="0"/>
                              </a:rPr>
                              <m:t>𝒒</m:t>
                            </m:r>
                          </m:e>
                          <m:sub>
                            <m:r>
                              <a:rPr lang="en-US" altLang="zh-TW" sz="2400" b="1" i="1" smtClean="0">
                                <a:latin typeface="Cambria Math" panose="02040503050406030204" pitchFamily="18" charset="0"/>
                              </a:rPr>
                              <m:t>𝒄</m:t>
                            </m:r>
                            <m:r>
                              <a:rPr lang="en-US" altLang="zh-TW" sz="2400" b="1" i="1" smtClean="0">
                                <a:latin typeface="Cambria Math" panose="02040503050406030204" pitchFamily="18" charset="0"/>
                              </a:rPr>
                              <m:t>𝟐</m:t>
                            </m:r>
                          </m:sub>
                        </m:sSub>
                      </m:oMath>
                    </m:oMathPara>
                  </a14:m>
                  <a:endParaRPr lang="zh-TW" altLang="en-US" b="1" dirty="0"/>
                </a:p>
              </p:txBody>
            </p:sp>
          </mc:Choice>
          <mc:Fallback xmlns="">
            <p:sp>
              <p:nvSpPr>
                <p:cNvPr id="11" name="文字方塊 10">
                  <a:extLst>
                    <a:ext uri="{FF2B5EF4-FFF2-40B4-BE49-F238E27FC236}">
                      <a16:creationId xmlns:a16="http://schemas.microsoft.com/office/drawing/2014/main" id="{CF0BDD73-F94E-40DB-90DC-023DE4671636}"/>
                    </a:ext>
                  </a:extLst>
                </p:cNvPr>
                <p:cNvSpPr txBox="1">
                  <a:spLocks noRot="1" noChangeAspect="1" noMove="1" noResize="1" noEditPoints="1" noAdjustHandles="1" noChangeArrowheads="1" noChangeShapeType="1" noTextEdit="1"/>
                </p:cNvSpPr>
                <p:nvPr/>
              </p:nvSpPr>
              <p:spPr>
                <a:xfrm>
                  <a:off x="5990638" y="3187238"/>
                  <a:ext cx="719758" cy="437623"/>
                </a:xfrm>
                <a:prstGeom prst="rect">
                  <a:avLst/>
                </a:prstGeom>
                <a:blipFill>
                  <a:blip r:embed="rId5"/>
                  <a:stretch>
                    <a:fillRect l="-12644" r="-4598" b="-20635"/>
                  </a:stretch>
                </a:blipFill>
              </p:spPr>
              <p:txBody>
                <a:bodyPr/>
                <a:lstStyle/>
                <a:p>
                  <a:r>
                    <a:rPr lang="zh-TW" altLang="en-US">
                      <a:noFill/>
                    </a:rPr>
                    <a:t> </a:t>
                  </a:r>
                </a:p>
              </p:txBody>
            </p:sp>
          </mc:Fallback>
        </mc:AlternateContent>
      </p:grpSp>
      <p:grpSp>
        <p:nvGrpSpPr>
          <p:cNvPr id="15" name="群組 14">
            <a:extLst>
              <a:ext uri="{FF2B5EF4-FFF2-40B4-BE49-F238E27FC236}">
                <a16:creationId xmlns:a16="http://schemas.microsoft.com/office/drawing/2014/main" id="{329B1F0B-E852-469C-82EF-60D1AFA4F237}"/>
              </a:ext>
            </a:extLst>
          </p:cNvPr>
          <p:cNvGrpSpPr/>
          <p:nvPr/>
        </p:nvGrpSpPr>
        <p:grpSpPr>
          <a:xfrm>
            <a:off x="110067" y="3821646"/>
            <a:ext cx="6756400" cy="2711977"/>
            <a:chOff x="513806" y="1470948"/>
            <a:chExt cx="9827266" cy="3595264"/>
          </a:xfrm>
        </p:grpSpPr>
        <p:pic>
          <p:nvPicPr>
            <p:cNvPr id="16" name="圖片 15">
              <a:extLst>
                <a:ext uri="{FF2B5EF4-FFF2-40B4-BE49-F238E27FC236}">
                  <a16:creationId xmlns:a16="http://schemas.microsoft.com/office/drawing/2014/main" id="{0448C77D-B61C-46F5-8BBA-BCAC5666EF7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13806" y="1470948"/>
              <a:ext cx="9827266" cy="3595264"/>
            </a:xfrm>
            <a:prstGeom prst="rect">
              <a:avLst/>
            </a:prstGeom>
          </p:spPr>
        </p:pic>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730050D2-6D01-4A08-AED5-B36543E0B922}"/>
                    </a:ext>
                  </a:extLst>
                </p:cNvPr>
                <p:cNvSpPr txBox="1"/>
                <p:nvPr/>
              </p:nvSpPr>
              <p:spPr>
                <a:xfrm>
                  <a:off x="3678087" y="3556431"/>
                  <a:ext cx="769976" cy="51420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400" b="1" i="1" smtClean="0">
                                <a:latin typeface="Cambria Math" panose="02040503050406030204" pitchFamily="18" charset="0"/>
                              </a:rPr>
                            </m:ctrlPr>
                          </m:sSubPr>
                          <m:e>
                            <m:r>
                              <a:rPr lang="en-US" altLang="zh-TW" sz="2400" b="1" i="1" smtClean="0">
                                <a:latin typeface="Cambria Math" panose="02040503050406030204" pitchFamily="18" charset="0"/>
                              </a:rPr>
                              <m:t>𝒒</m:t>
                            </m:r>
                          </m:e>
                          <m:sub>
                            <m:r>
                              <a:rPr lang="en-US" altLang="zh-TW" sz="2400" b="1" i="1" smtClean="0">
                                <a:latin typeface="Cambria Math" panose="02040503050406030204" pitchFamily="18" charset="0"/>
                              </a:rPr>
                              <m:t>𝒄</m:t>
                            </m:r>
                            <m:r>
                              <a:rPr lang="en-US" altLang="zh-TW" sz="2400" b="1" i="1" smtClean="0">
                                <a:latin typeface="Cambria Math" panose="02040503050406030204" pitchFamily="18" charset="0"/>
                              </a:rPr>
                              <m:t>𝟏</m:t>
                            </m:r>
                          </m:sub>
                        </m:sSub>
                      </m:oMath>
                    </m:oMathPara>
                  </a14:m>
                  <a:endParaRPr lang="zh-TW" altLang="en-US" b="1" dirty="0"/>
                </a:p>
              </p:txBody>
            </p:sp>
          </mc:Choice>
          <mc:Fallback xmlns="">
            <p:sp>
              <p:nvSpPr>
                <p:cNvPr id="17" name="文字方塊 16">
                  <a:extLst>
                    <a:ext uri="{FF2B5EF4-FFF2-40B4-BE49-F238E27FC236}">
                      <a16:creationId xmlns:a16="http://schemas.microsoft.com/office/drawing/2014/main" id="{730050D2-6D01-4A08-AED5-B36543E0B922}"/>
                    </a:ext>
                  </a:extLst>
                </p:cNvPr>
                <p:cNvSpPr txBox="1">
                  <a:spLocks noRot="1" noChangeAspect="1" noMove="1" noResize="1" noEditPoints="1" noAdjustHandles="1" noChangeArrowheads="1" noChangeShapeType="1" noTextEdit="1"/>
                </p:cNvSpPr>
                <p:nvPr/>
              </p:nvSpPr>
              <p:spPr>
                <a:xfrm>
                  <a:off x="3678087" y="3556431"/>
                  <a:ext cx="769976" cy="514204"/>
                </a:xfrm>
                <a:prstGeom prst="rect">
                  <a:avLst/>
                </a:prstGeom>
                <a:blipFill>
                  <a:blip r:embed="rId7"/>
                  <a:stretch>
                    <a:fillRect l="-13793" r="-4598" b="-2031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8" name="文字方塊 17">
                  <a:extLst>
                    <a:ext uri="{FF2B5EF4-FFF2-40B4-BE49-F238E27FC236}">
                      <a16:creationId xmlns:a16="http://schemas.microsoft.com/office/drawing/2014/main" id="{C97F223A-9473-402A-8F22-6994B2F1B639}"/>
                    </a:ext>
                  </a:extLst>
                </p:cNvPr>
                <p:cNvSpPr txBox="1"/>
                <p:nvPr/>
              </p:nvSpPr>
              <p:spPr>
                <a:xfrm>
                  <a:off x="6289452" y="3224354"/>
                  <a:ext cx="769976" cy="51420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400" b="1" i="1" smtClean="0">
                                <a:latin typeface="Cambria Math" panose="02040503050406030204" pitchFamily="18" charset="0"/>
                              </a:rPr>
                            </m:ctrlPr>
                          </m:sSubPr>
                          <m:e>
                            <m:r>
                              <a:rPr lang="en-US" altLang="zh-TW" sz="2400" b="1" i="1" smtClean="0">
                                <a:latin typeface="Cambria Math" panose="02040503050406030204" pitchFamily="18" charset="0"/>
                              </a:rPr>
                              <m:t>𝒒</m:t>
                            </m:r>
                          </m:e>
                          <m:sub>
                            <m:r>
                              <a:rPr lang="en-US" altLang="zh-TW" sz="2400" b="1" i="1" smtClean="0">
                                <a:latin typeface="Cambria Math" panose="02040503050406030204" pitchFamily="18" charset="0"/>
                              </a:rPr>
                              <m:t>𝒄</m:t>
                            </m:r>
                            <m:r>
                              <a:rPr lang="en-US" altLang="zh-TW" sz="2400" b="1" i="1" smtClean="0">
                                <a:latin typeface="Cambria Math" panose="02040503050406030204" pitchFamily="18" charset="0"/>
                              </a:rPr>
                              <m:t>𝟐</m:t>
                            </m:r>
                          </m:sub>
                        </m:sSub>
                      </m:oMath>
                    </m:oMathPara>
                  </a14:m>
                  <a:endParaRPr lang="zh-TW" altLang="en-US" b="1" dirty="0"/>
                </a:p>
              </p:txBody>
            </p:sp>
          </mc:Choice>
          <mc:Fallback xmlns="">
            <p:sp>
              <p:nvSpPr>
                <p:cNvPr id="18" name="文字方塊 17">
                  <a:extLst>
                    <a:ext uri="{FF2B5EF4-FFF2-40B4-BE49-F238E27FC236}">
                      <a16:creationId xmlns:a16="http://schemas.microsoft.com/office/drawing/2014/main" id="{C97F223A-9473-402A-8F22-6994B2F1B639}"/>
                    </a:ext>
                  </a:extLst>
                </p:cNvPr>
                <p:cNvSpPr txBox="1">
                  <a:spLocks noRot="1" noChangeAspect="1" noMove="1" noResize="1" noEditPoints="1" noAdjustHandles="1" noChangeArrowheads="1" noChangeShapeType="1" noTextEdit="1"/>
                </p:cNvSpPr>
                <p:nvPr/>
              </p:nvSpPr>
              <p:spPr>
                <a:xfrm>
                  <a:off x="6289452" y="3224354"/>
                  <a:ext cx="769976" cy="514204"/>
                </a:xfrm>
                <a:prstGeom prst="rect">
                  <a:avLst/>
                </a:prstGeom>
                <a:blipFill>
                  <a:blip r:embed="rId8"/>
                  <a:stretch>
                    <a:fillRect l="-12644" r="-4598" b="-20313"/>
                  </a:stretch>
                </a:blipFill>
              </p:spPr>
              <p:txBody>
                <a:bodyPr/>
                <a:lstStyle/>
                <a:p>
                  <a:r>
                    <a:rPr lang="zh-TW" altLang="en-US">
                      <a:noFill/>
                    </a:rPr>
                    <a:t> </a:t>
                  </a:r>
                </a:p>
              </p:txBody>
            </p:sp>
          </mc:Fallback>
        </mc:AlternateContent>
      </p:grpSp>
      <p:sp>
        <p:nvSpPr>
          <p:cNvPr id="19" name="文字方塊 18">
            <a:extLst>
              <a:ext uri="{FF2B5EF4-FFF2-40B4-BE49-F238E27FC236}">
                <a16:creationId xmlns:a16="http://schemas.microsoft.com/office/drawing/2014/main" id="{7AEE1245-C1D7-468D-B66E-D359C98E02EC}"/>
              </a:ext>
            </a:extLst>
          </p:cNvPr>
          <p:cNvSpPr txBox="1"/>
          <p:nvPr/>
        </p:nvSpPr>
        <p:spPr>
          <a:xfrm>
            <a:off x="6665468" y="796203"/>
            <a:ext cx="5384798" cy="4801314"/>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These two figures show the differences in the calibrated magnetic charge locations between the two models. The upper row presents the magnetic charge locations calibrated by the one-parameter model, shown using side views of poles P1 and P2. It can be clearly seen that, for the lower pole, some of the magnetic charge locations are located outside the pole. This is because the one-parameter model constrains the magnetic charges to lie along the actuator coordinate axes. The lower row presents the results of the eighteen-parameter model, in which the magnetic charge locations of the lower pole move inside the pole. This is more consistent with the expected physical situation. Moreover, the error histograms shown above also indicate that these magnetic charge locations are more consistent with the theoretical positions.</a:t>
            </a:r>
            <a:endParaRPr lang="zh-TW" altLang="en-US" dirty="0"/>
          </a:p>
        </p:txBody>
      </p:sp>
    </p:spTree>
    <p:extLst>
      <p:ext uri="{BB962C8B-B14F-4D97-AF65-F5344CB8AC3E}">
        <p14:creationId xmlns:p14="http://schemas.microsoft.com/office/powerpoint/2010/main" val="18088995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1" y="68004"/>
            <a:ext cx="12335933"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Hall-sensor-voltage-based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A. </a:t>
            </a:r>
            <a:r>
              <a:rPr lang="en-US" altLang="zh-TW" sz="1800" i="1" dirty="0">
                <a:solidFill>
                  <a:srgbClr val="000000"/>
                </a:solidFill>
                <a:effectLst/>
                <a:latin typeface="Times New Roman" panose="02020603050405020304" pitchFamily="18" charset="0"/>
                <a:ea typeface="新細明體" panose="02020500000000000000" pitchFamily="18" charset="-120"/>
              </a:rPr>
              <a:t>Voltage-based magnetic flux model</a:t>
            </a:r>
            <a:endParaRPr lang="zh-TW" altLang="zh-TW" kern="100" dirty="0">
              <a:effectLst/>
              <a:latin typeface="Aptos"/>
              <a:ea typeface="新細明體" panose="02020500000000000000" pitchFamily="18" charset="-120"/>
              <a:cs typeface="Times New Roman" panose="02020603050405020304" pitchFamily="18" charset="0"/>
            </a:endParaRPr>
          </a:p>
        </p:txBody>
      </p:sp>
      <p:grpSp>
        <p:nvGrpSpPr>
          <p:cNvPr id="9" name="群組 8">
            <a:extLst>
              <a:ext uri="{FF2B5EF4-FFF2-40B4-BE49-F238E27FC236}">
                <a16:creationId xmlns:a16="http://schemas.microsoft.com/office/drawing/2014/main" id="{8D318222-8D11-4B89-BAC3-4A25512EC514}"/>
              </a:ext>
            </a:extLst>
          </p:cNvPr>
          <p:cNvGrpSpPr/>
          <p:nvPr/>
        </p:nvGrpSpPr>
        <p:grpSpPr>
          <a:xfrm>
            <a:off x="111978" y="3569723"/>
            <a:ext cx="2960907" cy="3405946"/>
            <a:chOff x="104026" y="3574293"/>
            <a:chExt cx="2960907" cy="3405946"/>
          </a:xfrm>
        </p:grpSpPr>
        <p:pic>
          <p:nvPicPr>
            <p:cNvPr id="8" name="圖片 7">
              <a:extLst>
                <a:ext uri="{FF2B5EF4-FFF2-40B4-BE49-F238E27FC236}">
                  <a16:creationId xmlns:a16="http://schemas.microsoft.com/office/drawing/2014/main" id="{EA31D489-74CE-41FF-8DAE-41AB411579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6595" y="3574293"/>
              <a:ext cx="2548338" cy="3055107"/>
            </a:xfrm>
            <a:prstGeom prst="rect">
              <a:avLst/>
            </a:prstGeom>
          </p:spPr>
        </p:pic>
        <p:grpSp>
          <p:nvGrpSpPr>
            <p:cNvPr id="32" name="群組 31">
              <a:extLst>
                <a:ext uri="{FF2B5EF4-FFF2-40B4-BE49-F238E27FC236}">
                  <a16:creationId xmlns:a16="http://schemas.microsoft.com/office/drawing/2014/main" id="{C1B12835-CC15-4F38-A03B-75EF027DF0B4}"/>
                </a:ext>
              </a:extLst>
            </p:cNvPr>
            <p:cNvGrpSpPr/>
            <p:nvPr/>
          </p:nvGrpSpPr>
          <p:grpSpPr>
            <a:xfrm>
              <a:off x="104026" y="3811490"/>
              <a:ext cx="1936929" cy="3168749"/>
              <a:chOff x="1340729" y="2383249"/>
              <a:chExt cx="2390464" cy="3892919"/>
            </a:xfrm>
          </p:grpSpPr>
          <mc:AlternateContent xmlns:mc="http://schemas.openxmlformats.org/markup-compatibility/2006">
            <mc:Choice xmlns:a14="http://schemas.microsoft.com/office/drawing/2010/main" Requires="a14">
              <p:sp>
                <p:nvSpPr>
                  <p:cNvPr id="38" name="文字方塊 37">
                    <a:extLst>
                      <a:ext uri="{FF2B5EF4-FFF2-40B4-BE49-F238E27FC236}">
                        <a16:creationId xmlns:a16="http://schemas.microsoft.com/office/drawing/2014/main" id="{025EAFBF-EBE9-46F6-B255-8712E108A281}"/>
                      </a:ext>
                    </a:extLst>
                  </p:cNvPr>
                  <p:cNvSpPr txBox="1"/>
                  <p:nvPr/>
                </p:nvSpPr>
                <p:spPr>
                  <a:xfrm rot="16200000">
                    <a:off x="2818382" y="5618754"/>
                    <a:ext cx="675564" cy="639264"/>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𝐱</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400" b="1" dirty="0"/>
                  </a:p>
                </p:txBody>
              </p:sp>
            </mc:Choice>
            <mc:Fallback>
              <p:sp>
                <p:nvSpPr>
                  <p:cNvPr id="38" name="文字方塊 37">
                    <a:extLst>
                      <a:ext uri="{FF2B5EF4-FFF2-40B4-BE49-F238E27FC236}">
                        <a16:creationId xmlns:a16="http://schemas.microsoft.com/office/drawing/2014/main" id="{025EAFBF-EBE9-46F6-B255-8712E108A281}"/>
                      </a:ext>
                    </a:extLst>
                  </p:cNvPr>
                  <p:cNvSpPr txBox="1">
                    <a:spLocks noRot="1" noChangeAspect="1" noMove="1" noResize="1" noEditPoints="1" noAdjustHandles="1" noChangeArrowheads="1" noChangeShapeType="1" noTextEdit="1"/>
                  </p:cNvSpPr>
                  <p:nvPr/>
                </p:nvSpPr>
                <p:spPr>
                  <a:xfrm rot="16200000">
                    <a:off x="2818382" y="5618754"/>
                    <a:ext cx="675564" cy="639264"/>
                  </a:xfrm>
                  <a:prstGeom prst="rect">
                    <a:avLst/>
                  </a:prstGeom>
                  <a:blipFill>
                    <a:blip r:embed="rId3"/>
                    <a:stretch>
                      <a:fillRect r="-61176"/>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9" name="文字方塊 38">
                    <a:extLst>
                      <a:ext uri="{FF2B5EF4-FFF2-40B4-BE49-F238E27FC236}">
                        <a16:creationId xmlns:a16="http://schemas.microsoft.com/office/drawing/2014/main" id="{D99A07FC-CF1E-4901-9A41-3FEC1CC504E4}"/>
                      </a:ext>
                    </a:extLst>
                  </p:cNvPr>
                  <p:cNvSpPr txBox="1"/>
                  <p:nvPr/>
                </p:nvSpPr>
                <p:spPr>
                  <a:xfrm>
                    <a:off x="1340729" y="3483629"/>
                    <a:ext cx="678652" cy="551631"/>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𝐲</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400" b="1" dirty="0"/>
                  </a:p>
                </p:txBody>
              </p:sp>
            </mc:Choice>
            <mc:Fallback>
              <p:sp>
                <p:nvSpPr>
                  <p:cNvPr id="39" name="文字方塊 38">
                    <a:extLst>
                      <a:ext uri="{FF2B5EF4-FFF2-40B4-BE49-F238E27FC236}">
                        <a16:creationId xmlns:a16="http://schemas.microsoft.com/office/drawing/2014/main" id="{D99A07FC-CF1E-4901-9A41-3FEC1CC504E4}"/>
                      </a:ext>
                    </a:extLst>
                  </p:cNvPr>
                  <p:cNvSpPr txBox="1">
                    <a:spLocks noRot="1" noChangeAspect="1" noMove="1" noResize="1" noEditPoints="1" noAdjustHandles="1" noChangeArrowheads="1" noChangeShapeType="1" noTextEdit="1"/>
                  </p:cNvSpPr>
                  <p:nvPr/>
                </p:nvSpPr>
                <p:spPr>
                  <a:xfrm>
                    <a:off x="1340729" y="3483629"/>
                    <a:ext cx="678652" cy="551631"/>
                  </a:xfrm>
                  <a:prstGeom prst="rect">
                    <a:avLst/>
                  </a:prstGeom>
                  <a:blipFill>
                    <a:blip r:embed="rId4"/>
                    <a:stretch>
                      <a:fillRect b="-86486"/>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41" name="文字方塊 40">
                    <a:extLst>
                      <a:ext uri="{FF2B5EF4-FFF2-40B4-BE49-F238E27FC236}">
                        <a16:creationId xmlns:a16="http://schemas.microsoft.com/office/drawing/2014/main" id="{2094E8A5-8C1F-454E-825C-2DA54D61A8A4}"/>
                      </a:ext>
                    </a:extLst>
                  </p:cNvPr>
                  <p:cNvSpPr txBox="1"/>
                  <p:nvPr/>
                </p:nvSpPr>
                <p:spPr>
                  <a:xfrm rot="2825501">
                    <a:off x="3188512" y="3924342"/>
                    <a:ext cx="869917" cy="21544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altLang="zh-TW" sz="1400" b="1" i="1" smtClean="0">
                              <a:solidFill>
                                <a:schemeClr val="accent1"/>
                              </a:solidFill>
                              <a:latin typeface="Cambria Math" panose="02040503050406030204" pitchFamily="18" charset="0"/>
                            </a:rPr>
                            <m:t>𝟒</m:t>
                          </m:r>
                          <m:r>
                            <a:rPr lang="en-US" altLang="zh-TW" sz="1400" b="1" i="1" smtClean="0">
                              <a:solidFill>
                                <a:schemeClr val="accent1"/>
                              </a:solidFill>
                              <a:latin typeface="Cambria Math" panose="02040503050406030204" pitchFamily="18" charset="0"/>
                            </a:rPr>
                            <m:t>.</m:t>
                          </m:r>
                          <m:r>
                            <a:rPr lang="en-US" altLang="zh-TW" sz="1400" b="1" i="1" smtClean="0">
                              <a:solidFill>
                                <a:schemeClr val="accent1"/>
                              </a:solidFill>
                              <a:latin typeface="Cambria Math" panose="02040503050406030204" pitchFamily="18" charset="0"/>
                            </a:rPr>
                            <m:t>𝟓𝟕𝟐</m:t>
                          </m:r>
                          <m:r>
                            <a:rPr lang="en-US" altLang="zh-TW" sz="1400" b="1" i="1" smtClean="0">
                              <a:solidFill>
                                <a:schemeClr val="accent1"/>
                              </a:solidFill>
                              <a:latin typeface="Cambria Math" panose="02040503050406030204" pitchFamily="18" charset="0"/>
                            </a:rPr>
                            <m:t>𝒎𝒎</m:t>
                          </m:r>
                        </m:oMath>
                      </m:oMathPara>
                    </a14:m>
                    <a:endParaRPr lang="zh-TW" altLang="en-US" sz="1400" b="1" dirty="0">
                      <a:solidFill>
                        <a:schemeClr val="accent1"/>
                      </a:solidFill>
                    </a:endParaRPr>
                  </a:p>
                </p:txBody>
              </p:sp>
            </mc:Choice>
            <mc:Fallback>
              <p:sp>
                <p:nvSpPr>
                  <p:cNvPr id="41" name="文字方塊 40">
                    <a:extLst>
                      <a:ext uri="{FF2B5EF4-FFF2-40B4-BE49-F238E27FC236}">
                        <a16:creationId xmlns:a16="http://schemas.microsoft.com/office/drawing/2014/main" id="{2094E8A5-8C1F-454E-825C-2DA54D61A8A4}"/>
                      </a:ext>
                    </a:extLst>
                  </p:cNvPr>
                  <p:cNvSpPr txBox="1">
                    <a:spLocks noRot="1" noChangeAspect="1" noMove="1" noResize="1" noEditPoints="1" noAdjustHandles="1" noChangeArrowheads="1" noChangeShapeType="1" noTextEdit="1"/>
                  </p:cNvSpPr>
                  <p:nvPr/>
                </p:nvSpPr>
                <p:spPr>
                  <a:xfrm rot="2825501">
                    <a:off x="3188512" y="3924342"/>
                    <a:ext cx="869917" cy="215444"/>
                  </a:xfrm>
                  <a:prstGeom prst="rect">
                    <a:avLst/>
                  </a:prstGeom>
                  <a:blipFill>
                    <a:blip r:embed="rId5"/>
                    <a:stretch>
                      <a:fillRect l="-11881" t="-4762" r="-17822" b="-25714"/>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42" name="文字方塊 41">
                    <a:extLst>
                      <a:ext uri="{FF2B5EF4-FFF2-40B4-BE49-F238E27FC236}">
                        <a16:creationId xmlns:a16="http://schemas.microsoft.com/office/drawing/2014/main" id="{280F7340-1A54-4948-B7A3-BD3B7877AC9E}"/>
                      </a:ext>
                    </a:extLst>
                  </p:cNvPr>
                  <p:cNvSpPr txBox="1"/>
                  <p:nvPr/>
                </p:nvSpPr>
                <p:spPr>
                  <a:xfrm rot="19107602">
                    <a:off x="2150583" y="2383249"/>
                    <a:ext cx="941060" cy="26468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altLang="zh-TW" sz="1400" b="1" i="1" smtClean="0">
                              <a:solidFill>
                                <a:schemeClr val="accent2">
                                  <a:lumMod val="75000"/>
                                </a:schemeClr>
                              </a:solidFill>
                              <a:latin typeface="Cambria Math" panose="02040503050406030204" pitchFamily="18" charset="0"/>
                            </a:rPr>
                            <m:t>𝟎</m:t>
                          </m:r>
                          <m:r>
                            <a:rPr lang="en-US" altLang="zh-TW" sz="1400" b="1" i="1" smtClean="0">
                              <a:solidFill>
                                <a:schemeClr val="accent2">
                                  <a:lumMod val="75000"/>
                                </a:schemeClr>
                              </a:solidFill>
                              <a:latin typeface="Cambria Math" panose="02040503050406030204" pitchFamily="18" charset="0"/>
                            </a:rPr>
                            <m:t>.</m:t>
                          </m:r>
                          <m:r>
                            <a:rPr lang="en-US" altLang="zh-TW" sz="1400" b="1" i="1" smtClean="0">
                              <a:solidFill>
                                <a:schemeClr val="accent2">
                                  <a:lumMod val="75000"/>
                                </a:schemeClr>
                              </a:solidFill>
                              <a:latin typeface="Cambria Math" panose="02040503050406030204" pitchFamily="18" charset="0"/>
                            </a:rPr>
                            <m:t>𝟒𝟏</m:t>
                          </m:r>
                          <m:r>
                            <a:rPr lang="en-US" altLang="zh-TW" sz="1400" b="1" i="1" smtClean="0">
                              <a:solidFill>
                                <a:schemeClr val="accent2">
                                  <a:lumMod val="75000"/>
                                </a:schemeClr>
                              </a:solidFill>
                              <a:latin typeface="Cambria Math" panose="02040503050406030204" pitchFamily="18" charset="0"/>
                            </a:rPr>
                            <m:t>𝒎𝒎</m:t>
                          </m:r>
                        </m:oMath>
                      </m:oMathPara>
                    </a14:m>
                    <a:endParaRPr lang="zh-TW" altLang="en-US" b="1" dirty="0">
                      <a:solidFill>
                        <a:schemeClr val="accent2">
                          <a:lumMod val="75000"/>
                        </a:schemeClr>
                      </a:solidFill>
                    </a:endParaRPr>
                  </a:p>
                </p:txBody>
              </p:sp>
            </mc:Choice>
            <mc:Fallback>
              <p:sp>
                <p:nvSpPr>
                  <p:cNvPr id="42" name="文字方塊 41">
                    <a:extLst>
                      <a:ext uri="{FF2B5EF4-FFF2-40B4-BE49-F238E27FC236}">
                        <a16:creationId xmlns:a16="http://schemas.microsoft.com/office/drawing/2014/main" id="{280F7340-1A54-4948-B7A3-BD3B7877AC9E}"/>
                      </a:ext>
                    </a:extLst>
                  </p:cNvPr>
                  <p:cNvSpPr txBox="1">
                    <a:spLocks noRot="1" noChangeAspect="1" noMove="1" noResize="1" noEditPoints="1" noAdjustHandles="1" noChangeArrowheads="1" noChangeShapeType="1" noTextEdit="1"/>
                  </p:cNvSpPr>
                  <p:nvPr/>
                </p:nvSpPr>
                <p:spPr>
                  <a:xfrm rot="19107602">
                    <a:off x="2150583" y="2383249"/>
                    <a:ext cx="941060" cy="264680"/>
                  </a:xfrm>
                  <a:prstGeom prst="rect">
                    <a:avLst/>
                  </a:prstGeom>
                  <a:blipFill>
                    <a:blip r:embed="rId6"/>
                    <a:stretch>
                      <a:fillRect l="-1695" t="-909" r="-3390" b="-4545"/>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43" name="文字方塊 42">
                    <a:extLst>
                      <a:ext uri="{FF2B5EF4-FFF2-40B4-BE49-F238E27FC236}">
                        <a16:creationId xmlns:a16="http://schemas.microsoft.com/office/drawing/2014/main" id="{1C231A0A-85B7-4D99-96B3-7D6D0970D00D}"/>
                      </a:ext>
                    </a:extLst>
                  </p:cNvPr>
                  <p:cNvSpPr txBox="1"/>
                  <p:nvPr/>
                </p:nvSpPr>
                <p:spPr>
                  <a:xfrm rot="2706626">
                    <a:off x="3126814" y="2522464"/>
                    <a:ext cx="300138" cy="307778"/>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sSup>
                            <m:sSupPr>
                              <m:ctrlPr>
                                <a:rPr lang="en-US" altLang="zh-TW" sz="2000" b="1" i="1" smtClean="0">
                                  <a:solidFill>
                                    <a:srgbClr val="FF0000"/>
                                  </a:solidFill>
                                  <a:latin typeface="Cambria Math" panose="02040503050406030204" pitchFamily="18" charset="0"/>
                                </a:rPr>
                              </m:ctrlPr>
                            </m:sSupPr>
                            <m:e>
                              <m:r>
                                <a:rPr lang="en-US" altLang="zh-TW" sz="2000" b="1" i="1" smtClean="0">
                                  <a:solidFill>
                                    <a:srgbClr val="FF0000"/>
                                  </a:solidFill>
                                  <a:latin typeface="Cambria Math" panose="02040503050406030204" pitchFamily="18" charset="0"/>
                                </a:rPr>
                                <m:t>𝒏</m:t>
                              </m:r>
                            </m:e>
                            <m:sup>
                              <m:r>
                                <a:rPr lang="en-US" altLang="zh-TW" sz="2000" b="1" i="1" smtClean="0">
                                  <a:solidFill>
                                    <a:srgbClr val="FF0000"/>
                                  </a:solidFill>
                                  <a:latin typeface="Cambria Math" panose="02040503050406030204" pitchFamily="18" charset="0"/>
                                </a:rPr>
                                <m:t>+</m:t>
                              </m:r>
                            </m:sup>
                          </m:sSup>
                        </m:oMath>
                      </m:oMathPara>
                    </a14:m>
                    <a:endParaRPr lang="zh-TW" altLang="en-US" b="1" dirty="0"/>
                  </a:p>
                </p:txBody>
              </p:sp>
            </mc:Choice>
            <mc:Fallback>
              <p:sp>
                <p:nvSpPr>
                  <p:cNvPr id="43" name="文字方塊 42">
                    <a:extLst>
                      <a:ext uri="{FF2B5EF4-FFF2-40B4-BE49-F238E27FC236}">
                        <a16:creationId xmlns:a16="http://schemas.microsoft.com/office/drawing/2014/main" id="{1C231A0A-85B7-4D99-96B3-7D6D0970D00D}"/>
                      </a:ext>
                    </a:extLst>
                  </p:cNvPr>
                  <p:cNvSpPr txBox="1">
                    <a:spLocks noRot="1" noChangeAspect="1" noMove="1" noResize="1" noEditPoints="1" noAdjustHandles="1" noChangeArrowheads="1" noChangeShapeType="1" noTextEdit="1"/>
                  </p:cNvSpPr>
                  <p:nvPr/>
                </p:nvSpPr>
                <p:spPr>
                  <a:xfrm rot="2706626">
                    <a:off x="3126814" y="2522464"/>
                    <a:ext cx="300138" cy="307778"/>
                  </a:xfrm>
                  <a:prstGeom prst="rect">
                    <a:avLst/>
                  </a:prstGeom>
                  <a:blipFill>
                    <a:blip r:embed="rId7"/>
                    <a:stretch>
                      <a:fillRect l="-24138" r="-20690" b="-13793"/>
                    </a:stretch>
                  </a:blipFill>
                </p:spPr>
                <p:txBody>
                  <a:bodyPr/>
                  <a:lstStyle/>
                  <a:p>
                    <a:r>
                      <a:rPr lang="zh-TW" altLang="en-US">
                        <a:noFill/>
                      </a:rPr>
                      <a:t> </a:t>
                    </a:r>
                  </a:p>
                </p:txBody>
              </p:sp>
            </mc:Fallback>
          </mc:AlternateContent>
          <p:cxnSp>
            <p:nvCxnSpPr>
              <p:cNvPr id="44" name="直線單箭頭接點 43">
                <a:extLst>
                  <a:ext uri="{FF2B5EF4-FFF2-40B4-BE49-F238E27FC236}">
                    <a16:creationId xmlns:a16="http://schemas.microsoft.com/office/drawing/2014/main" id="{2684571E-08E2-41F7-AAB2-0991162CDDEB}"/>
                  </a:ext>
                </a:extLst>
              </p:cNvPr>
              <p:cNvCxnSpPr>
                <a:cxnSpLocks/>
              </p:cNvCxnSpPr>
              <p:nvPr/>
            </p:nvCxnSpPr>
            <p:spPr>
              <a:xfrm>
                <a:off x="2573392" y="2708816"/>
                <a:ext cx="0" cy="280359"/>
              </a:xfrm>
              <a:prstGeom prst="straightConnector1">
                <a:avLst/>
              </a:prstGeom>
              <a:ln w="28575">
                <a:tailEnd type="triangle"/>
              </a:ln>
            </p:spPr>
            <p:style>
              <a:lnRef idx="2">
                <a:schemeClr val="accent2"/>
              </a:lnRef>
              <a:fillRef idx="0">
                <a:schemeClr val="accent2"/>
              </a:fillRef>
              <a:effectRef idx="1">
                <a:schemeClr val="accent2"/>
              </a:effectRef>
              <a:fontRef idx="minor">
                <a:schemeClr val="tx1"/>
              </a:fontRef>
            </p:style>
          </p:cxnSp>
        </p:grpSp>
      </p:grpSp>
      <p:grpSp>
        <p:nvGrpSpPr>
          <p:cNvPr id="45" name="群組 44">
            <a:extLst>
              <a:ext uri="{FF2B5EF4-FFF2-40B4-BE49-F238E27FC236}">
                <a16:creationId xmlns:a16="http://schemas.microsoft.com/office/drawing/2014/main" id="{0DC0E95F-A7B9-498E-931A-011A650242D6}"/>
              </a:ext>
            </a:extLst>
          </p:cNvPr>
          <p:cNvGrpSpPr/>
          <p:nvPr/>
        </p:nvGrpSpPr>
        <p:grpSpPr>
          <a:xfrm>
            <a:off x="-60414" y="791581"/>
            <a:ext cx="4149466" cy="2932460"/>
            <a:chOff x="6263960" y="551983"/>
            <a:chExt cx="5317999" cy="3782068"/>
          </a:xfrm>
        </p:grpSpPr>
        <p:pic>
          <p:nvPicPr>
            <p:cNvPr id="46" name="圖片 45">
              <a:extLst>
                <a:ext uri="{FF2B5EF4-FFF2-40B4-BE49-F238E27FC236}">
                  <a16:creationId xmlns:a16="http://schemas.microsoft.com/office/drawing/2014/main" id="{E1078709-3D40-4779-9B01-CAA18319F0A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719400" y="551983"/>
              <a:ext cx="4862559" cy="3270174"/>
            </a:xfrm>
            <a:prstGeom prst="rect">
              <a:avLst/>
            </a:prstGeom>
          </p:spPr>
        </p:pic>
        <p:grpSp>
          <p:nvGrpSpPr>
            <p:cNvPr id="47" name="群組 46">
              <a:extLst>
                <a:ext uri="{FF2B5EF4-FFF2-40B4-BE49-F238E27FC236}">
                  <a16:creationId xmlns:a16="http://schemas.microsoft.com/office/drawing/2014/main" id="{3D90072A-DE09-4A4A-8ADC-A6E62E917A41}"/>
                </a:ext>
              </a:extLst>
            </p:cNvPr>
            <p:cNvGrpSpPr/>
            <p:nvPr/>
          </p:nvGrpSpPr>
          <p:grpSpPr>
            <a:xfrm>
              <a:off x="6263960" y="1384391"/>
              <a:ext cx="5082759" cy="2949660"/>
              <a:chOff x="6643859" y="1594645"/>
              <a:chExt cx="5082759" cy="2949660"/>
            </a:xfrm>
          </p:grpSpPr>
          <mc:AlternateContent xmlns:mc="http://schemas.openxmlformats.org/markup-compatibility/2006">
            <mc:Choice xmlns:a14="http://schemas.microsoft.com/office/drawing/2010/main" Requires="a14">
              <p:sp>
                <p:nvSpPr>
                  <p:cNvPr id="48" name="文字方塊 47">
                    <a:extLst>
                      <a:ext uri="{FF2B5EF4-FFF2-40B4-BE49-F238E27FC236}">
                        <a16:creationId xmlns:a16="http://schemas.microsoft.com/office/drawing/2014/main" id="{39B53AD5-77EE-49E3-8523-E9ACFC97D754}"/>
                      </a:ext>
                    </a:extLst>
                  </p:cNvPr>
                  <p:cNvSpPr txBox="1"/>
                  <p:nvPr/>
                </p:nvSpPr>
                <p:spPr>
                  <a:xfrm rot="16200000">
                    <a:off x="8928440" y="3870067"/>
                    <a:ext cx="709212" cy="639263"/>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𝐱</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400" b="1" dirty="0"/>
                  </a:p>
                </p:txBody>
              </p:sp>
            </mc:Choice>
            <mc:Fallback>
              <p:sp>
                <p:nvSpPr>
                  <p:cNvPr id="48" name="文字方塊 47">
                    <a:extLst>
                      <a:ext uri="{FF2B5EF4-FFF2-40B4-BE49-F238E27FC236}">
                        <a16:creationId xmlns:a16="http://schemas.microsoft.com/office/drawing/2014/main" id="{39B53AD5-77EE-49E3-8523-E9ACFC97D754}"/>
                      </a:ext>
                    </a:extLst>
                  </p:cNvPr>
                  <p:cNvSpPr txBox="1">
                    <a:spLocks noRot="1" noChangeAspect="1" noMove="1" noResize="1" noEditPoints="1" noAdjustHandles="1" noChangeArrowheads="1" noChangeShapeType="1" noTextEdit="1"/>
                  </p:cNvSpPr>
                  <p:nvPr/>
                </p:nvSpPr>
                <p:spPr>
                  <a:xfrm rot="16200000">
                    <a:off x="8928440" y="3870067"/>
                    <a:ext cx="709212" cy="639263"/>
                  </a:xfrm>
                  <a:prstGeom prst="rect">
                    <a:avLst/>
                  </a:prstGeom>
                  <a:blipFill>
                    <a:blip r:embed="rId9"/>
                    <a:stretch>
                      <a:fillRect r="-67073"/>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49" name="文字方塊 48">
                    <a:extLst>
                      <a:ext uri="{FF2B5EF4-FFF2-40B4-BE49-F238E27FC236}">
                        <a16:creationId xmlns:a16="http://schemas.microsoft.com/office/drawing/2014/main" id="{EFB547E9-E4A2-437B-B227-AE6CCFA22C21}"/>
                      </a:ext>
                    </a:extLst>
                  </p:cNvPr>
                  <p:cNvSpPr txBox="1"/>
                  <p:nvPr/>
                </p:nvSpPr>
                <p:spPr>
                  <a:xfrm>
                    <a:off x="6643859" y="1594645"/>
                    <a:ext cx="704750" cy="551631"/>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𝐲</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400" b="1" dirty="0"/>
                  </a:p>
                </p:txBody>
              </p:sp>
            </mc:Choice>
            <mc:Fallback>
              <p:sp>
                <p:nvSpPr>
                  <p:cNvPr id="49" name="文字方塊 48">
                    <a:extLst>
                      <a:ext uri="{FF2B5EF4-FFF2-40B4-BE49-F238E27FC236}">
                        <a16:creationId xmlns:a16="http://schemas.microsoft.com/office/drawing/2014/main" id="{EFB547E9-E4A2-437B-B227-AE6CCFA22C21}"/>
                      </a:ext>
                    </a:extLst>
                  </p:cNvPr>
                  <p:cNvSpPr txBox="1">
                    <a:spLocks noRot="1" noChangeAspect="1" noMove="1" noResize="1" noEditPoints="1" noAdjustHandles="1" noChangeArrowheads="1" noChangeShapeType="1" noTextEdit="1"/>
                  </p:cNvSpPr>
                  <p:nvPr/>
                </p:nvSpPr>
                <p:spPr>
                  <a:xfrm>
                    <a:off x="6643859" y="1594645"/>
                    <a:ext cx="704750" cy="551631"/>
                  </a:xfrm>
                  <a:prstGeom prst="rect">
                    <a:avLst/>
                  </a:prstGeom>
                  <a:blipFill>
                    <a:blip r:embed="rId10"/>
                    <a:stretch>
                      <a:fillRect b="-95714"/>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50" name="文字方塊 49">
                    <a:extLst>
                      <a:ext uri="{FF2B5EF4-FFF2-40B4-BE49-F238E27FC236}">
                        <a16:creationId xmlns:a16="http://schemas.microsoft.com/office/drawing/2014/main" id="{9EDC1A73-368A-40A9-B53A-EF9FEEB62BF7}"/>
                      </a:ext>
                    </a:extLst>
                  </p:cNvPr>
                  <p:cNvSpPr txBox="1"/>
                  <p:nvPr/>
                </p:nvSpPr>
                <p:spPr>
                  <a:xfrm rot="796373">
                    <a:off x="10741412" y="2883540"/>
                    <a:ext cx="300139" cy="307778"/>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sSup>
                            <m:sSupPr>
                              <m:ctrlPr>
                                <a:rPr lang="en-US" altLang="zh-TW" sz="2000" b="1" i="1" smtClean="0">
                                  <a:solidFill>
                                    <a:srgbClr val="FF0000"/>
                                  </a:solidFill>
                                  <a:latin typeface="Cambria Math" panose="02040503050406030204" pitchFamily="18" charset="0"/>
                                </a:rPr>
                              </m:ctrlPr>
                            </m:sSupPr>
                            <m:e>
                              <m:r>
                                <a:rPr lang="en-US" altLang="zh-TW" sz="2000" b="1" i="1" smtClean="0">
                                  <a:solidFill>
                                    <a:srgbClr val="FF0000"/>
                                  </a:solidFill>
                                  <a:latin typeface="Cambria Math" panose="02040503050406030204" pitchFamily="18" charset="0"/>
                                </a:rPr>
                                <m:t>𝒏</m:t>
                              </m:r>
                            </m:e>
                            <m:sup>
                              <m:r>
                                <a:rPr lang="en-US" altLang="zh-TW" sz="2000" b="1" i="1" smtClean="0">
                                  <a:solidFill>
                                    <a:srgbClr val="FF0000"/>
                                  </a:solidFill>
                                  <a:latin typeface="Cambria Math" panose="02040503050406030204" pitchFamily="18" charset="0"/>
                                </a:rPr>
                                <m:t>+</m:t>
                              </m:r>
                            </m:sup>
                          </m:sSup>
                        </m:oMath>
                      </m:oMathPara>
                    </a14:m>
                    <a:endParaRPr lang="zh-TW" altLang="en-US" b="1" dirty="0"/>
                  </a:p>
                </p:txBody>
              </p:sp>
            </mc:Choice>
            <mc:Fallback>
              <p:sp>
                <p:nvSpPr>
                  <p:cNvPr id="50" name="文字方塊 49">
                    <a:extLst>
                      <a:ext uri="{FF2B5EF4-FFF2-40B4-BE49-F238E27FC236}">
                        <a16:creationId xmlns:a16="http://schemas.microsoft.com/office/drawing/2014/main" id="{9EDC1A73-368A-40A9-B53A-EF9FEEB62BF7}"/>
                      </a:ext>
                    </a:extLst>
                  </p:cNvPr>
                  <p:cNvSpPr txBox="1">
                    <a:spLocks noRot="1" noChangeAspect="1" noMove="1" noResize="1" noEditPoints="1" noAdjustHandles="1" noChangeArrowheads="1" noChangeShapeType="1" noTextEdit="1"/>
                  </p:cNvSpPr>
                  <p:nvPr/>
                </p:nvSpPr>
                <p:spPr>
                  <a:xfrm rot="796373">
                    <a:off x="10741412" y="2883540"/>
                    <a:ext cx="300139" cy="307778"/>
                  </a:xfrm>
                  <a:prstGeom prst="rect">
                    <a:avLst/>
                  </a:prstGeom>
                  <a:blipFill>
                    <a:blip r:embed="rId11"/>
                    <a:stretch>
                      <a:fillRect l="-27660" r="-42553" b="-20833"/>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51" name="文字方塊 50">
                    <a:extLst>
                      <a:ext uri="{FF2B5EF4-FFF2-40B4-BE49-F238E27FC236}">
                        <a16:creationId xmlns:a16="http://schemas.microsoft.com/office/drawing/2014/main" id="{98B7F3DA-DDDE-46CD-94AB-E49FEBF18F4B}"/>
                      </a:ext>
                    </a:extLst>
                  </p:cNvPr>
                  <p:cNvSpPr txBox="1"/>
                  <p:nvPr/>
                </p:nvSpPr>
                <p:spPr>
                  <a:xfrm rot="752605">
                    <a:off x="9444496" y="1921321"/>
                    <a:ext cx="869917" cy="21544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altLang="zh-TW" sz="1400" b="1" i="1" smtClean="0">
                              <a:solidFill>
                                <a:schemeClr val="accent1"/>
                              </a:solidFill>
                              <a:latin typeface="Cambria Math" panose="02040503050406030204" pitchFamily="18" charset="0"/>
                            </a:rPr>
                            <m:t>𝟒</m:t>
                          </m:r>
                          <m:r>
                            <a:rPr lang="en-US" altLang="zh-TW" sz="1400" b="1" i="1" smtClean="0">
                              <a:solidFill>
                                <a:schemeClr val="accent1"/>
                              </a:solidFill>
                              <a:latin typeface="Cambria Math" panose="02040503050406030204" pitchFamily="18" charset="0"/>
                            </a:rPr>
                            <m:t>.</m:t>
                          </m:r>
                          <m:r>
                            <a:rPr lang="en-US" altLang="zh-TW" sz="1400" b="1" i="1" smtClean="0">
                              <a:solidFill>
                                <a:schemeClr val="accent1"/>
                              </a:solidFill>
                              <a:latin typeface="Cambria Math" panose="02040503050406030204" pitchFamily="18" charset="0"/>
                            </a:rPr>
                            <m:t>𝟓𝟕𝟐</m:t>
                          </m:r>
                          <m:r>
                            <a:rPr lang="en-US" altLang="zh-TW" sz="1400" b="1" i="1" smtClean="0">
                              <a:solidFill>
                                <a:schemeClr val="accent1"/>
                              </a:solidFill>
                              <a:latin typeface="Cambria Math" panose="02040503050406030204" pitchFamily="18" charset="0"/>
                            </a:rPr>
                            <m:t>𝒎𝒎</m:t>
                          </m:r>
                        </m:oMath>
                      </m:oMathPara>
                    </a14:m>
                    <a:endParaRPr lang="zh-TW" altLang="en-US" sz="1400" b="1" dirty="0">
                      <a:solidFill>
                        <a:schemeClr val="accent1"/>
                      </a:solidFill>
                    </a:endParaRPr>
                  </a:p>
                </p:txBody>
              </p:sp>
            </mc:Choice>
            <mc:Fallback>
              <p:sp>
                <p:nvSpPr>
                  <p:cNvPr id="51" name="文字方塊 50">
                    <a:extLst>
                      <a:ext uri="{FF2B5EF4-FFF2-40B4-BE49-F238E27FC236}">
                        <a16:creationId xmlns:a16="http://schemas.microsoft.com/office/drawing/2014/main" id="{98B7F3DA-DDDE-46CD-94AB-E49FEBF18F4B}"/>
                      </a:ext>
                    </a:extLst>
                  </p:cNvPr>
                  <p:cNvSpPr txBox="1">
                    <a:spLocks noRot="1" noChangeAspect="1" noMove="1" noResize="1" noEditPoints="1" noAdjustHandles="1" noChangeArrowheads="1" noChangeShapeType="1" noTextEdit="1"/>
                  </p:cNvSpPr>
                  <p:nvPr/>
                </p:nvSpPr>
                <p:spPr>
                  <a:xfrm rot="752605">
                    <a:off x="9444496" y="1921321"/>
                    <a:ext cx="869917" cy="215444"/>
                  </a:xfrm>
                  <a:prstGeom prst="rect">
                    <a:avLst/>
                  </a:prstGeom>
                  <a:blipFill>
                    <a:blip r:embed="rId12"/>
                    <a:stretch>
                      <a:fillRect l="-9483" r="-26724" b="-30769"/>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52" name="文字方塊 51">
                    <a:extLst>
                      <a:ext uri="{FF2B5EF4-FFF2-40B4-BE49-F238E27FC236}">
                        <a16:creationId xmlns:a16="http://schemas.microsoft.com/office/drawing/2014/main" id="{D17CA34D-E29C-412A-98CD-2DF7EB235D47}"/>
                      </a:ext>
                    </a:extLst>
                  </p:cNvPr>
                  <p:cNvSpPr txBox="1"/>
                  <p:nvPr/>
                </p:nvSpPr>
                <p:spPr>
                  <a:xfrm rot="16892542">
                    <a:off x="11237637" y="2736051"/>
                    <a:ext cx="762517" cy="21544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altLang="zh-TW" sz="1400" b="1" i="1" smtClean="0">
                              <a:solidFill>
                                <a:schemeClr val="accent2">
                                  <a:lumMod val="75000"/>
                                </a:schemeClr>
                              </a:solidFill>
                              <a:latin typeface="Cambria Math" panose="02040503050406030204" pitchFamily="18" charset="0"/>
                            </a:rPr>
                            <m:t>𝟎</m:t>
                          </m:r>
                          <m:r>
                            <a:rPr lang="en-US" altLang="zh-TW" sz="1400" b="1" i="1" smtClean="0">
                              <a:solidFill>
                                <a:schemeClr val="accent2">
                                  <a:lumMod val="75000"/>
                                </a:schemeClr>
                              </a:solidFill>
                              <a:latin typeface="Cambria Math" panose="02040503050406030204" pitchFamily="18" charset="0"/>
                            </a:rPr>
                            <m:t>.</m:t>
                          </m:r>
                          <m:r>
                            <a:rPr lang="en-US" altLang="zh-TW" sz="1400" b="1" i="1" smtClean="0">
                              <a:solidFill>
                                <a:schemeClr val="accent2">
                                  <a:lumMod val="75000"/>
                                </a:schemeClr>
                              </a:solidFill>
                              <a:latin typeface="Cambria Math" panose="02040503050406030204" pitchFamily="18" charset="0"/>
                            </a:rPr>
                            <m:t>𝟒𝟏</m:t>
                          </m:r>
                          <m:r>
                            <a:rPr lang="en-US" altLang="zh-TW" sz="1400" b="1" i="1" smtClean="0">
                              <a:solidFill>
                                <a:schemeClr val="accent2">
                                  <a:lumMod val="75000"/>
                                </a:schemeClr>
                              </a:solidFill>
                              <a:latin typeface="Cambria Math" panose="02040503050406030204" pitchFamily="18" charset="0"/>
                            </a:rPr>
                            <m:t>𝒎𝒎</m:t>
                          </m:r>
                        </m:oMath>
                      </m:oMathPara>
                    </a14:m>
                    <a:endParaRPr lang="zh-TW" altLang="en-US" sz="1600" b="1" dirty="0">
                      <a:solidFill>
                        <a:schemeClr val="accent2">
                          <a:lumMod val="75000"/>
                        </a:schemeClr>
                      </a:solidFill>
                    </a:endParaRPr>
                  </a:p>
                </p:txBody>
              </p:sp>
            </mc:Choice>
            <mc:Fallback>
              <p:sp>
                <p:nvSpPr>
                  <p:cNvPr id="52" name="文字方塊 51">
                    <a:extLst>
                      <a:ext uri="{FF2B5EF4-FFF2-40B4-BE49-F238E27FC236}">
                        <a16:creationId xmlns:a16="http://schemas.microsoft.com/office/drawing/2014/main" id="{D17CA34D-E29C-412A-98CD-2DF7EB235D47}"/>
                      </a:ext>
                    </a:extLst>
                  </p:cNvPr>
                  <p:cNvSpPr txBox="1">
                    <a:spLocks noRot="1" noChangeAspect="1" noMove="1" noResize="1" noEditPoints="1" noAdjustHandles="1" noChangeArrowheads="1" noChangeShapeType="1" noTextEdit="1"/>
                  </p:cNvSpPr>
                  <p:nvPr/>
                </p:nvSpPr>
                <p:spPr>
                  <a:xfrm rot="16892542">
                    <a:off x="11237637" y="2736051"/>
                    <a:ext cx="762517" cy="215444"/>
                  </a:xfrm>
                  <a:prstGeom prst="rect">
                    <a:avLst/>
                  </a:prstGeom>
                  <a:blipFill>
                    <a:blip r:embed="rId13"/>
                    <a:stretch>
                      <a:fillRect t="-26733" r="-29167" b="-10891"/>
                    </a:stretch>
                  </a:blipFill>
                </p:spPr>
                <p:txBody>
                  <a:bodyPr/>
                  <a:lstStyle/>
                  <a:p>
                    <a:r>
                      <a:rPr lang="zh-TW" altLang="en-US">
                        <a:noFill/>
                      </a:rPr>
                      <a:t> </a:t>
                    </a:r>
                  </a:p>
                </p:txBody>
              </p:sp>
            </mc:Fallback>
          </mc:AlternateContent>
          <p:cxnSp>
            <p:nvCxnSpPr>
              <p:cNvPr id="53" name="直線單箭頭接點 52">
                <a:extLst>
                  <a:ext uri="{FF2B5EF4-FFF2-40B4-BE49-F238E27FC236}">
                    <a16:creationId xmlns:a16="http://schemas.microsoft.com/office/drawing/2014/main" id="{91C966E4-5C07-44B6-BFF5-37BC89549541}"/>
                  </a:ext>
                </a:extLst>
              </p:cNvPr>
              <p:cNvCxnSpPr>
                <a:cxnSpLocks/>
              </p:cNvCxnSpPr>
              <p:nvPr/>
            </p:nvCxnSpPr>
            <p:spPr>
              <a:xfrm flipH="1" flipV="1">
                <a:off x="11384457" y="2298928"/>
                <a:ext cx="174667" cy="366058"/>
              </a:xfrm>
              <a:prstGeom prst="straightConnector1">
                <a:avLst/>
              </a:prstGeom>
              <a:ln w="28575">
                <a:tailEnd type="triangle"/>
              </a:ln>
            </p:spPr>
            <p:style>
              <a:lnRef idx="2">
                <a:schemeClr val="accent2"/>
              </a:lnRef>
              <a:fillRef idx="0">
                <a:schemeClr val="accent2"/>
              </a:fillRef>
              <a:effectRef idx="1">
                <a:schemeClr val="accent2"/>
              </a:effectRef>
              <a:fontRef idx="minor">
                <a:schemeClr val="tx1"/>
              </a:fontRef>
            </p:style>
          </p:cxnSp>
        </p:grpSp>
      </p:grpSp>
      <p:sp>
        <p:nvSpPr>
          <p:cNvPr id="54" name="文字方塊 53">
            <a:extLst>
              <a:ext uri="{FF2B5EF4-FFF2-40B4-BE49-F238E27FC236}">
                <a16:creationId xmlns:a16="http://schemas.microsoft.com/office/drawing/2014/main" id="{48339A9D-2029-4F73-81B2-3CBC0F180F38}"/>
              </a:ext>
            </a:extLst>
          </p:cNvPr>
          <p:cNvSpPr txBox="1"/>
          <p:nvPr/>
        </p:nvSpPr>
        <p:spPr>
          <a:xfrm>
            <a:off x="4504266" y="903272"/>
            <a:ext cx="6248400" cy="646331"/>
          </a:xfrm>
          <a:prstGeom prst="rect">
            <a:avLst/>
          </a:prstGeom>
          <a:noFill/>
        </p:spPr>
        <p:txBody>
          <a:bodyPr wrap="square">
            <a:spAutoFit/>
          </a:bodyPr>
          <a:lstStyle/>
          <a:p>
            <a:pPr marL="285750" indent="-285750">
              <a:buFont typeface="Arial" panose="020B0604020202020204" pitchFamily="34" charset="0"/>
              <a:buChar char="•"/>
            </a:pPr>
            <a:r>
              <a:rPr lang="en-US" altLang="zh-TW" dirty="0"/>
              <a:t>These two figures illustrate the simulated placement of the Hall sensors, using magnetic poles P1 and P2 as examples.</a:t>
            </a:r>
            <a:endParaRPr lang="zh-TW" altLang="en-US" dirty="0"/>
          </a:p>
        </p:txBody>
      </p:sp>
    </p:spTree>
    <p:extLst>
      <p:ext uri="{BB962C8B-B14F-4D97-AF65-F5344CB8AC3E}">
        <p14:creationId xmlns:p14="http://schemas.microsoft.com/office/powerpoint/2010/main" val="29059434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1" y="68004"/>
            <a:ext cx="12335933"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Hall-sensor-voltage-based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A. </a:t>
            </a:r>
            <a:r>
              <a:rPr lang="en-US" altLang="zh-TW" sz="1800" i="1" dirty="0">
                <a:solidFill>
                  <a:srgbClr val="000000"/>
                </a:solidFill>
                <a:effectLst/>
                <a:latin typeface="Times New Roman" panose="02020603050405020304" pitchFamily="18" charset="0"/>
                <a:ea typeface="新細明體" panose="02020500000000000000" pitchFamily="18" charset="-120"/>
              </a:rPr>
              <a:t>Voltage-based magnetic flux model</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28" name="文字方塊 27">
            <a:extLst>
              <a:ext uri="{FF2B5EF4-FFF2-40B4-BE49-F238E27FC236}">
                <a16:creationId xmlns:a16="http://schemas.microsoft.com/office/drawing/2014/main" id="{9BCA2352-41E3-4D1F-88E2-047B9D488EE7}"/>
              </a:ext>
            </a:extLst>
          </p:cNvPr>
          <p:cNvSpPr txBox="1"/>
          <p:nvPr/>
        </p:nvSpPr>
        <p:spPr>
          <a:xfrm>
            <a:off x="192878" y="4047862"/>
            <a:ext cx="11423389" cy="1200329"/>
          </a:xfrm>
          <a:prstGeom prst="rect">
            <a:avLst/>
          </a:prstGeom>
          <a:noFill/>
        </p:spPr>
        <p:txBody>
          <a:bodyPr wrap="square">
            <a:spAutoFit/>
          </a:bodyPr>
          <a:lstStyle/>
          <a:p>
            <a:pPr marL="285750" indent="-285750">
              <a:buFont typeface="Arial" panose="020B0604020202020204" pitchFamily="34" charset="0"/>
              <a:buChar char="•"/>
            </a:pPr>
            <a:r>
              <a:rPr lang="en-US" altLang="zh-TW" dirty="0"/>
              <a:t>This figure shows the locations of the Hall sensors in the simulation model. The sensor placements are presented in two separate figures because a single view would make it difficult to clearly distinguish the Hall sensor locations on the upper and lower magnetic poles. Therefore, the upper- and lower-pole sensor arrangements are shown separately to provide a clearer representation of their respective positions.</a:t>
            </a:r>
            <a:endParaRPr lang="zh-TW" altLang="en-US" dirty="0"/>
          </a:p>
        </p:txBody>
      </p:sp>
      <p:grpSp>
        <p:nvGrpSpPr>
          <p:cNvPr id="6" name="群組 5">
            <a:extLst>
              <a:ext uri="{FF2B5EF4-FFF2-40B4-BE49-F238E27FC236}">
                <a16:creationId xmlns:a16="http://schemas.microsoft.com/office/drawing/2014/main" id="{C6627587-C29E-49F5-9E68-21B723ACC3C2}"/>
              </a:ext>
            </a:extLst>
          </p:cNvPr>
          <p:cNvGrpSpPr/>
          <p:nvPr/>
        </p:nvGrpSpPr>
        <p:grpSpPr>
          <a:xfrm>
            <a:off x="31835" y="925580"/>
            <a:ext cx="7322280" cy="2823883"/>
            <a:chOff x="-171515" y="767368"/>
            <a:chExt cx="7750896" cy="3083670"/>
          </a:xfrm>
        </p:grpSpPr>
        <p:pic>
          <p:nvPicPr>
            <p:cNvPr id="30" name="圖片 29">
              <a:extLst>
                <a:ext uri="{FF2B5EF4-FFF2-40B4-BE49-F238E27FC236}">
                  <a16:creationId xmlns:a16="http://schemas.microsoft.com/office/drawing/2014/main" id="{3D909287-9FC1-4F4E-A4C8-287E60D218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8234" y="767368"/>
              <a:ext cx="7162800" cy="2783429"/>
            </a:xfrm>
            <a:prstGeom prst="rect">
              <a:avLst/>
            </a:prstGeom>
          </p:spPr>
        </p:pic>
        <p:grpSp>
          <p:nvGrpSpPr>
            <p:cNvPr id="4" name="群組 3">
              <a:extLst>
                <a:ext uri="{FF2B5EF4-FFF2-40B4-BE49-F238E27FC236}">
                  <a16:creationId xmlns:a16="http://schemas.microsoft.com/office/drawing/2014/main" id="{AF7256C5-DB88-49BE-87AE-56FCA3F0FA13}"/>
                </a:ext>
              </a:extLst>
            </p:cNvPr>
            <p:cNvGrpSpPr/>
            <p:nvPr/>
          </p:nvGrpSpPr>
          <p:grpSpPr>
            <a:xfrm>
              <a:off x="-171515" y="1527584"/>
              <a:ext cx="7750896" cy="2323454"/>
              <a:chOff x="118938" y="1618024"/>
              <a:chExt cx="7750896" cy="2323454"/>
            </a:xfrm>
          </p:grpSpPr>
          <p:grpSp>
            <p:nvGrpSpPr>
              <p:cNvPr id="20" name="群組 19">
                <a:extLst>
                  <a:ext uri="{FF2B5EF4-FFF2-40B4-BE49-F238E27FC236}">
                    <a16:creationId xmlns:a16="http://schemas.microsoft.com/office/drawing/2014/main" id="{D3925940-3F51-4E81-BD0E-F5EBA4704BB3}"/>
                  </a:ext>
                </a:extLst>
              </p:cNvPr>
              <p:cNvGrpSpPr/>
              <p:nvPr/>
            </p:nvGrpSpPr>
            <p:grpSpPr>
              <a:xfrm>
                <a:off x="118938" y="1618024"/>
                <a:ext cx="7750896" cy="2323454"/>
                <a:chOff x="1028334" y="3041651"/>
                <a:chExt cx="8323367" cy="2543240"/>
              </a:xfrm>
            </p:grpSpPr>
            <mc:AlternateContent xmlns:mc="http://schemas.openxmlformats.org/markup-compatibility/2006">
              <mc:Choice xmlns:a14="http://schemas.microsoft.com/office/drawing/2010/main" Requires="a14">
                <p:sp>
                  <p:nvSpPr>
                    <p:cNvPr id="22" name="文字方塊 21">
                      <a:extLst>
                        <a:ext uri="{FF2B5EF4-FFF2-40B4-BE49-F238E27FC236}">
                          <a16:creationId xmlns:a16="http://schemas.microsoft.com/office/drawing/2014/main" id="{148EC49B-CCF3-462C-B95E-1B9B6CEB4126}"/>
                        </a:ext>
                      </a:extLst>
                    </p:cNvPr>
                    <p:cNvSpPr txBox="1"/>
                    <p:nvPr/>
                  </p:nvSpPr>
                  <p:spPr>
                    <a:xfrm rot="19660597">
                      <a:off x="1340871" y="4217183"/>
                      <a:ext cx="625074" cy="699735"/>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𝐱</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400" b="1" dirty="0"/>
                    </a:p>
                  </p:txBody>
                </p:sp>
              </mc:Choice>
              <mc:Fallback>
                <p:sp>
                  <p:nvSpPr>
                    <p:cNvPr id="22" name="文字方塊 21">
                      <a:extLst>
                        <a:ext uri="{FF2B5EF4-FFF2-40B4-BE49-F238E27FC236}">
                          <a16:creationId xmlns:a16="http://schemas.microsoft.com/office/drawing/2014/main" id="{148EC49B-CCF3-462C-B95E-1B9B6CEB4126}"/>
                        </a:ext>
                      </a:extLst>
                    </p:cNvPr>
                    <p:cNvSpPr txBox="1">
                      <a:spLocks noRot="1" noChangeAspect="1" noMove="1" noResize="1" noEditPoints="1" noAdjustHandles="1" noChangeArrowheads="1" noChangeShapeType="1" noTextEdit="1"/>
                    </p:cNvSpPr>
                    <p:nvPr/>
                  </p:nvSpPr>
                  <p:spPr>
                    <a:xfrm rot="19660597">
                      <a:off x="1340871" y="4217183"/>
                      <a:ext cx="625074" cy="699735"/>
                    </a:xfrm>
                    <a:prstGeom prst="rect">
                      <a:avLst/>
                    </a:prstGeom>
                    <a:blipFill>
                      <a:blip r:embed="rId3"/>
                      <a:stretch>
                        <a:fillRect b="-12214"/>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3" name="文字方塊 22">
                      <a:extLst>
                        <a:ext uri="{FF2B5EF4-FFF2-40B4-BE49-F238E27FC236}">
                          <a16:creationId xmlns:a16="http://schemas.microsoft.com/office/drawing/2014/main" id="{28D39A59-913D-4FE9-BAF5-9B04FBD36D83}"/>
                        </a:ext>
                      </a:extLst>
                    </p:cNvPr>
                    <p:cNvSpPr txBox="1"/>
                    <p:nvPr/>
                  </p:nvSpPr>
                  <p:spPr>
                    <a:xfrm rot="15569608">
                      <a:off x="3760395" y="4906381"/>
                      <a:ext cx="657285" cy="699735"/>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𝐲</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400" b="1" dirty="0"/>
                    </a:p>
                  </p:txBody>
                </p:sp>
              </mc:Choice>
              <mc:Fallback>
                <p:sp>
                  <p:nvSpPr>
                    <p:cNvPr id="23" name="文字方塊 22">
                      <a:extLst>
                        <a:ext uri="{FF2B5EF4-FFF2-40B4-BE49-F238E27FC236}">
                          <a16:creationId xmlns:a16="http://schemas.microsoft.com/office/drawing/2014/main" id="{28D39A59-913D-4FE9-BAF5-9B04FBD36D83}"/>
                        </a:ext>
                      </a:extLst>
                    </p:cNvPr>
                    <p:cNvSpPr txBox="1">
                      <a:spLocks noRot="1" noChangeAspect="1" noMove="1" noResize="1" noEditPoints="1" noAdjustHandles="1" noChangeArrowheads="1" noChangeShapeType="1" noTextEdit="1"/>
                    </p:cNvSpPr>
                    <p:nvPr/>
                  </p:nvSpPr>
                  <p:spPr>
                    <a:xfrm rot="15569608">
                      <a:off x="3760395" y="4906381"/>
                      <a:ext cx="657285" cy="699735"/>
                    </a:xfrm>
                    <a:prstGeom prst="rect">
                      <a:avLst/>
                    </a:prstGeom>
                    <a:blipFill>
                      <a:blip r:embed="rId4"/>
                      <a:stretch>
                        <a:fillRect r="-25000"/>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4" name="文字方塊 23">
                      <a:extLst>
                        <a:ext uri="{FF2B5EF4-FFF2-40B4-BE49-F238E27FC236}">
                          <a16:creationId xmlns:a16="http://schemas.microsoft.com/office/drawing/2014/main" id="{564546D7-559D-4C66-9450-E18834CBB660}"/>
                        </a:ext>
                      </a:extLst>
                    </p:cNvPr>
                    <p:cNvSpPr txBox="1"/>
                    <p:nvPr/>
                  </p:nvSpPr>
                  <p:spPr>
                    <a:xfrm rot="10800000">
                      <a:off x="1028334" y="3069364"/>
                      <a:ext cx="625074" cy="719271"/>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𝐳</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000" b="1" dirty="0"/>
                    </a:p>
                  </p:txBody>
                </p:sp>
              </mc:Choice>
              <mc:Fallback>
                <p:sp>
                  <p:nvSpPr>
                    <p:cNvPr id="24" name="文字方塊 23">
                      <a:extLst>
                        <a:ext uri="{FF2B5EF4-FFF2-40B4-BE49-F238E27FC236}">
                          <a16:creationId xmlns:a16="http://schemas.microsoft.com/office/drawing/2014/main" id="{564546D7-559D-4C66-9450-E18834CBB660}"/>
                        </a:ext>
                      </a:extLst>
                    </p:cNvPr>
                    <p:cNvSpPr txBox="1">
                      <a:spLocks noRot="1" noChangeAspect="1" noMove="1" noResize="1" noEditPoints="1" noAdjustHandles="1" noChangeArrowheads="1" noChangeShapeType="1" noTextEdit="1"/>
                    </p:cNvSpPr>
                    <p:nvPr/>
                  </p:nvSpPr>
                  <p:spPr>
                    <a:xfrm rot="10800000">
                      <a:off x="1028334" y="3069364"/>
                      <a:ext cx="625074" cy="719271"/>
                    </a:xfrm>
                    <a:prstGeom prst="rect">
                      <a:avLst/>
                    </a:prstGeom>
                    <a:blipFill>
                      <a:blip r:embed="rId5"/>
                      <a:stretch>
                        <a:fillRect t="-37374"/>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5" name="文字方塊 24">
                      <a:extLst>
                        <a:ext uri="{FF2B5EF4-FFF2-40B4-BE49-F238E27FC236}">
                          <a16:creationId xmlns:a16="http://schemas.microsoft.com/office/drawing/2014/main" id="{634B5A96-CED7-4A9A-BF9D-3E99F4F8FD01}"/>
                        </a:ext>
                      </a:extLst>
                    </p:cNvPr>
                    <p:cNvSpPr txBox="1"/>
                    <p:nvPr/>
                  </p:nvSpPr>
                  <p:spPr>
                    <a:xfrm rot="10800000">
                      <a:off x="5090035" y="3721300"/>
                      <a:ext cx="583602" cy="719271"/>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b="1" i="0" smtClean="0">
                                <a:latin typeface="Cambria Math" panose="02040503050406030204" pitchFamily="18" charset="0"/>
                              </a:rPr>
                              <m:t>𝐳</m:t>
                            </m:r>
                            <m:r>
                              <a:rPr lang="en-US" altLang="zh-TW" b="1" i="0" smtClean="0">
                                <a:latin typeface="Cambria Math" panose="02040503050406030204" pitchFamily="18" charset="0"/>
                              </a:rPr>
                              <m:t>(</m:t>
                            </m:r>
                            <m:r>
                              <a:rPr lang="en-US" altLang="zh-TW" b="1" i="0" smtClean="0">
                                <a:latin typeface="Cambria Math" panose="02040503050406030204" pitchFamily="18" charset="0"/>
                              </a:rPr>
                              <m:t>𝐦𝐦</m:t>
                            </m:r>
                            <m:r>
                              <a:rPr lang="en-US" altLang="zh-TW" b="1" i="0" smtClean="0">
                                <a:latin typeface="Cambria Math" panose="02040503050406030204" pitchFamily="18" charset="0"/>
                              </a:rPr>
                              <m:t>)</m:t>
                            </m:r>
                          </m:oMath>
                        </m:oMathPara>
                      </a14:m>
                      <a:endParaRPr lang="zh-TW" altLang="en-US" sz="2000" b="1" dirty="0"/>
                    </a:p>
                  </p:txBody>
                </p:sp>
              </mc:Choice>
              <mc:Fallback>
                <p:sp>
                  <p:nvSpPr>
                    <p:cNvPr id="25" name="文字方塊 24">
                      <a:extLst>
                        <a:ext uri="{FF2B5EF4-FFF2-40B4-BE49-F238E27FC236}">
                          <a16:creationId xmlns:a16="http://schemas.microsoft.com/office/drawing/2014/main" id="{634B5A96-CED7-4A9A-BF9D-3E99F4F8FD01}"/>
                        </a:ext>
                      </a:extLst>
                    </p:cNvPr>
                    <p:cNvSpPr txBox="1">
                      <a:spLocks noRot="1" noChangeAspect="1" noMove="1" noResize="1" noEditPoints="1" noAdjustHandles="1" noChangeArrowheads="1" noChangeShapeType="1" noTextEdit="1"/>
                    </p:cNvSpPr>
                    <p:nvPr/>
                  </p:nvSpPr>
                  <p:spPr>
                    <a:xfrm rot="10800000">
                      <a:off x="5090035" y="3721300"/>
                      <a:ext cx="583602" cy="719271"/>
                    </a:xfrm>
                    <a:prstGeom prst="rect">
                      <a:avLst/>
                    </a:prstGeom>
                    <a:blipFill>
                      <a:blip r:embed="rId6"/>
                      <a:stretch>
                        <a:fillRect t="-24242"/>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6" name="文字方塊 25">
                      <a:extLst>
                        <a:ext uri="{FF2B5EF4-FFF2-40B4-BE49-F238E27FC236}">
                          <a16:creationId xmlns:a16="http://schemas.microsoft.com/office/drawing/2014/main" id="{938BA230-992F-41C2-832D-B4E339B33866}"/>
                        </a:ext>
                      </a:extLst>
                    </p:cNvPr>
                    <p:cNvSpPr txBox="1"/>
                    <p:nvPr/>
                  </p:nvSpPr>
                  <p:spPr>
                    <a:xfrm rot="16784698">
                      <a:off x="6471437" y="4358942"/>
                      <a:ext cx="657285" cy="699735"/>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𝐲</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400" b="1" dirty="0"/>
                    </a:p>
                  </p:txBody>
                </p:sp>
              </mc:Choice>
              <mc:Fallback>
                <p:sp>
                  <p:nvSpPr>
                    <p:cNvPr id="26" name="文字方塊 25">
                      <a:extLst>
                        <a:ext uri="{FF2B5EF4-FFF2-40B4-BE49-F238E27FC236}">
                          <a16:creationId xmlns:a16="http://schemas.microsoft.com/office/drawing/2014/main" id="{938BA230-992F-41C2-832D-B4E339B33866}"/>
                        </a:ext>
                      </a:extLst>
                    </p:cNvPr>
                    <p:cNvSpPr txBox="1">
                      <a:spLocks noRot="1" noChangeAspect="1" noMove="1" noResize="1" noEditPoints="1" noAdjustHandles="1" noChangeArrowheads="1" noChangeShapeType="1" noTextEdit="1"/>
                    </p:cNvSpPr>
                    <p:nvPr/>
                  </p:nvSpPr>
                  <p:spPr>
                    <a:xfrm rot="16784698">
                      <a:off x="6471437" y="4358942"/>
                      <a:ext cx="657285" cy="699735"/>
                    </a:xfrm>
                    <a:prstGeom prst="rect">
                      <a:avLst/>
                    </a:prstGeom>
                    <a:blipFill>
                      <a:blip r:embed="rId7"/>
                      <a:stretch>
                        <a:fillRect r="-24138"/>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7" name="文字方塊 26">
                      <a:extLst>
                        <a:ext uri="{FF2B5EF4-FFF2-40B4-BE49-F238E27FC236}">
                          <a16:creationId xmlns:a16="http://schemas.microsoft.com/office/drawing/2014/main" id="{84A7C87E-52BB-4FB8-A64F-CA903177D96F}"/>
                        </a:ext>
                      </a:extLst>
                    </p:cNvPr>
                    <p:cNvSpPr txBox="1"/>
                    <p:nvPr/>
                  </p:nvSpPr>
                  <p:spPr>
                    <a:xfrm rot="12942440">
                      <a:off x="8726627" y="4178734"/>
                      <a:ext cx="625074" cy="699735"/>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𝐱</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400" b="1" dirty="0"/>
                    </a:p>
                  </p:txBody>
                </p:sp>
              </mc:Choice>
              <mc:Fallback>
                <p:sp>
                  <p:nvSpPr>
                    <p:cNvPr id="27" name="文字方塊 26">
                      <a:extLst>
                        <a:ext uri="{FF2B5EF4-FFF2-40B4-BE49-F238E27FC236}">
                          <a16:creationId xmlns:a16="http://schemas.microsoft.com/office/drawing/2014/main" id="{84A7C87E-52BB-4FB8-A64F-CA903177D96F}"/>
                        </a:ext>
                      </a:extLst>
                    </p:cNvPr>
                    <p:cNvSpPr txBox="1">
                      <a:spLocks noRot="1" noChangeAspect="1" noMove="1" noResize="1" noEditPoints="1" noAdjustHandles="1" noChangeArrowheads="1" noChangeShapeType="1" noTextEdit="1"/>
                    </p:cNvSpPr>
                    <p:nvPr/>
                  </p:nvSpPr>
                  <p:spPr>
                    <a:xfrm rot="12942440">
                      <a:off x="8726627" y="4178734"/>
                      <a:ext cx="625074" cy="699735"/>
                    </a:xfrm>
                    <a:prstGeom prst="rect">
                      <a:avLst/>
                    </a:prstGeom>
                    <a:blipFill>
                      <a:blip r:embed="rId8"/>
                      <a:stretch>
                        <a:fillRect t="-6061" r="-769"/>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9" name="文字方塊 28">
                      <a:extLst>
                        <a:ext uri="{FF2B5EF4-FFF2-40B4-BE49-F238E27FC236}">
                          <a16:creationId xmlns:a16="http://schemas.microsoft.com/office/drawing/2014/main" id="{233670CD-3F13-450F-8646-A76A2563201A}"/>
                        </a:ext>
                      </a:extLst>
                    </p:cNvPr>
                    <p:cNvSpPr txBox="1"/>
                    <p:nvPr/>
                  </p:nvSpPr>
                  <p:spPr>
                    <a:xfrm>
                      <a:off x="3537515" y="3041651"/>
                      <a:ext cx="316668" cy="3032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b="1" i="1" smtClean="0">
                                    <a:solidFill>
                                      <a:srgbClr val="FF0000"/>
                                    </a:solidFill>
                                    <a:latin typeface="Cambria Math" panose="02040503050406030204" pitchFamily="18" charset="0"/>
                                  </a:rPr>
                                </m:ctrlPr>
                              </m:sSubPr>
                              <m:e>
                                <m:r>
                                  <a:rPr lang="en-US" altLang="zh-TW" b="1" i="1" smtClean="0">
                                    <a:solidFill>
                                      <a:srgbClr val="FF0000"/>
                                    </a:solidFill>
                                    <a:latin typeface="Cambria Math" panose="02040503050406030204" pitchFamily="18" charset="0"/>
                                  </a:rPr>
                                  <m:t>𝑺</m:t>
                                </m:r>
                              </m:e>
                              <m:sub>
                                <m:r>
                                  <a:rPr lang="en-US" altLang="zh-TW" b="1" i="1" smtClean="0">
                                    <a:solidFill>
                                      <a:srgbClr val="FF0000"/>
                                    </a:solidFill>
                                    <a:latin typeface="Cambria Math" panose="02040503050406030204" pitchFamily="18" charset="0"/>
                                  </a:rPr>
                                  <m:t>𝟐</m:t>
                                </m:r>
                              </m:sub>
                            </m:sSub>
                          </m:oMath>
                        </m:oMathPara>
                      </a14:m>
                      <a:endParaRPr lang="zh-TW" altLang="en-US" b="1" dirty="0"/>
                    </a:p>
                  </p:txBody>
                </p:sp>
              </mc:Choice>
              <mc:Fallback>
                <p:sp>
                  <p:nvSpPr>
                    <p:cNvPr id="29" name="文字方塊 28">
                      <a:extLst>
                        <a:ext uri="{FF2B5EF4-FFF2-40B4-BE49-F238E27FC236}">
                          <a16:creationId xmlns:a16="http://schemas.microsoft.com/office/drawing/2014/main" id="{233670CD-3F13-450F-8646-A76A2563201A}"/>
                        </a:ext>
                      </a:extLst>
                    </p:cNvPr>
                    <p:cNvSpPr txBox="1">
                      <a:spLocks noRot="1" noChangeAspect="1" noMove="1" noResize="1" noEditPoints="1" noAdjustHandles="1" noChangeArrowheads="1" noChangeShapeType="1" noTextEdit="1"/>
                    </p:cNvSpPr>
                    <p:nvPr/>
                  </p:nvSpPr>
                  <p:spPr>
                    <a:xfrm>
                      <a:off x="3537515" y="3041651"/>
                      <a:ext cx="316668" cy="303202"/>
                    </a:xfrm>
                    <a:prstGeom prst="rect">
                      <a:avLst/>
                    </a:prstGeom>
                    <a:blipFill>
                      <a:blip r:embed="rId9"/>
                      <a:stretch>
                        <a:fillRect l="-21739" r="-13043" b="-26190"/>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1" name="文字方塊 30">
                      <a:extLst>
                        <a:ext uri="{FF2B5EF4-FFF2-40B4-BE49-F238E27FC236}">
                          <a16:creationId xmlns:a16="http://schemas.microsoft.com/office/drawing/2014/main" id="{33FAA965-5B61-48E7-8F3D-2E47AB4E4B03}"/>
                        </a:ext>
                      </a:extLst>
                    </p:cNvPr>
                    <p:cNvSpPr txBox="1"/>
                    <p:nvPr/>
                  </p:nvSpPr>
                  <p:spPr>
                    <a:xfrm>
                      <a:off x="7736928" y="3372190"/>
                      <a:ext cx="316668" cy="3032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b="1" i="1" smtClean="0">
                                    <a:solidFill>
                                      <a:srgbClr val="FF0000"/>
                                    </a:solidFill>
                                    <a:latin typeface="Cambria Math" panose="02040503050406030204" pitchFamily="18" charset="0"/>
                                  </a:rPr>
                                </m:ctrlPr>
                              </m:sSubPr>
                              <m:e>
                                <m:r>
                                  <a:rPr lang="en-US" altLang="zh-TW" b="1" i="1" smtClean="0">
                                    <a:solidFill>
                                      <a:srgbClr val="FF0000"/>
                                    </a:solidFill>
                                    <a:latin typeface="Cambria Math" panose="02040503050406030204" pitchFamily="18" charset="0"/>
                                  </a:rPr>
                                  <m:t>𝑺</m:t>
                                </m:r>
                              </m:e>
                              <m:sub>
                                <m:r>
                                  <a:rPr lang="en-US" altLang="zh-TW" b="1" i="1" smtClean="0">
                                    <a:solidFill>
                                      <a:srgbClr val="FF0000"/>
                                    </a:solidFill>
                                    <a:latin typeface="Cambria Math" panose="02040503050406030204" pitchFamily="18" charset="0"/>
                                  </a:rPr>
                                  <m:t>𝟏</m:t>
                                </m:r>
                              </m:sub>
                            </m:sSub>
                          </m:oMath>
                        </m:oMathPara>
                      </a14:m>
                      <a:endParaRPr lang="zh-TW" altLang="en-US" b="1" dirty="0"/>
                    </a:p>
                  </p:txBody>
                </p:sp>
              </mc:Choice>
              <mc:Fallback>
                <p:sp>
                  <p:nvSpPr>
                    <p:cNvPr id="31" name="文字方塊 30">
                      <a:extLst>
                        <a:ext uri="{FF2B5EF4-FFF2-40B4-BE49-F238E27FC236}">
                          <a16:creationId xmlns:a16="http://schemas.microsoft.com/office/drawing/2014/main" id="{33FAA965-5B61-48E7-8F3D-2E47AB4E4B03}"/>
                        </a:ext>
                      </a:extLst>
                    </p:cNvPr>
                    <p:cNvSpPr txBox="1">
                      <a:spLocks noRot="1" noChangeAspect="1" noMove="1" noResize="1" noEditPoints="1" noAdjustHandles="1" noChangeArrowheads="1" noChangeShapeType="1" noTextEdit="1"/>
                    </p:cNvSpPr>
                    <p:nvPr/>
                  </p:nvSpPr>
                  <p:spPr>
                    <a:xfrm>
                      <a:off x="7736928" y="3372190"/>
                      <a:ext cx="316668" cy="303202"/>
                    </a:xfrm>
                    <a:prstGeom prst="rect">
                      <a:avLst/>
                    </a:prstGeom>
                    <a:blipFill>
                      <a:blip r:embed="rId10"/>
                      <a:stretch>
                        <a:fillRect l="-21739" r="-13043" b="-26190"/>
                      </a:stretch>
                    </a:blipFill>
                  </p:spPr>
                  <p:txBody>
                    <a:bodyPr/>
                    <a:lstStyle/>
                    <a:p>
                      <a:r>
                        <a:rPr lang="zh-TW" altLang="en-US">
                          <a:noFill/>
                        </a:rPr>
                        <a:t> </a:t>
                      </a:r>
                    </a:p>
                  </p:txBody>
                </p:sp>
              </mc:Fallback>
            </mc:AlternateContent>
          </p:grpSp>
          <mc:AlternateContent xmlns:mc="http://schemas.openxmlformats.org/markup-compatibility/2006">
            <mc:Choice xmlns:a14="http://schemas.microsoft.com/office/drawing/2010/main" Requires="a14">
              <p:sp>
                <p:nvSpPr>
                  <p:cNvPr id="34" name="文字方塊 33">
                    <a:extLst>
                      <a:ext uri="{FF2B5EF4-FFF2-40B4-BE49-F238E27FC236}">
                        <a16:creationId xmlns:a16="http://schemas.microsoft.com/office/drawing/2014/main" id="{F9A7576F-6588-46BE-AA6F-7027885B750A}"/>
                      </a:ext>
                    </a:extLst>
                  </p:cNvPr>
                  <p:cNvSpPr txBox="1"/>
                  <p:nvPr/>
                </p:nvSpPr>
                <p:spPr>
                  <a:xfrm>
                    <a:off x="6236496" y="2448648"/>
                    <a:ext cx="29488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b="1" i="1" smtClean="0">
                                  <a:solidFill>
                                    <a:srgbClr val="FF0000"/>
                                  </a:solidFill>
                                  <a:latin typeface="Cambria Math" panose="02040503050406030204" pitchFamily="18" charset="0"/>
                                </a:rPr>
                              </m:ctrlPr>
                            </m:sSubPr>
                            <m:e>
                              <m:r>
                                <a:rPr lang="en-US" altLang="zh-TW" b="1" i="1" smtClean="0">
                                  <a:solidFill>
                                    <a:srgbClr val="FF0000"/>
                                  </a:solidFill>
                                  <a:latin typeface="Cambria Math" panose="02040503050406030204" pitchFamily="18" charset="0"/>
                                </a:rPr>
                                <m:t>𝑺</m:t>
                              </m:r>
                            </m:e>
                            <m:sub>
                              <m:r>
                                <a:rPr lang="en-US" altLang="zh-TW" b="1" i="1" smtClean="0">
                                  <a:solidFill>
                                    <a:srgbClr val="FF0000"/>
                                  </a:solidFill>
                                  <a:latin typeface="Cambria Math" panose="02040503050406030204" pitchFamily="18" charset="0"/>
                                </a:rPr>
                                <m:t>𝟑</m:t>
                              </m:r>
                            </m:sub>
                          </m:sSub>
                        </m:oMath>
                      </m:oMathPara>
                    </a14:m>
                    <a:endParaRPr lang="zh-TW" altLang="en-US" b="1" dirty="0"/>
                  </a:p>
                </p:txBody>
              </p:sp>
            </mc:Choice>
            <mc:Fallback>
              <p:sp>
                <p:nvSpPr>
                  <p:cNvPr id="34" name="文字方塊 33">
                    <a:extLst>
                      <a:ext uri="{FF2B5EF4-FFF2-40B4-BE49-F238E27FC236}">
                        <a16:creationId xmlns:a16="http://schemas.microsoft.com/office/drawing/2014/main" id="{F9A7576F-6588-46BE-AA6F-7027885B750A}"/>
                      </a:ext>
                    </a:extLst>
                  </p:cNvPr>
                  <p:cNvSpPr txBox="1">
                    <a:spLocks noRot="1" noChangeAspect="1" noMove="1" noResize="1" noEditPoints="1" noAdjustHandles="1" noChangeArrowheads="1" noChangeShapeType="1" noTextEdit="1"/>
                  </p:cNvSpPr>
                  <p:nvPr/>
                </p:nvSpPr>
                <p:spPr>
                  <a:xfrm>
                    <a:off x="6236496" y="2448648"/>
                    <a:ext cx="294888" cy="276999"/>
                  </a:xfrm>
                  <a:prstGeom prst="rect">
                    <a:avLst/>
                  </a:prstGeom>
                  <a:blipFill>
                    <a:blip r:embed="rId11"/>
                    <a:stretch>
                      <a:fillRect l="-21739" r="-13043" b="-29268"/>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5" name="文字方塊 34">
                    <a:extLst>
                      <a:ext uri="{FF2B5EF4-FFF2-40B4-BE49-F238E27FC236}">
                        <a16:creationId xmlns:a16="http://schemas.microsoft.com/office/drawing/2014/main" id="{8DDB127A-1DDB-4577-A13F-5E2971237997}"/>
                      </a:ext>
                    </a:extLst>
                  </p:cNvPr>
                  <p:cNvSpPr txBox="1"/>
                  <p:nvPr/>
                </p:nvSpPr>
                <p:spPr>
                  <a:xfrm>
                    <a:off x="1950191" y="2007016"/>
                    <a:ext cx="29488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b="1" i="1" smtClean="0">
                                  <a:solidFill>
                                    <a:srgbClr val="FF0000"/>
                                  </a:solidFill>
                                  <a:latin typeface="Cambria Math" panose="02040503050406030204" pitchFamily="18" charset="0"/>
                                </a:rPr>
                              </m:ctrlPr>
                            </m:sSubPr>
                            <m:e>
                              <m:r>
                                <a:rPr lang="en-US" altLang="zh-TW" b="1" i="1" smtClean="0">
                                  <a:solidFill>
                                    <a:srgbClr val="FF0000"/>
                                  </a:solidFill>
                                  <a:latin typeface="Cambria Math" panose="02040503050406030204" pitchFamily="18" charset="0"/>
                                </a:rPr>
                                <m:t>𝑺</m:t>
                              </m:r>
                            </m:e>
                            <m:sub>
                              <m:r>
                                <a:rPr lang="en-US" altLang="zh-TW" b="1" i="1" smtClean="0">
                                  <a:solidFill>
                                    <a:srgbClr val="FF0000"/>
                                  </a:solidFill>
                                  <a:latin typeface="Cambria Math" panose="02040503050406030204" pitchFamily="18" charset="0"/>
                                </a:rPr>
                                <m:t>𝟒</m:t>
                              </m:r>
                            </m:sub>
                          </m:sSub>
                        </m:oMath>
                      </m:oMathPara>
                    </a14:m>
                    <a:endParaRPr lang="zh-TW" altLang="en-US" b="1" dirty="0"/>
                  </a:p>
                </p:txBody>
              </p:sp>
            </mc:Choice>
            <mc:Fallback>
              <p:sp>
                <p:nvSpPr>
                  <p:cNvPr id="35" name="文字方塊 34">
                    <a:extLst>
                      <a:ext uri="{FF2B5EF4-FFF2-40B4-BE49-F238E27FC236}">
                        <a16:creationId xmlns:a16="http://schemas.microsoft.com/office/drawing/2014/main" id="{8DDB127A-1DDB-4577-A13F-5E2971237997}"/>
                      </a:ext>
                    </a:extLst>
                  </p:cNvPr>
                  <p:cNvSpPr txBox="1">
                    <a:spLocks noRot="1" noChangeAspect="1" noMove="1" noResize="1" noEditPoints="1" noAdjustHandles="1" noChangeArrowheads="1" noChangeShapeType="1" noTextEdit="1"/>
                  </p:cNvSpPr>
                  <p:nvPr/>
                </p:nvSpPr>
                <p:spPr>
                  <a:xfrm>
                    <a:off x="1950191" y="2007016"/>
                    <a:ext cx="294888" cy="276999"/>
                  </a:xfrm>
                  <a:prstGeom prst="rect">
                    <a:avLst/>
                  </a:prstGeom>
                  <a:blipFill>
                    <a:blip r:embed="rId12"/>
                    <a:stretch>
                      <a:fillRect l="-21739" r="-13043" b="-26190"/>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6" name="文字方塊 35">
                    <a:extLst>
                      <a:ext uri="{FF2B5EF4-FFF2-40B4-BE49-F238E27FC236}">
                        <a16:creationId xmlns:a16="http://schemas.microsoft.com/office/drawing/2014/main" id="{86E84AB7-71ED-4748-A20B-6D60DD63AE5F}"/>
                      </a:ext>
                    </a:extLst>
                  </p:cNvPr>
                  <p:cNvSpPr txBox="1"/>
                  <p:nvPr/>
                </p:nvSpPr>
                <p:spPr>
                  <a:xfrm>
                    <a:off x="2860236" y="1897608"/>
                    <a:ext cx="29488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b="1" i="1" smtClean="0">
                                  <a:solidFill>
                                    <a:srgbClr val="FF0000"/>
                                  </a:solidFill>
                                  <a:latin typeface="Cambria Math" panose="02040503050406030204" pitchFamily="18" charset="0"/>
                                </a:rPr>
                              </m:ctrlPr>
                            </m:sSubPr>
                            <m:e>
                              <m:r>
                                <a:rPr lang="en-US" altLang="zh-TW" b="1" i="1" smtClean="0">
                                  <a:solidFill>
                                    <a:srgbClr val="FF0000"/>
                                  </a:solidFill>
                                  <a:latin typeface="Cambria Math" panose="02040503050406030204" pitchFamily="18" charset="0"/>
                                </a:rPr>
                                <m:t>𝑺</m:t>
                              </m:r>
                            </m:e>
                            <m:sub>
                              <m:r>
                                <a:rPr lang="en-US" altLang="zh-TW" b="1" i="1" smtClean="0">
                                  <a:solidFill>
                                    <a:srgbClr val="FF0000"/>
                                  </a:solidFill>
                                  <a:latin typeface="Cambria Math" panose="02040503050406030204" pitchFamily="18" charset="0"/>
                                </a:rPr>
                                <m:t>𝟓</m:t>
                              </m:r>
                            </m:sub>
                          </m:sSub>
                        </m:oMath>
                      </m:oMathPara>
                    </a14:m>
                    <a:endParaRPr lang="zh-TW" altLang="en-US" b="1" dirty="0"/>
                  </a:p>
                </p:txBody>
              </p:sp>
            </mc:Choice>
            <mc:Fallback>
              <p:sp>
                <p:nvSpPr>
                  <p:cNvPr id="36" name="文字方塊 35">
                    <a:extLst>
                      <a:ext uri="{FF2B5EF4-FFF2-40B4-BE49-F238E27FC236}">
                        <a16:creationId xmlns:a16="http://schemas.microsoft.com/office/drawing/2014/main" id="{86E84AB7-71ED-4748-A20B-6D60DD63AE5F}"/>
                      </a:ext>
                    </a:extLst>
                  </p:cNvPr>
                  <p:cNvSpPr txBox="1">
                    <a:spLocks noRot="1" noChangeAspect="1" noMove="1" noResize="1" noEditPoints="1" noAdjustHandles="1" noChangeArrowheads="1" noChangeShapeType="1" noTextEdit="1"/>
                  </p:cNvSpPr>
                  <p:nvPr/>
                </p:nvSpPr>
                <p:spPr>
                  <a:xfrm>
                    <a:off x="2860236" y="1897608"/>
                    <a:ext cx="294888" cy="276999"/>
                  </a:xfrm>
                  <a:prstGeom prst="rect">
                    <a:avLst/>
                  </a:prstGeom>
                  <a:blipFill>
                    <a:blip r:embed="rId13"/>
                    <a:stretch>
                      <a:fillRect l="-21739" r="-15217" b="-28571"/>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7" name="文字方塊 36">
                    <a:extLst>
                      <a:ext uri="{FF2B5EF4-FFF2-40B4-BE49-F238E27FC236}">
                        <a16:creationId xmlns:a16="http://schemas.microsoft.com/office/drawing/2014/main" id="{404359BE-F3DE-408C-BAD8-B93165146A82}"/>
                      </a:ext>
                    </a:extLst>
                  </p:cNvPr>
                  <p:cNvSpPr txBox="1"/>
                  <p:nvPr/>
                </p:nvSpPr>
                <p:spPr>
                  <a:xfrm>
                    <a:off x="5294815" y="2388358"/>
                    <a:ext cx="29488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b="1" i="1" smtClean="0">
                                  <a:solidFill>
                                    <a:srgbClr val="FF0000"/>
                                  </a:solidFill>
                                  <a:latin typeface="Cambria Math" panose="02040503050406030204" pitchFamily="18" charset="0"/>
                                </a:rPr>
                              </m:ctrlPr>
                            </m:sSubPr>
                            <m:e>
                              <m:r>
                                <a:rPr lang="en-US" altLang="zh-TW" b="1" i="1" smtClean="0">
                                  <a:solidFill>
                                    <a:srgbClr val="FF0000"/>
                                  </a:solidFill>
                                  <a:latin typeface="Cambria Math" panose="02040503050406030204" pitchFamily="18" charset="0"/>
                                </a:rPr>
                                <m:t>𝑺</m:t>
                              </m:r>
                            </m:e>
                            <m:sub>
                              <m:r>
                                <a:rPr lang="en-US" altLang="zh-TW" b="1" i="1" smtClean="0">
                                  <a:solidFill>
                                    <a:srgbClr val="FF0000"/>
                                  </a:solidFill>
                                  <a:latin typeface="Cambria Math" panose="02040503050406030204" pitchFamily="18" charset="0"/>
                                </a:rPr>
                                <m:t>𝟔</m:t>
                              </m:r>
                            </m:sub>
                          </m:sSub>
                        </m:oMath>
                      </m:oMathPara>
                    </a14:m>
                    <a:endParaRPr lang="zh-TW" altLang="en-US" b="1" dirty="0"/>
                  </a:p>
                </p:txBody>
              </p:sp>
            </mc:Choice>
            <mc:Fallback>
              <p:sp>
                <p:nvSpPr>
                  <p:cNvPr id="37" name="文字方塊 36">
                    <a:extLst>
                      <a:ext uri="{FF2B5EF4-FFF2-40B4-BE49-F238E27FC236}">
                        <a16:creationId xmlns:a16="http://schemas.microsoft.com/office/drawing/2014/main" id="{404359BE-F3DE-408C-BAD8-B93165146A82}"/>
                      </a:ext>
                    </a:extLst>
                  </p:cNvPr>
                  <p:cNvSpPr txBox="1">
                    <a:spLocks noRot="1" noChangeAspect="1" noMove="1" noResize="1" noEditPoints="1" noAdjustHandles="1" noChangeArrowheads="1" noChangeShapeType="1" noTextEdit="1"/>
                  </p:cNvSpPr>
                  <p:nvPr/>
                </p:nvSpPr>
                <p:spPr>
                  <a:xfrm>
                    <a:off x="5294815" y="2388358"/>
                    <a:ext cx="294888" cy="276999"/>
                  </a:xfrm>
                  <a:prstGeom prst="rect">
                    <a:avLst/>
                  </a:prstGeom>
                  <a:blipFill>
                    <a:blip r:embed="rId14"/>
                    <a:stretch>
                      <a:fillRect l="-21739" r="-13043" b="-29268"/>
                    </a:stretch>
                  </a:blipFill>
                </p:spPr>
                <p:txBody>
                  <a:bodyPr/>
                  <a:lstStyle/>
                  <a:p>
                    <a:r>
                      <a:rPr lang="zh-TW" altLang="en-US">
                        <a:noFill/>
                      </a:rPr>
                      <a:t> </a:t>
                    </a:r>
                  </a:p>
                </p:txBody>
              </p:sp>
            </mc:Fallback>
          </mc:AlternateContent>
        </p:grpSp>
      </p:grpSp>
    </p:spTree>
    <p:extLst>
      <p:ext uri="{BB962C8B-B14F-4D97-AF65-F5344CB8AC3E}">
        <p14:creationId xmlns:p14="http://schemas.microsoft.com/office/powerpoint/2010/main" val="388217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1" y="68004"/>
            <a:ext cx="12335933"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Hall-sensor-voltage-based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A. </a:t>
            </a:r>
            <a:r>
              <a:rPr lang="en-US" altLang="zh-TW" sz="1800" i="1" dirty="0">
                <a:solidFill>
                  <a:srgbClr val="000000"/>
                </a:solidFill>
                <a:effectLst/>
                <a:latin typeface="Times New Roman" panose="02020603050405020304" pitchFamily="18" charset="0"/>
                <a:ea typeface="新細明體" panose="02020500000000000000" pitchFamily="18" charset="-120"/>
              </a:rPr>
              <a:t>Voltage-based magnetic flux model</a:t>
            </a:r>
            <a:endParaRPr lang="zh-TW" altLang="zh-TW" kern="100" dirty="0">
              <a:effectLst/>
              <a:latin typeface="Aptos"/>
              <a:ea typeface="新細明體" panose="02020500000000000000" pitchFamily="18" charset="-120"/>
              <a:cs typeface="Times New Roman" panose="02020603050405020304" pitchFamily="18" charset="0"/>
            </a:endParaRPr>
          </a:p>
        </p:txBody>
      </p:sp>
      <p:grpSp>
        <p:nvGrpSpPr>
          <p:cNvPr id="19" name="群組 18">
            <a:extLst>
              <a:ext uri="{FF2B5EF4-FFF2-40B4-BE49-F238E27FC236}">
                <a16:creationId xmlns:a16="http://schemas.microsoft.com/office/drawing/2014/main" id="{8E64CB39-8B07-4CED-A559-14B691D82A6A}"/>
              </a:ext>
            </a:extLst>
          </p:cNvPr>
          <p:cNvGrpSpPr/>
          <p:nvPr/>
        </p:nvGrpSpPr>
        <p:grpSpPr>
          <a:xfrm>
            <a:off x="136460" y="817791"/>
            <a:ext cx="4596407" cy="2462230"/>
            <a:chOff x="396898" y="3229815"/>
            <a:chExt cx="5429454" cy="3157125"/>
          </a:xfrm>
        </p:grpSpPr>
        <p:pic>
          <p:nvPicPr>
            <p:cNvPr id="34" name="圖片 33">
              <a:extLst>
                <a:ext uri="{FF2B5EF4-FFF2-40B4-BE49-F238E27FC236}">
                  <a16:creationId xmlns:a16="http://schemas.microsoft.com/office/drawing/2014/main" id="{620038CC-8113-448D-A9A9-E677E434772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1113" y="3229815"/>
              <a:ext cx="4915239" cy="2728640"/>
            </a:xfrm>
            <a:prstGeom prst="rect">
              <a:avLst/>
            </a:prstGeom>
          </p:spPr>
        </p:pic>
        <mc:AlternateContent xmlns:mc="http://schemas.openxmlformats.org/markup-compatibility/2006" xmlns:a14="http://schemas.microsoft.com/office/drawing/2010/main">
          <mc:Choice Requires="a14">
            <p:sp>
              <p:nvSpPr>
                <p:cNvPr id="35" name="文字方塊 34">
                  <a:extLst>
                    <a:ext uri="{FF2B5EF4-FFF2-40B4-BE49-F238E27FC236}">
                      <a16:creationId xmlns:a16="http://schemas.microsoft.com/office/drawing/2014/main" id="{A8841F82-56E4-47B9-AB45-5CE6850167A5}"/>
                    </a:ext>
                  </a:extLst>
                </p:cNvPr>
                <p:cNvSpPr txBox="1"/>
                <p:nvPr/>
              </p:nvSpPr>
              <p:spPr>
                <a:xfrm>
                  <a:off x="3164002" y="4881154"/>
                  <a:ext cx="37131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altLang="zh-TW" sz="2000" b="1" i="1" smtClean="0">
                                <a:solidFill>
                                  <a:srgbClr val="FF0000"/>
                                </a:solidFill>
                                <a:latin typeface="Cambria Math" panose="02040503050406030204" pitchFamily="18" charset="0"/>
                              </a:rPr>
                            </m:ctrlPr>
                          </m:sSupPr>
                          <m:e>
                            <m:r>
                              <a:rPr lang="en-US" altLang="zh-TW" sz="2000" b="1" i="1" smtClean="0">
                                <a:solidFill>
                                  <a:srgbClr val="FF0000"/>
                                </a:solidFill>
                                <a:latin typeface="Cambria Math" panose="02040503050406030204" pitchFamily="18" charset="0"/>
                              </a:rPr>
                              <m:t>𝒏</m:t>
                            </m:r>
                          </m:e>
                          <m:sup>
                            <m:r>
                              <a:rPr lang="en-US" altLang="zh-TW" sz="2000" b="1" i="1" smtClean="0">
                                <a:solidFill>
                                  <a:srgbClr val="FF0000"/>
                                </a:solidFill>
                                <a:latin typeface="Cambria Math" panose="02040503050406030204" pitchFamily="18" charset="0"/>
                              </a:rPr>
                              <m:t>+</m:t>
                            </m:r>
                          </m:sup>
                        </m:sSup>
                      </m:oMath>
                    </m:oMathPara>
                  </a14:m>
                  <a:endParaRPr lang="zh-TW" altLang="en-US" b="1" dirty="0"/>
                </a:p>
              </p:txBody>
            </p:sp>
          </mc:Choice>
          <mc:Fallback xmlns="">
            <p:sp>
              <p:nvSpPr>
                <p:cNvPr id="35" name="文字方塊 34">
                  <a:extLst>
                    <a:ext uri="{FF2B5EF4-FFF2-40B4-BE49-F238E27FC236}">
                      <a16:creationId xmlns:a16="http://schemas.microsoft.com/office/drawing/2014/main" id="{A8841F82-56E4-47B9-AB45-5CE6850167A5}"/>
                    </a:ext>
                  </a:extLst>
                </p:cNvPr>
                <p:cNvSpPr txBox="1">
                  <a:spLocks noRot="1" noChangeAspect="1" noMove="1" noResize="1" noEditPoints="1" noAdjustHandles="1" noChangeArrowheads="1" noChangeShapeType="1" noTextEdit="1"/>
                </p:cNvSpPr>
                <p:nvPr/>
              </p:nvSpPr>
              <p:spPr>
                <a:xfrm>
                  <a:off x="3164002" y="4881154"/>
                  <a:ext cx="371319" cy="307777"/>
                </a:xfrm>
                <a:prstGeom prst="rect">
                  <a:avLst/>
                </a:prstGeom>
                <a:blipFill>
                  <a:blip r:embed="rId4"/>
                  <a:stretch>
                    <a:fillRect l="-21569" r="-15686" b="-25000"/>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6" name="文字方塊 35">
                  <a:extLst>
                    <a:ext uri="{FF2B5EF4-FFF2-40B4-BE49-F238E27FC236}">
                      <a16:creationId xmlns:a16="http://schemas.microsoft.com/office/drawing/2014/main" id="{25867ADF-9FE3-4DDA-BA6D-91864B187AB7}"/>
                    </a:ext>
                  </a:extLst>
                </p:cNvPr>
                <p:cNvSpPr txBox="1"/>
                <p:nvPr/>
              </p:nvSpPr>
              <p:spPr>
                <a:xfrm rot="17246780">
                  <a:off x="2176941" y="5350361"/>
                  <a:ext cx="705086" cy="639264"/>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𝐱</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400" b="1" dirty="0"/>
                </a:p>
              </p:txBody>
            </p:sp>
          </mc:Choice>
          <mc:Fallback>
            <p:sp>
              <p:nvSpPr>
                <p:cNvPr id="36" name="文字方塊 35">
                  <a:extLst>
                    <a:ext uri="{FF2B5EF4-FFF2-40B4-BE49-F238E27FC236}">
                      <a16:creationId xmlns:a16="http://schemas.microsoft.com/office/drawing/2014/main" id="{25867ADF-9FE3-4DDA-BA6D-91864B187AB7}"/>
                    </a:ext>
                  </a:extLst>
                </p:cNvPr>
                <p:cNvSpPr txBox="1">
                  <a:spLocks noRot="1" noChangeAspect="1" noMove="1" noResize="1" noEditPoints="1" noAdjustHandles="1" noChangeArrowheads="1" noChangeShapeType="1" noTextEdit="1"/>
                </p:cNvSpPr>
                <p:nvPr/>
              </p:nvSpPr>
              <p:spPr>
                <a:xfrm rot="17246780">
                  <a:off x="2176941" y="5350361"/>
                  <a:ext cx="705086" cy="639264"/>
                </a:xfrm>
                <a:prstGeom prst="rect">
                  <a:avLst/>
                </a:prstGeom>
                <a:blipFill>
                  <a:blip r:embed="rId5"/>
                  <a:stretch>
                    <a:fillRect r="-27434"/>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7" name="文字方塊 36">
                  <a:extLst>
                    <a:ext uri="{FF2B5EF4-FFF2-40B4-BE49-F238E27FC236}">
                      <a16:creationId xmlns:a16="http://schemas.microsoft.com/office/drawing/2014/main" id="{49BFE79E-3A7C-4122-A6B7-6B23DF8CC74D}"/>
                    </a:ext>
                  </a:extLst>
                </p:cNvPr>
                <p:cNvSpPr txBox="1"/>
                <p:nvPr/>
              </p:nvSpPr>
              <p:spPr>
                <a:xfrm rot="15057989">
                  <a:off x="4737796" y="5708593"/>
                  <a:ext cx="705086" cy="651608"/>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𝐲</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400" b="1" dirty="0"/>
                </a:p>
              </p:txBody>
            </p:sp>
          </mc:Choice>
          <mc:Fallback>
            <p:sp>
              <p:nvSpPr>
                <p:cNvPr id="37" name="文字方塊 36">
                  <a:extLst>
                    <a:ext uri="{FF2B5EF4-FFF2-40B4-BE49-F238E27FC236}">
                      <a16:creationId xmlns:a16="http://schemas.microsoft.com/office/drawing/2014/main" id="{49BFE79E-3A7C-4122-A6B7-6B23DF8CC74D}"/>
                    </a:ext>
                  </a:extLst>
                </p:cNvPr>
                <p:cNvSpPr txBox="1">
                  <a:spLocks noRot="1" noChangeAspect="1" noMove="1" noResize="1" noEditPoints="1" noAdjustHandles="1" noChangeArrowheads="1" noChangeShapeType="1" noTextEdit="1"/>
                </p:cNvSpPr>
                <p:nvPr/>
              </p:nvSpPr>
              <p:spPr>
                <a:xfrm rot="15057989">
                  <a:off x="4737796" y="5708593"/>
                  <a:ext cx="705086" cy="651608"/>
                </a:xfrm>
                <a:prstGeom prst="rect">
                  <a:avLst/>
                </a:prstGeom>
                <a:blipFill>
                  <a:blip r:embed="rId6"/>
                  <a:stretch>
                    <a:fillRect r="-28448"/>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8" name="文字方塊 37">
                  <a:extLst>
                    <a:ext uri="{FF2B5EF4-FFF2-40B4-BE49-F238E27FC236}">
                      <a16:creationId xmlns:a16="http://schemas.microsoft.com/office/drawing/2014/main" id="{1A8EAFC9-9D24-4590-BA5B-D92DF6510E35}"/>
                    </a:ext>
                  </a:extLst>
                </p:cNvPr>
                <p:cNvSpPr txBox="1"/>
                <p:nvPr/>
              </p:nvSpPr>
              <p:spPr>
                <a:xfrm rot="10800000">
                  <a:off x="396898" y="3839932"/>
                  <a:ext cx="649556" cy="657112"/>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𝐳</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400" b="1" dirty="0"/>
                </a:p>
              </p:txBody>
            </p:sp>
          </mc:Choice>
          <mc:Fallback>
            <p:sp>
              <p:nvSpPr>
                <p:cNvPr id="38" name="文字方塊 37">
                  <a:extLst>
                    <a:ext uri="{FF2B5EF4-FFF2-40B4-BE49-F238E27FC236}">
                      <a16:creationId xmlns:a16="http://schemas.microsoft.com/office/drawing/2014/main" id="{1A8EAFC9-9D24-4590-BA5B-D92DF6510E35}"/>
                    </a:ext>
                  </a:extLst>
                </p:cNvPr>
                <p:cNvSpPr txBox="1">
                  <a:spLocks noRot="1" noChangeAspect="1" noMove="1" noResize="1" noEditPoints="1" noAdjustHandles="1" noChangeArrowheads="1" noChangeShapeType="1" noTextEdit="1"/>
                </p:cNvSpPr>
                <p:nvPr/>
              </p:nvSpPr>
              <p:spPr>
                <a:xfrm rot="10800000">
                  <a:off x="396898" y="3839932"/>
                  <a:ext cx="649556" cy="657112"/>
                </a:xfrm>
                <a:prstGeom prst="rect">
                  <a:avLst/>
                </a:prstGeom>
                <a:blipFill>
                  <a:blip r:embed="rId7"/>
                  <a:stretch>
                    <a:fillRect t="-60714"/>
                  </a:stretch>
                </a:blipFill>
              </p:spPr>
              <p:txBody>
                <a:bodyPr/>
                <a:lstStyle/>
                <a:p>
                  <a:r>
                    <a:rPr lang="zh-TW" altLang="en-US">
                      <a:noFill/>
                    </a:rPr>
                    <a:t> </a:t>
                  </a:r>
                </a:p>
              </p:txBody>
            </p:sp>
          </mc:Fallback>
        </mc:AlternateContent>
      </p:grpSp>
      <p:grpSp>
        <p:nvGrpSpPr>
          <p:cNvPr id="39" name="群組 38">
            <a:extLst>
              <a:ext uri="{FF2B5EF4-FFF2-40B4-BE49-F238E27FC236}">
                <a16:creationId xmlns:a16="http://schemas.microsoft.com/office/drawing/2014/main" id="{1A412FBE-352D-4C9D-B3A0-E35F79ED3EE9}"/>
              </a:ext>
            </a:extLst>
          </p:cNvPr>
          <p:cNvGrpSpPr/>
          <p:nvPr/>
        </p:nvGrpSpPr>
        <p:grpSpPr>
          <a:xfrm>
            <a:off x="136460" y="3282317"/>
            <a:ext cx="3294235" cy="3488544"/>
            <a:chOff x="6594516" y="616934"/>
            <a:chExt cx="4366518" cy="4609577"/>
          </a:xfrm>
        </p:grpSpPr>
        <p:pic>
          <p:nvPicPr>
            <p:cNvPr id="41" name="圖片 40">
              <a:extLst>
                <a:ext uri="{FF2B5EF4-FFF2-40B4-BE49-F238E27FC236}">
                  <a16:creationId xmlns:a16="http://schemas.microsoft.com/office/drawing/2014/main" id="{7643EFF0-EF53-44FD-B6BD-A4FF0F2DB2F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184836" y="616934"/>
              <a:ext cx="3776198" cy="4160710"/>
            </a:xfrm>
            <a:prstGeom prst="rect">
              <a:avLst/>
            </a:prstGeom>
          </p:spPr>
        </p:pic>
        <mc:AlternateContent xmlns:mc="http://schemas.openxmlformats.org/markup-compatibility/2006" xmlns:a14="http://schemas.microsoft.com/office/drawing/2010/main">
          <mc:Choice Requires="a14">
            <p:sp>
              <p:nvSpPr>
                <p:cNvPr id="42" name="文字方塊 41">
                  <a:extLst>
                    <a:ext uri="{FF2B5EF4-FFF2-40B4-BE49-F238E27FC236}">
                      <a16:creationId xmlns:a16="http://schemas.microsoft.com/office/drawing/2014/main" id="{3B5FE4D8-C0B9-4FA9-9D9F-BDA38D9BCFF3}"/>
                    </a:ext>
                  </a:extLst>
                </p:cNvPr>
                <p:cNvSpPr txBox="1"/>
                <p:nvPr/>
              </p:nvSpPr>
              <p:spPr>
                <a:xfrm>
                  <a:off x="9744914" y="2006098"/>
                  <a:ext cx="371318"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altLang="zh-TW" sz="2000" b="1" i="1" smtClean="0">
                                <a:solidFill>
                                  <a:srgbClr val="FF0000"/>
                                </a:solidFill>
                                <a:latin typeface="Cambria Math" panose="02040503050406030204" pitchFamily="18" charset="0"/>
                              </a:rPr>
                            </m:ctrlPr>
                          </m:sSupPr>
                          <m:e>
                            <m:r>
                              <a:rPr lang="en-US" altLang="zh-TW" sz="2000" b="1" i="1" smtClean="0">
                                <a:solidFill>
                                  <a:srgbClr val="FF0000"/>
                                </a:solidFill>
                                <a:latin typeface="Cambria Math" panose="02040503050406030204" pitchFamily="18" charset="0"/>
                              </a:rPr>
                              <m:t>𝒏</m:t>
                            </m:r>
                          </m:e>
                          <m:sup>
                            <m:r>
                              <a:rPr lang="en-US" altLang="zh-TW" sz="2000" b="1" i="1" smtClean="0">
                                <a:solidFill>
                                  <a:srgbClr val="FF0000"/>
                                </a:solidFill>
                                <a:latin typeface="Cambria Math" panose="02040503050406030204" pitchFamily="18" charset="0"/>
                              </a:rPr>
                              <m:t>+</m:t>
                            </m:r>
                          </m:sup>
                        </m:sSup>
                      </m:oMath>
                    </m:oMathPara>
                  </a14:m>
                  <a:endParaRPr lang="zh-TW" altLang="en-US" b="1" dirty="0"/>
                </a:p>
              </p:txBody>
            </p:sp>
          </mc:Choice>
          <mc:Fallback xmlns="">
            <p:sp>
              <p:nvSpPr>
                <p:cNvPr id="42" name="文字方塊 41">
                  <a:extLst>
                    <a:ext uri="{FF2B5EF4-FFF2-40B4-BE49-F238E27FC236}">
                      <a16:creationId xmlns:a16="http://schemas.microsoft.com/office/drawing/2014/main" id="{3B5FE4D8-C0B9-4FA9-9D9F-BDA38D9BCFF3}"/>
                    </a:ext>
                  </a:extLst>
                </p:cNvPr>
                <p:cNvSpPr txBox="1">
                  <a:spLocks noRot="1" noChangeAspect="1" noMove="1" noResize="1" noEditPoints="1" noAdjustHandles="1" noChangeArrowheads="1" noChangeShapeType="1" noTextEdit="1"/>
                </p:cNvSpPr>
                <p:nvPr/>
              </p:nvSpPr>
              <p:spPr>
                <a:xfrm>
                  <a:off x="9744914" y="2006098"/>
                  <a:ext cx="371318" cy="307777"/>
                </a:xfrm>
                <a:prstGeom prst="rect">
                  <a:avLst/>
                </a:prstGeom>
                <a:blipFill>
                  <a:blip r:embed="rId9"/>
                  <a:stretch>
                    <a:fillRect l="-23913" r="-30435" b="-31579"/>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43" name="文字方塊 42">
                  <a:extLst>
                    <a:ext uri="{FF2B5EF4-FFF2-40B4-BE49-F238E27FC236}">
                      <a16:creationId xmlns:a16="http://schemas.microsoft.com/office/drawing/2014/main" id="{7F8310A4-B91C-4F74-9375-16BA041101E2}"/>
                    </a:ext>
                  </a:extLst>
                </p:cNvPr>
                <p:cNvSpPr txBox="1"/>
                <p:nvPr/>
              </p:nvSpPr>
              <p:spPr>
                <a:xfrm rot="17628762">
                  <a:off x="7844586" y="4147524"/>
                  <a:ext cx="726601" cy="639264"/>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𝐱</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800" b="1" dirty="0"/>
                </a:p>
              </p:txBody>
            </p:sp>
          </mc:Choice>
          <mc:Fallback>
            <p:sp>
              <p:nvSpPr>
                <p:cNvPr id="43" name="文字方塊 42">
                  <a:extLst>
                    <a:ext uri="{FF2B5EF4-FFF2-40B4-BE49-F238E27FC236}">
                      <a16:creationId xmlns:a16="http://schemas.microsoft.com/office/drawing/2014/main" id="{7F8310A4-B91C-4F74-9375-16BA041101E2}"/>
                    </a:ext>
                  </a:extLst>
                </p:cNvPr>
                <p:cNvSpPr txBox="1">
                  <a:spLocks noRot="1" noChangeAspect="1" noMove="1" noResize="1" noEditPoints="1" noAdjustHandles="1" noChangeArrowheads="1" noChangeShapeType="1" noTextEdit="1"/>
                </p:cNvSpPr>
                <p:nvPr/>
              </p:nvSpPr>
              <p:spPr>
                <a:xfrm rot="17628762">
                  <a:off x="7844586" y="4147524"/>
                  <a:ext cx="726601" cy="639264"/>
                </a:xfrm>
                <a:prstGeom prst="rect">
                  <a:avLst/>
                </a:prstGeom>
                <a:blipFill>
                  <a:blip r:embed="rId10"/>
                  <a:stretch>
                    <a:fillRect r="-30909"/>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44" name="文字方塊 43">
                  <a:extLst>
                    <a:ext uri="{FF2B5EF4-FFF2-40B4-BE49-F238E27FC236}">
                      <a16:creationId xmlns:a16="http://schemas.microsoft.com/office/drawing/2014/main" id="{48BAC9FB-C928-45AA-BB1D-7C942F2E9BD7}"/>
                    </a:ext>
                  </a:extLst>
                </p:cNvPr>
                <p:cNvSpPr txBox="1"/>
                <p:nvPr/>
              </p:nvSpPr>
              <p:spPr>
                <a:xfrm rot="14663048">
                  <a:off x="10195013" y="4537407"/>
                  <a:ext cx="726601" cy="651608"/>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𝐲</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400" b="1" dirty="0"/>
                </a:p>
              </p:txBody>
            </p:sp>
          </mc:Choice>
          <mc:Fallback>
            <p:sp>
              <p:nvSpPr>
                <p:cNvPr id="44" name="文字方塊 43">
                  <a:extLst>
                    <a:ext uri="{FF2B5EF4-FFF2-40B4-BE49-F238E27FC236}">
                      <a16:creationId xmlns:a16="http://schemas.microsoft.com/office/drawing/2014/main" id="{48BAC9FB-C928-45AA-BB1D-7C942F2E9BD7}"/>
                    </a:ext>
                  </a:extLst>
                </p:cNvPr>
                <p:cNvSpPr txBox="1">
                  <a:spLocks noRot="1" noChangeAspect="1" noMove="1" noResize="1" noEditPoints="1" noAdjustHandles="1" noChangeArrowheads="1" noChangeShapeType="1" noTextEdit="1"/>
                </p:cNvSpPr>
                <p:nvPr/>
              </p:nvSpPr>
              <p:spPr>
                <a:xfrm rot="14663048">
                  <a:off x="10195013" y="4537407"/>
                  <a:ext cx="726601" cy="651608"/>
                </a:xfrm>
                <a:prstGeom prst="rect">
                  <a:avLst/>
                </a:prstGeom>
                <a:blipFill>
                  <a:blip r:embed="rId11"/>
                  <a:stretch>
                    <a:fillRect r="-33036"/>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45" name="文字方塊 44">
                  <a:extLst>
                    <a:ext uri="{FF2B5EF4-FFF2-40B4-BE49-F238E27FC236}">
                      <a16:creationId xmlns:a16="http://schemas.microsoft.com/office/drawing/2014/main" id="{115A48E0-B25B-46D6-82BC-8D6C6D813F3C}"/>
                    </a:ext>
                  </a:extLst>
                </p:cNvPr>
                <p:cNvSpPr txBox="1"/>
                <p:nvPr/>
              </p:nvSpPr>
              <p:spPr>
                <a:xfrm rot="10800000">
                  <a:off x="6594516" y="2191129"/>
                  <a:ext cx="728886" cy="657112"/>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0" smtClean="0">
                            <a:latin typeface="Cambria Math" panose="02040503050406030204" pitchFamily="18" charset="0"/>
                          </a:rPr>
                          <m:t>𝐳</m:t>
                        </m:r>
                        <m:r>
                          <a:rPr lang="en-US" altLang="zh-TW" sz="2000" b="1" i="0" smtClean="0">
                            <a:latin typeface="Cambria Math" panose="02040503050406030204" pitchFamily="18" charset="0"/>
                          </a:rPr>
                          <m:t>(</m:t>
                        </m:r>
                        <m:r>
                          <a:rPr lang="en-US" altLang="zh-TW" sz="2000" b="1" i="0" smtClean="0">
                            <a:latin typeface="Cambria Math" panose="02040503050406030204" pitchFamily="18" charset="0"/>
                          </a:rPr>
                          <m:t>𝐦𝐦</m:t>
                        </m:r>
                        <m:r>
                          <a:rPr lang="en-US" altLang="zh-TW" sz="2000" b="1" i="0" smtClean="0">
                            <a:latin typeface="Cambria Math" panose="02040503050406030204" pitchFamily="18" charset="0"/>
                          </a:rPr>
                          <m:t>)</m:t>
                        </m:r>
                      </m:oMath>
                    </m:oMathPara>
                  </a14:m>
                  <a:endParaRPr lang="zh-TW" altLang="en-US" sz="2000" b="1" dirty="0"/>
                </a:p>
              </p:txBody>
            </p:sp>
          </mc:Choice>
          <mc:Fallback>
            <p:sp>
              <p:nvSpPr>
                <p:cNvPr id="45" name="文字方塊 44">
                  <a:extLst>
                    <a:ext uri="{FF2B5EF4-FFF2-40B4-BE49-F238E27FC236}">
                      <a16:creationId xmlns:a16="http://schemas.microsoft.com/office/drawing/2014/main" id="{115A48E0-B25B-46D6-82BC-8D6C6D813F3C}"/>
                    </a:ext>
                  </a:extLst>
                </p:cNvPr>
                <p:cNvSpPr txBox="1">
                  <a:spLocks noRot="1" noChangeAspect="1" noMove="1" noResize="1" noEditPoints="1" noAdjustHandles="1" noChangeArrowheads="1" noChangeShapeType="1" noTextEdit="1"/>
                </p:cNvSpPr>
                <p:nvPr/>
              </p:nvSpPr>
              <p:spPr>
                <a:xfrm rot="10800000">
                  <a:off x="6594516" y="2191129"/>
                  <a:ext cx="728886" cy="657112"/>
                </a:xfrm>
                <a:prstGeom prst="rect">
                  <a:avLst/>
                </a:prstGeom>
                <a:blipFill>
                  <a:blip r:embed="rId12"/>
                  <a:stretch>
                    <a:fillRect t="-66667"/>
                  </a:stretch>
                </a:blipFill>
              </p:spPr>
              <p:txBody>
                <a:bodyPr/>
                <a:lstStyle/>
                <a:p>
                  <a:r>
                    <a:rPr lang="zh-TW" altLang="en-US">
                      <a:noFill/>
                    </a:rPr>
                    <a:t> </a:t>
                  </a:r>
                </a:p>
              </p:txBody>
            </p:sp>
          </mc:Fallback>
        </mc:AlternateContent>
      </p:grpSp>
      <p:sp>
        <p:nvSpPr>
          <p:cNvPr id="20" name="文字方塊 19">
            <a:extLst>
              <a:ext uri="{FF2B5EF4-FFF2-40B4-BE49-F238E27FC236}">
                <a16:creationId xmlns:a16="http://schemas.microsoft.com/office/drawing/2014/main" id="{902F27FE-532D-4F21-B3F5-01378DF215E9}"/>
              </a:ext>
            </a:extLst>
          </p:cNvPr>
          <p:cNvSpPr txBox="1"/>
          <p:nvPr/>
        </p:nvSpPr>
        <p:spPr>
          <a:xfrm>
            <a:off x="5168185" y="1025352"/>
            <a:ext cx="6583548" cy="1200329"/>
          </a:xfrm>
          <a:prstGeom prst="rect">
            <a:avLst/>
          </a:prstGeom>
          <a:noFill/>
        </p:spPr>
        <p:txBody>
          <a:bodyPr wrap="square">
            <a:spAutoFit/>
          </a:bodyPr>
          <a:lstStyle/>
          <a:p>
            <a:pPr marL="285750" indent="-285750">
              <a:buFont typeface="Arial" panose="020B0604020202020204" pitchFamily="34" charset="0"/>
              <a:buChar char="•"/>
            </a:pPr>
            <a:r>
              <a:rPr lang="en-US" altLang="zh-TW" dirty="0"/>
              <a:t>These two figures illustrate how the Hall sensors on the upper and lower magnetic poles detect the magnetic field. The figures show that the Hall sensors measure the stray magnetic field emanating from the magnetic poles.</a:t>
            </a:r>
            <a:endParaRPr lang="zh-TW" altLang="en-US" dirty="0"/>
          </a:p>
        </p:txBody>
      </p:sp>
    </p:spTree>
    <p:extLst>
      <p:ext uri="{BB962C8B-B14F-4D97-AF65-F5344CB8AC3E}">
        <p14:creationId xmlns:p14="http://schemas.microsoft.com/office/powerpoint/2010/main" val="3278982484"/>
      </p:ext>
    </p:extLst>
  </p:cSld>
  <p:clrMapOvr>
    <a:masterClrMapping/>
  </p:clrMapOvr>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8486</TotalTime>
  <Words>1398</Words>
  <Application>Microsoft Office PowerPoint</Application>
  <PresentationFormat>寬螢幕</PresentationFormat>
  <Paragraphs>130</Paragraphs>
  <Slides>15</Slides>
  <Notes>0</Notes>
  <HiddenSlides>0</HiddenSlides>
  <MMClips>0</MMClips>
  <ScaleCrop>false</ScaleCrop>
  <HeadingPairs>
    <vt:vector size="6" baseType="variant">
      <vt:variant>
        <vt:lpstr>使用字型</vt:lpstr>
      </vt:variant>
      <vt:variant>
        <vt:i4>6</vt:i4>
      </vt:variant>
      <vt:variant>
        <vt:lpstr>佈景主題</vt:lpstr>
      </vt:variant>
      <vt:variant>
        <vt:i4>1</vt:i4>
      </vt:variant>
      <vt:variant>
        <vt:lpstr>投影片標題</vt:lpstr>
      </vt:variant>
      <vt:variant>
        <vt:i4>15</vt:i4>
      </vt:variant>
    </vt:vector>
  </HeadingPairs>
  <TitlesOfParts>
    <vt:vector size="22" baseType="lpstr">
      <vt:lpstr>Aptos</vt:lpstr>
      <vt:lpstr>Arial</vt:lpstr>
      <vt:lpstr>Calibri</vt:lpstr>
      <vt:lpstr>Calibri Light</vt:lpstr>
      <vt:lpstr>Cambria Math</vt:lpstr>
      <vt:lpstr>Times New Roman</vt:lpstr>
      <vt:lpstr>Office 佈景主題</vt:lpstr>
      <vt:lpstr>A Lumped-Parameter Modeling, Calibration, and Capacity-Measure Framework for Flux Generation in Symmetric Multipole Electromagnetic Actuators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Hall-sensor-voltage-based lumped-parameter modeling and calibration </vt:lpstr>
      <vt:lpstr>Hall-sensor-voltage-based lumped-parameter modeling and calibration </vt:lpstr>
      <vt:lpstr>Hall-sensor-voltage-based lumped-parameter modeling and calibration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Lumped-Parameter Modeling, Calibration, and Capacity-Measure Framework for Flux Generation in Symmetric Multipole Electromagnetic Actuators</dc:title>
  <dc:creator>郭建棋</dc:creator>
  <cp:lastModifiedBy>郭建棋</cp:lastModifiedBy>
  <cp:revision>94</cp:revision>
  <dcterms:created xsi:type="dcterms:W3CDTF">2026-07-23T11:39:15Z</dcterms:created>
  <dcterms:modified xsi:type="dcterms:W3CDTF">2026-07-30T18:49:26Z</dcterms:modified>
</cp:coreProperties>
</file>