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2" r:id="rId5"/>
    <p:sldId id="266" r:id="rId6"/>
    <p:sldId id="267" r:id="rId7"/>
    <p:sldId id="268" r:id="rId8"/>
    <p:sldId id="269" r:id="rId9"/>
    <p:sldId id="272" r:id="rId10"/>
    <p:sldId id="276" r:id="rId11"/>
    <p:sldId id="274" r:id="rId12"/>
    <p:sldId id="275" r:id="rId13"/>
    <p:sldId id="277" r:id="rId14"/>
    <p:sldId id="278" r:id="rId15"/>
    <p:sldId id="27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3.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6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1.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3.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7.png"/><Relationship Id="rId10" Type="http://schemas.openxmlformats.org/officeDocument/2006/relationships/image" Target="../media/image74.png"/><Relationship Id="rId4" Type="http://schemas.openxmlformats.org/officeDocument/2006/relationships/image" Target="../media/image64.png"/><Relationship Id="rId9" Type="http://schemas.openxmlformats.org/officeDocument/2006/relationships/image" Target="../media/image73.png"/><Relationship Id="rId14" Type="http://schemas.openxmlformats.org/officeDocument/2006/relationships/image" Target="../media/image78.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4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13.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2.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1.png"/><Relationship Id="rId7" Type="http://schemas.openxmlformats.org/officeDocument/2006/relationships/image" Target="../media/image68.png"/><Relationship Id="rId2" Type="http://schemas.openxmlformats.org/officeDocument/2006/relationships/image" Target="../media/image480.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88.png"/><Relationship Id="rId5" Type="http://schemas.openxmlformats.org/officeDocument/2006/relationships/image" Target="../media/image65.png"/><Relationship Id="rId10" Type="http://schemas.openxmlformats.org/officeDocument/2006/relationships/image" Target="../media/image83.png"/><Relationship Id="rId4" Type="http://schemas.openxmlformats.org/officeDocument/2006/relationships/image" Target="../media/image62.png"/><Relationship Id="rId9"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image" Target="../media/image480.png"/><Relationship Id="rId16"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r>
              <a:rPr lang="en-US" altLang="zh-TW" sz="2800" b="1" kern="100" dirty="0">
                <a:solidFill>
                  <a:srgbClr val="000000"/>
                </a:solidFill>
                <a:latin typeface="Aptos"/>
                <a:ea typeface="新細明體" panose="02020500000000000000" pitchFamily="18" charset="-120"/>
                <a:cs typeface="Times New Roman" panose="02020603050405020304" pitchFamily="18" charset="0"/>
              </a:rPr>
              <a:t>KUO,CHIEN-CHI</a:t>
            </a:r>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110067" y="308956"/>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10067" y="4839152"/>
            <a:ext cx="11904133"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shows the actuator coordinate system defined for the multipole electromagnetic actuator, with the corresponding magnetic pole numbers labeled. All subsequent model calibration and analysis are conducted in this coordinate system. In addition, the tips of the six magnetic poles lie on a common spherical surface, whose radius is determined by the geometric design of the magnetic tweezer.</a:t>
            </a:r>
            <a:endParaRPr lang="zh-TW" altLang="en-US" dirty="0">
              <a:latin typeface="Times New Roman" panose="02020603050405020304" pitchFamily="18" charset="0"/>
              <a:cs typeface="Times New Roman" panose="02020603050405020304" pitchFamily="18" charset="0"/>
            </a:endParaRPr>
          </a:p>
        </p:txBody>
      </p:sp>
      <p:grpSp>
        <p:nvGrpSpPr>
          <p:cNvPr id="38" name="群組 37">
            <a:extLst>
              <a:ext uri="{FF2B5EF4-FFF2-40B4-BE49-F238E27FC236}">
                <a16:creationId xmlns:a16="http://schemas.microsoft.com/office/drawing/2014/main" id="{AA62B6A9-7877-495D-B0BD-E5924BECB820}"/>
              </a:ext>
            </a:extLst>
          </p:cNvPr>
          <p:cNvGrpSpPr/>
          <p:nvPr/>
        </p:nvGrpSpPr>
        <p:grpSpPr>
          <a:xfrm>
            <a:off x="680041" y="786715"/>
            <a:ext cx="4247557" cy="4083724"/>
            <a:chOff x="1835121" y="897465"/>
            <a:chExt cx="4819678" cy="4812706"/>
          </a:xfrm>
        </p:grpSpPr>
        <p:pic>
          <p:nvPicPr>
            <p:cNvPr id="39" name="圖片 38">
              <a:extLst>
                <a:ext uri="{FF2B5EF4-FFF2-40B4-BE49-F238E27FC236}">
                  <a16:creationId xmlns:a16="http://schemas.microsoft.com/office/drawing/2014/main" id="{32AB840E-7D18-4046-9A2F-2F6AC1DAE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060" y="897465"/>
              <a:ext cx="4389739" cy="4463826"/>
            </a:xfrm>
            <a:prstGeom prst="rect">
              <a:avLst/>
            </a:prstGeom>
          </p:spPr>
        </p:pic>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1D8A4C9E-9DB8-482A-BD04-44467C3D9608}"/>
                    </a:ext>
                  </a:extLst>
                </p:cNvPr>
                <p:cNvSpPr txBox="1"/>
                <p:nvPr/>
              </p:nvSpPr>
              <p:spPr>
                <a:xfrm rot="18912997">
                  <a:off x="2303014" y="4398496"/>
                  <a:ext cx="623961" cy="72675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0" name="文字方塊 39">
                  <a:extLst>
                    <a:ext uri="{FF2B5EF4-FFF2-40B4-BE49-F238E27FC236}">
                      <a16:creationId xmlns:a16="http://schemas.microsoft.com/office/drawing/2014/main" id="{1D8A4C9E-9DB8-482A-BD04-44467C3D9608}"/>
                    </a:ext>
                  </a:extLst>
                </p:cNvPr>
                <p:cNvSpPr txBox="1">
                  <a:spLocks noRot="1" noChangeAspect="1" noMove="1" noResize="1" noEditPoints="1" noAdjustHandles="1" noChangeArrowheads="1" noChangeShapeType="1" noTextEdit="1"/>
                </p:cNvSpPr>
                <p:nvPr/>
              </p:nvSpPr>
              <p:spPr>
                <a:xfrm rot="18912997">
                  <a:off x="2303014" y="4398496"/>
                  <a:ext cx="623961" cy="726755"/>
                </a:xfrm>
                <a:prstGeom prst="rect">
                  <a:avLst/>
                </a:prstGeom>
                <a:blipFill>
                  <a:blip r:embed="rId3"/>
                  <a:stretch>
                    <a:fillRect b="-29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2D066EE1-A98A-4568-B8A4-C73397C3BF73}"/>
                    </a:ext>
                  </a:extLst>
                </p:cNvPr>
                <p:cNvSpPr txBox="1"/>
                <p:nvPr/>
              </p:nvSpPr>
              <p:spPr>
                <a:xfrm rot="15569608">
                  <a:off x="5198718" y="5036276"/>
                  <a:ext cx="64805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1" name="文字方塊 40">
                  <a:extLst>
                    <a:ext uri="{FF2B5EF4-FFF2-40B4-BE49-F238E27FC236}">
                      <a16:creationId xmlns:a16="http://schemas.microsoft.com/office/drawing/2014/main" id="{2D066EE1-A98A-4568-B8A4-C73397C3BF73}"/>
                    </a:ext>
                  </a:extLst>
                </p:cNvPr>
                <p:cNvSpPr txBox="1">
                  <a:spLocks noRot="1" noChangeAspect="1" noMove="1" noResize="1" noEditPoints="1" noAdjustHandles="1" noChangeArrowheads="1" noChangeShapeType="1" noTextEdit="1"/>
                </p:cNvSpPr>
                <p:nvPr/>
              </p:nvSpPr>
              <p:spPr>
                <a:xfrm rot="15569608">
                  <a:off x="5198718" y="5036276"/>
                  <a:ext cx="648055" cy="699735"/>
                </a:xfrm>
                <a:prstGeom prst="rect">
                  <a:avLst/>
                </a:prstGeom>
                <a:blipFill>
                  <a:blip r:embed="rId4"/>
                  <a:stretch>
                    <a:fillRect r="-24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D10CA883-1346-42F7-8B76-2062F1364404}"/>
                    </a:ext>
                  </a:extLst>
                </p:cNvPr>
                <p:cNvSpPr txBox="1"/>
                <p:nvPr/>
              </p:nvSpPr>
              <p:spPr>
                <a:xfrm rot="10800000">
                  <a:off x="1835121" y="2500749"/>
                  <a:ext cx="623961"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2" name="文字方塊 41">
                  <a:extLst>
                    <a:ext uri="{FF2B5EF4-FFF2-40B4-BE49-F238E27FC236}">
                      <a16:creationId xmlns:a16="http://schemas.microsoft.com/office/drawing/2014/main" id="{D10CA883-1346-42F7-8B76-2062F1364404}"/>
                    </a:ext>
                  </a:extLst>
                </p:cNvPr>
                <p:cNvSpPr txBox="1">
                  <a:spLocks noRot="1" noChangeAspect="1" noMove="1" noResize="1" noEditPoints="1" noAdjustHandles="1" noChangeArrowheads="1" noChangeShapeType="1" noTextEdit="1"/>
                </p:cNvSpPr>
                <p:nvPr/>
              </p:nvSpPr>
              <p:spPr>
                <a:xfrm rot="10800000">
                  <a:off x="1835121" y="2500749"/>
                  <a:ext cx="623961" cy="719271"/>
                </a:xfrm>
                <a:prstGeom prst="rect">
                  <a:avLst/>
                </a:prstGeom>
                <a:blipFill>
                  <a:blip r:embed="rId5"/>
                  <a:stretch>
                    <a:fillRect t="-35000"/>
                  </a:stretch>
                </a:blipFill>
              </p:spPr>
              <p:txBody>
                <a:bodyPr/>
                <a:lstStyle/>
                <a:p>
                  <a:r>
                    <a:rPr lang="zh-TW" altLang="en-US">
                      <a:noFill/>
                    </a:rPr>
                    <a:t> </a:t>
                  </a:r>
                </a:p>
              </p:txBody>
            </p:sp>
          </mc:Fallback>
        </mc:AlternateContent>
        <p:sp>
          <p:nvSpPr>
            <p:cNvPr id="43" name="文字方塊 42">
              <a:extLst>
                <a:ext uri="{FF2B5EF4-FFF2-40B4-BE49-F238E27FC236}">
                  <a16:creationId xmlns:a16="http://schemas.microsoft.com/office/drawing/2014/main" id="{9816DB7A-5600-4648-81CF-FC77A97F59A7}"/>
                </a:ext>
              </a:extLst>
            </p:cNvPr>
            <p:cNvSpPr txBox="1"/>
            <p:nvPr/>
          </p:nvSpPr>
          <p:spPr>
            <a:xfrm>
              <a:off x="3616323" y="1369932"/>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B01D7049-DD29-4D0B-B2B1-625F6E20E98A}"/>
                </a:ext>
              </a:extLst>
            </p:cNvPr>
            <p:cNvSpPr txBox="1"/>
            <p:nvPr/>
          </p:nvSpPr>
          <p:spPr>
            <a:xfrm>
              <a:off x="5423731" y="4033461"/>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986ADB67-D550-4D05-9BCC-7595C10496CC}"/>
                </a:ext>
              </a:extLst>
            </p:cNvPr>
            <p:cNvSpPr txBox="1"/>
            <p:nvPr/>
          </p:nvSpPr>
          <p:spPr>
            <a:xfrm>
              <a:off x="5527082" y="287976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5A6023E5-6C81-4C53-ABB9-EF9DF517A728}"/>
                </a:ext>
              </a:extLst>
            </p:cNvPr>
            <p:cNvSpPr txBox="1"/>
            <p:nvPr/>
          </p:nvSpPr>
          <p:spPr>
            <a:xfrm>
              <a:off x="3616323" y="2110536"/>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7" name="文字方塊 46">
              <a:extLst>
                <a:ext uri="{FF2B5EF4-FFF2-40B4-BE49-F238E27FC236}">
                  <a16:creationId xmlns:a16="http://schemas.microsoft.com/office/drawing/2014/main" id="{491E7F4D-D5D4-48A1-BCD7-01D13ADACFE0}"/>
                </a:ext>
              </a:extLst>
            </p:cNvPr>
            <p:cNvSpPr txBox="1"/>
            <p:nvPr/>
          </p:nvSpPr>
          <p:spPr>
            <a:xfrm>
              <a:off x="3020245" y="322002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7AF339C0-5449-41BD-AC87-E12ABE856DA0}"/>
                </a:ext>
              </a:extLst>
            </p:cNvPr>
            <p:cNvSpPr txBox="1"/>
            <p:nvPr/>
          </p:nvSpPr>
          <p:spPr>
            <a:xfrm>
              <a:off x="5758370" y="1695649"/>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B00A9E93-BF26-4BA1-A4EB-7BCD8BBA08AF}"/>
                    </a:ext>
                  </a:extLst>
                </p:cNvPr>
                <p:cNvSpPr txBox="1"/>
                <p:nvPr/>
              </p:nvSpPr>
              <p:spPr>
                <a:xfrm>
                  <a:off x="4366476" y="311552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B00A9E93-BF26-4BA1-A4EB-7BCD8BBA08AF}"/>
                    </a:ext>
                  </a:extLst>
                </p:cNvPr>
                <p:cNvSpPr txBox="1">
                  <a:spLocks noRot="1" noChangeAspect="1" noMove="1" noResize="1" noEditPoints="1" noAdjustHandles="1" noChangeArrowheads="1" noChangeShapeType="1" noTextEdit="1"/>
                </p:cNvSpPr>
                <p:nvPr/>
              </p:nvSpPr>
              <p:spPr>
                <a:xfrm>
                  <a:off x="4366476" y="3115526"/>
                  <a:ext cx="623935" cy="47153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4692E77-59D7-419B-A306-129394131306}"/>
                    </a:ext>
                  </a:extLst>
                </p:cNvPr>
                <p:cNvSpPr txBox="1"/>
                <p:nvPr/>
              </p:nvSpPr>
              <p:spPr>
                <a:xfrm>
                  <a:off x="4914360" y="2705631"/>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D4692E77-59D7-419B-A306-129394131306}"/>
                    </a:ext>
                  </a:extLst>
                </p:cNvPr>
                <p:cNvSpPr txBox="1">
                  <a:spLocks noRot="1" noChangeAspect="1" noMove="1" noResize="1" noEditPoints="1" noAdjustHandles="1" noChangeArrowheads="1" noChangeShapeType="1" noTextEdit="1"/>
                </p:cNvSpPr>
                <p:nvPr/>
              </p:nvSpPr>
              <p:spPr>
                <a:xfrm>
                  <a:off x="4914360" y="2705631"/>
                  <a:ext cx="623935" cy="471533"/>
                </a:xfrm>
                <a:prstGeom prst="rect">
                  <a:avLst/>
                </a:prstGeom>
                <a:blipFill>
                  <a:blip r:embed="rId7"/>
                  <a:stretch>
                    <a:fillRect b="-1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FED75631-3C23-4326-928D-C25573DE51D4}"/>
                    </a:ext>
                  </a:extLst>
                </p:cNvPr>
                <p:cNvSpPr txBox="1"/>
                <p:nvPr/>
              </p:nvSpPr>
              <p:spPr>
                <a:xfrm>
                  <a:off x="4799795" y="224580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FED75631-3C23-4326-928D-C25573DE51D4}"/>
                    </a:ext>
                  </a:extLst>
                </p:cNvPr>
                <p:cNvSpPr txBox="1">
                  <a:spLocks noRot="1" noChangeAspect="1" noMove="1" noResize="1" noEditPoints="1" noAdjustHandles="1" noChangeArrowheads="1" noChangeShapeType="1" noTextEdit="1"/>
                </p:cNvSpPr>
                <p:nvPr/>
              </p:nvSpPr>
              <p:spPr>
                <a:xfrm>
                  <a:off x="4799795" y="2245806"/>
                  <a:ext cx="623935" cy="47153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24862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indent="-342900">
              <a:lnSpc>
                <a:spcPct val="115000"/>
              </a:lnSpc>
              <a:spcAft>
                <a:spcPts val="800"/>
              </a:spcAft>
              <a:buFont typeface="+mj-lt"/>
              <a:buAutoNum type="alphaUcPeriod"/>
            </a:pP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39700" y="4718757"/>
            <a:ext cx="11802532" cy="17045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conditions are an excitation current of 1 A and a 70-turn coil, and the results shown are obtained from Long’s model. The left figure presents a top view of the magnetic flux path through the entire structure when pole P2 is excited. The magnetic flux emerges from pole P2, enters the other poles, and then returns through the yoke. The right figure is an enlarged view of the central region in the left figure, allowing the magnetic flux path to be observed more clearly.</a:t>
            </a:r>
            <a:endParaRPr lang="zh-TW" altLang="en-US"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6ACEBE40-98D9-4A5A-8905-7C5F258AD8ED}"/>
              </a:ext>
            </a:extLst>
          </p:cNvPr>
          <p:cNvGrpSpPr/>
          <p:nvPr/>
        </p:nvGrpSpPr>
        <p:grpSpPr>
          <a:xfrm>
            <a:off x="1876201" y="1036796"/>
            <a:ext cx="7920854" cy="3407507"/>
            <a:chOff x="1486734" y="1074423"/>
            <a:chExt cx="7920854" cy="3407507"/>
          </a:xfrm>
        </p:grpSpPr>
        <p:pic>
          <p:nvPicPr>
            <p:cNvPr id="5" name="圖片 4">
              <a:extLst>
                <a:ext uri="{FF2B5EF4-FFF2-40B4-BE49-F238E27FC236}">
                  <a16:creationId xmlns:a16="http://schemas.microsoft.com/office/drawing/2014/main" id="{DCE6BEAD-4874-4B1F-9882-79E0FE40D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189" y="1080886"/>
              <a:ext cx="7772399" cy="3118488"/>
            </a:xfrm>
            <a:prstGeom prst="rect">
              <a:avLst/>
            </a:prstGeom>
          </p:spPr>
        </p:pic>
        <p:grpSp>
          <p:nvGrpSpPr>
            <p:cNvPr id="9" name="群組 8">
              <a:extLst>
                <a:ext uri="{FF2B5EF4-FFF2-40B4-BE49-F238E27FC236}">
                  <a16:creationId xmlns:a16="http://schemas.microsoft.com/office/drawing/2014/main" id="{63F53FDF-1E8F-42BC-9E62-338722C7CC60}"/>
                </a:ext>
              </a:extLst>
            </p:cNvPr>
            <p:cNvGrpSpPr/>
            <p:nvPr/>
          </p:nvGrpSpPr>
          <p:grpSpPr>
            <a:xfrm>
              <a:off x="1486734" y="1074423"/>
              <a:ext cx="6256580" cy="3407507"/>
              <a:chOff x="1512134" y="2427700"/>
              <a:chExt cx="6256580" cy="3407507"/>
            </a:xfrm>
          </p:grpSpPr>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8A5C6BB-931B-4F4B-A1BB-3497A0FDA336}"/>
                      </a:ext>
                    </a:extLst>
                  </p:cNvPr>
                  <p:cNvSpPr txBox="1"/>
                  <p:nvPr/>
                </p:nvSpPr>
                <p:spPr>
                  <a:xfrm>
                    <a:off x="6877444" y="5527430"/>
                    <a:ext cx="8912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0" name="文字方塊 29">
                    <a:extLst>
                      <a:ext uri="{FF2B5EF4-FFF2-40B4-BE49-F238E27FC236}">
                        <a16:creationId xmlns:a16="http://schemas.microsoft.com/office/drawing/2014/main" id="{48A5C6BB-931B-4F4B-A1BB-3497A0FDA336}"/>
                      </a:ext>
                    </a:extLst>
                  </p:cNvPr>
                  <p:cNvSpPr txBox="1">
                    <a:spLocks noRot="1" noChangeAspect="1" noMove="1" noResize="1" noEditPoints="1" noAdjustHandles="1" noChangeArrowheads="1" noChangeShapeType="1" noTextEdit="1"/>
                  </p:cNvSpPr>
                  <p:nvPr/>
                </p:nvSpPr>
                <p:spPr>
                  <a:xfrm>
                    <a:off x="6877444" y="5527430"/>
                    <a:ext cx="891270" cy="307777"/>
                  </a:xfrm>
                  <a:prstGeom prst="rect">
                    <a:avLst/>
                  </a:prstGeom>
                  <a:blipFill>
                    <a:blip r:embed="rId3"/>
                    <a:stretch>
                      <a:fillRect l="-2740" t="-4000" r="-8904" b="-3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BF3B71D8-6AC7-44F0-B911-59DBD9506675}"/>
                      </a:ext>
                    </a:extLst>
                  </p:cNvPr>
                  <p:cNvSpPr txBox="1"/>
                  <p:nvPr/>
                </p:nvSpPr>
                <p:spPr>
                  <a:xfrm rot="16200000">
                    <a:off x="4996409" y="3622186"/>
                    <a:ext cx="8976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1" name="文字方塊 30">
                    <a:extLst>
                      <a:ext uri="{FF2B5EF4-FFF2-40B4-BE49-F238E27FC236}">
                        <a16:creationId xmlns:a16="http://schemas.microsoft.com/office/drawing/2014/main" id="{BF3B71D8-6AC7-44F0-B911-59DBD9506675}"/>
                      </a:ext>
                    </a:extLst>
                  </p:cNvPr>
                  <p:cNvSpPr txBox="1">
                    <a:spLocks noRot="1" noChangeAspect="1" noMove="1" noResize="1" noEditPoints="1" noAdjustHandles="1" noChangeArrowheads="1" noChangeShapeType="1" noTextEdit="1"/>
                  </p:cNvSpPr>
                  <p:nvPr/>
                </p:nvSpPr>
                <p:spPr>
                  <a:xfrm rot="16200000">
                    <a:off x="4996409" y="3622186"/>
                    <a:ext cx="897682" cy="307777"/>
                  </a:xfrm>
                  <a:prstGeom prst="rect">
                    <a:avLst/>
                  </a:prstGeom>
                  <a:blipFill>
                    <a:blip r:embed="rId4"/>
                    <a:stretch>
                      <a:fillRect l="-4000" t="-8844" r="-36000" b="-5442"/>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8AE40657-1031-448C-A4D9-24F68F910341}"/>
                  </a:ext>
                </a:extLst>
              </p:cNvPr>
              <p:cNvSpPr txBox="1"/>
              <p:nvPr/>
            </p:nvSpPr>
            <p:spPr>
              <a:xfrm>
                <a:off x="4809071"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D72E3C9E-F1C5-4412-9D66-FFC829DEB1D9}"/>
                  </a:ext>
                </a:extLst>
              </p:cNvPr>
              <p:cNvSpPr txBox="1"/>
              <p:nvPr/>
            </p:nvSpPr>
            <p:spPr>
              <a:xfrm>
                <a:off x="4165602" y="2427700"/>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EBE3124-E78F-43FB-9199-917095FCC580}"/>
                  </a:ext>
                </a:extLst>
              </p:cNvPr>
              <p:cNvSpPr txBox="1"/>
              <p:nvPr/>
            </p:nvSpPr>
            <p:spPr>
              <a:xfrm>
                <a:off x="2489202" y="2447223"/>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0FDEC11-AEB6-4036-8112-D94BFF1A310A}"/>
                  </a:ext>
                </a:extLst>
              </p:cNvPr>
              <p:cNvSpPr txBox="1"/>
              <p:nvPr/>
            </p:nvSpPr>
            <p:spPr>
              <a:xfrm>
                <a:off x="4165602" y="4806832"/>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78EBD6D-62AE-441A-90B8-C293F22D1BA0}"/>
                      </a:ext>
                    </a:extLst>
                  </p:cNvPr>
                  <p:cNvSpPr txBox="1"/>
                  <p:nvPr/>
                </p:nvSpPr>
                <p:spPr>
                  <a:xfrm>
                    <a:off x="3187700" y="5548720"/>
                    <a:ext cx="7886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𝐱</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A78EBD6D-62AE-441A-90B8-C293F22D1BA0}"/>
                      </a:ext>
                    </a:extLst>
                  </p:cNvPr>
                  <p:cNvSpPr txBox="1">
                    <a:spLocks noRot="1" noChangeAspect="1" noMove="1" noResize="1" noEditPoints="1" noAdjustHandles="1" noChangeArrowheads="1" noChangeShapeType="1" noTextEdit="1"/>
                  </p:cNvSpPr>
                  <p:nvPr/>
                </p:nvSpPr>
                <p:spPr>
                  <a:xfrm>
                    <a:off x="3187700" y="5548720"/>
                    <a:ext cx="788677" cy="276999"/>
                  </a:xfrm>
                  <a:prstGeom prst="rect">
                    <a:avLst/>
                  </a:prstGeom>
                  <a:blipFill>
                    <a:blip r:embed="rId5"/>
                    <a:stretch>
                      <a:fillRect l="-3876" r="-10853" b="-37778"/>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193AEBC4-A127-4463-AACD-719EFC10D233}"/>
                  </a:ext>
                </a:extLst>
              </p:cNvPr>
              <p:cNvSpPr txBox="1"/>
              <p:nvPr/>
            </p:nvSpPr>
            <p:spPr>
              <a:xfrm>
                <a:off x="2489202" y="479836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AD49A9E-9AF1-42D6-8A88-19BA4EB49796}"/>
                  </a:ext>
                </a:extLst>
              </p:cNvPr>
              <p:cNvSpPr txBox="1"/>
              <p:nvPr/>
            </p:nvSpPr>
            <p:spPr>
              <a:xfrm>
                <a:off x="1935313"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BDB6F4CE-21C6-4DFF-A293-2C7DF6583880}"/>
                      </a:ext>
                    </a:extLst>
                  </p:cNvPr>
                  <p:cNvSpPr txBox="1"/>
                  <p:nvPr/>
                </p:nvSpPr>
                <p:spPr>
                  <a:xfrm rot="16200000">
                    <a:off x="1254692" y="3713778"/>
                    <a:ext cx="7918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𝐲</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BDB6F4CE-21C6-4DFF-A293-2C7DF6583880}"/>
                      </a:ext>
                    </a:extLst>
                  </p:cNvPr>
                  <p:cNvSpPr txBox="1">
                    <a:spLocks noRot="1" noChangeAspect="1" noMove="1" noResize="1" noEditPoints="1" noAdjustHandles="1" noChangeArrowheads="1" noChangeShapeType="1" noTextEdit="1"/>
                  </p:cNvSpPr>
                  <p:nvPr/>
                </p:nvSpPr>
                <p:spPr>
                  <a:xfrm rot="16200000">
                    <a:off x="1254692" y="3713778"/>
                    <a:ext cx="791883" cy="276999"/>
                  </a:xfrm>
                  <a:prstGeom prst="rect">
                    <a:avLst/>
                  </a:prstGeom>
                  <a:blipFill>
                    <a:blip r:embed="rId6"/>
                    <a:stretch>
                      <a:fillRect t="-10000" r="-37778" b="-6923"/>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66160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86267" y="4876086"/>
            <a:ext cx="9491132" cy="8735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Two 3D views of the central spherical region are also presented. These views clearly show that the magnetic flux emerges from pole P2 and is then received by the other magnetic poles.</a:t>
            </a:r>
            <a:endParaRPr lang="zh-TW" altLang="en-US" dirty="0">
              <a:latin typeface="Times New Roman" panose="02020603050405020304" pitchFamily="18" charset="0"/>
              <a:cs typeface="Times New Roman" panose="02020603050405020304" pitchFamily="18" charset="0"/>
            </a:endParaRPr>
          </a:p>
        </p:txBody>
      </p:sp>
      <p:grpSp>
        <p:nvGrpSpPr>
          <p:cNvPr id="15" name="群組 14">
            <a:extLst>
              <a:ext uri="{FF2B5EF4-FFF2-40B4-BE49-F238E27FC236}">
                <a16:creationId xmlns:a16="http://schemas.microsoft.com/office/drawing/2014/main" id="{71F356A7-0F86-4F80-B8C7-C0BFACA376AC}"/>
              </a:ext>
            </a:extLst>
          </p:cNvPr>
          <p:cNvGrpSpPr/>
          <p:nvPr/>
        </p:nvGrpSpPr>
        <p:grpSpPr>
          <a:xfrm>
            <a:off x="1248130" y="953711"/>
            <a:ext cx="8429269" cy="3540300"/>
            <a:chOff x="1371733" y="1339668"/>
            <a:chExt cx="8898334" cy="3741404"/>
          </a:xfrm>
        </p:grpSpPr>
        <p:pic>
          <p:nvPicPr>
            <p:cNvPr id="16" name="圖片 15">
              <a:extLst>
                <a:ext uri="{FF2B5EF4-FFF2-40B4-BE49-F238E27FC236}">
                  <a16:creationId xmlns:a16="http://schemas.microsoft.com/office/drawing/2014/main" id="{5597486B-848B-4221-A01F-EB932C48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682" y="1339668"/>
              <a:ext cx="8493385" cy="3432942"/>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7930E2C-1E82-4A26-A2E7-158DE77E49AF}"/>
                    </a:ext>
                  </a:extLst>
                </p:cNvPr>
                <p:cNvSpPr txBox="1"/>
                <p:nvPr/>
              </p:nvSpPr>
              <p:spPr>
                <a:xfrm rot="19298709">
                  <a:off x="1756336" y="3920401"/>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7" name="文字方塊 16">
                  <a:extLst>
                    <a:ext uri="{FF2B5EF4-FFF2-40B4-BE49-F238E27FC236}">
                      <a16:creationId xmlns:a16="http://schemas.microsoft.com/office/drawing/2014/main" id="{07930E2C-1E82-4A26-A2E7-158DE77E49AF}"/>
                    </a:ext>
                  </a:extLst>
                </p:cNvPr>
                <p:cNvSpPr txBox="1">
                  <a:spLocks noRot="1" noChangeAspect="1" noMove="1" noResize="1" noEditPoints="1" noAdjustHandles="1" noChangeArrowheads="1" noChangeShapeType="1" noTextEdit="1"/>
                </p:cNvSpPr>
                <p:nvPr/>
              </p:nvSpPr>
              <p:spPr>
                <a:xfrm rot="19298709">
                  <a:off x="1756336" y="3920401"/>
                  <a:ext cx="580494" cy="73948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D570927-CB9B-4120-AA60-E9ACE7DFD9C1}"/>
                    </a:ext>
                  </a:extLst>
                </p:cNvPr>
                <p:cNvSpPr txBox="1"/>
                <p:nvPr/>
              </p:nvSpPr>
              <p:spPr>
                <a:xfrm rot="15396139">
                  <a:off x="3879022" y="4319747"/>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0" name="文字方塊 19">
                  <a:extLst>
                    <a:ext uri="{FF2B5EF4-FFF2-40B4-BE49-F238E27FC236}">
                      <a16:creationId xmlns:a16="http://schemas.microsoft.com/office/drawing/2014/main" id="{8D570927-CB9B-4120-AA60-E9ACE7DFD9C1}"/>
                    </a:ext>
                  </a:extLst>
                </p:cNvPr>
                <p:cNvSpPr txBox="1">
                  <a:spLocks noRot="1" noChangeAspect="1" noMove="1" noResize="1" noEditPoints="1" noAdjustHandles="1" noChangeArrowheads="1" noChangeShapeType="1" noTextEdit="1"/>
                </p:cNvSpPr>
                <p:nvPr/>
              </p:nvSpPr>
              <p:spPr>
                <a:xfrm rot="15396139">
                  <a:off x="3879022" y="4319747"/>
                  <a:ext cx="581130" cy="738673"/>
                </a:xfrm>
                <a:prstGeom prst="rect">
                  <a:avLst/>
                </a:prstGeom>
                <a:blipFill>
                  <a:blip r:embed="rId4"/>
                  <a:stretch>
                    <a:fillRect r="-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BFC1C62-FD09-4AAF-B51A-BBEB0C11E032}"/>
                    </a:ext>
                  </a:extLst>
                </p:cNvPr>
                <p:cNvSpPr txBox="1"/>
                <p:nvPr/>
              </p:nvSpPr>
              <p:spPr>
                <a:xfrm rot="10800000">
                  <a:off x="1371733" y="2376809"/>
                  <a:ext cx="580494" cy="76012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2BFC1C62-FD09-4AAF-B51A-BBEB0C11E032}"/>
                    </a:ext>
                  </a:extLst>
                </p:cNvPr>
                <p:cNvSpPr txBox="1">
                  <a:spLocks noRot="1" noChangeAspect="1" noMove="1" noResize="1" noEditPoints="1" noAdjustHandles="1" noChangeArrowheads="1" noChangeShapeType="1" noTextEdit="1"/>
                </p:cNvSpPr>
                <p:nvPr/>
              </p:nvSpPr>
              <p:spPr>
                <a:xfrm rot="10800000">
                  <a:off x="1371733" y="2376809"/>
                  <a:ext cx="580494" cy="760129"/>
                </a:xfrm>
                <a:prstGeom prst="rect">
                  <a:avLst/>
                </a:prstGeom>
                <a:blipFill>
                  <a:blip r:embed="rId5"/>
                  <a:stretch>
                    <a:fillRect t="-14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04DB4083-6EA8-4CD9-9B72-38F6986AB676}"/>
                    </a:ext>
                  </a:extLst>
                </p:cNvPr>
                <p:cNvSpPr txBox="1"/>
                <p:nvPr/>
              </p:nvSpPr>
              <p:spPr>
                <a:xfrm rot="10800000">
                  <a:off x="4897900" y="2742906"/>
                  <a:ext cx="580494" cy="996867"/>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04DB4083-6EA8-4CD9-9B72-38F6986AB676}"/>
                    </a:ext>
                  </a:extLst>
                </p:cNvPr>
                <p:cNvSpPr txBox="1">
                  <a:spLocks noRot="1" noChangeAspect="1" noMove="1" noResize="1" noEditPoints="1" noAdjustHandles="1" noChangeArrowheads="1" noChangeShapeType="1" noTextEdit="1"/>
                </p:cNvSpPr>
                <p:nvPr/>
              </p:nvSpPr>
              <p:spPr>
                <a:xfrm rot="10800000">
                  <a:off x="4897900" y="2742906"/>
                  <a:ext cx="580494" cy="99686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429D37-B8DA-4A46-A33D-2BE259795933}"/>
                    </a:ext>
                  </a:extLst>
                </p:cNvPr>
                <p:cNvSpPr txBox="1"/>
                <p:nvPr/>
              </p:nvSpPr>
              <p:spPr>
                <a:xfrm rot="16470662">
                  <a:off x="6262350" y="4421170"/>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51429D37-B8DA-4A46-A33D-2BE259795933}"/>
                    </a:ext>
                  </a:extLst>
                </p:cNvPr>
                <p:cNvSpPr txBox="1">
                  <a:spLocks noRot="1" noChangeAspect="1" noMove="1" noResize="1" noEditPoints="1" noAdjustHandles="1" noChangeArrowheads="1" noChangeShapeType="1" noTextEdit="1"/>
                </p:cNvSpPr>
                <p:nvPr/>
              </p:nvSpPr>
              <p:spPr>
                <a:xfrm rot="16470662">
                  <a:off x="6262350" y="4421170"/>
                  <a:ext cx="581130" cy="738673"/>
                </a:xfrm>
                <a:prstGeom prst="rect">
                  <a:avLst/>
                </a:prstGeom>
                <a:blipFill>
                  <a:blip r:embed="rId7"/>
                  <a:stretch>
                    <a:fillRect r="-155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4BDABCEF-28D3-42F9-9B2C-BEFEE52776AF}"/>
                    </a:ext>
                  </a:extLst>
                </p:cNvPr>
                <p:cNvSpPr txBox="1"/>
                <p:nvPr/>
              </p:nvSpPr>
              <p:spPr>
                <a:xfrm rot="12331078">
                  <a:off x="8546862" y="3931803"/>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4BDABCEF-28D3-42F9-9B2C-BEFEE52776AF}"/>
                    </a:ext>
                  </a:extLst>
                </p:cNvPr>
                <p:cNvSpPr txBox="1">
                  <a:spLocks noRot="1" noChangeAspect="1" noMove="1" noResize="1" noEditPoints="1" noAdjustHandles="1" noChangeArrowheads="1" noChangeShapeType="1" noTextEdit="1"/>
                </p:cNvSpPr>
                <p:nvPr/>
              </p:nvSpPr>
              <p:spPr>
                <a:xfrm rot="12331078">
                  <a:off x="8546862" y="3931803"/>
                  <a:ext cx="580494" cy="73948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464821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813300"/>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 </a:t>
            </a: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Charge-location model</a:t>
            </a:r>
            <a:endParaRPr lang="zh-TW" altLang="zh-TW" sz="1800" kern="100" dirty="0">
              <a:effectLst/>
              <a:latin typeface="Aptos"/>
              <a:ea typeface="新細明體" panose="02020500000000000000" pitchFamily="18" charset="-120"/>
              <a:cs typeface="Times New Roman" panose="02020603050405020304" pitchFamily="18" charset="0"/>
            </a:endParaRPr>
          </a:p>
          <a:p>
            <a:pPr lvl="0">
              <a:lnSpc>
                <a:spcPct val="115000"/>
              </a:lnSpc>
              <a:spcAft>
                <a:spcPts val="800"/>
              </a:spcAft>
            </a:pP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41" name="群組 40">
            <a:extLst>
              <a:ext uri="{FF2B5EF4-FFF2-40B4-BE49-F238E27FC236}">
                <a16:creationId xmlns:a16="http://schemas.microsoft.com/office/drawing/2014/main" id="{E5D74248-2FB9-447E-806C-879E4EA42806}"/>
              </a:ext>
            </a:extLst>
          </p:cNvPr>
          <p:cNvGrpSpPr/>
          <p:nvPr/>
        </p:nvGrpSpPr>
        <p:grpSpPr>
          <a:xfrm>
            <a:off x="248852" y="731027"/>
            <a:ext cx="6168881" cy="3223850"/>
            <a:chOff x="993919" y="2062391"/>
            <a:chExt cx="6168881" cy="3223850"/>
          </a:xfrm>
        </p:grpSpPr>
        <p:pic>
          <p:nvPicPr>
            <p:cNvPr id="42" name="圖片 41">
              <a:extLst>
                <a:ext uri="{FF2B5EF4-FFF2-40B4-BE49-F238E27FC236}">
                  <a16:creationId xmlns:a16="http://schemas.microsoft.com/office/drawing/2014/main" id="{E9B9F390-E249-4AE4-825F-C2F0956E3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6EA59F1-6545-4924-8CB2-3B8DCE3FE7FE}"/>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44" name="流程圖: 接點 43">
              <a:extLst>
                <a:ext uri="{FF2B5EF4-FFF2-40B4-BE49-F238E27FC236}">
                  <a16:creationId xmlns:a16="http://schemas.microsoft.com/office/drawing/2014/main" id="{79E84CC5-B121-4A76-8AED-C5FA912EB4DB}"/>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流程圖: 接點 44">
              <a:extLst>
                <a:ext uri="{FF2B5EF4-FFF2-40B4-BE49-F238E27FC236}">
                  <a16:creationId xmlns:a16="http://schemas.microsoft.com/office/drawing/2014/main" id="{6E922107-DB2F-4528-92B8-BB413A77C35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A9C4A2B7-ECCE-4C37-A3E3-74474ED139A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73A518E-4196-493F-AA17-EAE8E882E004}"/>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3" name="文字方塊 2">
            <a:extLst>
              <a:ext uri="{FF2B5EF4-FFF2-40B4-BE49-F238E27FC236}">
                <a16:creationId xmlns:a16="http://schemas.microsoft.com/office/drawing/2014/main" id="{6E14EA9D-F563-4C83-AF17-053A51497E94}"/>
              </a:ext>
            </a:extLst>
          </p:cNvPr>
          <p:cNvSpPr txBox="1"/>
          <p:nvPr/>
        </p:nvSpPr>
        <p:spPr>
          <a:xfrm>
            <a:off x="6481232" y="656272"/>
            <a:ext cx="5461915"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21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2" name="群組 11">
            <a:extLst>
              <a:ext uri="{FF2B5EF4-FFF2-40B4-BE49-F238E27FC236}">
                <a16:creationId xmlns:a16="http://schemas.microsoft.com/office/drawing/2014/main" id="{CEAE18FC-9EE7-4435-BAB1-9248663C9F44}"/>
              </a:ext>
            </a:extLst>
          </p:cNvPr>
          <p:cNvGrpSpPr/>
          <p:nvPr/>
        </p:nvGrpSpPr>
        <p:grpSpPr>
          <a:xfrm>
            <a:off x="159841" y="762087"/>
            <a:ext cx="4293229" cy="4117681"/>
            <a:chOff x="6645705" y="1408712"/>
            <a:chExt cx="4293229" cy="4117681"/>
          </a:xfrm>
        </p:grpSpPr>
        <p:pic>
          <p:nvPicPr>
            <p:cNvPr id="13" name="圖片 12">
              <a:extLst>
                <a:ext uri="{FF2B5EF4-FFF2-40B4-BE49-F238E27FC236}">
                  <a16:creationId xmlns:a16="http://schemas.microsoft.com/office/drawing/2014/main" id="{F47A8023-42E1-413C-B2F6-B59CEFD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0217" y="1408712"/>
              <a:ext cx="3838717" cy="3772888"/>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3B36AA3-C2D5-4458-B140-6119FE1F4076}"/>
                    </a:ext>
                  </a:extLst>
                </p:cNvPr>
                <p:cNvSpPr txBox="1"/>
                <p:nvPr/>
              </p:nvSpPr>
              <p:spPr>
                <a:xfrm>
                  <a:off x="8886053" y="332748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4" name="文字方塊 13">
                  <a:extLst>
                    <a:ext uri="{FF2B5EF4-FFF2-40B4-BE49-F238E27FC236}">
                      <a16:creationId xmlns:a16="http://schemas.microsoft.com/office/drawing/2014/main" id="{23B36AA3-C2D5-4458-B140-6119FE1F4076}"/>
                    </a:ext>
                  </a:extLst>
                </p:cNvPr>
                <p:cNvSpPr txBox="1">
                  <a:spLocks noRot="1" noChangeAspect="1" noMove="1" noResize="1" noEditPoints="1" noAdjustHandles="1" noChangeArrowheads="1" noChangeShapeType="1" noTextEdit="1"/>
                </p:cNvSpPr>
                <p:nvPr/>
              </p:nvSpPr>
              <p:spPr>
                <a:xfrm>
                  <a:off x="8886053" y="3327480"/>
                  <a:ext cx="623935" cy="41447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DB032-8448-4BE0-8A63-56E40746539F}"/>
                    </a:ext>
                  </a:extLst>
                </p:cNvPr>
                <p:cNvSpPr txBox="1"/>
                <p:nvPr/>
              </p:nvSpPr>
              <p:spPr>
                <a:xfrm>
                  <a:off x="9366204" y="2939165"/>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5" name="文字方塊 14">
                  <a:extLst>
                    <a:ext uri="{FF2B5EF4-FFF2-40B4-BE49-F238E27FC236}">
                      <a16:creationId xmlns:a16="http://schemas.microsoft.com/office/drawing/2014/main" id="{488DB032-8448-4BE0-8A63-56E40746539F}"/>
                    </a:ext>
                  </a:extLst>
                </p:cNvPr>
                <p:cNvSpPr txBox="1">
                  <a:spLocks noRot="1" noChangeAspect="1" noMove="1" noResize="1" noEditPoints="1" noAdjustHandles="1" noChangeArrowheads="1" noChangeShapeType="1" noTextEdit="1"/>
                </p:cNvSpPr>
                <p:nvPr/>
              </p:nvSpPr>
              <p:spPr>
                <a:xfrm>
                  <a:off x="9366204" y="2939165"/>
                  <a:ext cx="623935" cy="414478"/>
                </a:xfrm>
                <a:prstGeom prst="rect">
                  <a:avLst/>
                </a:prstGeom>
                <a:blipFill>
                  <a:blip r:embed="rId5"/>
                  <a:stretch>
                    <a:fillRect b="-73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B2E39C46-90A9-4109-A14F-26CE67886198}"/>
                    </a:ext>
                  </a:extLst>
                </p:cNvPr>
                <p:cNvSpPr txBox="1"/>
                <p:nvPr/>
              </p:nvSpPr>
              <p:spPr>
                <a:xfrm>
                  <a:off x="9285506" y="255085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6" name="文字方塊 15">
                  <a:extLst>
                    <a:ext uri="{FF2B5EF4-FFF2-40B4-BE49-F238E27FC236}">
                      <a16:creationId xmlns:a16="http://schemas.microsoft.com/office/drawing/2014/main" id="{B2E39C46-90A9-4109-A14F-26CE67886198}"/>
                    </a:ext>
                  </a:extLst>
                </p:cNvPr>
                <p:cNvSpPr txBox="1">
                  <a:spLocks noRot="1" noChangeAspect="1" noMove="1" noResize="1" noEditPoints="1" noAdjustHandles="1" noChangeArrowheads="1" noChangeShapeType="1" noTextEdit="1"/>
                </p:cNvSpPr>
                <p:nvPr/>
              </p:nvSpPr>
              <p:spPr>
                <a:xfrm>
                  <a:off x="9285506" y="2550850"/>
                  <a:ext cx="623935" cy="41447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F9AE951-04CE-41B8-9C4D-CAF613B68EC8}"/>
                    </a:ext>
                  </a:extLst>
                </p:cNvPr>
                <p:cNvSpPr txBox="1"/>
                <p:nvPr/>
              </p:nvSpPr>
              <p:spPr>
                <a:xfrm rot="19091857">
                  <a:off x="7076158" y="4318598"/>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𝐱</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FF9AE951-04CE-41B8-9C4D-CAF613B68EC8}"/>
                    </a:ext>
                  </a:extLst>
                </p:cNvPr>
                <p:cNvSpPr txBox="1">
                  <a:spLocks noRot="1" noChangeAspect="1" noMove="1" noResize="1" noEditPoints="1" noAdjustHandles="1" noChangeArrowheads="1" noChangeShapeType="1" noTextEdit="1"/>
                </p:cNvSpPr>
                <p:nvPr/>
              </p:nvSpPr>
              <p:spPr>
                <a:xfrm rot="19091857">
                  <a:off x="7076158" y="4318598"/>
                  <a:ext cx="622927" cy="699735"/>
                </a:xfrm>
                <a:prstGeom prst="rect">
                  <a:avLst/>
                </a:prstGeom>
                <a:blipFill>
                  <a:blip r:embed="rId7"/>
                  <a:stretch>
                    <a:fillRect b="-838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CE9C3455-67ED-4035-B41C-6658A47E0813}"/>
                    </a:ext>
                  </a:extLst>
                </p:cNvPr>
                <p:cNvSpPr txBox="1"/>
                <p:nvPr/>
              </p:nvSpPr>
              <p:spPr>
                <a:xfrm rot="15569608">
                  <a:off x="9597978" y="4865062"/>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𝐲</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4" name="文字方塊 23">
                  <a:extLst>
                    <a:ext uri="{FF2B5EF4-FFF2-40B4-BE49-F238E27FC236}">
                      <a16:creationId xmlns:a16="http://schemas.microsoft.com/office/drawing/2014/main" id="{CE9C3455-67ED-4035-B41C-6658A47E0813}"/>
                    </a:ext>
                  </a:extLst>
                </p:cNvPr>
                <p:cNvSpPr txBox="1">
                  <a:spLocks noRot="1" noChangeAspect="1" noMove="1" noResize="1" noEditPoints="1" noAdjustHandles="1" noChangeArrowheads="1" noChangeShapeType="1" noTextEdit="1"/>
                </p:cNvSpPr>
                <p:nvPr/>
              </p:nvSpPr>
              <p:spPr>
                <a:xfrm rot="15569608">
                  <a:off x="9597978" y="4865062"/>
                  <a:ext cx="622927" cy="699735"/>
                </a:xfrm>
                <a:prstGeom prst="rect">
                  <a:avLst/>
                </a:prstGeom>
                <a:blipFill>
                  <a:blip r:embed="rId8"/>
                  <a:stretch>
                    <a:fillRect r="-300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4080182-E948-44FD-8D97-568D1FC08FB1}"/>
                    </a:ext>
                  </a:extLst>
                </p:cNvPr>
                <p:cNvSpPr txBox="1"/>
                <p:nvPr/>
              </p:nvSpPr>
              <p:spPr>
                <a:xfrm rot="10800000">
                  <a:off x="6645705" y="2763514"/>
                  <a:ext cx="622927"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𝐳</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14080182-E948-44FD-8D97-568D1FC08FB1}"/>
                    </a:ext>
                  </a:extLst>
                </p:cNvPr>
                <p:cNvSpPr txBox="1">
                  <a:spLocks noRot="1" noChangeAspect="1" noMove="1" noResize="1" noEditPoints="1" noAdjustHandles="1" noChangeArrowheads="1" noChangeShapeType="1" noTextEdit="1"/>
                </p:cNvSpPr>
                <p:nvPr/>
              </p:nvSpPr>
              <p:spPr>
                <a:xfrm rot="10800000">
                  <a:off x="6645705" y="2763514"/>
                  <a:ext cx="622927" cy="719271"/>
                </a:xfrm>
                <a:prstGeom prst="rect">
                  <a:avLst/>
                </a:prstGeom>
                <a:blipFill>
                  <a:blip r:embed="rId9"/>
                  <a:stretch>
                    <a:fillRect t="-35593"/>
                  </a:stretch>
                </a:blipFill>
              </p:spPr>
              <p:txBody>
                <a:bodyPr/>
                <a:lstStyle/>
                <a:p>
                  <a:r>
                    <a:rPr lang="zh-TW" altLang="en-US">
                      <a:noFill/>
                    </a:rPr>
                    <a:t> </a:t>
                  </a:r>
                </a:p>
              </p:txBody>
            </p:sp>
          </mc:Fallback>
        </mc:AlternateContent>
      </p:grpSp>
      <p:sp>
        <p:nvSpPr>
          <p:cNvPr id="26" name="文字方塊 25">
            <a:extLst>
              <a:ext uri="{FF2B5EF4-FFF2-40B4-BE49-F238E27FC236}">
                <a16:creationId xmlns:a16="http://schemas.microsoft.com/office/drawing/2014/main" id="{0CE4A89D-7C4F-47E6-AFD7-2D7F5FD3E175}"/>
              </a:ext>
            </a:extLst>
          </p:cNvPr>
          <p:cNvSpPr txBox="1"/>
          <p:nvPr/>
        </p:nvSpPr>
        <p:spPr>
          <a:xfrm>
            <a:off x="4918337" y="1150217"/>
            <a:ext cx="6802360" cy="29510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consists of two parts. The first part shows the outer spherical surface formed by the six magnetic pole tips, as described previously. The size of this spherical surface is determined by the geometric design of the magnetic tweezer. The second part, shown in green, represents the model’s sampling region. It is recommended that the sampling region cover the entire operating range, because the model exhibits reduced performance outside the sampled region.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38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416640"/>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416640"/>
                <a:ext cx="3508909" cy="321563"/>
              </a:xfrm>
              <a:prstGeom prst="rect">
                <a:avLst/>
              </a:prstGeom>
              <a:blipFill>
                <a:blip r:embed="rId2"/>
                <a:stretch>
                  <a:fillRect l="-1215" t="-13208" r="-6944" b="-22642"/>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31ACE95C-3F52-4F1D-AC27-AFA6A8DD7680}"/>
              </a:ext>
            </a:extLst>
          </p:cNvPr>
          <p:cNvSpPr txBox="1"/>
          <p:nvPr/>
        </p:nvSpPr>
        <p:spPr>
          <a:xfrm>
            <a:off x="0" y="675894"/>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p:sp>
        <p:nvSpPr>
          <p:cNvPr id="30" name="文字方塊 29">
            <a:extLst>
              <a:ext uri="{FF2B5EF4-FFF2-40B4-BE49-F238E27FC236}">
                <a16:creationId xmlns:a16="http://schemas.microsoft.com/office/drawing/2014/main" id="{48FF51F3-095D-484A-BDEA-E3C00BED58DC}"/>
              </a:ext>
            </a:extLst>
          </p:cNvPr>
          <p:cNvSpPr txBox="1"/>
          <p:nvPr/>
        </p:nvSpPr>
        <p:spPr>
          <a:xfrm>
            <a:off x="245427" y="3240704"/>
            <a:ext cx="10337905" cy="64633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One parameter fitting results</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E37FDE3F-DFA3-4ED8-9A80-EF9E57A4AB2A}"/>
                  </a:ext>
                </a:extLst>
              </p:cNvPr>
              <p:cNvSpPr txBox="1"/>
              <p:nvPr/>
            </p:nvSpPr>
            <p:spPr>
              <a:xfrm>
                <a:off x="169120" y="1032964"/>
                <a:ext cx="7221144" cy="1515158"/>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0.1046</m:t>
                                      </m:r>
                                    </m:e>
                                    <m:e>
                                      <m:r>
                                        <a:rPr lang="en-US" altLang="zh-TW" b="0" i="1" smtClean="0">
                                          <a:latin typeface="Cambria Math" panose="02040503050406030204" pitchFamily="18" charset="0"/>
                                        </a:rPr>
                                        <m:t>−0.1809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0.1745</m:t>
                                            </m:r>
                                          </m:e>
                                          <m:e>
                                            <m:r>
                                              <a:rPr lang="en-US" altLang="zh-TW" b="0" i="1" smtClean="0">
                                                <a:latin typeface="Cambria Math" panose="02040503050406030204" pitchFamily="18" charset="0"/>
                                              </a:rPr>
                                              <m:t>−0.1737</m:t>
                                            </m:r>
                                          </m:e>
                                          <m:e>
                                            <m:r>
                                              <a:rPr lang="en-US" altLang="zh-TW" b="0" i="1" smtClean="0">
                                                <a:latin typeface="Cambria Math" panose="02040503050406030204" pitchFamily="18" charset="0"/>
                                              </a:rPr>
                                              <m:t>−0.1827</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0.2145</m:t>
                                      </m:r>
                                    </m:e>
                                  </m:mr>
                                  <m:mr>
                                    <m:e>
                                      <m:r>
                                        <a:rPr lang="en-US" altLang="zh-TW" b="0" i="1" smtClean="0">
                                          <a:latin typeface="Cambria Math" panose="02040503050406030204" pitchFamily="18" charset="0"/>
                                        </a:rPr>
                                        <m:t>−0.1870</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0.2040</m:t>
                                            </m:r>
                                          </m:e>
                                        </m:mr>
                                        <m:mr>
                                          <m:e>
                                            <m:r>
                                              <a:rPr lang="en-US" altLang="zh-TW" b="0" i="1" smtClean="0">
                                                <a:latin typeface="Cambria Math" panose="02040503050406030204" pitchFamily="18" charset="0"/>
                                              </a:rPr>
                                              <m:t>−0.2045</m:t>
                                            </m:r>
                                          </m:e>
                                        </m:mr>
                                        <m:mr>
                                          <m:e>
                                            <m:r>
                                              <a:rPr lang="en-US" altLang="zh-TW" b="0" i="1" smtClean="0">
                                                <a:latin typeface="Cambria Math" panose="02040503050406030204" pitchFamily="18" charset="0"/>
                                              </a:rPr>
                                              <m:t>−0.1870</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.9517</m:t>
                                            </m:r>
                                          </m:e>
                                          <m:e>
                                            <m:r>
                                              <a:rPr lang="en-US" altLang="zh-TW" b="0" i="1" smtClean="0">
                                                <a:latin typeface="Cambria Math" panose="02040503050406030204" pitchFamily="18" charset="0"/>
                                              </a:rPr>
                                              <m:t>−0.1986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0.1589</m:t>
                                                  </m:r>
                                                </m:e>
                                                <m:e>
                                                  <m:r>
                                                    <a:rPr lang="en-US" altLang="zh-TW" b="0" i="1" smtClean="0">
                                                      <a:latin typeface="Cambria Math" panose="02040503050406030204" pitchFamily="18" charset="0"/>
                                                    </a:rPr>
                                                    <m:t>−0.1576</m:t>
                                                  </m:r>
                                                </m:e>
                                                <m:e>
                                                  <m:r>
                                                    <a:rPr lang="en-US" altLang="zh-TW" b="0" i="1" smtClean="0">
                                                      <a:latin typeface="Cambria Math" panose="02040503050406030204" pitchFamily="18" charset="0"/>
                                                    </a:rPr>
                                                    <m:t>−0.2002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0.1737</m:t>
                                            </m:r>
                                          </m:e>
                                          <m:e>
                                            <m:r>
                                              <a:rPr lang="en-US" altLang="zh-TW" b="0" i="1" smtClean="0">
                                                <a:latin typeface="Cambria Math" panose="02040503050406030204" pitchFamily="18" charset="0"/>
                                              </a:rPr>
                                              <m:t>0.8427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0.1076</m:t>
                                                  </m:r>
                                                </m:e>
                                                <m:e>
                                                  <m:r>
                                                    <a:rPr lang="en-US" altLang="zh-TW" b="0" i="1" smtClean="0">
                                                      <a:latin typeface="Cambria Math" panose="02040503050406030204" pitchFamily="18" charset="0"/>
                                                    </a:rPr>
                                                    <m:t>−0.1740</m:t>
                                                  </m:r>
                                                </m:e>
                                                <m:e>
                                                  <m:r>
                                                    <a:rPr lang="en-US" altLang="zh-TW" b="0" i="1" smtClean="0">
                                                      <a:latin typeface="Cambria Math" panose="02040503050406030204" pitchFamily="18" charset="0"/>
                                                    </a:rPr>
                                                    <m:t>−0.1827</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0.1571</m:t>
                                                  </m:r>
                                                </m:e>
                                                <m:e>
                                                  <m:r>
                                                    <a:rPr lang="en-US" altLang="zh-TW" b="0" i="1" smtClean="0">
                                                      <a:latin typeface="Cambria Math" panose="02040503050406030204" pitchFamily="18" charset="0"/>
                                                    </a:rPr>
                                                    <m:t>−0.2068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.9456</m:t>
                                                        </m:r>
                                                      </m:e>
                                                      <m:e>
                                                        <m:r>
                                                          <a:rPr lang="en-US" altLang="zh-TW" b="0" i="1" smtClean="0">
                                                            <a:latin typeface="Cambria Math" panose="02040503050406030204" pitchFamily="18" charset="0"/>
                                                          </a:rPr>
                                                          <m:t>−0.1569</m:t>
                                                        </m:r>
                                                      </m:e>
                                                      <m:e>
                                                        <m:r>
                                                          <a:rPr lang="en-US" altLang="zh-TW" b="0" i="1" smtClean="0">
                                                            <a:latin typeface="Cambria Math" panose="02040503050406030204" pitchFamily="18" charset="0"/>
                                                          </a:rPr>
                                                          <m:t>−0.1994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0.1573</m:t>
                                                  </m:r>
                                                </m:e>
                                                <m:e>
                                                  <m:r>
                                                    <a:rPr lang="en-US" altLang="zh-TW" b="0" i="1" smtClean="0">
                                                      <a:latin typeface="Cambria Math" panose="02040503050406030204" pitchFamily="18" charset="0"/>
                                                    </a:rPr>
                                                    <m:t>−0.1983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0.1589</m:t>
                                                        </m:r>
                                                      </m:e>
                                                      <m:e>
                                                        <m:r>
                                                          <a:rPr lang="en-US" altLang="zh-TW" b="0" i="1" smtClean="0">
                                                            <a:latin typeface="Cambria Math" panose="02040503050406030204" pitchFamily="18" charset="0"/>
                                                          </a:rPr>
                                                          <m:t>0.9514</m:t>
                                                        </m:r>
                                                      </m:e>
                                                      <m:e>
                                                        <m:r>
                                                          <a:rPr lang="en-US" altLang="zh-TW" b="0" i="1" smtClean="0">
                                                            <a:latin typeface="Cambria Math" panose="02040503050406030204" pitchFamily="18" charset="0"/>
                                                          </a:rPr>
                                                          <m:t>−0.2097</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0.1734</m:t>
                                                  </m:r>
                                                </m:e>
                                                <m:e>
                                                  <m:r>
                                                    <a:rPr lang="en-US" altLang="zh-TW" b="0" i="1" smtClean="0">
                                                      <a:latin typeface="Cambria Math" panose="02040503050406030204" pitchFamily="18" charset="0"/>
                                                    </a:rPr>
                                                    <m:t>−0.1804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0.1746</m:t>
                                                        </m:r>
                                                      </m:e>
                                                      <m:e>
                                                        <m:r>
                                                          <a:rPr lang="en-US" altLang="zh-TW" b="0" i="1" smtClean="0">
                                                            <a:latin typeface="Cambria Math" panose="02040503050406030204" pitchFamily="18" charset="0"/>
                                                          </a:rPr>
                                                          <m:t>−0.1054</m:t>
                                                        </m:r>
                                                      </m:e>
                                                      <m:e>
                                                        <m:r>
                                                          <a:rPr lang="en-US" altLang="zh-TW" b="0" i="1" smtClean="0">
                                                            <a:latin typeface="Cambria Math" panose="02040503050406030204" pitchFamily="18" charset="0"/>
                                                          </a:rPr>
                                                          <m:t>0.8382</m:t>
                                                        </m:r>
                                                      </m:e>
                                                    </m:mr>
                                                  </m:m>
                                                </m:e>
                                              </m:mr>
                                            </m:m>
                                          </m:e>
                                        </m:mr>
                                      </m:m>
                                    </m:e>
                                  </m:mr>
                                </m:m>
                              </m:e>
                            </m:mr>
                          </m:m>
                        </m:e>
                      </m:d>
                    </m:oMath>
                  </m:oMathPara>
                </a14:m>
                <a:endParaRPr lang="zh-TW" altLang="en-US" dirty="0"/>
              </a:p>
            </p:txBody>
          </p:sp>
        </mc:Choice>
        <mc:Fallback xmlns="">
          <p:sp>
            <p:nvSpPr>
              <p:cNvPr id="15" name="文字方塊 14">
                <a:extLst>
                  <a:ext uri="{FF2B5EF4-FFF2-40B4-BE49-F238E27FC236}">
                    <a16:creationId xmlns:a16="http://schemas.microsoft.com/office/drawing/2014/main" id="{E37FDE3F-DFA3-4ED8-9A80-EF9E57A4AB2A}"/>
                  </a:ext>
                </a:extLst>
              </p:cNvPr>
              <p:cNvSpPr txBox="1">
                <a:spLocks noRot="1" noChangeAspect="1" noMove="1" noResize="1" noEditPoints="1" noAdjustHandles="1" noChangeArrowheads="1" noChangeShapeType="1" noTextEdit="1"/>
              </p:cNvSpPr>
              <p:nvPr/>
            </p:nvSpPr>
            <p:spPr>
              <a:xfrm>
                <a:off x="169120" y="1032964"/>
                <a:ext cx="7221144" cy="151515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79A71302-02C1-4BB1-AD43-52D235BC709B}"/>
                  </a:ext>
                </a:extLst>
              </p:cNvPr>
              <p:cNvSpPr txBox="1"/>
              <p:nvPr/>
            </p:nvSpPr>
            <p:spPr>
              <a:xfrm>
                <a:off x="62707" y="2748796"/>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=874.3 </m:t>
                      </m:r>
                      <m:r>
                        <a:rPr lang="en-US" altLang="zh-TW" b="0" i="1" smtClean="0">
                          <a:latin typeface="Cambria Math" panose="02040503050406030204" pitchFamily="18" charset="0"/>
                        </a:rPr>
                        <m:t>𝑢𝑚</m:t>
                      </m:r>
                    </m:oMath>
                  </m:oMathPara>
                </a14:m>
                <a:endParaRPr lang="zh-TW" altLang="en-US" dirty="0"/>
              </a:p>
            </p:txBody>
          </p:sp>
        </mc:Choice>
        <mc:Fallback xmlns="">
          <p:sp>
            <p:nvSpPr>
              <p:cNvPr id="16" name="文字方塊 15">
                <a:extLst>
                  <a:ext uri="{FF2B5EF4-FFF2-40B4-BE49-F238E27FC236}">
                    <a16:creationId xmlns:a16="http://schemas.microsoft.com/office/drawing/2014/main" id="{79A71302-02C1-4BB1-AD43-52D235BC709B}"/>
                  </a:ext>
                </a:extLst>
              </p:cNvPr>
              <p:cNvSpPr txBox="1">
                <a:spLocks noRot="1" noChangeAspect="1" noMove="1" noResize="1" noEditPoints="1" noAdjustHandles="1" noChangeArrowheads="1" noChangeShapeType="1" noTextEdit="1"/>
              </p:cNvSpPr>
              <p:nvPr/>
            </p:nvSpPr>
            <p:spPr>
              <a:xfrm>
                <a:off x="62707" y="2748796"/>
                <a:ext cx="1417824" cy="291234"/>
              </a:xfrm>
              <a:prstGeom prst="rect">
                <a:avLst/>
              </a:prstGeom>
              <a:blipFill>
                <a:blip r:embed="rId4"/>
                <a:stretch>
                  <a:fillRect l="-3863" t="-18750" r="-2146" b="-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ABF0CCA-E5B5-473B-A529-1B2B8D65789C}"/>
                  </a:ext>
                </a:extLst>
              </p:cNvPr>
              <p:cNvSpPr txBox="1"/>
              <p:nvPr/>
            </p:nvSpPr>
            <p:spPr>
              <a:xfrm>
                <a:off x="1879600" y="2748796"/>
                <a:ext cx="2021194"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=9.6717</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7" name="文字方塊 16">
                <a:extLst>
                  <a:ext uri="{FF2B5EF4-FFF2-40B4-BE49-F238E27FC236}">
                    <a16:creationId xmlns:a16="http://schemas.microsoft.com/office/drawing/2014/main" id="{CABF0CCA-E5B5-473B-A529-1B2B8D65789C}"/>
                  </a:ext>
                </a:extLst>
              </p:cNvPr>
              <p:cNvSpPr txBox="1">
                <a:spLocks noRot="1" noChangeAspect="1" noMove="1" noResize="1" noEditPoints="1" noAdjustHandles="1" noChangeArrowheads="1" noChangeShapeType="1" noTextEdit="1"/>
              </p:cNvSpPr>
              <p:nvPr/>
            </p:nvSpPr>
            <p:spPr>
              <a:xfrm>
                <a:off x="1879600" y="2748796"/>
                <a:ext cx="2021194" cy="305340"/>
              </a:xfrm>
              <a:prstGeom prst="rect">
                <a:avLst/>
              </a:prstGeom>
              <a:blipFill>
                <a:blip r:embed="rId5"/>
                <a:stretch>
                  <a:fillRect t="-16000" r="-2410"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19" name="文字方塊 18">
            <a:extLst>
              <a:ext uri="{FF2B5EF4-FFF2-40B4-BE49-F238E27FC236}">
                <a16:creationId xmlns:a16="http://schemas.microsoft.com/office/drawing/2014/main" id="{EBA17566-B42C-4B02-B869-9832F66C8C0A}"/>
              </a:ext>
            </a:extLst>
          </p:cNvPr>
          <p:cNvSpPr txBox="1"/>
          <p:nvPr/>
        </p:nvSpPr>
        <p:spPr>
          <a:xfrm>
            <a:off x="110067" y="657441"/>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p:sp>
        <p:nvSpPr>
          <p:cNvPr id="14" name="文字方塊 13">
            <a:extLst>
              <a:ext uri="{FF2B5EF4-FFF2-40B4-BE49-F238E27FC236}">
                <a16:creationId xmlns:a16="http://schemas.microsoft.com/office/drawing/2014/main" id="{36B864DE-D4E0-45CF-A983-5B487047D8F7}"/>
              </a:ext>
            </a:extLst>
          </p:cNvPr>
          <p:cNvSpPr txBox="1"/>
          <p:nvPr/>
        </p:nvSpPr>
        <p:spPr>
          <a:xfrm>
            <a:off x="185702" y="3008189"/>
            <a:ext cx="11396697"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Eighteen parameter </a:t>
            </a:r>
            <a:r>
              <a:rPr lang="en-US" altLang="zh-TW" dirty="0">
                <a:latin typeface="Times New Roman" panose="02020603050405020304" pitchFamily="18" charset="0"/>
                <a:cs typeface="Times New Roman" panose="02020603050405020304" pitchFamily="18" charset="0"/>
              </a:rPr>
              <a:t>fitting results</a:t>
            </a:r>
          </a:p>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endParaRPr lang="zh-TW" altLang="en-US" dirty="0"/>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514A624-EDE9-40AF-BE57-A60AD18744E7}"/>
                  </a:ext>
                </a:extLst>
              </p:cNvPr>
              <p:cNvSpPr txBox="1"/>
              <p:nvPr/>
            </p:nvSpPr>
            <p:spPr>
              <a:xfrm>
                <a:off x="110067" y="1071299"/>
                <a:ext cx="7068538" cy="1508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0.1369</m:t>
                                      </m:r>
                                    </m:e>
                                    <m:e>
                                      <m:r>
                                        <a:rPr lang="en-US" altLang="zh-TW" b="0" i="1" smtClean="0">
                                          <a:latin typeface="Cambria Math" panose="02040503050406030204" pitchFamily="18" charset="0"/>
                                        </a:rPr>
                                        <m:t>−0.1291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0.1993</m:t>
                                            </m:r>
                                          </m:e>
                                          <m:e>
                                            <m:r>
                                              <a:rPr lang="en-US" altLang="zh-TW" b="0" i="1" smtClean="0">
                                                <a:latin typeface="Cambria Math" panose="02040503050406030204" pitchFamily="18" charset="0"/>
                                              </a:rPr>
                                              <m:t>−0.1996</m:t>
                                            </m:r>
                                          </m:e>
                                          <m:e>
                                            <m:r>
                                              <a:rPr lang="en-US" altLang="zh-TW" b="0" i="1" smtClean="0">
                                                <a:latin typeface="Cambria Math" panose="02040503050406030204" pitchFamily="18" charset="0"/>
                                              </a:rPr>
                                              <m:t>−0.1289</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0.1380</m:t>
                                      </m:r>
                                    </m:e>
                                  </m:mr>
                                  <m:mr>
                                    <m:e>
                                      <m:r>
                                        <a:rPr lang="en-US" altLang="zh-TW" b="0" i="1" smtClean="0">
                                          <a:latin typeface="Cambria Math" panose="02040503050406030204" pitchFamily="18" charset="0"/>
                                        </a:rPr>
                                        <m:t>−0.1276</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0.2042</m:t>
                                            </m:r>
                                          </m:e>
                                        </m:mr>
                                        <m:mr>
                                          <m:e>
                                            <m:r>
                                              <a:rPr lang="en-US" altLang="zh-TW" b="0" i="1" smtClean="0">
                                                <a:latin typeface="Cambria Math" panose="02040503050406030204" pitchFamily="18" charset="0"/>
                                              </a:rPr>
                                              <m:t>−0.2033</m:t>
                                            </m:r>
                                          </m:e>
                                        </m:mr>
                                        <m:mr>
                                          <m:e>
                                            <m:r>
                                              <a:rPr lang="en-US" altLang="zh-TW" b="0" i="1" smtClean="0">
                                                <a:latin typeface="Cambria Math" panose="02040503050406030204" pitchFamily="18" charset="0"/>
                                              </a:rPr>
                                              <m:t>−0.1279</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.8309</m:t>
                                            </m:r>
                                          </m:e>
                                          <m:e>
                                            <m:r>
                                              <a:rPr lang="en-US" altLang="zh-TW" b="0" i="1" smtClean="0">
                                                <a:latin typeface="Cambria Math" panose="02040503050406030204" pitchFamily="18" charset="0"/>
                                              </a:rPr>
                                              <m:t>−0.2033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0.1231</m:t>
                                                  </m:r>
                                                </m:e>
                                                <m:e>
                                                  <m:r>
                                                    <a:rPr lang="en-US" altLang="zh-TW" b="0" i="1" smtClean="0">
                                                      <a:latin typeface="Cambria Math" panose="02040503050406030204" pitchFamily="18" charset="0"/>
                                                    </a:rPr>
                                                    <m:t>−0.1230</m:t>
                                                  </m:r>
                                                </m:e>
                                                <m:e>
                                                  <m:r>
                                                    <a:rPr lang="en-US" altLang="zh-TW" b="0" i="1" smtClean="0">
                                                      <a:latin typeface="Cambria Math" panose="02040503050406030204" pitchFamily="18" charset="0"/>
                                                    </a:rPr>
                                                    <m:t>−0.2030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0.1923</m:t>
                                            </m:r>
                                          </m:e>
                                          <m:e>
                                            <m:r>
                                              <a:rPr lang="en-US" altLang="zh-TW" b="0" i="1" smtClean="0">
                                                <a:latin typeface="Cambria Math" panose="02040503050406030204" pitchFamily="18" charset="0"/>
                                              </a:rPr>
                                              <m:t>0.8291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0.1358</m:t>
                                                  </m:r>
                                                </m:e>
                                                <m:e>
                                                  <m:r>
                                                    <a:rPr lang="en-US" altLang="zh-TW" b="0" i="1" smtClean="0">
                                                      <a:latin typeface="Cambria Math" panose="02040503050406030204" pitchFamily="18" charset="0"/>
                                                    </a:rPr>
                                                    <m:t>−0.1920</m:t>
                                                  </m:r>
                                                </m:e>
                                                <m:e>
                                                  <m:r>
                                                    <a:rPr lang="en-US" altLang="zh-TW" b="0" i="1" smtClean="0">
                                                      <a:latin typeface="Cambria Math" panose="02040503050406030204" pitchFamily="18" charset="0"/>
                                                    </a:rPr>
                                                    <m:t>−0.1284</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0.1233</m:t>
                                                  </m:r>
                                                </m:e>
                                                <m:e>
                                                  <m:r>
                                                    <a:rPr lang="en-US" altLang="zh-TW" b="0" i="1" smtClean="0">
                                                      <a:latin typeface="Cambria Math" panose="02040503050406030204" pitchFamily="18" charset="0"/>
                                                    </a:rPr>
                                                    <m:t>−0.1403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.8365</m:t>
                                                        </m:r>
                                                      </m:e>
                                                      <m:e>
                                                        <m:r>
                                                          <a:rPr lang="en-US" altLang="zh-TW" b="0" i="1" smtClean="0">
                                                            <a:latin typeface="Cambria Math" panose="02040503050406030204" pitchFamily="18" charset="0"/>
                                                          </a:rPr>
                                                          <m:t>−0.1235</m:t>
                                                        </m:r>
                                                      </m:e>
                                                      <m:e>
                                                        <m:r>
                                                          <a:rPr lang="en-US" altLang="zh-TW" b="0" i="1" smtClean="0">
                                                            <a:latin typeface="Cambria Math" panose="02040503050406030204" pitchFamily="18" charset="0"/>
                                                          </a:rPr>
                                                          <m:t>−0.2048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0.1230</m:t>
                                                  </m:r>
                                                </m:e>
                                                <m:e>
                                                  <m:r>
                                                    <a:rPr lang="en-US" altLang="zh-TW" b="0" i="1" smtClean="0">
                                                      <a:latin typeface="Cambria Math" panose="02040503050406030204" pitchFamily="18" charset="0"/>
                                                    </a:rPr>
                                                    <m:t>−0.2038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0.1234</m:t>
                                                        </m:r>
                                                      </m:e>
                                                      <m:e>
                                                        <m:r>
                                                          <a:rPr lang="en-US" altLang="zh-TW" b="0" i="1" smtClean="0">
                                                            <a:latin typeface="Cambria Math" panose="02040503050406030204" pitchFamily="18" charset="0"/>
                                                          </a:rPr>
                                                          <m:t>0.8338</m:t>
                                                        </m:r>
                                                      </m:e>
                                                      <m:e>
                                                        <m:r>
                                                          <a:rPr lang="en-US" altLang="zh-TW" b="0" i="1" smtClean="0">
                                                            <a:latin typeface="Cambria Math" panose="02040503050406030204" pitchFamily="18" charset="0"/>
                                                          </a:rPr>
                                                          <m:t>−0.1392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0.1928</m:t>
                                                  </m:r>
                                                </m:e>
                                                <m:e>
                                                  <m:r>
                                                    <a:rPr lang="en-US" altLang="zh-TW" b="0" i="1" smtClean="0">
                                                      <a:latin typeface="Cambria Math" panose="02040503050406030204" pitchFamily="18" charset="0"/>
                                                    </a:rPr>
                                                    <m:t>−0.1288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0.1936</m:t>
                                                        </m:r>
                                                      </m:e>
                                                      <m:e>
                                                        <m:r>
                                                          <a:rPr lang="en-US" altLang="zh-TW" b="0" i="1" smtClean="0">
                                                            <a:latin typeface="Cambria Math" panose="02040503050406030204" pitchFamily="18" charset="0"/>
                                                          </a:rPr>
                                                          <m:t>−0.1366</m:t>
                                                        </m:r>
                                                      </m:e>
                                                      <m:e>
                                                        <m:r>
                                                          <a:rPr lang="en-US" altLang="zh-TW" b="0" i="1" smtClean="0">
                                                            <a:latin typeface="Cambria Math" panose="02040503050406030204" pitchFamily="18" charset="0"/>
                                                          </a:rPr>
                                                          <m:t>0.8328</m:t>
                                                        </m:r>
                                                      </m:e>
                                                    </m:mr>
                                                  </m:m>
                                                </m:e>
                                              </m:mr>
                                            </m:m>
                                          </m:e>
                                        </m:mr>
                                      </m:m>
                                    </m:e>
                                  </m:mr>
                                </m:m>
                              </m:e>
                            </m:mr>
                          </m:m>
                        </m:e>
                      </m:d>
                    </m:oMath>
                  </m:oMathPara>
                </a14:m>
                <a:endParaRPr lang="zh-TW" altLang="en-US" dirty="0"/>
              </a:p>
            </p:txBody>
          </p:sp>
        </mc:Choice>
        <mc:Fallback xmlns="">
          <p:sp>
            <p:nvSpPr>
              <p:cNvPr id="16" name="文字方塊 15">
                <a:extLst>
                  <a:ext uri="{FF2B5EF4-FFF2-40B4-BE49-F238E27FC236}">
                    <a16:creationId xmlns:a16="http://schemas.microsoft.com/office/drawing/2014/main" id="{3514A624-EDE9-40AF-BE57-A60AD18744E7}"/>
                  </a:ext>
                </a:extLst>
              </p:cNvPr>
              <p:cNvSpPr txBox="1">
                <a:spLocks noRot="1" noChangeAspect="1" noMove="1" noResize="1" noEditPoints="1" noAdjustHandles="1" noChangeArrowheads="1" noChangeShapeType="1" noTextEdit="1"/>
              </p:cNvSpPr>
              <p:nvPr/>
            </p:nvSpPr>
            <p:spPr>
              <a:xfrm>
                <a:off x="110067" y="1071299"/>
                <a:ext cx="7068538" cy="150823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F6595C69-CAA3-4008-80B0-FCBDF01775AC}"/>
                  </a:ext>
                </a:extLst>
              </p:cNvPr>
              <p:cNvSpPr txBox="1"/>
              <p:nvPr/>
            </p:nvSpPr>
            <p:spPr>
              <a:xfrm>
                <a:off x="294733" y="2697786"/>
                <a:ext cx="1405000"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=874. 0</m:t>
                      </m:r>
                      <m:r>
                        <a:rPr lang="en-US" altLang="zh-TW" b="0" i="1" smtClean="0">
                          <a:latin typeface="Cambria Math" panose="02040503050406030204" pitchFamily="18" charset="0"/>
                        </a:rPr>
                        <m:t>𝑢𝑚</m:t>
                      </m:r>
                    </m:oMath>
                  </m:oMathPara>
                </a14:m>
                <a:endParaRPr lang="zh-TW" altLang="en-US" dirty="0"/>
              </a:p>
            </p:txBody>
          </p:sp>
        </mc:Choice>
        <mc:Fallback xmlns="">
          <p:sp>
            <p:nvSpPr>
              <p:cNvPr id="17" name="文字方塊 16">
                <a:extLst>
                  <a:ext uri="{FF2B5EF4-FFF2-40B4-BE49-F238E27FC236}">
                    <a16:creationId xmlns:a16="http://schemas.microsoft.com/office/drawing/2014/main" id="{F6595C69-CAA3-4008-80B0-FCBDF01775AC}"/>
                  </a:ext>
                </a:extLst>
              </p:cNvPr>
              <p:cNvSpPr txBox="1">
                <a:spLocks noRot="1" noChangeAspect="1" noMove="1" noResize="1" noEditPoints="1" noAdjustHandles="1" noChangeArrowheads="1" noChangeShapeType="1" noTextEdit="1"/>
              </p:cNvSpPr>
              <p:nvPr/>
            </p:nvSpPr>
            <p:spPr>
              <a:xfrm>
                <a:off x="294733" y="2697786"/>
                <a:ext cx="1405000" cy="291234"/>
              </a:xfrm>
              <a:prstGeom prst="rect">
                <a:avLst/>
              </a:prstGeom>
              <a:blipFill>
                <a:blip r:embed="rId4"/>
                <a:stretch>
                  <a:fillRect l="-3896" t="-19149" r="-1732"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134DFDD4-5BF9-44FC-9723-CF4F06DE5453}"/>
                  </a:ext>
                </a:extLst>
              </p:cNvPr>
              <p:cNvSpPr txBox="1"/>
              <p:nvPr/>
            </p:nvSpPr>
            <p:spPr>
              <a:xfrm>
                <a:off x="1906390" y="2727962"/>
                <a:ext cx="2200731"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=10.7518 </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8" name="文字方塊 17">
                <a:extLst>
                  <a:ext uri="{FF2B5EF4-FFF2-40B4-BE49-F238E27FC236}">
                    <a16:creationId xmlns:a16="http://schemas.microsoft.com/office/drawing/2014/main" id="{134DFDD4-5BF9-44FC-9723-CF4F06DE5453}"/>
                  </a:ext>
                </a:extLst>
              </p:cNvPr>
              <p:cNvSpPr txBox="1">
                <a:spLocks noRot="1" noChangeAspect="1" noMove="1" noResize="1" noEditPoints="1" noAdjustHandles="1" noChangeArrowheads="1" noChangeShapeType="1" noTextEdit="1"/>
              </p:cNvSpPr>
              <p:nvPr/>
            </p:nvSpPr>
            <p:spPr>
              <a:xfrm>
                <a:off x="1906390" y="2727962"/>
                <a:ext cx="2200731" cy="305340"/>
              </a:xfrm>
              <a:prstGeom prst="rect">
                <a:avLst/>
              </a:prstGeom>
              <a:blipFill>
                <a:blip r:embed="rId5"/>
                <a:stretch>
                  <a:fillRect t="-16000" r="-2216" b="-28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7831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54C8E874-6E04-4F06-97C3-1C58F72C5F9C}"/>
              </a:ext>
            </a:extLst>
          </p:cNvPr>
          <p:cNvSpPr txBox="1"/>
          <p:nvPr/>
        </p:nvSpPr>
        <p:spPr>
          <a:xfrm>
            <a:off x="5367867" y="1413931"/>
            <a:ext cx="6714066"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endParaRPr lang="zh-TW" altLang="en-US" dirty="0"/>
          </a:p>
        </p:txBody>
      </p:sp>
      <p:pic>
        <p:nvPicPr>
          <p:cNvPr id="6" name="圖片 5">
            <a:extLst>
              <a:ext uri="{FF2B5EF4-FFF2-40B4-BE49-F238E27FC236}">
                <a16:creationId xmlns:a16="http://schemas.microsoft.com/office/drawing/2014/main" id="{66FDCF6C-A95E-47D9-8883-34C287C54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17" y="846669"/>
            <a:ext cx="5271550" cy="4368800"/>
          </a:xfrm>
          <a:prstGeom prst="rect">
            <a:avLst/>
          </a:prstGeom>
        </p:spPr>
      </p:pic>
    </p:spTree>
    <p:extLst>
      <p:ext uri="{BB962C8B-B14F-4D97-AF65-F5344CB8AC3E}">
        <p14:creationId xmlns:p14="http://schemas.microsoft.com/office/powerpoint/2010/main" val="396343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9" name="群組 8">
            <a:extLst>
              <a:ext uri="{FF2B5EF4-FFF2-40B4-BE49-F238E27FC236}">
                <a16:creationId xmlns:a16="http://schemas.microsoft.com/office/drawing/2014/main" id="{8D318222-8D11-4B89-BAC3-4A25512EC514}"/>
              </a:ext>
            </a:extLst>
          </p:cNvPr>
          <p:cNvGrpSpPr/>
          <p:nvPr/>
        </p:nvGrpSpPr>
        <p:grpSpPr>
          <a:xfrm>
            <a:off x="111978" y="3569723"/>
            <a:ext cx="2960907" cy="3405946"/>
            <a:chOff x="104026" y="3574293"/>
            <a:chExt cx="2960907" cy="3405946"/>
          </a:xfrm>
        </p:grpSpPr>
        <p:pic>
          <p:nvPicPr>
            <p:cNvPr id="8" name="圖片 7">
              <a:extLst>
                <a:ext uri="{FF2B5EF4-FFF2-40B4-BE49-F238E27FC236}">
                  <a16:creationId xmlns:a16="http://schemas.microsoft.com/office/drawing/2014/main" id="{EA31D489-74CE-41FF-8DAE-41AB41157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95" y="3574293"/>
              <a:ext cx="2548338" cy="3055107"/>
            </a:xfrm>
            <a:prstGeom prst="rect">
              <a:avLst/>
            </a:prstGeom>
          </p:spPr>
        </p:pic>
        <p:grpSp>
          <p:nvGrpSpPr>
            <p:cNvPr id="32" name="群組 31">
              <a:extLst>
                <a:ext uri="{FF2B5EF4-FFF2-40B4-BE49-F238E27FC236}">
                  <a16:creationId xmlns:a16="http://schemas.microsoft.com/office/drawing/2014/main" id="{C1B12835-CC15-4F38-A03B-75EF027DF0B4}"/>
                </a:ext>
              </a:extLst>
            </p:cNvPr>
            <p:cNvGrpSpPr/>
            <p:nvPr/>
          </p:nvGrpSpPr>
          <p:grpSpPr>
            <a:xfrm>
              <a:off x="104026" y="3927917"/>
              <a:ext cx="1950071" cy="3052322"/>
              <a:chOff x="1340729" y="2526284"/>
              <a:chExt cx="2406683" cy="3749884"/>
            </a:xfrm>
          </p:grpSpPr>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025EAFBF-EBE9-46F6-B255-8712E108A281}"/>
                      </a:ext>
                    </a:extLst>
                  </p:cNvPr>
                  <p:cNvSpPr txBox="1"/>
                  <p:nvPr/>
                </p:nvSpPr>
                <p:spPr>
                  <a:xfrm rot="16200000">
                    <a:off x="2818382" y="5618754"/>
                    <a:ext cx="675564"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025EAFBF-EBE9-46F6-B255-8712E108A281}"/>
                      </a:ext>
                    </a:extLst>
                  </p:cNvPr>
                  <p:cNvSpPr txBox="1">
                    <a:spLocks noRot="1" noChangeAspect="1" noMove="1" noResize="1" noEditPoints="1" noAdjustHandles="1" noChangeArrowheads="1" noChangeShapeType="1" noTextEdit="1"/>
                  </p:cNvSpPr>
                  <p:nvPr/>
                </p:nvSpPr>
                <p:spPr>
                  <a:xfrm rot="16200000">
                    <a:off x="2818382" y="5618754"/>
                    <a:ext cx="675564" cy="639264"/>
                  </a:xfrm>
                  <a:prstGeom prst="rect">
                    <a:avLst/>
                  </a:prstGeom>
                  <a:blipFill>
                    <a:blip r:embed="rId3"/>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D99A07FC-CF1E-4901-9A41-3FEC1CC504E4}"/>
                      </a:ext>
                    </a:extLst>
                  </p:cNvPr>
                  <p:cNvSpPr txBox="1"/>
                  <p:nvPr/>
                </p:nvSpPr>
                <p:spPr>
                  <a:xfrm>
                    <a:off x="1340729" y="3483629"/>
                    <a:ext cx="678652"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9" name="文字方塊 38">
                    <a:extLst>
                      <a:ext uri="{FF2B5EF4-FFF2-40B4-BE49-F238E27FC236}">
                        <a16:creationId xmlns:a16="http://schemas.microsoft.com/office/drawing/2014/main" id="{D99A07FC-CF1E-4901-9A41-3FEC1CC504E4}"/>
                      </a:ext>
                    </a:extLst>
                  </p:cNvPr>
                  <p:cNvSpPr txBox="1">
                    <a:spLocks noRot="1" noChangeAspect="1" noMove="1" noResize="1" noEditPoints="1" noAdjustHandles="1" noChangeArrowheads="1" noChangeShapeType="1" noTextEdit="1"/>
                  </p:cNvSpPr>
                  <p:nvPr/>
                </p:nvSpPr>
                <p:spPr>
                  <a:xfrm>
                    <a:off x="1340729" y="3483629"/>
                    <a:ext cx="678652" cy="551631"/>
                  </a:xfrm>
                  <a:prstGeom prst="rect">
                    <a:avLst/>
                  </a:prstGeom>
                  <a:blipFill>
                    <a:blip r:embed="rId4"/>
                    <a:stretch>
                      <a:fillRect b="-864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2094E8A5-8C1F-454E-825C-2DA54D61A8A4}"/>
                      </a:ext>
                    </a:extLst>
                  </p:cNvPr>
                  <p:cNvSpPr txBox="1"/>
                  <p:nvPr/>
                </p:nvSpPr>
                <p:spPr>
                  <a:xfrm rot="2825501">
                    <a:off x="3188512" y="3924342"/>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41" name="文字方塊 40">
                    <a:extLst>
                      <a:ext uri="{FF2B5EF4-FFF2-40B4-BE49-F238E27FC236}">
                        <a16:creationId xmlns:a16="http://schemas.microsoft.com/office/drawing/2014/main" id="{2094E8A5-8C1F-454E-825C-2DA54D61A8A4}"/>
                      </a:ext>
                    </a:extLst>
                  </p:cNvPr>
                  <p:cNvSpPr txBox="1">
                    <a:spLocks noRot="1" noChangeAspect="1" noMove="1" noResize="1" noEditPoints="1" noAdjustHandles="1" noChangeArrowheads="1" noChangeShapeType="1" noTextEdit="1"/>
                  </p:cNvSpPr>
                  <p:nvPr/>
                </p:nvSpPr>
                <p:spPr>
                  <a:xfrm rot="2825501">
                    <a:off x="3188512" y="3924342"/>
                    <a:ext cx="869917" cy="215444"/>
                  </a:xfrm>
                  <a:prstGeom prst="rect">
                    <a:avLst/>
                  </a:prstGeom>
                  <a:blipFill>
                    <a:blip r:embed="rId5"/>
                    <a:stretch>
                      <a:fillRect l="-11881" t="-4762" r="-17822" b="-2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280F7340-1A54-4948-B7A3-BD3B7877AC9E}"/>
                      </a:ext>
                    </a:extLst>
                  </p:cNvPr>
                  <p:cNvSpPr txBox="1"/>
                  <p:nvPr/>
                </p:nvSpPr>
                <p:spPr>
                  <a:xfrm rot="19107602">
                    <a:off x="2806352" y="2986140"/>
                    <a:ext cx="941060" cy="264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b="1" dirty="0">
                      <a:solidFill>
                        <a:schemeClr val="accent2">
                          <a:lumMod val="75000"/>
                        </a:schemeClr>
                      </a:solidFill>
                    </a:endParaRPr>
                  </a:p>
                </p:txBody>
              </p:sp>
            </mc:Choice>
            <mc:Fallback xmlns="">
              <p:sp>
                <p:nvSpPr>
                  <p:cNvPr id="42" name="文字方塊 41">
                    <a:extLst>
                      <a:ext uri="{FF2B5EF4-FFF2-40B4-BE49-F238E27FC236}">
                        <a16:creationId xmlns:a16="http://schemas.microsoft.com/office/drawing/2014/main" id="{280F7340-1A54-4948-B7A3-BD3B7877AC9E}"/>
                      </a:ext>
                    </a:extLst>
                  </p:cNvPr>
                  <p:cNvSpPr txBox="1">
                    <a:spLocks noRot="1" noChangeAspect="1" noMove="1" noResize="1" noEditPoints="1" noAdjustHandles="1" noChangeArrowheads="1" noChangeShapeType="1" noTextEdit="1"/>
                  </p:cNvSpPr>
                  <p:nvPr/>
                </p:nvSpPr>
                <p:spPr>
                  <a:xfrm rot="19107602">
                    <a:off x="2806352" y="2986140"/>
                    <a:ext cx="941060" cy="264680"/>
                  </a:xfrm>
                  <a:prstGeom prst="rect">
                    <a:avLst/>
                  </a:prstGeom>
                  <a:blipFill>
                    <a:blip r:embed="rId6"/>
                    <a:stretch>
                      <a:fillRect l="-1695" r="-3390" b="-36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C231A0A-85B7-4D99-96B3-7D6D0970D00D}"/>
                      </a:ext>
                    </a:extLst>
                  </p:cNvPr>
                  <p:cNvSpPr txBox="1"/>
                  <p:nvPr/>
                </p:nvSpPr>
                <p:spPr>
                  <a:xfrm rot="2706626">
                    <a:off x="3126814" y="2522464"/>
                    <a:ext cx="300138"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3" name="文字方塊 42">
                    <a:extLst>
                      <a:ext uri="{FF2B5EF4-FFF2-40B4-BE49-F238E27FC236}">
                        <a16:creationId xmlns:a16="http://schemas.microsoft.com/office/drawing/2014/main" id="{1C231A0A-85B7-4D99-96B3-7D6D0970D00D}"/>
                      </a:ext>
                    </a:extLst>
                  </p:cNvPr>
                  <p:cNvSpPr txBox="1">
                    <a:spLocks noRot="1" noChangeAspect="1" noMove="1" noResize="1" noEditPoints="1" noAdjustHandles="1" noChangeArrowheads="1" noChangeShapeType="1" noTextEdit="1"/>
                  </p:cNvSpPr>
                  <p:nvPr/>
                </p:nvSpPr>
                <p:spPr>
                  <a:xfrm rot="2706626">
                    <a:off x="3126814" y="2522464"/>
                    <a:ext cx="300138" cy="307778"/>
                  </a:xfrm>
                  <a:prstGeom prst="rect">
                    <a:avLst/>
                  </a:prstGeom>
                  <a:blipFill>
                    <a:blip r:embed="rId7"/>
                    <a:stretch>
                      <a:fillRect l="-24138" r="-20690" b="-13793"/>
                    </a:stretch>
                  </a:blipFill>
                </p:spPr>
                <p:txBody>
                  <a:bodyPr/>
                  <a:lstStyle/>
                  <a:p>
                    <a:r>
                      <a:rPr lang="zh-TW" altLang="en-US">
                        <a:noFill/>
                      </a:rPr>
                      <a:t> </a:t>
                    </a:r>
                  </a:p>
                </p:txBody>
              </p:sp>
            </mc:Fallback>
          </mc:AlternateContent>
          <p:cxnSp>
            <p:nvCxnSpPr>
              <p:cNvPr id="44" name="直線單箭頭接點 43">
                <a:extLst>
                  <a:ext uri="{FF2B5EF4-FFF2-40B4-BE49-F238E27FC236}">
                    <a16:creationId xmlns:a16="http://schemas.microsoft.com/office/drawing/2014/main" id="{2684571E-08E2-41F7-AAB2-0991162CDDEB}"/>
                  </a:ext>
                </a:extLst>
              </p:cNvPr>
              <p:cNvCxnSpPr>
                <a:cxnSpLocks/>
              </p:cNvCxnSpPr>
              <p:nvPr/>
            </p:nvCxnSpPr>
            <p:spPr>
              <a:xfrm flipH="1" flipV="1">
                <a:off x="2634064" y="3041641"/>
                <a:ext cx="427400" cy="7684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grpSp>
        <p:nvGrpSpPr>
          <p:cNvPr id="45" name="群組 44">
            <a:extLst>
              <a:ext uri="{FF2B5EF4-FFF2-40B4-BE49-F238E27FC236}">
                <a16:creationId xmlns:a16="http://schemas.microsoft.com/office/drawing/2014/main" id="{0DC0E95F-A7B9-498E-931A-011A650242D6}"/>
              </a:ext>
            </a:extLst>
          </p:cNvPr>
          <p:cNvGrpSpPr/>
          <p:nvPr/>
        </p:nvGrpSpPr>
        <p:grpSpPr>
          <a:xfrm>
            <a:off x="-60414" y="791581"/>
            <a:ext cx="4149466" cy="2932460"/>
            <a:chOff x="6263960" y="551983"/>
            <a:chExt cx="5317999" cy="3782068"/>
          </a:xfrm>
        </p:grpSpPr>
        <p:pic>
          <p:nvPicPr>
            <p:cNvPr id="46" name="圖片 45">
              <a:extLst>
                <a:ext uri="{FF2B5EF4-FFF2-40B4-BE49-F238E27FC236}">
                  <a16:creationId xmlns:a16="http://schemas.microsoft.com/office/drawing/2014/main" id="{E1078709-3D40-4779-9B01-CAA18319F0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19400" y="551983"/>
              <a:ext cx="4862559" cy="3270174"/>
            </a:xfrm>
            <a:prstGeom prst="rect">
              <a:avLst/>
            </a:prstGeom>
          </p:spPr>
        </p:pic>
        <p:grpSp>
          <p:nvGrpSpPr>
            <p:cNvPr id="47" name="群組 46">
              <a:extLst>
                <a:ext uri="{FF2B5EF4-FFF2-40B4-BE49-F238E27FC236}">
                  <a16:creationId xmlns:a16="http://schemas.microsoft.com/office/drawing/2014/main" id="{3D90072A-DE09-4A4A-8ADC-A6E62E917A41}"/>
                </a:ext>
              </a:extLst>
            </p:cNvPr>
            <p:cNvGrpSpPr/>
            <p:nvPr/>
          </p:nvGrpSpPr>
          <p:grpSpPr>
            <a:xfrm>
              <a:off x="6263960" y="1384391"/>
              <a:ext cx="4577649" cy="2949660"/>
              <a:chOff x="6643859" y="1594645"/>
              <a:chExt cx="4577649" cy="2949660"/>
            </a:xfrm>
          </p:grpSpPr>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39B53AD5-77EE-49E3-8523-E9ACFC97D754}"/>
                      </a:ext>
                    </a:extLst>
                  </p:cNvPr>
                  <p:cNvSpPr txBox="1"/>
                  <p:nvPr/>
                </p:nvSpPr>
                <p:spPr>
                  <a:xfrm rot="16200000">
                    <a:off x="8928440" y="3870067"/>
                    <a:ext cx="709212" cy="63926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8" name="文字方塊 47">
                    <a:extLst>
                      <a:ext uri="{FF2B5EF4-FFF2-40B4-BE49-F238E27FC236}">
                        <a16:creationId xmlns:a16="http://schemas.microsoft.com/office/drawing/2014/main" id="{39B53AD5-77EE-49E3-8523-E9ACFC97D754}"/>
                      </a:ext>
                    </a:extLst>
                  </p:cNvPr>
                  <p:cNvSpPr txBox="1">
                    <a:spLocks noRot="1" noChangeAspect="1" noMove="1" noResize="1" noEditPoints="1" noAdjustHandles="1" noChangeArrowheads="1" noChangeShapeType="1" noTextEdit="1"/>
                  </p:cNvSpPr>
                  <p:nvPr/>
                </p:nvSpPr>
                <p:spPr>
                  <a:xfrm rot="16200000">
                    <a:off x="8928440" y="3870067"/>
                    <a:ext cx="709212" cy="639263"/>
                  </a:xfrm>
                  <a:prstGeom prst="rect">
                    <a:avLst/>
                  </a:prstGeom>
                  <a:blipFill>
                    <a:blip r:embed="rId9"/>
                    <a:stretch>
                      <a:fillRect r="-670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EFB547E9-E4A2-437B-B227-AE6CCFA22C21}"/>
                      </a:ext>
                    </a:extLst>
                  </p:cNvPr>
                  <p:cNvSpPr txBox="1"/>
                  <p:nvPr/>
                </p:nvSpPr>
                <p:spPr>
                  <a:xfrm>
                    <a:off x="6643859" y="1594645"/>
                    <a:ext cx="704750"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9" name="文字方塊 48">
                    <a:extLst>
                      <a:ext uri="{FF2B5EF4-FFF2-40B4-BE49-F238E27FC236}">
                        <a16:creationId xmlns:a16="http://schemas.microsoft.com/office/drawing/2014/main" id="{EFB547E9-E4A2-437B-B227-AE6CCFA22C21}"/>
                      </a:ext>
                    </a:extLst>
                  </p:cNvPr>
                  <p:cNvSpPr txBox="1">
                    <a:spLocks noRot="1" noChangeAspect="1" noMove="1" noResize="1" noEditPoints="1" noAdjustHandles="1" noChangeArrowheads="1" noChangeShapeType="1" noTextEdit="1"/>
                  </p:cNvSpPr>
                  <p:nvPr/>
                </p:nvSpPr>
                <p:spPr>
                  <a:xfrm>
                    <a:off x="6643859" y="1594645"/>
                    <a:ext cx="704750" cy="551631"/>
                  </a:xfrm>
                  <a:prstGeom prst="rect">
                    <a:avLst/>
                  </a:prstGeom>
                  <a:blipFill>
                    <a:blip r:embed="rId10"/>
                    <a:stretch>
                      <a:fillRect b="-9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9EDC1A73-368A-40A9-B53A-EF9FEEB62BF7}"/>
                      </a:ext>
                    </a:extLst>
                  </p:cNvPr>
                  <p:cNvSpPr txBox="1"/>
                  <p:nvPr/>
                </p:nvSpPr>
                <p:spPr>
                  <a:xfrm rot="796373">
                    <a:off x="10741412" y="2883540"/>
                    <a:ext cx="300139"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50" name="文字方塊 49">
                    <a:extLst>
                      <a:ext uri="{FF2B5EF4-FFF2-40B4-BE49-F238E27FC236}">
                        <a16:creationId xmlns:a16="http://schemas.microsoft.com/office/drawing/2014/main" id="{9EDC1A73-368A-40A9-B53A-EF9FEEB62BF7}"/>
                      </a:ext>
                    </a:extLst>
                  </p:cNvPr>
                  <p:cNvSpPr txBox="1">
                    <a:spLocks noRot="1" noChangeAspect="1" noMove="1" noResize="1" noEditPoints="1" noAdjustHandles="1" noChangeArrowheads="1" noChangeShapeType="1" noTextEdit="1"/>
                  </p:cNvSpPr>
                  <p:nvPr/>
                </p:nvSpPr>
                <p:spPr>
                  <a:xfrm rot="796373">
                    <a:off x="10741412" y="2883540"/>
                    <a:ext cx="300139" cy="307778"/>
                  </a:xfrm>
                  <a:prstGeom prst="rect">
                    <a:avLst/>
                  </a:prstGeom>
                  <a:blipFill>
                    <a:blip r:embed="rId11"/>
                    <a:stretch>
                      <a:fillRect l="-27660" r="-42553" b="-208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98B7F3DA-DDDE-46CD-94AB-E49FEBF18F4B}"/>
                      </a:ext>
                    </a:extLst>
                  </p:cNvPr>
                  <p:cNvSpPr txBox="1"/>
                  <p:nvPr/>
                </p:nvSpPr>
                <p:spPr>
                  <a:xfrm rot="752605">
                    <a:off x="9444496" y="1921321"/>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51" name="文字方塊 50">
                    <a:extLst>
                      <a:ext uri="{FF2B5EF4-FFF2-40B4-BE49-F238E27FC236}">
                        <a16:creationId xmlns:a16="http://schemas.microsoft.com/office/drawing/2014/main" id="{98B7F3DA-DDDE-46CD-94AB-E49FEBF18F4B}"/>
                      </a:ext>
                    </a:extLst>
                  </p:cNvPr>
                  <p:cNvSpPr txBox="1">
                    <a:spLocks noRot="1" noChangeAspect="1" noMove="1" noResize="1" noEditPoints="1" noAdjustHandles="1" noChangeArrowheads="1" noChangeShapeType="1" noTextEdit="1"/>
                  </p:cNvSpPr>
                  <p:nvPr/>
                </p:nvSpPr>
                <p:spPr>
                  <a:xfrm rot="752605">
                    <a:off x="9444496" y="1921321"/>
                    <a:ext cx="869917" cy="215444"/>
                  </a:xfrm>
                  <a:prstGeom prst="rect">
                    <a:avLst/>
                  </a:prstGeom>
                  <a:blipFill>
                    <a:blip r:embed="rId12"/>
                    <a:stretch>
                      <a:fillRect l="-9483" r="-26724" b="-3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D17CA34D-E29C-412A-98CD-2DF7EB235D47}"/>
                      </a:ext>
                    </a:extLst>
                  </p:cNvPr>
                  <p:cNvSpPr txBox="1"/>
                  <p:nvPr/>
                </p:nvSpPr>
                <p:spPr>
                  <a:xfrm rot="16892542">
                    <a:off x="10203459" y="2586445"/>
                    <a:ext cx="7625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52" name="文字方塊 51">
                    <a:extLst>
                      <a:ext uri="{FF2B5EF4-FFF2-40B4-BE49-F238E27FC236}">
                        <a16:creationId xmlns:a16="http://schemas.microsoft.com/office/drawing/2014/main" id="{D17CA34D-E29C-412A-98CD-2DF7EB235D47}"/>
                      </a:ext>
                    </a:extLst>
                  </p:cNvPr>
                  <p:cNvSpPr txBox="1">
                    <a:spLocks noRot="1" noChangeAspect="1" noMove="1" noResize="1" noEditPoints="1" noAdjustHandles="1" noChangeArrowheads="1" noChangeShapeType="1" noTextEdit="1"/>
                  </p:cNvSpPr>
                  <p:nvPr/>
                </p:nvSpPr>
                <p:spPr>
                  <a:xfrm rot="16892542">
                    <a:off x="10203459" y="2586445"/>
                    <a:ext cx="762517" cy="215444"/>
                  </a:xfrm>
                  <a:prstGeom prst="rect">
                    <a:avLst/>
                  </a:prstGeom>
                  <a:blipFill>
                    <a:blip r:embed="rId13"/>
                    <a:stretch>
                      <a:fillRect t="-26733" r="-31915" b="-10891"/>
                    </a:stretch>
                  </a:blipFill>
                </p:spPr>
                <p:txBody>
                  <a:bodyPr/>
                  <a:lstStyle/>
                  <a:p>
                    <a:r>
                      <a:rPr lang="zh-TW" altLang="en-US">
                        <a:noFill/>
                      </a:rPr>
                      <a:t> </a:t>
                    </a:r>
                  </a:p>
                </p:txBody>
              </p:sp>
            </mc:Fallback>
          </mc:AlternateContent>
          <p:cxnSp>
            <p:nvCxnSpPr>
              <p:cNvPr id="53" name="直線單箭頭接點 52">
                <a:extLst>
                  <a:ext uri="{FF2B5EF4-FFF2-40B4-BE49-F238E27FC236}">
                    <a16:creationId xmlns:a16="http://schemas.microsoft.com/office/drawing/2014/main" id="{91C966E4-5C07-44B6-BFF5-37BC89549541}"/>
                  </a:ext>
                </a:extLst>
              </p:cNvPr>
              <p:cNvCxnSpPr>
                <a:cxnSpLocks/>
              </p:cNvCxnSpPr>
              <p:nvPr/>
            </p:nvCxnSpPr>
            <p:spPr>
              <a:xfrm flipV="1">
                <a:off x="10832025" y="2322700"/>
                <a:ext cx="389483" cy="74624"/>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sp>
        <p:nvSpPr>
          <p:cNvPr id="54" name="文字方塊 53">
            <a:extLst>
              <a:ext uri="{FF2B5EF4-FFF2-40B4-BE49-F238E27FC236}">
                <a16:creationId xmlns:a16="http://schemas.microsoft.com/office/drawing/2014/main" id="{48339A9D-2029-4F73-81B2-3CBC0F180F38}"/>
              </a:ext>
            </a:extLst>
          </p:cNvPr>
          <p:cNvSpPr txBox="1"/>
          <p:nvPr/>
        </p:nvSpPr>
        <p:spPr>
          <a:xfrm>
            <a:off x="4504266" y="903272"/>
            <a:ext cx="6248400" cy="646331"/>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the simulated placement of the Hall sensors, using magnetic poles P1 and P2 as examples.</a:t>
            </a:r>
            <a:endParaRPr lang="zh-TW" altLang="en-US" dirty="0"/>
          </a:p>
        </p:txBody>
      </p:sp>
    </p:spTree>
    <p:extLst>
      <p:ext uri="{BB962C8B-B14F-4D97-AF65-F5344CB8AC3E}">
        <p14:creationId xmlns:p14="http://schemas.microsoft.com/office/powerpoint/2010/main" val="290594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28" name="文字方塊 27">
            <a:extLst>
              <a:ext uri="{FF2B5EF4-FFF2-40B4-BE49-F238E27FC236}">
                <a16:creationId xmlns:a16="http://schemas.microsoft.com/office/drawing/2014/main" id="{9BCA2352-41E3-4D1F-88E2-047B9D488EE7}"/>
              </a:ext>
            </a:extLst>
          </p:cNvPr>
          <p:cNvSpPr txBox="1"/>
          <p:nvPr/>
        </p:nvSpPr>
        <p:spPr>
          <a:xfrm>
            <a:off x="192878" y="4047862"/>
            <a:ext cx="11423389" cy="1200329"/>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shows the locations of the Hall sensors in the simulation model. The sensor placements are presented in two separate figures because a single view would make it difficult to clearly distinguish the Hall sensor locations on the upper and lower magnetic poles. Therefore, the upper- and lower-pole sensor arrangements are shown separately to provide a clearer representation of their respective positions.</a:t>
            </a:r>
            <a:endParaRPr lang="zh-TW" altLang="en-US" dirty="0"/>
          </a:p>
        </p:txBody>
      </p:sp>
      <p:grpSp>
        <p:nvGrpSpPr>
          <p:cNvPr id="6" name="群組 5">
            <a:extLst>
              <a:ext uri="{FF2B5EF4-FFF2-40B4-BE49-F238E27FC236}">
                <a16:creationId xmlns:a16="http://schemas.microsoft.com/office/drawing/2014/main" id="{C6627587-C29E-49F5-9E68-21B723ACC3C2}"/>
              </a:ext>
            </a:extLst>
          </p:cNvPr>
          <p:cNvGrpSpPr/>
          <p:nvPr/>
        </p:nvGrpSpPr>
        <p:grpSpPr>
          <a:xfrm>
            <a:off x="31835" y="925580"/>
            <a:ext cx="7322280" cy="2823883"/>
            <a:chOff x="-171515" y="767368"/>
            <a:chExt cx="7750896" cy="3083670"/>
          </a:xfrm>
        </p:grpSpPr>
        <p:pic>
          <p:nvPicPr>
            <p:cNvPr id="30" name="圖片 29">
              <a:extLst>
                <a:ext uri="{FF2B5EF4-FFF2-40B4-BE49-F238E27FC236}">
                  <a16:creationId xmlns:a16="http://schemas.microsoft.com/office/drawing/2014/main" id="{3D909287-9FC1-4F4E-A4C8-287E60D21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234" y="767368"/>
              <a:ext cx="7162800" cy="2783429"/>
            </a:xfrm>
            <a:prstGeom prst="rect">
              <a:avLst/>
            </a:prstGeom>
          </p:spPr>
        </p:pic>
        <p:grpSp>
          <p:nvGrpSpPr>
            <p:cNvPr id="4" name="群組 3">
              <a:extLst>
                <a:ext uri="{FF2B5EF4-FFF2-40B4-BE49-F238E27FC236}">
                  <a16:creationId xmlns:a16="http://schemas.microsoft.com/office/drawing/2014/main" id="{AF7256C5-DB88-49BE-87AE-56FCA3F0FA13}"/>
                </a:ext>
              </a:extLst>
            </p:cNvPr>
            <p:cNvGrpSpPr/>
            <p:nvPr/>
          </p:nvGrpSpPr>
          <p:grpSpPr>
            <a:xfrm>
              <a:off x="-171515" y="1527584"/>
              <a:ext cx="7750896" cy="2323454"/>
              <a:chOff x="118938" y="1618024"/>
              <a:chExt cx="7750896" cy="2323454"/>
            </a:xfrm>
          </p:grpSpPr>
          <p:grpSp>
            <p:nvGrpSpPr>
              <p:cNvPr id="20" name="群組 19">
                <a:extLst>
                  <a:ext uri="{FF2B5EF4-FFF2-40B4-BE49-F238E27FC236}">
                    <a16:creationId xmlns:a16="http://schemas.microsoft.com/office/drawing/2014/main" id="{D3925940-3F51-4E81-BD0E-F5EBA4704BB3}"/>
                  </a:ext>
                </a:extLst>
              </p:cNvPr>
              <p:cNvGrpSpPr/>
              <p:nvPr/>
            </p:nvGrpSpPr>
            <p:grpSpPr>
              <a:xfrm>
                <a:off x="118938" y="1618024"/>
                <a:ext cx="7750896" cy="2323454"/>
                <a:chOff x="1028334" y="3041651"/>
                <a:chExt cx="8323367" cy="2543240"/>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148EC49B-CCF3-462C-B95E-1B9B6CEB4126}"/>
                        </a:ext>
                      </a:extLst>
                    </p:cNvPr>
                    <p:cNvSpPr txBox="1"/>
                    <p:nvPr/>
                  </p:nvSpPr>
                  <p:spPr>
                    <a:xfrm rot="19660597">
                      <a:off x="1340871" y="4217183"/>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148EC49B-CCF3-462C-B95E-1B9B6CEB4126}"/>
                        </a:ext>
                      </a:extLst>
                    </p:cNvPr>
                    <p:cNvSpPr txBox="1">
                      <a:spLocks noRot="1" noChangeAspect="1" noMove="1" noResize="1" noEditPoints="1" noAdjustHandles="1" noChangeArrowheads="1" noChangeShapeType="1" noTextEdit="1"/>
                    </p:cNvSpPr>
                    <p:nvPr/>
                  </p:nvSpPr>
                  <p:spPr>
                    <a:xfrm rot="19660597">
                      <a:off x="1340871" y="4217183"/>
                      <a:ext cx="625074" cy="699735"/>
                    </a:xfrm>
                    <a:prstGeom prst="rect">
                      <a:avLst/>
                    </a:prstGeom>
                    <a:blipFill>
                      <a:blip r:embed="rId3"/>
                      <a:stretch>
                        <a:fillRect b="-122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8D39A59-913D-4FE9-BAF5-9B04FBD36D83}"/>
                        </a:ext>
                      </a:extLst>
                    </p:cNvPr>
                    <p:cNvSpPr txBox="1"/>
                    <p:nvPr/>
                  </p:nvSpPr>
                  <p:spPr>
                    <a:xfrm rot="15569608">
                      <a:off x="3760395" y="4906381"/>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28D39A59-913D-4FE9-BAF5-9B04FBD36D83}"/>
                        </a:ext>
                      </a:extLst>
                    </p:cNvPr>
                    <p:cNvSpPr txBox="1">
                      <a:spLocks noRot="1" noChangeAspect="1" noMove="1" noResize="1" noEditPoints="1" noAdjustHandles="1" noChangeArrowheads="1" noChangeShapeType="1" noTextEdit="1"/>
                    </p:cNvSpPr>
                    <p:nvPr/>
                  </p:nvSpPr>
                  <p:spPr>
                    <a:xfrm rot="15569608">
                      <a:off x="3760395" y="4906381"/>
                      <a:ext cx="657285" cy="699735"/>
                    </a:xfrm>
                    <a:prstGeom prst="rect">
                      <a:avLst/>
                    </a:prstGeom>
                    <a:blipFill>
                      <a:blip r:embed="rId4"/>
                      <a:stretch>
                        <a:fillRect r="-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564546D7-559D-4C66-9450-E18834CBB660}"/>
                        </a:ext>
                      </a:extLst>
                    </p:cNvPr>
                    <p:cNvSpPr txBox="1"/>
                    <p:nvPr/>
                  </p:nvSpPr>
                  <p:spPr>
                    <a:xfrm rot="10800000">
                      <a:off x="1028334" y="3069364"/>
                      <a:ext cx="625074"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24" name="文字方塊 23">
                      <a:extLst>
                        <a:ext uri="{FF2B5EF4-FFF2-40B4-BE49-F238E27FC236}">
                          <a16:creationId xmlns:a16="http://schemas.microsoft.com/office/drawing/2014/main" id="{564546D7-559D-4C66-9450-E18834CBB660}"/>
                        </a:ext>
                      </a:extLst>
                    </p:cNvPr>
                    <p:cNvSpPr txBox="1">
                      <a:spLocks noRot="1" noChangeAspect="1" noMove="1" noResize="1" noEditPoints="1" noAdjustHandles="1" noChangeArrowheads="1" noChangeShapeType="1" noTextEdit="1"/>
                    </p:cNvSpPr>
                    <p:nvPr/>
                  </p:nvSpPr>
                  <p:spPr>
                    <a:xfrm rot="10800000">
                      <a:off x="1028334" y="3069364"/>
                      <a:ext cx="625074" cy="719271"/>
                    </a:xfrm>
                    <a:prstGeom prst="rect">
                      <a:avLst/>
                    </a:prstGeom>
                    <a:blipFill>
                      <a:blip r:embed="rId5"/>
                      <a:stretch>
                        <a:fillRect t="-373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634B5A96-CED7-4A9A-BF9D-3E99F4F8FD01}"/>
                        </a:ext>
                      </a:extLst>
                    </p:cNvPr>
                    <p:cNvSpPr txBox="1"/>
                    <p:nvPr/>
                  </p:nvSpPr>
                  <p:spPr>
                    <a:xfrm rot="10800000">
                      <a:off x="5090035" y="3721300"/>
                      <a:ext cx="583602"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𝐳</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p>
                  </p:txBody>
                </p:sp>
              </mc:Choice>
              <mc:Fallback xmlns="">
                <p:sp>
                  <p:nvSpPr>
                    <p:cNvPr id="25" name="文字方塊 24">
                      <a:extLst>
                        <a:ext uri="{FF2B5EF4-FFF2-40B4-BE49-F238E27FC236}">
                          <a16:creationId xmlns:a16="http://schemas.microsoft.com/office/drawing/2014/main" id="{634B5A96-CED7-4A9A-BF9D-3E99F4F8FD01}"/>
                        </a:ext>
                      </a:extLst>
                    </p:cNvPr>
                    <p:cNvSpPr txBox="1">
                      <a:spLocks noRot="1" noChangeAspect="1" noMove="1" noResize="1" noEditPoints="1" noAdjustHandles="1" noChangeArrowheads="1" noChangeShapeType="1" noTextEdit="1"/>
                    </p:cNvSpPr>
                    <p:nvPr/>
                  </p:nvSpPr>
                  <p:spPr>
                    <a:xfrm rot="10800000">
                      <a:off x="5090035" y="3721300"/>
                      <a:ext cx="583602" cy="719271"/>
                    </a:xfrm>
                    <a:prstGeom prst="rect">
                      <a:avLst/>
                    </a:prstGeom>
                    <a:blipFill>
                      <a:blip r:embed="rId6"/>
                      <a:stretch>
                        <a:fillRect t="-242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8BA230-992F-41C2-832D-B4E339B33866}"/>
                        </a:ext>
                      </a:extLst>
                    </p:cNvPr>
                    <p:cNvSpPr txBox="1"/>
                    <p:nvPr/>
                  </p:nvSpPr>
                  <p:spPr>
                    <a:xfrm rot="16784698">
                      <a:off x="6471437" y="4358942"/>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938BA230-992F-41C2-832D-B4E339B33866}"/>
                        </a:ext>
                      </a:extLst>
                    </p:cNvPr>
                    <p:cNvSpPr txBox="1">
                      <a:spLocks noRot="1" noChangeAspect="1" noMove="1" noResize="1" noEditPoints="1" noAdjustHandles="1" noChangeArrowheads="1" noChangeShapeType="1" noTextEdit="1"/>
                    </p:cNvSpPr>
                    <p:nvPr/>
                  </p:nvSpPr>
                  <p:spPr>
                    <a:xfrm rot="16784698">
                      <a:off x="6471437" y="4358942"/>
                      <a:ext cx="657285" cy="699735"/>
                    </a:xfrm>
                    <a:prstGeom prst="rect">
                      <a:avLst/>
                    </a:prstGeom>
                    <a:blipFill>
                      <a:blip r:embed="rId7"/>
                      <a:stretch>
                        <a:fillRect r="-241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4A7C87E-52BB-4FB8-A64F-CA903177D96F}"/>
                        </a:ext>
                      </a:extLst>
                    </p:cNvPr>
                    <p:cNvSpPr txBox="1"/>
                    <p:nvPr/>
                  </p:nvSpPr>
                  <p:spPr>
                    <a:xfrm rot="12942440">
                      <a:off x="8726627" y="4178734"/>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84A7C87E-52BB-4FB8-A64F-CA903177D96F}"/>
                        </a:ext>
                      </a:extLst>
                    </p:cNvPr>
                    <p:cNvSpPr txBox="1">
                      <a:spLocks noRot="1" noChangeAspect="1" noMove="1" noResize="1" noEditPoints="1" noAdjustHandles="1" noChangeArrowheads="1" noChangeShapeType="1" noTextEdit="1"/>
                    </p:cNvSpPr>
                    <p:nvPr/>
                  </p:nvSpPr>
                  <p:spPr>
                    <a:xfrm rot="12942440">
                      <a:off x="8726627" y="4178734"/>
                      <a:ext cx="625074" cy="699735"/>
                    </a:xfrm>
                    <a:prstGeom prst="rect">
                      <a:avLst/>
                    </a:prstGeom>
                    <a:blipFill>
                      <a:blip r:embed="rId8"/>
                      <a:stretch>
                        <a:fillRect t="-6061" r="-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233670CD-3F13-450F-8646-A76A2563201A}"/>
                        </a:ext>
                      </a:extLst>
                    </p:cNvPr>
                    <p:cNvSpPr txBox="1"/>
                    <p:nvPr/>
                  </p:nvSpPr>
                  <p:spPr>
                    <a:xfrm>
                      <a:off x="3537515" y="3041651"/>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dirty="0"/>
                    </a:p>
                  </p:txBody>
                </p:sp>
              </mc:Choice>
              <mc:Fallback xmlns="">
                <p:sp>
                  <p:nvSpPr>
                    <p:cNvPr id="29" name="文字方塊 28">
                      <a:extLst>
                        <a:ext uri="{FF2B5EF4-FFF2-40B4-BE49-F238E27FC236}">
                          <a16:creationId xmlns:a16="http://schemas.microsoft.com/office/drawing/2014/main" id="{233670CD-3F13-450F-8646-A76A2563201A}"/>
                        </a:ext>
                      </a:extLst>
                    </p:cNvPr>
                    <p:cNvSpPr txBox="1">
                      <a:spLocks noRot="1" noChangeAspect="1" noMove="1" noResize="1" noEditPoints="1" noAdjustHandles="1" noChangeArrowheads="1" noChangeShapeType="1" noTextEdit="1"/>
                    </p:cNvSpPr>
                    <p:nvPr/>
                  </p:nvSpPr>
                  <p:spPr>
                    <a:xfrm>
                      <a:off x="3537515" y="3041651"/>
                      <a:ext cx="316668" cy="303202"/>
                    </a:xfrm>
                    <a:prstGeom prst="rect">
                      <a:avLst/>
                    </a:prstGeom>
                    <a:blipFill>
                      <a:blip r:embed="rId9"/>
                      <a:stretch>
                        <a:fillRect l="-21739" r="-13043" b="-261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33FAA965-5B61-48E7-8F3D-2E47AB4E4B03}"/>
                        </a:ext>
                      </a:extLst>
                    </p:cNvPr>
                    <p:cNvSpPr txBox="1"/>
                    <p:nvPr/>
                  </p:nvSpPr>
                  <p:spPr>
                    <a:xfrm>
                      <a:off x="7736928" y="3372190"/>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𝟏</m:t>
                                </m:r>
                              </m:sub>
                            </m:sSub>
                          </m:oMath>
                        </m:oMathPara>
                      </a14:m>
                      <a:endParaRPr lang="zh-TW" altLang="en-US" b="1" dirty="0"/>
                    </a:p>
                  </p:txBody>
                </p:sp>
              </mc:Choice>
              <mc:Fallback xmlns="">
                <p:sp>
                  <p:nvSpPr>
                    <p:cNvPr id="31" name="文字方塊 30">
                      <a:extLst>
                        <a:ext uri="{FF2B5EF4-FFF2-40B4-BE49-F238E27FC236}">
                          <a16:creationId xmlns:a16="http://schemas.microsoft.com/office/drawing/2014/main" id="{33FAA965-5B61-48E7-8F3D-2E47AB4E4B03}"/>
                        </a:ext>
                      </a:extLst>
                    </p:cNvPr>
                    <p:cNvSpPr txBox="1">
                      <a:spLocks noRot="1" noChangeAspect="1" noMove="1" noResize="1" noEditPoints="1" noAdjustHandles="1" noChangeArrowheads="1" noChangeShapeType="1" noTextEdit="1"/>
                    </p:cNvSpPr>
                    <p:nvPr/>
                  </p:nvSpPr>
                  <p:spPr>
                    <a:xfrm>
                      <a:off x="7736928" y="3372190"/>
                      <a:ext cx="316668" cy="303202"/>
                    </a:xfrm>
                    <a:prstGeom prst="rect">
                      <a:avLst/>
                    </a:prstGeom>
                    <a:blipFill>
                      <a:blip r:embed="rId10"/>
                      <a:stretch>
                        <a:fillRect l="-21739" r="-13043" b="-2619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9A7576F-6588-46BE-AA6F-7027885B750A}"/>
                      </a:ext>
                    </a:extLst>
                  </p:cNvPr>
                  <p:cNvSpPr txBox="1"/>
                  <p:nvPr/>
                </p:nvSpPr>
                <p:spPr>
                  <a:xfrm>
                    <a:off x="6236496" y="244864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𝟑</m:t>
                              </m:r>
                            </m:sub>
                          </m:sSub>
                        </m:oMath>
                      </m:oMathPara>
                    </a14:m>
                    <a:endParaRPr lang="zh-TW" altLang="en-US" b="1" dirty="0"/>
                  </a:p>
                </p:txBody>
              </p:sp>
            </mc:Choice>
            <mc:Fallback xmlns="">
              <p:sp>
                <p:nvSpPr>
                  <p:cNvPr id="34" name="文字方塊 33">
                    <a:extLst>
                      <a:ext uri="{FF2B5EF4-FFF2-40B4-BE49-F238E27FC236}">
                        <a16:creationId xmlns:a16="http://schemas.microsoft.com/office/drawing/2014/main" id="{F9A7576F-6588-46BE-AA6F-7027885B750A}"/>
                      </a:ext>
                    </a:extLst>
                  </p:cNvPr>
                  <p:cNvSpPr txBox="1">
                    <a:spLocks noRot="1" noChangeAspect="1" noMove="1" noResize="1" noEditPoints="1" noAdjustHandles="1" noChangeArrowheads="1" noChangeShapeType="1" noTextEdit="1"/>
                  </p:cNvSpPr>
                  <p:nvPr/>
                </p:nvSpPr>
                <p:spPr>
                  <a:xfrm>
                    <a:off x="6236496" y="2448648"/>
                    <a:ext cx="294888" cy="276999"/>
                  </a:xfrm>
                  <a:prstGeom prst="rect">
                    <a:avLst/>
                  </a:prstGeom>
                  <a:blipFill>
                    <a:blip r:embed="rId11"/>
                    <a:stretch>
                      <a:fillRect l="-21739" r="-13043" b="-292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8DDB127A-1DDB-4577-A13F-5E2971237997}"/>
                      </a:ext>
                    </a:extLst>
                  </p:cNvPr>
                  <p:cNvSpPr txBox="1"/>
                  <p:nvPr/>
                </p:nvSpPr>
                <p:spPr>
                  <a:xfrm>
                    <a:off x="1950191" y="2007016"/>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𝟒</m:t>
                              </m:r>
                            </m:sub>
                          </m:sSub>
                        </m:oMath>
                      </m:oMathPara>
                    </a14:m>
                    <a:endParaRPr lang="zh-TW" altLang="en-US" b="1" dirty="0"/>
                  </a:p>
                </p:txBody>
              </p:sp>
            </mc:Choice>
            <mc:Fallback xmlns="">
              <p:sp>
                <p:nvSpPr>
                  <p:cNvPr id="35" name="文字方塊 34">
                    <a:extLst>
                      <a:ext uri="{FF2B5EF4-FFF2-40B4-BE49-F238E27FC236}">
                        <a16:creationId xmlns:a16="http://schemas.microsoft.com/office/drawing/2014/main" id="{8DDB127A-1DDB-4577-A13F-5E2971237997}"/>
                      </a:ext>
                    </a:extLst>
                  </p:cNvPr>
                  <p:cNvSpPr txBox="1">
                    <a:spLocks noRot="1" noChangeAspect="1" noMove="1" noResize="1" noEditPoints="1" noAdjustHandles="1" noChangeArrowheads="1" noChangeShapeType="1" noTextEdit="1"/>
                  </p:cNvSpPr>
                  <p:nvPr/>
                </p:nvSpPr>
                <p:spPr>
                  <a:xfrm>
                    <a:off x="1950191" y="2007016"/>
                    <a:ext cx="294888" cy="276999"/>
                  </a:xfrm>
                  <a:prstGeom prst="rect">
                    <a:avLst/>
                  </a:prstGeom>
                  <a:blipFill>
                    <a:blip r:embed="rId12"/>
                    <a:stretch>
                      <a:fillRect l="-21739" r="-13043" b="-261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6E84AB7-71ED-4748-A20B-6D60DD63AE5F}"/>
                      </a:ext>
                    </a:extLst>
                  </p:cNvPr>
                  <p:cNvSpPr txBox="1"/>
                  <p:nvPr/>
                </p:nvSpPr>
                <p:spPr>
                  <a:xfrm>
                    <a:off x="2860236" y="189760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86E84AB7-71ED-4748-A20B-6D60DD63AE5F}"/>
                      </a:ext>
                    </a:extLst>
                  </p:cNvPr>
                  <p:cNvSpPr txBox="1">
                    <a:spLocks noRot="1" noChangeAspect="1" noMove="1" noResize="1" noEditPoints="1" noAdjustHandles="1" noChangeArrowheads="1" noChangeShapeType="1" noTextEdit="1"/>
                  </p:cNvSpPr>
                  <p:nvPr/>
                </p:nvSpPr>
                <p:spPr>
                  <a:xfrm>
                    <a:off x="2860236" y="1897608"/>
                    <a:ext cx="294888" cy="276999"/>
                  </a:xfrm>
                  <a:prstGeom prst="rect">
                    <a:avLst/>
                  </a:prstGeom>
                  <a:blipFill>
                    <a:blip r:embed="rId13"/>
                    <a:stretch>
                      <a:fillRect l="-21739" r="-15217" b="-28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04359BE-F3DE-408C-BAD8-B93165146A82}"/>
                      </a:ext>
                    </a:extLst>
                  </p:cNvPr>
                  <p:cNvSpPr txBox="1"/>
                  <p:nvPr/>
                </p:nvSpPr>
                <p:spPr>
                  <a:xfrm>
                    <a:off x="5294815" y="238835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𝟔</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04359BE-F3DE-408C-BAD8-B93165146A82}"/>
                      </a:ext>
                    </a:extLst>
                  </p:cNvPr>
                  <p:cNvSpPr txBox="1">
                    <a:spLocks noRot="1" noChangeAspect="1" noMove="1" noResize="1" noEditPoints="1" noAdjustHandles="1" noChangeArrowheads="1" noChangeShapeType="1" noTextEdit="1"/>
                  </p:cNvSpPr>
                  <p:nvPr/>
                </p:nvSpPr>
                <p:spPr>
                  <a:xfrm>
                    <a:off x="5294815" y="2388358"/>
                    <a:ext cx="294888" cy="276999"/>
                  </a:xfrm>
                  <a:prstGeom prst="rect">
                    <a:avLst/>
                  </a:prstGeom>
                  <a:blipFill>
                    <a:blip r:embed="rId14"/>
                    <a:stretch>
                      <a:fillRect l="-21739" r="-13043" b="-29268"/>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3882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19" name="群組 18">
            <a:extLst>
              <a:ext uri="{FF2B5EF4-FFF2-40B4-BE49-F238E27FC236}">
                <a16:creationId xmlns:a16="http://schemas.microsoft.com/office/drawing/2014/main" id="{8E64CB39-8B07-4CED-A559-14B691D82A6A}"/>
              </a:ext>
            </a:extLst>
          </p:cNvPr>
          <p:cNvGrpSpPr/>
          <p:nvPr/>
        </p:nvGrpSpPr>
        <p:grpSpPr>
          <a:xfrm>
            <a:off x="202551" y="4327766"/>
            <a:ext cx="4596407" cy="2462230"/>
            <a:chOff x="396898" y="3229815"/>
            <a:chExt cx="5429454" cy="3157125"/>
          </a:xfrm>
        </p:grpSpPr>
        <p:pic>
          <p:nvPicPr>
            <p:cNvPr id="34" name="圖片 33">
              <a:extLst>
                <a:ext uri="{FF2B5EF4-FFF2-40B4-BE49-F238E27FC236}">
                  <a16:creationId xmlns:a16="http://schemas.microsoft.com/office/drawing/2014/main" id="{620038CC-8113-448D-A9A9-E677E4347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13" y="3229815"/>
              <a:ext cx="4915239" cy="2728640"/>
            </a:xfrm>
            <a:prstGeom prst="rect">
              <a:avLst/>
            </a:prstGeom>
          </p:spPr>
        </p:pic>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8841F82-56E4-47B9-AB45-5CE6850167A5}"/>
                    </a:ext>
                  </a:extLst>
                </p:cNvPr>
                <p:cNvSpPr txBox="1"/>
                <p:nvPr/>
              </p:nvSpPr>
              <p:spPr>
                <a:xfrm>
                  <a:off x="3164002" y="4881154"/>
                  <a:ext cx="3713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35" name="文字方塊 34">
                  <a:extLst>
                    <a:ext uri="{FF2B5EF4-FFF2-40B4-BE49-F238E27FC236}">
                      <a16:creationId xmlns:a16="http://schemas.microsoft.com/office/drawing/2014/main" id="{A8841F82-56E4-47B9-AB45-5CE6850167A5}"/>
                    </a:ext>
                  </a:extLst>
                </p:cNvPr>
                <p:cNvSpPr txBox="1">
                  <a:spLocks noRot="1" noChangeAspect="1" noMove="1" noResize="1" noEditPoints="1" noAdjustHandles="1" noChangeArrowheads="1" noChangeShapeType="1" noTextEdit="1"/>
                </p:cNvSpPr>
                <p:nvPr/>
              </p:nvSpPr>
              <p:spPr>
                <a:xfrm>
                  <a:off x="3164002" y="4881154"/>
                  <a:ext cx="371319" cy="307777"/>
                </a:xfrm>
                <a:prstGeom prst="rect">
                  <a:avLst/>
                </a:prstGeom>
                <a:blipFill>
                  <a:blip r:embed="rId4"/>
                  <a:stretch>
                    <a:fillRect l="-21569" r="-15686"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25867ADF-9FE3-4DDA-BA6D-91864B187AB7}"/>
                    </a:ext>
                  </a:extLst>
                </p:cNvPr>
                <p:cNvSpPr txBox="1"/>
                <p:nvPr/>
              </p:nvSpPr>
              <p:spPr>
                <a:xfrm rot="17246780">
                  <a:off x="2176941" y="5350361"/>
                  <a:ext cx="705086"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6" name="文字方塊 35">
                  <a:extLst>
                    <a:ext uri="{FF2B5EF4-FFF2-40B4-BE49-F238E27FC236}">
                      <a16:creationId xmlns:a16="http://schemas.microsoft.com/office/drawing/2014/main" id="{25867ADF-9FE3-4DDA-BA6D-91864B187AB7}"/>
                    </a:ext>
                  </a:extLst>
                </p:cNvPr>
                <p:cNvSpPr txBox="1">
                  <a:spLocks noRot="1" noChangeAspect="1" noMove="1" noResize="1" noEditPoints="1" noAdjustHandles="1" noChangeArrowheads="1" noChangeShapeType="1" noTextEdit="1"/>
                </p:cNvSpPr>
                <p:nvPr/>
              </p:nvSpPr>
              <p:spPr>
                <a:xfrm rot="17246780">
                  <a:off x="2176941" y="5350361"/>
                  <a:ext cx="705086" cy="639264"/>
                </a:xfrm>
                <a:prstGeom prst="rect">
                  <a:avLst/>
                </a:prstGeom>
                <a:blipFill>
                  <a:blip r:embed="rId5"/>
                  <a:stretch>
                    <a:fillRect r="-274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9BFE79E-3A7C-4122-A6B7-6B23DF8CC74D}"/>
                    </a:ext>
                  </a:extLst>
                </p:cNvPr>
                <p:cNvSpPr txBox="1"/>
                <p:nvPr/>
              </p:nvSpPr>
              <p:spPr>
                <a:xfrm rot="15057989">
                  <a:off x="4737796" y="5708593"/>
                  <a:ext cx="705086"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7" name="文字方塊 36">
                  <a:extLst>
                    <a:ext uri="{FF2B5EF4-FFF2-40B4-BE49-F238E27FC236}">
                      <a16:creationId xmlns:a16="http://schemas.microsoft.com/office/drawing/2014/main" id="{49BFE79E-3A7C-4122-A6B7-6B23DF8CC74D}"/>
                    </a:ext>
                  </a:extLst>
                </p:cNvPr>
                <p:cNvSpPr txBox="1">
                  <a:spLocks noRot="1" noChangeAspect="1" noMove="1" noResize="1" noEditPoints="1" noAdjustHandles="1" noChangeArrowheads="1" noChangeShapeType="1" noTextEdit="1"/>
                </p:cNvSpPr>
                <p:nvPr/>
              </p:nvSpPr>
              <p:spPr>
                <a:xfrm rot="15057989">
                  <a:off x="4737796" y="5708593"/>
                  <a:ext cx="705086" cy="651608"/>
                </a:xfrm>
                <a:prstGeom prst="rect">
                  <a:avLst/>
                </a:prstGeom>
                <a:blipFill>
                  <a:blip r:embed="rId6"/>
                  <a:stretch>
                    <a:fillRect r="-284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1A8EAFC9-9D24-4590-BA5B-D92DF6510E35}"/>
                    </a:ext>
                  </a:extLst>
                </p:cNvPr>
                <p:cNvSpPr txBox="1"/>
                <p:nvPr/>
              </p:nvSpPr>
              <p:spPr>
                <a:xfrm rot="10800000">
                  <a:off x="396898" y="3839932"/>
                  <a:ext cx="64955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1A8EAFC9-9D24-4590-BA5B-D92DF6510E35}"/>
                    </a:ext>
                  </a:extLst>
                </p:cNvPr>
                <p:cNvSpPr txBox="1">
                  <a:spLocks noRot="1" noChangeAspect="1" noMove="1" noResize="1" noEditPoints="1" noAdjustHandles="1" noChangeArrowheads="1" noChangeShapeType="1" noTextEdit="1"/>
                </p:cNvSpPr>
                <p:nvPr/>
              </p:nvSpPr>
              <p:spPr>
                <a:xfrm rot="10800000">
                  <a:off x="396898" y="3839932"/>
                  <a:ext cx="649556" cy="657112"/>
                </a:xfrm>
                <a:prstGeom prst="rect">
                  <a:avLst/>
                </a:prstGeom>
                <a:blipFill>
                  <a:blip r:embed="rId7"/>
                  <a:stretch>
                    <a:fillRect t="-60714"/>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1A412FBE-352D-4C9D-B3A0-E35F79ED3EE9}"/>
              </a:ext>
            </a:extLst>
          </p:cNvPr>
          <p:cNvGrpSpPr/>
          <p:nvPr/>
        </p:nvGrpSpPr>
        <p:grpSpPr>
          <a:xfrm>
            <a:off x="297327" y="702107"/>
            <a:ext cx="3294235" cy="3488544"/>
            <a:chOff x="6594516" y="616934"/>
            <a:chExt cx="4366518" cy="4609577"/>
          </a:xfrm>
        </p:grpSpPr>
        <p:pic>
          <p:nvPicPr>
            <p:cNvPr id="41" name="圖片 40">
              <a:extLst>
                <a:ext uri="{FF2B5EF4-FFF2-40B4-BE49-F238E27FC236}">
                  <a16:creationId xmlns:a16="http://schemas.microsoft.com/office/drawing/2014/main" id="{7643EFF0-EF53-44FD-B6BD-A4FF0F2DB2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84836" y="616934"/>
              <a:ext cx="3776198" cy="4160710"/>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B5FE4D8-C0B9-4FA9-9D9F-BDA38D9BCFF3}"/>
                    </a:ext>
                  </a:extLst>
                </p:cNvPr>
                <p:cNvSpPr txBox="1"/>
                <p:nvPr/>
              </p:nvSpPr>
              <p:spPr>
                <a:xfrm>
                  <a:off x="9744914" y="2006098"/>
                  <a:ext cx="3713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2" name="文字方塊 41">
                  <a:extLst>
                    <a:ext uri="{FF2B5EF4-FFF2-40B4-BE49-F238E27FC236}">
                      <a16:creationId xmlns:a16="http://schemas.microsoft.com/office/drawing/2014/main" id="{3B5FE4D8-C0B9-4FA9-9D9F-BDA38D9BCFF3}"/>
                    </a:ext>
                  </a:extLst>
                </p:cNvPr>
                <p:cNvSpPr txBox="1">
                  <a:spLocks noRot="1" noChangeAspect="1" noMove="1" noResize="1" noEditPoints="1" noAdjustHandles="1" noChangeArrowheads="1" noChangeShapeType="1" noTextEdit="1"/>
                </p:cNvSpPr>
                <p:nvPr/>
              </p:nvSpPr>
              <p:spPr>
                <a:xfrm>
                  <a:off x="9744914" y="2006098"/>
                  <a:ext cx="371318" cy="307777"/>
                </a:xfrm>
                <a:prstGeom prst="rect">
                  <a:avLst/>
                </a:prstGeom>
                <a:blipFill>
                  <a:blip r:embed="rId9"/>
                  <a:stretch>
                    <a:fillRect l="-23913" r="-30435" b="-3157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F8310A4-B91C-4F74-9375-16BA041101E2}"/>
                    </a:ext>
                  </a:extLst>
                </p:cNvPr>
                <p:cNvSpPr txBox="1"/>
                <p:nvPr/>
              </p:nvSpPr>
              <p:spPr>
                <a:xfrm rot="17628762">
                  <a:off x="7844586" y="4147524"/>
                  <a:ext cx="726601"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800" b="1" dirty="0"/>
                </a:p>
              </p:txBody>
            </p:sp>
          </mc:Choice>
          <mc:Fallback xmlns="">
            <p:sp>
              <p:nvSpPr>
                <p:cNvPr id="43" name="文字方塊 42">
                  <a:extLst>
                    <a:ext uri="{FF2B5EF4-FFF2-40B4-BE49-F238E27FC236}">
                      <a16:creationId xmlns:a16="http://schemas.microsoft.com/office/drawing/2014/main" id="{7F8310A4-B91C-4F74-9375-16BA041101E2}"/>
                    </a:ext>
                  </a:extLst>
                </p:cNvPr>
                <p:cNvSpPr txBox="1">
                  <a:spLocks noRot="1" noChangeAspect="1" noMove="1" noResize="1" noEditPoints="1" noAdjustHandles="1" noChangeArrowheads="1" noChangeShapeType="1" noTextEdit="1"/>
                </p:cNvSpPr>
                <p:nvPr/>
              </p:nvSpPr>
              <p:spPr>
                <a:xfrm rot="17628762">
                  <a:off x="7844586" y="4147524"/>
                  <a:ext cx="726601" cy="639264"/>
                </a:xfrm>
                <a:prstGeom prst="rect">
                  <a:avLst/>
                </a:prstGeom>
                <a:blipFill>
                  <a:blip r:embed="rId10"/>
                  <a:stretch>
                    <a:fillRect r="-3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8BAC9FB-C928-45AA-BB1D-7C942F2E9BD7}"/>
                    </a:ext>
                  </a:extLst>
                </p:cNvPr>
                <p:cNvSpPr txBox="1"/>
                <p:nvPr/>
              </p:nvSpPr>
              <p:spPr>
                <a:xfrm rot="14663048">
                  <a:off x="10195013" y="4537407"/>
                  <a:ext cx="726601"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4" name="文字方塊 43">
                  <a:extLst>
                    <a:ext uri="{FF2B5EF4-FFF2-40B4-BE49-F238E27FC236}">
                      <a16:creationId xmlns:a16="http://schemas.microsoft.com/office/drawing/2014/main" id="{48BAC9FB-C928-45AA-BB1D-7C942F2E9BD7}"/>
                    </a:ext>
                  </a:extLst>
                </p:cNvPr>
                <p:cNvSpPr txBox="1">
                  <a:spLocks noRot="1" noChangeAspect="1" noMove="1" noResize="1" noEditPoints="1" noAdjustHandles="1" noChangeArrowheads="1" noChangeShapeType="1" noTextEdit="1"/>
                </p:cNvSpPr>
                <p:nvPr/>
              </p:nvSpPr>
              <p:spPr>
                <a:xfrm rot="14663048">
                  <a:off x="10195013" y="4537407"/>
                  <a:ext cx="726601" cy="651608"/>
                </a:xfrm>
                <a:prstGeom prst="rect">
                  <a:avLst/>
                </a:prstGeom>
                <a:blipFill>
                  <a:blip r:embed="rId11"/>
                  <a:stretch>
                    <a:fillRect r="-330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115A48E0-B25B-46D6-82BC-8D6C6D813F3C}"/>
                    </a:ext>
                  </a:extLst>
                </p:cNvPr>
                <p:cNvSpPr txBox="1"/>
                <p:nvPr/>
              </p:nvSpPr>
              <p:spPr>
                <a:xfrm rot="10800000">
                  <a:off x="6594516" y="2191129"/>
                  <a:ext cx="72888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5" name="文字方塊 44">
                  <a:extLst>
                    <a:ext uri="{FF2B5EF4-FFF2-40B4-BE49-F238E27FC236}">
                      <a16:creationId xmlns:a16="http://schemas.microsoft.com/office/drawing/2014/main" id="{115A48E0-B25B-46D6-82BC-8D6C6D813F3C}"/>
                    </a:ext>
                  </a:extLst>
                </p:cNvPr>
                <p:cNvSpPr txBox="1">
                  <a:spLocks noRot="1" noChangeAspect="1" noMove="1" noResize="1" noEditPoints="1" noAdjustHandles="1" noChangeArrowheads="1" noChangeShapeType="1" noTextEdit="1"/>
                </p:cNvSpPr>
                <p:nvPr/>
              </p:nvSpPr>
              <p:spPr>
                <a:xfrm rot="10800000">
                  <a:off x="6594516" y="2191129"/>
                  <a:ext cx="728886" cy="657112"/>
                </a:xfrm>
                <a:prstGeom prst="rect">
                  <a:avLst/>
                </a:prstGeom>
                <a:blipFill>
                  <a:blip r:embed="rId12"/>
                  <a:stretch>
                    <a:fillRect t="-66667"/>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902F27FE-532D-4F21-B3F5-01378DF215E9}"/>
                  </a:ext>
                </a:extLst>
              </p:cNvPr>
              <p:cNvSpPr txBox="1"/>
              <p:nvPr/>
            </p:nvSpPr>
            <p:spPr>
              <a:xfrm>
                <a:off x="4897250" y="851392"/>
                <a:ext cx="6861955" cy="3416320"/>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how the Hall sensors on the upper and lower magnetic poles detect the magnetic field. The figures show that the Hall sensors measure the stray magnetic field emanating from the magnetic poles.</a:t>
                </a:r>
              </a:p>
              <a:p>
                <a:endParaRPr lang="en-US" altLang="zh-TW" dirty="0"/>
              </a:p>
              <a:p>
                <a:pPr marL="285750" indent="-285750">
                  <a:buFont typeface="Arial" panose="020B0604020202020204" pitchFamily="34" charset="0"/>
                  <a:buChar char="•"/>
                </a:pPr>
                <a:r>
                  <a:rPr lang="en-US" altLang="zh-TW" dirty="0"/>
                  <a:t>Value determination method: 10,000 points are interpolated within the sensing region to obtain the magnetic-field measurements, which are then multiplied by the sensor sensitivity 130</a:t>
                </a:r>
                <a14:m>
                  <m:oMath xmlns:m="http://schemas.openxmlformats.org/officeDocument/2006/math">
                    <m:f>
                      <m:fPr>
                        <m:type m:val="skw"/>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𝑚𝑉</m:t>
                        </m:r>
                      </m:den>
                    </m:f>
                  </m:oMath>
                </a14:m>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upper figure shows the upper magnetic poles, while the lower figure shows the lower magnetic poles.</a:t>
                </a:r>
              </a:p>
              <a:p>
                <a:pPr marL="285750" indent="-285750">
                  <a:buFont typeface="Arial" panose="020B0604020202020204" pitchFamily="34" charset="0"/>
                  <a:buChar char="•"/>
                </a:pPr>
                <a:endParaRPr lang="zh-TW" altLang="en-US" dirty="0"/>
              </a:p>
            </p:txBody>
          </p:sp>
        </mc:Choice>
        <mc:Fallback>
          <p:sp>
            <p:nvSpPr>
              <p:cNvPr id="20" name="文字方塊 19">
                <a:extLst>
                  <a:ext uri="{FF2B5EF4-FFF2-40B4-BE49-F238E27FC236}">
                    <a16:creationId xmlns:a16="http://schemas.microsoft.com/office/drawing/2014/main" id="{902F27FE-532D-4F21-B3F5-01378DF215E9}"/>
                  </a:ext>
                </a:extLst>
              </p:cNvPr>
              <p:cNvSpPr txBox="1">
                <a:spLocks noRot="1" noChangeAspect="1" noMove="1" noResize="1" noEditPoints="1" noAdjustHandles="1" noChangeArrowheads="1" noChangeShapeType="1" noTextEdit="1"/>
              </p:cNvSpPr>
              <p:nvPr/>
            </p:nvSpPr>
            <p:spPr>
              <a:xfrm>
                <a:off x="4897250" y="851392"/>
                <a:ext cx="6861955" cy="3416320"/>
              </a:xfrm>
              <a:prstGeom prst="rect">
                <a:avLst/>
              </a:prstGeom>
              <a:blipFill>
                <a:blip r:embed="rId13"/>
                <a:stretch>
                  <a:fillRect l="-533" t="-10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78982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3"/>
                <a:stretch>
                  <a:fillRect t="-13208" r="-3802" b="-226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5937A70-2AF7-49C4-BF96-1145B0A1CBC6}"/>
                  </a:ext>
                </a:extLst>
              </p:cNvPr>
              <p:cNvSpPr txBox="1"/>
              <p:nvPr/>
            </p:nvSpPr>
            <p:spPr>
              <a:xfrm>
                <a:off x="93132" y="841282"/>
                <a:ext cx="8898468" cy="1519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254.3711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27.8144</m:t>
                                      </m:r>
                                    </m:e>
                                    <m:e>
                                      <m:r>
                                        <a:rPr lang="en-US" altLang="zh-TW" b="0" i="1" smtClean="0">
                                          <a:latin typeface="Cambria Math" panose="02040503050406030204" pitchFamily="18" charset="0"/>
                                        </a:rPr>
                                        <m:t>−237.7280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225.7421</m:t>
                                            </m:r>
                                          </m:e>
                                          <m:e>
                                            <m:r>
                                              <a:rPr lang="en-US" altLang="zh-TW" b="0" i="1" smtClean="0">
                                                <a:latin typeface="Cambria Math" panose="02040503050406030204" pitchFamily="18" charset="0"/>
                                              </a:rPr>
                                              <m:t>−222.8595</m:t>
                                            </m:r>
                                          </m:e>
                                          <m:e>
                                            <m:r>
                                              <a:rPr lang="en-US" altLang="zh-TW" b="0" i="1" smtClean="0">
                                                <a:latin typeface="Cambria Math" panose="02040503050406030204" pitchFamily="18" charset="0"/>
                                              </a:rPr>
                                              <m:t>−243.5373</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28.3864</m:t>
                                      </m:r>
                                    </m:e>
                                  </m:mr>
                                  <m:mr>
                                    <m:e>
                                      <m:r>
                                        <a:rPr lang="en-US" altLang="zh-TW" b="0" i="1" smtClean="0">
                                          <a:latin typeface="Cambria Math" panose="02040503050406030204" pitchFamily="18" charset="0"/>
                                        </a:rPr>
                                        <m:t>−235.7907</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197.9571</m:t>
                                            </m:r>
                                          </m:e>
                                        </m:mr>
                                        <m:mr>
                                          <m:e>
                                            <m:r>
                                              <a:rPr lang="en-US" altLang="zh-TW" b="0" i="1" smtClean="0">
                                                <a:latin typeface="Cambria Math" panose="02040503050406030204" pitchFamily="18" charset="0"/>
                                              </a:rPr>
                                              <m:t>−211.3258</m:t>
                                            </m:r>
                                          </m:e>
                                        </m:mr>
                                        <m:mr>
                                          <m:e>
                                            <m:r>
                                              <a:rPr lang="en-US" altLang="zh-TW" b="0" i="1" smtClean="0">
                                                <a:latin typeface="Cambria Math" panose="02040503050406030204" pitchFamily="18" charset="0"/>
                                              </a:rPr>
                                              <m:t>−236.9972</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366.79</m:t>
                                            </m:r>
                                          </m:e>
                                          <m:e>
                                            <m:r>
                                              <a:rPr lang="en-US" altLang="zh-TW" b="0" i="1" smtClean="0">
                                                <a:latin typeface="Cambria Math" panose="02040503050406030204" pitchFamily="18" charset="0"/>
                                              </a:rPr>
                                              <m:t>−208.3109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403.5921</m:t>
                                                  </m:r>
                                                </m:e>
                                                <m:e>
                                                  <m:r>
                                                    <a:rPr lang="en-US" altLang="zh-TW" b="0" i="1" smtClean="0">
                                                      <a:latin typeface="Cambria Math" panose="02040503050406030204" pitchFamily="18" charset="0"/>
                                                    </a:rPr>
                                                    <m:t>−415.1127</m:t>
                                                  </m:r>
                                                </m:e>
                                                <m:e>
                                                  <m:r>
                                                    <a:rPr lang="en-US" altLang="zh-TW" b="0" i="1" smtClean="0">
                                                      <a:latin typeface="Cambria Math" panose="02040503050406030204" pitchFamily="18" charset="0"/>
                                                    </a:rPr>
                                                    <m:t>−208.8316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228.1157</m:t>
                                            </m:r>
                                          </m:e>
                                          <m:e>
                                            <m:r>
                                              <a:rPr lang="en-US" altLang="zh-TW" b="0" i="1" smtClean="0">
                                                <a:latin typeface="Cambria Math" panose="02040503050406030204" pitchFamily="18" charset="0"/>
                                              </a:rPr>
                                              <m:t>1247.9226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27.0775</m:t>
                                                  </m:r>
                                                </m:e>
                                                <m:e>
                                                  <m:r>
                                                    <a:rPr lang="en-US" altLang="zh-TW" b="0" i="1" smtClean="0">
                                                      <a:latin typeface="Cambria Math" panose="02040503050406030204" pitchFamily="18" charset="0"/>
                                                    </a:rPr>
                                                    <m:t>−224.5206</m:t>
                                                  </m:r>
                                                </m:e>
                                                <m:e>
                                                  <m:r>
                                                    <a:rPr lang="en-US" altLang="zh-TW" b="0" i="1" smtClean="0">
                                                      <a:latin typeface="Cambria Math" panose="02040503050406030204" pitchFamily="18" charset="0"/>
                                                    </a:rPr>
                                                    <m:t>−237.9225</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421.8811</m:t>
                                                  </m:r>
                                                </m:e>
                                                <m:e>
                                                  <m:r>
                                                    <a:rPr lang="en-US" altLang="zh-TW" b="0" i="1" smtClean="0">
                                                      <a:latin typeface="Cambria Math" panose="02040503050406030204" pitchFamily="18" charset="0"/>
                                                    </a:rPr>
                                                    <m:t>−29.2698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341.5584</m:t>
                                                        </m:r>
                                                      </m:e>
                                                      <m:e>
                                                        <m:r>
                                                          <a:rPr lang="en-US" altLang="zh-TW" b="0" i="1" smtClean="0">
                                                            <a:latin typeface="Cambria Math" panose="02040503050406030204" pitchFamily="18" charset="0"/>
                                                          </a:rPr>
                                                          <m:t>−411.6972</m:t>
                                                        </m:r>
                                                      </m:e>
                                                      <m:e>
                                                        <m:r>
                                                          <a:rPr lang="en-US" altLang="zh-TW" b="0" i="1" smtClean="0">
                                                            <a:latin typeface="Cambria Math" panose="02040503050406030204" pitchFamily="18" charset="0"/>
                                                          </a:rPr>
                                                          <m:t>−214.5408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415.6079</m:t>
                                                  </m:r>
                                                </m:e>
                                                <m:e>
                                                  <m:r>
                                                    <a:rPr lang="en-US" altLang="zh-TW" b="0" i="1" smtClean="0">
                                                      <a:latin typeface="Cambria Math" panose="02040503050406030204" pitchFamily="18" charset="0"/>
                                                    </a:rPr>
                                                    <m:t>−210.3259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397.1117</m:t>
                                                        </m:r>
                                                      </m:e>
                                                      <m:e>
                                                        <m:r>
                                                          <a:rPr lang="en-US" altLang="zh-TW" b="0" i="1" smtClean="0">
                                                            <a:latin typeface="Cambria Math" panose="02040503050406030204" pitchFamily="18" charset="0"/>
                                                          </a:rPr>
                                                          <m:t>1341.3169</m:t>
                                                        </m:r>
                                                      </m:e>
                                                      <m:e>
                                                        <m:r>
                                                          <a:rPr lang="en-US" altLang="zh-TW" b="0" i="1" smtClean="0">
                                                            <a:latin typeface="Cambria Math" panose="02040503050406030204" pitchFamily="18" charset="0"/>
                                                          </a:rPr>
                                                          <m:t>−26.8874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223.2073</m:t>
                                                  </m:r>
                                                </m:e>
                                                <m:e>
                                                  <m:r>
                                                    <a:rPr lang="en-US" altLang="zh-TW" b="0" i="1" smtClean="0">
                                                      <a:latin typeface="Cambria Math" panose="02040503050406030204" pitchFamily="18" charset="0"/>
                                                    </a:rPr>
                                                    <m:t>−236.6926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229.0166</m:t>
                                                        </m:r>
                                                      </m:e>
                                                      <m:e>
                                                        <m:r>
                                                          <a:rPr lang="en-US" altLang="zh-TW" b="0" i="1" smtClean="0">
                                                            <a:latin typeface="Cambria Math" panose="02040503050406030204" pitchFamily="18" charset="0"/>
                                                          </a:rPr>
                                                          <m:t>−27.9723</m:t>
                                                        </m:r>
                                                      </m:e>
                                                      <m:e>
                                                        <m:r>
                                                          <a:rPr lang="en-US" altLang="zh-TW" b="0" i="1" smtClean="0">
                                                            <a:latin typeface="Cambria Math" panose="02040503050406030204" pitchFamily="18" charset="0"/>
                                                          </a:rPr>
                                                          <m:t>1242.7215</m:t>
                                                        </m:r>
                                                      </m:e>
                                                    </m:mr>
                                                  </m:m>
                                                </m:e>
                                              </m:mr>
                                            </m:m>
                                          </m:e>
                                        </m:mr>
                                      </m:m>
                                    </m:e>
                                  </m:mr>
                                </m:m>
                              </m:e>
                            </m:mr>
                          </m:m>
                        </m:e>
                      </m:d>
                      <m:r>
                        <a:rPr lang="en-US" altLang="zh-TW" b="0" i="1" smtClean="0">
                          <a:latin typeface="Cambria Math" panose="02040503050406030204" pitchFamily="18" charset="0"/>
                        </a:rPr>
                        <m:t>(</m:t>
                      </m:r>
                      <m:r>
                        <a:rPr lang="en-US" altLang="zh-TW" b="0" i="1" smtClean="0">
                          <a:latin typeface="Cambria Math" panose="02040503050406030204" pitchFamily="18" charset="0"/>
                        </a:rPr>
                        <m:t>𝑚𝑉</m:t>
                      </m:r>
                      <m:r>
                        <a:rPr lang="en-US" altLang="zh-TW" b="0" i="1" smtClean="0">
                          <a:latin typeface="Cambria Math" panose="02040503050406030204" pitchFamily="18" charset="0"/>
                        </a:rPr>
                        <m:t>)</m:t>
                      </m:r>
                    </m:oMath>
                  </m:oMathPara>
                </a14:m>
                <a:endParaRPr lang="zh-TW" altLang="en-US" dirty="0"/>
              </a:p>
            </p:txBody>
          </p:sp>
        </mc:Choice>
        <mc:Fallback xmlns="">
          <p:sp>
            <p:nvSpPr>
              <p:cNvPr id="18" name="文字方塊 17">
                <a:extLst>
                  <a:ext uri="{FF2B5EF4-FFF2-40B4-BE49-F238E27FC236}">
                    <a16:creationId xmlns:a16="http://schemas.microsoft.com/office/drawing/2014/main" id="{C5937A70-2AF7-49C4-BF96-1145B0A1CBC6}"/>
                  </a:ext>
                </a:extLst>
              </p:cNvPr>
              <p:cNvSpPr txBox="1">
                <a:spLocks noRot="1" noChangeAspect="1" noMove="1" noResize="1" noEditPoints="1" noAdjustHandles="1" noChangeArrowheads="1" noChangeShapeType="1" noTextEdit="1"/>
              </p:cNvSpPr>
              <p:nvPr/>
            </p:nvSpPr>
            <p:spPr>
              <a:xfrm>
                <a:off x="93132" y="841282"/>
                <a:ext cx="8898468" cy="151945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0" name="文字方塊 289">
                <a:extLst>
                  <a:ext uri="{FF2B5EF4-FFF2-40B4-BE49-F238E27FC236}">
                    <a16:creationId xmlns:a16="http://schemas.microsoft.com/office/drawing/2014/main" id="{25A58AA8-9131-48DA-B182-68647772A8BB}"/>
                  </a:ext>
                </a:extLst>
              </p:cNvPr>
              <p:cNvSpPr txBox="1"/>
              <p:nvPr/>
            </p:nvSpPr>
            <p:spPr>
              <a:xfrm>
                <a:off x="-993610" y="2682300"/>
                <a:ext cx="9147009" cy="15377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0.3724</m:t>
                                      </m:r>
                                    </m:e>
                                    <m:e>
                                      <m:r>
                                        <a:rPr lang="en-US" altLang="zh-TW" b="0" i="1" smtClean="0">
                                          <a:latin typeface="Cambria Math" panose="02040503050406030204" pitchFamily="18" charset="0"/>
                                        </a:rPr>
                                        <m:t>−0.1463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0.3088</m:t>
                                            </m:r>
                                          </m:e>
                                          <m:e>
                                            <m:r>
                                              <a:rPr lang="en-US" altLang="zh-TW" b="0" i="1" smtClean="0">
                                                <a:latin typeface="Cambria Math" panose="02040503050406030204" pitchFamily="18" charset="0"/>
                                              </a:rPr>
                                              <m:t>−0.3148</m:t>
                                            </m:r>
                                          </m:e>
                                          <m:e>
                                            <m:r>
                                              <a:rPr lang="en-US" altLang="zh-TW" b="0" i="1" smtClean="0">
                                                <a:latin typeface="Cambria Math" panose="02040503050406030204" pitchFamily="18" charset="0"/>
                                              </a:rPr>
                                              <m:t>−0.1432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0.1039</m:t>
                                      </m:r>
                                    </m:e>
                                  </m:mr>
                                  <m:mr>
                                    <m:e>
                                      <m:r>
                                        <a:rPr lang="en-US" altLang="zh-TW" b="0" i="1" smtClean="0">
                                          <a:latin typeface="Cambria Math" panose="02040503050406030204" pitchFamily="18" charset="0"/>
                                        </a:rPr>
                                        <m:t>−0.1418</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0.0552</m:t>
                                            </m:r>
                                          </m:e>
                                        </m:mr>
                                        <m:mr>
                                          <m:e>
                                            <m:r>
                                              <a:rPr lang="en-US" altLang="zh-TW" b="0" i="1" smtClean="0">
                                                <a:latin typeface="Cambria Math" panose="02040503050406030204" pitchFamily="18" charset="0"/>
                                              </a:rPr>
                                              <m:t>−0.0557</m:t>
                                            </m:r>
                                          </m:e>
                                        </m:mr>
                                        <m:mr>
                                          <m:e>
                                            <m:r>
                                              <a:rPr lang="en-US" altLang="zh-TW" b="0" i="1" smtClean="0">
                                                <a:latin typeface="Cambria Math" panose="02040503050406030204" pitchFamily="18" charset="0"/>
                                              </a:rPr>
                                              <m:t>−0.1375</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.0103</m:t>
                                            </m:r>
                                          </m:e>
                                          <m:e>
                                            <m:r>
                                              <a:rPr lang="en-US" altLang="zh-TW" b="0" i="1" smtClean="0">
                                                <a:latin typeface="Cambria Math" panose="02040503050406030204" pitchFamily="18" charset="0"/>
                                              </a:rPr>
                                              <m:t>−0.0704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.1955</m:t>
                                                  </m:r>
                                                </m:e>
                                                <m:e>
                                                  <m:r>
                                                    <a:rPr lang="en-US" altLang="zh-TW" b="0" i="1" smtClean="0">
                                                      <a:latin typeface="Cambria Math" panose="02040503050406030204" pitchFamily="18" charset="0"/>
                                                    </a:rPr>
                                                    <m:t>0.2044</m:t>
                                                  </m:r>
                                                </m:e>
                                                <m:e>
                                                  <m:r>
                                                    <a:rPr lang="en-US" altLang="zh-TW" b="0" i="1" smtClean="0">
                                                      <a:latin typeface="Cambria Math" panose="02040503050406030204" pitchFamily="18" charset="0"/>
                                                    </a:rPr>
                                                    <m:t>−0.0714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0.3078</m:t>
                                            </m:r>
                                          </m:e>
                                          <m:e>
                                            <m:r>
                                              <a:rPr lang="en-US" altLang="zh-TW" b="0" i="1" smtClean="0">
                                                <a:latin typeface="Cambria Math" panose="02040503050406030204" pitchFamily="18" charset="0"/>
                                              </a:rPr>
                                              <m:t>0.8309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0.3688</m:t>
                                                  </m:r>
                                                </m:e>
                                                <m:e>
                                                  <m:r>
                                                    <a:rPr lang="en-US" altLang="zh-TW" b="0" i="1" smtClean="0">
                                                      <a:latin typeface="Cambria Math" panose="02040503050406030204" pitchFamily="18" charset="0"/>
                                                    </a:rPr>
                                                    <m:t>−0.3111</m:t>
                                                  </m:r>
                                                </m:e>
                                                <m:e>
                                                  <m:r>
                                                    <a:rPr lang="en-US" altLang="zh-TW" b="0" i="1" smtClean="0">
                                                      <a:latin typeface="Cambria Math" panose="02040503050406030204" pitchFamily="18" charset="0"/>
                                                    </a:rPr>
                                                    <m:t>−0.1461</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.2426</m:t>
                                                  </m:r>
                                                </m:e>
                                                <m:e>
                                                  <m:r>
                                                    <a:rPr lang="en-US" altLang="zh-TW" b="0" i="1" smtClean="0">
                                                      <a:latin typeface="Cambria Math" panose="02040503050406030204" pitchFamily="18" charset="0"/>
                                                    </a:rPr>
                                                    <m:t>−0.0823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.0618</m:t>
                                                        </m:r>
                                                      </m:e>
                                                      <m:e>
                                                        <m:r>
                                                          <a:rPr lang="en-US" altLang="zh-TW" b="0" i="1" smtClean="0">
                                                            <a:latin typeface="Cambria Math" panose="02040503050406030204" pitchFamily="18" charset="0"/>
                                                          </a:rPr>
                                                          <m:t>0.2387</m:t>
                                                        </m:r>
                                                      </m:e>
                                                      <m:e>
                                                        <m:r>
                                                          <a:rPr lang="en-US" altLang="zh-TW" b="0" i="1" smtClean="0">
                                                            <a:latin typeface="Cambria Math" panose="02040503050406030204" pitchFamily="18" charset="0"/>
                                                          </a:rPr>
                                                          <m:t>−0.0450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.2242</m:t>
                                                  </m:r>
                                                </m:e>
                                                <m:e>
                                                  <m:r>
                                                    <a:rPr lang="en-US" altLang="zh-TW" b="0" i="1" smtClean="0">
                                                      <a:latin typeface="Cambria Math" panose="02040503050406030204" pitchFamily="18" charset="0"/>
                                                    </a:rPr>
                                                    <m:t>−0.0543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.2134</m:t>
                                                        </m:r>
                                                      </m:e>
                                                      <m:e>
                                                        <m:r>
                                                          <a:rPr lang="en-US" altLang="zh-TW" b="0" i="1" smtClean="0">
                                                            <a:latin typeface="Cambria Math" panose="02040503050406030204" pitchFamily="18" charset="0"/>
                                                          </a:rPr>
                                                          <m:t>1.0486</m:t>
                                                        </m:r>
                                                      </m:e>
                                                      <m:e>
                                                        <m:r>
                                                          <a:rPr lang="en-US" altLang="zh-TW" b="0" i="1" smtClean="0">
                                                            <a:latin typeface="Cambria Math" panose="02040503050406030204" pitchFamily="18" charset="0"/>
                                                          </a:rPr>
                                                          <m:t>−0.0924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0.3061</m:t>
                                                  </m:r>
                                                </m:e>
                                                <m:e>
                                                  <m:r>
                                                    <a:rPr lang="en-US" altLang="zh-TW" b="0" i="1" smtClean="0">
                                                      <a:latin typeface="Cambria Math" panose="02040503050406030204" pitchFamily="18" charset="0"/>
                                                    </a:rPr>
                                                    <m:t>−0.1420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0.3006</m:t>
                                                        </m:r>
                                                      </m:e>
                                                      <m:e>
                                                        <m:r>
                                                          <a:rPr lang="en-US" altLang="zh-TW" b="0" i="1" smtClean="0">
                                                            <a:latin typeface="Cambria Math" panose="02040503050406030204" pitchFamily="18" charset="0"/>
                                                          </a:rPr>
                                                          <m:t>−0.3691</m:t>
                                                        </m:r>
                                                      </m:e>
                                                      <m:e>
                                                        <m:r>
                                                          <a:rPr lang="en-US" altLang="zh-TW" b="0" i="1" smtClean="0">
                                                            <a:latin typeface="Cambria Math" panose="02040503050406030204" pitchFamily="18" charset="0"/>
                                                          </a:rPr>
                                                          <m:t>0.8413</m:t>
                                                        </m:r>
                                                      </m:e>
                                                    </m:mr>
                                                  </m:m>
                                                </m:e>
                                              </m:mr>
                                            </m:m>
                                          </m:e>
                                        </m:mr>
                                      </m:m>
                                    </m:e>
                                  </m:mr>
                                </m:m>
                              </m:e>
                            </m:mr>
                          </m:m>
                        </m:e>
                      </m:d>
                    </m:oMath>
                  </m:oMathPara>
                </a14:m>
                <a:endParaRPr lang="zh-TW" altLang="en-US" dirty="0"/>
              </a:p>
            </p:txBody>
          </p:sp>
        </mc:Choice>
        <mc:Fallback xmlns="">
          <p:sp>
            <p:nvSpPr>
              <p:cNvPr id="290" name="文字方塊 289">
                <a:extLst>
                  <a:ext uri="{FF2B5EF4-FFF2-40B4-BE49-F238E27FC236}">
                    <a16:creationId xmlns:a16="http://schemas.microsoft.com/office/drawing/2014/main" id="{25A58AA8-9131-48DA-B182-68647772A8BB}"/>
                  </a:ext>
                </a:extLst>
              </p:cNvPr>
              <p:cNvSpPr txBox="1">
                <a:spLocks noRot="1" noChangeAspect="1" noMove="1" noResize="1" noEditPoints="1" noAdjustHandles="1" noChangeArrowheads="1" noChangeShapeType="1" noTextEdit="1"/>
              </p:cNvSpPr>
              <p:nvPr/>
            </p:nvSpPr>
            <p:spPr>
              <a:xfrm>
                <a:off x="-993610" y="2682300"/>
                <a:ext cx="9147009" cy="153772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3" name="文字方塊 292">
                <a:extLst>
                  <a:ext uri="{FF2B5EF4-FFF2-40B4-BE49-F238E27FC236}">
                    <a16:creationId xmlns:a16="http://schemas.microsoft.com/office/drawing/2014/main" id="{3E2A052A-2101-42E4-B7D3-D0CE85697002}"/>
                  </a:ext>
                </a:extLst>
              </p:cNvPr>
              <p:cNvSpPr txBox="1"/>
              <p:nvPr/>
            </p:nvSpPr>
            <p:spPr>
              <a:xfrm>
                <a:off x="93132" y="4468710"/>
                <a:ext cx="3080715"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r>
                            <a:rPr lang="en-US" altLang="zh-TW" b="0" i="1" smtClean="0">
                              <a:latin typeface="Cambria Math" panose="02040503050406030204" pitchFamily="18" charset="0"/>
                            </a:rPr>
                            <m:t>=7.156</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10</m:t>
                              </m:r>
                            </m:e>
                            <m:sup>
                              <m:r>
                                <a:rPr lang="en-US" altLang="zh-TW" b="0" i="1" smtClean="0">
                                  <a:latin typeface="Cambria Math" panose="02040503050406030204" pitchFamily="18" charset="0"/>
                                  <a:ea typeface="Cambria Math" panose="02040503050406030204" pitchFamily="18" charset="0"/>
                                </a:rPr>
                                <m:t>−3</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𝑚𝑉</m:t>
                          </m:r>
                        </m:e>
                      </m:sPre>
                      <m:r>
                        <a:rPr lang="en-US" altLang="zh-TW" b="0" i="1" smtClean="0">
                          <a:latin typeface="Cambria Math" panose="02040503050406030204" pitchFamily="18" charset="0"/>
                        </a:rPr>
                        <m:t>)</m:t>
                      </m:r>
                    </m:oMath>
                  </m:oMathPara>
                </a14:m>
                <a:endParaRPr lang="zh-TW" altLang="en-US" dirty="0"/>
              </a:p>
            </p:txBody>
          </p:sp>
        </mc:Choice>
        <mc:Fallback xmlns="">
          <p:sp>
            <p:nvSpPr>
              <p:cNvPr id="293" name="文字方塊 292">
                <a:extLst>
                  <a:ext uri="{FF2B5EF4-FFF2-40B4-BE49-F238E27FC236}">
                    <a16:creationId xmlns:a16="http://schemas.microsoft.com/office/drawing/2014/main" id="{3E2A052A-2101-42E4-B7D3-D0CE85697002}"/>
                  </a:ext>
                </a:extLst>
              </p:cNvPr>
              <p:cNvSpPr txBox="1">
                <a:spLocks noRot="1" noChangeAspect="1" noMove="1" noResize="1" noEditPoints="1" noAdjustHandles="1" noChangeArrowheads="1" noChangeShapeType="1" noTextEdit="1"/>
              </p:cNvSpPr>
              <p:nvPr/>
            </p:nvSpPr>
            <p:spPr>
              <a:xfrm>
                <a:off x="93132" y="4468710"/>
                <a:ext cx="3080715" cy="305340"/>
              </a:xfrm>
              <a:prstGeom prst="rect">
                <a:avLst/>
              </a:prstGeom>
              <a:blipFill>
                <a:blip r:embed="rId6"/>
                <a:stretch>
                  <a:fillRect t="-14000" r="-2372" b="-3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4" name="文字方塊 293">
                <a:extLst>
                  <a:ext uri="{FF2B5EF4-FFF2-40B4-BE49-F238E27FC236}">
                    <a16:creationId xmlns:a16="http://schemas.microsoft.com/office/drawing/2014/main" id="{AA5BE4FD-1934-4C48-A61B-ECBE6CFCF075}"/>
                  </a:ext>
                </a:extLst>
              </p:cNvPr>
              <p:cNvSpPr txBox="1"/>
              <p:nvPr/>
            </p:nvSpPr>
            <p:spPr>
              <a:xfrm>
                <a:off x="273159" y="5198352"/>
                <a:ext cx="4479240"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𝑅𝑀𝑆𝑃𝐸</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rPr>
                        <m:t>=0.31%</m:t>
                      </m:r>
                    </m:oMath>
                  </m:oMathPara>
                </a14:m>
                <a:endParaRPr lang="zh-TW" altLang="en-US" dirty="0"/>
              </a:p>
            </p:txBody>
          </p:sp>
        </mc:Choice>
        <mc:Fallback xmlns="">
          <p:sp>
            <p:nvSpPr>
              <p:cNvPr id="294" name="文字方塊 293">
                <a:extLst>
                  <a:ext uri="{FF2B5EF4-FFF2-40B4-BE49-F238E27FC236}">
                    <a16:creationId xmlns:a16="http://schemas.microsoft.com/office/drawing/2014/main" id="{AA5BE4FD-1934-4C48-A61B-ECBE6CFCF075}"/>
                  </a:ext>
                </a:extLst>
              </p:cNvPr>
              <p:cNvSpPr txBox="1">
                <a:spLocks noRot="1" noChangeAspect="1" noMove="1" noResize="1" noEditPoints="1" noAdjustHandles="1" noChangeArrowheads="1" noChangeShapeType="1" noTextEdit="1"/>
              </p:cNvSpPr>
              <p:nvPr/>
            </p:nvSpPr>
            <p:spPr>
              <a:xfrm>
                <a:off x="273159" y="5198352"/>
                <a:ext cx="4479240" cy="818366"/>
              </a:xfrm>
              <a:prstGeom prst="rect">
                <a:avLst/>
              </a:prstGeom>
              <a:blipFill>
                <a:blip r:embed="rId7"/>
                <a:stretch>
                  <a:fillRect/>
                </a:stretch>
              </a:blipFill>
            </p:spPr>
            <p:txBody>
              <a:bodyPr/>
              <a:lstStyle/>
              <a:p>
                <a:r>
                  <a:rPr lang="zh-TW" altLang="en-US">
                    <a:noFill/>
                  </a:rPr>
                  <a:t> </a:t>
                </a:r>
              </a:p>
            </p:txBody>
          </p:sp>
        </mc:Fallback>
      </mc:AlternateContent>
      <p:sp>
        <p:nvSpPr>
          <p:cNvPr id="295" name="文字方塊 294">
            <a:extLst>
              <a:ext uri="{FF2B5EF4-FFF2-40B4-BE49-F238E27FC236}">
                <a16:creationId xmlns:a16="http://schemas.microsoft.com/office/drawing/2014/main" id="{7AE0DD45-A85C-4DB1-9941-5445BDB7F27F}"/>
              </a:ext>
            </a:extLst>
          </p:cNvPr>
          <p:cNvSpPr txBox="1"/>
          <p:nvPr/>
        </p:nvSpPr>
        <p:spPr>
          <a:xfrm>
            <a:off x="5836503" y="4621380"/>
            <a:ext cx="4479240"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Voltage base fitting results</a:t>
            </a:r>
          </a:p>
          <a:p>
            <a:pPr marL="285750" indent="-285750">
              <a:buFont typeface="Arial" panose="020B0604020202020204" pitchFamily="34" charset="0"/>
              <a:buChar char="•"/>
            </a:pPr>
            <a:r>
              <a:rPr lang="en-US" altLang="zh-TW" dirty="0"/>
              <a:t>Idea model</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1036941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2"/>
                <a:stretch>
                  <a:fillRect t="-13208" r="-3802" b="-226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0" name="文字方塊 289">
                <a:extLst>
                  <a:ext uri="{FF2B5EF4-FFF2-40B4-BE49-F238E27FC236}">
                    <a16:creationId xmlns:a16="http://schemas.microsoft.com/office/drawing/2014/main" id="{25A58AA8-9131-48DA-B182-68647772A8BB}"/>
                  </a:ext>
                </a:extLst>
              </p:cNvPr>
              <p:cNvSpPr txBox="1"/>
              <p:nvPr/>
            </p:nvSpPr>
            <p:spPr>
              <a:xfrm>
                <a:off x="-254000" y="766646"/>
                <a:ext cx="291253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𝐺</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𝑉</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m:t>
                          </m:r>
                        </m:e>
                        <m:sup>
                          <m:r>
                            <a:rPr lang="en-US" altLang="zh-TW" b="0" i="1" smtClean="0">
                              <a:latin typeface="Cambria Math" panose="02040503050406030204" pitchFamily="18" charset="0"/>
                            </a:rPr>
                            <m:t>−1</m:t>
                          </m:r>
                        </m:sup>
                      </m:sSup>
                    </m:oMath>
                  </m:oMathPara>
                </a14:m>
                <a:endParaRPr lang="zh-TW" altLang="en-US" dirty="0"/>
              </a:p>
            </p:txBody>
          </p:sp>
        </mc:Choice>
        <mc:Fallback xmlns="">
          <p:sp>
            <p:nvSpPr>
              <p:cNvPr id="290" name="文字方塊 289">
                <a:extLst>
                  <a:ext uri="{FF2B5EF4-FFF2-40B4-BE49-F238E27FC236}">
                    <a16:creationId xmlns:a16="http://schemas.microsoft.com/office/drawing/2014/main" id="{25A58AA8-9131-48DA-B182-68647772A8BB}"/>
                  </a:ext>
                </a:extLst>
              </p:cNvPr>
              <p:cNvSpPr txBox="1">
                <a:spLocks noRot="1" noChangeAspect="1" noMove="1" noResize="1" noEditPoints="1" noAdjustHandles="1" noChangeArrowheads="1" noChangeShapeType="1" noTextEdit="1"/>
              </p:cNvSpPr>
              <p:nvPr/>
            </p:nvSpPr>
            <p:spPr>
              <a:xfrm>
                <a:off x="-254000" y="766646"/>
                <a:ext cx="2912532" cy="276999"/>
              </a:xfrm>
              <a:prstGeom prst="rect">
                <a:avLst/>
              </a:prstGeom>
              <a:blipFill>
                <a:blip r:embed="rId3"/>
                <a:stretch>
                  <a:fillRect t="-6667"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B3D44DB8-8F80-40F1-9057-2AC3A15FEC53}"/>
                  </a:ext>
                </a:extLst>
              </p:cNvPr>
              <p:cNvSpPr txBox="1"/>
              <p:nvPr/>
            </p:nvSpPr>
            <p:spPr>
              <a:xfrm>
                <a:off x="-942810" y="1102121"/>
                <a:ext cx="9147009" cy="15377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0.3724</m:t>
                                      </m:r>
                                    </m:e>
                                    <m:e>
                                      <m:r>
                                        <a:rPr lang="en-US" altLang="zh-TW" b="0" i="1" smtClean="0">
                                          <a:latin typeface="Cambria Math" panose="02040503050406030204" pitchFamily="18" charset="0"/>
                                        </a:rPr>
                                        <m:t>−0.1463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0.3088</m:t>
                                            </m:r>
                                          </m:e>
                                          <m:e>
                                            <m:r>
                                              <a:rPr lang="en-US" altLang="zh-TW" b="0" i="1" smtClean="0">
                                                <a:latin typeface="Cambria Math" panose="02040503050406030204" pitchFamily="18" charset="0"/>
                                              </a:rPr>
                                              <m:t>−0.3148</m:t>
                                            </m:r>
                                          </m:e>
                                          <m:e>
                                            <m:r>
                                              <a:rPr lang="en-US" altLang="zh-TW" b="0" i="1" smtClean="0">
                                                <a:latin typeface="Cambria Math" panose="02040503050406030204" pitchFamily="18" charset="0"/>
                                              </a:rPr>
                                              <m:t>−0.1432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0.1039</m:t>
                                      </m:r>
                                    </m:e>
                                  </m:mr>
                                  <m:mr>
                                    <m:e>
                                      <m:r>
                                        <a:rPr lang="en-US" altLang="zh-TW" b="0" i="1" smtClean="0">
                                          <a:latin typeface="Cambria Math" panose="02040503050406030204" pitchFamily="18" charset="0"/>
                                        </a:rPr>
                                        <m:t>−0.1418</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0.0552</m:t>
                                            </m:r>
                                          </m:e>
                                        </m:mr>
                                        <m:mr>
                                          <m:e>
                                            <m:r>
                                              <a:rPr lang="en-US" altLang="zh-TW" b="0" i="1" smtClean="0">
                                                <a:latin typeface="Cambria Math" panose="02040503050406030204" pitchFamily="18" charset="0"/>
                                              </a:rPr>
                                              <m:t>−0.0557</m:t>
                                            </m:r>
                                          </m:e>
                                        </m:mr>
                                        <m:mr>
                                          <m:e>
                                            <m:r>
                                              <a:rPr lang="en-US" altLang="zh-TW" b="0" i="1" smtClean="0">
                                                <a:latin typeface="Cambria Math" panose="02040503050406030204" pitchFamily="18" charset="0"/>
                                              </a:rPr>
                                              <m:t>−0.1375</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.0103</m:t>
                                            </m:r>
                                          </m:e>
                                          <m:e>
                                            <m:r>
                                              <a:rPr lang="en-US" altLang="zh-TW" b="0" i="1" smtClean="0">
                                                <a:latin typeface="Cambria Math" panose="02040503050406030204" pitchFamily="18" charset="0"/>
                                              </a:rPr>
                                              <m:t>−0.0704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.1955</m:t>
                                                  </m:r>
                                                </m:e>
                                                <m:e>
                                                  <m:r>
                                                    <a:rPr lang="en-US" altLang="zh-TW" b="0" i="1" smtClean="0">
                                                      <a:latin typeface="Cambria Math" panose="02040503050406030204" pitchFamily="18" charset="0"/>
                                                    </a:rPr>
                                                    <m:t>0.2044</m:t>
                                                  </m:r>
                                                </m:e>
                                                <m:e>
                                                  <m:r>
                                                    <a:rPr lang="en-US" altLang="zh-TW" b="0" i="1" smtClean="0">
                                                      <a:latin typeface="Cambria Math" panose="02040503050406030204" pitchFamily="18" charset="0"/>
                                                    </a:rPr>
                                                    <m:t>−0.0714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0.3078</m:t>
                                            </m:r>
                                          </m:e>
                                          <m:e>
                                            <m:r>
                                              <a:rPr lang="en-US" altLang="zh-TW" b="0" i="1" smtClean="0">
                                                <a:latin typeface="Cambria Math" panose="02040503050406030204" pitchFamily="18" charset="0"/>
                                              </a:rPr>
                                              <m:t>0.8309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0.3688</m:t>
                                                  </m:r>
                                                </m:e>
                                                <m:e>
                                                  <m:r>
                                                    <a:rPr lang="en-US" altLang="zh-TW" b="0" i="1" smtClean="0">
                                                      <a:latin typeface="Cambria Math" panose="02040503050406030204" pitchFamily="18" charset="0"/>
                                                    </a:rPr>
                                                    <m:t>−0.3111</m:t>
                                                  </m:r>
                                                </m:e>
                                                <m:e>
                                                  <m:r>
                                                    <a:rPr lang="en-US" altLang="zh-TW" b="0" i="1" smtClean="0">
                                                      <a:latin typeface="Cambria Math" panose="02040503050406030204" pitchFamily="18" charset="0"/>
                                                    </a:rPr>
                                                    <m:t>−0.1461</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.2426</m:t>
                                                  </m:r>
                                                </m:e>
                                                <m:e>
                                                  <m:r>
                                                    <a:rPr lang="en-US" altLang="zh-TW" b="0" i="1" smtClean="0">
                                                      <a:latin typeface="Cambria Math" panose="02040503050406030204" pitchFamily="18" charset="0"/>
                                                    </a:rPr>
                                                    <m:t>−0.0823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.0618</m:t>
                                                        </m:r>
                                                      </m:e>
                                                      <m:e>
                                                        <m:r>
                                                          <a:rPr lang="en-US" altLang="zh-TW" b="0" i="1" smtClean="0">
                                                            <a:latin typeface="Cambria Math" panose="02040503050406030204" pitchFamily="18" charset="0"/>
                                                          </a:rPr>
                                                          <m:t>0.2387</m:t>
                                                        </m:r>
                                                      </m:e>
                                                      <m:e>
                                                        <m:r>
                                                          <a:rPr lang="en-US" altLang="zh-TW" b="0" i="1" smtClean="0">
                                                            <a:latin typeface="Cambria Math" panose="02040503050406030204" pitchFamily="18" charset="0"/>
                                                          </a:rPr>
                                                          <m:t>−0.0450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.2242</m:t>
                                                  </m:r>
                                                </m:e>
                                                <m:e>
                                                  <m:r>
                                                    <a:rPr lang="en-US" altLang="zh-TW" b="0" i="1" smtClean="0">
                                                      <a:latin typeface="Cambria Math" panose="02040503050406030204" pitchFamily="18" charset="0"/>
                                                    </a:rPr>
                                                    <m:t>−0.0543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.2134</m:t>
                                                        </m:r>
                                                      </m:e>
                                                      <m:e>
                                                        <m:r>
                                                          <a:rPr lang="en-US" altLang="zh-TW" b="0" i="1" smtClean="0">
                                                            <a:latin typeface="Cambria Math" panose="02040503050406030204" pitchFamily="18" charset="0"/>
                                                          </a:rPr>
                                                          <m:t>1.0486</m:t>
                                                        </m:r>
                                                      </m:e>
                                                      <m:e>
                                                        <m:r>
                                                          <a:rPr lang="en-US" altLang="zh-TW" b="0" i="1" smtClean="0">
                                                            <a:latin typeface="Cambria Math" panose="02040503050406030204" pitchFamily="18" charset="0"/>
                                                          </a:rPr>
                                                          <m:t>−0.0924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0.3061</m:t>
                                                  </m:r>
                                                </m:e>
                                                <m:e>
                                                  <m:r>
                                                    <a:rPr lang="en-US" altLang="zh-TW" b="0" i="1" smtClean="0">
                                                      <a:latin typeface="Cambria Math" panose="02040503050406030204" pitchFamily="18" charset="0"/>
                                                    </a:rPr>
                                                    <m:t>−0.1420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0.3006</m:t>
                                                        </m:r>
                                                      </m:e>
                                                      <m:e>
                                                        <m:r>
                                                          <a:rPr lang="en-US" altLang="zh-TW" b="0" i="1" smtClean="0">
                                                            <a:latin typeface="Cambria Math" panose="02040503050406030204" pitchFamily="18" charset="0"/>
                                                          </a:rPr>
                                                          <m:t>−0.3691</m:t>
                                                        </m:r>
                                                      </m:e>
                                                      <m:e>
                                                        <m:r>
                                                          <a:rPr lang="en-US" altLang="zh-TW" b="0" i="1" smtClean="0">
                                                            <a:latin typeface="Cambria Math" panose="02040503050406030204" pitchFamily="18" charset="0"/>
                                                          </a:rPr>
                                                          <m:t>0.8413</m:t>
                                                        </m:r>
                                                      </m:e>
                                                    </m:mr>
                                                  </m:m>
                                                </m:e>
                                              </m:mr>
                                            </m:m>
                                          </m:e>
                                        </m:mr>
                                      </m:m>
                                    </m:e>
                                  </m:mr>
                                </m:m>
                              </m:e>
                            </m:mr>
                          </m:m>
                        </m:e>
                      </m:d>
                    </m:oMath>
                  </m:oMathPara>
                </a14:m>
                <a:endParaRPr lang="zh-TW" altLang="en-US" dirty="0"/>
              </a:p>
            </p:txBody>
          </p:sp>
        </mc:Choice>
        <mc:Fallback xmlns="">
          <p:sp>
            <p:nvSpPr>
              <p:cNvPr id="9" name="文字方塊 8">
                <a:extLst>
                  <a:ext uri="{FF2B5EF4-FFF2-40B4-BE49-F238E27FC236}">
                    <a16:creationId xmlns:a16="http://schemas.microsoft.com/office/drawing/2014/main" id="{B3D44DB8-8F80-40F1-9057-2AC3A15FEC53}"/>
                  </a:ext>
                </a:extLst>
              </p:cNvPr>
              <p:cNvSpPr txBox="1">
                <a:spLocks noRot="1" noChangeAspect="1" noMove="1" noResize="1" noEditPoints="1" noAdjustHandles="1" noChangeArrowheads="1" noChangeShapeType="1" noTextEdit="1"/>
              </p:cNvSpPr>
              <p:nvPr/>
            </p:nvSpPr>
            <p:spPr>
              <a:xfrm>
                <a:off x="-942810" y="1102121"/>
                <a:ext cx="9147009" cy="1537729"/>
              </a:xfrm>
              <a:prstGeom prst="rect">
                <a:avLst/>
              </a:prstGeom>
              <a:blipFill>
                <a:blip r:embed="rId4"/>
                <a:stretch>
                  <a:fillRect/>
                </a:stretch>
              </a:blipFill>
            </p:spPr>
            <p:txBody>
              <a:bodyPr/>
              <a:lstStyle/>
              <a:p>
                <a:r>
                  <a:rPr lang="zh-TW" altLang="en-US">
                    <a:noFill/>
                  </a:rPr>
                  <a:t> </a:t>
                </a:r>
              </a:p>
            </p:txBody>
          </p:sp>
        </mc:Fallback>
      </mc:AlternateContent>
      <p:grpSp>
        <p:nvGrpSpPr>
          <p:cNvPr id="19" name="群組 18">
            <a:extLst>
              <a:ext uri="{FF2B5EF4-FFF2-40B4-BE49-F238E27FC236}">
                <a16:creationId xmlns:a16="http://schemas.microsoft.com/office/drawing/2014/main" id="{19AABC9B-B2A6-477E-A5E9-A9C7463E0F5D}"/>
              </a:ext>
            </a:extLst>
          </p:cNvPr>
          <p:cNvGrpSpPr/>
          <p:nvPr/>
        </p:nvGrpSpPr>
        <p:grpSpPr>
          <a:xfrm>
            <a:off x="425318" y="2723726"/>
            <a:ext cx="4840590" cy="3869267"/>
            <a:chOff x="1862545" y="1008299"/>
            <a:chExt cx="5181917" cy="4127381"/>
          </a:xfrm>
        </p:grpSpPr>
        <p:pic>
          <p:nvPicPr>
            <p:cNvPr id="21" name="圖片 20">
              <a:extLst>
                <a:ext uri="{FF2B5EF4-FFF2-40B4-BE49-F238E27FC236}">
                  <a16:creationId xmlns:a16="http://schemas.microsoft.com/office/drawing/2014/main" id="{3BDD7A72-39D8-48CA-8B48-08E58182CB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2439" y="1008299"/>
              <a:ext cx="4632023" cy="3940373"/>
            </a:xfrm>
            <a:prstGeom prst="rect">
              <a:avLst/>
            </a:prstGeom>
          </p:spPr>
        </p:pic>
        <p:grpSp>
          <p:nvGrpSpPr>
            <p:cNvPr id="22" name="群組 21">
              <a:extLst>
                <a:ext uri="{FF2B5EF4-FFF2-40B4-BE49-F238E27FC236}">
                  <a16:creationId xmlns:a16="http://schemas.microsoft.com/office/drawing/2014/main" id="{305BD20D-A24C-4A0C-8B2A-B43AC5FB6813}"/>
                </a:ext>
              </a:extLst>
            </p:cNvPr>
            <p:cNvGrpSpPr/>
            <p:nvPr/>
          </p:nvGrpSpPr>
          <p:grpSpPr>
            <a:xfrm>
              <a:off x="1862545" y="1868731"/>
              <a:ext cx="4188308" cy="3266949"/>
              <a:chOff x="1862545" y="1868731"/>
              <a:chExt cx="4188308" cy="3266949"/>
            </a:xfrm>
          </p:grpSpPr>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004C883F-FD9B-483F-8DE6-CBF4A81AB058}"/>
                      </a:ext>
                    </a:extLst>
                  </p:cNvPr>
                  <p:cNvSpPr txBox="1"/>
                  <p:nvPr/>
                </p:nvSpPr>
                <p:spPr>
                  <a:xfrm rot="10800000">
                    <a:off x="1862545" y="2978486"/>
                    <a:ext cx="549894" cy="51247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004C883F-FD9B-483F-8DE6-CBF4A81AB058}"/>
                      </a:ext>
                    </a:extLst>
                  </p:cNvPr>
                  <p:cNvSpPr txBox="1">
                    <a:spLocks noRot="1" noChangeAspect="1" noMove="1" noResize="1" noEditPoints="1" noAdjustHandles="1" noChangeArrowheads="1" noChangeShapeType="1" noTextEdit="1"/>
                  </p:cNvSpPr>
                  <p:nvPr/>
                </p:nvSpPr>
                <p:spPr>
                  <a:xfrm rot="10800000">
                    <a:off x="1862545" y="2978486"/>
                    <a:ext cx="549894" cy="512479"/>
                  </a:xfrm>
                  <a:prstGeom prst="rect">
                    <a:avLst/>
                  </a:prstGeom>
                  <a:blipFill>
                    <a:blip r:embed="rId6"/>
                    <a:stretch>
                      <a:fillRect t="-72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260F135C-06E5-4E29-B45A-76DEF3C9BD46}"/>
                      </a:ext>
                    </a:extLst>
                  </p:cNvPr>
                  <p:cNvSpPr txBox="1"/>
                  <p:nvPr/>
                </p:nvSpPr>
                <p:spPr>
                  <a:xfrm rot="17339338">
                    <a:off x="3111188" y="4541555"/>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4" name="文字方塊 23">
                    <a:extLst>
                      <a:ext uri="{FF2B5EF4-FFF2-40B4-BE49-F238E27FC236}">
                        <a16:creationId xmlns:a16="http://schemas.microsoft.com/office/drawing/2014/main" id="{260F135C-06E5-4E29-B45A-76DEF3C9BD46}"/>
                      </a:ext>
                    </a:extLst>
                  </p:cNvPr>
                  <p:cNvSpPr txBox="1">
                    <a:spLocks noRot="1" noChangeAspect="1" noMove="1" noResize="1" noEditPoints="1" noAdjustHandles="1" noChangeArrowheads="1" noChangeShapeType="1" noTextEdit="1"/>
                  </p:cNvSpPr>
                  <p:nvPr/>
                </p:nvSpPr>
                <p:spPr>
                  <a:xfrm rot="17339338">
                    <a:off x="3111188" y="4541555"/>
                    <a:ext cx="549894" cy="541181"/>
                  </a:xfrm>
                  <a:prstGeom prst="rect">
                    <a:avLst/>
                  </a:prstGeom>
                  <a:blipFill>
                    <a:blip r:embed="rId7"/>
                    <a:stretch>
                      <a:fillRect r="-336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C258905-2AEE-488D-A2EB-09FBFB303F1F}"/>
                      </a:ext>
                    </a:extLst>
                  </p:cNvPr>
                  <p:cNvSpPr txBox="1"/>
                  <p:nvPr/>
                </p:nvSpPr>
                <p:spPr>
                  <a:xfrm rot="13369094">
                    <a:off x="5500959" y="4584049"/>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DC258905-2AEE-488D-A2EB-09FBFB303F1F}"/>
                      </a:ext>
                    </a:extLst>
                  </p:cNvPr>
                  <p:cNvSpPr txBox="1">
                    <a:spLocks noRot="1" noChangeAspect="1" noMove="1" noResize="1" noEditPoints="1" noAdjustHandles="1" noChangeArrowheads="1" noChangeShapeType="1" noTextEdit="1"/>
                  </p:cNvSpPr>
                  <p:nvPr/>
                </p:nvSpPr>
                <p:spPr>
                  <a:xfrm rot="13369094">
                    <a:off x="5500959" y="4584049"/>
                    <a:ext cx="549894" cy="551631"/>
                  </a:xfrm>
                  <a:prstGeom prst="rect">
                    <a:avLst/>
                  </a:prstGeom>
                  <a:blipFill>
                    <a:blip r:embed="rId8"/>
                    <a:stretch>
                      <a:fillRect t="-10833" r="-132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8BB278F-0142-4744-BC25-25EED45CCA44}"/>
                      </a:ext>
                    </a:extLst>
                  </p:cNvPr>
                  <p:cNvSpPr txBox="1"/>
                  <p:nvPr/>
                </p:nvSpPr>
                <p:spPr>
                  <a:xfrm>
                    <a:off x="2822116" y="1913466"/>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i="1" dirty="0"/>
                  </a:p>
                </p:txBody>
              </p:sp>
            </mc:Choice>
            <mc:Fallback xmlns="">
              <p:sp>
                <p:nvSpPr>
                  <p:cNvPr id="26" name="文字方塊 25">
                    <a:extLst>
                      <a:ext uri="{FF2B5EF4-FFF2-40B4-BE49-F238E27FC236}">
                        <a16:creationId xmlns:a16="http://schemas.microsoft.com/office/drawing/2014/main" id="{38BB278F-0142-4744-BC25-25EED45CCA44}"/>
                      </a:ext>
                    </a:extLst>
                  </p:cNvPr>
                  <p:cNvSpPr txBox="1">
                    <a:spLocks noRot="1" noChangeAspect="1" noMove="1" noResize="1" noEditPoints="1" noAdjustHandles="1" noChangeArrowheads="1" noChangeShapeType="1" noTextEdit="1"/>
                  </p:cNvSpPr>
                  <p:nvPr/>
                </p:nvSpPr>
                <p:spPr>
                  <a:xfrm>
                    <a:off x="2822116" y="1913466"/>
                    <a:ext cx="294888" cy="276999"/>
                  </a:xfrm>
                  <a:prstGeom prst="rect">
                    <a:avLst/>
                  </a:prstGeom>
                  <a:blipFill>
                    <a:blip r:embed="rId9"/>
                    <a:stretch>
                      <a:fillRect l="-24444" r="-15556" b="-232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FA212BE-3798-4B88-92D4-101CD5513DA7}"/>
                      </a:ext>
                    </a:extLst>
                  </p:cNvPr>
                  <p:cNvSpPr txBox="1"/>
                  <p:nvPr/>
                </p:nvSpPr>
                <p:spPr>
                  <a:xfrm>
                    <a:off x="5628462" y="1868731"/>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i="1" dirty="0"/>
                  </a:p>
                </p:txBody>
              </p:sp>
            </mc:Choice>
            <mc:Fallback xmlns="">
              <p:sp>
                <p:nvSpPr>
                  <p:cNvPr id="27" name="文字方塊 26">
                    <a:extLst>
                      <a:ext uri="{FF2B5EF4-FFF2-40B4-BE49-F238E27FC236}">
                        <a16:creationId xmlns:a16="http://schemas.microsoft.com/office/drawing/2014/main" id="{CFA212BE-3798-4B88-92D4-101CD5513DA7}"/>
                      </a:ext>
                    </a:extLst>
                  </p:cNvPr>
                  <p:cNvSpPr txBox="1">
                    <a:spLocks noRot="1" noChangeAspect="1" noMove="1" noResize="1" noEditPoints="1" noAdjustHandles="1" noChangeArrowheads="1" noChangeShapeType="1" noTextEdit="1"/>
                  </p:cNvSpPr>
                  <p:nvPr/>
                </p:nvSpPr>
                <p:spPr>
                  <a:xfrm>
                    <a:off x="5628462" y="1868731"/>
                    <a:ext cx="294888" cy="276999"/>
                  </a:xfrm>
                  <a:prstGeom prst="rect">
                    <a:avLst/>
                  </a:prstGeom>
                  <a:blipFill>
                    <a:blip r:embed="rId10"/>
                    <a:stretch>
                      <a:fillRect l="-24444" r="-15556" b="-25581"/>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59242058-9EF5-4B4F-BE76-DB3CDE4661F1}"/>
                  </a:ext>
                </a:extLst>
              </p:cNvPr>
              <p:cNvSpPr txBox="1"/>
              <p:nvPr/>
            </p:nvSpPr>
            <p:spPr>
              <a:xfrm>
                <a:off x="5698067" y="2870200"/>
                <a:ext cx="6248400"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When an upper pole is excited, the corresponding upper-pole sensor detects a strongly coupled magnetic field through the surrounding air. Consequently, the distribution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𝐷</m:t>
                        </m:r>
                      </m:e>
                    </m:acc>
                  </m:oMath>
                </a14:m>
                <a:r>
                  <a:rPr lang="en-US" altLang="zh-TW" dirty="0"/>
                  <a:t> matrix differs from that of the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matrix.</a:t>
                </a:r>
                <a:endParaRPr lang="zh-TW" altLang="en-US" dirty="0"/>
              </a:p>
            </p:txBody>
          </p:sp>
        </mc:Choice>
        <mc:Fallback xmlns="">
          <p:sp>
            <p:nvSpPr>
              <p:cNvPr id="3" name="文字方塊 2">
                <a:extLst>
                  <a:ext uri="{FF2B5EF4-FFF2-40B4-BE49-F238E27FC236}">
                    <a16:creationId xmlns:a16="http://schemas.microsoft.com/office/drawing/2014/main" id="{59242058-9EF5-4B4F-BE76-DB3CDE4661F1}"/>
                  </a:ext>
                </a:extLst>
              </p:cNvPr>
              <p:cNvSpPr txBox="1">
                <a:spLocks noRot="1" noChangeAspect="1" noMove="1" noResize="1" noEditPoints="1" noAdjustHandles="1" noChangeArrowheads="1" noChangeShapeType="1" noTextEdit="1"/>
              </p:cNvSpPr>
              <p:nvPr/>
            </p:nvSpPr>
            <p:spPr>
              <a:xfrm>
                <a:off x="5698067" y="2870200"/>
                <a:ext cx="6248400" cy="1200329"/>
              </a:xfrm>
              <a:prstGeom prst="rect">
                <a:avLst/>
              </a:prstGeom>
              <a:blipFill>
                <a:blip r:embed="rId11"/>
                <a:stretch>
                  <a:fillRect l="-683" t="-3046" r="-585" b="-71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3957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2"/>
                <a:stretch>
                  <a:fillRect t="-13208" r="-3802" b="-22642"/>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2C9975B9-88A6-47A8-B66E-01D88893A926}"/>
              </a:ext>
            </a:extLst>
          </p:cNvPr>
          <p:cNvGrpSpPr/>
          <p:nvPr/>
        </p:nvGrpSpPr>
        <p:grpSpPr>
          <a:xfrm>
            <a:off x="524786" y="680500"/>
            <a:ext cx="3274715" cy="3629033"/>
            <a:chOff x="689686" y="381000"/>
            <a:chExt cx="4436604" cy="5180226"/>
          </a:xfrm>
        </p:grpSpPr>
        <p:pic>
          <p:nvPicPr>
            <p:cNvPr id="10" name="圖片 9">
              <a:extLst>
                <a:ext uri="{FF2B5EF4-FFF2-40B4-BE49-F238E27FC236}">
                  <a16:creationId xmlns:a16="http://schemas.microsoft.com/office/drawing/2014/main" id="{072A604D-3765-4CCC-9C16-1258A79DD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580" y="381000"/>
              <a:ext cx="3886710" cy="4732866"/>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0D495DA2-E180-4ED9-B21D-DA34AF04AB5C}"/>
                    </a:ext>
                  </a:extLst>
                </p:cNvPr>
                <p:cNvSpPr txBox="1"/>
                <p:nvPr/>
              </p:nvSpPr>
              <p:spPr>
                <a:xfrm rot="16200000">
                  <a:off x="2907987" y="5015688"/>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1" name="文字方塊 10">
                  <a:extLst>
                    <a:ext uri="{FF2B5EF4-FFF2-40B4-BE49-F238E27FC236}">
                      <a16:creationId xmlns:a16="http://schemas.microsoft.com/office/drawing/2014/main" id="{0D495DA2-E180-4ED9-B21D-DA34AF04AB5C}"/>
                    </a:ext>
                  </a:extLst>
                </p:cNvPr>
                <p:cNvSpPr txBox="1">
                  <a:spLocks noRot="1" noChangeAspect="1" noMove="1" noResize="1" noEditPoints="1" noAdjustHandles="1" noChangeArrowheads="1" noChangeShapeType="1" noTextEdit="1"/>
                </p:cNvSpPr>
                <p:nvPr/>
              </p:nvSpPr>
              <p:spPr>
                <a:xfrm rot="16200000">
                  <a:off x="2907987" y="5015688"/>
                  <a:ext cx="549894" cy="541181"/>
                </a:xfrm>
                <a:prstGeom prst="rect">
                  <a:avLst/>
                </a:prstGeom>
                <a:blipFill>
                  <a:blip r:embed="rId4"/>
                  <a:stretch>
                    <a:fillRect r="-1075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27FF3CE-B361-40F1-A849-F90715200835}"/>
                    </a:ext>
                  </a:extLst>
                </p:cNvPr>
                <p:cNvSpPr txBox="1"/>
                <p:nvPr/>
              </p:nvSpPr>
              <p:spPr>
                <a:xfrm rot="10800000">
                  <a:off x="689686" y="2738966"/>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2" name="文字方塊 11">
                  <a:extLst>
                    <a:ext uri="{FF2B5EF4-FFF2-40B4-BE49-F238E27FC236}">
                      <a16:creationId xmlns:a16="http://schemas.microsoft.com/office/drawing/2014/main" id="{B27FF3CE-B361-40F1-A849-F90715200835}"/>
                    </a:ext>
                  </a:extLst>
                </p:cNvPr>
                <p:cNvSpPr txBox="1">
                  <a:spLocks noRot="1" noChangeAspect="1" noMove="1" noResize="1" noEditPoints="1" noAdjustHandles="1" noChangeArrowheads="1" noChangeShapeType="1" noTextEdit="1"/>
                </p:cNvSpPr>
                <p:nvPr/>
              </p:nvSpPr>
              <p:spPr>
                <a:xfrm rot="10800000">
                  <a:off x="689686" y="2738966"/>
                  <a:ext cx="549894" cy="551631"/>
                </a:xfrm>
                <a:prstGeom prst="rect">
                  <a:avLst/>
                </a:prstGeom>
                <a:blipFill>
                  <a:blip r:embed="rId5"/>
                  <a:stretch>
                    <a:fillRect t="-1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9FBACA83-8309-4772-80C7-45E9FCBE0F65}"/>
                    </a:ext>
                  </a:extLst>
                </p:cNvPr>
                <p:cNvSpPr txBox="1"/>
                <p:nvPr/>
              </p:nvSpPr>
              <p:spPr>
                <a:xfrm rot="2862580">
                  <a:off x="2170726" y="555320"/>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13" name="文字方塊 12">
                  <a:extLst>
                    <a:ext uri="{FF2B5EF4-FFF2-40B4-BE49-F238E27FC236}">
                      <a16:creationId xmlns:a16="http://schemas.microsoft.com/office/drawing/2014/main" id="{9FBACA83-8309-4772-80C7-45E9FCBE0F65}"/>
                    </a:ext>
                  </a:extLst>
                </p:cNvPr>
                <p:cNvSpPr txBox="1">
                  <a:spLocks noRot="1" noChangeAspect="1" noMove="1" noResize="1" noEditPoints="1" noAdjustHandles="1" noChangeArrowheads="1" noChangeShapeType="1" noTextEdit="1"/>
                </p:cNvSpPr>
                <p:nvPr/>
              </p:nvSpPr>
              <p:spPr>
                <a:xfrm rot="2862580">
                  <a:off x="2170726" y="555320"/>
                  <a:ext cx="234189" cy="238638"/>
                </a:xfrm>
                <a:prstGeom prst="rect">
                  <a:avLst/>
                </a:prstGeom>
                <a:blipFill>
                  <a:blip r:embed="rId6"/>
                  <a:stretch>
                    <a:fillRect l="-53659" r="-48780" b="-6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760B703-0FD7-4DA1-9A06-8DAAB58E5C0F}"/>
                    </a:ext>
                  </a:extLst>
                </p:cNvPr>
                <p:cNvSpPr txBox="1"/>
                <p:nvPr/>
              </p:nvSpPr>
              <p:spPr>
                <a:xfrm rot="2906549">
                  <a:off x="2911564" y="2387050"/>
                  <a:ext cx="6203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solidFill>
                              <a:schemeClr val="accent1"/>
                            </a:solidFill>
                            <a:latin typeface="Cambria Math" panose="02040503050406030204" pitchFamily="18" charset="0"/>
                          </a:rPr>
                          <m:t>𝟔</m:t>
                        </m:r>
                        <m:r>
                          <a:rPr lang="en-US" altLang="zh-TW" b="1" i="1" smtClean="0">
                            <a:solidFill>
                              <a:schemeClr val="accent1"/>
                            </a:solidFill>
                            <a:latin typeface="Cambria Math" panose="02040503050406030204" pitchFamily="18" charset="0"/>
                          </a:rPr>
                          <m:t>𝒎𝒎</m:t>
                        </m:r>
                      </m:oMath>
                    </m:oMathPara>
                  </a14:m>
                  <a:endParaRPr lang="zh-TW" altLang="en-US" b="1" dirty="0">
                    <a:solidFill>
                      <a:schemeClr val="accent1"/>
                    </a:solidFill>
                  </a:endParaRPr>
                </a:p>
              </p:txBody>
            </p:sp>
          </mc:Choice>
          <mc:Fallback xmlns="">
            <p:sp>
              <p:nvSpPr>
                <p:cNvPr id="14" name="文字方塊 13">
                  <a:extLst>
                    <a:ext uri="{FF2B5EF4-FFF2-40B4-BE49-F238E27FC236}">
                      <a16:creationId xmlns:a16="http://schemas.microsoft.com/office/drawing/2014/main" id="{2760B703-0FD7-4DA1-9A06-8DAAB58E5C0F}"/>
                    </a:ext>
                  </a:extLst>
                </p:cNvPr>
                <p:cNvSpPr txBox="1">
                  <a:spLocks noRot="1" noChangeAspect="1" noMove="1" noResize="1" noEditPoints="1" noAdjustHandles="1" noChangeArrowheads="1" noChangeShapeType="1" noTextEdit="1"/>
                </p:cNvSpPr>
                <p:nvPr/>
              </p:nvSpPr>
              <p:spPr>
                <a:xfrm rot="2906549">
                  <a:off x="2911564" y="2387050"/>
                  <a:ext cx="620363" cy="276999"/>
                </a:xfrm>
                <a:prstGeom prst="rect">
                  <a:avLst/>
                </a:prstGeom>
                <a:blipFill>
                  <a:blip r:embed="rId7"/>
                  <a:stretch>
                    <a:fillRect l="-26027" t="-10526" r="-30137" b="-473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7D25912-40C5-4F2F-9314-3F22030508ED}"/>
                    </a:ext>
                  </a:extLst>
                </p:cNvPr>
                <p:cNvSpPr txBox="1"/>
                <p:nvPr/>
              </p:nvSpPr>
              <p:spPr>
                <a:xfrm rot="19226539">
                  <a:off x="2280056" y="1382268"/>
                  <a:ext cx="87415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solidFill>
                              <a:schemeClr val="accent2">
                                <a:lumMod val="75000"/>
                              </a:schemeClr>
                            </a:solidFill>
                            <a:latin typeface="Cambria Math" panose="02040503050406030204" pitchFamily="18" charset="0"/>
                          </a:rPr>
                          <m:t>𝟎</m:t>
                        </m:r>
                        <m:r>
                          <a:rPr lang="en-US" altLang="zh-TW" sz="1600" b="1" i="1" smtClean="0">
                            <a:solidFill>
                              <a:schemeClr val="accent2">
                                <a:lumMod val="75000"/>
                              </a:schemeClr>
                            </a:solidFill>
                            <a:latin typeface="Cambria Math" panose="02040503050406030204" pitchFamily="18" charset="0"/>
                          </a:rPr>
                          <m:t>.</m:t>
                        </m:r>
                        <m:r>
                          <a:rPr lang="en-US" altLang="zh-TW" sz="1600" b="1" i="1" smtClean="0">
                            <a:solidFill>
                              <a:schemeClr val="accent2">
                                <a:lumMod val="75000"/>
                              </a:schemeClr>
                            </a:solidFill>
                            <a:latin typeface="Cambria Math" panose="02040503050406030204" pitchFamily="18" charset="0"/>
                          </a:rPr>
                          <m:t>𝟒𝟏</m:t>
                        </m:r>
                        <m:r>
                          <a:rPr lang="en-US" altLang="zh-TW" sz="16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15" name="文字方塊 14">
                  <a:extLst>
                    <a:ext uri="{FF2B5EF4-FFF2-40B4-BE49-F238E27FC236}">
                      <a16:creationId xmlns:a16="http://schemas.microsoft.com/office/drawing/2014/main" id="{67D25912-40C5-4F2F-9314-3F22030508ED}"/>
                    </a:ext>
                  </a:extLst>
                </p:cNvPr>
                <p:cNvSpPr txBox="1">
                  <a:spLocks noRot="1" noChangeAspect="1" noMove="1" noResize="1" noEditPoints="1" noAdjustHandles="1" noChangeArrowheads="1" noChangeShapeType="1" noTextEdit="1"/>
                </p:cNvSpPr>
                <p:nvPr/>
              </p:nvSpPr>
              <p:spPr>
                <a:xfrm rot="19226539">
                  <a:off x="2280056" y="1382268"/>
                  <a:ext cx="874150" cy="246221"/>
                </a:xfrm>
                <a:prstGeom prst="rect">
                  <a:avLst/>
                </a:prstGeom>
                <a:blipFill>
                  <a:blip r:embed="rId8"/>
                  <a:stretch>
                    <a:fillRect l="-5941" t="-25556" r="-38614" b="-20000"/>
                  </a:stretch>
                </a:blipFill>
              </p:spPr>
              <p:txBody>
                <a:bodyPr/>
                <a:lstStyle/>
                <a:p>
                  <a:r>
                    <a:rPr lang="zh-TW" altLang="en-US">
                      <a:noFill/>
                    </a:rPr>
                    <a:t> </a:t>
                  </a:r>
                </a:p>
              </p:txBody>
            </p:sp>
          </mc:Fallback>
        </mc:AlternateContent>
        <p:cxnSp>
          <p:nvCxnSpPr>
            <p:cNvPr id="16" name="直線單箭頭接點 15">
              <a:extLst>
                <a:ext uri="{FF2B5EF4-FFF2-40B4-BE49-F238E27FC236}">
                  <a16:creationId xmlns:a16="http://schemas.microsoft.com/office/drawing/2014/main" id="{3C14447D-FEDA-48CA-AB71-2A51E263F8E6}"/>
                </a:ext>
              </a:extLst>
            </p:cNvPr>
            <p:cNvCxnSpPr>
              <a:cxnSpLocks/>
            </p:cNvCxnSpPr>
            <p:nvPr/>
          </p:nvCxnSpPr>
          <p:spPr>
            <a:xfrm flipH="1" flipV="1">
              <a:off x="2072630" y="1424974"/>
              <a:ext cx="450505" cy="184731"/>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nvGrpSpPr>
          <p:cNvPr id="18" name="群組 17">
            <a:extLst>
              <a:ext uri="{FF2B5EF4-FFF2-40B4-BE49-F238E27FC236}">
                <a16:creationId xmlns:a16="http://schemas.microsoft.com/office/drawing/2014/main" id="{463530C3-44F8-4C3C-B2C4-001BAE8A2DC5}"/>
              </a:ext>
            </a:extLst>
          </p:cNvPr>
          <p:cNvGrpSpPr/>
          <p:nvPr/>
        </p:nvGrpSpPr>
        <p:grpSpPr>
          <a:xfrm>
            <a:off x="4472715" y="917832"/>
            <a:ext cx="4307218" cy="3027636"/>
            <a:chOff x="5401237" y="998976"/>
            <a:chExt cx="6592228" cy="4106424"/>
          </a:xfrm>
        </p:grpSpPr>
        <p:pic>
          <p:nvPicPr>
            <p:cNvPr id="19" name="圖片 18">
              <a:extLst>
                <a:ext uri="{FF2B5EF4-FFF2-40B4-BE49-F238E27FC236}">
                  <a16:creationId xmlns:a16="http://schemas.microsoft.com/office/drawing/2014/main" id="{35220FA7-3D11-4772-8E54-C8466D70720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18201" y="998976"/>
              <a:ext cx="6075264" cy="3658927"/>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36FB61F3-9B3E-4E5D-A74E-484AD694718F}"/>
                    </a:ext>
                  </a:extLst>
                </p:cNvPr>
                <p:cNvSpPr txBox="1"/>
                <p:nvPr/>
              </p:nvSpPr>
              <p:spPr>
                <a:xfrm rot="16200000">
                  <a:off x="8597588" y="4559862"/>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1" name="文字方塊 20">
                  <a:extLst>
                    <a:ext uri="{FF2B5EF4-FFF2-40B4-BE49-F238E27FC236}">
                      <a16:creationId xmlns:a16="http://schemas.microsoft.com/office/drawing/2014/main" id="{36FB61F3-9B3E-4E5D-A74E-484AD694718F}"/>
                    </a:ext>
                  </a:extLst>
                </p:cNvPr>
                <p:cNvSpPr txBox="1">
                  <a:spLocks noRot="1" noChangeAspect="1" noMove="1" noResize="1" noEditPoints="1" noAdjustHandles="1" noChangeArrowheads="1" noChangeShapeType="1" noTextEdit="1"/>
                </p:cNvSpPr>
                <p:nvPr/>
              </p:nvSpPr>
              <p:spPr>
                <a:xfrm rot="16200000">
                  <a:off x="8597588" y="4559862"/>
                  <a:ext cx="549894" cy="541181"/>
                </a:xfrm>
                <a:prstGeom prst="rect">
                  <a:avLst/>
                </a:prstGeom>
                <a:blipFill>
                  <a:blip r:embed="rId10"/>
                  <a:stretch>
                    <a:fillRect r="-1362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D90D771C-C636-4C7F-8539-7FE90841E920}"/>
                    </a:ext>
                  </a:extLst>
                </p:cNvPr>
                <p:cNvSpPr txBox="1"/>
                <p:nvPr/>
              </p:nvSpPr>
              <p:spPr>
                <a:xfrm rot="10800000">
                  <a:off x="5401237" y="2276808"/>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D90D771C-C636-4C7F-8539-7FE90841E920}"/>
                    </a:ext>
                  </a:extLst>
                </p:cNvPr>
                <p:cNvSpPr txBox="1">
                  <a:spLocks noRot="1" noChangeAspect="1" noMove="1" noResize="1" noEditPoints="1" noAdjustHandles="1" noChangeArrowheads="1" noChangeShapeType="1" noTextEdit="1"/>
                </p:cNvSpPr>
                <p:nvPr/>
              </p:nvSpPr>
              <p:spPr>
                <a:xfrm rot="10800000">
                  <a:off x="5401237" y="2276808"/>
                  <a:ext cx="549894" cy="551631"/>
                </a:xfrm>
                <a:prstGeom prst="rect">
                  <a:avLst/>
                </a:prstGeom>
                <a:blipFill>
                  <a:blip r:embed="rId11"/>
                  <a:stretch>
                    <a:fillRect t="-1059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B938B42D-7670-4419-8096-CFCC72B5DB33}"/>
                    </a:ext>
                  </a:extLst>
                </p:cNvPr>
                <p:cNvSpPr txBox="1"/>
                <p:nvPr/>
              </p:nvSpPr>
              <p:spPr>
                <a:xfrm rot="795964">
                  <a:off x="8703576" y="2226778"/>
                  <a:ext cx="6203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solidFill>
                              <a:schemeClr val="accent1"/>
                            </a:solidFill>
                            <a:latin typeface="Cambria Math" panose="02040503050406030204" pitchFamily="18" charset="0"/>
                          </a:rPr>
                          <m:t>𝟔</m:t>
                        </m:r>
                        <m:r>
                          <a:rPr lang="en-US" altLang="zh-TW" b="1" i="1" smtClean="0">
                            <a:solidFill>
                              <a:schemeClr val="accent1"/>
                            </a:solidFill>
                            <a:latin typeface="Cambria Math" panose="02040503050406030204" pitchFamily="18" charset="0"/>
                          </a:rPr>
                          <m:t>𝒎𝒎</m:t>
                        </m:r>
                      </m:oMath>
                    </m:oMathPara>
                  </a14:m>
                  <a:endParaRPr lang="zh-TW" altLang="en-US" b="1" dirty="0">
                    <a:solidFill>
                      <a:schemeClr val="accent1"/>
                    </a:solidFill>
                  </a:endParaRPr>
                </a:p>
              </p:txBody>
            </p:sp>
          </mc:Choice>
          <mc:Fallback xmlns="">
            <p:sp>
              <p:nvSpPr>
                <p:cNvPr id="23" name="文字方塊 22">
                  <a:extLst>
                    <a:ext uri="{FF2B5EF4-FFF2-40B4-BE49-F238E27FC236}">
                      <a16:creationId xmlns:a16="http://schemas.microsoft.com/office/drawing/2014/main" id="{B938B42D-7670-4419-8096-CFCC72B5DB33}"/>
                    </a:ext>
                  </a:extLst>
                </p:cNvPr>
                <p:cNvSpPr txBox="1">
                  <a:spLocks noRot="1" noChangeAspect="1" noMove="1" noResize="1" noEditPoints="1" noAdjustHandles="1" noChangeArrowheads="1" noChangeShapeType="1" noTextEdit="1"/>
                </p:cNvSpPr>
                <p:nvPr/>
              </p:nvSpPr>
              <p:spPr>
                <a:xfrm rot="795964">
                  <a:off x="8703576" y="2226778"/>
                  <a:ext cx="620363" cy="276999"/>
                </a:xfrm>
                <a:prstGeom prst="rect">
                  <a:avLst/>
                </a:prstGeom>
                <a:blipFill>
                  <a:blip r:embed="rId12"/>
                  <a:stretch>
                    <a:fillRect l="-21622" r="-50000" b="-469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F9599C61-567E-404A-ACD6-0BBD087CEEF0}"/>
                    </a:ext>
                  </a:extLst>
                </p:cNvPr>
                <p:cNvSpPr txBox="1"/>
                <p:nvPr/>
              </p:nvSpPr>
              <p:spPr>
                <a:xfrm rot="842199">
                  <a:off x="10667911" y="3406628"/>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24" name="文字方塊 23">
                  <a:extLst>
                    <a:ext uri="{FF2B5EF4-FFF2-40B4-BE49-F238E27FC236}">
                      <a16:creationId xmlns:a16="http://schemas.microsoft.com/office/drawing/2014/main" id="{F9599C61-567E-404A-ACD6-0BBD087CEEF0}"/>
                    </a:ext>
                  </a:extLst>
                </p:cNvPr>
                <p:cNvSpPr txBox="1">
                  <a:spLocks noRot="1" noChangeAspect="1" noMove="1" noResize="1" noEditPoints="1" noAdjustHandles="1" noChangeArrowheads="1" noChangeShapeType="1" noTextEdit="1"/>
                </p:cNvSpPr>
                <p:nvPr/>
              </p:nvSpPr>
              <p:spPr>
                <a:xfrm rot="842199">
                  <a:off x="10667911" y="3406628"/>
                  <a:ext cx="234189" cy="238638"/>
                </a:xfrm>
                <a:prstGeom prst="rect">
                  <a:avLst/>
                </a:prstGeom>
                <a:blipFill>
                  <a:blip r:embed="rId13"/>
                  <a:stretch>
                    <a:fillRect l="-50000" r="-100000" b="-6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127A13B-ED17-4BDD-A623-F35F69A72324}"/>
                    </a:ext>
                  </a:extLst>
                </p:cNvPr>
                <p:cNvSpPr txBox="1"/>
                <p:nvPr/>
              </p:nvSpPr>
              <p:spPr>
                <a:xfrm rot="16993434">
                  <a:off x="9972531" y="3093319"/>
                  <a:ext cx="874150" cy="246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solidFill>
                              <a:schemeClr val="accent2">
                                <a:lumMod val="75000"/>
                              </a:schemeClr>
                            </a:solidFill>
                            <a:latin typeface="Cambria Math" panose="02040503050406030204" pitchFamily="18" charset="0"/>
                          </a:rPr>
                          <m:t>𝟎</m:t>
                        </m:r>
                        <m:r>
                          <a:rPr lang="en-US" altLang="zh-TW" sz="1600" b="1" i="1" smtClean="0">
                            <a:solidFill>
                              <a:schemeClr val="accent2">
                                <a:lumMod val="75000"/>
                              </a:schemeClr>
                            </a:solidFill>
                            <a:latin typeface="Cambria Math" panose="02040503050406030204" pitchFamily="18" charset="0"/>
                          </a:rPr>
                          <m:t>.</m:t>
                        </m:r>
                        <m:r>
                          <a:rPr lang="en-US" altLang="zh-TW" sz="1600" b="1" i="1" smtClean="0">
                            <a:solidFill>
                              <a:schemeClr val="accent2">
                                <a:lumMod val="75000"/>
                              </a:schemeClr>
                            </a:solidFill>
                            <a:latin typeface="Cambria Math" panose="02040503050406030204" pitchFamily="18" charset="0"/>
                          </a:rPr>
                          <m:t>𝟒𝟏</m:t>
                        </m:r>
                        <m:r>
                          <a:rPr lang="en-US" altLang="zh-TW" sz="16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25" name="文字方塊 24">
                  <a:extLst>
                    <a:ext uri="{FF2B5EF4-FFF2-40B4-BE49-F238E27FC236}">
                      <a16:creationId xmlns:a16="http://schemas.microsoft.com/office/drawing/2014/main" id="{1127A13B-ED17-4BDD-A623-F35F69A72324}"/>
                    </a:ext>
                  </a:extLst>
                </p:cNvPr>
                <p:cNvSpPr txBox="1">
                  <a:spLocks noRot="1" noChangeAspect="1" noMove="1" noResize="1" noEditPoints="1" noAdjustHandles="1" noChangeArrowheads="1" noChangeShapeType="1" noTextEdit="1"/>
                </p:cNvSpPr>
                <p:nvPr/>
              </p:nvSpPr>
              <p:spPr>
                <a:xfrm rot="16993434">
                  <a:off x="9972531" y="3093319"/>
                  <a:ext cx="874150" cy="246220"/>
                </a:xfrm>
                <a:prstGeom prst="rect">
                  <a:avLst/>
                </a:prstGeom>
                <a:blipFill>
                  <a:blip r:embed="rId14"/>
                  <a:stretch>
                    <a:fillRect t="-34545" r="-47059" b="-12727"/>
                  </a:stretch>
                </a:blipFill>
              </p:spPr>
              <p:txBody>
                <a:bodyPr/>
                <a:lstStyle/>
                <a:p>
                  <a:r>
                    <a:rPr lang="zh-TW" altLang="en-US">
                      <a:noFill/>
                    </a:rPr>
                    <a:t> </a:t>
                  </a:r>
                </a:p>
              </p:txBody>
            </p:sp>
          </mc:Fallback>
        </mc:AlternateContent>
        <p:cxnSp>
          <p:nvCxnSpPr>
            <p:cNvPr id="26" name="直線單箭頭接點 25">
              <a:extLst>
                <a:ext uri="{FF2B5EF4-FFF2-40B4-BE49-F238E27FC236}">
                  <a16:creationId xmlns:a16="http://schemas.microsoft.com/office/drawing/2014/main" id="{96EDB3F9-D5DB-41BA-8990-C01C97DFD479}"/>
                </a:ext>
              </a:extLst>
            </p:cNvPr>
            <p:cNvCxnSpPr>
              <a:cxnSpLocks/>
            </p:cNvCxnSpPr>
            <p:nvPr/>
          </p:nvCxnSpPr>
          <p:spPr>
            <a:xfrm flipV="1">
              <a:off x="10719924" y="2828440"/>
              <a:ext cx="510710" cy="13307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1AFCD1B-98B7-4BE8-99B5-338077407477}"/>
                  </a:ext>
                </a:extLst>
              </p:cNvPr>
              <p:cNvSpPr txBox="1"/>
              <p:nvPr/>
            </p:nvSpPr>
            <p:spPr>
              <a:xfrm>
                <a:off x="374759" y="4239083"/>
                <a:ext cx="4479240"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𝑅𝑀𝑆𝑃𝐸</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rPr>
                        <m:t>=0.31%</m:t>
                      </m:r>
                    </m:oMath>
                  </m:oMathPara>
                </a14:m>
                <a:endParaRPr lang="zh-TW" altLang="en-US" dirty="0"/>
              </a:p>
            </p:txBody>
          </p:sp>
        </mc:Choice>
        <mc:Fallback xmlns="">
          <p:sp>
            <p:nvSpPr>
              <p:cNvPr id="27" name="文字方塊 26">
                <a:extLst>
                  <a:ext uri="{FF2B5EF4-FFF2-40B4-BE49-F238E27FC236}">
                    <a16:creationId xmlns:a16="http://schemas.microsoft.com/office/drawing/2014/main" id="{C1AFCD1B-98B7-4BE8-99B5-338077407477}"/>
                  </a:ext>
                </a:extLst>
              </p:cNvPr>
              <p:cNvSpPr txBox="1">
                <a:spLocks noRot="1" noChangeAspect="1" noMove="1" noResize="1" noEditPoints="1" noAdjustHandles="1" noChangeArrowheads="1" noChangeShapeType="1" noTextEdit="1"/>
              </p:cNvSpPr>
              <p:nvPr/>
            </p:nvSpPr>
            <p:spPr>
              <a:xfrm>
                <a:off x="374759" y="4239083"/>
                <a:ext cx="4479240" cy="818366"/>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F8948F3-0F3C-451F-84CE-F3F646D0DBE3}"/>
                  </a:ext>
                </a:extLst>
              </p:cNvPr>
              <p:cNvSpPr txBox="1"/>
              <p:nvPr/>
            </p:nvSpPr>
            <p:spPr>
              <a:xfrm>
                <a:off x="-325339" y="5084474"/>
                <a:ext cx="9955395" cy="16159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099.9893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17.4493</m:t>
                                      </m:r>
                                    </m:e>
                                    <m:e>
                                      <m:r>
                                        <a:rPr lang="en-US" altLang="zh-TW" b="0" i="1" smtClean="0">
                                          <a:latin typeface="Cambria Math" panose="02040503050406030204" pitchFamily="18" charset="0"/>
                                        </a:rPr>
                                        <m:t>−197.8542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198.8652</m:t>
                                            </m:r>
                                          </m:e>
                                          <m:e>
                                            <m:r>
                                              <a:rPr lang="en-US" altLang="zh-TW" b="0" i="1" smtClean="0">
                                                <a:latin typeface="Cambria Math" panose="02040503050406030204" pitchFamily="18" charset="0"/>
                                              </a:rPr>
                                              <m:t>−201.9701</m:t>
                                            </m:r>
                                          </m:e>
                                          <m:e>
                                            <m:r>
                                              <a:rPr lang="en-US" altLang="zh-TW" b="0" i="1" smtClean="0">
                                                <a:latin typeface="Cambria Math" panose="02040503050406030204" pitchFamily="18" charset="0"/>
                                              </a:rPr>
                                              <m:t>−192.7685</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18.1846</m:t>
                                      </m:r>
                                    </m:e>
                                  </m:mr>
                                  <m:mr>
                                    <m:e>
                                      <m:r>
                                        <a:rPr lang="en-US" altLang="zh-TW" b="0" i="1" smtClean="0">
                                          <a:latin typeface="Cambria Math" panose="02040503050406030204" pitchFamily="18" charset="0"/>
                                        </a:rPr>
                                        <m:t>−190.3114</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185.6742</m:t>
                                            </m:r>
                                          </m:e>
                                        </m:mr>
                                        <m:mr>
                                          <m:e>
                                            <m:r>
                                              <a:rPr lang="en-US" altLang="zh-TW" b="0" i="1" smtClean="0">
                                                <a:latin typeface="Cambria Math" panose="02040503050406030204" pitchFamily="18" charset="0"/>
                                              </a:rPr>
                                              <m:t>−181.8328</m:t>
                                            </m:r>
                                          </m:e>
                                        </m:mr>
                                        <m:mr>
                                          <m:e>
                                            <m:r>
                                              <a:rPr lang="en-US" altLang="zh-TW" b="0" i="1" smtClean="0">
                                                <a:latin typeface="Cambria Math" panose="02040503050406030204" pitchFamily="18" charset="0"/>
                                              </a:rPr>
                                              <m:t>−194.6734</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169.5869</m:t>
                                            </m:r>
                                          </m:e>
                                          <m:e>
                                            <m:r>
                                              <a:rPr lang="en-US" altLang="zh-TW" b="0" i="1" smtClean="0">
                                                <a:latin typeface="Cambria Math" panose="02040503050406030204" pitchFamily="18" charset="0"/>
                                              </a:rPr>
                                              <m:t>−180.1350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341.4807</m:t>
                                                  </m:r>
                                                </m:e>
                                                <m:e>
                                                  <m:r>
                                                    <a:rPr lang="en-US" altLang="zh-TW" b="0" i="1" smtClean="0">
                                                      <a:latin typeface="Cambria Math" panose="02040503050406030204" pitchFamily="18" charset="0"/>
                                                    </a:rPr>
                                                    <m:t>−348.7309</m:t>
                                                  </m:r>
                                                </m:e>
                                                <m:e>
                                                  <m:r>
                                                    <a:rPr lang="en-US" altLang="zh-TW" b="0" i="1" smtClean="0">
                                                      <a:latin typeface="Cambria Math" panose="02040503050406030204" pitchFamily="18" charset="0"/>
                                                    </a:rPr>
                                                    <m:t>−181.8399</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195.1318</m:t>
                                            </m:r>
                                          </m:e>
                                          <m:e>
                                            <m:r>
                                              <a:rPr lang="en-US" altLang="zh-TW" b="0" i="1" smtClean="0">
                                                <a:latin typeface="Cambria Math" panose="02040503050406030204" pitchFamily="18" charset="0"/>
                                              </a:rPr>
                                              <m:t>1100.7268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16.4216</m:t>
                                                  </m:r>
                                                </m:e>
                                                <m:e>
                                                  <m:r>
                                                    <a:rPr lang="en-US" altLang="zh-TW" b="0" i="1" smtClean="0">
                                                      <a:latin typeface="Cambria Math" panose="02040503050406030204" pitchFamily="18" charset="0"/>
                                                    </a:rPr>
                                                    <m:t>−195.2293</m:t>
                                                  </m:r>
                                                </m:e>
                                                <m:e>
                                                  <m:r>
                                                    <a:rPr lang="en-US" altLang="zh-TW" b="0" i="1" smtClean="0">
                                                      <a:latin typeface="Cambria Math" panose="02040503050406030204" pitchFamily="18" charset="0"/>
                                                    </a:rPr>
                                                    <m:t>−195.8823</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341.2523</m:t>
                                                  </m:r>
                                                </m:e>
                                                <m:e>
                                                  <m:r>
                                                    <a:rPr lang="en-US" altLang="zh-TW" b="0" i="1" smtClean="0">
                                                      <a:latin typeface="Cambria Math" panose="02040503050406030204" pitchFamily="18" charset="0"/>
                                                    </a:rPr>
                                                    <m:t>−18.5100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177.7155</m:t>
                                                        </m:r>
                                                      </m:e>
                                                      <m:e>
                                                        <m:r>
                                                          <a:rPr lang="en-US" altLang="zh-TW" b="0" i="1" smtClean="0">
                                                            <a:latin typeface="Cambria Math" panose="02040503050406030204" pitchFamily="18" charset="0"/>
                                                          </a:rPr>
                                                          <m:t>−349.8065</m:t>
                                                        </m:r>
                                                      </m:e>
                                                      <m:e>
                                                        <m:r>
                                                          <a:rPr lang="en-US" altLang="zh-TW" b="0" i="1" smtClean="0">
                                                            <a:latin typeface="Cambria Math" panose="02040503050406030204" pitchFamily="18" charset="0"/>
                                                          </a:rPr>
                                                          <m:t>−182.7706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341.9293</m:t>
                                                  </m:r>
                                                </m:e>
                                                <m:e>
                                                  <m:r>
                                                    <a:rPr lang="en-US" altLang="zh-TW" b="0" i="1" smtClean="0">
                                                      <a:latin typeface="Cambria Math" panose="02040503050406030204" pitchFamily="18" charset="0"/>
                                                    </a:rPr>
                                                    <m:t>−178.8942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342.8637</m:t>
                                                        </m:r>
                                                      </m:e>
                                                      <m:e>
                                                        <m:r>
                                                          <a:rPr lang="en-US" altLang="zh-TW" b="0" i="1" smtClean="0">
                                                            <a:latin typeface="Cambria Math" panose="02040503050406030204" pitchFamily="18" charset="0"/>
                                                          </a:rPr>
                                                          <m:t>1163.5566</m:t>
                                                        </m:r>
                                                      </m:e>
                                                      <m:e>
                                                        <m:r>
                                                          <a:rPr lang="en-US" altLang="zh-TW" b="0" i="1" smtClean="0">
                                                            <a:latin typeface="Cambria Math" panose="02040503050406030204" pitchFamily="18" charset="0"/>
                                                          </a:rPr>
                                                          <m:t>−17.9044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194.5887</m:t>
                                                  </m:r>
                                                </m:e>
                                                <m:e>
                                                  <m:r>
                                                    <a:rPr lang="en-US" altLang="zh-TW" b="0" i="1" smtClean="0">
                                                      <a:latin typeface="Cambria Math" panose="02040503050406030204" pitchFamily="18" charset="0"/>
                                                    </a:rPr>
                                                    <m:t>−197.5220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198.0680</m:t>
                                                        </m:r>
                                                      </m:e>
                                                      <m:e>
                                                        <m:r>
                                                          <a:rPr lang="en-US" altLang="zh-TW" b="0" i="1" smtClean="0">
                                                            <a:latin typeface="Cambria Math" panose="02040503050406030204" pitchFamily="18" charset="0"/>
                                                          </a:rPr>
                                                          <m:t>−16.5874</m:t>
                                                        </m:r>
                                                      </m:e>
                                                      <m:e>
                                                        <m:r>
                                                          <a:rPr lang="en-US" altLang="zh-TW" b="0" i="1" smtClean="0">
                                                            <a:latin typeface="Cambria Math" panose="02040503050406030204" pitchFamily="18" charset="0"/>
                                                          </a:rPr>
                                                          <m:t>1106.8345</m:t>
                                                        </m:r>
                                                      </m:e>
                                                    </m:mr>
                                                  </m:m>
                                                </m:e>
                                              </m:mr>
                                            </m:m>
                                          </m:e>
                                        </m:mr>
                                      </m:m>
                                    </m:e>
                                  </m:mr>
                                </m:m>
                              </m:e>
                            </m:mr>
                          </m:m>
                        </m:e>
                      </m:d>
                      <m:r>
                        <a:rPr lang="en-US" altLang="zh-TW" b="0" i="1" smtClean="0">
                          <a:latin typeface="Cambria Math" panose="02040503050406030204" pitchFamily="18" charset="0"/>
                        </a:rPr>
                        <m:t>(</m:t>
                      </m:r>
                      <m:r>
                        <a:rPr lang="en-US" altLang="zh-TW" b="0" i="1" smtClean="0">
                          <a:latin typeface="Cambria Math" panose="02040503050406030204" pitchFamily="18" charset="0"/>
                        </a:rPr>
                        <m:t>𝑚𝑉</m:t>
                      </m:r>
                      <m:r>
                        <a:rPr lang="en-US" altLang="zh-TW" b="0" i="1" smtClean="0">
                          <a:latin typeface="Cambria Math" panose="02040503050406030204" pitchFamily="18" charset="0"/>
                        </a:rPr>
                        <m:t>)</m:t>
                      </m:r>
                    </m:oMath>
                  </m:oMathPara>
                </a14:m>
                <a:endParaRPr lang="zh-TW" altLang="en-US" dirty="0"/>
              </a:p>
            </p:txBody>
          </p:sp>
        </mc:Choice>
        <mc:Fallback xmlns="">
          <p:sp>
            <p:nvSpPr>
              <p:cNvPr id="31" name="文字方塊 30">
                <a:extLst>
                  <a:ext uri="{FF2B5EF4-FFF2-40B4-BE49-F238E27FC236}">
                    <a16:creationId xmlns:a16="http://schemas.microsoft.com/office/drawing/2014/main" id="{6F8948F3-0F3C-451F-84CE-F3F646D0DBE3}"/>
                  </a:ext>
                </a:extLst>
              </p:cNvPr>
              <p:cNvSpPr txBox="1">
                <a:spLocks noRot="1" noChangeAspect="1" noMove="1" noResize="1" noEditPoints="1" noAdjustHandles="1" noChangeArrowheads="1" noChangeShapeType="1" noTextEdit="1"/>
              </p:cNvSpPr>
              <p:nvPr/>
            </p:nvSpPr>
            <p:spPr>
              <a:xfrm>
                <a:off x="-325339" y="5084474"/>
                <a:ext cx="9955395" cy="1615955"/>
              </a:xfrm>
              <a:prstGeom prst="rect">
                <a:avLst/>
              </a:prstGeom>
              <a:blipFill>
                <a:blip r:embed="rId16"/>
                <a:stretch>
                  <a:fillRect/>
                </a:stretch>
              </a:blipFill>
            </p:spPr>
            <p:txBody>
              <a:bodyPr/>
              <a:lstStyle/>
              <a:p>
                <a:r>
                  <a:rPr lang="zh-TW" altLang="en-US">
                    <a:noFill/>
                  </a:rPr>
                  <a:t> </a:t>
                </a:r>
              </a:p>
            </p:txBody>
          </p:sp>
        </mc:Fallback>
      </mc:AlternateContent>
      <p:sp>
        <p:nvSpPr>
          <p:cNvPr id="32" name="文字方塊 31">
            <a:extLst>
              <a:ext uri="{FF2B5EF4-FFF2-40B4-BE49-F238E27FC236}">
                <a16:creationId xmlns:a16="http://schemas.microsoft.com/office/drawing/2014/main" id="{8BD29372-82A9-471D-8956-3EF209817B19}"/>
              </a:ext>
            </a:extLst>
          </p:cNvPr>
          <p:cNvSpPr txBox="1"/>
          <p:nvPr/>
        </p:nvSpPr>
        <p:spPr>
          <a:xfrm>
            <a:off x="8671083" y="3310009"/>
            <a:ext cx="3479800" cy="230832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In this case, the sensor positions were varied. The figures above show the corresponding sensor locations, while the calibration results are presented below.</a:t>
            </a:r>
          </a:p>
          <a:p>
            <a:pPr marL="285750" indent="-285750">
              <a:buFont typeface="Arial" panose="020B0604020202020204" pitchFamily="34" charset="0"/>
              <a:buChar char="•"/>
            </a:pPr>
            <a:r>
              <a:rPr lang="en-US" altLang="zh-TW" dirty="0"/>
              <a:t>The sensor position does not affect the model’s prediction results.</a:t>
            </a:r>
            <a:endParaRPr lang="zh-TW" altLang="en-US" dirty="0"/>
          </a:p>
        </p:txBody>
      </p:sp>
    </p:spTree>
    <p:extLst>
      <p:ext uri="{BB962C8B-B14F-4D97-AF65-F5344CB8AC3E}">
        <p14:creationId xmlns:p14="http://schemas.microsoft.com/office/powerpoint/2010/main" val="186522399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5D90F99-C8C4-4118-8B5D-622772FB5F1C}">
  <we:reference id="wa200010725" version="1.0.0.1" store="en-US" storeType="OMEX"/>
  <we:alternateReferences>
    <we:reference id="WA200010725" version="1.0.0.1" store="" storeType="OMEX"/>
  </we:alternateReferences>
  <we:properties>
    <we:property name="claude.fileId" value="&quot;095dca8f-905f-445c-9aec-e26a4d70a72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12083</TotalTime>
  <Words>1147</Words>
  <Application>Microsoft Office PowerPoint</Application>
  <PresentationFormat>寬螢幕</PresentationFormat>
  <Paragraphs>158</Paragraphs>
  <Slides>15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Aptos</vt:lpstr>
      <vt:lpstr>Arial</vt:lpstr>
      <vt:lpstr>Calibri</vt:lpstr>
      <vt:lpstr>Calibri Light</vt:lpstr>
      <vt:lpstr>Cambria Math</vt:lpstr>
      <vt:lpstr>Times New Roman</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121</cp:revision>
  <dcterms:created xsi:type="dcterms:W3CDTF">2026-07-23T11:39:15Z</dcterms:created>
  <dcterms:modified xsi:type="dcterms:W3CDTF">2026-08-02T16:21:17Z</dcterms:modified>
</cp:coreProperties>
</file>