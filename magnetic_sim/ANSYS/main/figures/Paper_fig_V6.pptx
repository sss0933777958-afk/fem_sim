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84" r:id="rId4"/>
    <p:sldId id="285" r:id="rId5"/>
    <p:sldId id="269" r:id="rId6"/>
    <p:sldId id="283" r:id="rId7"/>
    <p:sldId id="272" r:id="rId8"/>
    <p:sldId id="275" r:id="rId9"/>
    <p:sldId id="273" r:id="rId10"/>
    <p:sldId id="280" r:id="rId11"/>
    <p:sldId id="281" r:id="rId12"/>
    <p:sldId id="282" r:id="rId13"/>
    <p:sldId id="274" r:id="rId14"/>
    <p:sldId id="276" r:id="rId15"/>
    <p:sldId id="277"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2026/8/12</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2026/8/12</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70.png"/><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9.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30.png"/><Relationship Id="rId7" Type="http://schemas.openxmlformats.org/officeDocument/2006/relationships/image" Target="../media/image23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0.xml.rels><?xml version="1.0" encoding="UTF-8" standalone="yes"?>
<Relationships xmlns="http://schemas.openxmlformats.org/package/2006/relationships"><Relationship Id="rId3" Type="http://schemas.openxmlformats.org/officeDocument/2006/relationships/image" Target="../media/image480.png"/><Relationship Id="rId7"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290.png"/><Relationship Id="rId5" Type="http://schemas.openxmlformats.org/officeDocument/2006/relationships/image" Target="../media/image280.png"/><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6.png"/><Relationship Id="rId18" Type="http://schemas.openxmlformats.org/officeDocument/2006/relationships/image" Target="../media/image42.png"/><Relationship Id="rId3" Type="http://schemas.openxmlformats.org/officeDocument/2006/relationships/image" Target="../media/image47.png"/><Relationship Id="rId7" Type="http://schemas.openxmlformats.org/officeDocument/2006/relationships/image" Target="../media/image53.png"/><Relationship Id="rId12" Type="http://schemas.openxmlformats.org/officeDocument/2006/relationships/image" Target="../media/image35.png"/><Relationship Id="rId17" Type="http://schemas.openxmlformats.org/officeDocument/2006/relationships/image" Target="../media/image41.png"/><Relationship Id="rId2" Type="http://schemas.openxmlformats.org/officeDocument/2006/relationships/image" Target="../media/image31.png"/><Relationship Id="rId16"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34.png"/><Relationship Id="rId5" Type="http://schemas.openxmlformats.org/officeDocument/2006/relationships/image" Target="../media/image51.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3.png"/><Relationship Id="rId4" Type="http://schemas.openxmlformats.org/officeDocument/2006/relationships/image" Target="../media/image50.png"/><Relationship Id="rId9" Type="http://schemas.openxmlformats.org/officeDocument/2006/relationships/image" Target="../media/image320.png"/><Relationship Id="rId14"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6.png"/><Relationship Id="rId18" Type="http://schemas.openxmlformats.org/officeDocument/2006/relationships/image" Target="../media/image42.png"/><Relationship Id="rId3" Type="http://schemas.openxmlformats.org/officeDocument/2006/relationships/image" Target="../media/image47.png"/><Relationship Id="rId7" Type="http://schemas.openxmlformats.org/officeDocument/2006/relationships/image" Target="../media/image53.png"/><Relationship Id="rId12" Type="http://schemas.openxmlformats.org/officeDocument/2006/relationships/image" Target="../media/image35.png"/><Relationship Id="rId17" Type="http://schemas.openxmlformats.org/officeDocument/2006/relationships/image" Target="../media/image41.png"/><Relationship Id="rId2" Type="http://schemas.openxmlformats.org/officeDocument/2006/relationships/image" Target="../media/image31.png"/><Relationship Id="rId16"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34.png"/><Relationship Id="rId5" Type="http://schemas.openxmlformats.org/officeDocument/2006/relationships/image" Target="../media/image51.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3.png"/><Relationship Id="rId4" Type="http://schemas.openxmlformats.org/officeDocument/2006/relationships/image" Target="../media/image50.png"/><Relationship Id="rId9" Type="http://schemas.openxmlformats.org/officeDocument/2006/relationships/image" Target="../media/image320.png"/><Relationship Id="rId1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
        <p:nvSpPr>
          <p:cNvPr id="3" name="副標題 2">
            <a:extLst>
              <a:ext uri="{FF2B5EF4-FFF2-40B4-BE49-F238E27FC236}">
                <a16:creationId xmlns:a16="http://schemas.microsoft.com/office/drawing/2014/main" id="{19B95CEF-03F4-426E-B312-4404BF04FCFA}"/>
              </a:ext>
            </a:extLst>
          </p:cNvPr>
          <p:cNvSpPr>
            <a:spLocks noGrp="1"/>
          </p:cNvSpPr>
          <p:nvPr>
            <p:ph type="subTitle" idx="1"/>
          </p:nvPr>
        </p:nvSpPr>
        <p:spPr>
          <a:xfrm>
            <a:off x="1524000" y="4203171"/>
            <a:ext cx="9144000" cy="1655762"/>
          </a:xfrm>
        </p:spPr>
        <p:txBody>
          <a:bodyPr/>
          <a:lstStyle/>
          <a:p>
            <a:endParaRPr lang="zh-TW" altLang="en-US" sz="2800" b="1" kern="100" dirty="0">
              <a:solidFill>
                <a:srgbClr val="000000"/>
              </a:solidFill>
              <a:latin typeface="Aptos"/>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65108"/>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文字方塊 11">
                <a:extLst>
                  <a:ext uri="{FF2B5EF4-FFF2-40B4-BE49-F238E27FC236}">
                    <a16:creationId xmlns:a16="http://schemas.microsoft.com/office/drawing/2014/main" id="{CCED5BA9-38C0-4DFD-921E-90F2FF1A615D}"/>
                  </a:ext>
                </a:extLst>
              </p:cNvPr>
              <p:cNvSpPr txBox="1"/>
              <p:nvPr/>
            </p:nvSpPr>
            <p:spPr>
              <a:xfrm>
                <a:off x="135467" y="1102250"/>
                <a:ext cx="5232404" cy="5784019"/>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𝜙</m:t>
                        </m:r>
                      </m:sub>
                    </m:sSub>
                    <m:r>
                      <a:rPr lang="en-US" altLang="zh-TW" b="0" i="0" smtClean="0">
                        <a:latin typeface="Cambria Math" panose="02040503050406030204" pitchFamily="18" charset="0"/>
                      </a:rPr>
                      <m:t>,</m:t>
                    </m:r>
                    <m:r>
                      <a:rPr lang="en-US" altLang="zh-TW" b="0" i="1" smtClean="0">
                        <a:latin typeface="Cambria Math" panose="02040503050406030204" pitchFamily="18" charset="0"/>
                      </a:rPr>
                      <m:t>𝑅</m:t>
                    </m:r>
                  </m:oMath>
                </a14:m>
                <a:r>
                  <a:rPr lang="zh-TW" altLang="en-US" dirty="0"/>
                  <a:t>，</a:t>
                </a:r>
                <a:r>
                  <a:rPr lang="en-US" altLang="zh-TW" dirty="0"/>
                  <a:t> These represent the numbers of divisions required along the three coordinate directions of the sphere</a:t>
                </a:r>
                <a:r>
                  <a:rPr lang="zh-TW" altLang="en-US" dirty="0"/>
                  <a:t>，</a:t>
                </a:r>
                <a:r>
                  <a:rPr lang="en-US" altLang="zh-TW" dirty="0"/>
                  <a:t> where </a:t>
                </a:r>
                <a14:m>
                  <m:oMath xmlns:m="http://schemas.openxmlformats.org/officeDocument/2006/math">
                    <m:r>
                      <a:rPr lang="en-US" altLang="zh-TW" b="0" i="1" smtClean="0">
                        <a:latin typeface="Cambria Math" panose="02040503050406030204" pitchFamily="18" charset="0"/>
                      </a:rPr>
                      <m:t>𝑟</m:t>
                    </m:r>
                    <m:r>
                      <a:rPr lang="en-US" altLang="zh-TW" i="1">
                        <a:latin typeface="Cambria Math" panose="02040503050406030204" pitchFamily="18" charset="0"/>
                        <a:ea typeface="Cambria Math" panose="02040503050406030204" pitchFamily="18" charset="0"/>
                      </a:rPr>
                      <m:t>𝜖</m:t>
                    </m:r>
                    <m:r>
                      <a:rPr lang="en-US" altLang="zh-TW" b="0" i="1" smtClean="0">
                        <a:latin typeface="Cambria Math" panose="02040503050406030204" pitchFamily="18" charset="0"/>
                        <a:ea typeface="Cambria Math" panose="02040503050406030204" pitchFamily="18" charset="0"/>
                      </a:rPr>
                      <m:t>(0  </m:t>
                    </m:r>
                    <m:r>
                      <a:rPr lang="en-US" altLang="zh-TW" b="0" i="1" smtClean="0">
                        <a:latin typeface="Cambria Math" panose="02040503050406030204" pitchFamily="18" charset="0"/>
                        <a:ea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oMath>
                </a14:m>
                <a:r>
                  <a:rPr lang="zh-TW" altLang="en-US" dirty="0"/>
                  <a:t>，</a:t>
                </a:r>
                <a14:m>
                  <m:oMath xmlns:m="http://schemas.openxmlformats.org/officeDocument/2006/math">
                    <m:r>
                      <a:rPr lang="zh-TW" altLang="en-US" i="1" smtClean="0">
                        <a:latin typeface="Cambria Math" panose="02040503050406030204" pitchFamily="18" charset="0"/>
                      </a:rPr>
                      <m:t>𝜃𝜖</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0  2</m:t>
                        </m:r>
                        <m:r>
                          <a:rPr lang="zh-TW" altLang="en-US" b="0" i="1" smtClean="0">
                            <a:latin typeface="Cambria Math" panose="02040503050406030204" pitchFamily="18" charset="0"/>
                          </a:rPr>
                          <m:t>𝜋</m:t>
                        </m:r>
                      </m:e>
                    </m:d>
                  </m:oMath>
                </a14:m>
                <a:r>
                  <a:rPr lang="zh-TW" altLang="en-US" dirty="0"/>
                  <a:t>，</a:t>
                </a:r>
                <a14:m>
                  <m:oMath xmlns:m="http://schemas.openxmlformats.org/officeDocument/2006/math">
                    <m:r>
                      <a:rPr lang="zh-TW" altLang="en-US" i="1" dirty="0" smtClean="0">
                        <a:latin typeface="Cambria Math" panose="02040503050406030204" pitchFamily="18" charset="0"/>
                      </a:rPr>
                      <m:t>𝜙𝜖</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   </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m:t>
                    </m:r>
                  </m:oMath>
                </a14:m>
                <a:r>
                  <a:rPr lang="zh-TW" altLang="en-US" dirty="0"/>
                  <a:t>。</a:t>
                </a: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The sphere is uniformly divided along its three coordinate directions according to the following three equations.</a:t>
                </a: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−0.5</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den>
                              </m:f>
                            </m:e>
                          </m:d>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3</m:t>
                              </m:r>
                            </m:den>
                          </m:f>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𝜙</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𝑐𝑜𝑠</m:t>
                          </m:r>
                        </m:e>
                        <m:sup>
                          <m:r>
                            <a:rPr lang="en-US" altLang="zh-TW" b="0" i="1" smtClean="0">
                              <a:latin typeface="Cambria Math" panose="02040503050406030204" pitchFamily="18" charset="0"/>
                            </a:rPr>
                            <m:t>−1</m:t>
                          </m:r>
                        </m:sup>
                      </m:sSup>
                      <m:d>
                        <m:dPr>
                          <m:begChr m:val="["/>
                          <m:endChr m:val="]"/>
                          <m:ctrlPr>
                            <a:rPr lang="en-US" altLang="zh-TW" b="0" i="1" smtClean="0">
                              <a:latin typeface="Cambria Math" panose="02040503050406030204" pitchFamily="18" charset="0"/>
                            </a:rPr>
                          </m:ctrlPr>
                        </m:dPr>
                        <m:e>
                          <m:r>
                            <a:rPr lang="en-US" altLang="zh-TW" i="1">
                              <a:latin typeface="Cambria Math" panose="02040503050406030204" pitchFamily="18" charset="0"/>
                            </a:rPr>
                            <m:t>1−</m:t>
                          </m:r>
                          <m:f>
                            <m:fPr>
                              <m:ctrlPr>
                                <a:rPr lang="en-US" altLang="zh-TW" i="1">
                                  <a:latin typeface="Cambria Math" panose="02040503050406030204" pitchFamily="18" charset="0"/>
                                </a:rPr>
                              </m:ctrlPr>
                            </m:fPr>
                            <m:num>
                              <m:d>
                                <m:dPr>
                                  <m:ctrlPr>
                                    <a:rPr lang="en-US" altLang="zh-TW" i="1">
                                      <a:latin typeface="Cambria Math" panose="02040503050406030204" pitchFamily="18" charset="0"/>
                                    </a:rPr>
                                  </m:ctrlPr>
                                </m:dPr>
                                <m:e>
                                  <m:r>
                                    <a:rPr lang="en-US" altLang="zh-TW" i="1">
                                      <a:latin typeface="Cambria Math" panose="02040503050406030204" pitchFamily="18" charset="0"/>
                                    </a:rPr>
                                    <m:t>2</m:t>
                                  </m:r>
                                  <m:r>
                                    <a:rPr lang="en-US" altLang="zh-TW" b="0" i="1" smtClean="0">
                                      <a:latin typeface="Cambria Math" panose="02040503050406030204" pitchFamily="18" charset="0"/>
                                    </a:rPr>
                                    <m:t>𝑗</m:t>
                                  </m:r>
                                  <m:r>
                                    <a:rPr lang="en-US" altLang="zh-TW" i="1">
                                      <a:latin typeface="Cambria Math" panose="02040503050406030204" pitchFamily="18" charset="0"/>
                                    </a:rPr>
                                    <m:t>−1</m:t>
                                  </m:r>
                                </m:e>
                              </m:d>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l-GR" altLang="zh-TW" i="1">
                                      <a:latin typeface="Cambria Math" panose="02040503050406030204" pitchFamily="18" charset="0"/>
                                      <a:ea typeface="Cambria Math" panose="02040503050406030204" pitchFamily="18" charset="0"/>
                                    </a:rPr>
                                    <m:t>𝜙</m:t>
                                  </m:r>
                                </m:sub>
                              </m:sSub>
                            </m:den>
                          </m:f>
                        </m:e>
                      </m:d>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𝜃</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=2</m:t>
                      </m:r>
                      <m:r>
                        <a:rPr lang="zh-TW" altLang="en-US" b="0" i="1" smtClean="0">
                          <a:latin typeface="Cambria Math" panose="02040503050406030204" pitchFamily="18" charset="0"/>
                        </a:rPr>
                        <m:t>𝜋</m:t>
                      </m:r>
                      <m:r>
                        <a:rPr lang="en-US" altLang="zh-TW" i="1">
                          <a:latin typeface="Cambria Math" panose="02040503050406030204" pitchFamily="18" charset="0"/>
                          <a:ea typeface="Cambria Math" panose="02040503050406030204" pitchFamily="18" charset="0"/>
                        </a:rPr>
                        <m:t>∙</m:t>
                      </m:r>
                      <m:f>
                        <m:fPr>
                          <m:ctrlPr>
                            <a:rPr lang="en-US" altLang="zh-TW"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−0.5</m:t>
                          </m:r>
                        </m:num>
                        <m:den>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i="1" smtClean="0">
                                  <a:latin typeface="Cambria Math" panose="02040503050406030204" pitchFamily="18" charset="0"/>
                                  <a:ea typeface="Cambria Math" panose="02040503050406030204" pitchFamily="18" charset="0"/>
                                </a:rPr>
                                <m:t>𝜃</m:t>
                              </m:r>
                            </m:sub>
                          </m:sSub>
                        </m:den>
                      </m:f>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k</m:t>
                      </m:r>
                      <m:r>
                        <a:rPr lang="en-US" altLang="zh-TW" b="0" i="0"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b="0" i="1" smtClean="0">
                              <a:latin typeface="Cambria Math" panose="02040503050406030204" pitchFamily="18" charset="0"/>
                              <a:ea typeface="Cambria Math" panose="02040503050406030204" pitchFamily="18" charset="0"/>
                            </a:rPr>
                            <m:t>𝜃</m:t>
                          </m:r>
                        </m:sub>
                      </m:sSub>
                    </m:oMath>
                  </m:oMathPara>
                </a14:m>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a:endParaRPr lang="zh-TW" altLang="en-US" dirty="0"/>
              </a:p>
            </p:txBody>
          </p:sp>
        </mc:Choice>
        <mc:Fallback>
          <p:sp>
            <p:nvSpPr>
              <p:cNvPr id="12" name="文字方塊 11">
                <a:extLst>
                  <a:ext uri="{FF2B5EF4-FFF2-40B4-BE49-F238E27FC236}">
                    <a16:creationId xmlns:a16="http://schemas.microsoft.com/office/drawing/2014/main" id="{CCED5BA9-38C0-4DFD-921E-90F2FF1A615D}"/>
                  </a:ext>
                </a:extLst>
              </p:cNvPr>
              <p:cNvSpPr txBox="1">
                <a:spLocks noRot="1" noChangeAspect="1" noMove="1" noResize="1" noEditPoints="1" noAdjustHandles="1" noChangeArrowheads="1" noChangeShapeType="1" noTextEdit="1"/>
              </p:cNvSpPr>
              <p:nvPr/>
            </p:nvSpPr>
            <p:spPr>
              <a:xfrm>
                <a:off x="135467" y="1102250"/>
                <a:ext cx="5232404" cy="5784019"/>
              </a:xfrm>
              <a:prstGeom prst="rect">
                <a:avLst/>
              </a:prstGeom>
              <a:blipFill>
                <a:blip r:embed="rId2"/>
                <a:stretch>
                  <a:fillRect l="-931" t="-52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BAC94394-2803-4407-90C8-1813E84CFAFF}"/>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p:sp>
            <p:nvSpPr>
              <p:cNvPr id="17" name="文字方塊 16">
                <a:extLst>
                  <a:ext uri="{FF2B5EF4-FFF2-40B4-BE49-F238E27FC236}">
                    <a16:creationId xmlns:a16="http://schemas.microsoft.com/office/drawing/2014/main" id="{BAC94394-2803-4407-90C8-1813E84CFAFF}"/>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3"/>
                <a:stretch>
                  <a:fillRect l="-845" t="-707" r="-37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12" name="文字方塊 11">
                <a:extLst>
                  <a:ext uri="{FF2B5EF4-FFF2-40B4-BE49-F238E27FC236}">
                    <a16:creationId xmlns:a16="http://schemas.microsoft.com/office/drawing/2014/main" id="{FBD9F285-E19C-4465-9425-57DFB03A945C}"/>
                  </a:ext>
                </a:extLst>
              </p:cNvPr>
              <p:cNvSpPr txBox="1"/>
              <p:nvPr/>
            </p:nvSpPr>
            <p:spPr>
              <a:xfrm>
                <a:off x="27458" y="869041"/>
                <a:ext cx="4529667" cy="1244828"/>
              </a:xfrm>
              <a:prstGeom prst="rect">
                <a:avLst/>
              </a:prstGeom>
              <a:noFill/>
            </p:spPr>
            <p:txBody>
              <a:bodyPr wrap="square" rtlCol="0">
                <a:spAutoFit/>
              </a:bodyPr>
              <a:lstStyle/>
              <a:p>
                <a:pPr marL="342900" indent="-342900">
                  <a:buFont typeface="+mj-lt"/>
                  <a:buAutoNum type="arabicPeriod"/>
                </a:pPr>
                <a:r>
                  <a:rPr lang="en-US" altLang="zh-TW" b="1" dirty="0"/>
                  <a:t>Initial Setup:</a:t>
                </a:r>
              </a:p>
              <a:p>
                <a:pPr lvl="1"/>
                <a:r>
                  <a:rPr lang="en-US" altLang="zh-TW" dirty="0">
                    <a:latin typeface="Times New Roman" panose="02020603050405020304" pitchFamily="18" charset="0"/>
                    <a:cs typeface="Times New Roman" panose="02020603050405020304" pitchFamily="18" charset="0"/>
                  </a:rPr>
                  <a:t>Initialize </a:t>
                </a:r>
                <a14:m>
                  <m:oMath xmlns:m="http://schemas.openxmlformats.org/officeDocument/2006/math">
                    <m:d>
                      <m:dPr>
                        <m:begChr m:val="["/>
                        <m:endChr m:val="]"/>
                        <m:ctrlPr>
                          <a:rPr lang="en-US" altLang="zh-TW"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𝜃</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e>
                    </m:d>
                  </m:oMath>
                </a14:m>
                <a:r>
                  <a:rPr lang="en-US" altLang="zh-TW" dirty="0">
                    <a:latin typeface="Times New Roman" panose="02020603050405020304" pitchFamily="18" charset="0"/>
                    <a:cs typeface="Times New Roman" panose="02020603050405020304" pitchFamily="18" charset="0"/>
                  </a:rPr>
                  <a:t> as [1 2 3]</a:t>
                </a:r>
              </a:p>
              <a:p>
                <a:pPr marL="342900" indent="-342900">
                  <a:buFont typeface="+mj-lt"/>
                  <a:buAutoNum type="arabicPeriod"/>
                </a:pPr>
                <a:r>
                  <a:rPr lang="en-US" altLang="zh-TW" dirty="0"/>
                  <a:t> </a:t>
                </a:r>
                <a:endParaRPr lang="zh-TW" altLang="en-US" dirty="0"/>
              </a:p>
              <a:p>
                <a:pPr lvl="1"/>
                <a:endParaRPr lang="en-US" altLang="zh-TW" dirty="0"/>
              </a:p>
            </p:txBody>
          </p:sp>
        </mc:Choice>
        <mc:Fallback>
          <p:sp>
            <p:nvSpPr>
              <p:cNvPr id="12" name="文字方塊 11">
                <a:extLst>
                  <a:ext uri="{FF2B5EF4-FFF2-40B4-BE49-F238E27FC236}">
                    <a16:creationId xmlns:a16="http://schemas.microsoft.com/office/drawing/2014/main" id="{FBD9F285-E19C-4465-9425-57DFB03A945C}"/>
                  </a:ext>
                </a:extLst>
              </p:cNvPr>
              <p:cNvSpPr txBox="1">
                <a:spLocks noRot="1" noChangeAspect="1" noMove="1" noResize="1" noEditPoints="1" noAdjustHandles="1" noChangeArrowheads="1" noChangeShapeType="1" noTextEdit="1"/>
              </p:cNvSpPr>
              <p:nvPr/>
            </p:nvSpPr>
            <p:spPr>
              <a:xfrm>
                <a:off x="27458" y="869041"/>
                <a:ext cx="4529667" cy="1244828"/>
              </a:xfrm>
              <a:prstGeom prst="rect">
                <a:avLst/>
              </a:prstGeom>
              <a:blipFill>
                <a:blip r:embed="rId2"/>
                <a:stretch>
                  <a:fillRect l="-1211" t="-294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 name="文字方塊 28">
                <a:extLst>
                  <a:ext uri="{FF2B5EF4-FFF2-40B4-BE49-F238E27FC236}">
                    <a16:creationId xmlns:a16="http://schemas.microsoft.com/office/drawing/2014/main" id="{FD4AE21D-3CDB-4A88-AE53-727E7FB23C2D}"/>
                  </a:ext>
                </a:extLst>
              </p:cNvPr>
              <p:cNvSpPr txBox="1"/>
              <p:nvPr/>
            </p:nvSpPr>
            <p:spPr>
              <a:xfrm>
                <a:off x="73031" y="1722513"/>
                <a:ext cx="6988169" cy="2075825"/>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The parameters are allocated according to the ratio</a:t>
                </a:r>
                <a14:m>
                  <m:oMath xmlns:m="http://schemas.openxmlformats.org/officeDocument/2006/math">
                    <m:d>
                      <m:dPr>
                        <m:begChr m:val="["/>
                        <m:endChr m:val="]"/>
                        <m:ctrlPr>
                          <a:rPr lang="en-US" altLang="zh-TW"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𝜃</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e>
                    </m:d>
                    <m:r>
                      <a:rPr lang="en-US" altLang="zh-TW" b="0" i="1" smtClean="0">
                        <a:latin typeface="Cambria Math" panose="02040503050406030204" pitchFamily="18" charset="0"/>
                      </a:rPr>
                      <m:t>=[1:3</m:t>
                    </m:r>
                    <m:r>
                      <a:rPr lang="zh-TW" altLang="en-US" b="0" i="1" smtClean="0">
                        <a:latin typeface="Cambria Math" panose="02040503050406030204" pitchFamily="18" charset="0"/>
                      </a:rPr>
                      <m:t>𝜋</m:t>
                    </m:r>
                    <m:r>
                      <a:rPr lang="en-US" altLang="zh-TW" b="0" i="1" smtClean="0">
                        <a:latin typeface="Cambria Math" panose="02040503050406030204" pitchFamily="18" charset="0"/>
                      </a:rPr>
                      <m:t>:3]</m:t>
                    </m:r>
                  </m:oMath>
                </a14:m>
                <a:r>
                  <a:rPr lang="zh-TW" altLang="en-US"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which is derived from the assumption that the three side lengths of an infinitesimal volume element in the sphere are equal. For each adjustment step, each parameter is divided by its corresponding ratio value, and the parameter with the smallest quotient is incremented by 1. This procedure is repeated for a total of 200 steps. After 200 iterations, the final parameter values are [16 46 143]</a:t>
                </a:r>
                <a:endParaRPr lang="zh-TW" altLang="en-US" dirty="0">
                  <a:latin typeface="Times New Roman" panose="02020603050405020304" pitchFamily="18" charset="0"/>
                  <a:cs typeface="Times New Roman" panose="02020603050405020304" pitchFamily="18" charset="0"/>
                </a:endParaRPr>
              </a:p>
            </p:txBody>
          </p:sp>
        </mc:Choice>
        <mc:Fallback>
          <p:sp>
            <p:nvSpPr>
              <p:cNvPr id="29" name="文字方塊 28">
                <a:extLst>
                  <a:ext uri="{FF2B5EF4-FFF2-40B4-BE49-F238E27FC236}">
                    <a16:creationId xmlns:a16="http://schemas.microsoft.com/office/drawing/2014/main" id="{FD4AE21D-3CDB-4A88-AE53-727E7FB23C2D}"/>
                  </a:ext>
                </a:extLst>
              </p:cNvPr>
              <p:cNvSpPr txBox="1">
                <a:spLocks noRot="1" noChangeAspect="1" noMove="1" noResize="1" noEditPoints="1" noAdjustHandles="1" noChangeArrowheads="1" noChangeShapeType="1" noTextEdit="1"/>
              </p:cNvSpPr>
              <p:nvPr/>
            </p:nvSpPr>
            <p:spPr>
              <a:xfrm>
                <a:off x="73031" y="1722513"/>
                <a:ext cx="6988169" cy="2075825"/>
              </a:xfrm>
              <a:prstGeom prst="rect">
                <a:avLst/>
              </a:prstGeom>
              <a:blipFill>
                <a:blip r:embed="rId3"/>
                <a:stretch>
                  <a:fillRect l="-785" t="-882" r="-960" b="-3824"/>
                </a:stretch>
              </a:blipFill>
            </p:spPr>
            <p:txBody>
              <a:bodyPr/>
              <a:lstStyle/>
              <a:p>
                <a:r>
                  <a:rPr lang="zh-TW" altLang="en-US">
                    <a:noFill/>
                  </a:rPr>
                  <a:t> </a:t>
                </a:r>
              </a:p>
            </p:txBody>
          </p:sp>
        </mc:Fallback>
      </mc:AlternateContent>
      <p:sp>
        <p:nvSpPr>
          <p:cNvPr id="30" name="文字方塊 29">
            <a:extLst>
              <a:ext uri="{FF2B5EF4-FFF2-40B4-BE49-F238E27FC236}">
                <a16:creationId xmlns:a16="http://schemas.microsoft.com/office/drawing/2014/main" id="{4CC4A7E9-E06B-49A0-AC45-B9C557A9A3FE}"/>
              </a:ext>
            </a:extLst>
          </p:cNvPr>
          <p:cNvSpPr txBox="1"/>
          <p:nvPr/>
        </p:nvSpPr>
        <p:spPr>
          <a:xfrm>
            <a:off x="27458" y="3784784"/>
            <a:ext cx="6251569" cy="1477328"/>
          </a:xfrm>
          <a:prstGeom prst="rect">
            <a:avLst/>
          </a:prstGeom>
          <a:noFill/>
        </p:spPr>
        <p:txBody>
          <a:bodyPr wrap="square" rtlCol="0">
            <a:spAutoFit/>
          </a:bodyPr>
          <a:lstStyle/>
          <a:p>
            <a:pPr marL="342900" indent="-342900">
              <a:buFont typeface="+mj-lt"/>
              <a:buAutoNum type="arabicPeriod" startAt="3"/>
            </a:pPr>
            <a:r>
              <a:rPr lang="en-US" altLang="zh-TW" b="1" dirty="0"/>
              <a:t>Check for the convergence point:</a:t>
            </a:r>
          </a:p>
          <a:p>
            <a:pPr lvl="1"/>
            <a:r>
              <a:rPr lang="en-US" altLang="zh-TW" dirty="0">
                <a:latin typeface="Times New Roman" panose="02020603050405020304" pitchFamily="18" charset="0"/>
                <a:cs typeface="Times New Roman" panose="02020603050405020304" pitchFamily="18" charset="0"/>
              </a:rPr>
              <a:t>The convergence criterion is evaluated sequentially over the 201 points by checking whether the relative errors of the following seven points with respect to their preceding points are all less than 0.5%.</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5" name="文字方塊 34">
                <a:extLst>
                  <a:ext uri="{FF2B5EF4-FFF2-40B4-BE49-F238E27FC236}">
                    <a16:creationId xmlns:a16="http://schemas.microsoft.com/office/drawing/2014/main" id="{B3A7466D-4E64-418F-80FB-347122715846}"/>
                  </a:ext>
                </a:extLst>
              </p:cNvPr>
              <p:cNvSpPr txBox="1"/>
              <p:nvPr/>
            </p:nvSpPr>
            <p:spPr>
              <a:xfrm>
                <a:off x="0" y="5274184"/>
                <a:ext cx="6183905" cy="1215269"/>
              </a:xfrm>
              <a:prstGeom prst="rect">
                <a:avLst/>
              </a:prstGeom>
              <a:noFill/>
            </p:spPr>
            <p:txBody>
              <a:bodyPr wrap="square">
                <a:spAutoFit/>
              </a:bodyPr>
              <a:lstStyle/>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The upper figure shows the </a:t>
                </a:r>
                <a14:m>
                  <m:oMath xmlns:m="http://schemas.openxmlformats.org/officeDocument/2006/math">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𝑙</m:t>
                        </m:r>
                      </m:e>
                    </m:acc>
                  </m:oMath>
                </a14:m>
                <a:r>
                  <a:rPr lang="en-US" altLang="zh-TW" dirty="0">
                    <a:latin typeface="Times New Roman" panose="02020603050405020304" pitchFamily="18" charset="0"/>
                    <a:cs typeface="Times New Roman" panose="02020603050405020304" pitchFamily="18" charset="0"/>
                  </a:rPr>
                  <a:t> curves for different numbers of interpolation points. The lower figures show the distribution and number of interpolation points at the convergence points for the one-parameter and eighteen-parameter models.</a:t>
                </a:r>
                <a:endParaRPr lang="zh-TW" altLang="en-US" dirty="0">
                  <a:latin typeface="Times New Roman" panose="02020603050405020304" pitchFamily="18" charset="0"/>
                  <a:cs typeface="Times New Roman" panose="02020603050405020304" pitchFamily="18" charset="0"/>
                </a:endParaRPr>
              </a:p>
            </p:txBody>
          </p:sp>
        </mc:Choice>
        <mc:Fallback>
          <p:sp>
            <p:nvSpPr>
              <p:cNvPr id="35" name="文字方塊 34">
                <a:extLst>
                  <a:ext uri="{FF2B5EF4-FFF2-40B4-BE49-F238E27FC236}">
                    <a16:creationId xmlns:a16="http://schemas.microsoft.com/office/drawing/2014/main" id="{B3A7466D-4E64-418F-80FB-347122715846}"/>
                  </a:ext>
                </a:extLst>
              </p:cNvPr>
              <p:cNvSpPr txBox="1">
                <a:spLocks noRot="1" noChangeAspect="1" noMove="1" noResize="1" noEditPoints="1" noAdjustHandles="1" noChangeArrowheads="1" noChangeShapeType="1" noTextEdit="1"/>
              </p:cNvSpPr>
              <p:nvPr/>
            </p:nvSpPr>
            <p:spPr>
              <a:xfrm>
                <a:off x="0" y="5274184"/>
                <a:ext cx="6183905" cy="1215269"/>
              </a:xfrm>
              <a:prstGeom prst="rect">
                <a:avLst/>
              </a:prstGeom>
              <a:blipFill>
                <a:blip r:embed="rId4"/>
                <a:stretch>
                  <a:fillRect l="-592" t="-2000" b="-7000"/>
                </a:stretch>
              </a:blipFill>
            </p:spPr>
            <p:txBody>
              <a:bodyPr/>
              <a:lstStyle/>
              <a:p>
                <a:r>
                  <a:rPr lang="zh-TW" altLang="en-US">
                    <a:noFill/>
                  </a:rPr>
                  <a:t> </a:t>
                </a:r>
              </a:p>
            </p:txBody>
          </p:sp>
        </mc:Fallback>
      </mc:AlternateContent>
      <p:grpSp>
        <p:nvGrpSpPr>
          <p:cNvPr id="36" name="群組 35">
            <a:extLst>
              <a:ext uri="{FF2B5EF4-FFF2-40B4-BE49-F238E27FC236}">
                <a16:creationId xmlns:a16="http://schemas.microsoft.com/office/drawing/2014/main" id="{15E80B7E-9DD7-4929-979E-9D6BF07411DD}"/>
              </a:ext>
            </a:extLst>
          </p:cNvPr>
          <p:cNvGrpSpPr/>
          <p:nvPr/>
        </p:nvGrpSpPr>
        <p:grpSpPr>
          <a:xfrm>
            <a:off x="6173908" y="3504140"/>
            <a:ext cx="3053366" cy="2716777"/>
            <a:chOff x="6301520" y="3504140"/>
            <a:chExt cx="3053366" cy="2716777"/>
          </a:xfrm>
        </p:grpSpPr>
        <p:pic>
          <p:nvPicPr>
            <p:cNvPr id="22" name="圖片 21">
              <a:extLst>
                <a:ext uri="{FF2B5EF4-FFF2-40B4-BE49-F238E27FC236}">
                  <a16:creationId xmlns:a16="http://schemas.microsoft.com/office/drawing/2014/main" id="{C453B08F-5B99-4C5A-A4FF-83E67767A4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4802" y="3504140"/>
              <a:ext cx="2579733" cy="2568227"/>
            </a:xfrm>
            <a:prstGeom prst="rect">
              <a:avLst/>
            </a:prstGeom>
          </p:spPr>
        </p:pic>
        <mc:AlternateContent xmlns:mc="http://schemas.openxmlformats.org/markup-compatibility/2006">
          <mc:Choice xmlns:a14="http://schemas.microsoft.com/office/drawing/2010/main" Requires="a14">
            <p:sp>
              <p:nvSpPr>
                <p:cNvPr id="34" name="文字方塊 33">
                  <a:extLst>
                    <a:ext uri="{FF2B5EF4-FFF2-40B4-BE49-F238E27FC236}">
                      <a16:creationId xmlns:a16="http://schemas.microsoft.com/office/drawing/2014/main" id="{3702C2C7-99C1-4D7E-89F7-BCF75F5869AB}"/>
                    </a:ext>
                  </a:extLst>
                </p:cNvPr>
                <p:cNvSpPr txBox="1"/>
                <p:nvPr/>
              </p:nvSpPr>
              <p:spPr>
                <a:xfrm rot="2191537">
                  <a:off x="6301520" y="5834570"/>
                  <a:ext cx="1434688" cy="2154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𝒙</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p:sp>
              <p:nvSpPr>
                <p:cNvPr id="34" name="文字方塊 33">
                  <a:extLst>
                    <a:ext uri="{FF2B5EF4-FFF2-40B4-BE49-F238E27FC236}">
                      <a16:creationId xmlns:a16="http://schemas.microsoft.com/office/drawing/2014/main" id="{3702C2C7-99C1-4D7E-89F7-BCF75F5869AB}"/>
                    </a:ext>
                  </a:extLst>
                </p:cNvPr>
                <p:cNvSpPr txBox="1">
                  <a:spLocks noRot="1" noChangeAspect="1" noMove="1" noResize="1" noEditPoints="1" noAdjustHandles="1" noChangeArrowheads="1" noChangeShapeType="1" noTextEdit="1"/>
                </p:cNvSpPr>
                <p:nvPr/>
              </p:nvSpPr>
              <p:spPr>
                <a:xfrm rot="2191537">
                  <a:off x="6301520" y="5834570"/>
                  <a:ext cx="1434688" cy="215444"/>
                </a:xfrm>
                <a:prstGeom prst="rect">
                  <a:avLst/>
                </a:prstGeom>
                <a:blipFill>
                  <a:blip r:embed="rId6"/>
                  <a:stretch>
                    <a:fillRect l="-948" r="-3318" b="-764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7" name="文字方塊 36">
                  <a:extLst>
                    <a:ext uri="{FF2B5EF4-FFF2-40B4-BE49-F238E27FC236}">
                      <a16:creationId xmlns:a16="http://schemas.microsoft.com/office/drawing/2014/main" id="{CB4204C0-DCA9-46A8-B644-32781D062DEC}"/>
                    </a:ext>
                  </a:extLst>
                </p:cNvPr>
                <p:cNvSpPr txBox="1"/>
                <p:nvPr/>
              </p:nvSpPr>
              <p:spPr>
                <a:xfrm rot="20909962">
                  <a:off x="7916992" y="6005473"/>
                  <a:ext cx="1437894" cy="2154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𝒚</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p:sp>
              <p:nvSpPr>
                <p:cNvPr id="37" name="文字方塊 36">
                  <a:extLst>
                    <a:ext uri="{FF2B5EF4-FFF2-40B4-BE49-F238E27FC236}">
                      <a16:creationId xmlns:a16="http://schemas.microsoft.com/office/drawing/2014/main" id="{CB4204C0-DCA9-46A8-B644-32781D062DEC}"/>
                    </a:ext>
                  </a:extLst>
                </p:cNvPr>
                <p:cNvSpPr txBox="1">
                  <a:spLocks noRot="1" noChangeAspect="1" noMove="1" noResize="1" noEditPoints="1" noAdjustHandles="1" noChangeArrowheads="1" noChangeShapeType="1" noTextEdit="1"/>
                </p:cNvSpPr>
                <p:nvPr/>
              </p:nvSpPr>
              <p:spPr>
                <a:xfrm rot="20909962">
                  <a:off x="7916992" y="6005473"/>
                  <a:ext cx="1437894" cy="215444"/>
                </a:xfrm>
                <a:prstGeom prst="rect">
                  <a:avLst/>
                </a:prstGeom>
                <a:blipFill>
                  <a:blip r:embed="rId7"/>
                  <a:stretch>
                    <a:fillRect l="-1674" t="-1205" r="-4184" b="-108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8" name="文字方塊 37">
                  <a:extLst>
                    <a:ext uri="{FF2B5EF4-FFF2-40B4-BE49-F238E27FC236}">
                      <a16:creationId xmlns:a16="http://schemas.microsoft.com/office/drawing/2014/main" id="{FCA38618-BB47-441E-9C40-E111A4916DC0}"/>
                    </a:ext>
                  </a:extLst>
                </p:cNvPr>
                <p:cNvSpPr txBox="1"/>
                <p:nvPr/>
              </p:nvSpPr>
              <p:spPr>
                <a:xfrm rot="16200000">
                  <a:off x="5715181" y="4516542"/>
                  <a:ext cx="1423467" cy="2154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𝒛</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p:sp>
              <p:nvSpPr>
                <p:cNvPr id="38" name="文字方塊 37">
                  <a:extLst>
                    <a:ext uri="{FF2B5EF4-FFF2-40B4-BE49-F238E27FC236}">
                      <a16:creationId xmlns:a16="http://schemas.microsoft.com/office/drawing/2014/main" id="{FCA38618-BB47-441E-9C40-E111A4916DC0}"/>
                    </a:ext>
                  </a:extLst>
                </p:cNvPr>
                <p:cNvSpPr txBox="1">
                  <a:spLocks noRot="1" noChangeAspect="1" noMove="1" noResize="1" noEditPoints="1" noAdjustHandles="1" noChangeArrowheads="1" noChangeShapeType="1" noTextEdit="1"/>
                </p:cNvSpPr>
                <p:nvPr/>
              </p:nvSpPr>
              <p:spPr>
                <a:xfrm rot="16200000">
                  <a:off x="5715181" y="4516542"/>
                  <a:ext cx="1423467" cy="215444"/>
                </a:xfrm>
                <a:prstGeom prst="rect">
                  <a:avLst/>
                </a:prstGeom>
                <a:blipFill>
                  <a:blip r:embed="rId8"/>
                  <a:stretch>
                    <a:fillRect t="-3863" r="-31429" b="-1717"/>
                  </a:stretch>
                </a:blipFill>
              </p:spPr>
              <p:txBody>
                <a:bodyPr/>
                <a:lstStyle/>
                <a:p>
                  <a:r>
                    <a:rPr lang="zh-TW" altLang="en-US">
                      <a:noFill/>
                    </a:rPr>
                    <a:t> </a:t>
                  </a:r>
                </a:p>
              </p:txBody>
            </p:sp>
          </mc:Fallback>
        </mc:AlternateContent>
      </p:grpSp>
      <p:grpSp>
        <p:nvGrpSpPr>
          <p:cNvPr id="39" name="群組 38">
            <a:extLst>
              <a:ext uri="{FF2B5EF4-FFF2-40B4-BE49-F238E27FC236}">
                <a16:creationId xmlns:a16="http://schemas.microsoft.com/office/drawing/2014/main" id="{8B513186-9F34-4BD2-867D-6D8BEB64811B}"/>
              </a:ext>
            </a:extLst>
          </p:cNvPr>
          <p:cNvGrpSpPr/>
          <p:nvPr/>
        </p:nvGrpSpPr>
        <p:grpSpPr>
          <a:xfrm>
            <a:off x="9115922" y="3504140"/>
            <a:ext cx="3131913" cy="2769766"/>
            <a:chOff x="9115922" y="3504140"/>
            <a:chExt cx="3131913" cy="2769766"/>
          </a:xfrm>
        </p:grpSpPr>
        <p:pic>
          <p:nvPicPr>
            <p:cNvPr id="16" name="圖片 15">
              <a:extLst>
                <a:ext uri="{FF2B5EF4-FFF2-40B4-BE49-F238E27FC236}">
                  <a16:creationId xmlns:a16="http://schemas.microsoft.com/office/drawing/2014/main" id="{F8182CF7-E0BF-475E-950C-1895619A16F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29237" y="3504140"/>
              <a:ext cx="2786583" cy="2609056"/>
            </a:xfrm>
            <a:prstGeom prst="rect">
              <a:avLst/>
            </a:prstGeom>
          </p:spPr>
        </p:pic>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B4B8D663-0DD9-4CD7-952F-C56EBF46FDE1}"/>
                    </a:ext>
                  </a:extLst>
                </p:cNvPr>
                <p:cNvSpPr txBox="1"/>
                <p:nvPr/>
              </p:nvSpPr>
              <p:spPr>
                <a:xfrm rot="20909962">
                  <a:off x="10809941" y="6058462"/>
                  <a:ext cx="1437894" cy="2154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𝒚</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p:sp>
              <p:nvSpPr>
                <p:cNvPr id="41" name="文字方塊 40">
                  <a:extLst>
                    <a:ext uri="{FF2B5EF4-FFF2-40B4-BE49-F238E27FC236}">
                      <a16:creationId xmlns:a16="http://schemas.microsoft.com/office/drawing/2014/main" id="{B4B8D663-0DD9-4CD7-952F-C56EBF46FDE1}"/>
                    </a:ext>
                  </a:extLst>
                </p:cNvPr>
                <p:cNvSpPr txBox="1">
                  <a:spLocks noRot="1" noChangeAspect="1" noMove="1" noResize="1" noEditPoints="1" noAdjustHandles="1" noChangeArrowheads="1" noChangeShapeType="1" noTextEdit="1"/>
                </p:cNvSpPr>
                <p:nvPr/>
              </p:nvSpPr>
              <p:spPr>
                <a:xfrm rot="20909962">
                  <a:off x="10809941" y="6058462"/>
                  <a:ext cx="1437894" cy="215444"/>
                </a:xfrm>
                <a:prstGeom prst="rect">
                  <a:avLst/>
                </a:prstGeom>
                <a:blipFill>
                  <a:blip r:embed="rId10"/>
                  <a:stretch>
                    <a:fillRect l="-2092" t="-1205" r="-4184" b="-108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2" name="文字方塊 41">
                  <a:extLst>
                    <a:ext uri="{FF2B5EF4-FFF2-40B4-BE49-F238E27FC236}">
                      <a16:creationId xmlns:a16="http://schemas.microsoft.com/office/drawing/2014/main" id="{5DD23914-830D-482A-9335-95AE8D0BD2AB}"/>
                    </a:ext>
                  </a:extLst>
                </p:cNvPr>
                <p:cNvSpPr txBox="1"/>
                <p:nvPr/>
              </p:nvSpPr>
              <p:spPr>
                <a:xfrm rot="2191537">
                  <a:off x="9166164" y="5926521"/>
                  <a:ext cx="1434688" cy="2154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𝒙</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p:sp>
              <p:nvSpPr>
                <p:cNvPr id="42" name="文字方塊 41">
                  <a:extLst>
                    <a:ext uri="{FF2B5EF4-FFF2-40B4-BE49-F238E27FC236}">
                      <a16:creationId xmlns:a16="http://schemas.microsoft.com/office/drawing/2014/main" id="{5DD23914-830D-482A-9335-95AE8D0BD2AB}"/>
                    </a:ext>
                  </a:extLst>
                </p:cNvPr>
                <p:cNvSpPr txBox="1">
                  <a:spLocks noRot="1" noChangeAspect="1" noMove="1" noResize="1" noEditPoints="1" noAdjustHandles="1" noChangeArrowheads="1" noChangeShapeType="1" noTextEdit="1"/>
                </p:cNvSpPr>
                <p:nvPr/>
              </p:nvSpPr>
              <p:spPr>
                <a:xfrm rot="2191537">
                  <a:off x="9166164" y="5926521"/>
                  <a:ext cx="1434688" cy="215444"/>
                </a:xfrm>
                <a:prstGeom prst="rect">
                  <a:avLst/>
                </a:prstGeom>
                <a:blipFill>
                  <a:blip r:embed="rId11"/>
                  <a:stretch>
                    <a:fillRect l="-948" r="-3318" b="-764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3" name="文字方塊 42">
                  <a:extLst>
                    <a:ext uri="{FF2B5EF4-FFF2-40B4-BE49-F238E27FC236}">
                      <a16:creationId xmlns:a16="http://schemas.microsoft.com/office/drawing/2014/main" id="{46C1BC31-7B3E-4129-B06A-513DA35E134F}"/>
                    </a:ext>
                  </a:extLst>
                </p:cNvPr>
                <p:cNvSpPr txBox="1"/>
                <p:nvPr/>
              </p:nvSpPr>
              <p:spPr>
                <a:xfrm rot="16200000">
                  <a:off x="8511910" y="4502101"/>
                  <a:ext cx="1423467" cy="2154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𝒛</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p:sp>
              <p:nvSpPr>
                <p:cNvPr id="43" name="文字方塊 42">
                  <a:extLst>
                    <a:ext uri="{FF2B5EF4-FFF2-40B4-BE49-F238E27FC236}">
                      <a16:creationId xmlns:a16="http://schemas.microsoft.com/office/drawing/2014/main" id="{46C1BC31-7B3E-4129-B06A-513DA35E134F}"/>
                    </a:ext>
                  </a:extLst>
                </p:cNvPr>
                <p:cNvSpPr txBox="1">
                  <a:spLocks noRot="1" noChangeAspect="1" noMove="1" noResize="1" noEditPoints="1" noAdjustHandles="1" noChangeArrowheads="1" noChangeShapeType="1" noTextEdit="1"/>
                </p:cNvSpPr>
                <p:nvPr/>
              </p:nvSpPr>
              <p:spPr>
                <a:xfrm rot="16200000">
                  <a:off x="8511910" y="4502101"/>
                  <a:ext cx="1423467" cy="215444"/>
                </a:xfrm>
                <a:prstGeom prst="rect">
                  <a:avLst/>
                </a:prstGeom>
                <a:blipFill>
                  <a:blip r:embed="rId12"/>
                  <a:stretch>
                    <a:fillRect t="-3846" r="-30556" b="-1282"/>
                  </a:stretch>
                </a:blipFill>
              </p:spPr>
              <p:txBody>
                <a:bodyPr/>
                <a:lstStyle/>
                <a:p>
                  <a:r>
                    <a:rPr lang="zh-TW" altLang="en-US">
                      <a:noFill/>
                    </a:rPr>
                    <a:t> </a:t>
                  </a:r>
                </a:p>
              </p:txBody>
            </p:sp>
          </mc:Fallback>
        </mc:AlternateContent>
      </p:grpSp>
      <p:grpSp>
        <p:nvGrpSpPr>
          <p:cNvPr id="53" name="群組 52">
            <a:extLst>
              <a:ext uri="{FF2B5EF4-FFF2-40B4-BE49-F238E27FC236}">
                <a16:creationId xmlns:a16="http://schemas.microsoft.com/office/drawing/2014/main" id="{90089333-9545-48FE-A763-D5276313E314}"/>
              </a:ext>
            </a:extLst>
          </p:cNvPr>
          <p:cNvGrpSpPr/>
          <p:nvPr/>
        </p:nvGrpSpPr>
        <p:grpSpPr>
          <a:xfrm>
            <a:off x="7061200" y="495903"/>
            <a:ext cx="3752796" cy="2821272"/>
            <a:chOff x="7279134" y="453000"/>
            <a:chExt cx="3752796" cy="2821272"/>
          </a:xfrm>
        </p:grpSpPr>
        <p:grpSp>
          <p:nvGrpSpPr>
            <p:cNvPr id="46" name="群組 45">
              <a:extLst>
                <a:ext uri="{FF2B5EF4-FFF2-40B4-BE49-F238E27FC236}">
                  <a16:creationId xmlns:a16="http://schemas.microsoft.com/office/drawing/2014/main" id="{AAD5BB74-9F31-45EB-B3BB-05EC36C283E9}"/>
                </a:ext>
              </a:extLst>
            </p:cNvPr>
            <p:cNvGrpSpPr/>
            <p:nvPr/>
          </p:nvGrpSpPr>
          <p:grpSpPr>
            <a:xfrm>
              <a:off x="7374603" y="453000"/>
              <a:ext cx="3657327" cy="2821272"/>
              <a:chOff x="7499940" y="470906"/>
              <a:chExt cx="3657327" cy="2821272"/>
            </a:xfrm>
          </p:grpSpPr>
          <p:pic>
            <p:nvPicPr>
              <p:cNvPr id="5" name="圖片 4">
                <a:extLst>
                  <a:ext uri="{FF2B5EF4-FFF2-40B4-BE49-F238E27FC236}">
                    <a16:creationId xmlns:a16="http://schemas.microsoft.com/office/drawing/2014/main" id="{2F81E38F-BA60-4B8E-A90F-D9A1775C5AA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555334" y="470906"/>
                <a:ext cx="3601933" cy="2780186"/>
              </a:xfrm>
              <a:prstGeom prst="rect">
                <a:avLst/>
              </a:prstGeom>
            </p:spPr>
          </p:pic>
          <p:sp>
            <p:nvSpPr>
              <p:cNvPr id="44" name="矩形 43">
                <a:extLst>
                  <a:ext uri="{FF2B5EF4-FFF2-40B4-BE49-F238E27FC236}">
                    <a16:creationId xmlns:a16="http://schemas.microsoft.com/office/drawing/2014/main" id="{39838954-D293-4C5C-A3C5-C7591F2EFD41}"/>
                  </a:ext>
                </a:extLst>
              </p:cNvPr>
              <p:cNvSpPr/>
              <p:nvPr/>
            </p:nvSpPr>
            <p:spPr>
              <a:xfrm>
                <a:off x="8805333" y="3064933"/>
                <a:ext cx="1475986" cy="2272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91875951-A295-46E4-B140-9B75281F07AF}"/>
                  </a:ext>
                </a:extLst>
              </p:cNvPr>
              <p:cNvSpPr/>
              <p:nvPr/>
            </p:nvSpPr>
            <p:spPr>
              <a:xfrm rot="16200000">
                <a:off x="6875570" y="1644292"/>
                <a:ext cx="1475986" cy="2272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51" name="文字方塊 50">
                  <a:extLst>
                    <a:ext uri="{FF2B5EF4-FFF2-40B4-BE49-F238E27FC236}">
                      <a16:creationId xmlns:a16="http://schemas.microsoft.com/office/drawing/2014/main" id="{A3DE0965-3BE2-4B8E-8D7D-0B28BA713C14}"/>
                    </a:ext>
                  </a:extLst>
                </p:cNvPr>
                <p:cNvSpPr txBox="1"/>
                <p:nvPr/>
              </p:nvSpPr>
              <p:spPr>
                <a:xfrm>
                  <a:off x="8436149" y="2994811"/>
                  <a:ext cx="196367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TW" b="1" i="0" smtClean="0">
                            <a:latin typeface="Cambria Math" panose="02040503050406030204" pitchFamily="18" charset="0"/>
                          </a:rPr>
                          <m:t>𝐍𝐮𝐦𝐛𝐞𝐫</m:t>
                        </m:r>
                        <m:r>
                          <a:rPr lang="en-US" altLang="zh-TW" b="1" i="0" smtClean="0">
                            <a:latin typeface="Cambria Math" panose="02040503050406030204" pitchFamily="18" charset="0"/>
                          </a:rPr>
                          <m:t> </m:t>
                        </m:r>
                        <m:r>
                          <a:rPr lang="en-US" altLang="zh-TW" b="1" i="0" smtClean="0">
                            <a:latin typeface="Cambria Math" panose="02040503050406030204" pitchFamily="18" charset="0"/>
                          </a:rPr>
                          <m:t>𝐨𝐟</m:t>
                        </m:r>
                        <m:r>
                          <a:rPr lang="en-US" altLang="zh-TW" b="1" i="0" smtClean="0">
                            <a:latin typeface="Cambria Math" panose="02040503050406030204" pitchFamily="18" charset="0"/>
                          </a:rPr>
                          <m:t> </m:t>
                        </m:r>
                        <m:r>
                          <a:rPr lang="en-US" altLang="zh-TW" b="1" i="0" smtClean="0">
                            <a:latin typeface="Cambria Math" panose="02040503050406030204" pitchFamily="18" charset="0"/>
                          </a:rPr>
                          <m:t>𝐩𝐨𝐢𝐧𝐭𝐬</m:t>
                        </m:r>
                      </m:oMath>
                    </m:oMathPara>
                  </a14:m>
                  <a:endParaRPr lang="zh-TW" altLang="en-US" b="1" dirty="0"/>
                </a:p>
              </p:txBody>
            </p:sp>
          </mc:Choice>
          <mc:Fallback>
            <p:sp>
              <p:nvSpPr>
                <p:cNvPr id="51" name="文字方塊 50">
                  <a:extLst>
                    <a:ext uri="{FF2B5EF4-FFF2-40B4-BE49-F238E27FC236}">
                      <a16:creationId xmlns:a16="http://schemas.microsoft.com/office/drawing/2014/main" id="{A3DE0965-3BE2-4B8E-8D7D-0B28BA713C14}"/>
                    </a:ext>
                  </a:extLst>
                </p:cNvPr>
                <p:cNvSpPr txBox="1">
                  <a:spLocks noRot="1" noChangeAspect="1" noMove="1" noResize="1" noEditPoints="1" noAdjustHandles="1" noChangeArrowheads="1" noChangeShapeType="1" noTextEdit="1"/>
                </p:cNvSpPr>
                <p:nvPr/>
              </p:nvSpPr>
              <p:spPr>
                <a:xfrm>
                  <a:off x="8436149" y="2994811"/>
                  <a:ext cx="1963679" cy="276999"/>
                </a:xfrm>
                <a:prstGeom prst="rect">
                  <a:avLst/>
                </a:prstGeom>
                <a:blipFill>
                  <a:blip r:embed="rId14"/>
                  <a:stretch>
                    <a:fillRect l="-2484" r="-4037" b="-3260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2" name="文字方塊 51">
                  <a:extLst>
                    <a:ext uri="{FF2B5EF4-FFF2-40B4-BE49-F238E27FC236}">
                      <a16:creationId xmlns:a16="http://schemas.microsoft.com/office/drawing/2014/main" id="{C5111A3B-BF71-4D7A-A217-43FB916BB9F0}"/>
                    </a:ext>
                  </a:extLst>
                </p:cNvPr>
                <p:cNvSpPr txBox="1"/>
                <p:nvPr/>
              </p:nvSpPr>
              <p:spPr>
                <a:xfrm rot="16200000">
                  <a:off x="6350960" y="1533200"/>
                  <a:ext cx="2147581" cy="291234"/>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en-US" altLang="zh-TW" b="1" i="1" smtClean="0">
                                <a:latin typeface="Cambria Math" panose="02040503050406030204" pitchFamily="18" charset="0"/>
                              </a:rPr>
                            </m:ctrlPr>
                          </m:accPr>
                          <m:e>
                            <m:r>
                              <a:rPr lang="zh-TW" altLang="en-US" b="1" i="1" smtClean="0">
                                <a:latin typeface="Cambria Math" panose="02040503050406030204" pitchFamily="18" charset="0"/>
                              </a:rPr>
                              <m:t>𝓵</m:t>
                            </m:r>
                          </m:e>
                        </m:acc>
                        <m:r>
                          <a:rPr lang="en-US" altLang="zh-TW" b="1" i="1" smtClean="0">
                            <a:latin typeface="Cambria Math" panose="02040503050406030204" pitchFamily="18" charset="0"/>
                          </a:rPr>
                          <m:t>(</m:t>
                        </m:r>
                        <m:r>
                          <a:rPr lang="en-US" altLang="zh-TW" b="1" i="1" smtClean="0">
                            <a:latin typeface="Cambria Math" panose="02040503050406030204" pitchFamily="18" charset="0"/>
                          </a:rPr>
                          <m:t>𝒎𝒊𝒄𝒓𝒐</m:t>
                        </m:r>
                        <m:r>
                          <a:rPr lang="en-US" altLang="zh-TW" b="1" i="1" smtClean="0">
                            <a:latin typeface="Cambria Math" panose="02040503050406030204" pitchFamily="18" charset="0"/>
                          </a:rPr>
                          <m:t> </m:t>
                        </m:r>
                        <m:r>
                          <a:rPr lang="en-US" altLang="zh-TW" b="1" i="1" smtClean="0">
                            <a:latin typeface="Cambria Math" panose="02040503050406030204" pitchFamily="18" charset="0"/>
                          </a:rPr>
                          <m:t>𝒎𝒆𝒕𝒆𝒓</m:t>
                        </m:r>
                        <m:r>
                          <a:rPr lang="en-US" altLang="zh-TW" b="1" i="1" smtClean="0">
                            <a:latin typeface="Cambria Math" panose="02040503050406030204" pitchFamily="18" charset="0"/>
                          </a:rPr>
                          <m:t>)</m:t>
                        </m:r>
                      </m:oMath>
                    </m:oMathPara>
                  </a14:m>
                  <a:endParaRPr lang="zh-TW" altLang="en-US" b="1" dirty="0"/>
                </a:p>
              </p:txBody>
            </p:sp>
          </mc:Choice>
          <mc:Fallback>
            <p:sp>
              <p:nvSpPr>
                <p:cNvPr id="52" name="文字方塊 51">
                  <a:extLst>
                    <a:ext uri="{FF2B5EF4-FFF2-40B4-BE49-F238E27FC236}">
                      <a16:creationId xmlns:a16="http://schemas.microsoft.com/office/drawing/2014/main" id="{C5111A3B-BF71-4D7A-A217-43FB916BB9F0}"/>
                    </a:ext>
                  </a:extLst>
                </p:cNvPr>
                <p:cNvSpPr txBox="1">
                  <a:spLocks noRot="1" noChangeAspect="1" noMove="1" noResize="1" noEditPoints="1" noAdjustHandles="1" noChangeArrowheads="1" noChangeShapeType="1" noTextEdit="1"/>
                </p:cNvSpPr>
                <p:nvPr/>
              </p:nvSpPr>
              <p:spPr>
                <a:xfrm rot="16200000">
                  <a:off x="6350960" y="1533200"/>
                  <a:ext cx="2147581" cy="291234"/>
                </a:xfrm>
                <a:prstGeom prst="rect">
                  <a:avLst/>
                </a:prstGeom>
                <a:blipFill>
                  <a:blip r:embed="rId15"/>
                  <a:stretch>
                    <a:fillRect l="-16667" r="-33333"/>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55148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27458" y="869041"/>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mc:Choice xmlns:a14="http://schemas.microsoft.com/office/drawing/2010/main"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31811" y="1007540"/>
            <a:ext cx="230498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pic>
        <p:nvPicPr>
          <p:cNvPr id="8" name="圖片 7">
            <a:extLst>
              <a:ext uri="{FF2B5EF4-FFF2-40B4-BE49-F238E27FC236}">
                <a16:creationId xmlns:a16="http://schemas.microsoft.com/office/drawing/2014/main" id="{511B9DC5-FA2E-4002-A651-3A9F3DCD89BE}"/>
              </a:ext>
            </a:extLst>
          </p:cNvPr>
          <p:cNvPicPr>
            <a:picLocks noChangeAspect="1"/>
          </p:cNvPicPr>
          <p:nvPr/>
        </p:nvPicPr>
        <p:blipFill>
          <a:blip r:embed="rId3"/>
          <a:stretch>
            <a:fillRect/>
          </a:stretch>
        </p:blipFill>
        <p:spPr>
          <a:xfrm>
            <a:off x="196791" y="1461543"/>
            <a:ext cx="4984809" cy="1457611"/>
          </a:xfrm>
          <a:prstGeom prst="rect">
            <a:avLst/>
          </a:prstGeom>
        </p:spPr>
      </p:pic>
      <p:pic>
        <p:nvPicPr>
          <p:cNvPr id="10" name="圖片 9">
            <a:extLst>
              <a:ext uri="{FF2B5EF4-FFF2-40B4-BE49-F238E27FC236}">
                <a16:creationId xmlns:a16="http://schemas.microsoft.com/office/drawing/2014/main" id="{01155AC1-AB5F-4437-B945-26407F3E7C64}"/>
              </a:ext>
            </a:extLst>
          </p:cNvPr>
          <p:cNvPicPr>
            <a:picLocks noChangeAspect="1"/>
          </p:cNvPicPr>
          <p:nvPr/>
        </p:nvPicPr>
        <p:blipFill>
          <a:blip r:embed="rId4"/>
          <a:stretch>
            <a:fillRect/>
          </a:stretch>
        </p:blipFill>
        <p:spPr>
          <a:xfrm>
            <a:off x="1718732" y="2992474"/>
            <a:ext cx="1786467" cy="487219"/>
          </a:xfrm>
          <a:prstGeom prst="rect">
            <a:avLst/>
          </a:prstGeom>
        </p:spPr>
      </p:pic>
      <p:pic>
        <p:nvPicPr>
          <p:cNvPr id="13" name="圖片 12">
            <a:extLst>
              <a:ext uri="{FF2B5EF4-FFF2-40B4-BE49-F238E27FC236}">
                <a16:creationId xmlns:a16="http://schemas.microsoft.com/office/drawing/2014/main" id="{38B365CE-420E-4DA3-AC60-CF1872796816}"/>
              </a:ext>
            </a:extLst>
          </p:cNvPr>
          <p:cNvPicPr>
            <a:picLocks noChangeAspect="1"/>
          </p:cNvPicPr>
          <p:nvPr/>
        </p:nvPicPr>
        <p:blipFill>
          <a:blip r:embed="rId5"/>
          <a:stretch>
            <a:fillRect/>
          </a:stretch>
        </p:blipFill>
        <p:spPr>
          <a:xfrm>
            <a:off x="1457069" y="3601775"/>
            <a:ext cx="2309792" cy="459540"/>
          </a:xfrm>
          <a:prstGeom prst="rect">
            <a:avLst/>
          </a:prstGeom>
        </p:spPr>
      </p:pic>
      <p:sp>
        <p:nvSpPr>
          <p:cNvPr id="47" name="文字方塊 46">
            <a:extLst>
              <a:ext uri="{FF2B5EF4-FFF2-40B4-BE49-F238E27FC236}">
                <a16:creationId xmlns:a16="http://schemas.microsoft.com/office/drawing/2014/main" id="{C5B7ED82-92AC-4C16-A18D-D2B3CA5A27F5}"/>
              </a:ext>
            </a:extLst>
          </p:cNvPr>
          <p:cNvSpPr txBox="1"/>
          <p:nvPr/>
        </p:nvSpPr>
        <p:spPr>
          <a:xfrm>
            <a:off x="5329888" y="1034454"/>
            <a:ext cx="329764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pic>
        <p:nvPicPr>
          <p:cNvPr id="15" name="圖片 14">
            <a:extLst>
              <a:ext uri="{FF2B5EF4-FFF2-40B4-BE49-F238E27FC236}">
                <a16:creationId xmlns:a16="http://schemas.microsoft.com/office/drawing/2014/main" id="{FEDE11D1-3266-48AF-9A12-AC8673DF781B}"/>
              </a:ext>
            </a:extLst>
          </p:cNvPr>
          <p:cNvPicPr>
            <a:picLocks noChangeAspect="1"/>
          </p:cNvPicPr>
          <p:nvPr/>
        </p:nvPicPr>
        <p:blipFill>
          <a:blip r:embed="rId6"/>
          <a:stretch>
            <a:fillRect/>
          </a:stretch>
        </p:blipFill>
        <p:spPr>
          <a:xfrm>
            <a:off x="5542235" y="1586039"/>
            <a:ext cx="5235832" cy="1288418"/>
          </a:xfrm>
          <a:prstGeom prst="rect">
            <a:avLst/>
          </a:prstGeom>
        </p:spPr>
      </p:pic>
      <p:pic>
        <p:nvPicPr>
          <p:cNvPr id="19" name="圖片 18">
            <a:extLst>
              <a:ext uri="{FF2B5EF4-FFF2-40B4-BE49-F238E27FC236}">
                <a16:creationId xmlns:a16="http://schemas.microsoft.com/office/drawing/2014/main" id="{53197213-1EF8-4BA4-9297-7BEDA517B1CF}"/>
              </a:ext>
            </a:extLst>
          </p:cNvPr>
          <p:cNvPicPr>
            <a:picLocks noChangeAspect="1"/>
          </p:cNvPicPr>
          <p:nvPr/>
        </p:nvPicPr>
        <p:blipFill>
          <a:blip r:embed="rId7"/>
          <a:stretch>
            <a:fillRect/>
          </a:stretch>
        </p:blipFill>
        <p:spPr>
          <a:xfrm>
            <a:off x="7295670" y="2911364"/>
            <a:ext cx="2162969" cy="514993"/>
          </a:xfrm>
          <a:prstGeom prst="rect">
            <a:avLst/>
          </a:prstGeom>
        </p:spPr>
      </p:pic>
      <p:pic>
        <p:nvPicPr>
          <p:cNvPr id="21" name="圖片 20">
            <a:extLst>
              <a:ext uri="{FF2B5EF4-FFF2-40B4-BE49-F238E27FC236}">
                <a16:creationId xmlns:a16="http://schemas.microsoft.com/office/drawing/2014/main" id="{58E7B63D-0D58-4C84-ADC6-C339764D9B23}"/>
              </a:ext>
            </a:extLst>
          </p:cNvPr>
          <p:cNvPicPr>
            <a:picLocks noChangeAspect="1"/>
          </p:cNvPicPr>
          <p:nvPr/>
        </p:nvPicPr>
        <p:blipFill>
          <a:blip r:embed="rId8"/>
          <a:stretch>
            <a:fillRect/>
          </a:stretch>
        </p:blipFill>
        <p:spPr>
          <a:xfrm>
            <a:off x="6324600" y="3619622"/>
            <a:ext cx="3395164" cy="445135"/>
          </a:xfrm>
          <a:prstGeom prst="rect">
            <a:avLst/>
          </a:prstGeom>
        </p:spPr>
      </p:pic>
    </p:spTree>
    <p:extLst>
      <p:ext uri="{BB962C8B-B14F-4D97-AF65-F5344CB8AC3E}">
        <p14:creationId xmlns:p14="http://schemas.microsoft.com/office/powerpoint/2010/main" val="212639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EBA17566-B42C-4B02-B869-9832F66C8C0A}"/>
              </a:ext>
            </a:extLst>
          </p:cNvPr>
          <p:cNvSpPr txBox="1"/>
          <p:nvPr/>
        </p:nvSpPr>
        <p:spPr>
          <a:xfrm>
            <a:off x="0" y="587243"/>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Fitting results</a:t>
            </a:r>
            <a:endParaRPr lang="zh-TW" altLang="en-US" dirty="0"/>
          </a:p>
        </p:txBody>
      </p:sp>
      <p:pic>
        <p:nvPicPr>
          <p:cNvPr id="7" name="圖片 6">
            <a:extLst>
              <a:ext uri="{FF2B5EF4-FFF2-40B4-BE49-F238E27FC236}">
                <a16:creationId xmlns:a16="http://schemas.microsoft.com/office/drawing/2014/main" id="{48357E24-71F3-4C1A-B5D0-BB1BEACDF8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9981" y="3429000"/>
            <a:ext cx="4033585" cy="3343273"/>
          </a:xfrm>
          <a:prstGeom prst="rect">
            <a:avLst/>
          </a:prstGeom>
        </p:spPr>
      </p:pic>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84E0869E-9B2B-4CE9-8FCA-DB3418E12CF7}"/>
                  </a:ext>
                </a:extLst>
              </p:cNvPr>
              <p:cNvSpPr txBox="1"/>
              <p:nvPr/>
            </p:nvSpPr>
            <p:spPr>
              <a:xfrm>
                <a:off x="236033" y="925677"/>
                <a:ext cx="10525100" cy="2041008"/>
              </a:xfrm>
              <a:prstGeom prst="rect">
                <a:avLst/>
              </a:prstGeom>
              <a:noFill/>
            </p:spPr>
            <p:txBody>
              <a:bodyPr wrap="square">
                <a:spAutoFit/>
              </a:bodyPr>
              <a:lstStyle/>
              <a:p>
                <a:r>
                  <a:rPr lang="en-US" altLang="zh-TW" dirty="0"/>
                  <a:t>This trend plot shows the calibration results obtained using the number of points corresponding to the convergence point identified for each range by the aforementioned algorithm. The right figures shows the corresponding results for each range</a:t>
                </a:r>
                <a:r>
                  <a:rPr lang="zh-TW" altLang="en-US" dirty="0"/>
                  <a:t> </a:t>
                </a:r>
                <a14:m>
                  <m:oMath xmlns:m="http://schemas.openxmlformats.org/officeDocument/2006/math">
                    <m:rad>
                      <m:radPr>
                        <m:degHide m:val="on"/>
                        <m:ctrlPr>
                          <a:rPr lang="zh-TW" altLang="en-US" i="1" smtClean="0">
                            <a:latin typeface="Cambria Math" panose="02040503050406030204" pitchFamily="18" charset="0"/>
                          </a:rPr>
                        </m:ctrlPr>
                      </m:radPr>
                      <m:deg/>
                      <m:e>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𝐽</m:t>
                            </m:r>
                          </m:num>
                          <m:den>
                            <m:r>
                              <a:rPr lang="en-US" altLang="zh-TW" b="0" i="1" smtClean="0">
                                <a:latin typeface="Cambria Math" panose="02040503050406030204" pitchFamily="18" charset="0"/>
                              </a:rPr>
                              <m:t>𝑁</m:t>
                            </m:r>
                          </m:den>
                        </m:f>
                      </m:e>
                    </m:rad>
                  </m:oMath>
                </a14:m>
                <a:r>
                  <a:rPr lang="zh-TW" altLang="en-US" dirty="0"/>
                  <a:t>，</a:t>
                </a:r>
                <a:r>
                  <a:rPr lang="en-US" altLang="zh-TW" dirty="0"/>
                  <a:t>It can be observed that the model gradually loses prediction accuracy as the range increases. This indicates that the magnetic field distribution is more uniform within a smaller range, resulting in more accurate model predictions. Furthermore, the eighteen-parameter model provides more accurate predictions than the one-parameter model.</a:t>
                </a:r>
                <a:endParaRPr lang="zh-TW" altLang="en-US" dirty="0"/>
              </a:p>
            </p:txBody>
          </p:sp>
        </mc:Choice>
        <mc:Fallback>
          <p:sp>
            <p:nvSpPr>
              <p:cNvPr id="16" name="文字方塊 15">
                <a:extLst>
                  <a:ext uri="{FF2B5EF4-FFF2-40B4-BE49-F238E27FC236}">
                    <a16:creationId xmlns:a16="http://schemas.microsoft.com/office/drawing/2014/main" id="{84E0869E-9B2B-4CE9-8FCA-DB3418E12CF7}"/>
                  </a:ext>
                </a:extLst>
              </p:cNvPr>
              <p:cNvSpPr txBox="1">
                <a:spLocks noRot="1" noChangeAspect="1" noMove="1" noResize="1" noEditPoints="1" noAdjustHandles="1" noChangeArrowheads="1" noChangeShapeType="1" noTextEdit="1"/>
              </p:cNvSpPr>
              <p:nvPr/>
            </p:nvSpPr>
            <p:spPr>
              <a:xfrm>
                <a:off x="236033" y="925677"/>
                <a:ext cx="10525100" cy="2041008"/>
              </a:xfrm>
              <a:prstGeom prst="rect">
                <a:avLst/>
              </a:prstGeom>
              <a:blipFill>
                <a:blip r:embed="rId3"/>
                <a:stretch>
                  <a:fillRect l="-521" t="-1791" b="-3881"/>
                </a:stretch>
              </a:blipFill>
            </p:spPr>
            <p:txBody>
              <a:bodyPr/>
              <a:lstStyle/>
              <a:p>
                <a:r>
                  <a:rPr lang="zh-TW" altLang="en-US">
                    <a:noFill/>
                  </a:rPr>
                  <a:t> </a:t>
                </a:r>
              </a:p>
            </p:txBody>
          </p:sp>
        </mc:Fallback>
      </mc:AlternateContent>
      <p:pic>
        <p:nvPicPr>
          <p:cNvPr id="10" name="圖片 9">
            <a:extLst>
              <a:ext uri="{FF2B5EF4-FFF2-40B4-BE49-F238E27FC236}">
                <a16:creationId xmlns:a16="http://schemas.microsoft.com/office/drawing/2014/main" id="{8F79DC78-EF37-4D3E-836E-5104CF3CBB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4303" y="3221567"/>
            <a:ext cx="3158314" cy="2468567"/>
          </a:xfrm>
          <a:prstGeom prst="rect">
            <a:avLst/>
          </a:prstGeom>
        </p:spPr>
      </p:pic>
      <p:pic>
        <p:nvPicPr>
          <p:cNvPr id="14" name="圖片 13">
            <a:extLst>
              <a:ext uri="{FF2B5EF4-FFF2-40B4-BE49-F238E27FC236}">
                <a16:creationId xmlns:a16="http://schemas.microsoft.com/office/drawing/2014/main" id="{EC615A25-6A2E-4DC0-AEBE-9B0A681C03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66" y="3221567"/>
            <a:ext cx="3149601" cy="2468567"/>
          </a:xfrm>
          <a:prstGeom prst="rect">
            <a:avLst/>
          </a:prstGeom>
        </p:spPr>
      </p:pic>
    </p:spTree>
    <p:extLst>
      <p:ext uri="{BB962C8B-B14F-4D97-AF65-F5344CB8AC3E}">
        <p14:creationId xmlns:p14="http://schemas.microsoft.com/office/powerpoint/2010/main" val="427831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65108"/>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691A615E-8545-44BB-86EC-1FB59DF83C73}"/>
                  </a:ext>
                </a:extLst>
              </p:cNvPr>
              <p:cNvSpPr txBox="1"/>
              <p:nvPr/>
            </p:nvSpPr>
            <p:spPr>
              <a:xfrm>
                <a:off x="8502914" y="479763"/>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19" name="文字方塊 18">
                <a:extLst>
                  <a:ext uri="{FF2B5EF4-FFF2-40B4-BE49-F238E27FC236}">
                    <a16:creationId xmlns:a16="http://schemas.microsoft.com/office/drawing/2014/main" id="{691A615E-8545-44BB-86EC-1FB59DF83C73}"/>
                  </a:ext>
                </a:extLst>
              </p:cNvPr>
              <p:cNvSpPr txBox="1">
                <a:spLocks noRot="1" noChangeAspect="1" noMove="1" noResize="1" noEditPoints="1" noAdjustHandles="1" noChangeArrowheads="1" noChangeShapeType="1" noTextEdit="1"/>
              </p:cNvSpPr>
              <p:nvPr/>
            </p:nvSpPr>
            <p:spPr>
              <a:xfrm>
                <a:off x="8502914" y="479763"/>
                <a:ext cx="3564053" cy="321563"/>
              </a:xfrm>
              <a:prstGeom prst="rect">
                <a:avLst/>
              </a:prstGeom>
              <a:blipFill>
                <a:blip r:embed="rId2"/>
                <a:stretch>
                  <a:fillRect l="-1199" t="-15385" r="-5308" b="-25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97757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5420171" y="1337731"/>
                <a:ext cx="6585562" cy="25416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r>
                  <a:rPr lang="en-US" altLang="zh-TW" dirty="0"/>
                  <a:t>Sampling range:</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5420171" y="1337731"/>
                <a:ext cx="6585562" cy="2541658"/>
              </a:xfrm>
              <a:prstGeom prst="rect">
                <a:avLst/>
              </a:prstGeom>
              <a:blipFill>
                <a:blip r:embed="rId3"/>
                <a:stretch>
                  <a:fillRect l="-556" b="-2878"/>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19DC279A-BD36-4119-8439-ACBBE884C7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134" y="715061"/>
            <a:ext cx="4933477" cy="4088622"/>
          </a:xfrm>
          <a:prstGeom prst="rect">
            <a:avLst/>
          </a:prstGeom>
        </p:spPr>
      </p:pic>
    </p:spTree>
    <p:extLst>
      <p:ext uri="{BB962C8B-B14F-4D97-AF65-F5344CB8AC3E}">
        <p14:creationId xmlns:p14="http://schemas.microsoft.com/office/powerpoint/2010/main" val="3963438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5420171" y="1053172"/>
                <a:ext cx="6586231" cy="25416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r>
                  <a:rPr lang="en-US" altLang="zh-TW" dirty="0"/>
                  <a:t>Sampling range:</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≤300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5420171" y="1053172"/>
                <a:ext cx="6586231" cy="2541658"/>
              </a:xfrm>
              <a:prstGeom prst="rect">
                <a:avLst/>
              </a:prstGeom>
              <a:blipFill>
                <a:blip r:embed="rId2"/>
                <a:stretch>
                  <a:fillRect l="-555" b="-2878"/>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380297B8-45C0-455E-B040-6068A877E4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598" y="953711"/>
            <a:ext cx="5234573" cy="4292600"/>
          </a:xfrm>
          <a:prstGeom prst="rect">
            <a:avLst/>
          </a:prstGeom>
        </p:spPr>
      </p:pic>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7BBB93AC-730C-4472-B89F-98F28D34B642}"/>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12" name="文字方塊 11">
                <a:extLst>
                  <a:ext uri="{FF2B5EF4-FFF2-40B4-BE49-F238E27FC236}">
                    <a16:creationId xmlns:a16="http://schemas.microsoft.com/office/drawing/2014/main" id="{7BBB93AC-730C-4472-B89F-98F28D34B642}"/>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4"/>
                <a:stretch>
                  <a:fillRect l="-1197" t="-15385" r="-5299" b="-25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5868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808899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C</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800" i="1" dirty="0">
                <a:solidFill>
                  <a:srgbClr val="000000"/>
                </a:solidFill>
                <a:effectLst/>
                <a:latin typeface="Times New Roman" panose="02020603050405020304" pitchFamily="18" charset="0"/>
                <a:ea typeface="新細明體" panose="02020500000000000000" pitchFamily="18" charset="-12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DEFA397F-9D89-49E8-A745-D5B37DCF4247}"/>
                  </a:ext>
                </a:extLst>
              </p:cNvPr>
              <p:cNvSpPr txBox="1"/>
              <p:nvPr/>
            </p:nvSpPr>
            <p:spPr>
              <a:xfrm>
                <a:off x="8471424" y="519719"/>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zh-TW" altLang="en-US"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17" name="文字方塊 16">
                <a:extLst>
                  <a:ext uri="{FF2B5EF4-FFF2-40B4-BE49-F238E27FC236}">
                    <a16:creationId xmlns:a16="http://schemas.microsoft.com/office/drawing/2014/main" id="{DEFA397F-9D89-49E8-A745-D5B37DCF4247}"/>
                  </a:ext>
                </a:extLst>
              </p:cNvPr>
              <p:cNvSpPr txBox="1">
                <a:spLocks noRot="1" noChangeAspect="1" noMove="1" noResize="1" noEditPoints="1" noAdjustHandles="1" noChangeArrowheads="1" noChangeShapeType="1" noTextEdit="1"/>
              </p:cNvSpPr>
              <p:nvPr/>
            </p:nvSpPr>
            <p:spPr>
              <a:xfrm>
                <a:off x="8471424" y="519719"/>
                <a:ext cx="3688638" cy="321563"/>
              </a:xfrm>
              <a:prstGeom prst="rect">
                <a:avLst/>
              </a:prstGeom>
              <a:blipFill>
                <a:blip r:embed="rId3"/>
                <a:stretch>
                  <a:fillRect t="-13208" r="-3802" b="-226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5937A70-2AF7-49C4-BF96-1145B0A1CBC6}"/>
                  </a:ext>
                </a:extLst>
              </p:cNvPr>
              <p:cNvSpPr txBox="1"/>
              <p:nvPr/>
            </p:nvSpPr>
            <p:spPr>
              <a:xfrm>
                <a:off x="93132" y="841282"/>
                <a:ext cx="8898468" cy="1519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𝑉</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254.3711</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27.8144</m:t>
                                      </m:r>
                                    </m:e>
                                    <m:e>
                                      <m:r>
                                        <a:rPr lang="en-US" altLang="zh-TW" b="0" i="1" smtClean="0">
                                          <a:latin typeface="Cambria Math" panose="02040503050406030204" pitchFamily="18" charset="0"/>
                                        </a:rPr>
                                        <m:t>−237.7280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225.7421</m:t>
                                            </m:r>
                                          </m:e>
                                          <m:e>
                                            <m:r>
                                              <a:rPr lang="en-US" altLang="zh-TW" b="0" i="1" smtClean="0">
                                                <a:latin typeface="Cambria Math" panose="02040503050406030204" pitchFamily="18" charset="0"/>
                                              </a:rPr>
                                              <m:t>−222.8595</m:t>
                                            </m:r>
                                          </m:e>
                                          <m:e>
                                            <m:r>
                                              <a:rPr lang="en-US" altLang="zh-TW" b="0" i="1" smtClean="0">
                                                <a:latin typeface="Cambria Math" panose="02040503050406030204" pitchFamily="18" charset="0"/>
                                              </a:rPr>
                                              <m:t>−243.5373</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28.3864</m:t>
                                      </m:r>
                                    </m:e>
                                  </m:mr>
                                  <m:mr>
                                    <m:e>
                                      <m:r>
                                        <a:rPr lang="en-US" altLang="zh-TW" b="0" i="1" smtClean="0">
                                          <a:latin typeface="Cambria Math" panose="02040503050406030204" pitchFamily="18" charset="0"/>
                                        </a:rPr>
                                        <m:t>−235.7907</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197.9571</m:t>
                                            </m:r>
                                          </m:e>
                                        </m:mr>
                                        <m:mr>
                                          <m:e>
                                            <m:r>
                                              <a:rPr lang="en-US" altLang="zh-TW" b="0" i="1" smtClean="0">
                                                <a:latin typeface="Cambria Math" panose="02040503050406030204" pitchFamily="18" charset="0"/>
                                              </a:rPr>
                                              <m:t>−211.3258</m:t>
                                            </m:r>
                                          </m:e>
                                        </m:mr>
                                        <m:mr>
                                          <m:e>
                                            <m:r>
                                              <a:rPr lang="en-US" altLang="zh-TW" b="0" i="1" smtClean="0">
                                                <a:latin typeface="Cambria Math" panose="02040503050406030204" pitchFamily="18" charset="0"/>
                                              </a:rPr>
                                              <m:t>−236.9972</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366.79</m:t>
                                            </m:r>
                                          </m:e>
                                          <m:e>
                                            <m:r>
                                              <a:rPr lang="en-US" altLang="zh-TW" b="0" i="1" smtClean="0">
                                                <a:latin typeface="Cambria Math" panose="02040503050406030204" pitchFamily="18" charset="0"/>
                                              </a:rPr>
                                              <m:t>−208.3109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403.5921</m:t>
                                                  </m:r>
                                                </m:e>
                                                <m:e>
                                                  <m:r>
                                                    <a:rPr lang="en-US" altLang="zh-TW" b="0" i="1" smtClean="0">
                                                      <a:latin typeface="Cambria Math" panose="02040503050406030204" pitchFamily="18" charset="0"/>
                                                    </a:rPr>
                                                    <m:t>−415.1127</m:t>
                                                  </m:r>
                                                </m:e>
                                                <m:e>
                                                  <m:r>
                                                    <a:rPr lang="en-US" altLang="zh-TW" b="0" i="1" smtClean="0">
                                                      <a:latin typeface="Cambria Math" panose="02040503050406030204" pitchFamily="18" charset="0"/>
                                                    </a:rPr>
                                                    <m:t>−208.8316</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228.1157</m:t>
                                            </m:r>
                                          </m:e>
                                          <m:e>
                                            <m:r>
                                              <a:rPr lang="en-US" altLang="zh-TW" b="0" i="1" smtClean="0">
                                                <a:latin typeface="Cambria Math" panose="02040503050406030204" pitchFamily="18" charset="0"/>
                                              </a:rPr>
                                              <m:t>1247.9226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27.0775</m:t>
                                                  </m:r>
                                                </m:e>
                                                <m:e>
                                                  <m:r>
                                                    <a:rPr lang="en-US" altLang="zh-TW" b="0" i="1" smtClean="0">
                                                      <a:latin typeface="Cambria Math" panose="02040503050406030204" pitchFamily="18" charset="0"/>
                                                    </a:rPr>
                                                    <m:t>−224.5206</m:t>
                                                  </m:r>
                                                </m:e>
                                                <m:e>
                                                  <m:r>
                                                    <a:rPr lang="en-US" altLang="zh-TW" b="0" i="1" smtClean="0">
                                                      <a:latin typeface="Cambria Math" panose="02040503050406030204" pitchFamily="18" charset="0"/>
                                                    </a:rPr>
                                                    <m:t>−237.9225</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421.8811</m:t>
                                                  </m:r>
                                                </m:e>
                                                <m:e>
                                                  <m:r>
                                                    <a:rPr lang="en-US" altLang="zh-TW" b="0" i="1" smtClean="0">
                                                      <a:latin typeface="Cambria Math" panose="02040503050406030204" pitchFamily="18" charset="0"/>
                                                    </a:rPr>
                                                    <m:t>−29.2698</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341.5584</m:t>
                                                        </m:r>
                                                      </m:e>
                                                      <m:e>
                                                        <m:r>
                                                          <a:rPr lang="en-US" altLang="zh-TW" b="0" i="1" smtClean="0">
                                                            <a:latin typeface="Cambria Math" panose="02040503050406030204" pitchFamily="18" charset="0"/>
                                                          </a:rPr>
                                                          <m:t>−411.6972</m:t>
                                                        </m:r>
                                                      </m:e>
                                                      <m:e>
                                                        <m:r>
                                                          <a:rPr lang="en-US" altLang="zh-TW" b="0" i="1" smtClean="0">
                                                            <a:latin typeface="Cambria Math" panose="02040503050406030204" pitchFamily="18" charset="0"/>
                                                          </a:rPr>
                                                          <m:t>−214.5408</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415.6079</m:t>
                                                  </m:r>
                                                </m:e>
                                                <m:e>
                                                  <m:r>
                                                    <a:rPr lang="en-US" altLang="zh-TW" b="0" i="1" smtClean="0">
                                                      <a:latin typeface="Cambria Math" panose="02040503050406030204" pitchFamily="18" charset="0"/>
                                                    </a:rPr>
                                                    <m:t>−210.3259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397.1117</m:t>
                                                        </m:r>
                                                      </m:e>
                                                      <m:e>
                                                        <m:r>
                                                          <a:rPr lang="en-US" altLang="zh-TW" b="0" i="1" smtClean="0">
                                                            <a:latin typeface="Cambria Math" panose="02040503050406030204" pitchFamily="18" charset="0"/>
                                                          </a:rPr>
                                                          <m:t>1341.3169</m:t>
                                                        </m:r>
                                                      </m:e>
                                                      <m:e>
                                                        <m:r>
                                                          <a:rPr lang="en-US" altLang="zh-TW" b="0" i="1" smtClean="0">
                                                            <a:latin typeface="Cambria Math" panose="02040503050406030204" pitchFamily="18" charset="0"/>
                                                          </a:rPr>
                                                          <m:t>−26.8874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223.2073</m:t>
                                                  </m:r>
                                                </m:e>
                                                <m:e>
                                                  <m:r>
                                                    <a:rPr lang="en-US" altLang="zh-TW" b="0" i="1" smtClean="0">
                                                      <a:latin typeface="Cambria Math" panose="02040503050406030204" pitchFamily="18" charset="0"/>
                                                    </a:rPr>
                                                    <m:t>−236.6926</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229.0166</m:t>
                                                        </m:r>
                                                      </m:e>
                                                      <m:e>
                                                        <m:r>
                                                          <a:rPr lang="en-US" altLang="zh-TW" b="0" i="1" smtClean="0">
                                                            <a:latin typeface="Cambria Math" panose="02040503050406030204" pitchFamily="18" charset="0"/>
                                                          </a:rPr>
                                                          <m:t>−27.9723</m:t>
                                                        </m:r>
                                                      </m:e>
                                                      <m:e>
                                                        <m:r>
                                                          <a:rPr lang="en-US" altLang="zh-TW" b="0" i="1" smtClean="0">
                                                            <a:latin typeface="Cambria Math" panose="02040503050406030204" pitchFamily="18" charset="0"/>
                                                          </a:rPr>
                                                          <m:t>1242.7215</m:t>
                                                        </m:r>
                                                      </m:e>
                                                    </m:mr>
                                                  </m:m>
                                                </m:e>
                                              </m:mr>
                                            </m:m>
                                          </m:e>
                                        </m:mr>
                                      </m:m>
                                    </m:e>
                                  </m:mr>
                                </m:m>
                              </m:e>
                            </m:mr>
                          </m:m>
                        </m:e>
                      </m:d>
                      <m:r>
                        <a:rPr lang="en-US" altLang="zh-TW" b="0" i="1" smtClean="0">
                          <a:latin typeface="Cambria Math" panose="02040503050406030204" pitchFamily="18" charset="0"/>
                        </a:rPr>
                        <m:t>(</m:t>
                      </m:r>
                      <m:r>
                        <a:rPr lang="en-US" altLang="zh-TW" b="0" i="1" smtClean="0">
                          <a:latin typeface="Cambria Math" panose="02040503050406030204" pitchFamily="18" charset="0"/>
                        </a:rPr>
                        <m:t>𝑚𝑉</m:t>
                      </m:r>
                      <m:r>
                        <a:rPr lang="en-US" altLang="zh-TW" b="0" i="1" smtClean="0">
                          <a:latin typeface="Cambria Math" panose="02040503050406030204" pitchFamily="18" charset="0"/>
                        </a:rPr>
                        <m:t>)</m:t>
                      </m:r>
                    </m:oMath>
                  </m:oMathPara>
                </a14:m>
                <a:endParaRPr lang="zh-TW" altLang="en-US" dirty="0"/>
              </a:p>
            </p:txBody>
          </p:sp>
        </mc:Choice>
        <mc:Fallback xmlns="">
          <p:sp>
            <p:nvSpPr>
              <p:cNvPr id="18" name="文字方塊 17">
                <a:extLst>
                  <a:ext uri="{FF2B5EF4-FFF2-40B4-BE49-F238E27FC236}">
                    <a16:creationId xmlns:a16="http://schemas.microsoft.com/office/drawing/2014/main" id="{C5937A70-2AF7-49C4-BF96-1145B0A1CBC6}"/>
                  </a:ext>
                </a:extLst>
              </p:cNvPr>
              <p:cNvSpPr txBox="1">
                <a:spLocks noRot="1" noChangeAspect="1" noMove="1" noResize="1" noEditPoints="1" noAdjustHandles="1" noChangeArrowheads="1" noChangeShapeType="1" noTextEdit="1"/>
              </p:cNvSpPr>
              <p:nvPr/>
            </p:nvSpPr>
            <p:spPr>
              <a:xfrm>
                <a:off x="93132" y="841282"/>
                <a:ext cx="8898468" cy="151945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0" name="文字方塊 289">
                <a:extLst>
                  <a:ext uri="{FF2B5EF4-FFF2-40B4-BE49-F238E27FC236}">
                    <a16:creationId xmlns:a16="http://schemas.microsoft.com/office/drawing/2014/main" id="{25A58AA8-9131-48DA-B182-68647772A8BB}"/>
                  </a:ext>
                </a:extLst>
              </p:cNvPr>
              <p:cNvSpPr txBox="1"/>
              <p:nvPr/>
            </p:nvSpPr>
            <p:spPr>
              <a:xfrm>
                <a:off x="-1" y="2660135"/>
                <a:ext cx="7089610" cy="15377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.8333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0.3724</m:t>
                                      </m:r>
                                    </m:e>
                                    <m:e>
                                      <m:r>
                                        <a:rPr lang="en-US" altLang="zh-TW" b="0" i="1" smtClean="0">
                                          <a:latin typeface="Cambria Math" panose="02040503050406030204" pitchFamily="18" charset="0"/>
                                        </a:rPr>
                                        <m:t>−0.1463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0.3088</m:t>
                                            </m:r>
                                          </m:e>
                                          <m:e>
                                            <m:r>
                                              <a:rPr lang="en-US" altLang="zh-TW" b="0" i="1" smtClean="0">
                                                <a:latin typeface="Cambria Math" panose="02040503050406030204" pitchFamily="18" charset="0"/>
                                              </a:rPr>
                                              <m:t>−0.3148</m:t>
                                            </m:r>
                                          </m:e>
                                          <m:e>
                                            <m:r>
                                              <a:rPr lang="en-US" altLang="zh-TW" b="0" i="1" smtClean="0">
                                                <a:latin typeface="Cambria Math" panose="02040503050406030204" pitchFamily="18" charset="0"/>
                                              </a:rPr>
                                              <m:t>−0.1432</m:t>
                                            </m:r>
                                          </m:e>
                                        </m:mr>
                                      </m:m>
                                    </m:e>
                                  </m:mr>
                                </m:m>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0.1039</m:t>
                                      </m:r>
                                    </m:e>
                                  </m:mr>
                                  <m:mr>
                                    <m:e>
                                      <m:r>
                                        <a:rPr lang="en-US" altLang="zh-TW" b="0" i="1" smtClean="0">
                                          <a:latin typeface="Cambria Math" panose="02040503050406030204" pitchFamily="18" charset="0"/>
                                        </a:rPr>
                                        <m:t>−0.1418</m:t>
                                      </m:r>
                                    </m:e>
                                  </m:mr>
                                  <m:mr>
                                    <m:e>
                                      <m:m>
                                        <m:mPr>
                                          <m:mcs>
                                            <m:mc>
                                              <m:mcPr>
                                                <m:count m:val="1"/>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0.0552</m:t>
                                            </m:r>
                                          </m:e>
                                        </m:mr>
                                        <m:mr>
                                          <m:e>
                                            <m:r>
                                              <a:rPr lang="en-US" altLang="zh-TW" b="0" i="1" smtClean="0">
                                                <a:latin typeface="Cambria Math" panose="02040503050406030204" pitchFamily="18" charset="0"/>
                                              </a:rPr>
                                              <m:t>−0.0557</m:t>
                                            </m:r>
                                          </m:e>
                                        </m:mr>
                                        <m:mr>
                                          <m:e>
                                            <m:r>
                                              <a:rPr lang="en-US" altLang="zh-TW" b="0" i="1" smtClean="0">
                                                <a:latin typeface="Cambria Math" panose="02040503050406030204" pitchFamily="18" charset="0"/>
                                              </a:rPr>
                                              <m:t>−0.1375</m:t>
                                            </m:r>
                                          </m:e>
                                        </m:mr>
                                      </m:m>
                                    </m:e>
                                  </m:mr>
                                </m:m>
                              </m:e>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.0103</m:t>
                                            </m:r>
                                          </m:e>
                                          <m:e>
                                            <m:r>
                                              <a:rPr lang="en-US" altLang="zh-TW" b="0" i="1" smtClean="0">
                                                <a:latin typeface="Cambria Math" panose="02040503050406030204" pitchFamily="18" charset="0"/>
                                              </a:rPr>
                                              <m:t>−0.0704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.1955</m:t>
                                                  </m:r>
                                                </m:e>
                                                <m:e>
                                                  <m:r>
                                                    <a:rPr lang="en-US" altLang="zh-TW" b="0" i="1" smtClean="0">
                                                      <a:latin typeface="Cambria Math" panose="02040503050406030204" pitchFamily="18" charset="0"/>
                                                    </a:rPr>
                                                    <m:t>0.2044</m:t>
                                                  </m:r>
                                                </m:e>
                                                <m:e>
                                                  <m:r>
                                                    <a:rPr lang="en-US" altLang="zh-TW" b="0" i="1" smtClean="0">
                                                      <a:latin typeface="Cambria Math" panose="02040503050406030204" pitchFamily="18" charset="0"/>
                                                    </a:rPr>
                                                    <m:t>−0.0714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0.3078</m:t>
                                            </m:r>
                                          </m:e>
                                          <m:e>
                                            <m:r>
                                              <a:rPr lang="en-US" altLang="zh-TW" b="0" i="1" smtClean="0">
                                                <a:latin typeface="Cambria Math" panose="02040503050406030204" pitchFamily="18" charset="0"/>
                                              </a:rPr>
                                              <m:t>0.8309</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0.3688</m:t>
                                                  </m:r>
                                                </m:e>
                                                <m:e>
                                                  <m:r>
                                                    <a:rPr lang="en-US" altLang="zh-TW" b="0" i="1" smtClean="0">
                                                      <a:latin typeface="Cambria Math" panose="02040503050406030204" pitchFamily="18" charset="0"/>
                                                    </a:rPr>
                                                    <m:t>−0.3111</m:t>
                                                  </m:r>
                                                </m:e>
                                                <m:e>
                                                  <m:r>
                                                    <a:rPr lang="en-US" altLang="zh-TW" b="0" i="1" smtClean="0">
                                                      <a:latin typeface="Cambria Math" panose="02040503050406030204" pitchFamily="18" charset="0"/>
                                                    </a:rPr>
                                                    <m:t>−0.1461</m:t>
                                                  </m:r>
                                                </m:e>
                                              </m:mr>
                                            </m:m>
                                          </m:e>
                                        </m:mr>
                                      </m:m>
                                    </m:e>
                                  </m:mr>
                                  <m:m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.2426</m:t>
                                                  </m:r>
                                                </m:e>
                                                <m:e>
                                                  <m:r>
                                                    <a:rPr lang="en-US" altLang="zh-TW" b="0" i="1" smtClean="0">
                                                      <a:latin typeface="Cambria Math" panose="02040503050406030204" pitchFamily="18" charset="0"/>
                                                    </a:rPr>
                                                    <m:t>−0.0823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1</m:t>
                                                        </m:r>
                                                        <m:r>
                                                          <a:rPr lang="en-US" altLang="zh-TW" b="0" i="1" smtClean="0">
                                                            <a:latin typeface="Cambria Math" panose="02040503050406030204" pitchFamily="18" charset="0"/>
                                                          </a:rPr>
                                                          <m:t>.0618</m:t>
                                                        </m:r>
                                                      </m:e>
                                                      <m:e>
                                                        <m:r>
                                                          <a:rPr lang="en-US" altLang="zh-TW" b="0" i="1" smtClean="0">
                                                            <a:latin typeface="Cambria Math" panose="02040503050406030204" pitchFamily="18" charset="0"/>
                                                          </a:rPr>
                                                          <m:t>0.2387</m:t>
                                                        </m:r>
                                                      </m:e>
                                                      <m:e>
                                                        <m:r>
                                                          <a:rPr lang="en-US" altLang="zh-TW" b="0" i="1" smtClean="0">
                                                            <a:latin typeface="Cambria Math" panose="02040503050406030204" pitchFamily="18" charset="0"/>
                                                          </a:rPr>
                                                          <m:t>−0.0450</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.2242</m:t>
                                                  </m:r>
                                                </m:e>
                                                <m:e>
                                                  <m:r>
                                                    <a:rPr lang="en-US" altLang="zh-TW" b="0" i="1" smtClean="0">
                                                      <a:latin typeface="Cambria Math" panose="02040503050406030204" pitchFamily="18" charset="0"/>
                                                    </a:rPr>
                                                    <m:t>−0.0543</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.2134</m:t>
                                                        </m:r>
                                                      </m:e>
                                                      <m:e>
                                                        <m:r>
                                                          <a:rPr lang="en-US" altLang="zh-TW" b="0" i="1" smtClean="0">
                                                            <a:latin typeface="Cambria Math" panose="02040503050406030204" pitchFamily="18" charset="0"/>
                                                          </a:rPr>
                                                          <m:t>1.0486</m:t>
                                                        </m:r>
                                                      </m:e>
                                                      <m:e>
                                                        <m:r>
                                                          <a:rPr lang="en-US" altLang="zh-TW" b="0" i="1" smtClean="0">
                                                            <a:latin typeface="Cambria Math" panose="02040503050406030204" pitchFamily="18" charset="0"/>
                                                          </a:rPr>
                                                          <m:t>−0.0924</m:t>
                                                        </m:r>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0.3061</m:t>
                                                  </m:r>
                                                </m:e>
                                                <m:e>
                                                  <m:r>
                                                    <a:rPr lang="en-US" altLang="zh-TW" b="0" i="1" smtClean="0">
                                                      <a:latin typeface="Cambria Math" panose="02040503050406030204" pitchFamily="18" charset="0"/>
                                                    </a:rPr>
                                                    <m:t>−0.1420</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0.3006</m:t>
                                                        </m:r>
                                                      </m:e>
                                                      <m:e>
                                                        <m:r>
                                                          <a:rPr lang="en-US" altLang="zh-TW" b="0" i="1" smtClean="0">
                                                            <a:latin typeface="Cambria Math" panose="02040503050406030204" pitchFamily="18" charset="0"/>
                                                          </a:rPr>
                                                          <m:t>−0.3691</m:t>
                                                        </m:r>
                                                      </m:e>
                                                      <m:e>
                                                        <m:r>
                                                          <a:rPr lang="en-US" altLang="zh-TW" b="0" i="1" smtClean="0">
                                                            <a:latin typeface="Cambria Math" panose="02040503050406030204" pitchFamily="18" charset="0"/>
                                                          </a:rPr>
                                                          <m:t>0.8413</m:t>
                                                        </m:r>
                                                      </m:e>
                                                    </m:mr>
                                                  </m:m>
                                                </m:e>
                                              </m:mr>
                                            </m:m>
                                          </m:e>
                                        </m:mr>
                                      </m:m>
                                    </m:e>
                                  </m:mr>
                                </m:m>
                              </m:e>
                            </m:mr>
                          </m:m>
                        </m:e>
                      </m:d>
                    </m:oMath>
                  </m:oMathPara>
                </a14:m>
                <a:endParaRPr lang="zh-TW" altLang="en-US" dirty="0"/>
              </a:p>
            </p:txBody>
          </p:sp>
        </mc:Choice>
        <mc:Fallback xmlns="">
          <p:sp>
            <p:nvSpPr>
              <p:cNvPr id="290" name="文字方塊 289">
                <a:extLst>
                  <a:ext uri="{FF2B5EF4-FFF2-40B4-BE49-F238E27FC236}">
                    <a16:creationId xmlns:a16="http://schemas.microsoft.com/office/drawing/2014/main" id="{25A58AA8-9131-48DA-B182-68647772A8BB}"/>
                  </a:ext>
                </a:extLst>
              </p:cNvPr>
              <p:cNvSpPr txBox="1">
                <a:spLocks noRot="1" noChangeAspect="1" noMove="1" noResize="1" noEditPoints="1" noAdjustHandles="1" noChangeArrowheads="1" noChangeShapeType="1" noTextEdit="1"/>
              </p:cNvSpPr>
              <p:nvPr/>
            </p:nvSpPr>
            <p:spPr>
              <a:xfrm>
                <a:off x="-1" y="2660135"/>
                <a:ext cx="7089610" cy="153772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3" name="文字方塊 292">
                <a:extLst>
                  <a:ext uri="{FF2B5EF4-FFF2-40B4-BE49-F238E27FC236}">
                    <a16:creationId xmlns:a16="http://schemas.microsoft.com/office/drawing/2014/main" id="{3E2A052A-2101-42E4-B7D3-D0CE85697002}"/>
                  </a:ext>
                </a:extLst>
              </p:cNvPr>
              <p:cNvSpPr txBox="1"/>
              <p:nvPr/>
            </p:nvSpPr>
            <p:spPr>
              <a:xfrm>
                <a:off x="101599" y="4434842"/>
                <a:ext cx="3080715"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r>
                            <a:rPr lang="en-US" altLang="zh-TW" b="0" i="1" smtClean="0">
                              <a:latin typeface="Cambria Math" panose="02040503050406030204" pitchFamily="18" charset="0"/>
                            </a:rPr>
                            <m:t>=7.156</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10</m:t>
                              </m:r>
                            </m:e>
                            <m:sup>
                              <m:r>
                                <a:rPr lang="en-US" altLang="zh-TW" b="0" i="1" smtClean="0">
                                  <a:latin typeface="Cambria Math" panose="02040503050406030204" pitchFamily="18" charset="0"/>
                                  <a:ea typeface="Cambria Math" panose="02040503050406030204" pitchFamily="18" charset="0"/>
                                </a:rPr>
                                <m:t>−3</m:t>
                              </m:r>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𝑚𝑇</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𝑚𝑉</m:t>
                          </m:r>
                        </m:e>
                      </m:sPre>
                      <m:r>
                        <a:rPr lang="en-US" altLang="zh-TW" b="0" i="1" smtClean="0">
                          <a:latin typeface="Cambria Math" panose="02040503050406030204" pitchFamily="18" charset="0"/>
                        </a:rPr>
                        <m:t>)</m:t>
                      </m:r>
                    </m:oMath>
                  </m:oMathPara>
                </a14:m>
                <a:endParaRPr lang="zh-TW" altLang="en-US" dirty="0"/>
              </a:p>
            </p:txBody>
          </p:sp>
        </mc:Choice>
        <mc:Fallback xmlns="">
          <p:sp>
            <p:nvSpPr>
              <p:cNvPr id="293" name="文字方塊 292">
                <a:extLst>
                  <a:ext uri="{FF2B5EF4-FFF2-40B4-BE49-F238E27FC236}">
                    <a16:creationId xmlns:a16="http://schemas.microsoft.com/office/drawing/2014/main" id="{3E2A052A-2101-42E4-B7D3-D0CE85697002}"/>
                  </a:ext>
                </a:extLst>
              </p:cNvPr>
              <p:cNvSpPr txBox="1">
                <a:spLocks noRot="1" noChangeAspect="1" noMove="1" noResize="1" noEditPoints="1" noAdjustHandles="1" noChangeArrowheads="1" noChangeShapeType="1" noTextEdit="1"/>
              </p:cNvSpPr>
              <p:nvPr/>
            </p:nvSpPr>
            <p:spPr>
              <a:xfrm>
                <a:off x="101599" y="4434842"/>
                <a:ext cx="3080715" cy="305340"/>
              </a:xfrm>
              <a:prstGeom prst="rect">
                <a:avLst/>
              </a:prstGeom>
              <a:blipFill>
                <a:blip r:embed="rId6"/>
                <a:stretch>
                  <a:fillRect t="-16000" r="-2574" b="-28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4" name="文字方塊 293">
                <a:extLst>
                  <a:ext uri="{FF2B5EF4-FFF2-40B4-BE49-F238E27FC236}">
                    <a16:creationId xmlns:a16="http://schemas.microsoft.com/office/drawing/2014/main" id="{AA5BE4FD-1934-4C48-A61B-ECBE6CFCF075}"/>
                  </a:ext>
                </a:extLst>
              </p:cNvPr>
              <p:cNvSpPr txBox="1"/>
              <p:nvPr/>
            </p:nvSpPr>
            <p:spPr>
              <a:xfrm>
                <a:off x="273159" y="5198352"/>
                <a:ext cx="4479240"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𝑅𝑀𝑆𝑃𝐸</m:t>
                      </m:r>
                      <m:r>
                        <a:rPr lang="en-US" altLang="zh-TW" b="0" i="1" smtClean="0">
                          <a:latin typeface="Cambria Math" panose="02040503050406030204" pitchFamily="18" charset="0"/>
                        </a:rPr>
                        <m:t>=</m:t>
                      </m:r>
                      <m:rad>
                        <m:radPr>
                          <m:degHide m:val="on"/>
                          <m:ctrlPr>
                            <a:rPr lang="en-US" altLang="zh-TW" b="0" i="1" smtClean="0">
                              <a:latin typeface="Cambria Math" panose="02040503050406030204" pitchFamily="18" charset="0"/>
                            </a:rPr>
                          </m:ctrlPr>
                        </m:radPr>
                        <m:deg/>
                        <m:e>
                          <m:f>
                            <m:fPr>
                              <m:ctrlPr>
                                <a:rPr lang="en-US" altLang="zh-TW" b="0" i="1" smtClean="0">
                                  <a:latin typeface="Cambria Math" panose="02040503050406030204" pitchFamily="18" charset="0"/>
                                </a:rPr>
                              </m:ctrlPr>
                            </m:fPr>
                            <m:num>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Pre>
                                            <m:sPrePr>
                                              <m:ctrlPr>
                                                <a:rPr lang="en-US" altLang="zh-TW" i="1">
                                                  <a:latin typeface="Cambria Math" panose="02040503050406030204" pitchFamily="18" charset="0"/>
                                                  <a:ea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𝑉</m:t>
                                                  </m:r>
                                                </m:sub>
                                              </m:sSub>
                                            </m:e>
                                          </m:sPre>
                                          <m:acc>
                                            <m:accPr>
                                              <m:chr m:val="̅"/>
                                              <m:ctrlPr>
                                                <a:rPr lang="zh-TW" altLang="en-US" i="1">
                                                  <a:latin typeface="Cambria Math" panose="02040503050406030204" pitchFamily="18" charset="0"/>
                                                </a:rPr>
                                              </m:ctrlPr>
                                            </m:accPr>
                                            <m:e>
                                              <m:r>
                                                <a:rPr lang="en-US" altLang="zh-TW" i="1">
                                                  <a:latin typeface="Cambria Math" panose="02040503050406030204" pitchFamily="18" charset="0"/>
                                                </a:rPr>
                                                <m:t>𝐷</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𝑗</m:t>
                                              </m:r>
                                            </m:sub>
                                          </m:sSub>
                                        </m:e>
                                      </m:d>
                                    </m:e>
                                    <m:sup>
                                      <m:r>
                                        <a:rPr lang="en-US" altLang="zh-TW" b="0" i="1" smtClean="0">
                                          <a:latin typeface="Cambria Math" panose="02040503050406030204" pitchFamily="18" charset="0"/>
                                        </a:rPr>
                                        <m:t>2</m:t>
                                      </m:r>
                                    </m:sup>
                                  </m:sSup>
                                </m:e>
                              </m:nary>
                            </m:num>
                            <m:den>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e>
                                      </m:d>
                                    </m:e>
                                    <m:sup>
                                      <m:r>
                                        <a:rPr lang="en-US" altLang="zh-TW" b="0" i="1" smtClean="0">
                                          <a:latin typeface="Cambria Math" panose="02040503050406030204" pitchFamily="18" charset="0"/>
                                        </a:rPr>
                                        <m:t>2</m:t>
                                      </m:r>
                                    </m:sup>
                                  </m:sSup>
                                </m:e>
                              </m:nary>
                            </m:den>
                          </m:f>
                        </m:e>
                      </m:rad>
                      <m:r>
                        <a:rPr lang="en-US" altLang="zh-TW" b="0" i="1" smtClean="0">
                          <a:latin typeface="Cambria Math" panose="02040503050406030204" pitchFamily="18" charset="0"/>
                        </a:rPr>
                        <m:t>=0.31%</m:t>
                      </m:r>
                    </m:oMath>
                  </m:oMathPara>
                </a14:m>
                <a:endParaRPr lang="zh-TW" altLang="en-US" dirty="0"/>
              </a:p>
            </p:txBody>
          </p:sp>
        </mc:Choice>
        <mc:Fallback xmlns="">
          <p:sp>
            <p:nvSpPr>
              <p:cNvPr id="294" name="文字方塊 293">
                <a:extLst>
                  <a:ext uri="{FF2B5EF4-FFF2-40B4-BE49-F238E27FC236}">
                    <a16:creationId xmlns:a16="http://schemas.microsoft.com/office/drawing/2014/main" id="{AA5BE4FD-1934-4C48-A61B-ECBE6CFCF075}"/>
                  </a:ext>
                </a:extLst>
              </p:cNvPr>
              <p:cNvSpPr txBox="1">
                <a:spLocks noRot="1" noChangeAspect="1" noMove="1" noResize="1" noEditPoints="1" noAdjustHandles="1" noChangeArrowheads="1" noChangeShapeType="1" noTextEdit="1"/>
              </p:cNvSpPr>
              <p:nvPr/>
            </p:nvSpPr>
            <p:spPr>
              <a:xfrm>
                <a:off x="273159" y="5198352"/>
                <a:ext cx="4479240" cy="818366"/>
              </a:xfrm>
              <a:prstGeom prst="rect">
                <a:avLst/>
              </a:prstGeom>
              <a:blipFill>
                <a:blip r:embed="rId7"/>
                <a:stretch>
                  <a:fillRect/>
                </a:stretch>
              </a:blipFill>
            </p:spPr>
            <p:txBody>
              <a:bodyPr/>
              <a:lstStyle/>
              <a:p>
                <a:r>
                  <a:rPr lang="zh-TW" altLang="en-US">
                    <a:noFill/>
                  </a:rPr>
                  <a:t> </a:t>
                </a:r>
              </a:p>
            </p:txBody>
          </p:sp>
        </mc:Fallback>
      </mc:AlternateContent>
      <p:sp>
        <p:nvSpPr>
          <p:cNvPr id="295" name="文字方塊 294">
            <a:extLst>
              <a:ext uri="{FF2B5EF4-FFF2-40B4-BE49-F238E27FC236}">
                <a16:creationId xmlns:a16="http://schemas.microsoft.com/office/drawing/2014/main" id="{7AE0DD45-A85C-4DB1-9941-5445BDB7F27F}"/>
              </a:ext>
            </a:extLst>
          </p:cNvPr>
          <p:cNvSpPr txBox="1"/>
          <p:nvPr/>
        </p:nvSpPr>
        <p:spPr>
          <a:xfrm>
            <a:off x="5836503" y="4621380"/>
            <a:ext cx="4479240" cy="120032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Voltage base fitting results</a:t>
            </a:r>
          </a:p>
          <a:p>
            <a:pPr marL="285750" indent="-285750">
              <a:buFont typeface="Arial" panose="020B0604020202020204" pitchFamily="34" charset="0"/>
              <a:buChar char="•"/>
            </a:pPr>
            <a:r>
              <a:rPr lang="en-US" altLang="zh-TW" dirty="0"/>
              <a:t>Idea model</a:t>
            </a:r>
          </a:p>
          <a:p>
            <a:pPr marL="285750" indent="-285750">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Calibration region R&lt;=150um</a:t>
            </a:r>
            <a:endParaRPr lang="zh-TW"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zh-TW" altLang="en-US" dirty="0"/>
          </a:p>
        </p:txBody>
      </p:sp>
    </p:spTree>
    <p:extLst>
      <p:ext uri="{BB962C8B-B14F-4D97-AF65-F5344CB8AC3E}">
        <p14:creationId xmlns:p14="http://schemas.microsoft.com/office/powerpoint/2010/main" val="1036941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C</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800" i="1" dirty="0">
                <a:solidFill>
                  <a:srgbClr val="000000"/>
                </a:solidFill>
                <a:effectLst/>
                <a:latin typeface="Times New Roman" panose="02020603050405020304" pitchFamily="18" charset="0"/>
                <a:ea typeface="新細明體" panose="02020500000000000000" pitchFamily="18" charset="-12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28" name="群組 27">
            <a:extLst>
              <a:ext uri="{FF2B5EF4-FFF2-40B4-BE49-F238E27FC236}">
                <a16:creationId xmlns:a16="http://schemas.microsoft.com/office/drawing/2014/main" id="{2FBBDA3D-C86D-4D97-9B92-3AED5B9E5CCF}"/>
              </a:ext>
            </a:extLst>
          </p:cNvPr>
          <p:cNvGrpSpPr/>
          <p:nvPr/>
        </p:nvGrpSpPr>
        <p:grpSpPr>
          <a:xfrm>
            <a:off x="406839" y="3439136"/>
            <a:ext cx="2960907" cy="3405946"/>
            <a:chOff x="104026" y="3574293"/>
            <a:chExt cx="2960907" cy="3405946"/>
          </a:xfrm>
        </p:grpSpPr>
        <p:pic>
          <p:nvPicPr>
            <p:cNvPr id="29" name="圖片 28">
              <a:extLst>
                <a:ext uri="{FF2B5EF4-FFF2-40B4-BE49-F238E27FC236}">
                  <a16:creationId xmlns:a16="http://schemas.microsoft.com/office/drawing/2014/main" id="{55F70E0C-4E11-48BF-B981-FDAB07420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595" y="3574293"/>
              <a:ext cx="2548338" cy="3055107"/>
            </a:xfrm>
            <a:prstGeom prst="rect">
              <a:avLst/>
            </a:prstGeom>
          </p:spPr>
        </p:pic>
        <p:grpSp>
          <p:nvGrpSpPr>
            <p:cNvPr id="30" name="群組 29">
              <a:extLst>
                <a:ext uri="{FF2B5EF4-FFF2-40B4-BE49-F238E27FC236}">
                  <a16:creationId xmlns:a16="http://schemas.microsoft.com/office/drawing/2014/main" id="{CEBF3637-0C75-460E-ADC5-2C895878BD13}"/>
                </a:ext>
              </a:extLst>
            </p:cNvPr>
            <p:cNvGrpSpPr/>
            <p:nvPr/>
          </p:nvGrpSpPr>
          <p:grpSpPr>
            <a:xfrm>
              <a:off x="104026" y="3927917"/>
              <a:ext cx="1950071" cy="3052322"/>
              <a:chOff x="1340729" y="2526284"/>
              <a:chExt cx="2406683" cy="3749884"/>
            </a:xfrm>
          </p:grpSpPr>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78AF5E1B-2930-42D2-AE08-10D5B7D139D2}"/>
                      </a:ext>
                    </a:extLst>
                  </p:cNvPr>
                  <p:cNvSpPr txBox="1"/>
                  <p:nvPr/>
                </p:nvSpPr>
                <p:spPr>
                  <a:xfrm rot="16200000">
                    <a:off x="2818382" y="5618754"/>
                    <a:ext cx="675564"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8" name="文字方塊 37">
                    <a:extLst>
                      <a:ext uri="{FF2B5EF4-FFF2-40B4-BE49-F238E27FC236}">
                        <a16:creationId xmlns:a16="http://schemas.microsoft.com/office/drawing/2014/main" id="{025EAFBF-EBE9-46F6-B255-8712E108A281}"/>
                      </a:ext>
                    </a:extLst>
                  </p:cNvPr>
                  <p:cNvSpPr txBox="1">
                    <a:spLocks noRot="1" noChangeAspect="1" noMove="1" noResize="1" noEditPoints="1" noAdjustHandles="1" noChangeArrowheads="1" noChangeShapeType="1" noTextEdit="1"/>
                  </p:cNvSpPr>
                  <p:nvPr/>
                </p:nvSpPr>
                <p:spPr>
                  <a:xfrm rot="16200000">
                    <a:off x="2818382" y="5618754"/>
                    <a:ext cx="675564" cy="639264"/>
                  </a:xfrm>
                  <a:prstGeom prst="rect">
                    <a:avLst/>
                  </a:prstGeom>
                  <a:blipFill>
                    <a:blip r:embed="rId3"/>
                    <a:stretch>
                      <a:fillRect r="-611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574C69A9-24EF-49BC-B289-3734C0056343}"/>
                      </a:ext>
                    </a:extLst>
                  </p:cNvPr>
                  <p:cNvSpPr txBox="1"/>
                  <p:nvPr/>
                </p:nvSpPr>
                <p:spPr>
                  <a:xfrm>
                    <a:off x="1340729" y="3483629"/>
                    <a:ext cx="678652"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9" name="文字方塊 38">
                    <a:extLst>
                      <a:ext uri="{FF2B5EF4-FFF2-40B4-BE49-F238E27FC236}">
                        <a16:creationId xmlns:a16="http://schemas.microsoft.com/office/drawing/2014/main" id="{D99A07FC-CF1E-4901-9A41-3FEC1CC504E4}"/>
                      </a:ext>
                    </a:extLst>
                  </p:cNvPr>
                  <p:cNvSpPr txBox="1">
                    <a:spLocks noRot="1" noChangeAspect="1" noMove="1" noResize="1" noEditPoints="1" noAdjustHandles="1" noChangeArrowheads="1" noChangeShapeType="1" noTextEdit="1"/>
                  </p:cNvSpPr>
                  <p:nvPr/>
                </p:nvSpPr>
                <p:spPr>
                  <a:xfrm>
                    <a:off x="1340729" y="3483629"/>
                    <a:ext cx="678652" cy="551631"/>
                  </a:xfrm>
                  <a:prstGeom prst="rect">
                    <a:avLst/>
                  </a:prstGeom>
                  <a:blipFill>
                    <a:blip r:embed="rId4"/>
                    <a:stretch>
                      <a:fillRect b="-864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901C0543-4E38-43DB-A9D3-E26DA2C75A04}"/>
                      </a:ext>
                    </a:extLst>
                  </p:cNvPr>
                  <p:cNvSpPr txBox="1"/>
                  <p:nvPr/>
                </p:nvSpPr>
                <p:spPr>
                  <a:xfrm rot="2825501">
                    <a:off x="3188512" y="3924342"/>
                    <a:ext cx="8699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xmlns="">
              <p:sp>
                <p:nvSpPr>
                  <p:cNvPr id="41" name="文字方塊 40">
                    <a:extLst>
                      <a:ext uri="{FF2B5EF4-FFF2-40B4-BE49-F238E27FC236}">
                        <a16:creationId xmlns:a16="http://schemas.microsoft.com/office/drawing/2014/main" id="{2094E8A5-8C1F-454E-825C-2DA54D61A8A4}"/>
                      </a:ext>
                    </a:extLst>
                  </p:cNvPr>
                  <p:cNvSpPr txBox="1">
                    <a:spLocks noRot="1" noChangeAspect="1" noMove="1" noResize="1" noEditPoints="1" noAdjustHandles="1" noChangeArrowheads="1" noChangeShapeType="1" noTextEdit="1"/>
                  </p:cNvSpPr>
                  <p:nvPr/>
                </p:nvSpPr>
                <p:spPr>
                  <a:xfrm rot="2825501">
                    <a:off x="3188512" y="3924342"/>
                    <a:ext cx="869917" cy="215444"/>
                  </a:xfrm>
                  <a:prstGeom prst="rect">
                    <a:avLst/>
                  </a:prstGeom>
                  <a:blipFill>
                    <a:blip r:embed="rId5"/>
                    <a:stretch>
                      <a:fillRect l="-11881" t="-4762" r="-17822" b="-2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861EF13E-21BF-4DCA-8092-09E4AA121E6E}"/>
                      </a:ext>
                    </a:extLst>
                  </p:cNvPr>
                  <p:cNvSpPr txBox="1"/>
                  <p:nvPr/>
                </p:nvSpPr>
                <p:spPr>
                  <a:xfrm rot="19107602">
                    <a:off x="2806352" y="2986140"/>
                    <a:ext cx="941060" cy="264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b="1" dirty="0">
                      <a:solidFill>
                        <a:schemeClr val="accent2">
                          <a:lumMod val="75000"/>
                        </a:schemeClr>
                      </a:solidFill>
                    </a:endParaRPr>
                  </a:p>
                </p:txBody>
              </p:sp>
            </mc:Choice>
            <mc:Fallback xmlns="">
              <p:sp>
                <p:nvSpPr>
                  <p:cNvPr id="42" name="文字方塊 41">
                    <a:extLst>
                      <a:ext uri="{FF2B5EF4-FFF2-40B4-BE49-F238E27FC236}">
                        <a16:creationId xmlns:a16="http://schemas.microsoft.com/office/drawing/2014/main" id="{280F7340-1A54-4948-B7A3-BD3B7877AC9E}"/>
                      </a:ext>
                    </a:extLst>
                  </p:cNvPr>
                  <p:cNvSpPr txBox="1">
                    <a:spLocks noRot="1" noChangeAspect="1" noMove="1" noResize="1" noEditPoints="1" noAdjustHandles="1" noChangeArrowheads="1" noChangeShapeType="1" noTextEdit="1"/>
                  </p:cNvSpPr>
                  <p:nvPr/>
                </p:nvSpPr>
                <p:spPr>
                  <a:xfrm rot="19107602">
                    <a:off x="2806352" y="2986140"/>
                    <a:ext cx="941060" cy="264680"/>
                  </a:xfrm>
                  <a:prstGeom prst="rect">
                    <a:avLst/>
                  </a:prstGeom>
                  <a:blipFill>
                    <a:blip r:embed="rId6"/>
                    <a:stretch>
                      <a:fillRect l="-1695" r="-3390" b="-36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619915D8-2646-48AC-B6E0-51AD0050EC02}"/>
                      </a:ext>
                    </a:extLst>
                  </p:cNvPr>
                  <p:cNvSpPr txBox="1"/>
                  <p:nvPr/>
                </p:nvSpPr>
                <p:spPr>
                  <a:xfrm rot="2706626">
                    <a:off x="3126814" y="2522464"/>
                    <a:ext cx="300138"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43" name="文字方塊 42">
                    <a:extLst>
                      <a:ext uri="{FF2B5EF4-FFF2-40B4-BE49-F238E27FC236}">
                        <a16:creationId xmlns:a16="http://schemas.microsoft.com/office/drawing/2014/main" id="{1C231A0A-85B7-4D99-96B3-7D6D0970D00D}"/>
                      </a:ext>
                    </a:extLst>
                  </p:cNvPr>
                  <p:cNvSpPr txBox="1">
                    <a:spLocks noRot="1" noChangeAspect="1" noMove="1" noResize="1" noEditPoints="1" noAdjustHandles="1" noChangeArrowheads="1" noChangeShapeType="1" noTextEdit="1"/>
                  </p:cNvSpPr>
                  <p:nvPr/>
                </p:nvSpPr>
                <p:spPr>
                  <a:xfrm rot="2706626">
                    <a:off x="3126814" y="2522464"/>
                    <a:ext cx="300138" cy="307778"/>
                  </a:xfrm>
                  <a:prstGeom prst="rect">
                    <a:avLst/>
                  </a:prstGeom>
                  <a:blipFill>
                    <a:blip r:embed="rId7"/>
                    <a:stretch>
                      <a:fillRect l="-24138" r="-20690" b="-13793"/>
                    </a:stretch>
                  </a:blipFill>
                </p:spPr>
                <p:txBody>
                  <a:bodyPr/>
                  <a:lstStyle/>
                  <a:p>
                    <a:r>
                      <a:rPr lang="zh-TW" altLang="en-US">
                        <a:noFill/>
                      </a:rPr>
                      <a:t> </a:t>
                    </a:r>
                  </a:p>
                </p:txBody>
              </p:sp>
            </mc:Fallback>
          </mc:AlternateContent>
          <p:cxnSp>
            <p:nvCxnSpPr>
              <p:cNvPr id="36" name="直線單箭頭接點 35">
                <a:extLst>
                  <a:ext uri="{FF2B5EF4-FFF2-40B4-BE49-F238E27FC236}">
                    <a16:creationId xmlns:a16="http://schemas.microsoft.com/office/drawing/2014/main" id="{6DB4700F-CF64-4664-ACF5-54301818C916}"/>
                  </a:ext>
                </a:extLst>
              </p:cNvPr>
              <p:cNvCxnSpPr>
                <a:cxnSpLocks/>
              </p:cNvCxnSpPr>
              <p:nvPr/>
            </p:nvCxnSpPr>
            <p:spPr>
              <a:xfrm flipH="1" flipV="1">
                <a:off x="2634064" y="3041641"/>
                <a:ext cx="427400" cy="76840"/>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grpSp>
        <p:nvGrpSpPr>
          <p:cNvPr id="42" name="群組 41">
            <a:extLst>
              <a:ext uri="{FF2B5EF4-FFF2-40B4-BE49-F238E27FC236}">
                <a16:creationId xmlns:a16="http://schemas.microsoft.com/office/drawing/2014/main" id="{AC2C0EE9-6565-4AB8-813B-B43FDC24A620}"/>
              </a:ext>
            </a:extLst>
          </p:cNvPr>
          <p:cNvGrpSpPr/>
          <p:nvPr/>
        </p:nvGrpSpPr>
        <p:grpSpPr>
          <a:xfrm>
            <a:off x="226997" y="835495"/>
            <a:ext cx="4117292" cy="2460355"/>
            <a:chOff x="220510" y="4164552"/>
            <a:chExt cx="4117292" cy="2460355"/>
          </a:xfrm>
        </p:grpSpPr>
        <p:pic>
          <p:nvPicPr>
            <p:cNvPr id="4" name="圖片 3">
              <a:extLst>
                <a:ext uri="{FF2B5EF4-FFF2-40B4-BE49-F238E27FC236}">
                  <a16:creationId xmlns:a16="http://schemas.microsoft.com/office/drawing/2014/main" id="{0A201C32-830E-4272-A3F3-174A36F8E1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8229" y="4164552"/>
              <a:ext cx="3599573" cy="2066999"/>
            </a:xfrm>
            <a:prstGeom prst="rect">
              <a:avLst/>
            </a:prstGeom>
          </p:spPr>
        </p:pic>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87F41BE5-0722-44C3-97C2-E48A416165EA}"/>
                    </a:ext>
                  </a:extLst>
                </p:cNvPr>
                <p:cNvSpPr txBox="1"/>
                <p:nvPr/>
              </p:nvSpPr>
              <p:spPr>
                <a:xfrm>
                  <a:off x="2363545" y="5198051"/>
                  <a:ext cx="678769" cy="1670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xmlns="">
            <p:sp>
              <p:nvSpPr>
                <p:cNvPr id="21" name="文字方塊 20">
                  <a:extLst>
                    <a:ext uri="{FF2B5EF4-FFF2-40B4-BE49-F238E27FC236}">
                      <a16:creationId xmlns:a16="http://schemas.microsoft.com/office/drawing/2014/main" id="{87F41BE5-0722-44C3-97C2-E48A416165EA}"/>
                    </a:ext>
                  </a:extLst>
                </p:cNvPr>
                <p:cNvSpPr txBox="1">
                  <a:spLocks noRot="1" noChangeAspect="1" noMove="1" noResize="1" noEditPoints="1" noAdjustHandles="1" noChangeArrowheads="1" noChangeShapeType="1" noTextEdit="1"/>
                </p:cNvSpPr>
                <p:nvPr/>
              </p:nvSpPr>
              <p:spPr>
                <a:xfrm>
                  <a:off x="2363545" y="5198051"/>
                  <a:ext cx="678769" cy="167046"/>
                </a:xfrm>
                <a:prstGeom prst="rect">
                  <a:avLst/>
                </a:prstGeom>
                <a:blipFill>
                  <a:blip r:embed="rId9"/>
                  <a:stretch>
                    <a:fillRect l="-9009" r="-29730" b="-370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AF7FAC8C-DF45-4C78-906F-910851C54023}"/>
                    </a:ext>
                  </a:extLst>
                </p:cNvPr>
                <p:cNvSpPr txBox="1"/>
                <p:nvPr/>
              </p:nvSpPr>
              <p:spPr>
                <a:xfrm>
                  <a:off x="3545387" y="4473843"/>
                  <a:ext cx="234189" cy="2386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22" name="文字方塊 21">
                  <a:extLst>
                    <a:ext uri="{FF2B5EF4-FFF2-40B4-BE49-F238E27FC236}">
                      <a16:creationId xmlns:a16="http://schemas.microsoft.com/office/drawing/2014/main" id="{AF7FAC8C-DF45-4C78-906F-910851C54023}"/>
                    </a:ext>
                  </a:extLst>
                </p:cNvPr>
                <p:cNvSpPr txBox="1">
                  <a:spLocks noRot="1" noChangeAspect="1" noMove="1" noResize="1" noEditPoints="1" noAdjustHandles="1" noChangeArrowheads="1" noChangeShapeType="1" noTextEdit="1"/>
                </p:cNvSpPr>
                <p:nvPr/>
              </p:nvSpPr>
              <p:spPr>
                <a:xfrm>
                  <a:off x="3545387" y="4473843"/>
                  <a:ext cx="234189" cy="238638"/>
                </a:xfrm>
                <a:prstGeom prst="rect">
                  <a:avLst/>
                </a:prstGeom>
                <a:blipFill>
                  <a:blip r:embed="rId10"/>
                  <a:stretch>
                    <a:fillRect l="-28947" r="-55263" b="-2820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D6B4D2AF-1CB4-4C53-8100-C8FA0094F989}"/>
                    </a:ext>
                  </a:extLst>
                </p:cNvPr>
                <p:cNvSpPr txBox="1"/>
                <p:nvPr/>
              </p:nvSpPr>
              <p:spPr>
                <a:xfrm>
                  <a:off x="3065647" y="4954353"/>
                  <a:ext cx="591224" cy="1681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sz="1600" b="1" dirty="0">
                    <a:solidFill>
                      <a:schemeClr val="accent2">
                        <a:lumMod val="75000"/>
                      </a:schemeClr>
                    </a:solidFill>
                  </a:endParaRPr>
                </a:p>
              </p:txBody>
            </p:sp>
          </mc:Choice>
          <mc:Fallback xmlns="">
            <p:sp>
              <p:nvSpPr>
                <p:cNvPr id="23" name="文字方塊 22">
                  <a:extLst>
                    <a:ext uri="{FF2B5EF4-FFF2-40B4-BE49-F238E27FC236}">
                      <a16:creationId xmlns:a16="http://schemas.microsoft.com/office/drawing/2014/main" id="{D6B4D2AF-1CB4-4C53-8100-C8FA0094F989}"/>
                    </a:ext>
                  </a:extLst>
                </p:cNvPr>
                <p:cNvSpPr txBox="1">
                  <a:spLocks noRot="1" noChangeAspect="1" noMove="1" noResize="1" noEditPoints="1" noAdjustHandles="1" noChangeArrowheads="1" noChangeShapeType="1" noTextEdit="1"/>
                </p:cNvSpPr>
                <p:nvPr/>
              </p:nvSpPr>
              <p:spPr>
                <a:xfrm>
                  <a:off x="3065647" y="4954353"/>
                  <a:ext cx="591224" cy="168104"/>
                </a:xfrm>
                <a:prstGeom prst="rect">
                  <a:avLst/>
                </a:prstGeom>
                <a:blipFill>
                  <a:blip r:embed="rId11"/>
                  <a:stretch>
                    <a:fillRect l="-10309" r="-29897" b="-37037"/>
                  </a:stretch>
                </a:blipFill>
              </p:spPr>
              <p:txBody>
                <a:bodyPr/>
                <a:lstStyle/>
                <a:p>
                  <a:r>
                    <a:rPr lang="zh-TW" altLang="en-US">
                      <a:noFill/>
                    </a:rPr>
                    <a:t> </a:t>
                  </a:r>
                </a:p>
              </p:txBody>
            </p:sp>
          </mc:Fallback>
        </mc:AlternateContent>
        <p:cxnSp>
          <p:nvCxnSpPr>
            <p:cNvPr id="24" name="直線單箭頭接點 23">
              <a:extLst>
                <a:ext uri="{FF2B5EF4-FFF2-40B4-BE49-F238E27FC236}">
                  <a16:creationId xmlns:a16="http://schemas.microsoft.com/office/drawing/2014/main" id="{21F58C5E-9E5A-42F0-BF82-A5BB3DA1DCE9}"/>
                </a:ext>
              </a:extLst>
            </p:cNvPr>
            <p:cNvCxnSpPr>
              <a:cxnSpLocks/>
            </p:cNvCxnSpPr>
            <p:nvPr/>
          </p:nvCxnSpPr>
          <p:spPr>
            <a:xfrm>
              <a:off x="3596272" y="5122457"/>
              <a:ext cx="270078" cy="266450"/>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92679633-096A-4CB4-9645-191ACA1D3D83}"/>
                    </a:ext>
                  </a:extLst>
                </p:cNvPr>
                <p:cNvSpPr txBox="1"/>
                <p:nvPr/>
              </p:nvSpPr>
              <p:spPr>
                <a:xfrm rot="16200000">
                  <a:off x="1923206" y="6090970"/>
                  <a:ext cx="549894" cy="517979"/>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7" name="文字方塊 36">
                  <a:extLst>
                    <a:ext uri="{FF2B5EF4-FFF2-40B4-BE49-F238E27FC236}">
                      <a16:creationId xmlns:a16="http://schemas.microsoft.com/office/drawing/2014/main" id="{92679633-096A-4CB4-9645-191ACA1D3D83}"/>
                    </a:ext>
                  </a:extLst>
                </p:cNvPr>
                <p:cNvSpPr txBox="1">
                  <a:spLocks noRot="1" noChangeAspect="1" noMove="1" noResize="1" noEditPoints="1" noAdjustHandles="1" noChangeArrowheads="1" noChangeShapeType="1" noTextEdit="1"/>
                </p:cNvSpPr>
                <p:nvPr/>
              </p:nvSpPr>
              <p:spPr>
                <a:xfrm rot="16200000">
                  <a:off x="1923206" y="6090970"/>
                  <a:ext cx="549894" cy="517979"/>
                </a:xfrm>
                <a:prstGeom prst="rect">
                  <a:avLst/>
                </a:prstGeom>
                <a:blipFill>
                  <a:blip r:embed="rId12"/>
                  <a:stretch>
                    <a:fillRect r="-611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37387DB5-9422-4B3E-9F36-F8300A4BDF95}"/>
                    </a:ext>
                  </a:extLst>
                </p:cNvPr>
                <p:cNvSpPr txBox="1"/>
                <p:nvPr/>
              </p:nvSpPr>
              <p:spPr>
                <a:xfrm>
                  <a:off x="220510" y="4806667"/>
                  <a:ext cx="549894" cy="44901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8" name="文字方塊 37">
                  <a:extLst>
                    <a:ext uri="{FF2B5EF4-FFF2-40B4-BE49-F238E27FC236}">
                      <a16:creationId xmlns:a16="http://schemas.microsoft.com/office/drawing/2014/main" id="{37387DB5-9422-4B3E-9F36-F8300A4BDF95}"/>
                    </a:ext>
                  </a:extLst>
                </p:cNvPr>
                <p:cNvSpPr txBox="1">
                  <a:spLocks noRot="1" noChangeAspect="1" noMove="1" noResize="1" noEditPoints="1" noAdjustHandles="1" noChangeArrowheads="1" noChangeShapeType="1" noTextEdit="1"/>
                </p:cNvSpPr>
                <p:nvPr/>
              </p:nvSpPr>
              <p:spPr>
                <a:xfrm>
                  <a:off x="220510" y="4806667"/>
                  <a:ext cx="549894" cy="449015"/>
                </a:xfrm>
                <a:prstGeom prst="rect">
                  <a:avLst/>
                </a:prstGeom>
                <a:blipFill>
                  <a:blip r:embed="rId13"/>
                  <a:stretch>
                    <a:fillRect b="-8648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4B58AE3C-20AF-45B7-90A9-E06597A83F0B}"/>
                  </a:ext>
                </a:extLst>
              </p:cNvPr>
              <p:cNvSpPr txBox="1"/>
              <p:nvPr/>
            </p:nvSpPr>
            <p:spPr>
              <a:xfrm>
                <a:off x="9016274" y="945428"/>
                <a:ext cx="2213106" cy="276999"/>
              </a:xfrm>
              <a:prstGeom prst="rect">
                <a:avLst/>
              </a:prstGeom>
              <a:noFill/>
            </p:spPr>
            <p:txBody>
              <a:bodyPr wrap="none" lIns="0" tIns="0" rIns="0" bIns="0" rtlCol="0">
                <a:spAutoFit/>
              </a:bodyPr>
              <a:lstStyle/>
              <a:p>
                <a14:m>
                  <m:oMath xmlns:m="http://schemas.openxmlformats.org/officeDocument/2006/math">
                    <m:r>
                      <a:rPr lang="en-US" altLang="zh-TW" i="1" smtClean="0">
                        <a:latin typeface="Cambria Math" panose="02040503050406030204" pitchFamily="18" charset="0"/>
                        <a:ea typeface="Cambria Math" panose="02040503050406030204" pitchFamily="18" charset="0"/>
                      </a:rPr>
                      <m:t>&lt;</m:t>
                    </m:r>
                    <m:r>
                      <a:rPr lang="en-US" altLang="zh-TW" b="0" i="1" smtClean="0">
                        <a:latin typeface="Cambria Math" panose="02040503050406030204" pitchFamily="18" charset="0"/>
                        <a:ea typeface="Cambria Math" panose="02040503050406030204" pitchFamily="18" charset="0"/>
                      </a:rPr>
                      <m:t>𝑏</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𝑛</m:t>
                        </m:r>
                      </m:e>
                      <m:sup>
                        <m:r>
                          <a:rPr lang="en-US" altLang="zh-TW" b="0" i="1" smtClean="0">
                            <a:latin typeface="Cambria Math" panose="02040503050406030204" pitchFamily="18" charset="0"/>
                            <a:ea typeface="Cambria Math" panose="02040503050406030204" pitchFamily="18" charset="0"/>
                          </a:rPr>
                          <m:t>+</m:t>
                        </m:r>
                      </m:sup>
                    </m:sSup>
                    <m:r>
                      <a:rPr lang="en-US" altLang="zh-TW" i="1">
                        <a:latin typeface="Cambria Math" panose="02040503050406030204" pitchFamily="18" charset="0"/>
                        <a:ea typeface="Cambria Math" panose="02040503050406030204" pitchFamily="18" charset="0"/>
                      </a:rPr>
                      <m:t>&gt;</m:t>
                    </m:r>
                  </m:oMath>
                </a14:m>
                <a:r>
                  <a:rPr lang="en-US" altLang="zh-TW" dirty="0"/>
                  <a:t>=10.6035mT</a:t>
                </a:r>
                <a:endParaRPr lang="zh-TW" altLang="en-US" dirty="0"/>
              </a:p>
            </p:txBody>
          </p:sp>
        </mc:Choice>
        <mc:Fallback xmlns="">
          <p:sp>
            <p:nvSpPr>
              <p:cNvPr id="8" name="文字方塊 7">
                <a:extLst>
                  <a:ext uri="{FF2B5EF4-FFF2-40B4-BE49-F238E27FC236}">
                    <a16:creationId xmlns:a16="http://schemas.microsoft.com/office/drawing/2014/main" id="{4B58AE3C-20AF-45B7-90A9-E06597A83F0B}"/>
                  </a:ext>
                </a:extLst>
              </p:cNvPr>
              <p:cNvSpPr txBox="1">
                <a:spLocks noRot="1" noChangeAspect="1" noMove="1" noResize="1" noEditPoints="1" noAdjustHandles="1" noChangeArrowheads="1" noChangeShapeType="1" noTextEdit="1"/>
              </p:cNvSpPr>
              <p:nvPr/>
            </p:nvSpPr>
            <p:spPr>
              <a:xfrm>
                <a:off x="9016274" y="945428"/>
                <a:ext cx="2213106" cy="276999"/>
              </a:xfrm>
              <a:prstGeom prst="rect">
                <a:avLst/>
              </a:prstGeom>
              <a:blipFill>
                <a:blip r:embed="rId14"/>
                <a:stretch>
                  <a:fillRect l="-3306" t="-28261" r="-6061" b="-5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AFF82E3-AB17-4A1F-910E-4805C03D3300}"/>
                  </a:ext>
                </a:extLst>
              </p:cNvPr>
              <p:cNvSpPr txBox="1"/>
              <p:nvPr/>
            </p:nvSpPr>
            <p:spPr>
              <a:xfrm>
                <a:off x="9016274" y="4195763"/>
                <a:ext cx="2213106" cy="276999"/>
              </a:xfrm>
              <a:prstGeom prst="rect">
                <a:avLst/>
              </a:prstGeom>
              <a:noFill/>
            </p:spPr>
            <p:txBody>
              <a:bodyPr wrap="none" lIns="0" tIns="0" rIns="0" bIns="0" rtlCol="0">
                <a:spAutoFit/>
              </a:bodyPr>
              <a:lstStyle/>
              <a:p>
                <a14:m>
                  <m:oMath xmlns:m="http://schemas.openxmlformats.org/officeDocument/2006/math">
                    <m:r>
                      <a:rPr lang="en-US" altLang="zh-TW" i="1" smtClean="0">
                        <a:latin typeface="Cambria Math" panose="02040503050406030204" pitchFamily="18" charset="0"/>
                        <a:ea typeface="Cambria Math" panose="02040503050406030204" pitchFamily="18" charset="0"/>
                      </a:rPr>
                      <m:t>&lt;</m:t>
                    </m:r>
                    <m:r>
                      <a:rPr lang="en-US" altLang="zh-TW" b="0" i="1" smtClean="0">
                        <a:latin typeface="Cambria Math" panose="02040503050406030204" pitchFamily="18" charset="0"/>
                        <a:ea typeface="Cambria Math" panose="02040503050406030204" pitchFamily="18" charset="0"/>
                      </a:rPr>
                      <m:t>𝑏</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𝑛</m:t>
                        </m:r>
                      </m:e>
                      <m:sup>
                        <m:r>
                          <a:rPr lang="en-US" altLang="zh-TW" b="0" i="1" smtClean="0">
                            <a:latin typeface="Cambria Math" panose="02040503050406030204" pitchFamily="18" charset="0"/>
                            <a:ea typeface="Cambria Math" panose="02040503050406030204" pitchFamily="18" charset="0"/>
                          </a:rPr>
                          <m:t>+</m:t>
                        </m:r>
                      </m:sup>
                    </m:sSup>
                    <m:r>
                      <a:rPr lang="en-US" altLang="zh-TW" i="1">
                        <a:latin typeface="Cambria Math" panose="02040503050406030204" pitchFamily="18" charset="0"/>
                        <a:ea typeface="Cambria Math" panose="02040503050406030204" pitchFamily="18" charset="0"/>
                      </a:rPr>
                      <m:t>&gt;</m:t>
                    </m:r>
                  </m:oMath>
                </a14:m>
                <a:r>
                  <a:rPr lang="en-US" altLang="zh-TW" dirty="0"/>
                  <a:t>=10.5278mT</a:t>
                </a:r>
                <a:endParaRPr lang="zh-TW" altLang="en-US" dirty="0"/>
              </a:p>
            </p:txBody>
          </p:sp>
        </mc:Choice>
        <mc:Fallback xmlns="">
          <p:sp>
            <p:nvSpPr>
              <p:cNvPr id="41" name="文字方塊 40">
                <a:extLst>
                  <a:ext uri="{FF2B5EF4-FFF2-40B4-BE49-F238E27FC236}">
                    <a16:creationId xmlns:a16="http://schemas.microsoft.com/office/drawing/2014/main" id="{DAFF82E3-AB17-4A1F-910E-4805C03D3300}"/>
                  </a:ext>
                </a:extLst>
              </p:cNvPr>
              <p:cNvSpPr txBox="1">
                <a:spLocks noRot="1" noChangeAspect="1" noMove="1" noResize="1" noEditPoints="1" noAdjustHandles="1" noChangeArrowheads="1" noChangeShapeType="1" noTextEdit="1"/>
              </p:cNvSpPr>
              <p:nvPr/>
            </p:nvSpPr>
            <p:spPr>
              <a:xfrm>
                <a:off x="9016274" y="4195763"/>
                <a:ext cx="2213106" cy="276999"/>
              </a:xfrm>
              <a:prstGeom prst="rect">
                <a:avLst/>
              </a:prstGeom>
              <a:blipFill>
                <a:blip r:embed="rId15"/>
                <a:stretch>
                  <a:fillRect l="-3306" t="-28261" r="-6061" b="-50000"/>
                </a:stretch>
              </a:blipFill>
            </p:spPr>
            <p:txBody>
              <a:bodyPr/>
              <a:lstStyle/>
              <a:p>
                <a:r>
                  <a:rPr lang="zh-TW" altLang="en-US">
                    <a:noFill/>
                  </a:rPr>
                  <a:t> </a:t>
                </a:r>
              </a:p>
            </p:txBody>
          </p:sp>
        </mc:Fallback>
      </mc:AlternateContent>
      <p:pic>
        <p:nvPicPr>
          <p:cNvPr id="25" name="圖片 24">
            <a:extLst>
              <a:ext uri="{FF2B5EF4-FFF2-40B4-BE49-F238E27FC236}">
                <a16:creationId xmlns:a16="http://schemas.microsoft.com/office/drawing/2014/main" id="{6CDEB60A-9902-44FE-B82F-EF189A1DBA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905655" y="640037"/>
            <a:ext cx="3267780" cy="2457914"/>
          </a:xfrm>
          <a:prstGeom prst="rect">
            <a:avLst/>
          </a:prstGeom>
        </p:spPr>
      </p:pic>
      <p:pic>
        <p:nvPicPr>
          <p:cNvPr id="27" name="圖片 26">
            <a:extLst>
              <a:ext uri="{FF2B5EF4-FFF2-40B4-BE49-F238E27FC236}">
                <a16:creationId xmlns:a16="http://schemas.microsoft.com/office/drawing/2014/main" id="{61CDB1D9-6F4C-4F90-805C-F19C99E7506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760060" y="3760050"/>
            <a:ext cx="3470968" cy="2607733"/>
          </a:xfrm>
          <a:prstGeom prst="rect">
            <a:avLst/>
          </a:prstGeom>
        </p:spPr>
      </p:pic>
      <p:sp>
        <p:nvSpPr>
          <p:cNvPr id="39" name="文字方塊 38">
            <a:extLst>
              <a:ext uri="{FF2B5EF4-FFF2-40B4-BE49-F238E27FC236}">
                <a16:creationId xmlns:a16="http://schemas.microsoft.com/office/drawing/2014/main" id="{6D6F47E9-E583-406C-A7E8-B4C042DF3B50}"/>
              </a:ext>
            </a:extLst>
          </p:cNvPr>
          <p:cNvSpPr txBox="1"/>
          <p:nvPr/>
        </p:nvSpPr>
        <p:spPr>
          <a:xfrm>
            <a:off x="8906557" y="4846508"/>
            <a:ext cx="3064933" cy="369332"/>
          </a:xfrm>
          <a:prstGeom prst="rect">
            <a:avLst/>
          </a:prstGeom>
          <a:noFill/>
        </p:spPr>
        <p:txBody>
          <a:bodyPr wrap="square" rtlCol="0">
            <a:spAutoFit/>
          </a:bodyPr>
          <a:lstStyle/>
          <a:p>
            <a:r>
              <a:rPr lang="en-US" altLang="zh-TW" dirty="0"/>
              <a:t>Range=[10.01  11.17](</a:t>
            </a:r>
            <a:r>
              <a:rPr lang="en-US" altLang="zh-TW" dirty="0" err="1"/>
              <a:t>mT</a:t>
            </a:r>
            <a:r>
              <a:rPr lang="en-US" altLang="zh-TW" dirty="0"/>
              <a:t>)</a:t>
            </a:r>
            <a:endParaRPr lang="zh-TW" altLang="en-US" dirty="0"/>
          </a:p>
        </p:txBody>
      </p:sp>
      <p:sp>
        <p:nvSpPr>
          <p:cNvPr id="46" name="文字方塊 45">
            <a:extLst>
              <a:ext uri="{FF2B5EF4-FFF2-40B4-BE49-F238E27FC236}">
                <a16:creationId xmlns:a16="http://schemas.microsoft.com/office/drawing/2014/main" id="{D4808555-6876-433F-8314-8C092A2EFE13}"/>
              </a:ext>
            </a:extLst>
          </p:cNvPr>
          <p:cNvSpPr txBox="1"/>
          <p:nvPr/>
        </p:nvSpPr>
        <p:spPr>
          <a:xfrm>
            <a:off x="8940800" y="1369662"/>
            <a:ext cx="3064933" cy="369332"/>
          </a:xfrm>
          <a:prstGeom prst="rect">
            <a:avLst/>
          </a:prstGeom>
          <a:noFill/>
        </p:spPr>
        <p:txBody>
          <a:bodyPr wrap="square" rtlCol="0">
            <a:spAutoFit/>
          </a:bodyPr>
          <a:lstStyle/>
          <a:p>
            <a:r>
              <a:rPr lang="en-US" altLang="zh-TW" dirty="0"/>
              <a:t>Range=[10.39  11.11](</a:t>
            </a:r>
            <a:r>
              <a:rPr lang="en-US" altLang="zh-TW" dirty="0" err="1"/>
              <a:t>mT</a:t>
            </a:r>
            <a:r>
              <a:rPr lang="en-US" altLang="zh-TW" dirty="0"/>
              <a:t>)</a:t>
            </a:r>
            <a:endParaRPr lang="zh-TW" altLang="en-US" dirty="0"/>
          </a:p>
        </p:txBody>
      </p:sp>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13D1A64E-CC4F-4ACA-B78B-95E2D1B39AB8}"/>
                  </a:ext>
                </a:extLst>
              </p:cNvPr>
              <p:cNvSpPr txBox="1"/>
              <p:nvPr/>
            </p:nvSpPr>
            <p:spPr>
              <a:xfrm>
                <a:off x="8830733" y="1957046"/>
                <a:ext cx="3064933" cy="3755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1" dirty="0" smtClean="0">
                          <a:latin typeface="Cambria Math" panose="02040503050406030204" pitchFamily="18" charset="0"/>
                        </a:rPr>
                        <m:t>𝜃</m:t>
                      </m:r>
                      <m:r>
                        <a:rPr lang="en-US" altLang="zh-TW" b="0" i="0" dirty="0" smtClean="0">
                          <a:latin typeface="Cambria Math" panose="02040503050406030204" pitchFamily="18" charset="0"/>
                        </a:rPr>
                        <m:t>=</m:t>
                      </m:r>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8.83</m:t>
                          </m:r>
                        </m:e>
                        <m:sup>
                          <m:r>
                            <a:rPr lang="en-US" altLang="zh-TW" b="0" i="1" dirty="0" smtClean="0">
                              <a:latin typeface="Cambria Math" panose="02040503050406030204" pitchFamily="18" charset="0"/>
                              <a:ea typeface="Cambria Math" panose="02040503050406030204" pitchFamily="18" charset="0"/>
                            </a:rPr>
                            <m:t>°</m:t>
                          </m:r>
                        </m:sup>
                      </m:sSup>
                    </m:oMath>
                  </m:oMathPara>
                </a14:m>
                <a:endParaRPr lang="zh-TW" altLang="en-US" dirty="0"/>
              </a:p>
            </p:txBody>
          </p:sp>
        </mc:Choice>
        <mc:Fallback xmlns="">
          <p:sp>
            <p:nvSpPr>
              <p:cNvPr id="47" name="文字方塊 46">
                <a:extLst>
                  <a:ext uri="{FF2B5EF4-FFF2-40B4-BE49-F238E27FC236}">
                    <a16:creationId xmlns:a16="http://schemas.microsoft.com/office/drawing/2014/main" id="{13D1A64E-CC4F-4ACA-B78B-95E2D1B39AB8}"/>
                  </a:ext>
                </a:extLst>
              </p:cNvPr>
              <p:cNvSpPr txBox="1">
                <a:spLocks noRot="1" noChangeAspect="1" noMove="1" noResize="1" noEditPoints="1" noAdjustHandles="1" noChangeArrowheads="1" noChangeShapeType="1" noTextEdit="1"/>
              </p:cNvSpPr>
              <p:nvPr/>
            </p:nvSpPr>
            <p:spPr>
              <a:xfrm>
                <a:off x="8830733" y="1957046"/>
                <a:ext cx="3064933" cy="375552"/>
              </a:xfrm>
              <a:prstGeom prst="rect">
                <a:avLst/>
              </a:prstGeom>
              <a:blipFill>
                <a:blip r:embed="rId1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BFA946B3-D919-45D4-A937-26E726498EA9}"/>
                  </a:ext>
                </a:extLst>
              </p:cNvPr>
              <p:cNvSpPr txBox="1"/>
              <p:nvPr/>
            </p:nvSpPr>
            <p:spPr>
              <a:xfrm>
                <a:off x="8830733" y="5305934"/>
                <a:ext cx="3064933" cy="3755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1" dirty="0" smtClean="0">
                          <a:latin typeface="Cambria Math" panose="02040503050406030204" pitchFamily="18" charset="0"/>
                        </a:rPr>
                        <m:t>𝜃</m:t>
                      </m:r>
                      <m:r>
                        <a:rPr lang="en-US" altLang="zh-TW" b="0" i="0" dirty="0" smtClean="0">
                          <a:latin typeface="Cambria Math" panose="02040503050406030204" pitchFamily="18" charset="0"/>
                        </a:rPr>
                        <m:t>=</m:t>
                      </m:r>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7.39</m:t>
                          </m:r>
                        </m:e>
                        <m:sup>
                          <m:r>
                            <a:rPr lang="en-US" altLang="zh-TW" b="0" i="1" dirty="0" smtClean="0">
                              <a:latin typeface="Cambria Math" panose="02040503050406030204" pitchFamily="18" charset="0"/>
                              <a:ea typeface="Cambria Math" panose="02040503050406030204" pitchFamily="18" charset="0"/>
                            </a:rPr>
                            <m:t>°</m:t>
                          </m:r>
                        </m:sup>
                      </m:sSup>
                    </m:oMath>
                  </m:oMathPara>
                </a14:m>
                <a:endParaRPr lang="zh-TW" altLang="en-US" dirty="0"/>
              </a:p>
            </p:txBody>
          </p:sp>
        </mc:Choice>
        <mc:Fallback xmlns="">
          <p:sp>
            <p:nvSpPr>
              <p:cNvPr id="48" name="文字方塊 47">
                <a:extLst>
                  <a:ext uri="{FF2B5EF4-FFF2-40B4-BE49-F238E27FC236}">
                    <a16:creationId xmlns:a16="http://schemas.microsoft.com/office/drawing/2014/main" id="{BFA946B3-D919-45D4-A937-26E726498EA9}"/>
                  </a:ext>
                </a:extLst>
              </p:cNvPr>
              <p:cNvSpPr txBox="1">
                <a:spLocks noRot="1" noChangeAspect="1" noMove="1" noResize="1" noEditPoints="1" noAdjustHandles="1" noChangeArrowheads="1" noChangeShapeType="1" noTextEdit="1"/>
              </p:cNvSpPr>
              <p:nvPr/>
            </p:nvSpPr>
            <p:spPr>
              <a:xfrm>
                <a:off x="8830733" y="5305934"/>
                <a:ext cx="3064933" cy="375552"/>
              </a:xfrm>
              <a:prstGeom prst="rect">
                <a:avLst/>
              </a:prstGeom>
              <a:blipFill>
                <a:blip r:embed="rId1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65898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1" y="68004"/>
            <a:ext cx="12335933"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C</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800" i="1" dirty="0">
                <a:solidFill>
                  <a:srgbClr val="000000"/>
                </a:solidFill>
                <a:effectLst/>
                <a:latin typeface="Times New Roman" panose="02020603050405020304" pitchFamily="18" charset="0"/>
                <a:ea typeface="新細明體" panose="02020500000000000000" pitchFamily="18" charset="-12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28" name="群組 27">
            <a:extLst>
              <a:ext uri="{FF2B5EF4-FFF2-40B4-BE49-F238E27FC236}">
                <a16:creationId xmlns:a16="http://schemas.microsoft.com/office/drawing/2014/main" id="{2FBBDA3D-C86D-4D97-9B92-3AED5B9E5CCF}"/>
              </a:ext>
            </a:extLst>
          </p:cNvPr>
          <p:cNvGrpSpPr/>
          <p:nvPr/>
        </p:nvGrpSpPr>
        <p:grpSpPr>
          <a:xfrm>
            <a:off x="406839" y="3439136"/>
            <a:ext cx="2960907" cy="3405946"/>
            <a:chOff x="104026" y="3574293"/>
            <a:chExt cx="2960907" cy="3405946"/>
          </a:xfrm>
        </p:grpSpPr>
        <p:pic>
          <p:nvPicPr>
            <p:cNvPr id="29" name="圖片 28">
              <a:extLst>
                <a:ext uri="{FF2B5EF4-FFF2-40B4-BE49-F238E27FC236}">
                  <a16:creationId xmlns:a16="http://schemas.microsoft.com/office/drawing/2014/main" id="{55F70E0C-4E11-48BF-B981-FDAB07420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595" y="3574293"/>
              <a:ext cx="2548338" cy="3055107"/>
            </a:xfrm>
            <a:prstGeom prst="rect">
              <a:avLst/>
            </a:prstGeom>
          </p:spPr>
        </p:pic>
        <p:grpSp>
          <p:nvGrpSpPr>
            <p:cNvPr id="30" name="群組 29">
              <a:extLst>
                <a:ext uri="{FF2B5EF4-FFF2-40B4-BE49-F238E27FC236}">
                  <a16:creationId xmlns:a16="http://schemas.microsoft.com/office/drawing/2014/main" id="{CEBF3637-0C75-460E-ADC5-2C895878BD13}"/>
                </a:ext>
              </a:extLst>
            </p:cNvPr>
            <p:cNvGrpSpPr/>
            <p:nvPr/>
          </p:nvGrpSpPr>
          <p:grpSpPr>
            <a:xfrm>
              <a:off x="104026" y="3927917"/>
              <a:ext cx="1950071" cy="3052322"/>
              <a:chOff x="1340729" y="2526284"/>
              <a:chExt cx="2406683" cy="3749884"/>
            </a:xfrm>
          </p:grpSpPr>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78AF5E1B-2930-42D2-AE08-10D5B7D139D2}"/>
                      </a:ext>
                    </a:extLst>
                  </p:cNvPr>
                  <p:cNvSpPr txBox="1"/>
                  <p:nvPr/>
                </p:nvSpPr>
                <p:spPr>
                  <a:xfrm rot="16200000">
                    <a:off x="2818382" y="5618754"/>
                    <a:ext cx="675564" cy="639264"/>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8" name="文字方塊 37">
                    <a:extLst>
                      <a:ext uri="{FF2B5EF4-FFF2-40B4-BE49-F238E27FC236}">
                        <a16:creationId xmlns:a16="http://schemas.microsoft.com/office/drawing/2014/main" id="{025EAFBF-EBE9-46F6-B255-8712E108A281}"/>
                      </a:ext>
                    </a:extLst>
                  </p:cNvPr>
                  <p:cNvSpPr txBox="1">
                    <a:spLocks noRot="1" noChangeAspect="1" noMove="1" noResize="1" noEditPoints="1" noAdjustHandles="1" noChangeArrowheads="1" noChangeShapeType="1" noTextEdit="1"/>
                  </p:cNvSpPr>
                  <p:nvPr/>
                </p:nvSpPr>
                <p:spPr>
                  <a:xfrm rot="16200000">
                    <a:off x="2818382" y="5618754"/>
                    <a:ext cx="675564" cy="639264"/>
                  </a:xfrm>
                  <a:prstGeom prst="rect">
                    <a:avLst/>
                  </a:prstGeom>
                  <a:blipFill>
                    <a:blip r:embed="rId3"/>
                    <a:stretch>
                      <a:fillRect r="-611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574C69A9-24EF-49BC-B289-3734C0056343}"/>
                      </a:ext>
                    </a:extLst>
                  </p:cNvPr>
                  <p:cNvSpPr txBox="1"/>
                  <p:nvPr/>
                </p:nvSpPr>
                <p:spPr>
                  <a:xfrm>
                    <a:off x="1340729" y="3483629"/>
                    <a:ext cx="678652" cy="551631"/>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9" name="文字方塊 38">
                    <a:extLst>
                      <a:ext uri="{FF2B5EF4-FFF2-40B4-BE49-F238E27FC236}">
                        <a16:creationId xmlns:a16="http://schemas.microsoft.com/office/drawing/2014/main" id="{D99A07FC-CF1E-4901-9A41-3FEC1CC504E4}"/>
                      </a:ext>
                    </a:extLst>
                  </p:cNvPr>
                  <p:cNvSpPr txBox="1">
                    <a:spLocks noRot="1" noChangeAspect="1" noMove="1" noResize="1" noEditPoints="1" noAdjustHandles="1" noChangeArrowheads="1" noChangeShapeType="1" noTextEdit="1"/>
                  </p:cNvSpPr>
                  <p:nvPr/>
                </p:nvSpPr>
                <p:spPr>
                  <a:xfrm>
                    <a:off x="1340729" y="3483629"/>
                    <a:ext cx="678652" cy="551631"/>
                  </a:xfrm>
                  <a:prstGeom prst="rect">
                    <a:avLst/>
                  </a:prstGeom>
                  <a:blipFill>
                    <a:blip r:embed="rId4"/>
                    <a:stretch>
                      <a:fillRect b="-864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901C0543-4E38-43DB-A9D3-E26DA2C75A04}"/>
                      </a:ext>
                    </a:extLst>
                  </p:cNvPr>
                  <p:cNvSpPr txBox="1"/>
                  <p:nvPr/>
                </p:nvSpPr>
                <p:spPr>
                  <a:xfrm rot="2825501">
                    <a:off x="3188512" y="3924342"/>
                    <a:ext cx="8699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xmlns="">
              <p:sp>
                <p:nvSpPr>
                  <p:cNvPr id="41" name="文字方塊 40">
                    <a:extLst>
                      <a:ext uri="{FF2B5EF4-FFF2-40B4-BE49-F238E27FC236}">
                        <a16:creationId xmlns:a16="http://schemas.microsoft.com/office/drawing/2014/main" id="{2094E8A5-8C1F-454E-825C-2DA54D61A8A4}"/>
                      </a:ext>
                    </a:extLst>
                  </p:cNvPr>
                  <p:cNvSpPr txBox="1">
                    <a:spLocks noRot="1" noChangeAspect="1" noMove="1" noResize="1" noEditPoints="1" noAdjustHandles="1" noChangeArrowheads="1" noChangeShapeType="1" noTextEdit="1"/>
                  </p:cNvSpPr>
                  <p:nvPr/>
                </p:nvSpPr>
                <p:spPr>
                  <a:xfrm rot="2825501">
                    <a:off x="3188512" y="3924342"/>
                    <a:ext cx="869917" cy="215444"/>
                  </a:xfrm>
                  <a:prstGeom prst="rect">
                    <a:avLst/>
                  </a:prstGeom>
                  <a:blipFill>
                    <a:blip r:embed="rId5"/>
                    <a:stretch>
                      <a:fillRect l="-11881" t="-4762" r="-17822" b="-2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861EF13E-21BF-4DCA-8092-09E4AA121E6E}"/>
                      </a:ext>
                    </a:extLst>
                  </p:cNvPr>
                  <p:cNvSpPr txBox="1"/>
                  <p:nvPr/>
                </p:nvSpPr>
                <p:spPr>
                  <a:xfrm rot="19107602">
                    <a:off x="2806352" y="2986140"/>
                    <a:ext cx="941060" cy="264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b="1" dirty="0">
                      <a:solidFill>
                        <a:schemeClr val="accent2">
                          <a:lumMod val="75000"/>
                        </a:schemeClr>
                      </a:solidFill>
                    </a:endParaRPr>
                  </a:p>
                </p:txBody>
              </p:sp>
            </mc:Choice>
            <mc:Fallback xmlns="">
              <p:sp>
                <p:nvSpPr>
                  <p:cNvPr id="42" name="文字方塊 41">
                    <a:extLst>
                      <a:ext uri="{FF2B5EF4-FFF2-40B4-BE49-F238E27FC236}">
                        <a16:creationId xmlns:a16="http://schemas.microsoft.com/office/drawing/2014/main" id="{280F7340-1A54-4948-B7A3-BD3B7877AC9E}"/>
                      </a:ext>
                    </a:extLst>
                  </p:cNvPr>
                  <p:cNvSpPr txBox="1">
                    <a:spLocks noRot="1" noChangeAspect="1" noMove="1" noResize="1" noEditPoints="1" noAdjustHandles="1" noChangeArrowheads="1" noChangeShapeType="1" noTextEdit="1"/>
                  </p:cNvSpPr>
                  <p:nvPr/>
                </p:nvSpPr>
                <p:spPr>
                  <a:xfrm rot="19107602">
                    <a:off x="2806352" y="2986140"/>
                    <a:ext cx="941060" cy="264680"/>
                  </a:xfrm>
                  <a:prstGeom prst="rect">
                    <a:avLst/>
                  </a:prstGeom>
                  <a:blipFill>
                    <a:blip r:embed="rId6"/>
                    <a:stretch>
                      <a:fillRect l="-1695" r="-3390" b="-36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619915D8-2646-48AC-B6E0-51AD0050EC02}"/>
                      </a:ext>
                    </a:extLst>
                  </p:cNvPr>
                  <p:cNvSpPr txBox="1"/>
                  <p:nvPr/>
                </p:nvSpPr>
                <p:spPr>
                  <a:xfrm rot="2706626">
                    <a:off x="3126814" y="2522464"/>
                    <a:ext cx="300138"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43" name="文字方塊 42">
                    <a:extLst>
                      <a:ext uri="{FF2B5EF4-FFF2-40B4-BE49-F238E27FC236}">
                        <a16:creationId xmlns:a16="http://schemas.microsoft.com/office/drawing/2014/main" id="{1C231A0A-85B7-4D99-96B3-7D6D0970D00D}"/>
                      </a:ext>
                    </a:extLst>
                  </p:cNvPr>
                  <p:cNvSpPr txBox="1">
                    <a:spLocks noRot="1" noChangeAspect="1" noMove="1" noResize="1" noEditPoints="1" noAdjustHandles="1" noChangeArrowheads="1" noChangeShapeType="1" noTextEdit="1"/>
                  </p:cNvSpPr>
                  <p:nvPr/>
                </p:nvSpPr>
                <p:spPr>
                  <a:xfrm rot="2706626">
                    <a:off x="3126814" y="2522464"/>
                    <a:ext cx="300138" cy="307778"/>
                  </a:xfrm>
                  <a:prstGeom prst="rect">
                    <a:avLst/>
                  </a:prstGeom>
                  <a:blipFill>
                    <a:blip r:embed="rId7"/>
                    <a:stretch>
                      <a:fillRect l="-24138" r="-20690" b="-13793"/>
                    </a:stretch>
                  </a:blipFill>
                </p:spPr>
                <p:txBody>
                  <a:bodyPr/>
                  <a:lstStyle/>
                  <a:p>
                    <a:r>
                      <a:rPr lang="zh-TW" altLang="en-US">
                        <a:noFill/>
                      </a:rPr>
                      <a:t> </a:t>
                    </a:r>
                  </a:p>
                </p:txBody>
              </p:sp>
            </mc:Fallback>
          </mc:AlternateContent>
          <p:cxnSp>
            <p:nvCxnSpPr>
              <p:cNvPr id="36" name="直線單箭頭接點 35">
                <a:extLst>
                  <a:ext uri="{FF2B5EF4-FFF2-40B4-BE49-F238E27FC236}">
                    <a16:creationId xmlns:a16="http://schemas.microsoft.com/office/drawing/2014/main" id="{6DB4700F-CF64-4664-ACF5-54301818C916}"/>
                  </a:ext>
                </a:extLst>
              </p:cNvPr>
              <p:cNvCxnSpPr>
                <a:cxnSpLocks/>
              </p:cNvCxnSpPr>
              <p:nvPr/>
            </p:nvCxnSpPr>
            <p:spPr>
              <a:xfrm flipH="1" flipV="1">
                <a:off x="2634064" y="3041641"/>
                <a:ext cx="427400" cy="76840"/>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p:grpSp>
      </p:grpSp>
      <p:grpSp>
        <p:nvGrpSpPr>
          <p:cNvPr id="42" name="群組 41">
            <a:extLst>
              <a:ext uri="{FF2B5EF4-FFF2-40B4-BE49-F238E27FC236}">
                <a16:creationId xmlns:a16="http://schemas.microsoft.com/office/drawing/2014/main" id="{AC2C0EE9-6565-4AB8-813B-B43FDC24A620}"/>
              </a:ext>
            </a:extLst>
          </p:cNvPr>
          <p:cNvGrpSpPr/>
          <p:nvPr/>
        </p:nvGrpSpPr>
        <p:grpSpPr>
          <a:xfrm>
            <a:off x="226997" y="835495"/>
            <a:ext cx="4117292" cy="2460355"/>
            <a:chOff x="220510" y="4164552"/>
            <a:chExt cx="4117292" cy="2460355"/>
          </a:xfrm>
        </p:grpSpPr>
        <p:pic>
          <p:nvPicPr>
            <p:cNvPr id="4" name="圖片 3">
              <a:extLst>
                <a:ext uri="{FF2B5EF4-FFF2-40B4-BE49-F238E27FC236}">
                  <a16:creationId xmlns:a16="http://schemas.microsoft.com/office/drawing/2014/main" id="{0A201C32-830E-4272-A3F3-174A36F8E1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8229" y="4164552"/>
              <a:ext cx="3599573" cy="2066999"/>
            </a:xfrm>
            <a:prstGeom prst="rect">
              <a:avLst/>
            </a:prstGeom>
          </p:spPr>
        </p:pic>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87F41BE5-0722-44C3-97C2-E48A416165EA}"/>
                    </a:ext>
                  </a:extLst>
                </p:cNvPr>
                <p:cNvSpPr txBox="1"/>
                <p:nvPr/>
              </p:nvSpPr>
              <p:spPr>
                <a:xfrm>
                  <a:off x="2363545" y="5198051"/>
                  <a:ext cx="678769" cy="1670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1"/>
                            </a:solidFill>
                            <a:latin typeface="Cambria Math" panose="02040503050406030204" pitchFamily="18" charset="0"/>
                          </a:rPr>
                          <m:t>𝟒</m:t>
                        </m:r>
                        <m:r>
                          <a:rPr lang="en-US" altLang="zh-TW" sz="1400" b="1" i="1" smtClean="0">
                            <a:solidFill>
                              <a:schemeClr val="accent1"/>
                            </a:solidFill>
                            <a:latin typeface="Cambria Math" panose="02040503050406030204" pitchFamily="18" charset="0"/>
                          </a:rPr>
                          <m:t>.</m:t>
                        </m:r>
                        <m:r>
                          <a:rPr lang="en-US" altLang="zh-TW" sz="1400" b="1" i="1" smtClean="0">
                            <a:solidFill>
                              <a:schemeClr val="accent1"/>
                            </a:solidFill>
                            <a:latin typeface="Cambria Math" panose="02040503050406030204" pitchFamily="18" charset="0"/>
                          </a:rPr>
                          <m:t>𝟓𝟕𝟐</m:t>
                        </m:r>
                        <m:r>
                          <a:rPr lang="en-US" altLang="zh-TW" sz="1400" b="1" i="1" smtClean="0">
                            <a:solidFill>
                              <a:schemeClr val="accent1"/>
                            </a:solidFill>
                            <a:latin typeface="Cambria Math" panose="02040503050406030204" pitchFamily="18" charset="0"/>
                          </a:rPr>
                          <m:t>𝒎𝒎</m:t>
                        </m:r>
                      </m:oMath>
                    </m:oMathPara>
                  </a14:m>
                  <a:endParaRPr lang="zh-TW" altLang="en-US" sz="1400" b="1" dirty="0">
                    <a:solidFill>
                      <a:schemeClr val="accent1"/>
                    </a:solidFill>
                  </a:endParaRPr>
                </a:p>
              </p:txBody>
            </p:sp>
          </mc:Choice>
          <mc:Fallback xmlns="">
            <p:sp>
              <p:nvSpPr>
                <p:cNvPr id="21" name="文字方塊 20">
                  <a:extLst>
                    <a:ext uri="{FF2B5EF4-FFF2-40B4-BE49-F238E27FC236}">
                      <a16:creationId xmlns:a16="http://schemas.microsoft.com/office/drawing/2014/main" id="{87F41BE5-0722-44C3-97C2-E48A416165EA}"/>
                    </a:ext>
                  </a:extLst>
                </p:cNvPr>
                <p:cNvSpPr txBox="1">
                  <a:spLocks noRot="1" noChangeAspect="1" noMove="1" noResize="1" noEditPoints="1" noAdjustHandles="1" noChangeArrowheads="1" noChangeShapeType="1" noTextEdit="1"/>
                </p:cNvSpPr>
                <p:nvPr/>
              </p:nvSpPr>
              <p:spPr>
                <a:xfrm>
                  <a:off x="2363545" y="5198051"/>
                  <a:ext cx="678769" cy="167046"/>
                </a:xfrm>
                <a:prstGeom prst="rect">
                  <a:avLst/>
                </a:prstGeom>
                <a:blipFill>
                  <a:blip r:embed="rId9"/>
                  <a:stretch>
                    <a:fillRect l="-9009" r="-29730" b="-370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AF7FAC8C-DF45-4C78-906F-910851C54023}"/>
                    </a:ext>
                  </a:extLst>
                </p:cNvPr>
                <p:cNvSpPr txBox="1"/>
                <p:nvPr/>
              </p:nvSpPr>
              <p:spPr>
                <a:xfrm>
                  <a:off x="3545387" y="4473843"/>
                  <a:ext cx="234189" cy="2386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000" b="1" i="1" smtClean="0">
                                <a:solidFill>
                                  <a:srgbClr val="FF0000"/>
                                </a:solidFill>
                                <a:latin typeface="Cambria Math" panose="02040503050406030204" pitchFamily="18" charset="0"/>
                              </a:rPr>
                            </m:ctrlPr>
                          </m:sSupPr>
                          <m:e>
                            <m:r>
                              <a:rPr lang="en-US" altLang="zh-TW" sz="2000" b="1" i="1" smtClean="0">
                                <a:solidFill>
                                  <a:srgbClr val="FF0000"/>
                                </a:solidFill>
                                <a:latin typeface="Cambria Math" panose="02040503050406030204" pitchFamily="18" charset="0"/>
                              </a:rPr>
                              <m:t>𝒏</m:t>
                            </m:r>
                          </m:e>
                          <m:sup>
                            <m:r>
                              <a:rPr lang="en-US" altLang="zh-TW" sz="2000" b="1" i="1" smtClean="0">
                                <a:solidFill>
                                  <a:srgbClr val="FF0000"/>
                                </a:solidFill>
                                <a:latin typeface="Cambria Math" panose="02040503050406030204" pitchFamily="18" charset="0"/>
                              </a:rPr>
                              <m:t>+</m:t>
                            </m:r>
                          </m:sup>
                        </m:sSup>
                      </m:oMath>
                    </m:oMathPara>
                  </a14:m>
                  <a:endParaRPr lang="zh-TW" altLang="en-US" b="1" dirty="0"/>
                </a:p>
              </p:txBody>
            </p:sp>
          </mc:Choice>
          <mc:Fallback xmlns="">
            <p:sp>
              <p:nvSpPr>
                <p:cNvPr id="22" name="文字方塊 21">
                  <a:extLst>
                    <a:ext uri="{FF2B5EF4-FFF2-40B4-BE49-F238E27FC236}">
                      <a16:creationId xmlns:a16="http://schemas.microsoft.com/office/drawing/2014/main" id="{AF7FAC8C-DF45-4C78-906F-910851C54023}"/>
                    </a:ext>
                  </a:extLst>
                </p:cNvPr>
                <p:cNvSpPr txBox="1">
                  <a:spLocks noRot="1" noChangeAspect="1" noMove="1" noResize="1" noEditPoints="1" noAdjustHandles="1" noChangeArrowheads="1" noChangeShapeType="1" noTextEdit="1"/>
                </p:cNvSpPr>
                <p:nvPr/>
              </p:nvSpPr>
              <p:spPr>
                <a:xfrm>
                  <a:off x="3545387" y="4473843"/>
                  <a:ext cx="234189" cy="238638"/>
                </a:xfrm>
                <a:prstGeom prst="rect">
                  <a:avLst/>
                </a:prstGeom>
                <a:blipFill>
                  <a:blip r:embed="rId10"/>
                  <a:stretch>
                    <a:fillRect l="-28947" r="-55263" b="-2820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D6B4D2AF-1CB4-4C53-8100-C8FA0094F989}"/>
                    </a:ext>
                  </a:extLst>
                </p:cNvPr>
                <p:cNvSpPr txBox="1"/>
                <p:nvPr/>
              </p:nvSpPr>
              <p:spPr>
                <a:xfrm>
                  <a:off x="3065647" y="4954353"/>
                  <a:ext cx="591224" cy="1681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solidFill>
                              <a:schemeClr val="accent2">
                                <a:lumMod val="75000"/>
                              </a:schemeClr>
                            </a:solidFill>
                            <a:latin typeface="Cambria Math" panose="02040503050406030204" pitchFamily="18" charset="0"/>
                          </a:rPr>
                          <m:t>𝟎</m:t>
                        </m:r>
                        <m:r>
                          <a:rPr lang="en-US" altLang="zh-TW" sz="1400" b="1" i="1" smtClean="0">
                            <a:solidFill>
                              <a:schemeClr val="accent2">
                                <a:lumMod val="75000"/>
                              </a:schemeClr>
                            </a:solidFill>
                            <a:latin typeface="Cambria Math" panose="02040503050406030204" pitchFamily="18" charset="0"/>
                          </a:rPr>
                          <m:t>.</m:t>
                        </m:r>
                        <m:r>
                          <a:rPr lang="en-US" altLang="zh-TW" sz="1400" b="1" i="1" smtClean="0">
                            <a:solidFill>
                              <a:schemeClr val="accent2">
                                <a:lumMod val="75000"/>
                              </a:schemeClr>
                            </a:solidFill>
                            <a:latin typeface="Cambria Math" panose="02040503050406030204" pitchFamily="18" charset="0"/>
                          </a:rPr>
                          <m:t>𝟒𝟏</m:t>
                        </m:r>
                        <m:r>
                          <a:rPr lang="en-US" altLang="zh-TW" sz="1400" b="1" i="1" smtClean="0">
                            <a:solidFill>
                              <a:schemeClr val="accent2">
                                <a:lumMod val="75000"/>
                              </a:schemeClr>
                            </a:solidFill>
                            <a:latin typeface="Cambria Math" panose="02040503050406030204" pitchFamily="18" charset="0"/>
                          </a:rPr>
                          <m:t>𝒎𝒎</m:t>
                        </m:r>
                      </m:oMath>
                    </m:oMathPara>
                  </a14:m>
                  <a:endParaRPr lang="zh-TW" altLang="en-US" sz="1600" b="1" dirty="0">
                    <a:solidFill>
                      <a:schemeClr val="accent2">
                        <a:lumMod val="75000"/>
                      </a:schemeClr>
                    </a:solidFill>
                  </a:endParaRPr>
                </a:p>
              </p:txBody>
            </p:sp>
          </mc:Choice>
          <mc:Fallback xmlns="">
            <p:sp>
              <p:nvSpPr>
                <p:cNvPr id="23" name="文字方塊 22">
                  <a:extLst>
                    <a:ext uri="{FF2B5EF4-FFF2-40B4-BE49-F238E27FC236}">
                      <a16:creationId xmlns:a16="http://schemas.microsoft.com/office/drawing/2014/main" id="{D6B4D2AF-1CB4-4C53-8100-C8FA0094F989}"/>
                    </a:ext>
                  </a:extLst>
                </p:cNvPr>
                <p:cNvSpPr txBox="1">
                  <a:spLocks noRot="1" noChangeAspect="1" noMove="1" noResize="1" noEditPoints="1" noAdjustHandles="1" noChangeArrowheads="1" noChangeShapeType="1" noTextEdit="1"/>
                </p:cNvSpPr>
                <p:nvPr/>
              </p:nvSpPr>
              <p:spPr>
                <a:xfrm>
                  <a:off x="3065647" y="4954353"/>
                  <a:ext cx="591224" cy="168104"/>
                </a:xfrm>
                <a:prstGeom prst="rect">
                  <a:avLst/>
                </a:prstGeom>
                <a:blipFill>
                  <a:blip r:embed="rId11"/>
                  <a:stretch>
                    <a:fillRect l="-10309" r="-29897" b="-37037"/>
                  </a:stretch>
                </a:blipFill>
              </p:spPr>
              <p:txBody>
                <a:bodyPr/>
                <a:lstStyle/>
                <a:p>
                  <a:r>
                    <a:rPr lang="zh-TW" altLang="en-US">
                      <a:noFill/>
                    </a:rPr>
                    <a:t> </a:t>
                  </a:r>
                </a:p>
              </p:txBody>
            </p:sp>
          </mc:Fallback>
        </mc:AlternateContent>
        <p:cxnSp>
          <p:nvCxnSpPr>
            <p:cNvPr id="24" name="直線單箭頭接點 23">
              <a:extLst>
                <a:ext uri="{FF2B5EF4-FFF2-40B4-BE49-F238E27FC236}">
                  <a16:creationId xmlns:a16="http://schemas.microsoft.com/office/drawing/2014/main" id="{21F58C5E-9E5A-42F0-BF82-A5BB3DA1DCE9}"/>
                </a:ext>
              </a:extLst>
            </p:cNvPr>
            <p:cNvCxnSpPr>
              <a:cxnSpLocks/>
            </p:cNvCxnSpPr>
            <p:nvPr/>
          </p:nvCxnSpPr>
          <p:spPr>
            <a:xfrm>
              <a:off x="3596272" y="5122457"/>
              <a:ext cx="270078" cy="266450"/>
            </a:xfrm>
            <a:prstGeom prst="straightConnector1">
              <a:avLst/>
            </a:prstGeom>
            <a:ln w="28575">
              <a:tailEnd type="triangle"/>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92679633-096A-4CB4-9645-191ACA1D3D83}"/>
                    </a:ext>
                  </a:extLst>
                </p:cNvPr>
                <p:cNvSpPr txBox="1"/>
                <p:nvPr/>
              </p:nvSpPr>
              <p:spPr>
                <a:xfrm rot="16200000">
                  <a:off x="1923206" y="6090970"/>
                  <a:ext cx="549894" cy="517979"/>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𝐱</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7" name="文字方塊 36">
                  <a:extLst>
                    <a:ext uri="{FF2B5EF4-FFF2-40B4-BE49-F238E27FC236}">
                      <a16:creationId xmlns:a16="http://schemas.microsoft.com/office/drawing/2014/main" id="{92679633-096A-4CB4-9645-191ACA1D3D83}"/>
                    </a:ext>
                  </a:extLst>
                </p:cNvPr>
                <p:cNvSpPr txBox="1">
                  <a:spLocks noRot="1" noChangeAspect="1" noMove="1" noResize="1" noEditPoints="1" noAdjustHandles="1" noChangeArrowheads="1" noChangeShapeType="1" noTextEdit="1"/>
                </p:cNvSpPr>
                <p:nvPr/>
              </p:nvSpPr>
              <p:spPr>
                <a:xfrm rot="16200000">
                  <a:off x="1923206" y="6090970"/>
                  <a:ext cx="549894" cy="517979"/>
                </a:xfrm>
                <a:prstGeom prst="rect">
                  <a:avLst/>
                </a:prstGeom>
                <a:blipFill>
                  <a:blip r:embed="rId12"/>
                  <a:stretch>
                    <a:fillRect r="-611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37387DB5-9422-4B3E-9F36-F8300A4BDF95}"/>
                    </a:ext>
                  </a:extLst>
                </p:cNvPr>
                <p:cNvSpPr txBox="1"/>
                <p:nvPr/>
              </p:nvSpPr>
              <p:spPr>
                <a:xfrm>
                  <a:off x="220510" y="4806667"/>
                  <a:ext cx="549894" cy="449015"/>
                </a:xfrm>
                <a:prstGeom prst="rect">
                  <a:avLst/>
                </a:prstGeom>
                <a:noFill/>
              </p:spPr>
              <p:txBody>
                <a:bodyPr vert="wordArtVertRtl" wrap="square" rtlCol="0" anchor="ctr" anchorCtr="0">
                  <a:spAutoFit/>
                </a:bodyPr>
                <a:lstStyle/>
                <a:p>
                  <a:pPr/>
                  <a14:m>
                    <m:oMathPara xmlns:m="http://schemas.openxmlformats.org/officeDocument/2006/math">
                      <m:oMathParaPr>
                        <m:jc m:val="centerGroup"/>
                      </m:oMathParaPr>
                      <m:oMath xmlns:m="http://schemas.openxmlformats.org/officeDocument/2006/math">
                        <m:r>
                          <a:rPr lang="en-US" altLang="zh-TW" sz="2000" b="1" i="0" smtClean="0">
                            <a:latin typeface="Cambria Math" panose="02040503050406030204" pitchFamily="18" charset="0"/>
                          </a:rPr>
                          <m:t>𝐲</m:t>
                        </m:r>
                        <m:r>
                          <a:rPr lang="en-US" altLang="zh-TW" sz="2000" b="1" i="0" smtClean="0">
                            <a:latin typeface="Cambria Math" panose="02040503050406030204" pitchFamily="18" charset="0"/>
                          </a:rPr>
                          <m:t>(</m:t>
                        </m:r>
                        <m:r>
                          <a:rPr lang="en-US" altLang="zh-TW" sz="2000" b="1" i="0" smtClean="0">
                            <a:latin typeface="Cambria Math" panose="02040503050406030204" pitchFamily="18" charset="0"/>
                          </a:rPr>
                          <m:t>𝐦𝐦</m:t>
                        </m:r>
                        <m:r>
                          <a:rPr lang="en-US" altLang="zh-TW" sz="2000" b="1" i="0" smtClean="0">
                            <a:latin typeface="Cambria Math" panose="02040503050406030204" pitchFamily="18" charset="0"/>
                          </a:rPr>
                          <m:t>)</m:t>
                        </m:r>
                      </m:oMath>
                    </m:oMathPara>
                  </a14:m>
                  <a:endParaRPr lang="zh-TW" altLang="en-US" sz="2400" b="1" dirty="0"/>
                </a:p>
              </p:txBody>
            </p:sp>
          </mc:Choice>
          <mc:Fallback xmlns="">
            <p:sp>
              <p:nvSpPr>
                <p:cNvPr id="38" name="文字方塊 37">
                  <a:extLst>
                    <a:ext uri="{FF2B5EF4-FFF2-40B4-BE49-F238E27FC236}">
                      <a16:creationId xmlns:a16="http://schemas.microsoft.com/office/drawing/2014/main" id="{37387DB5-9422-4B3E-9F36-F8300A4BDF95}"/>
                    </a:ext>
                  </a:extLst>
                </p:cNvPr>
                <p:cNvSpPr txBox="1">
                  <a:spLocks noRot="1" noChangeAspect="1" noMove="1" noResize="1" noEditPoints="1" noAdjustHandles="1" noChangeArrowheads="1" noChangeShapeType="1" noTextEdit="1"/>
                </p:cNvSpPr>
                <p:nvPr/>
              </p:nvSpPr>
              <p:spPr>
                <a:xfrm>
                  <a:off x="220510" y="4806667"/>
                  <a:ext cx="549894" cy="449015"/>
                </a:xfrm>
                <a:prstGeom prst="rect">
                  <a:avLst/>
                </a:prstGeom>
                <a:blipFill>
                  <a:blip r:embed="rId13"/>
                  <a:stretch>
                    <a:fillRect b="-8648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4B58AE3C-20AF-45B7-90A9-E06597A83F0B}"/>
                  </a:ext>
                </a:extLst>
              </p:cNvPr>
              <p:cNvSpPr txBox="1"/>
              <p:nvPr/>
            </p:nvSpPr>
            <p:spPr>
              <a:xfrm>
                <a:off x="9016274" y="945428"/>
                <a:ext cx="2213106" cy="276999"/>
              </a:xfrm>
              <a:prstGeom prst="rect">
                <a:avLst/>
              </a:prstGeom>
              <a:noFill/>
            </p:spPr>
            <p:txBody>
              <a:bodyPr wrap="none" lIns="0" tIns="0" rIns="0" bIns="0" rtlCol="0">
                <a:spAutoFit/>
              </a:bodyPr>
              <a:lstStyle/>
              <a:p>
                <a14:m>
                  <m:oMath xmlns:m="http://schemas.openxmlformats.org/officeDocument/2006/math">
                    <m:r>
                      <a:rPr lang="en-US" altLang="zh-TW" i="1" smtClean="0">
                        <a:latin typeface="Cambria Math" panose="02040503050406030204" pitchFamily="18" charset="0"/>
                        <a:ea typeface="Cambria Math" panose="02040503050406030204" pitchFamily="18" charset="0"/>
                      </a:rPr>
                      <m:t>&lt;</m:t>
                    </m:r>
                    <m:r>
                      <a:rPr lang="en-US" altLang="zh-TW" b="0" i="1" smtClean="0">
                        <a:latin typeface="Cambria Math" panose="02040503050406030204" pitchFamily="18" charset="0"/>
                        <a:ea typeface="Cambria Math" panose="02040503050406030204" pitchFamily="18" charset="0"/>
                      </a:rPr>
                      <m:t>𝑏</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𝑛</m:t>
                        </m:r>
                      </m:e>
                      <m:sup>
                        <m:r>
                          <a:rPr lang="en-US" altLang="zh-TW" b="0" i="1" smtClean="0">
                            <a:latin typeface="Cambria Math" panose="02040503050406030204" pitchFamily="18" charset="0"/>
                            <a:ea typeface="Cambria Math" panose="02040503050406030204" pitchFamily="18" charset="0"/>
                          </a:rPr>
                          <m:t>+</m:t>
                        </m:r>
                      </m:sup>
                    </m:sSup>
                    <m:r>
                      <a:rPr lang="en-US" altLang="zh-TW" i="1">
                        <a:latin typeface="Cambria Math" panose="02040503050406030204" pitchFamily="18" charset="0"/>
                        <a:ea typeface="Cambria Math" panose="02040503050406030204" pitchFamily="18" charset="0"/>
                      </a:rPr>
                      <m:t>&gt;</m:t>
                    </m:r>
                  </m:oMath>
                </a14:m>
                <a:r>
                  <a:rPr lang="en-US" altLang="zh-TW" dirty="0"/>
                  <a:t>=10.6035mT</a:t>
                </a:r>
                <a:endParaRPr lang="zh-TW" altLang="en-US" dirty="0"/>
              </a:p>
            </p:txBody>
          </p:sp>
        </mc:Choice>
        <mc:Fallback xmlns="">
          <p:sp>
            <p:nvSpPr>
              <p:cNvPr id="8" name="文字方塊 7">
                <a:extLst>
                  <a:ext uri="{FF2B5EF4-FFF2-40B4-BE49-F238E27FC236}">
                    <a16:creationId xmlns:a16="http://schemas.microsoft.com/office/drawing/2014/main" id="{4B58AE3C-20AF-45B7-90A9-E06597A83F0B}"/>
                  </a:ext>
                </a:extLst>
              </p:cNvPr>
              <p:cNvSpPr txBox="1">
                <a:spLocks noRot="1" noChangeAspect="1" noMove="1" noResize="1" noEditPoints="1" noAdjustHandles="1" noChangeArrowheads="1" noChangeShapeType="1" noTextEdit="1"/>
              </p:cNvSpPr>
              <p:nvPr/>
            </p:nvSpPr>
            <p:spPr>
              <a:xfrm>
                <a:off x="9016274" y="945428"/>
                <a:ext cx="2213106" cy="276999"/>
              </a:xfrm>
              <a:prstGeom prst="rect">
                <a:avLst/>
              </a:prstGeom>
              <a:blipFill>
                <a:blip r:embed="rId14"/>
                <a:stretch>
                  <a:fillRect l="-3306" t="-28261" r="-6061" b="-5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AFF82E3-AB17-4A1F-910E-4805C03D3300}"/>
                  </a:ext>
                </a:extLst>
              </p:cNvPr>
              <p:cNvSpPr txBox="1"/>
              <p:nvPr/>
            </p:nvSpPr>
            <p:spPr>
              <a:xfrm>
                <a:off x="9016274" y="4195763"/>
                <a:ext cx="2213106" cy="276999"/>
              </a:xfrm>
              <a:prstGeom prst="rect">
                <a:avLst/>
              </a:prstGeom>
              <a:noFill/>
            </p:spPr>
            <p:txBody>
              <a:bodyPr wrap="none" lIns="0" tIns="0" rIns="0" bIns="0" rtlCol="0">
                <a:spAutoFit/>
              </a:bodyPr>
              <a:lstStyle/>
              <a:p>
                <a14:m>
                  <m:oMath xmlns:m="http://schemas.openxmlformats.org/officeDocument/2006/math">
                    <m:r>
                      <a:rPr lang="en-US" altLang="zh-TW" i="1" smtClean="0">
                        <a:latin typeface="Cambria Math" panose="02040503050406030204" pitchFamily="18" charset="0"/>
                        <a:ea typeface="Cambria Math" panose="02040503050406030204" pitchFamily="18" charset="0"/>
                      </a:rPr>
                      <m:t>&lt;</m:t>
                    </m:r>
                    <m:r>
                      <a:rPr lang="en-US" altLang="zh-TW" b="0" i="1" smtClean="0">
                        <a:latin typeface="Cambria Math" panose="02040503050406030204" pitchFamily="18" charset="0"/>
                        <a:ea typeface="Cambria Math" panose="02040503050406030204" pitchFamily="18" charset="0"/>
                      </a:rPr>
                      <m:t>𝑏</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𝑛</m:t>
                        </m:r>
                      </m:e>
                      <m:sup>
                        <m:r>
                          <a:rPr lang="en-US" altLang="zh-TW" b="0" i="1" smtClean="0">
                            <a:latin typeface="Cambria Math" panose="02040503050406030204" pitchFamily="18" charset="0"/>
                            <a:ea typeface="Cambria Math" panose="02040503050406030204" pitchFamily="18" charset="0"/>
                          </a:rPr>
                          <m:t>+</m:t>
                        </m:r>
                      </m:sup>
                    </m:sSup>
                    <m:r>
                      <a:rPr lang="en-US" altLang="zh-TW" i="1">
                        <a:latin typeface="Cambria Math" panose="02040503050406030204" pitchFamily="18" charset="0"/>
                        <a:ea typeface="Cambria Math" panose="02040503050406030204" pitchFamily="18" charset="0"/>
                      </a:rPr>
                      <m:t>&gt;</m:t>
                    </m:r>
                  </m:oMath>
                </a14:m>
                <a:r>
                  <a:rPr lang="en-US" altLang="zh-TW" dirty="0"/>
                  <a:t>=10.5278mT</a:t>
                </a:r>
                <a:endParaRPr lang="zh-TW" altLang="en-US" dirty="0"/>
              </a:p>
            </p:txBody>
          </p:sp>
        </mc:Choice>
        <mc:Fallback xmlns="">
          <p:sp>
            <p:nvSpPr>
              <p:cNvPr id="41" name="文字方塊 40">
                <a:extLst>
                  <a:ext uri="{FF2B5EF4-FFF2-40B4-BE49-F238E27FC236}">
                    <a16:creationId xmlns:a16="http://schemas.microsoft.com/office/drawing/2014/main" id="{DAFF82E3-AB17-4A1F-910E-4805C03D3300}"/>
                  </a:ext>
                </a:extLst>
              </p:cNvPr>
              <p:cNvSpPr txBox="1">
                <a:spLocks noRot="1" noChangeAspect="1" noMove="1" noResize="1" noEditPoints="1" noAdjustHandles="1" noChangeArrowheads="1" noChangeShapeType="1" noTextEdit="1"/>
              </p:cNvSpPr>
              <p:nvPr/>
            </p:nvSpPr>
            <p:spPr>
              <a:xfrm>
                <a:off x="9016274" y="4195763"/>
                <a:ext cx="2213106" cy="276999"/>
              </a:xfrm>
              <a:prstGeom prst="rect">
                <a:avLst/>
              </a:prstGeom>
              <a:blipFill>
                <a:blip r:embed="rId15"/>
                <a:stretch>
                  <a:fillRect l="-3306" t="-28261" r="-6061" b="-50000"/>
                </a:stretch>
              </a:blipFill>
            </p:spPr>
            <p:txBody>
              <a:bodyPr/>
              <a:lstStyle/>
              <a:p>
                <a:r>
                  <a:rPr lang="zh-TW" altLang="en-US">
                    <a:noFill/>
                  </a:rPr>
                  <a:t> </a:t>
                </a:r>
              </a:p>
            </p:txBody>
          </p:sp>
        </mc:Fallback>
      </mc:AlternateContent>
      <p:pic>
        <p:nvPicPr>
          <p:cNvPr id="25" name="圖片 24">
            <a:extLst>
              <a:ext uri="{FF2B5EF4-FFF2-40B4-BE49-F238E27FC236}">
                <a16:creationId xmlns:a16="http://schemas.microsoft.com/office/drawing/2014/main" id="{6CDEB60A-9902-44FE-B82F-EF189A1DBA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905655" y="640037"/>
            <a:ext cx="3267780" cy="2457914"/>
          </a:xfrm>
          <a:prstGeom prst="rect">
            <a:avLst/>
          </a:prstGeom>
        </p:spPr>
      </p:pic>
      <p:pic>
        <p:nvPicPr>
          <p:cNvPr id="27" name="圖片 26">
            <a:extLst>
              <a:ext uri="{FF2B5EF4-FFF2-40B4-BE49-F238E27FC236}">
                <a16:creationId xmlns:a16="http://schemas.microsoft.com/office/drawing/2014/main" id="{61CDB1D9-6F4C-4F90-805C-F19C99E7506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760060" y="3760050"/>
            <a:ext cx="3470968" cy="2607733"/>
          </a:xfrm>
          <a:prstGeom prst="rect">
            <a:avLst/>
          </a:prstGeom>
        </p:spPr>
      </p:pic>
      <p:sp>
        <p:nvSpPr>
          <p:cNvPr id="39" name="文字方塊 38">
            <a:extLst>
              <a:ext uri="{FF2B5EF4-FFF2-40B4-BE49-F238E27FC236}">
                <a16:creationId xmlns:a16="http://schemas.microsoft.com/office/drawing/2014/main" id="{6D6F47E9-E583-406C-A7E8-B4C042DF3B50}"/>
              </a:ext>
            </a:extLst>
          </p:cNvPr>
          <p:cNvSpPr txBox="1"/>
          <p:nvPr/>
        </p:nvSpPr>
        <p:spPr>
          <a:xfrm>
            <a:off x="8906557" y="4846508"/>
            <a:ext cx="3064933" cy="369332"/>
          </a:xfrm>
          <a:prstGeom prst="rect">
            <a:avLst/>
          </a:prstGeom>
          <a:noFill/>
        </p:spPr>
        <p:txBody>
          <a:bodyPr wrap="square" rtlCol="0">
            <a:spAutoFit/>
          </a:bodyPr>
          <a:lstStyle/>
          <a:p>
            <a:r>
              <a:rPr lang="en-US" altLang="zh-TW" dirty="0"/>
              <a:t>Range=[10.01  11.17](</a:t>
            </a:r>
            <a:r>
              <a:rPr lang="en-US" altLang="zh-TW" dirty="0" err="1"/>
              <a:t>mT</a:t>
            </a:r>
            <a:r>
              <a:rPr lang="en-US" altLang="zh-TW" dirty="0"/>
              <a:t>)</a:t>
            </a:r>
            <a:endParaRPr lang="zh-TW" altLang="en-US" dirty="0"/>
          </a:p>
        </p:txBody>
      </p:sp>
      <p:sp>
        <p:nvSpPr>
          <p:cNvPr id="46" name="文字方塊 45">
            <a:extLst>
              <a:ext uri="{FF2B5EF4-FFF2-40B4-BE49-F238E27FC236}">
                <a16:creationId xmlns:a16="http://schemas.microsoft.com/office/drawing/2014/main" id="{D4808555-6876-433F-8314-8C092A2EFE13}"/>
              </a:ext>
            </a:extLst>
          </p:cNvPr>
          <p:cNvSpPr txBox="1"/>
          <p:nvPr/>
        </p:nvSpPr>
        <p:spPr>
          <a:xfrm>
            <a:off x="8940800" y="1369662"/>
            <a:ext cx="3064933" cy="369332"/>
          </a:xfrm>
          <a:prstGeom prst="rect">
            <a:avLst/>
          </a:prstGeom>
          <a:noFill/>
        </p:spPr>
        <p:txBody>
          <a:bodyPr wrap="square" rtlCol="0">
            <a:spAutoFit/>
          </a:bodyPr>
          <a:lstStyle/>
          <a:p>
            <a:r>
              <a:rPr lang="en-US" altLang="zh-TW" dirty="0"/>
              <a:t>Range=[10.39  11.11](</a:t>
            </a:r>
            <a:r>
              <a:rPr lang="en-US" altLang="zh-TW" dirty="0" err="1"/>
              <a:t>mT</a:t>
            </a:r>
            <a:r>
              <a:rPr lang="en-US" altLang="zh-TW" dirty="0"/>
              <a:t>)</a:t>
            </a:r>
            <a:endParaRPr lang="zh-TW" altLang="en-US" dirty="0"/>
          </a:p>
        </p:txBody>
      </p:sp>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13D1A64E-CC4F-4ACA-B78B-95E2D1B39AB8}"/>
                  </a:ext>
                </a:extLst>
              </p:cNvPr>
              <p:cNvSpPr txBox="1"/>
              <p:nvPr/>
            </p:nvSpPr>
            <p:spPr>
              <a:xfrm>
                <a:off x="8830733" y="1957046"/>
                <a:ext cx="3064933" cy="3755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1" dirty="0" smtClean="0">
                          <a:latin typeface="Cambria Math" panose="02040503050406030204" pitchFamily="18" charset="0"/>
                        </a:rPr>
                        <m:t>𝜃</m:t>
                      </m:r>
                      <m:r>
                        <a:rPr lang="en-US" altLang="zh-TW" b="0" i="0" dirty="0" smtClean="0">
                          <a:latin typeface="Cambria Math" panose="02040503050406030204" pitchFamily="18" charset="0"/>
                        </a:rPr>
                        <m:t>=</m:t>
                      </m:r>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8.83</m:t>
                          </m:r>
                        </m:e>
                        <m:sup>
                          <m:r>
                            <a:rPr lang="en-US" altLang="zh-TW" b="0" i="1" dirty="0" smtClean="0">
                              <a:latin typeface="Cambria Math" panose="02040503050406030204" pitchFamily="18" charset="0"/>
                              <a:ea typeface="Cambria Math" panose="02040503050406030204" pitchFamily="18" charset="0"/>
                            </a:rPr>
                            <m:t>°</m:t>
                          </m:r>
                        </m:sup>
                      </m:sSup>
                    </m:oMath>
                  </m:oMathPara>
                </a14:m>
                <a:endParaRPr lang="zh-TW" altLang="en-US" dirty="0"/>
              </a:p>
            </p:txBody>
          </p:sp>
        </mc:Choice>
        <mc:Fallback xmlns="">
          <p:sp>
            <p:nvSpPr>
              <p:cNvPr id="47" name="文字方塊 46">
                <a:extLst>
                  <a:ext uri="{FF2B5EF4-FFF2-40B4-BE49-F238E27FC236}">
                    <a16:creationId xmlns:a16="http://schemas.microsoft.com/office/drawing/2014/main" id="{13D1A64E-CC4F-4ACA-B78B-95E2D1B39AB8}"/>
                  </a:ext>
                </a:extLst>
              </p:cNvPr>
              <p:cNvSpPr txBox="1">
                <a:spLocks noRot="1" noChangeAspect="1" noMove="1" noResize="1" noEditPoints="1" noAdjustHandles="1" noChangeArrowheads="1" noChangeShapeType="1" noTextEdit="1"/>
              </p:cNvSpPr>
              <p:nvPr/>
            </p:nvSpPr>
            <p:spPr>
              <a:xfrm>
                <a:off x="8830733" y="1957046"/>
                <a:ext cx="3064933" cy="375552"/>
              </a:xfrm>
              <a:prstGeom prst="rect">
                <a:avLst/>
              </a:prstGeom>
              <a:blipFill>
                <a:blip r:embed="rId1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BFA946B3-D919-45D4-A937-26E726498EA9}"/>
                  </a:ext>
                </a:extLst>
              </p:cNvPr>
              <p:cNvSpPr txBox="1"/>
              <p:nvPr/>
            </p:nvSpPr>
            <p:spPr>
              <a:xfrm>
                <a:off x="8830733" y="5305934"/>
                <a:ext cx="3064933" cy="3755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TW" altLang="en-US" i="1" dirty="0" smtClean="0">
                          <a:latin typeface="Cambria Math" panose="02040503050406030204" pitchFamily="18" charset="0"/>
                        </a:rPr>
                        <m:t>𝜃</m:t>
                      </m:r>
                      <m:r>
                        <a:rPr lang="en-US" altLang="zh-TW" b="0" i="0" dirty="0" smtClean="0">
                          <a:latin typeface="Cambria Math" panose="02040503050406030204" pitchFamily="18" charset="0"/>
                        </a:rPr>
                        <m:t>=</m:t>
                      </m:r>
                      <m:sSup>
                        <m:sSupPr>
                          <m:ctrlPr>
                            <a:rPr lang="en-US" altLang="zh-TW" b="0" i="1" dirty="0" smtClean="0">
                              <a:latin typeface="Cambria Math" panose="02040503050406030204" pitchFamily="18" charset="0"/>
                            </a:rPr>
                          </m:ctrlPr>
                        </m:sSupPr>
                        <m:e>
                          <m:r>
                            <a:rPr lang="en-US" altLang="zh-TW" b="0" i="1" dirty="0" smtClean="0">
                              <a:latin typeface="Cambria Math" panose="02040503050406030204" pitchFamily="18" charset="0"/>
                            </a:rPr>
                            <m:t>7.39</m:t>
                          </m:r>
                        </m:e>
                        <m:sup>
                          <m:r>
                            <a:rPr lang="en-US" altLang="zh-TW" b="0" i="1" dirty="0" smtClean="0">
                              <a:latin typeface="Cambria Math" panose="02040503050406030204" pitchFamily="18" charset="0"/>
                              <a:ea typeface="Cambria Math" panose="02040503050406030204" pitchFamily="18" charset="0"/>
                            </a:rPr>
                            <m:t>°</m:t>
                          </m:r>
                        </m:sup>
                      </m:sSup>
                    </m:oMath>
                  </m:oMathPara>
                </a14:m>
                <a:endParaRPr lang="zh-TW" altLang="en-US" dirty="0"/>
              </a:p>
            </p:txBody>
          </p:sp>
        </mc:Choice>
        <mc:Fallback xmlns="">
          <p:sp>
            <p:nvSpPr>
              <p:cNvPr id="48" name="文字方塊 47">
                <a:extLst>
                  <a:ext uri="{FF2B5EF4-FFF2-40B4-BE49-F238E27FC236}">
                    <a16:creationId xmlns:a16="http://schemas.microsoft.com/office/drawing/2014/main" id="{BFA946B3-D919-45D4-A937-26E726498EA9}"/>
                  </a:ext>
                </a:extLst>
              </p:cNvPr>
              <p:cNvSpPr txBox="1">
                <a:spLocks noRot="1" noChangeAspect="1" noMove="1" noResize="1" noEditPoints="1" noAdjustHandles="1" noChangeArrowheads="1" noChangeShapeType="1" noTextEdit="1"/>
              </p:cNvSpPr>
              <p:nvPr/>
            </p:nvSpPr>
            <p:spPr>
              <a:xfrm>
                <a:off x="8830733" y="5305934"/>
                <a:ext cx="3064933" cy="375552"/>
              </a:xfrm>
              <a:prstGeom prst="rect">
                <a:avLst/>
              </a:prstGeom>
              <a:blipFill>
                <a:blip r:embed="rId1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46521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2081F314-29CA-4B46-B557-C4EEC2EFBDA5}"/>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pic>
        <p:nvPicPr>
          <p:cNvPr id="6" name="圖片 5">
            <a:extLst>
              <a:ext uri="{FF2B5EF4-FFF2-40B4-BE49-F238E27FC236}">
                <a16:creationId xmlns:a16="http://schemas.microsoft.com/office/drawing/2014/main" id="{07704BA0-DF19-4F39-92BE-6060E4A6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67" y="495831"/>
            <a:ext cx="5034425" cy="3720569"/>
          </a:xfrm>
          <a:prstGeom prst="rect">
            <a:avLst/>
          </a:prstGeom>
        </p:spPr>
      </p:pic>
      <p:pic>
        <p:nvPicPr>
          <p:cNvPr id="8" name="圖片 7">
            <a:extLst>
              <a:ext uri="{FF2B5EF4-FFF2-40B4-BE49-F238E27FC236}">
                <a16:creationId xmlns:a16="http://schemas.microsoft.com/office/drawing/2014/main" id="{A756B7B1-8E99-4952-A272-F4BB1D49D6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0288" y="495831"/>
            <a:ext cx="5435245" cy="3894666"/>
          </a:xfrm>
          <a:prstGeom prst="rect">
            <a:avLst/>
          </a:prstGeom>
        </p:spPr>
      </p:pic>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5D498C57-8584-407F-9D89-CA7E1125EC77}"/>
                  </a:ext>
                </a:extLst>
              </p:cNvPr>
              <p:cNvSpPr txBox="1"/>
              <p:nvPr/>
            </p:nvSpPr>
            <p:spPr>
              <a:xfrm>
                <a:off x="266700" y="4626504"/>
                <a:ext cx="11137900"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Histograms of the One-Parameter and Eighteen-Parameter Models within the Sampling Range</a:t>
                </a:r>
                <a:r>
                  <a:rPr lang="zh-TW" altLang="en-US" dirty="0"/>
                  <a:t>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0" name="文字方塊 9">
                <a:extLst>
                  <a:ext uri="{FF2B5EF4-FFF2-40B4-BE49-F238E27FC236}">
                    <a16:creationId xmlns:a16="http://schemas.microsoft.com/office/drawing/2014/main" id="{5D498C57-8584-407F-9D89-CA7E1125EC77}"/>
                  </a:ext>
                </a:extLst>
              </p:cNvPr>
              <p:cNvSpPr txBox="1">
                <a:spLocks noRot="1" noChangeAspect="1" noMove="1" noResize="1" noEditPoints="1" noAdjustHandles="1" noChangeArrowheads="1" noChangeShapeType="1" noTextEdit="1"/>
              </p:cNvSpPr>
              <p:nvPr/>
            </p:nvSpPr>
            <p:spPr>
              <a:xfrm>
                <a:off x="266700" y="4626504"/>
                <a:ext cx="11137900" cy="369332"/>
              </a:xfrm>
              <a:prstGeom prst="rect">
                <a:avLst/>
              </a:prstGeom>
              <a:blipFill>
                <a:blip r:embed="rId4"/>
                <a:stretch>
                  <a:fillRect l="-383" t="-9836"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70715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2081F314-29CA-4B46-B557-C4EEC2EFBDA5}"/>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95B9B500-BE39-4A2E-848D-C7FDE3646D2C}"/>
                  </a:ext>
                </a:extLst>
              </p:cNvPr>
              <p:cNvSpPr txBox="1"/>
              <p:nvPr/>
            </p:nvSpPr>
            <p:spPr>
              <a:xfrm>
                <a:off x="198966" y="4595841"/>
                <a:ext cx="11137900"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Histograms of the One-Parameter and Eighteen-Parameter Models within the Sampling Range</a:t>
                </a:r>
                <a:r>
                  <a:rPr lang="zh-TW" altLang="en-US" dirty="0"/>
                  <a:t>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≤300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9" name="文字方塊 8">
                <a:extLst>
                  <a:ext uri="{FF2B5EF4-FFF2-40B4-BE49-F238E27FC236}">
                    <a16:creationId xmlns:a16="http://schemas.microsoft.com/office/drawing/2014/main" id="{95B9B500-BE39-4A2E-848D-C7FDE3646D2C}"/>
                  </a:ext>
                </a:extLst>
              </p:cNvPr>
              <p:cNvSpPr txBox="1">
                <a:spLocks noRot="1" noChangeAspect="1" noMove="1" noResize="1" noEditPoints="1" noAdjustHandles="1" noChangeArrowheads="1" noChangeShapeType="1" noTextEdit="1"/>
              </p:cNvSpPr>
              <p:nvPr/>
            </p:nvSpPr>
            <p:spPr>
              <a:xfrm>
                <a:off x="198966" y="4595841"/>
                <a:ext cx="11137900" cy="369332"/>
              </a:xfrm>
              <a:prstGeom prst="rect">
                <a:avLst/>
              </a:prstGeom>
              <a:blipFill>
                <a:blip r:embed="rId2"/>
                <a:stretch>
                  <a:fillRect l="-383" t="-10000" b="-26667"/>
                </a:stretch>
              </a:blipFill>
            </p:spPr>
            <p:txBody>
              <a:bodyPr/>
              <a:lstStyle/>
              <a:p>
                <a:r>
                  <a:rPr lang="zh-TW" altLang="en-US">
                    <a:noFill/>
                  </a:rPr>
                  <a:t> </a:t>
                </a:r>
              </a:p>
            </p:txBody>
          </p:sp>
        </mc:Fallback>
      </mc:AlternateContent>
      <p:pic>
        <p:nvPicPr>
          <p:cNvPr id="11" name="圖片 10">
            <a:extLst>
              <a:ext uri="{FF2B5EF4-FFF2-40B4-BE49-F238E27FC236}">
                <a16:creationId xmlns:a16="http://schemas.microsoft.com/office/drawing/2014/main" id="{DDC11D6E-A454-4551-9482-0985607903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990" y="553539"/>
            <a:ext cx="5036478" cy="3683000"/>
          </a:xfrm>
          <a:prstGeom prst="rect">
            <a:avLst/>
          </a:prstGeom>
        </p:spPr>
      </p:pic>
      <p:pic>
        <p:nvPicPr>
          <p:cNvPr id="13" name="圖片 12">
            <a:extLst>
              <a:ext uri="{FF2B5EF4-FFF2-40B4-BE49-F238E27FC236}">
                <a16:creationId xmlns:a16="http://schemas.microsoft.com/office/drawing/2014/main" id="{28EE2BA1-3A58-4BF0-AED5-5CBCF16D8D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553539"/>
            <a:ext cx="5113867" cy="3804739"/>
          </a:xfrm>
          <a:prstGeom prst="rect">
            <a:avLst/>
          </a:prstGeom>
        </p:spPr>
      </p:pic>
    </p:spTree>
    <p:extLst>
      <p:ext uri="{BB962C8B-B14F-4D97-AF65-F5344CB8AC3E}">
        <p14:creationId xmlns:p14="http://schemas.microsoft.com/office/powerpoint/2010/main" val="3501479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2081F314-29CA-4B46-B557-C4EEC2EFBDA5}"/>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95B9B500-BE39-4A2E-848D-C7FDE3646D2C}"/>
                  </a:ext>
                </a:extLst>
              </p:cNvPr>
              <p:cNvSpPr txBox="1"/>
              <p:nvPr/>
            </p:nvSpPr>
            <p:spPr>
              <a:xfrm>
                <a:off x="110067" y="504298"/>
                <a:ext cx="11137900" cy="5858783"/>
              </a:xfrm>
              <a:prstGeom prst="rect">
                <a:avLst/>
              </a:prstGeom>
              <a:noFill/>
            </p:spPr>
            <p:txBody>
              <a:bodyPr wrap="square">
                <a:spAutoFit/>
              </a:bodyPr>
              <a:lstStyle/>
              <a:p>
                <a:pPr marL="285750" indent="-285750">
                  <a:buFont typeface="Arial" panose="020B0604020202020204" pitchFamily="34" charset="0"/>
                  <a:buChar char="•"/>
                </a:pPr>
                <a:r>
                  <a:rPr lang="en-US" altLang="zh-TW" dirty="0"/>
                  <a:t>Sampling range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742950" lvl="1" indent="-285750">
                  <a:buFont typeface="Wingdings" panose="05000000000000000000" pitchFamily="2" charset="2"/>
                  <a:buChar char="Ø"/>
                </a:pPr>
                <a14:m>
                  <m:oMath xmlns:m="http://schemas.openxmlformats.org/officeDocument/2006/math">
                    <m:r>
                      <m:rPr>
                        <m:sty m:val="p"/>
                      </m:rPr>
                      <a:rPr lang="en-US" altLang="zh-TW" i="1" dirty="0">
                        <a:latin typeface="Cambria Math" panose="02040503050406030204" pitchFamily="18" charset="0"/>
                        <a:ea typeface="Cambria Math" panose="02040503050406030204" pitchFamily="18" charset="0"/>
                      </a:rPr>
                      <m:t>R</m:t>
                    </m:r>
                    <m:r>
                      <m:rPr>
                        <m:sty m:val="p"/>
                      </m:rPr>
                      <a:rPr lang="en-US" altLang="zh-TW" i="1" dirty="0" smtClean="0">
                        <a:latin typeface="Cambria Math" panose="02040503050406030204" pitchFamily="18" charset="0"/>
                        <a:ea typeface="Cambria Math" panose="02040503050406030204" pitchFamily="18" charset="0"/>
                      </a:rPr>
                      <m:t>M</m:t>
                    </m:r>
                    <m:r>
                      <m:rPr>
                        <m:sty m:val="p"/>
                      </m:rPr>
                      <a:rPr lang="en-US" altLang="zh-TW" i="1" dirty="0">
                        <a:latin typeface="Cambria Math" panose="02040503050406030204" pitchFamily="18" charset="0"/>
                        <a:ea typeface="Cambria Math" panose="02040503050406030204" pitchFamily="18" charset="0"/>
                      </a:rPr>
                      <m:t>S</m:t>
                    </m:r>
                    <m:r>
                      <m:rPr>
                        <m:sty m:val="p"/>
                      </m:rPr>
                      <a:rPr lang="en-US" altLang="zh-TW" i="1" dirty="0" smtClean="0">
                        <a:latin typeface="Cambria Math" panose="02040503050406030204" pitchFamily="18" charset="0"/>
                        <a:ea typeface="Cambria Math" panose="02040503050406030204" pitchFamily="18" charset="0"/>
                      </a:rPr>
                      <m:t>P</m:t>
                    </m:r>
                    <m:r>
                      <m:rPr>
                        <m:sty m:val="p"/>
                      </m:rPr>
                      <a:rPr lang="en-US" altLang="zh-TW" i="1" dirty="0">
                        <a:latin typeface="Cambria Math" panose="02040503050406030204" pitchFamily="18" charset="0"/>
                        <a:ea typeface="Cambria Math" panose="02040503050406030204" pitchFamily="18" charset="0"/>
                      </a:rPr>
                      <m:t>E</m:t>
                    </m:r>
                    <m:r>
                      <a:rPr lang="en-US" altLang="zh-TW" i="1" dirty="0"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rPr>
                        </m:ctrlPr>
                      </m:radPr>
                      <m:deg/>
                      <m:e>
                        <m:f>
                          <m:fPr>
                            <m:ctrlPr>
                              <a:rPr lang="en-US" altLang="zh-TW" b="0" i="1" smtClean="0">
                                <a:latin typeface="Cambria Math" panose="02040503050406030204" pitchFamily="18" charset="0"/>
                              </a:rPr>
                            </m:ctrlPr>
                          </m:fPr>
                          <m:num>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Pre>
                                          <m:sPrePr>
                                            <m:ctrlPr>
                                              <a:rPr lang="en-US" altLang="zh-TW" i="1">
                                                <a:latin typeface="Cambria Math" panose="02040503050406030204" pitchFamily="18" charset="0"/>
                                                <a:ea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𝑉</m:t>
                                                </m:r>
                                              </m:sub>
                                            </m:sSub>
                                          </m:e>
                                        </m:sPre>
                                        <m:acc>
                                          <m:accPr>
                                            <m:chr m:val="̅"/>
                                            <m:ctrlPr>
                                              <a:rPr lang="zh-TW" altLang="en-US" i="1">
                                                <a:latin typeface="Cambria Math" panose="02040503050406030204" pitchFamily="18" charset="0"/>
                                              </a:rPr>
                                            </m:ctrlPr>
                                          </m:accPr>
                                          <m:e>
                                            <m:r>
                                              <a:rPr lang="en-US" altLang="zh-TW" i="1">
                                                <a:latin typeface="Cambria Math" panose="02040503050406030204" pitchFamily="18" charset="0"/>
                                              </a:rPr>
                                              <m:t>𝐷</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𝑗</m:t>
                                            </m:r>
                                          </m:sub>
                                        </m:sSub>
                                      </m:e>
                                    </m:d>
                                  </m:e>
                                  <m:sup>
                                    <m:r>
                                      <a:rPr lang="en-US" altLang="zh-TW" b="0" i="1" smtClean="0">
                                        <a:latin typeface="Cambria Math" panose="02040503050406030204" pitchFamily="18" charset="0"/>
                                      </a:rPr>
                                      <m:t>2</m:t>
                                    </m:r>
                                  </m:sup>
                                </m:sSup>
                              </m:e>
                            </m:nary>
                          </m:num>
                          <m:den>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e>
                                    </m:d>
                                  </m:e>
                                  <m:sup>
                                    <m:r>
                                      <a:rPr lang="en-US" altLang="zh-TW" b="0" i="1" smtClean="0">
                                        <a:latin typeface="Cambria Math" panose="02040503050406030204" pitchFamily="18" charset="0"/>
                                      </a:rPr>
                                      <m:t>2</m:t>
                                    </m:r>
                                  </m:sup>
                                </m:sSup>
                              </m:e>
                            </m:nary>
                          </m:den>
                        </m:f>
                      </m:e>
                    </m:rad>
                    <m:r>
                      <a:rPr lang="en-US" altLang="zh-TW" b="0" i="1" smtClean="0">
                        <a:latin typeface="Cambria Math" panose="02040503050406030204" pitchFamily="18" charset="0"/>
                        <a:ea typeface="Cambria Math" panose="02040503050406030204" pitchFamily="18" charset="0"/>
                      </a:rPr>
                      <m:t>×100</m:t>
                    </m:r>
                    <m:r>
                      <a:rPr lang="en-US" altLang="zh-TW" b="0" i="1" smtClean="0">
                        <a:latin typeface="Cambria Math" panose="02040503050406030204" pitchFamily="18" charset="0"/>
                      </a:rPr>
                      <m:t>=3.16%</m:t>
                    </m:r>
                    <m:r>
                      <m:rPr>
                        <m:nor/>
                      </m:rPr>
                      <a:rPr lang="en-US" altLang="zh-TW" dirty="0">
                        <a:ea typeface="Cambria Math" panose="02040503050406030204" pitchFamily="18" charset="0"/>
                      </a:rPr>
                      <m:t>(</m:t>
                    </m:r>
                    <m:r>
                      <m:rPr>
                        <m:nor/>
                      </m:rPr>
                      <a:rPr lang="en-US" altLang="zh-TW" dirty="0">
                        <a:ea typeface="Cambria Math" panose="02040503050406030204" pitchFamily="18" charset="0"/>
                      </a:rPr>
                      <m:t>Single</m:t>
                    </m:r>
                    <m:r>
                      <m:rPr>
                        <m:nor/>
                      </m:rPr>
                      <a:rPr lang="en-US" altLang="zh-TW" dirty="0">
                        <a:ea typeface="Cambria Math" panose="02040503050406030204" pitchFamily="18" charset="0"/>
                      </a:rPr>
                      <m:t> </m:t>
                    </m:r>
                    <m:r>
                      <m:rPr>
                        <m:nor/>
                      </m:rPr>
                      <a:rPr lang="en-US" altLang="zh-TW" dirty="0">
                        <a:ea typeface="Cambria Math" panose="02040503050406030204" pitchFamily="18" charset="0"/>
                      </a:rPr>
                      <m:t>parameter</m:t>
                    </m:r>
                    <m:r>
                      <m:rPr>
                        <m:nor/>
                      </m:rPr>
                      <a:rPr lang="en-US" altLang="zh-TW" dirty="0">
                        <a:ea typeface="Cambria Math" panose="02040503050406030204" pitchFamily="18" charset="0"/>
                      </a:rPr>
                      <m:t>)</m:t>
                    </m:r>
                  </m:oMath>
                </a14:m>
                <a:endParaRPr lang="en-US" altLang="zh-TW" dirty="0">
                  <a:ea typeface="Cambria Math" panose="02040503050406030204" pitchFamily="18" charset="0"/>
                </a:endParaRPr>
              </a:p>
              <a:p>
                <a:pPr marL="742950" lvl="1" indent="-285750">
                  <a:buFont typeface="Wingdings" panose="05000000000000000000" pitchFamily="2" charset="2"/>
                  <a:buChar char="Ø"/>
                </a:pPr>
                <a:endParaRPr lang="en-US" altLang="zh-TW" b="0" dirty="0"/>
              </a:p>
              <a:p>
                <a:pPr marL="742950" lvl="1" indent="-285750">
                  <a:buFont typeface="Wingdings" panose="05000000000000000000" pitchFamily="2" charset="2"/>
                  <a:buChar char="Ø"/>
                </a:pPr>
                <a14:m>
                  <m:oMath xmlns:m="http://schemas.openxmlformats.org/officeDocument/2006/math">
                    <m:r>
                      <m:rPr>
                        <m:sty m:val="p"/>
                      </m:rPr>
                      <a:rPr lang="en-US" altLang="zh-TW" i="1" dirty="0" smtClean="0">
                        <a:latin typeface="Cambria Math" panose="02040503050406030204" pitchFamily="18" charset="0"/>
                        <a:ea typeface="Cambria Math" panose="02040503050406030204" pitchFamily="18" charset="0"/>
                      </a:rPr>
                      <m:t>RM</m:t>
                    </m:r>
                    <m:r>
                      <m:rPr>
                        <m:sty m:val="p"/>
                      </m:rPr>
                      <a:rPr lang="en-US" altLang="zh-TW" i="1" dirty="0">
                        <a:latin typeface="Cambria Math" panose="02040503050406030204" pitchFamily="18" charset="0"/>
                        <a:ea typeface="Cambria Math" panose="02040503050406030204" pitchFamily="18" charset="0"/>
                      </a:rPr>
                      <m:t>S</m:t>
                    </m:r>
                    <m:r>
                      <m:rPr>
                        <m:sty m:val="p"/>
                      </m:rPr>
                      <a:rPr lang="en-US" altLang="zh-TW" i="1" dirty="0" smtClean="0">
                        <a:latin typeface="Cambria Math" panose="02040503050406030204" pitchFamily="18" charset="0"/>
                        <a:ea typeface="Cambria Math" panose="02040503050406030204" pitchFamily="18" charset="0"/>
                      </a:rPr>
                      <m:t>P</m:t>
                    </m:r>
                    <m:r>
                      <m:rPr>
                        <m:sty m:val="p"/>
                      </m:rPr>
                      <a:rPr lang="en-US" altLang="zh-TW" i="1" dirty="0">
                        <a:latin typeface="Cambria Math" panose="02040503050406030204" pitchFamily="18" charset="0"/>
                        <a:ea typeface="Cambria Math" panose="02040503050406030204" pitchFamily="18" charset="0"/>
                      </a:rPr>
                      <m:t>E</m:t>
                    </m:r>
                    <m:r>
                      <a:rPr lang="en-US" altLang="zh-TW" i="1" dirty="0"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rPr>
                        </m:ctrlPr>
                      </m:radPr>
                      <m:deg/>
                      <m:e>
                        <m:f>
                          <m:fPr>
                            <m:ctrlPr>
                              <a:rPr lang="en-US" altLang="zh-TW" b="0" i="1" smtClean="0">
                                <a:latin typeface="Cambria Math" panose="02040503050406030204" pitchFamily="18" charset="0"/>
                              </a:rPr>
                            </m:ctrlPr>
                          </m:fPr>
                          <m:num>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Pre>
                                          <m:sPrePr>
                                            <m:ctrlPr>
                                              <a:rPr lang="en-US" altLang="zh-TW" i="1">
                                                <a:latin typeface="Cambria Math" panose="02040503050406030204" pitchFamily="18" charset="0"/>
                                                <a:ea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𝑉</m:t>
                                                </m:r>
                                              </m:sub>
                                            </m:sSub>
                                          </m:e>
                                        </m:sPre>
                                        <m:acc>
                                          <m:accPr>
                                            <m:chr m:val="̅"/>
                                            <m:ctrlPr>
                                              <a:rPr lang="zh-TW" altLang="en-US" i="1">
                                                <a:latin typeface="Cambria Math" panose="02040503050406030204" pitchFamily="18" charset="0"/>
                                              </a:rPr>
                                            </m:ctrlPr>
                                          </m:accPr>
                                          <m:e>
                                            <m:r>
                                              <a:rPr lang="en-US" altLang="zh-TW" i="1">
                                                <a:latin typeface="Cambria Math" panose="02040503050406030204" pitchFamily="18" charset="0"/>
                                              </a:rPr>
                                              <m:t>𝐷</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𝑗</m:t>
                                            </m:r>
                                          </m:sub>
                                        </m:sSub>
                                      </m:e>
                                    </m:d>
                                  </m:e>
                                  <m:sup>
                                    <m:r>
                                      <a:rPr lang="en-US" altLang="zh-TW" b="0" i="1" smtClean="0">
                                        <a:latin typeface="Cambria Math" panose="02040503050406030204" pitchFamily="18" charset="0"/>
                                      </a:rPr>
                                      <m:t>2</m:t>
                                    </m:r>
                                  </m:sup>
                                </m:sSup>
                              </m:e>
                            </m:nary>
                          </m:num>
                          <m:den>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e>
                                    </m:d>
                                  </m:e>
                                  <m:sup>
                                    <m:r>
                                      <a:rPr lang="en-US" altLang="zh-TW" b="0" i="1" smtClean="0">
                                        <a:latin typeface="Cambria Math" panose="02040503050406030204" pitchFamily="18" charset="0"/>
                                      </a:rPr>
                                      <m:t>2</m:t>
                                    </m:r>
                                  </m:sup>
                                </m:sSup>
                              </m:e>
                            </m:nary>
                          </m:den>
                        </m:f>
                      </m:e>
                    </m:rad>
                    <m:r>
                      <a:rPr lang="en-US" altLang="zh-TW" b="0" i="1" smtClean="0">
                        <a:latin typeface="Cambria Math" panose="02040503050406030204" pitchFamily="18" charset="0"/>
                        <a:ea typeface="Cambria Math" panose="02040503050406030204" pitchFamily="18" charset="0"/>
                      </a:rPr>
                      <m:t>×100</m:t>
                    </m:r>
                    <m:r>
                      <a:rPr lang="en-US" altLang="zh-TW" b="0" i="1" smtClean="0">
                        <a:latin typeface="Cambria Math" panose="02040503050406030204" pitchFamily="18" charset="0"/>
                      </a:rPr>
                      <m:t>=0.31%</m:t>
                    </m:r>
                    <m:r>
                      <m:rPr>
                        <m:nor/>
                      </m:rPr>
                      <a:rPr lang="en-US" altLang="zh-TW" dirty="0">
                        <a:ea typeface="Cambria Math" panose="02040503050406030204" pitchFamily="18" charset="0"/>
                      </a:rPr>
                      <m:t>(</m:t>
                    </m:r>
                    <m:r>
                      <m:rPr>
                        <m:nor/>
                      </m:rPr>
                      <a:rPr lang="en-US" altLang="zh-TW" b="0" i="0" dirty="0" smtClean="0">
                        <a:ea typeface="Cambria Math" panose="02040503050406030204" pitchFamily="18" charset="0"/>
                      </a:rPr>
                      <m:t>Eighteen</m:t>
                    </m:r>
                    <m:r>
                      <m:rPr>
                        <m:nor/>
                      </m:rPr>
                      <a:rPr lang="en-US" altLang="zh-TW" dirty="0">
                        <a:ea typeface="Cambria Math" panose="02040503050406030204" pitchFamily="18" charset="0"/>
                      </a:rPr>
                      <m:t> </m:t>
                    </m:r>
                    <m:r>
                      <m:rPr>
                        <m:nor/>
                      </m:rPr>
                      <a:rPr lang="en-US" altLang="zh-TW" dirty="0">
                        <a:ea typeface="Cambria Math" panose="02040503050406030204" pitchFamily="18" charset="0"/>
                      </a:rPr>
                      <m:t>parameters</m:t>
                    </m:r>
                    <m:r>
                      <m:rPr>
                        <m:nor/>
                      </m:rPr>
                      <a:rPr lang="en-US" altLang="zh-TW" dirty="0">
                        <a:ea typeface="Cambria Math" panose="02040503050406030204" pitchFamily="18" charset="0"/>
                      </a:rPr>
                      <m:t>)</m:t>
                    </m:r>
                  </m:oMath>
                </a14:m>
                <a:endParaRPr lang="en-US" altLang="zh-TW" dirty="0">
                  <a:ea typeface="Cambria Math" panose="02040503050406030204" pitchFamily="18" charset="0"/>
                </a:endParaRPr>
              </a:p>
              <a:p>
                <a:pPr lvl="1"/>
                <a:endParaRPr lang="en-US" altLang="zh-TW" dirty="0"/>
              </a:p>
              <a:p>
                <a:pPr marL="285750" indent="-285750">
                  <a:buFont typeface="Arial" panose="020B0604020202020204" pitchFamily="34" charset="0"/>
                  <a:buChar char="•"/>
                </a:pPr>
                <a:r>
                  <a:rPr lang="en-US" altLang="zh-TW" dirty="0"/>
                  <a:t>Sampling range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≤300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Arial" panose="020B0604020202020204" pitchFamily="34" charset="0"/>
                  <a:buChar char="•"/>
                </a:pPr>
                <a:endParaRPr lang="en-US" altLang="zh-TW" dirty="0">
                  <a:ea typeface="Cambria Math" panose="02040503050406030204" pitchFamily="18" charset="0"/>
                </a:endParaRPr>
              </a:p>
              <a:p>
                <a:pPr marL="742950" lvl="1" indent="-285750">
                  <a:buFont typeface="Wingdings" panose="05000000000000000000" pitchFamily="2" charset="2"/>
                  <a:buChar char="Ø"/>
                </a:pPr>
                <a14:m>
                  <m:oMath xmlns:m="http://schemas.openxmlformats.org/officeDocument/2006/math">
                    <m:r>
                      <m:rPr>
                        <m:sty m:val="p"/>
                      </m:rPr>
                      <a:rPr lang="en-US" altLang="zh-TW" i="1" dirty="0" smtClean="0">
                        <a:latin typeface="Cambria Math" panose="02040503050406030204" pitchFamily="18" charset="0"/>
                        <a:ea typeface="Cambria Math" panose="02040503050406030204" pitchFamily="18" charset="0"/>
                      </a:rPr>
                      <m:t>RM</m:t>
                    </m:r>
                    <m:r>
                      <m:rPr>
                        <m:sty m:val="p"/>
                      </m:rPr>
                      <a:rPr lang="en-US" altLang="zh-TW" i="1" dirty="0">
                        <a:latin typeface="Cambria Math" panose="02040503050406030204" pitchFamily="18" charset="0"/>
                        <a:ea typeface="Cambria Math" panose="02040503050406030204" pitchFamily="18" charset="0"/>
                      </a:rPr>
                      <m:t>S</m:t>
                    </m:r>
                    <m:r>
                      <m:rPr>
                        <m:sty m:val="p"/>
                      </m:rPr>
                      <a:rPr lang="en-US" altLang="zh-TW" i="1" dirty="0" smtClean="0">
                        <a:latin typeface="Cambria Math" panose="02040503050406030204" pitchFamily="18" charset="0"/>
                        <a:ea typeface="Cambria Math" panose="02040503050406030204" pitchFamily="18" charset="0"/>
                      </a:rPr>
                      <m:t>P</m:t>
                    </m:r>
                    <m:r>
                      <m:rPr>
                        <m:sty m:val="p"/>
                      </m:rPr>
                      <a:rPr lang="en-US" altLang="zh-TW" i="1" dirty="0">
                        <a:latin typeface="Cambria Math" panose="02040503050406030204" pitchFamily="18" charset="0"/>
                        <a:ea typeface="Cambria Math" panose="02040503050406030204" pitchFamily="18" charset="0"/>
                      </a:rPr>
                      <m:t>E</m:t>
                    </m:r>
                    <m:r>
                      <a:rPr lang="en-US" altLang="zh-TW" i="1" dirty="0"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rPr>
                        </m:ctrlPr>
                      </m:radPr>
                      <m:deg/>
                      <m:e>
                        <m:f>
                          <m:fPr>
                            <m:ctrlPr>
                              <a:rPr lang="en-US" altLang="zh-TW" b="0" i="1" smtClean="0">
                                <a:latin typeface="Cambria Math" panose="02040503050406030204" pitchFamily="18" charset="0"/>
                              </a:rPr>
                            </m:ctrlPr>
                          </m:fPr>
                          <m:num>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Pre>
                                          <m:sPrePr>
                                            <m:ctrlPr>
                                              <a:rPr lang="en-US" altLang="zh-TW" i="1">
                                                <a:latin typeface="Cambria Math" panose="02040503050406030204" pitchFamily="18" charset="0"/>
                                                <a:ea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𝑉</m:t>
                                                </m:r>
                                              </m:sub>
                                            </m:sSub>
                                          </m:e>
                                        </m:sPre>
                                        <m:acc>
                                          <m:accPr>
                                            <m:chr m:val="̅"/>
                                            <m:ctrlPr>
                                              <a:rPr lang="zh-TW" altLang="en-US" i="1">
                                                <a:latin typeface="Cambria Math" panose="02040503050406030204" pitchFamily="18" charset="0"/>
                                              </a:rPr>
                                            </m:ctrlPr>
                                          </m:accPr>
                                          <m:e>
                                            <m:r>
                                              <a:rPr lang="en-US" altLang="zh-TW" i="1">
                                                <a:latin typeface="Cambria Math" panose="02040503050406030204" pitchFamily="18" charset="0"/>
                                              </a:rPr>
                                              <m:t>𝐷</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𝑗</m:t>
                                            </m:r>
                                          </m:sub>
                                        </m:sSub>
                                      </m:e>
                                    </m:d>
                                  </m:e>
                                  <m:sup>
                                    <m:r>
                                      <a:rPr lang="en-US" altLang="zh-TW" b="0" i="1" smtClean="0">
                                        <a:latin typeface="Cambria Math" panose="02040503050406030204" pitchFamily="18" charset="0"/>
                                      </a:rPr>
                                      <m:t>2</m:t>
                                    </m:r>
                                  </m:sup>
                                </m:sSup>
                              </m:e>
                            </m:nary>
                          </m:num>
                          <m:den>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e>
                                    </m:d>
                                  </m:e>
                                  <m:sup>
                                    <m:r>
                                      <a:rPr lang="en-US" altLang="zh-TW" b="0" i="1" smtClean="0">
                                        <a:latin typeface="Cambria Math" panose="02040503050406030204" pitchFamily="18" charset="0"/>
                                      </a:rPr>
                                      <m:t>2</m:t>
                                    </m:r>
                                  </m:sup>
                                </m:sSup>
                              </m:e>
                            </m:nary>
                          </m:den>
                        </m:f>
                      </m:e>
                    </m:rad>
                    <m:r>
                      <a:rPr lang="en-US" altLang="zh-TW" b="0" i="1" smtClean="0">
                        <a:latin typeface="Cambria Math" panose="02040503050406030204" pitchFamily="18" charset="0"/>
                        <a:ea typeface="Cambria Math" panose="02040503050406030204" pitchFamily="18" charset="0"/>
                      </a:rPr>
                      <m:t>×100</m:t>
                    </m:r>
                    <m:r>
                      <a:rPr lang="en-US" altLang="zh-TW" b="0" i="1" smtClean="0">
                        <a:latin typeface="Cambria Math" panose="02040503050406030204" pitchFamily="18" charset="0"/>
                      </a:rPr>
                      <m:t>=7.03%</m:t>
                    </m:r>
                    <m:r>
                      <m:rPr>
                        <m:nor/>
                      </m:rPr>
                      <a:rPr lang="en-US" altLang="zh-TW" dirty="0">
                        <a:ea typeface="Cambria Math" panose="02040503050406030204" pitchFamily="18" charset="0"/>
                      </a:rPr>
                      <m:t>(</m:t>
                    </m:r>
                    <m:r>
                      <m:rPr>
                        <m:nor/>
                      </m:rPr>
                      <a:rPr lang="en-US" altLang="zh-TW" dirty="0">
                        <a:ea typeface="Cambria Math" panose="02040503050406030204" pitchFamily="18" charset="0"/>
                      </a:rPr>
                      <m:t>Single</m:t>
                    </m:r>
                    <m:r>
                      <m:rPr>
                        <m:nor/>
                      </m:rPr>
                      <a:rPr lang="en-US" altLang="zh-TW" dirty="0">
                        <a:ea typeface="Cambria Math" panose="02040503050406030204" pitchFamily="18" charset="0"/>
                      </a:rPr>
                      <m:t> </m:t>
                    </m:r>
                    <m:r>
                      <m:rPr>
                        <m:nor/>
                      </m:rPr>
                      <a:rPr lang="en-US" altLang="zh-TW" dirty="0">
                        <a:ea typeface="Cambria Math" panose="02040503050406030204" pitchFamily="18" charset="0"/>
                      </a:rPr>
                      <m:t>parameter</m:t>
                    </m:r>
                    <m:r>
                      <m:rPr>
                        <m:nor/>
                      </m:rPr>
                      <a:rPr lang="en-US" altLang="zh-TW" dirty="0">
                        <a:ea typeface="Cambria Math" panose="02040503050406030204" pitchFamily="18" charset="0"/>
                      </a:rPr>
                      <m:t>)</m:t>
                    </m:r>
                  </m:oMath>
                </a14:m>
                <a:endParaRPr lang="en-US" altLang="zh-TW" dirty="0">
                  <a:ea typeface="Cambria Math" panose="02040503050406030204" pitchFamily="18" charset="0"/>
                </a:endParaRPr>
              </a:p>
              <a:p>
                <a:pPr marL="742950" lvl="1" indent="-285750">
                  <a:buFont typeface="Wingdings" panose="05000000000000000000" pitchFamily="2" charset="2"/>
                  <a:buChar char="Ø"/>
                </a:pPr>
                <a:endParaRPr lang="en-US" altLang="zh-TW" b="0" dirty="0"/>
              </a:p>
              <a:p>
                <a:pPr marL="742950" lvl="1" indent="-285750">
                  <a:buFont typeface="Wingdings" panose="05000000000000000000" pitchFamily="2" charset="2"/>
                  <a:buChar char="Ø"/>
                </a:pPr>
                <a14:m>
                  <m:oMath xmlns:m="http://schemas.openxmlformats.org/officeDocument/2006/math">
                    <m:r>
                      <m:rPr>
                        <m:sty m:val="p"/>
                      </m:rPr>
                      <a:rPr lang="en-US" altLang="zh-TW" i="1" dirty="0" smtClean="0">
                        <a:latin typeface="Cambria Math" panose="02040503050406030204" pitchFamily="18" charset="0"/>
                        <a:ea typeface="Cambria Math" panose="02040503050406030204" pitchFamily="18" charset="0"/>
                      </a:rPr>
                      <m:t>RM</m:t>
                    </m:r>
                    <m:r>
                      <m:rPr>
                        <m:sty m:val="p"/>
                      </m:rPr>
                      <a:rPr lang="en-US" altLang="zh-TW" i="1" dirty="0">
                        <a:latin typeface="Cambria Math" panose="02040503050406030204" pitchFamily="18" charset="0"/>
                        <a:ea typeface="Cambria Math" panose="02040503050406030204" pitchFamily="18" charset="0"/>
                      </a:rPr>
                      <m:t>S</m:t>
                    </m:r>
                    <m:r>
                      <m:rPr>
                        <m:sty m:val="p"/>
                      </m:rPr>
                      <a:rPr lang="en-US" altLang="zh-TW" i="1" dirty="0" smtClean="0">
                        <a:latin typeface="Cambria Math" panose="02040503050406030204" pitchFamily="18" charset="0"/>
                        <a:ea typeface="Cambria Math" panose="02040503050406030204" pitchFamily="18" charset="0"/>
                      </a:rPr>
                      <m:t>P</m:t>
                    </m:r>
                    <m:r>
                      <m:rPr>
                        <m:sty m:val="p"/>
                      </m:rPr>
                      <a:rPr lang="en-US" altLang="zh-TW" i="1" dirty="0">
                        <a:latin typeface="Cambria Math" panose="02040503050406030204" pitchFamily="18" charset="0"/>
                        <a:ea typeface="Cambria Math" panose="02040503050406030204" pitchFamily="18" charset="0"/>
                      </a:rPr>
                      <m:t>E</m:t>
                    </m:r>
                    <m:r>
                      <a:rPr lang="en-US" altLang="zh-TW" i="1" dirty="0"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rPr>
                        </m:ctrlPr>
                      </m:radPr>
                      <m:deg/>
                      <m:e>
                        <m:f>
                          <m:fPr>
                            <m:ctrlPr>
                              <a:rPr lang="en-US" altLang="zh-TW" b="0" i="1" smtClean="0">
                                <a:latin typeface="Cambria Math" panose="02040503050406030204" pitchFamily="18" charset="0"/>
                              </a:rPr>
                            </m:ctrlPr>
                          </m:fPr>
                          <m:num>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Pre>
                                          <m:sPrePr>
                                            <m:ctrlPr>
                                              <a:rPr lang="en-US" altLang="zh-TW" i="1">
                                                <a:latin typeface="Cambria Math" panose="02040503050406030204" pitchFamily="18" charset="0"/>
                                                <a:ea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𝑉</m:t>
                                                </m:r>
                                              </m:sub>
                                            </m:sSub>
                                          </m:e>
                                        </m:sPre>
                                        <m:acc>
                                          <m:accPr>
                                            <m:chr m:val="̅"/>
                                            <m:ctrlPr>
                                              <a:rPr lang="zh-TW" altLang="en-US" i="1">
                                                <a:latin typeface="Cambria Math" panose="02040503050406030204" pitchFamily="18" charset="0"/>
                                              </a:rPr>
                                            </m:ctrlPr>
                                          </m:accPr>
                                          <m:e>
                                            <m:r>
                                              <a:rPr lang="en-US" altLang="zh-TW" i="1">
                                                <a:latin typeface="Cambria Math" panose="02040503050406030204" pitchFamily="18" charset="0"/>
                                              </a:rPr>
                                              <m:t>𝐷</m:t>
                                            </m:r>
                                          </m:e>
                                        </m:acc>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𝑗</m:t>
                                            </m:r>
                                          </m:sub>
                                        </m:sSub>
                                      </m:e>
                                    </m:d>
                                  </m:e>
                                  <m:sup>
                                    <m:r>
                                      <a:rPr lang="en-US" altLang="zh-TW" b="0" i="1" smtClean="0">
                                        <a:latin typeface="Cambria Math" panose="02040503050406030204" pitchFamily="18" charset="0"/>
                                      </a:rPr>
                                      <m:t>2</m:t>
                                    </m:r>
                                  </m:sup>
                                </m:sSup>
                              </m:e>
                            </m:nary>
                          </m:num>
                          <m:den>
                            <m:nary>
                              <m:naryPr>
                                <m:chr m:val="∑"/>
                                <m:subHide m:val="on"/>
                                <m:supHide m:val="on"/>
                                <m:ctrlPr>
                                  <a:rPr lang="en-US" altLang="zh-TW" b="0" i="1" smtClean="0">
                                    <a:latin typeface="Cambria Math" panose="02040503050406030204" pitchFamily="18" charset="0"/>
                                  </a:rPr>
                                </m:ctrlPr>
                              </m:naryPr>
                              <m:sub/>
                              <m:sup/>
                              <m:e>
                                <m:sSup>
                                  <m:sSupPr>
                                    <m:ctrlPr>
                                      <a:rPr lang="en-US" altLang="zh-TW" b="0" i="1" smtClean="0">
                                        <a:latin typeface="Cambria Math" panose="02040503050406030204" pitchFamily="18" charset="0"/>
                                      </a:rPr>
                                    </m:ctrlPr>
                                  </m:sSupPr>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𝐹𝐸𝑀</m:t>
                                            </m:r>
                                          </m:sub>
                                        </m:sSub>
                                      </m:e>
                                    </m:d>
                                  </m:e>
                                  <m:sup>
                                    <m:r>
                                      <a:rPr lang="en-US" altLang="zh-TW" b="0" i="1" smtClean="0">
                                        <a:latin typeface="Cambria Math" panose="02040503050406030204" pitchFamily="18" charset="0"/>
                                      </a:rPr>
                                      <m:t>2</m:t>
                                    </m:r>
                                  </m:sup>
                                </m:sSup>
                              </m:e>
                            </m:nary>
                          </m:den>
                        </m:f>
                      </m:e>
                    </m:rad>
                    <m:r>
                      <a:rPr lang="en-US" altLang="zh-TW" b="0" i="1" smtClean="0">
                        <a:latin typeface="Cambria Math" panose="02040503050406030204" pitchFamily="18" charset="0"/>
                        <a:ea typeface="Cambria Math" panose="02040503050406030204" pitchFamily="18" charset="0"/>
                      </a:rPr>
                      <m:t>×100</m:t>
                    </m:r>
                    <m:r>
                      <a:rPr lang="en-US" altLang="zh-TW" b="0" i="1" smtClean="0">
                        <a:latin typeface="Cambria Math" panose="02040503050406030204" pitchFamily="18" charset="0"/>
                      </a:rPr>
                      <m:t>=2.06%</m:t>
                    </m:r>
                    <m:r>
                      <m:rPr>
                        <m:nor/>
                      </m:rPr>
                      <a:rPr lang="en-US" altLang="zh-TW" dirty="0">
                        <a:ea typeface="Cambria Math" panose="02040503050406030204" pitchFamily="18" charset="0"/>
                      </a:rPr>
                      <m:t>(</m:t>
                    </m:r>
                    <m:r>
                      <m:rPr>
                        <m:nor/>
                      </m:rPr>
                      <a:rPr lang="en-US" altLang="zh-TW" b="0" i="0" dirty="0" smtClean="0">
                        <a:ea typeface="Cambria Math" panose="02040503050406030204" pitchFamily="18" charset="0"/>
                      </a:rPr>
                      <m:t>Eighteen</m:t>
                    </m:r>
                    <m:r>
                      <m:rPr>
                        <m:nor/>
                      </m:rPr>
                      <a:rPr lang="en-US" altLang="zh-TW" dirty="0">
                        <a:ea typeface="Cambria Math" panose="02040503050406030204" pitchFamily="18" charset="0"/>
                      </a:rPr>
                      <m:t> </m:t>
                    </m:r>
                    <m:r>
                      <m:rPr>
                        <m:nor/>
                      </m:rPr>
                      <a:rPr lang="en-US" altLang="zh-TW" dirty="0">
                        <a:ea typeface="Cambria Math" panose="02040503050406030204" pitchFamily="18" charset="0"/>
                      </a:rPr>
                      <m:t>parameters</m:t>
                    </m:r>
                    <m:r>
                      <m:rPr>
                        <m:nor/>
                      </m:rPr>
                      <a:rPr lang="en-US" altLang="zh-TW" dirty="0">
                        <a:ea typeface="Cambria Math" panose="02040503050406030204" pitchFamily="18" charset="0"/>
                      </a:rPr>
                      <m:t>)</m:t>
                    </m:r>
                  </m:oMath>
                </a14:m>
                <a:endParaRPr lang="en-US" altLang="zh-TW" dirty="0">
                  <a:ea typeface="Cambria Math" panose="02040503050406030204" pitchFamily="18" charset="0"/>
                </a:endParaRPr>
              </a:p>
              <a:p>
                <a:pPr lvl="1"/>
                <a:endParaRPr lang="en-US" altLang="zh-TW" b="0" dirty="0">
                  <a:ea typeface="Cambria Math" panose="02040503050406030204" pitchFamily="18" charset="0"/>
                </a:endParaRPr>
              </a:p>
              <a:p>
                <a:pPr marL="285750" indent="-285750">
                  <a:buFont typeface="Arial" panose="020B0604020202020204" pitchFamily="34" charset="0"/>
                  <a:buChar char="•"/>
                </a:pPr>
                <a:endParaRPr lang="en-US" altLang="zh-TW" b="0" dirty="0"/>
              </a:p>
              <a:p>
                <a:pPr lvl="1"/>
                <a:endParaRPr lang="zh-TW" altLang="en-US" dirty="0"/>
              </a:p>
            </p:txBody>
          </p:sp>
        </mc:Choice>
        <mc:Fallback xmlns="">
          <p:sp>
            <p:nvSpPr>
              <p:cNvPr id="9" name="文字方塊 8">
                <a:extLst>
                  <a:ext uri="{FF2B5EF4-FFF2-40B4-BE49-F238E27FC236}">
                    <a16:creationId xmlns:a16="http://schemas.microsoft.com/office/drawing/2014/main" id="{95B9B500-BE39-4A2E-848D-C7FDE3646D2C}"/>
                  </a:ext>
                </a:extLst>
              </p:cNvPr>
              <p:cNvSpPr txBox="1">
                <a:spLocks noRot="1" noChangeAspect="1" noMove="1" noResize="1" noEditPoints="1" noAdjustHandles="1" noChangeArrowheads="1" noChangeShapeType="1" noTextEdit="1"/>
              </p:cNvSpPr>
              <p:nvPr/>
            </p:nvSpPr>
            <p:spPr>
              <a:xfrm>
                <a:off x="110067" y="504298"/>
                <a:ext cx="11137900" cy="5858783"/>
              </a:xfrm>
              <a:prstGeom prst="rect">
                <a:avLst/>
              </a:prstGeom>
              <a:blipFill>
                <a:blip r:embed="rId2"/>
                <a:stretch>
                  <a:fillRect l="-328" t="-6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0A3A1D2F-920F-4837-AC1C-5BC39DB79C9A}"/>
                  </a:ext>
                </a:extLst>
              </p:cNvPr>
              <p:cNvSpPr txBox="1"/>
              <p:nvPr/>
            </p:nvSpPr>
            <p:spPr>
              <a:xfrm>
                <a:off x="333746" y="5898963"/>
                <a:ext cx="7266669" cy="751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b="0" i="1" smtClean="0">
                              <a:latin typeface="Cambria Math" panose="02040503050406030204" pitchFamily="18" charset="0"/>
                            </a:rPr>
                            <m:t>𝑒</m:t>
                          </m:r>
                        </m:e>
                      </m:acc>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𝑒</m:t>
                          </m:r>
                        </m:num>
                        <m:den>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𝑙</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1"/>
                                        <m:mcJc m:val="center"/>
                                      </m:mcPr>
                                    </m:mc>
                                  </m:mcs>
                                  <m:ctrlPr>
                                    <a:rPr lang="en-US" altLang="zh-TW" b="0" i="1" smtClean="0">
                                      <a:latin typeface="Cambria Math" panose="02040503050406030204" pitchFamily="18" charset="0"/>
                                    </a:rPr>
                                  </m:ctrlPr>
                                </m:mP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.0183</m:t>
                                          </m:r>
                                        </m:e>
                                        <m:e>
                                          <m:r>
                                            <a:rPr lang="en-US" altLang="zh-TW" b="0" i="1" smtClean="0">
                                              <a:latin typeface="Cambria Math" panose="02040503050406030204" pitchFamily="18" charset="0"/>
                                            </a:rPr>
                                            <m:t>0.0195</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0.1173</m:t>
                                                </m:r>
                                              </m:e>
                                              <m:e>
                                                <m:r>
                                                  <a:rPr lang="en-US" altLang="zh-TW" b="0" i="1" smtClean="0">
                                                    <a:latin typeface="Cambria Math" panose="02040503050406030204" pitchFamily="18" charset="0"/>
                                                  </a:rPr>
                                                  <m:t>0.0021</m:t>
                                                </m:r>
                                              </m:e>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.0012</m:t>
                                                      </m:r>
                                                    </m:e>
                                                    <m:e>
                                                      <m:r>
                                                        <a:rPr lang="en-US" altLang="zh-TW" b="0" i="1" smtClean="0">
                                                          <a:latin typeface="Cambria Math" panose="02040503050406030204" pitchFamily="18" charset="0"/>
                                                        </a:rPr>
                                                        <m:t>−0.1180</m:t>
                                                      </m:r>
                                                    </m:e>
                                                  </m:mr>
                                                </m:m>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0.1178</m:t>
                                          </m:r>
                                        </m:e>
                                        <m:e>
                                          <m:r>
                                            <a:rPr lang="en-US" altLang="zh-TW" b="0" i="1" smtClean="0">
                                              <a:latin typeface="Cambria Math" panose="02040503050406030204" pitchFamily="18" charset="0"/>
                                            </a:rPr>
                                            <m:t>0.0024</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.0155</m:t>
                                                </m:r>
                                              </m:e>
                                              <m:e>
                                                <m:r>
                                                  <a:rPr lang="en-US" altLang="zh-TW" b="0" i="1" smtClean="0">
                                                    <a:latin typeface="Cambria Math" panose="02040503050406030204" pitchFamily="18" charset="0"/>
                                                  </a:rPr>
                                                  <m:t>0.0147</m:t>
                                                </m:r>
                                              </m:e>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.0016</m:t>
                                                      </m:r>
                                                    </m:e>
                                                    <m:e>
                                                      <m:r>
                                                        <a:rPr lang="en-US" altLang="zh-TW" b="0" i="1" smtClean="0">
                                                          <a:latin typeface="Cambria Math" panose="02040503050406030204" pitchFamily="18" charset="0"/>
                                                        </a:rPr>
                                                        <m:t>−0.1180</m:t>
                                                      </m:r>
                                                    </m:e>
                                                  </m:mr>
                                                </m:m>
                                              </m:e>
                                            </m:mr>
                                          </m:m>
                                        </m:e>
                                      </m:mr>
                                    </m:m>
                                  </m:e>
                                </m:mr>
                                <m:mr>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.1176</m:t>
                                          </m:r>
                                        </m:e>
                                        <m:e>
                                          <m:r>
                                            <a:rPr lang="en-US" altLang="zh-TW" b="0" i="1" smtClean="0">
                                              <a:latin typeface="Cambria Math" panose="02040503050406030204" pitchFamily="18" charset="0"/>
                                            </a:rPr>
                                            <m:t>−0.0022</m:t>
                                          </m:r>
                                        </m:e>
                                        <m:e>
                                          <m:m>
                                            <m:mPr>
                                              <m:mcs>
                                                <m:mc>
                                                  <m:mcPr>
                                                    <m:count m:val="3"/>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0</m:t>
                                                </m:r>
                                                <m:r>
                                                  <a:rPr lang="en-US" altLang="zh-TW" b="0" i="1" smtClean="0">
                                                    <a:latin typeface="Cambria Math" panose="02040503050406030204" pitchFamily="18" charset="0"/>
                                                  </a:rPr>
                                                  <m:t>.1167</m:t>
                                                </m:r>
                                              </m:e>
                                              <m:e>
                                                <m:r>
                                                  <a:rPr lang="en-US" altLang="zh-TW" b="0" i="1" smtClean="0">
                                                    <a:latin typeface="Cambria Math" panose="02040503050406030204" pitchFamily="18" charset="0"/>
                                                  </a:rPr>
                                                  <m:t>−0.0029</m:t>
                                                </m:r>
                                              </m:e>
                                              <m:e>
                                                <m:m>
                                                  <m:mPr>
                                                    <m:mcs>
                                                      <m:mc>
                                                        <m:mcPr>
                                                          <m:count m:val="2"/>
                                                          <m:mcJc m:val="center"/>
                                                        </m:mcPr>
                                                      </m:mc>
                                                    </m:mcs>
                                                    <m:ctrlPr>
                                                      <a:rPr lang="en-US" altLang="zh-TW" b="0" i="1" smtClean="0">
                                                        <a:latin typeface="Cambria Math" panose="02040503050406030204" pitchFamily="18" charset="0"/>
                                                      </a:rPr>
                                                    </m:ctrlPr>
                                                  </m:mPr>
                                                  <m:mr>
                                                    <m:e>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0.0178</m:t>
                                                      </m:r>
                                                    </m:e>
                                                    <m:e>
                                                      <m:r>
                                                        <a:rPr lang="en-US" altLang="zh-TW" b="0" i="1" smtClean="0">
                                                          <a:latin typeface="Cambria Math" panose="02040503050406030204" pitchFamily="18" charset="0"/>
                                                        </a:rPr>
                                                        <m:t>−0.0181</m:t>
                                                      </m:r>
                                                    </m:e>
                                                  </m:mr>
                                                </m:m>
                                              </m:e>
                                            </m:mr>
                                          </m:m>
                                        </m:e>
                                      </m:mr>
                                    </m:m>
                                  </m:e>
                                </m:mr>
                              </m:m>
                            </m:e>
                          </m:d>
                        </m:den>
                      </m:f>
                    </m:oMath>
                  </m:oMathPara>
                </a14:m>
                <a:endParaRPr lang="zh-TW" altLang="en-US" dirty="0"/>
              </a:p>
            </p:txBody>
          </p:sp>
        </mc:Choice>
        <mc:Fallback xmlns="">
          <p:sp>
            <p:nvSpPr>
              <p:cNvPr id="6" name="文字方塊 5">
                <a:extLst>
                  <a:ext uri="{FF2B5EF4-FFF2-40B4-BE49-F238E27FC236}">
                    <a16:creationId xmlns:a16="http://schemas.microsoft.com/office/drawing/2014/main" id="{0A3A1D2F-920F-4837-AC1C-5BC39DB79C9A}"/>
                  </a:ext>
                </a:extLst>
              </p:cNvPr>
              <p:cNvSpPr txBox="1">
                <a:spLocks noRot="1" noChangeAspect="1" noMove="1" noResize="1" noEditPoints="1" noAdjustHandles="1" noChangeArrowheads="1" noChangeShapeType="1" noTextEdit="1"/>
              </p:cNvSpPr>
              <p:nvPr/>
            </p:nvSpPr>
            <p:spPr>
              <a:xfrm>
                <a:off x="333746" y="5898963"/>
                <a:ext cx="7266669" cy="751872"/>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0705143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17191</TotalTime>
  <Words>1176</Words>
  <Application>Microsoft Office PowerPoint</Application>
  <PresentationFormat>寬螢幕</PresentationFormat>
  <Paragraphs>142</Paragraphs>
  <Slides>15</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15</vt:i4>
      </vt:variant>
    </vt:vector>
  </HeadingPairs>
  <TitlesOfParts>
    <vt:vector size="23"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Reference </vt:lpstr>
      <vt:lpstr>Reference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152</cp:revision>
  <dcterms:created xsi:type="dcterms:W3CDTF">2026-07-23T11:39:15Z</dcterms:created>
  <dcterms:modified xsi:type="dcterms:W3CDTF">2026-08-13T07:44:02Z</dcterms:modified>
</cp:coreProperties>
</file>