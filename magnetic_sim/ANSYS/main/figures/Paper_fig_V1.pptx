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2" r:id="rId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2026/7/23</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2026/7/23</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r>
              <a:rPr lang="en-US" altLang="zh-TW" sz="2800" b="1" kern="100" dirty="0">
                <a:solidFill>
                  <a:srgbClr val="000000"/>
                </a:solidFill>
                <a:latin typeface="Aptos"/>
                <a:ea typeface="新細明體" panose="02020500000000000000" pitchFamily="18" charset="-120"/>
                <a:cs typeface="Times New Roman" panose="02020603050405020304" pitchFamily="18" charset="0"/>
              </a:rPr>
              <a:t>KUO,CHIEN-CHI</a:t>
            </a:r>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84667" y="361472"/>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55033" y="5655733"/>
            <a:ext cx="12081933" cy="120032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upper three figures show the CAD models of the geometries developed by </a:t>
            </a:r>
            <a:r>
              <a:rPr lang="en-US" altLang="zh-TW" b="1" dirty="0" err="1">
                <a:latin typeface="Times New Roman" panose="02020603050405020304" pitchFamily="18" charset="0"/>
                <a:cs typeface="Times New Roman" panose="02020603050405020304" pitchFamily="18" charset="0"/>
              </a:rPr>
              <a:t>Longfei</a:t>
            </a:r>
            <a:r>
              <a:rPr lang="en-US" altLang="zh-TW" b="1" dirty="0">
                <a:latin typeface="Times New Roman" panose="02020603050405020304" pitchFamily="18" charset="0"/>
                <a:cs typeface="Times New Roman" panose="02020603050405020304" pitchFamily="18" charset="0"/>
              </a:rPr>
              <a:t>, Hung, and NTU</a:t>
            </a:r>
            <a:r>
              <a:rPr lang="en-US" altLang="zh-TW" dirty="0">
                <a:latin typeface="Times New Roman" panose="02020603050405020304" pitchFamily="18" charset="0"/>
                <a:cs typeface="Times New Roman" panose="02020603050405020304" pitchFamily="18" charset="0"/>
              </a:rPr>
              <a:t>, respectively. View 1 labels the yoke and the individual numbers of the six magnetic poles, while View 2 presents a side view. From the side view, the coil can be seen wound around the magnetic core to generate the magnetic field. The number of coil turns shown does not correspond to the actual number of turns; the purpose of the figure is to illustrate the coil location and its function.</a:t>
            </a:r>
            <a:endParaRPr lang="zh-TW" altLang="en-US" dirty="0">
              <a:latin typeface="Times New Roman" panose="02020603050405020304" pitchFamily="18" charset="0"/>
              <a:cs typeface="Times New Roman" panose="02020603050405020304" pitchFamily="18" charset="0"/>
            </a:endParaRPr>
          </a:p>
        </p:txBody>
      </p:sp>
      <p:graphicFrame>
        <p:nvGraphicFramePr>
          <p:cNvPr id="14" name="表格 14">
            <a:extLst>
              <a:ext uri="{FF2B5EF4-FFF2-40B4-BE49-F238E27FC236}">
                <a16:creationId xmlns:a16="http://schemas.microsoft.com/office/drawing/2014/main" id="{A439813F-80D3-4CEA-BF28-A84D48154D2A}"/>
              </a:ext>
            </a:extLst>
          </p:cNvPr>
          <p:cNvGraphicFramePr>
            <a:graphicFrameLocks noGrp="1"/>
          </p:cNvGraphicFramePr>
          <p:nvPr>
            <p:extLst>
              <p:ext uri="{D42A27DB-BD31-4B8C-83A1-F6EECF244321}">
                <p14:modId xmlns:p14="http://schemas.microsoft.com/office/powerpoint/2010/main" val="1678559156"/>
              </p:ext>
            </p:extLst>
          </p:nvPr>
        </p:nvGraphicFramePr>
        <p:xfrm>
          <a:off x="135466" y="752156"/>
          <a:ext cx="11921067" cy="4945911"/>
        </p:xfrm>
        <a:graphic>
          <a:graphicData uri="http://schemas.openxmlformats.org/drawingml/2006/table">
            <a:tbl>
              <a:tblPr firstRow="1" bandRow="1">
                <a:tableStyleId>{5940675A-B579-460E-94D1-54222C63F5DA}</a:tableStyleId>
              </a:tblPr>
              <a:tblGrid>
                <a:gridCol w="821267">
                  <a:extLst>
                    <a:ext uri="{9D8B030D-6E8A-4147-A177-3AD203B41FA5}">
                      <a16:colId xmlns:a16="http://schemas.microsoft.com/office/drawing/2014/main" val="2856634982"/>
                    </a:ext>
                  </a:extLst>
                </a:gridCol>
                <a:gridCol w="3683000">
                  <a:extLst>
                    <a:ext uri="{9D8B030D-6E8A-4147-A177-3AD203B41FA5}">
                      <a16:colId xmlns:a16="http://schemas.microsoft.com/office/drawing/2014/main" val="3478479201"/>
                    </a:ext>
                  </a:extLst>
                </a:gridCol>
                <a:gridCol w="3657600">
                  <a:extLst>
                    <a:ext uri="{9D8B030D-6E8A-4147-A177-3AD203B41FA5}">
                      <a16:colId xmlns:a16="http://schemas.microsoft.com/office/drawing/2014/main" val="480016825"/>
                    </a:ext>
                  </a:extLst>
                </a:gridCol>
                <a:gridCol w="3759200">
                  <a:extLst>
                    <a:ext uri="{9D8B030D-6E8A-4147-A177-3AD203B41FA5}">
                      <a16:colId xmlns:a16="http://schemas.microsoft.com/office/drawing/2014/main" val="3019133709"/>
                    </a:ext>
                  </a:extLst>
                </a:gridCol>
              </a:tblGrid>
              <a:tr h="434285">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Long</a:t>
                      </a:r>
                      <a:endParaRPr lang="zh-TW" altLang="en-US" dirty="0"/>
                    </a:p>
                  </a:txBody>
                  <a:tcPr/>
                </a:tc>
                <a:tc>
                  <a:txBody>
                    <a:bodyPr/>
                    <a:lstStyle/>
                    <a:p>
                      <a:pPr algn="ctr"/>
                      <a:r>
                        <a:rPr lang="en-US" altLang="zh-TW" dirty="0"/>
                        <a:t>Hung</a:t>
                      </a:r>
                      <a:endParaRPr lang="zh-TW" altLang="en-US" dirty="0"/>
                    </a:p>
                  </a:txBody>
                  <a:tcPr/>
                </a:tc>
                <a:tc>
                  <a:txBody>
                    <a:bodyPr/>
                    <a:lstStyle/>
                    <a:p>
                      <a:pPr algn="ctr"/>
                      <a:r>
                        <a:rPr lang="en-US" altLang="zh-TW" dirty="0"/>
                        <a:t>NTU</a:t>
                      </a:r>
                      <a:endParaRPr lang="zh-TW" altLang="en-US" dirty="0"/>
                    </a:p>
                  </a:txBody>
                  <a:tcPr/>
                </a:tc>
                <a:extLst>
                  <a:ext uri="{0D108BD9-81ED-4DB2-BD59-A6C34878D82A}">
                    <a16:rowId xmlns:a16="http://schemas.microsoft.com/office/drawing/2014/main" val="3335095961"/>
                  </a:ext>
                </a:extLst>
              </a:tr>
              <a:tr h="2411892">
                <a:tc>
                  <a:txBody>
                    <a:bodyPr/>
                    <a:lstStyle/>
                    <a:p>
                      <a:pPr algn="ctr"/>
                      <a:r>
                        <a:rPr lang="en-US" altLang="zh-TW" dirty="0"/>
                        <a:t>View1</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391468359"/>
                  </a:ext>
                </a:extLst>
              </a:tr>
              <a:tr h="2099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View2</a:t>
                      </a:r>
                      <a:endParaRPr lang="zh-TW" altLang="en-US" dirty="0"/>
                    </a:p>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2032483848"/>
                  </a:ext>
                </a:extLst>
              </a:tr>
            </a:tbl>
          </a:graphicData>
        </a:graphic>
      </p:graphicFrame>
      <p:pic>
        <p:nvPicPr>
          <p:cNvPr id="16" name="圖片 15">
            <a:extLst>
              <a:ext uri="{FF2B5EF4-FFF2-40B4-BE49-F238E27FC236}">
                <a16:creationId xmlns:a16="http://schemas.microsoft.com/office/drawing/2014/main" id="{41E475F8-7DC1-48FA-8FAA-A7EA2784E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333" y="3662368"/>
            <a:ext cx="2802466" cy="1962581"/>
          </a:xfrm>
          <a:prstGeom prst="rect">
            <a:avLst/>
          </a:prstGeom>
        </p:spPr>
      </p:pic>
      <p:pic>
        <p:nvPicPr>
          <p:cNvPr id="18" name="圖片 17">
            <a:extLst>
              <a:ext uri="{FF2B5EF4-FFF2-40B4-BE49-F238E27FC236}">
                <a16:creationId xmlns:a16="http://schemas.microsoft.com/office/drawing/2014/main" id="{C25CECD0-F9AC-4AA3-90C0-23267B9F97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2333" y="1262390"/>
            <a:ext cx="3208867" cy="2270150"/>
          </a:xfrm>
          <a:prstGeom prst="rect">
            <a:avLst/>
          </a:prstGeom>
        </p:spPr>
      </p:pic>
      <p:pic>
        <p:nvPicPr>
          <p:cNvPr id="20" name="圖片 19">
            <a:extLst>
              <a:ext uri="{FF2B5EF4-FFF2-40B4-BE49-F238E27FC236}">
                <a16:creationId xmlns:a16="http://schemas.microsoft.com/office/drawing/2014/main" id="{90DF08E9-CD75-4C0F-B93E-6F96AC690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6079" y="3721856"/>
            <a:ext cx="3006376" cy="1866609"/>
          </a:xfrm>
          <a:prstGeom prst="rect">
            <a:avLst/>
          </a:prstGeom>
        </p:spPr>
      </p:pic>
      <p:pic>
        <p:nvPicPr>
          <p:cNvPr id="22" name="圖片 21">
            <a:extLst>
              <a:ext uri="{FF2B5EF4-FFF2-40B4-BE49-F238E27FC236}">
                <a16:creationId xmlns:a16="http://schemas.microsoft.com/office/drawing/2014/main" id="{53F10AAF-EE06-4B06-ADA3-49172B8991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0693" y="1258265"/>
            <a:ext cx="3298473" cy="2270150"/>
          </a:xfrm>
          <a:prstGeom prst="rect">
            <a:avLst/>
          </a:prstGeom>
        </p:spPr>
      </p:pic>
      <p:pic>
        <p:nvPicPr>
          <p:cNvPr id="24" name="圖片 23">
            <a:extLst>
              <a:ext uri="{FF2B5EF4-FFF2-40B4-BE49-F238E27FC236}">
                <a16:creationId xmlns:a16="http://schemas.microsoft.com/office/drawing/2014/main" id="{B1235698-4755-4CBA-B9DB-9A346C3838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91981" y="3698854"/>
            <a:ext cx="2802466" cy="1889611"/>
          </a:xfrm>
          <a:prstGeom prst="rect">
            <a:avLst/>
          </a:prstGeom>
        </p:spPr>
      </p:pic>
      <p:pic>
        <p:nvPicPr>
          <p:cNvPr id="26" name="圖片 25">
            <a:extLst>
              <a:ext uri="{FF2B5EF4-FFF2-40B4-BE49-F238E27FC236}">
                <a16:creationId xmlns:a16="http://schemas.microsoft.com/office/drawing/2014/main" id="{1D7C9015-094E-4F31-B7CA-517F419C40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66014" y="1258265"/>
            <a:ext cx="3454400" cy="2330988"/>
          </a:xfrm>
          <a:prstGeom prst="rect">
            <a:avLst/>
          </a:prstGeom>
        </p:spPr>
      </p:pic>
    </p:spTree>
    <p:extLst>
      <p:ext uri="{BB962C8B-B14F-4D97-AF65-F5344CB8AC3E}">
        <p14:creationId xmlns:p14="http://schemas.microsoft.com/office/powerpoint/2010/main" val="3758273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84667" y="38240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50799" y="5204561"/>
            <a:ext cx="12242799"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environment used in this study is </a:t>
            </a:r>
            <a:r>
              <a:rPr lang="en-US" altLang="zh-TW" b="1" dirty="0">
                <a:latin typeface="Times New Roman" panose="02020603050405020304" pitchFamily="18" charset="0"/>
                <a:cs typeface="Times New Roman" panose="02020603050405020304" pitchFamily="18" charset="0"/>
              </a:rPr>
              <a:t>ANSYS Mechanical APDL 2025 R2.</a:t>
            </a:r>
            <a:r>
              <a:rPr lang="en-US" altLang="zh-TW" dirty="0">
                <a:latin typeface="Times New Roman" panose="02020603050405020304" pitchFamily="18" charset="0"/>
                <a:cs typeface="Times New Roman" panose="02020603050405020304" pitchFamily="18" charset="0"/>
              </a:rPr>
              <a:t> After the geometric model is created in SolidWorks, the dimensions of each component are extracted and used as parameters in an APDL script to reconstruct the geometry. Once the geometry has been generated, the model is meshed and solved. The red arrows in the figure indicate the location and winding direction of the coils, which correspond to the coil positions shown on the previous slide.</a:t>
            </a:r>
            <a:endParaRPr lang="zh-TW" altLang="en-US" dirty="0">
              <a:latin typeface="Times New Roman" panose="02020603050405020304" pitchFamily="18" charset="0"/>
              <a:cs typeface="Times New Roman" panose="02020603050405020304" pitchFamily="18" charset="0"/>
            </a:endParaRPr>
          </a:p>
        </p:txBody>
      </p:sp>
      <p:graphicFrame>
        <p:nvGraphicFramePr>
          <p:cNvPr id="3" name="表格 6">
            <a:extLst>
              <a:ext uri="{FF2B5EF4-FFF2-40B4-BE49-F238E27FC236}">
                <a16:creationId xmlns:a16="http://schemas.microsoft.com/office/drawing/2014/main" id="{0CA650E1-60C8-4B31-8678-71FAC6764DC2}"/>
              </a:ext>
            </a:extLst>
          </p:cNvPr>
          <p:cNvGraphicFramePr>
            <a:graphicFrameLocks noGrp="1"/>
          </p:cNvGraphicFramePr>
          <p:nvPr>
            <p:extLst>
              <p:ext uri="{D42A27DB-BD31-4B8C-83A1-F6EECF244321}">
                <p14:modId xmlns:p14="http://schemas.microsoft.com/office/powerpoint/2010/main" val="4068867138"/>
              </p:ext>
            </p:extLst>
          </p:nvPr>
        </p:nvGraphicFramePr>
        <p:xfrm>
          <a:off x="110067" y="798493"/>
          <a:ext cx="11811000" cy="4524268"/>
        </p:xfrm>
        <a:graphic>
          <a:graphicData uri="http://schemas.openxmlformats.org/drawingml/2006/table">
            <a:tbl>
              <a:tblPr firstRow="1" bandRow="1">
                <a:tableStyleId>{5940675A-B579-460E-94D1-54222C63F5DA}</a:tableStyleId>
              </a:tblPr>
              <a:tblGrid>
                <a:gridCol w="4055532">
                  <a:extLst>
                    <a:ext uri="{9D8B030D-6E8A-4147-A177-3AD203B41FA5}">
                      <a16:colId xmlns:a16="http://schemas.microsoft.com/office/drawing/2014/main" val="2100999511"/>
                    </a:ext>
                  </a:extLst>
                </a:gridCol>
                <a:gridCol w="3877734">
                  <a:extLst>
                    <a:ext uri="{9D8B030D-6E8A-4147-A177-3AD203B41FA5}">
                      <a16:colId xmlns:a16="http://schemas.microsoft.com/office/drawing/2014/main" val="650228661"/>
                    </a:ext>
                  </a:extLst>
                </a:gridCol>
                <a:gridCol w="3877734">
                  <a:extLst>
                    <a:ext uri="{9D8B030D-6E8A-4147-A177-3AD203B41FA5}">
                      <a16:colId xmlns:a16="http://schemas.microsoft.com/office/drawing/2014/main" val="1476503576"/>
                    </a:ext>
                  </a:extLst>
                </a:gridCol>
              </a:tblGrid>
              <a:tr h="511068">
                <a:tc>
                  <a:txBody>
                    <a:bodyPr/>
                    <a:lstStyle/>
                    <a:p>
                      <a:pPr algn="ctr"/>
                      <a:r>
                        <a:rPr lang="en-US" altLang="zh-TW" dirty="0"/>
                        <a:t>Long</a:t>
                      </a:r>
                      <a:endParaRPr lang="zh-TW" altLang="en-US" dirty="0"/>
                    </a:p>
                  </a:txBody>
                  <a:tcPr/>
                </a:tc>
                <a:tc>
                  <a:txBody>
                    <a:bodyPr/>
                    <a:lstStyle/>
                    <a:p>
                      <a:pPr algn="ctr"/>
                      <a:r>
                        <a:rPr lang="en-US" altLang="zh-TW" dirty="0"/>
                        <a:t>Hung</a:t>
                      </a:r>
                      <a:endParaRPr lang="zh-TW" altLang="en-US" dirty="0"/>
                    </a:p>
                  </a:txBody>
                  <a:tcPr/>
                </a:tc>
                <a:tc>
                  <a:txBody>
                    <a:bodyPr/>
                    <a:lstStyle/>
                    <a:p>
                      <a:pPr algn="ctr"/>
                      <a:r>
                        <a:rPr lang="en-US" altLang="zh-TW" dirty="0"/>
                        <a:t>NTU</a:t>
                      </a:r>
                      <a:endParaRPr lang="zh-TW" altLang="en-US" dirty="0"/>
                    </a:p>
                  </a:txBody>
                  <a:tcPr/>
                </a:tc>
                <a:extLst>
                  <a:ext uri="{0D108BD9-81ED-4DB2-BD59-A6C34878D82A}">
                    <a16:rowId xmlns:a16="http://schemas.microsoft.com/office/drawing/2014/main" val="59472231"/>
                  </a:ext>
                </a:extLst>
              </a:tr>
              <a:tr h="401320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099235176"/>
                  </a:ext>
                </a:extLst>
              </a:tr>
            </a:tbl>
          </a:graphicData>
        </a:graphic>
      </p:graphicFrame>
      <p:pic>
        <p:nvPicPr>
          <p:cNvPr id="8" name="圖片 7">
            <a:extLst>
              <a:ext uri="{FF2B5EF4-FFF2-40B4-BE49-F238E27FC236}">
                <a16:creationId xmlns:a16="http://schemas.microsoft.com/office/drawing/2014/main" id="{B58D460A-6378-497E-9C70-84236AAF3B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738" y="1485857"/>
            <a:ext cx="3760717" cy="3312493"/>
          </a:xfrm>
          <a:prstGeom prst="rect">
            <a:avLst/>
          </a:prstGeom>
        </p:spPr>
      </p:pic>
      <p:pic>
        <p:nvPicPr>
          <p:cNvPr id="10" name="圖片 9">
            <a:extLst>
              <a:ext uri="{FF2B5EF4-FFF2-40B4-BE49-F238E27FC236}">
                <a16:creationId xmlns:a16="http://schemas.microsoft.com/office/drawing/2014/main" id="{EB64EA08-5191-4228-83EE-851D44340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4644" y="1511422"/>
            <a:ext cx="3682712" cy="3312493"/>
          </a:xfrm>
          <a:prstGeom prst="rect">
            <a:avLst/>
          </a:prstGeom>
        </p:spPr>
      </p:pic>
      <p:pic>
        <p:nvPicPr>
          <p:cNvPr id="12" name="圖片 11">
            <a:extLst>
              <a:ext uri="{FF2B5EF4-FFF2-40B4-BE49-F238E27FC236}">
                <a16:creationId xmlns:a16="http://schemas.microsoft.com/office/drawing/2014/main" id="{E14AD6CC-8300-4351-8CC5-7F189CA263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9545" y="1485856"/>
            <a:ext cx="3572077" cy="3312493"/>
          </a:xfrm>
          <a:prstGeom prst="rect">
            <a:avLst/>
          </a:prstGeom>
        </p:spPr>
      </p:pic>
    </p:spTree>
    <p:extLst>
      <p:ext uri="{BB962C8B-B14F-4D97-AF65-F5344CB8AC3E}">
        <p14:creationId xmlns:p14="http://schemas.microsoft.com/office/powerpoint/2010/main" val="1213623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110067" y="308956"/>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10067" y="4216774"/>
            <a:ext cx="11624733" cy="1709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left figure shows the orientation of the actuator coordinate system within the multipole electromagnetic actuator. All subsequent model calibration and analysis are conducted in this coordinate system. The right figure shows that the six magnetic pole tips, indicated by the red points, lie on a spherical surface. The radius of this spherical surface is determined by the design dimensions of the magnetic tweezer.</a:t>
            </a:r>
            <a:endParaRPr lang="zh-TW" altLang="en-US" dirty="0">
              <a:latin typeface="Times New Roman" panose="02020603050405020304" pitchFamily="18" charset="0"/>
              <a:cs typeface="Times New Roman" panose="02020603050405020304" pitchFamily="18" charset="0"/>
            </a:endParaRPr>
          </a:p>
        </p:txBody>
      </p:sp>
      <p:pic>
        <p:nvPicPr>
          <p:cNvPr id="18" name="圖片 17">
            <a:extLst>
              <a:ext uri="{FF2B5EF4-FFF2-40B4-BE49-F238E27FC236}">
                <a16:creationId xmlns:a16="http://schemas.microsoft.com/office/drawing/2014/main" id="{BE13E197-640B-4FA7-936E-204FA95B60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822" y="699640"/>
            <a:ext cx="3218311" cy="3330492"/>
          </a:xfrm>
          <a:prstGeom prst="rect">
            <a:avLst/>
          </a:prstGeom>
        </p:spPr>
      </p:pic>
      <p:pic>
        <p:nvPicPr>
          <p:cNvPr id="20" name="圖片 19">
            <a:extLst>
              <a:ext uri="{FF2B5EF4-FFF2-40B4-BE49-F238E27FC236}">
                <a16:creationId xmlns:a16="http://schemas.microsoft.com/office/drawing/2014/main" id="{2C9C4248-2112-4D60-936F-4389F251A8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8422" y="699639"/>
            <a:ext cx="3616245" cy="3330493"/>
          </a:xfrm>
          <a:prstGeom prst="rect">
            <a:avLst/>
          </a:prstGeom>
        </p:spPr>
      </p:pic>
    </p:spTree>
    <p:extLst>
      <p:ext uri="{BB962C8B-B14F-4D97-AF65-F5344CB8AC3E}">
        <p14:creationId xmlns:p14="http://schemas.microsoft.com/office/powerpoint/2010/main" val="2248627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39700" y="4718757"/>
            <a:ext cx="11802532" cy="170456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simulation conditions are an excitation current of 1 A and a 70-turn coil, and the results shown are obtained from Long’s model. The left figure presents a top view of the magnetic flux path through the entire structure when pole P2 is excited. The magnetic flux emerges from pole P2, enters the other poles, and then returns through the yoke. The right figure is an enlarged view of the central region in the left figure, allowing the magnetic flux path to be observed more clearly.</a:t>
            </a:r>
            <a:endParaRPr lang="zh-TW" altLang="en-US" dirty="0">
              <a:latin typeface="Times New Roman" panose="02020603050405020304" pitchFamily="18" charset="0"/>
              <a:cs typeface="Times New Roman" panose="02020603050405020304" pitchFamily="18" charset="0"/>
            </a:endParaRPr>
          </a:p>
        </p:txBody>
      </p:sp>
      <p:pic>
        <p:nvPicPr>
          <p:cNvPr id="16" name="圖片 15">
            <a:extLst>
              <a:ext uri="{FF2B5EF4-FFF2-40B4-BE49-F238E27FC236}">
                <a16:creationId xmlns:a16="http://schemas.microsoft.com/office/drawing/2014/main" id="{3BC73068-3866-4BC5-9A4B-AEE3E4E7AB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599" y="849789"/>
            <a:ext cx="4439899" cy="3691881"/>
          </a:xfrm>
          <a:prstGeom prst="rect">
            <a:avLst/>
          </a:prstGeom>
        </p:spPr>
      </p:pic>
      <p:pic>
        <p:nvPicPr>
          <p:cNvPr id="18" name="圖片 17">
            <a:extLst>
              <a:ext uri="{FF2B5EF4-FFF2-40B4-BE49-F238E27FC236}">
                <a16:creationId xmlns:a16="http://schemas.microsoft.com/office/drawing/2014/main" id="{AFEF6248-FE04-438C-8C01-5E1919D3C9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602" y="687521"/>
            <a:ext cx="4439900" cy="4016419"/>
          </a:xfrm>
          <a:prstGeom prst="rect">
            <a:avLst/>
          </a:prstGeom>
        </p:spPr>
      </p:pic>
      <p:sp>
        <p:nvSpPr>
          <p:cNvPr id="19" name="橢圓 18">
            <a:extLst>
              <a:ext uri="{FF2B5EF4-FFF2-40B4-BE49-F238E27FC236}">
                <a16:creationId xmlns:a16="http://schemas.microsoft.com/office/drawing/2014/main" id="{94653231-1639-438B-9B61-AB64E257E229}"/>
              </a:ext>
            </a:extLst>
          </p:cNvPr>
          <p:cNvSpPr/>
          <p:nvPr/>
        </p:nvSpPr>
        <p:spPr>
          <a:xfrm>
            <a:off x="2508019" y="2498277"/>
            <a:ext cx="245533" cy="23706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直線單箭頭接點 20">
            <a:extLst>
              <a:ext uri="{FF2B5EF4-FFF2-40B4-BE49-F238E27FC236}">
                <a16:creationId xmlns:a16="http://schemas.microsoft.com/office/drawing/2014/main" id="{08A88877-0507-47F5-85E0-18C21E92A97B}"/>
              </a:ext>
            </a:extLst>
          </p:cNvPr>
          <p:cNvCxnSpPr>
            <a:cxnSpLocks/>
            <a:stCxn id="19" idx="6"/>
          </p:cNvCxnSpPr>
          <p:nvPr/>
        </p:nvCxnSpPr>
        <p:spPr>
          <a:xfrm>
            <a:off x="2753552" y="2616810"/>
            <a:ext cx="400284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1604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 name="文字方塊 3">
            <a:extLst>
              <a:ext uri="{FF2B5EF4-FFF2-40B4-BE49-F238E27FC236}">
                <a16:creationId xmlns:a16="http://schemas.microsoft.com/office/drawing/2014/main" id="{7560EB76-638C-43CC-ABEA-EE55E408A666}"/>
              </a:ext>
            </a:extLst>
          </p:cNvPr>
          <p:cNvSpPr txBox="1"/>
          <p:nvPr/>
        </p:nvSpPr>
        <p:spPr>
          <a:xfrm>
            <a:off x="0" y="324377"/>
            <a:ext cx="6324600" cy="390684"/>
          </a:xfrm>
          <a:prstGeom prst="rect">
            <a:avLst/>
          </a:prstGeom>
          <a:noFill/>
        </p:spPr>
        <p:txBody>
          <a:bodyPr wrap="square" rtlCol="0">
            <a:spAutoFit/>
          </a:bodyPr>
          <a:lstStyle/>
          <a:p>
            <a:pPr marL="342900" lvl="0" indent="-342900">
              <a:lnSpc>
                <a:spcPct val="115000"/>
              </a:lnSpc>
              <a:spcAft>
                <a:spcPts val="800"/>
              </a:spcAft>
              <a:buFont typeface="+mj-lt"/>
              <a:buAutoNum type="alphaUcPeriod"/>
            </a:pPr>
            <a:r>
              <a:rPr lang="en-US" altLang="zh-TW" sz="18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Multiple-electromagnetic-pole actuation</a:t>
            </a:r>
            <a:endParaRPr lang="zh-TW" altLang="zh-TW" sz="1800" kern="100" dirty="0">
              <a:effectLst/>
              <a:latin typeface="Aptos"/>
              <a:ea typeface="新細明體" panose="02020500000000000000" pitchFamily="18" charset="-120"/>
              <a:cs typeface="Times New Roman" panose="02020603050405020304" pitchFamily="18" charset="0"/>
            </a:endParaRPr>
          </a:p>
        </p:txBody>
      </p:sp>
      <p:sp>
        <p:nvSpPr>
          <p:cNvPr id="13" name="文字方塊 12">
            <a:extLst>
              <a:ext uri="{FF2B5EF4-FFF2-40B4-BE49-F238E27FC236}">
                <a16:creationId xmlns:a16="http://schemas.microsoft.com/office/drawing/2014/main" id="{23DE0321-051F-4463-A62F-589D2C2C0E2D}"/>
              </a:ext>
            </a:extLst>
          </p:cNvPr>
          <p:cNvSpPr txBox="1"/>
          <p:nvPr/>
        </p:nvSpPr>
        <p:spPr>
          <a:xfrm>
            <a:off x="186267" y="4876086"/>
            <a:ext cx="6578599" cy="129439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Two 3D views of the central spherical region are also presented. These views clearly show that the magnetic flux emerges from pole P2 and is then received by the other magnetic poles.</a:t>
            </a:r>
            <a:endParaRPr lang="zh-TW" altLang="en-US" dirty="0">
              <a:latin typeface="Times New Roman" panose="02020603050405020304" pitchFamily="18" charset="0"/>
              <a:cs typeface="Times New Roman" panose="02020603050405020304" pitchFamily="18" charset="0"/>
            </a:endParaRPr>
          </a:p>
        </p:txBody>
      </p:sp>
      <p:pic>
        <p:nvPicPr>
          <p:cNvPr id="18" name="圖片 17">
            <a:extLst>
              <a:ext uri="{FF2B5EF4-FFF2-40B4-BE49-F238E27FC236}">
                <a16:creationId xmlns:a16="http://schemas.microsoft.com/office/drawing/2014/main" id="{AFEF6248-FE04-438C-8C01-5E1919D3C9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602" y="687521"/>
            <a:ext cx="4439900" cy="4016419"/>
          </a:xfrm>
          <a:prstGeom prst="rect">
            <a:avLst/>
          </a:prstGeom>
        </p:spPr>
      </p:pic>
      <p:sp>
        <p:nvSpPr>
          <p:cNvPr id="19" name="橢圓 18">
            <a:extLst>
              <a:ext uri="{FF2B5EF4-FFF2-40B4-BE49-F238E27FC236}">
                <a16:creationId xmlns:a16="http://schemas.microsoft.com/office/drawing/2014/main" id="{94653231-1639-438B-9B61-AB64E257E229}"/>
              </a:ext>
            </a:extLst>
          </p:cNvPr>
          <p:cNvSpPr/>
          <p:nvPr/>
        </p:nvSpPr>
        <p:spPr>
          <a:xfrm>
            <a:off x="2508019" y="2457804"/>
            <a:ext cx="245533" cy="28539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直線單箭頭接點 20">
            <a:extLst>
              <a:ext uri="{FF2B5EF4-FFF2-40B4-BE49-F238E27FC236}">
                <a16:creationId xmlns:a16="http://schemas.microsoft.com/office/drawing/2014/main" id="{08A88877-0507-47F5-85E0-18C21E92A97B}"/>
              </a:ext>
            </a:extLst>
          </p:cNvPr>
          <p:cNvCxnSpPr>
            <a:cxnSpLocks/>
            <a:stCxn id="19" idx="6"/>
            <a:endCxn id="9" idx="1"/>
          </p:cNvCxnSpPr>
          <p:nvPr/>
        </p:nvCxnSpPr>
        <p:spPr>
          <a:xfrm flipV="1">
            <a:off x="2753552" y="1977271"/>
            <a:ext cx="5096451" cy="6232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F5B885E1-47B0-4C19-8943-386D90BEDB62}"/>
              </a:ext>
            </a:extLst>
          </p:cNvPr>
          <p:cNvCxnSpPr>
            <a:cxnSpLocks/>
            <a:stCxn id="19" idx="5"/>
            <a:endCxn id="11" idx="1"/>
          </p:cNvCxnSpPr>
          <p:nvPr/>
        </p:nvCxnSpPr>
        <p:spPr>
          <a:xfrm>
            <a:off x="2717595" y="2701404"/>
            <a:ext cx="5132408" cy="253809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圖片 8">
            <a:extLst>
              <a:ext uri="{FF2B5EF4-FFF2-40B4-BE49-F238E27FC236}">
                <a16:creationId xmlns:a16="http://schemas.microsoft.com/office/drawing/2014/main" id="{CBD61BD6-2FED-4A9E-BC3A-36261BA2A2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0003" y="393665"/>
            <a:ext cx="3667956" cy="3167211"/>
          </a:xfrm>
          <a:prstGeom prst="rect">
            <a:avLst/>
          </a:prstGeom>
        </p:spPr>
      </p:pic>
      <p:pic>
        <p:nvPicPr>
          <p:cNvPr id="11" name="圖片 10">
            <a:extLst>
              <a:ext uri="{FF2B5EF4-FFF2-40B4-BE49-F238E27FC236}">
                <a16:creationId xmlns:a16="http://schemas.microsoft.com/office/drawing/2014/main" id="{DAD1FF7B-4890-43B0-A233-B021128D6C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50003" y="3706722"/>
            <a:ext cx="3667956" cy="3065551"/>
          </a:xfrm>
          <a:prstGeom prst="rect">
            <a:avLst/>
          </a:prstGeom>
        </p:spPr>
      </p:pic>
      <mc:AlternateContent xmlns:mc="http://schemas.openxmlformats.org/markup-compatibility/2006">
        <mc:Choice xmlns:a14="http://schemas.microsoft.com/office/drawing/2010/main" Requires="a14">
          <p:sp>
            <p:nvSpPr>
              <p:cNvPr id="23" name="Rectangle 1">
                <a:extLst>
                  <a:ext uri="{FF2B5EF4-FFF2-40B4-BE49-F238E27FC236}">
                    <a16:creationId xmlns:a16="http://schemas.microsoft.com/office/drawing/2014/main" id="{9CA23D94-4EC4-480E-AF2D-E660ED2734FF}"/>
                  </a:ext>
                </a:extLst>
              </p:cNvPr>
              <p:cNvSpPr>
                <a:spLocks noChangeArrowheads="1"/>
              </p:cNvSpPr>
              <p:nvPr/>
            </p:nvSpPr>
            <p:spPr bwMode="auto">
              <a:xfrm>
                <a:off x="5333601" y="1036705"/>
                <a:ext cx="2516402" cy="65255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TW" altLang="zh-TW" sz="1800" b="1" i="0" u="none" strike="noStrike" cap="none" normalizeH="0" baseline="0" dirty="0">
                    <a:ln>
                      <a:noFill/>
                    </a:ln>
                    <a:solidFill>
                      <a:schemeClr val="tx1"/>
                    </a:solidFill>
                    <a:effectLst/>
                    <a:latin typeface="Arial" panose="020B0604020202020204" pitchFamily="34" charset="0"/>
                  </a:rPr>
                  <a:t>Azimuth Angle</a:t>
                </a:r>
                <a:r>
                  <a:rPr kumimoji="0" lang="en-US" altLang="zh-TW" sz="1800" b="1" i="0" u="none" strike="noStrike" cap="none" normalizeH="0" baseline="0" dirty="0">
                    <a:ln>
                      <a:noFill/>
                    </a:ln>
                    <a:solidFill>
                      <a:schemeClr val="tx1"/>
                    </a:solidFill>
                    <a:effectLst/>
                    <a:latin typeface="Arial" panose="020B0604020202020204" pitchFamily="34" charset="0"/>
                  </a:rPr>
                  <a:t>:</a:t>
                </a:r>
                <a14:m>
                  <m:oMath xmlns:m="http://schemas.openxmlformats.org/officeDocument/2006/math">
                    <m:sSup>
                      <m:sSupPr>
                        <m:ctrlPr>
                          <a:rPr kumimoji="0" lang="en-US" altLang="zh-TW" sz="1800" b="1" i="1" u="none" strike="noStrike" cap="none" normalizeH="0" baseline="0" smtClean="0">
                            <a:ln>
                              <a:noFill/>
                            </a:ln>
                            <a:solidFill>
                              <a:schemeClr val="tx1"/>
                            </a:solidFill>
                            <a:effectLst/>
                            <a:latin typeface="Cambria Math" panose="02040503050406030204" pitchFamily="18" charset="0"/>
                          </a:rPr>
                        </m:ctrlPr>
                      </m:sSupPr>
                      <m:e>
                        <m:r>
                          <a:rPr kumimoji="0" lang="en-US" altLang="zh-TW" sz="1800" b="1" i="1" u="none" strike="noStrike" cap="none" normalizeH="0" baseline="0" smtClean="0">
                            <a:ln>
                              <a:noFill/>
                            </a:ln>
                            <a:solidFill>
                              <a:schemeClr val="tx1"/>
                            </a:solidFill>
                            <a:effectLst/>
                            <a:latin typeface="Cambria Math" panose="02040503050406030204" pitchFamily="18" charset="0"/>
                          </a:rPr>
                          <m:t>𝟐𝟓</m:t>
                        </m:r>
                      </m:e>
                      <m:sup>
                        <m:r>
                          <a:rPr kumimoji="0" lang="en-US" altLang="zh-TW" sz="1800" b="1"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m:t>
                        </m:r>
                      </m:sup>
                    </m:sSup>
                  </m:oMath>
                </a14:m>
                <a:endParaRPr kumimoji="0" lang="zh-TW" altLang="zh-TW"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mc:Choice>
        <mc:Fallback>
          <p:sp>
            <p:nvSpPr>
              <p:cNvPr id="23" name="Rectangle 1">
                <a:extLst>
                  <a:ext uri="{FF2B5EF4-FFF2-40B4-BE49-F238E27FC236}">
                    <a16:creationId xmlns:a16="http://schemas.microsoft.com/office/drawing/2014/main" id="{9CA23D94-4EC4-480E-AF2D-E660ED2734FF}"/>
                  </a:ext>
                </a:extLst>
              </p:cNvPr>
              <p:cNvSpPr>
                <a:spLocks noRot="1" noChangeAspect="1" noMove="1" noResize="1" noEditPoints="1" noAdjustHandles="1" noChangeArrowheads="1" noChangeShapeType="1" noTextEdit="1"/>
              </p:cNvSpPr>
              <p:nvPr/>
            </p:nvSpPr>
            <p:spPr bwMode="auto">
              <a:xfrm>
                <a:off x="5333601" y="1036705"/>
                <a:ext cx="2516402" cy="652551"/>
              </a:xfrm>
              <a:prstGeom prst="rect">
                <a:avLst/>
              </a:prstGeom>
              <a:blipFill>
                <a:blip r:embed="rId5"/>
                <a:stretch>
                  <a:fillRect l="-1695" t="-280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Rectangle 1">
                <a:extLst>
                  <a:ext uri="{FF2B5EF4-FFF2-40B4-BE49-F238E27FC236}">
                    <a16:creationId xmlns:a16="http://schemas.microsoft.com/office/drawing/2014/main" id="{EE974800-6E11-43D5-BD87-AD20EB4A9AEC}"/>
                  </a:ext>
                </a:extLst>
              </p:cNvPr>
              <p:cNvSpPr>
                <a:spLocks noChangeArrowheads="1"/>
              </p:cNvSpPr>
              <p:nvPr/>
            </p:nvSpPr>
            <p:spPr bwMode="auto">
              <a:xfrm>
                <a:off x="5638401" y="3801245"/>
                <a:ext cx="2879066" cy="65255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TW" altLang="zh-TW" sz="1800" b="1" i="0" u="none" strike="noStrike" cap="none" normalizeH="0" baseline="0" dirty="0">
                    <a:ln>
                      <a:noFill/>
                    </a:ln>
                    <a:solidFill>
                      <a:schemeClr val="tx1"/>
                    </a:solidFill>
                    <a:effectLst/>
                    <a:latin typeface="Arial" panose="020B0604020202020204" pitchFamily="34" charset="0"/>
                  </a:rPr>
                  <a:t>Azimuth Angle</a:t>
                </a:r>
                <a:r>
                  <a:rPr kumimoji="0" lang="en-US" altLang="zh-TW" sz="1800" b="1" i="0" u="none" strike="noStrike" cap="none" normalizeH="0" baseline="0" dirty="0">
                    <a:ln>
                      <a:noFill/>
                    </a:ln>
                    <a:solidFill>
                      <a:schemeClr val="tx1"/>
                    </a:solidFill>
                    <a:effectLst/>
                    <a:latin typeface="Arial" panose="020B0604020202020204" pitchFamily="34" charset="0"/>
                  </a:rPr>
                  <a:t>:</a:t>
                </a:r>
                <a14:m>
                  <m:oMath xmlns:m="http://schemas.openxmlformats.org/officeDocument/2006/math">
                    <m:sSup>
                      <m:sSupPr>
                        <m:ctrlPr>
                          <a:rPr kumimoji="0" lang="en-US" altLang="zh-TW" sz="1800" b="1" i="1" u="none" strike="noStrike" cap="none" normalizeH="0" baseline="0" smtClean="0">
                            <a:ln>
                              <a:noFill/>
                            </a:ln>
                            <a:solidFill>
                              <a:schemeClr val="tx1"/>
                            </a:solidFill>
                            <a:effectLst/>
                            <a:latin typeface="Cambria Math" panose="02040503050406030204" pitchFamily="18" charset="0"/>
                          </a:rPr>
                        </m:ctrlPr>
                      </m:sSupPr>
                      <m:e>
                        <m:r>
                          <a:rPr kumimoji="0" lang="en-US" altLang="zh-TW" sz="1800" b="1" i="1" u="none" strike="noStrike" cap="none" normalizeH="0" baseline="0" smtClean="0">
                            <a:ln>
                              <a:noFill/>
                            </a:ln>
                            <a:solidFill>
                              <a:schemeClr val="tx1"/>
                            </a:solidFill>
                            <a:effectLst/>
                            <a:latin typeface="Cambria Math" panose="02040503050406030204" pitchFamily="18" charset="0"/>
                          </a:rPr>
                          <m:t>𝟏𝟎𝟓</m:t>
                        </m:r>
                      </m:e>
                      <m:sup>
                        <m:r>
                          <a:rPr kumimoji="0" lang="en-US" altLang="zh-TW" sz="1800" b="1"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m:t>
                        </m:r>
                      </m:sup>
                    </m:sSup>
                  </m:oMath>
                </a14:m>
                <a:endParaRPr kumimoji="0" lang="zh-TW" altLang="zh-TW"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mc:Choice>
        <mc:Fallback>
          <p:sp>
            <p:nvSpPr>
              <p:cNvPr id="24" name="Rectangle 1">
                <a:extLst>
                  <a:ext uri="{FF2B5EF4-FFF2-40B4-BE49-F238E27FC236}">
                    <a16:creationId xmlns:a16="http://schemas.microsoft.com/office/drawing/2014/main" id="{EE974800-6E11-43D5-BD87-AD20EB4A9AEC}"/>
                  </a:ext>
                </a:extLst>
              </p:cNvPr>
              <p:cNvSpPr>
                <a:spLocks noRot="1" noChangeAspect="1" noMove="1" noResize="1" noEditPoints="1" noAdjustHandles="1" noChangeArrowheads="1" noChangeShapeType="1" noTextEdit="1"/>
              </p:cNvSpPr>
              <p:nvPr/>
            </p:nvSpPr>
            <p:spPr bwMode="auto">
              <a:xfrm>
                <a:off x="5638401" y="3801245"/>
                <a:ext cx="2879066" cy="652551"/>
              </a:xfrm>
              <a:prstGeom prst="rect">
                <a:avLst/>
              </a:prstGeom>
              <a:blipFill>
                <a:blip r:embed="rId6"/>
                <a:stretch>
                  <a:fillRect l="-1483" t="-280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Tree>
    <p:extLst>
      <p:ext uri="{BB962C8B-B14F-4D97-AF65-F5344CB8AC3E}">
        <p14:creationId xmlns:p14="http://schemas.microsoft.com/office/powerpoint/2010/main" val="346482155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1349</TotalTime>
  <Words>457</Words>
  <Application>Microsoft Office PowerPoint</Application>
  <PresentationFormat>寬螢幕</PresentationFormat>
  <Paragraphs>27</Paragraphs>
  <Slides>6</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6</vt:i4>
      </vt:variant>
    </vt:vector>
  </HeadingPairs>
  <TitlesOfParts>
    <vt:vector size="13" baseType="lpstr">
      <vt:lpstr>Aptos</vt:lpstr>
      <vt:lpstr>Arial</vt:lpstr>
      <vt:lpstr>Calibri</vt:lpstr>
      <vt:lpstr>Calibri Light</vt:lpstr>
      <vt:lpstr>Cambria Math</vt:lpstr>
      <vt:lpstr>Times New Roman</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24</cp:revision>
  <dcterms:created xsi:type="dcterms:W3CDTF">2026-07-23T11:39:15Z</dcterms:created>
  <dcterms:modified xsi:type="dcterms:W3CDTF">2026-07-24T10:08:36Z</dcterms:modified>
</cp:coreProperties>
</file>