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59" r:id="rId6"/>
    <p:sldId id="258" r:id="rId7"/>
    <p:sldId id="260" r:id="rId8"/>
    <p:sldId id="262" r:id="rId9"/>
    <p:sldId id="266" r:id="rId10"/>
    <p:sldId id="267" r:id="rId11"/>
    <p:sldId id="268" r:id="rId12"/>
    <p:sldId id="270" r:id="rId13"/>
    <p:sldId id="269" r:id="rId14"/>
    <p:sldId id="271" r:id="rId15"/>
    <p:sldId id="272" r:id="rId16"/>
    <p:sldId id="273" r:id="rId17"/>
    <p:sldId id="274" r:id="rId18"/>
    <p:sldId id="275"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2026/8/3</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2.xml"/><Relationship Id="rId11" Type="http://schemas.openxmlformats.org/officeDocument/2006/relationships/image" Target="../media/image46.png"/><Relationship Id="rId5" Type="http://schemas.openxmlformats.org/officeDocument/2006/relationships/image" Target="../media/image44.png"/><Relationship Id="rId10" Type="http://schemas.openxmlformats.org/officeDocument/2006/relationships/image" Target="../media/image45.png"/><Relationship Id="rId4" Type="http://schemas.openxmlformats.org/officeDocument/2006/relationships/image" Target="../media/image43.png"/><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image" Target="../media/image33.png"/><Relationship Id="rId1" Type="http://schemas.openxmlformats.org/officeDocument/2006/relationships/slideLayout" Target="../slideLayouts/slideLayout2.xml"/><Relationship Id="rId11" Type="http://schemas.openxmlformats.org/officeDocument/2006/relationships/image" Target="../media/image56.png"/><Relationship Id="rId5" Type="http://schemas.openxmlformats.org/officeDocument/2006/relationships/image" Target="../media/image54.png"/><Relationship Id="rId10" Type="http://schemas.openxmlformats.org/officeDocument/2006/relationships/image" Target="../media/image55.png"/><Relationship Id="rId4" Type="http://schemas.openxmlformats.org/officeDocument/2006/relationships/image" Target="../media/image53.png"/><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s>
</file>

<file path=ppt/slides/_rels/slide1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r>
              <a:rPr lang="en-US" altLang="zh-TW" sz="2800" b="1" kern="100" dirty="0">
                <a:solidFill>
                  <a:srgbClr val="000000"/>
                </a:solidFill>
                <a:latin typeface="Aptos"/>
                <a:ea typeface="新細明體" panose="02020500000000000000" pitchFamily="18" charset="-120"/>
                <a:cs typeface="Times New Roman" panose="02020603050405020304" pitchFamily="18" charset="0"/>
              </a:rPr>
              <a:t>KUO,CHIEN-CHI</a:t>
            </a:r>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61472"/>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6807200" y="519854"/>
            <a:ext cx="5422899" cy="3782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two figures present </a:t>
            </a:r>
            <a:r>
              <a:rPr lang="en-US" altLang="zh-TW" dirty="0" err="1">
                <a:latin typeface="Times New Roman" panose="02020603050405020304" pitchFamily="18" charset="0"/>
                <a:cs typeface="Times New Roman" panose="02020603050405020304" pitchFamily="18" charset="0"/>
              </a:rPr>
              <a:t>Longfei’s</a:t>
            </a:r>
            <a:r>
              <a:rPr lang="en-US" altLang="zh-TW" dirty="0">
                <a:latin typeface="Times New Roman" panose="02020603050405020304" pitchFamily="18" charset="0"/>
                <a:cs typeface="Times New Roman" panose="02020603050405020304" pitchFamily="18" charset="0"/>
              </a:rPr>
              <a:t> geometric model. View 1 labels the six magnetic poles individually, while View 2 provides a side view. From the side view, the coil wound around the magnetic core to generate the magnetic field, as well as the yoke structure, can be observed. The number of coil turns shown does not correspond to the actual number of turns; the purpose of the figure is to illustrate the coil location and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14" name="表格 14">
            <a:extLst>
              <a:ext uri="{FF2B5EF4-FFF2-40B4-BE49-F238E27FC236}">
                <a16:creationId xmlns:a16="http://schemas.microsoft.com/office/drawing/2014/main" id="{A439813F-80D3-4CEA-BF28-A84D48154D2A}"/>
              </a:ext>
            </a:extLst>
          </p:cNvPr>
          <p:cNvGraphicFramePr>
            <a:graphicFrameLocks noGrp="1"/>
          </p:cNvGraphicFramePr>
          <p:nvPr>
            <p:extLst>
              <p:ext uri="{D42A27DB-BD31-4B8C-83A1-F6EECF244321}">
                <p14:modId xmlns:p14="http://schemas.microsoft.com/office/powerpoint/2010/main" val="2763459830"/>
              </p:ext>
            </p:extLst>
          </p:nvPr>
        </p:nvGraphicFramePr>
        <p:xfrm>
          <a:off x="135467" y="752156"/>
          <a:ext cx="6671733" cy="5919578"/>
        </p:xfrm>
        <a:graphic>
          <a:graphicData uri="http://schemas.openxmlformats.org/drawingml/2006/table">
            <a:tbl>
              <a:tblPr firstRow="1" bandRow="1">
                <a:tableStyleId>{5940675A-B579-460E-94D1-54222C63F5DA}</a:tableStyleId>
              </a:tblPr>
              <a:tblGrid>
                <a:gridCol w="982133">
                  <a:extLst>
                    <a:ext uri="{9D8B030D-6E8A-4147-A177-3AD203B41FA5}">
                      <a16:colId xmlns:a16="http://schemas.microsoft.com/office/drawing/2014/main" val="2856634982"/>
                    </a:ext>
                  </a:extLst>
                </a:gridCol>
                <a:gridCol w="5689600">
                  <a:extLst>
                    <a:ext uri="{9D8B030D-6E8A-4147-A177-3AD203B41FA5}">
                      <a16:colId xmlns:a16="http://schemas.microsoft.com/office/drawing/2014/main" val="3478479201"/>
                    </a:ext>
                  </a:extLst>
                </a:gridCol>
              </a:tblGrid>
              <a:tr h="28924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Long</a:t>
                      </a:r>
                      <a:endParaRPr lang="zh-TW" altLang="en-US" dirty="0"/>
                    </a:p>
                  </a:txBody>
                  <a:tcPr/>
                </a:tc>
                <a:extLst>
                  <a:ext uri="{0D108BD9-81ED-4DB2-BD59-A6C34878D82A}">
                    <a16:rowId xmlns:a16="http://schemas.microsoft.com/office/drawing/2014/main" val="3335095961"/>
                  </a:ext>
                </a:extLst>
              </a:tr>
              <a:tr h="2776909">
                <a:tc>
                  <a:txBody>
                    <a:bodyPr/>
                    <a:lstStyle/>
                    <a:p>
                      <a:pPr algn="ctr"/>
                      <a:r>
                        <a:rPr lang="en-US" altLang="zh-TW" dirty="0"/>
                        <a:t>View1</a:t>
                      </a:r>
                      <a:endParaRPr lang="zh-TW" altLang="en-US" dirty="0"/>
                    </a:p>
                  </a:txBody>
                  <a:tcPr/>
                </a:tc>
                <a:tc>
                  <a:txBody>
                    <a:bodyPr/>
                    <a:lstStyle/>
                    <a:p>
                      <a:endParaRPr lang="zh-TW" altLang="en-US" dirty="0"/>
                    </a:p>
                  </a:txBody>
                  <a:tcPr/>
                </a:tc>
                <a:extLst>
                  <a:ext uri="{0D108BD9-81ED-4DB2-BD59-A6C34878D82A}">
                    <a16:rowId xmlns:a16="http://schemas.microsoft.com/office/drawing/2014/main" val="1391468359"/>
                  </a:ext>
                </a:extLst>
              </a:tr>
              <a:tr h="2776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View2</a:t>
                      </a:r>
                      <a:endParaRPr lang="zh-TW" altLang="en-US" dirty="0"/>
                    </a:p>
                    <a:p>
                      <a:endParaRPr lang="zh-TW" altLang="en-US" dirty="0"/>
                    </a:p>
                  </a:txBody>
                  <a:tcPr/>
                </a:tc>
                <a:tc>
                  <a:txBody>
                    <a:bodyPr/>
                    <a:lstStyle/>
                    <a:p>
                      <a:endParaRPr lang="zh-TW" altLang="en-US" dirty="0"/>
                    </a:p>
                  </a:txBody>
                  <a:tcPr/>
                </a:tc>
                <a:extLst>
                  <a:ext uri="{0D108BD9-81ED-4DB2-BD59-A6C34878D82A}">
                    <a16:rowId xmlns:a16="http://schemas.microsoft.com/office/drawing/2014/main" val="2032483848"/>
                  </a:ext>
                </a:extLst>
              </a:tr>
            </a:tbl>
          </a:graphicData>
        </a:graphic>
      </p:graphicFrame>
      <p:grpSp>
        <p:nvGrpSpPr>
          <p:cNvPr id="12" name="群組 11">
            <a:extLst>
              <a:ext uri="{FF2B5EF4-FFF2-40B4-BE49-F238E27FC236}">
                <a16:creationId xmlns:a16="http://schemas.microsoft.com/office/drawing/2014/main" id="{974A2546-AE88-4447-9BDD-8DC8ADC5F348}"/>
              </a:ext>
            </a:extLst>
          </p:cNvPr>
          <p:cNvGrpSpPr/>
          <p:nvPr/>
        </p:nvGrpSpPr>
        <p:grpSpPr>
          <a:xfrm>
            <a:off x="2099208" y="1027901"/>
            <a:ext cx="3728106" cy="2799032"/>
            <a:chOff x="3284420" y="1164713"/>
            <a:chExt cx="5702730" cy="4824907"/>
          </a:xfrm>
        </p:grpSpPr>
        <p:pic>
          <p:nvPicPr>
            <p:cNvPr id="15" name="圖片 14">
              <a:extLst>
                <a:ext uri="{FF2B5EF4-FFF2-40B4-BE49-F238E27FC236}">
                  <a16:creationId xmlns:a16="http://schemas.microsoft.com/office/drawing/2014/main" id="{CE5477B3-1600-46CC-B19D-270F3CBB1E66}"/>
                </a:ext>
              </a:extLst>
            </p:cNvPr>
            <p:cNvPicPr>
              <a:picLocks noChangeAspect="1"/>
            </p:cNvPicPr>
            <p:nvPr/>
          </p:nvPicPr>
          <p:blipFill rotWithShape="1">
            <a:blip r:embed="rId2">
              <a:extLst>
                <a:ext uri="{28A0092B-C50C-407E-A947-70E740481C1C}">
                  <a14:useLocalDpi xmlns:a14="http://schemas.microsoft.com/office/drawing/2010/main" val="0"/>
                </a:ext>
              </a:extLst>
            </a:blip>
            <a:srcRect l="26359" t="20047" r="19666" b="12831"/>
            <a:stretch/>
          </p:blipFill>
          <p:spPr>
            <a:xfrm>
              <a:off x="3412067" y="1337733"/>
              <a:ext cx="5367865" cy="4478867"/>
            </a:xfrm>
            <a:prstGeom prst="rect">
              <a:avLst/>
            </a:prstGeom>
          </p:spPr>
        </p:pic>
        <p:sp>
          <p:nvSpPr>
            <p:cNvPr id="16" name="文字方塊 15">
              <a:extLst>
                <a:ext uri="{FF2B5EF4-FFF2-40B4-BE49-F238E27FC236}">
                  <a16:creationId xmlns:a16="http://schemas.microsoft.com/office/drawing/2014/main" id="{91260544-10DB-4F6D-A6CF-5ABDAED6CB44}"/>
                </a:ext>
              </a:extLst>
            </p:cNvPr>
            <p:cNvSpPr txBox="1"/>
            <p:nvPr/>
          </p:nvSpPr>
          <p:spPr>
            <a:xfrm>
              <a:off x="7891781" y="2421083"/>
              <a:ext cx="1095369" cy="1047219"/>
            </a:xfrm>
            <a:prstGeom prst="rect">
              <a:avLst/>
            </a:prstGeom>
            <a:noFill/>
          </p:spPr>
          <p:txBody>
            <a:bodyPr wrap="square" rtlCol="0">
              <a:spAutoFit/>
            </a:bodyPr>
            <a:lstStyle/>
            <a:p>
              <a:r>
                <a:rPr lang="en-US" altLang="zh-TW" sz="3600" b="1" dirty="0">
                  <a:solidFill>
                    <a:srgbClr val="FF0000"/>
                  </a:solidFill>
                </a:rPr>
                <a:t>P1</a:t>
              </a:r>
              <a:endParaRPr lang="zh-TW" altLang="en-US" sz="3600" b="1" dirty="0">
                <a:solidFill>
                  <a:srgbClr val="FF0000"/>
                </a:solidFill>
              </a:endParaRPr>
            </a:p>
          </p:txBody>
        </p:sp>
        <p:sp>
          <p:nvSpPr>
            <p:cNvPr id="17" name="文字方塊 16">
              <a:extLst>
                <a:ext uri="{FF2B5EF4-FFF2-40B4-BE49-F238E27FC236}">
                  <a16:creationId xmlns:a16="http://schemas.microsoft.com/office/drawing/2014/main" id="{8FC69302-53C9-4923-B81F-DEBAFCB3120A}"/>
                </a:ext>
              </a:extLst>
            </p:cNvPr>
            <p:cNvSpPr txBox="1"/>
            <p:nvPr/>
          </p:nvSpPr>
          <p:spPr>
            <a:xfrm>
              <a:off x="3284420" y="2482987"/>
              <a:ext cx="1095369" cy="1047219"/>
            </a:xfrm>
            <a:prstGeom prst="rect">
              <a:avLst/>
            </a:prstGeom>
            <a:noFill/>
          </p:spPr>
          <p:txBody>
            <a:bodyPr wrap="square" rtlCol="0">
              <a:spAutoFit/>
            </a:bodyPr>
            <a:lstStyle/>
            <a:p>
              <a:r>
                <a:rPr lang="en-US" altLang="zh-TW" sz="3600" b="1" dirty="0">
                  <a:solidFill>
                    <a:srgbClr val="FF0000"/>
                  </a:solidFill>
                </a:rPr>
                <a:t>P2</a:t>
              </a:r>
              <a:endParaRPr lang="zh-TW" altLang="en-US" sz="3600" b="1" dirty="0">
                <a:solidFill>
                  <a:srgbClr val="FF0000"/>
                </a:solidFill>
              </a:endParaRPr>
            </a:p>
          </p:txBody>
        </p:sp>
        <p:sp>
          <p:nvSpPr>
            <p:cNvPr id="18" name="文字方塊 17">
              <a:extLst>
                <a:ext uri="{FF2B5EF4-FFF2-40B4-BE49-F238E27FC236}">
                  <a16:creationId xmlns:a16="http://schemas.microsoft.com/office/drawing/2014/main" id="{15609F3E-0179-4F81-8026-D4831988C4DB}"/>
                </a:ext>
              </a:extLst>
            </p:cNvPr>
            <p:cNvSpPr txBox="1"/>
            <p:nvPr/>
          </p:nvSpPr>
          <p:spPr>
            <a:xfrm>
              <a:off x="3832105" y="1164713"/>
              <a:ext cx="1095370" cy="1047219"/>
            </a:xfrm>
            <a:prstGeom prst="rect">
              <a:avLst/>
            </a:prstGeom>
            <a:noFill/>
          </p:spPr>
          <p:txBody>
            <a:bodyPr wrap="square" rtlCol="0">
              <a:spAutoFit/>
            </a:bodyPr>
            <a:lstStyle/>
            <a:p>
              <a:r>
                <a:rPr lang="en-US" altLang="zh-TW" sz="3600" b="1" dirty="0">
                  <a:solidFill>
                    <a:srgbClr val="FF0000"/>
                  </a:solidFill>
                </a:rPr>
                <a:t>P3</a:t>
              </a:r>
              <a:endParaRPr lang="zh-TW" altLang="en-US" sz="3600" b="1" dirty="0">
                <a:solidFill>
                  <a:srgbClr val="FF0000"/>
                </a:solidFill>
              </a:endParaRPr>
            </a:p>
          </p:txBody>
        </p:sp>
        <p:sp>
          <p:nvSpPr>
            <p:cNvPr id="19" name="文字方塊 18">
              <a:extLst>
                <a:ext uri="{FF2B5EF4-FFF2-40B4-BE49-F238E27FC236}">
                  <a16:creationId xmlns:a16="http://schemas.microsoft.com/office/drawing/2014/main" id="{C20779CF-CD64-468C-A91E-1610310CC891}"/>
                </a:ext>
              </a:extLst>
            </p:cNvPr>
            <p:cNvSpPr txBox="1"/>
            <p:nvPr/>
          </p:nvSpPr>
          <p:spPr>
            <a:xfrm>
              <a:off x="7076579" y="4942401"/>
              <a:ext cx="1081228" cy="1047219"/>
            </a:xfrm>
            <a:prstGeom prst="rect">
              <a:avLst/>
            </a:prstGeom>
            <a:noFill/>
          </p:spPr>
          <p:txBody>
            <a:bodyPr wrap="square" rtlCol="0">
              <a:spAutoFit/>
            </a:bodyPr>
            <a:lstStyle/>
            <a:p>
              <a:r>
                <a:rPr lang="en-US" altLang="zh-TW" sz="3600" b="1" dirty="0">
                  <a:solidFill>
                    <a:srgbClr val="FF0000"/>
                  </a:solidFill>
                </a:rPr>
                <a:t>P4</a:t>
              </a:r>
              <a:endParaRPr lang="zh-TW" altLang="en-US" sz="3600" b="1" dirty="0">
                <a:solidFill>
                  <a:srgbClr val="FF0000"/>
                </a:solidFill>
              </a:endParaRPr>
            </a:p>
          </p:txBody>
        </p:sp>
        <p:sp>
          <p:nvSpPr>
            <p:cNvPr id="21" name="文字方塊 20">
              <a:extLst>
                <a:ext uri="{FF2B5EF4-FFF2-40B4-BE49-F238E27FC236}">
                  <a16:creationId xmlns:a16="http://schemas.microsoft.com/office/drawing/2014/main" id="{B5E55FD4-EBC5-4C70-9840-9C6B97CB1C23}"/>
                </a:ext>
              </a:extLst>
            </p:cNvPr>
            <p:cNvSpPr txBox="1"/>
            <p:nvPr/>
          </p:nvSpPr>
          <p:spPr>
            <a:xfrm>
              <a:off x="3886601" y="4942399"/>
              <a:ext cx="1095369" cy="1047219"/>
            </a:xfrm>
            <a:prstGeom prst="rect">
              <a:avLst/>
            </a:prstGeom>
            <a:noFill/>
          </p:spPr>
          <p:txBody>
            <a:bodyPr wrap="square" rtlCol="0">
              <a:spAutoFit/>
            </a:bodyPr>
            <a:lstStyle/>
            <a:p>
              <a:r>
                <a:rPr lang="en-US" altLang="zh-TW" sz="3600" b="1" dirty="0">
                  <a:solidFill>
                    <a:srgbClr val="FF0000"/>
                  </a:solidFill>
                </a:rPr>
                <a:t>P6</a:t>
              </a:r>
              <a:endParaRPr lang="zh-TW" altLang="en-US" sz="3600" b="1" dirty="0">
                <a:solidFill>
                  <a:srgbClr val="FF0000"/>
                </a:solidFill>
              </a:endParaRPr>
            </a:p>
          </p:txBody>
        </p:sp>
        <p:sp>
          <p:nvSpPr>
            <p:cNvPr id="23" name="文字方塊 22">
              <a:extLst>
                <a:ext uri="{FF2B5EF4-FFF2-40B4-BE49-F238E27FC236}">
                  <a16:creationId xmlns:a16="http://schemas.microsoft.com/office/drawing/2014/main" id="{A4B8CB53-E257-40F7-AD76-6D76C6F12835}"/>
                </a:ext>
              </a:extLst>
            </p:cNvPr>
            <p:cNvSpPr txBox="1"/>
            <p:nvPr/>
          </p:nvSpPr>
          <p:spPr>
            <a:xfrm>
              <a:off x="7076580" y="1200843"/>
              <a:ext cx="1085289" cy="1047219"/>
            </a:xfrm>
            <a:prstGeom prst="rect">
              <a:avLst/>
            </a:prstGeom>
            <a:noFill/>
          </p:spPr>
          <p:txBody>
            <a:bodyPr wrap="square" rtlCol="0">
              <a:spAutoFit/>
            </a:bodyPr>
            <a:lstStyle/>
            <a:p>
              <a:r>
                <a:rPr lang="en-US" altLang="zh-TW" sz="3600" b="1" dirty="0">
                  <a:solidFill>
                    <a:srgbClr val="FF0000"/>
                  </a:solidFill>
                </a:rPr>
                <a:t>P5</a:t>
              </a:r>
              <a:endParaRPr lang="zh-TW" altLang="en-US" sz="3600" b="1" dirty="0">
                <a:solidFill>
                  <a:srgbClr val="FF0000"/>
                </a:solidFill>
              </a:endParaRPr>
            </a:p>
          </p:txBody>
        </p:sp>
      </p:grpSp>
      <p:grpSp>
        <p:nvGrpSpPr>
          <p:cNvPr id="25" name="群組 24">
            <a:extLst>
              <a:ext uri="{FF2B5EF4-FFF2-40B4-BE49-F238E27FC236}">
                <a16:creationId xmlns:a16="http://schemas.microsoft.com/office/drawing/2014/main" id="{232C87B5-AD68-44F9-A082-2A1E2139EE9E}"/>
              </a:ext>
            </a:extLst>
          </p:cNvPr>
          <p:cNvGrpSpPr/>
          <p:nvPr/>
        </p:nvGrpSpPr>
        <p:grpSpPr>
          <a:xfrm>
            <a:off x="1347481" y="4476805"/>
            <a:ext cx="5459719" cy="1625600"/>
            <a:chOff x="2614950" y="2353733"/>
            <a:chExt cx="7268253" cy="1625600"/>
          </a:xfrm>
        </p:grpSpPr>
        <p:pic>
          <p:nvPicPr>
            <p:cNvPr id="28" name="圖片 27">
              <a:extLst>
                <a:ext uri="{FF2B5EF4-FFF2-40B4-BE49-F238E27FC236}">
                  <a16:creationId xmlns:a16="http://schemas.microsoft.com/office/drawing/2014/main" id="{A07F6E79-2EB0-41AD-9E3B-66B4DDF5F8C5}"/>
                </a:ext>
              </a:extLst>
            </p:cNvPr>
            <p:cNvPicPr>
              <a:picLocks noChangeAspect="1"/>
            </p:cNvPicPr>
            <p:nvPr/>
          </p:nvPicPr>
          <p:blipFill rotWithShape="1">
            <a:blip r:embed="rId3">
              <a:extLst>
                <a:ext uri="{28A0092B-C50C-407E-A947-70E740481C1C}">
                  <a14:useLocalDpi xmlns:a14="http://schemas.microsoft.com/office/drawing/2010/main" val="0"/>
                </a:ext>
              </a:extLst>
            </a:blip>
            <a:srcRect l="8963" t="30205" r="1943" b="37030"/>
            <a:stretch/>
          </p:blipFill>
          <p:spPr>
            <a:xfrm>
              <a:off x="2641601" y="2353733"/>
              <a:ext cx="6984998" cy="1625600"/>
            </a:xfrm>
            <a:prstGeom prst="rect">
              <a:avLst/>
            </a:prstGeom>
          </p:spPr>
        </p:pic>
        <p:sp>
          <p:nvSpPr>
            <p:cNvPr id="29" name="文字方塊 28">
              <a:extLst>
                <a:ext uri="{FF2B5EF4-FFF2-40B4-BE49-F238E27FC236}">
                  <a16:creationId xmlns:a16="http://schemas.microsoft.com/office/drawing/2014/main" id="{A7E2FBC3-1C83-4309-B951-3FFF81ABAE96}"/>
                </a:ext>
              </a:extLst>
            </p:cNvPr>
            <p:cNvSpPr txBox="1"/>
            <p:nvPr/>
          </p:nvSpPr>
          <p:spPr>
            <a:xfrm>
              <a:off x="8438369" y="2894463"/>
              <a:ext cx="1444834" cy="646331"/>
            </a:xfrm>
            <a:prstGeom prst="rect">
              <a:avLst/>
            </a:prstGeom>
            <a:noFill/>
          </p:spPr>
          <p:txBody>
            <a:bodyPr wrap="square" rtlCol="0">
              <a:spAutoFit/>
            </a:bodyPr>
            <a:lstStyle/>
            <a:p>
              <a:r>
                <a:rPr lang="en-US" altLang="zh-TW" sz="3600" b="1" dirty="0">
                  <a:solidFill>
                    <a:srgbClr val="FF0000"/>
                  </a:solidFill>
                </a:rPr>
                <a:t>Yoke</a:t>
              </a:r>
              <a:endParaRPr lang="zh-TW" altLang="en-US" sz="3600" b="1" dirty="0">
                <a:solidFill>
                  <a:srgbClr val="FF0000"/>
                </a:solidFill>
              </a:endParaRPr>
            </a:p>
          </p:txBody>
        </p:sp>
        <p:sp>
          <p:nvSpPr>
            <p:cNvPr id="30" name="文字方塊 29">
              <a:extLst>
                <a:ext uri="{FF2B5EF4-FFF2-40B4-BE49-F238E27FC236}">
                  <a16:creationId xmlns:a16="http://schemas.microsoft.com/office/drawing/2014/main" id="{976A856C-9628-409F-9B94-45A33813DCAC}"/>
                </a:ext>
              </a:extLst>
            </p:cNvPr>
            <p:cNvSpPr txBox="1"/>
            <p:nvPr/>
          </p:nvSpPr>
          <p:spPr>
            <a:xfrm>
              <a:off x="2614950" y="2740796"/>
              <a:ext cx="1354665" cy="646331"/>
            </a:xfrm>
            <a:prstGeom prst="rect">
              <a:avLst/>
            </a:prstGeom>
            <a:noFill/>
          </p:spPr>
          <p:txBody>
            <a:bodyPr wrap="square" rtlCol="0">
              <a:spAutoFit/>
            </a:bodyPr>
            <a:lstStyle/>
            <a:p>
              <a:r>
                <a:rPr lang="en-US" altLang="zh-TW" sz="3600" b="1" dirty="0">
                  <a:solidFill>
                    <a:srgbClr val="FF0000"/>
                  </a:solidFill>
                </a:rPr>
                <a:t>Coil</a:t>
              </a:r>
              <a:endParaRPr lang="zh-TW" altLang="en-US" sz="3600" b="1" dirty="0">
                <a:solidFill>
                  <a:srgbClr val="FF0000"/>
                </a:solidFill>
              </a:endParaRPr>
            </a:p>
          </p:txBody>
        </p:sp>
        <p:cxnSp>
          <p:nvCxnSpPr>
            <p:cNvPr id="31" name="直線單箭頭接點 30">
              <a:extLst>
                <a:ext uri="{FF2B5EF4-FFF2-40B4-BE49-F238E27FC236}">
                  <a16:creationId xmlns:a16="http://schemas.microsoft.com/office/drawing/2014/main" id="{2A584F98-E2A7-4E72-9421-9EC32B73383B}"/>
                </a:ext>
              </a:extLst>
            </p:cNvPr>
            <p:cNvCxnSpPr>
              <a:cxnSpLocks/>
            </p:cNvCxnSpPr>
            <p:nvPr/>
          </p:nvCxnSpPr>
          <p:spPr>
            <a:xfrm flipH="1">
              <a:off x="8075694" y="3217629"/>
              <a:ext cx="48391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A90C8D92-315B-4149-87C6-ABE80691B115}"/>
                </a:ext>
              </a:extLst>
            </p:cNvPr>
            <p:cNvCxnSpPr>
              <a:cxnSpLocks/>
            </p:cNvCxnSpPr>
            <p:nvPr/>
          </p:nvCxnSpPr>
          <p:spPr>
            <a:xfrm>
              <a:off x="3726777" y="3063961"/>
              <a:ext cx="447290" cy="94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465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61472"/>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6811866" y="752156"/>
            <a:ext cx="5422899" cy="3782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two figures present Hung’s geometric model. View 1 labels the six magnetic poles individually, while View 2 provides a side view. From the side view, the coil wound around the magnetic core to generate the magnetic field, as well as the yoke structure, can be observed. The number of coil turns shown does not correspond to the actual number of turns; the purpose of the figure is to illustrate the coil location and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14" name="表格 14">
            <a:extLst>
              <a:ext uri="{FF2B5EF4-FFF2-40B4-BE49-F238E27FC236}">
                <a16:creationId xmlns:a16="http://schemas.microsoft.com/office/drawing/2014/main" id="{A439813F-80D3-4CEA-BF28-A84D48154D2A}"/>
              </a:ext>
            </a:extLst>
          </p:cNvPr>
          <p:cNvGraphicFramePr>
            <a:graphicFrameLocks noGrp="1"/>
          </p:cNvGraphicFramePr>
          <p:nvPr>
            <p:extLst>
              <p:ext uri="{D42A27DB-BD31-4B8C-83A1-F6EECF244321}">
                <p14:modId xmlns:p14="http://schemas.microsoft.com/office/powerpoint/2010/main" val="3423116943"/>
              </p:ext>
            </p:extLst>
          </p:nvPr>
        </p:nvGraphicFramePr>
        <p:xfrm>
          <a:off x="135467" y="752156"/>
          <a:ext cx="6671733" cy="5919578"/>
        </p:xfrm>
        <a:graphic>
          <a:graphicData uri="http://schemas.openxmlformats.org/drawingml/2006/table">
            <a:tbl>
              <a:tblPr firstRow="1" bandRow="1">
                <a:tableStyleId>{5940675A-B579-460E-94D1-54222C63F5DA}</a:tableStyleId>
              </a:tblPr>
              <a:tblGrid>
                <a:gridCol w="982133">
                  <a:extLst>
                    <a:ext uri="{9D8B030D-6E8A-4147-A177-3AD203B41FA5}">
                      <a16:colId xmlns:a16="http://schemas.microsoft.com/office/drawing/2014/main" val="2856634982"/>
                    </a:ext>
                  </a:extLst>
                </a:gridCol>
                <a:gridCol w="5689600">
                  <a:extLst>
                    <a:ext uri="{9D8B030D-6E8A-4147-A177-3AD203B41FA5}">
                      <a16:colId xmlns:a16="http://schemas.microsoft.com/office/drawing/2014/main" val="3478479201"/>
                    </a:ext>
                  </a:extLst>
                </a:gridCol>
              </a:tblGrid>
              <a:tr h="28924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Hung</a:t>
                      </a:r>
                      <a:endParaRPr lang="zh-TW" altLang="en-US" dirty="0"/>
                    </a:p>
                  </a:txBody>
                  <a:tcPr/>
                </a:tc>
                <a:extLst>
                  <a:ext uri="{0D108BD9-81ED-4DB2-BD59-A6C34878D82A}">
                    <a16:rowId xmlns:a16="http://schemas.microsoft.com/office/drawing/2014/main" val="3335095961"/>
                  </a:ext>
                </a:extLst>
              </a:tr>
              <a:tr h="2776909">
                <a:tc>
                  <a:txBody>
                    <a:bodyPr/>
                    <a:lstStyle/>
                    <a:p>
                      <a:pPr algn="ctr"/>
                      <a:r>
                        <a:rPr lang="en-US" altLang="zh-TW" dirty="0"/>
                        <a:t>View1</a:t>
                      </a:r>
                      <a:endParaRPr lang="zh-TW" altLang="en-US" dirty="0"/>
                    </a:p>
                  </a:txBody>
                  <a:tcPr/>
                </a:tc>
                <a:tc>
                  <a:txBody>
                    <a:bodyPr/>
                    <a:lstStyle/>
                    <a:p>
                      <a:endParaRPr lang="zh-TW" altLang="en-US" dirty="0"/>
                    </a:p>
                  </a:txBody>
                  <a:tcPr/>
                </a:tc>
                <a:extLst>
                  <a:ext uri="{0D108BD9-81ED-4DB2-BD59-A6C34878D82A}">
                    <a16:rowId xmlns:a16="http://schemas.microsoft.com/office/drawing/2014/main" val="1391468359"/>
                  </a:ext>
                </a:extLst>
              </a:tr>
              <a:tr h="2776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View2</a:t>
                      </a:r>
                      <a:endParaRPr lang="zh-TW" altLang="en-US" dirty="0"/>
                    </a:p>
                    <a:p>
                      <a:endParaRPr lang="zh-TW" altLang="en-US" dirty="0"/>
                    </a:p>
                  </a:txBody>
                  <a:tcPr/>
                </a:tc>
                <a:tc>
                  <a:txBody>
                    <a:bodyPr/>
                    <a:lstStyle/>
                    <a:p>
                      <a:endParaRPr lang="zh-TW" altLang="en-US" dirty="0"/>
                    </a:p>
                  </a:txBody>
                  <a:tcPr/>
                </a:tc>
                <a:extLst>
                  <a:ext uri="{0D108BD9-81ED-4DB2-BD59-A6C34878D82A}">
                    <a16:rowId xmlns:a16="http://schemas.microsoft.com/office/drawing/2014/main" val="2032483848"/>
                  </a:ext>
                </a:extLst>
              </a:tr>
            </a:tbl>
          </a:graphicData>
        </a:graphic>
      </p:graphicFrame>
      <p:grpSp>
        <p:nvGrpSpPr>
          <p:cNvPr id="20" name="群組 19">
            <a:extLst>
              <a:ext uri="{FF2B5EF4-FFF2-40B4-BE49-F238E27FC236}">
                <a16:creationId xmlns:a16="http://schemas.microsoft.com/office/drawing/2014/main" id="{FE44FF9F-C1AC-4E5D-AFC7-D0338169A283}"/>
              </a:ext>
            </a:extLst>
          </p:cNvPr>
          <p:cNvGrpSpPr/>
          <p:nvPr/>
        </p:nvGrpSpPr>
        <p:grpSpPr>
          <a:xfrm>
            <a:off x="2094225" y="1142840"/>
            <a:ext cx="3459910" cy="2753692"/>
            <a:chOff x="6547690" y="770406"/>
            <a:chExt cx="3481767" cy="2980088"/>
          </a:xfrm>
        </p:grpSpPr>
        <p:pic>
          <p:nvPicPr>
            <p:cNvPr id="22" name="圖片 21">
              <a:extLst>
                <a:ext uri="{FF2B5EF4-FFF2-40B4-BE49-F238E27FC236}">
                  <a16:creationId xmlns:a16="http://schemas.microsoft.com/office/drawing/2014/main" id="{BD1A84E3-6F15-4F8A-BC67-8303D4805D72}"/>
                </a:ext>
              </a:extLst>
            </p:cNvPr>
            <p:cNvPicPr>
              <a:picLocks noChangeAspect="1"/>
            </p:cNvPicPr>
            <p:nvPr/>
          </p:nvPicPr>
          <p:blipFill rotWithShape="1">
            <a:blip r:embed="rId2">
              <a:extLst>
                <a:ext uri="{28A0092B-C50C-407E-A947-70E740481C1C}">
                  <a14:useLocalDpi xmlns:a14="http://schemas.microsoft.com/office/drawing/2010/main" val="0"/>
                </a:ext>
              </a:extLst>
            </a:blip>
            <a:srcRect l="18382" t="18463" r="23374" b="9576"/>
            <a:stretch/>
          </p:blipFill>
          <p:spPr>
            <a:xfrm>
              <a:off x="6683633" y="889001"/>
              <a:ext cx="3247767" cy="2692400"/>
            </a:xfrm>
            <a:prstGeom prst="rect">
              <a:avLst/>
            </a:prstGeom>
          </p:spPr>
        </p:pic>
        <p:sp>
          <p:nvSpPr>
            <p:cNvPr id="24" name="文字方塊 23">
              <a:extLst>
                <a:ext uri="{FF2B5EF4-FFF2-40B4-BE49-F238E27FC236}">
                  <a16:creationId xmlns:a16="http://schemas.microsoft.com/office/drawing/2014/main" id="{73916E9A-F6EF-474B-A347-6EDCA24398E8}"/>
                </a:ext>
              </a:extLst>
            </p:cNvPr>
            <p:cNvSpPr txBox="1"/>
            <p:nvPr/>
          </p:nvSpPr>
          <p:spPr>
            <a:xfrm>
              <a:off x="9309772" y="1977766"/>
              <a:ext cx="719685" cy="699469"/>
            </a:xfrm>
            <a:prstGeom prst="rect">
              <a:avLst/>
            </a:prstGeom>
            <a:noFill/>
          </p:spPr>
          <p:txBody>
            <a:bodyPr wrap="square" rtlCol="0">
              <a:spAutoFit/>
            </a:bodyPr>
            <a:lstStyle/>
            <a:p>
              <a:r>
                <a:rPr lang="en-US" altLang="zh-TW" sz="3600" b="1" dirty="0">
                  <a:solidFill>
                    <a:srgbClr val="FF0000"/>
                  </a:solidFill>
                </a:rPr>
                <a:t>P1</a:t>
              </a:r>
              <a:endParaRPr lang="zh-TW" altLang="en-US" sz="3600" b="1" dirty="0">
                <a:solidFill>
                  <a:srgbClr val="FF0000"/>
                </a:solidFill>
              </a:endParaRPr>
            </a:p>
          </p:txBody>
        </p:sp>
        <p:sp>
          <p:nvSpPr>
            <p:cNvPr id="26" name="文字方塊 25">
              <a:extLst>
                <a:ext uri="{FF2B5EF4-FFF2-40B4-BE49-F238E27FC236}">
                  <a16:creationId xmlns:a16="http://schemas.microsoft.com/office/drawing/2014/main" id="{D7AFC562-5F9E-48DA-8B99-2A13B3B1AC15}"/>
                </a:ext>
              </a:extLst>
            </p:cNvPr>
            <p:cNvSpPr txBox="1"/>
            <p:nvPr/>
          </p:nvSpPr>
          <p:spPr>
            <a:xfrm>
              <a:off x="6547690" y="1957447"/>
              <a:ext cx="719685" cy="699469"/>
            </a:xfrm>
            <a:prstGeom prst="rect">
              <a:avLst/>
            </a:prstGeom>
            <a:noFill/>
          </p:spPr>
          <p:txBody>
            <a:bodyPr wrap="square" rtlCol="0">
              <a:spAutoFit/>
            </a:bodyPr>
            <a:lstStyle/>
            <a:p>
              <a:r>
                <a:rPr lang="en-US" altLang="zh-TW" sz="3600" b="1" dirty="0">
                  <a:solidFill>
                    <a:srgbClr val="FF0000"/>
                  </a:solidFill>
                </a:rPr>
                <a:t>P2</a:t>
              </a:r>
              <a:endParaRPr lang="zh-TW" altLang="en-US" sz="3600" b="1" dirty="0">
                <a:solidFill>
                  <a:srgbClr val="FF0000"/>
                </a:solidFill>
              </a:endParaRPr>
            </a:p>
          </p:txBody>
        </p:sp>
        <p:sp>
          <p:nvSpPr>
            <p:cNvPr id="27" name="文字方塊 26">
              <a:extLst>
                <a:ext uri="{FF2B5EF4-FFF2-40B4-BE49-F238E27FC236}">
                  <a16:creationId xmlns:a16="http://schemas.microsoft.com/office/drawing/2014/main" id="{E0445F24-D3D8-4F65-9BCC-72ADB3AF4F0D}"/>
                </a:ext>
              </a:extLst>
            </p:cNvPr>
            <p:cNvSpPr txBox="1"/>
            <p:nvPr/>
          </p:nvSpPr>
          <p:spPr>
            <a:xfrm>
              <a:off x="7098586" y="770407"/>
              <a:ext cx="719685" cy="699469"/>
            </a:xfrm>
            <a:prstGeom prst="rect">
              <a:avLst/>
            </a:prstGeom>
            <a:noFill/>
          </p:spPr>
          <p:txBody>
            <a:bodyPr wrap="square" rtlCol="0">
              <a:spAutoFit/>
            </a:bodyPr>
            <a:lstStyle/>
            <a:p>
              <a:r>
                <a:rPr lang="en-US" altLang="zh-TW" sz="3600" b="1" dirty="0">
                  <a:solidFill>
                    <a:srgbClr val="FF0000"/>
                  </a:solidFill>
                </a:rPr>
                <a:t>P3</a:t>
              </a:r>
              <a:endParaRPr lang="zh-TW" altLang="en-US" sz="3600" b="1" dirty="0">
                <a:solidFill>
                  <a:srgbClr val="FF0000"/>
                </a:solidFill>
              </a:endParaRPr>
            </a:p>
          </p:txBody>
        </p:sp>
        <p:sp>
          <p:nvSpPr>
            <p:cNvPr id="33" name="文字方塊 32">
              <a:extLst>
                <a:ext uri="{FF2B5EF4-FFF2-40B4-BE49-F238E27FC236}">
                  <a16:creationId xmlns:a16="http://schemas.microsoft.com/office/drawing/2014/main" id="{FEE793D3-B37A-4B98-8FB7-2BA1DB99EB3D}"/>
                </a:ext>
              </a:extLst>
            </p:cNvPr>
            <p:cNvSpPr txBox="1"/>
            <p:nvPr/>
          </p:nvSpPr>
          <p:spPr>
            <a:xfrm>
              <a:off x="8700061" y="3051025"/>
              <a:ext cx="719685" cy="699469"/>
            </a:xfrm>
            <a:prstGeom prst="rect">
              <a:avLst/>
            </a:prstGeom>
            <a:noFill/>
          </p:spPr>
          <p:txBody>
            <a:bodyPr wrap="square" rtlCol="0">
              <a:spAutoFit/>
            </a:bodyPr>
            <a:lstStyle/>
            <a:p>
              <a:r>
                <a:rPr lang="en-US" altLang="zh-TW" sz="3600" b="1" dirty="0">
                  <a:solidFill>
                    <a:srgbClr val="FF0000"/>
                  </a:solidFill>
                </a:rPr>
                <a:t>P4</a:t>
              </a:r>
              <a:endParaRPr lang="zh-TW" altLang="en-US" sz="3600" b="1" dirty="0">
                <a:solidFill>
                  <a:srgbClr val="FF0000"/>
                </a:solidFill>
              </a:endParaRPr>
            </a:p>
          </p:txBody>
        </p:sp>
        <p:sp>
          <p:nvSpPr>
            <p:cNvPr id="34" name="文字方塊 33">
              <a:extLst>
                <a:ext uri="{FF2B5EF4-FFF2-40B4-BE49-F238E27FC236}">
                  <a16:creationId xmlns:a16="http://schemas.microsoft.com/office/drawing/2014/main" id="{10571617-0C23-44E9-9B08-97B87A78BA74}"/>
                </a:ext>
              </a:extLst>
            </p:cNvPr>
            <p:cNvSpPr txBox="1"/>
            <p:nvPr/>
          </p:nvSpPr>
          <p:spPr>
            <a:xfrm>
              <a:off x="7098586" y="3051025"/>
              <a:ext cx="719685" cy="699469"/>
            </a:xfrm>
            <a:prstGeom prst="rect">
              <a:avLst/>
            </a:prstGeom>
            <a:noFill/>
          </p:spPr>
          <p:txBody>
            <a:bodyPr wrap="square" rtlCol="0">
              <a:spAutoFit/>
            </a:bodyPr>
            <a:lstStyle/>
            <a:p>
              <a:r>
                <a:rPr lang="en-US" altLang="zh-TW" sz="3600" b="1" dirty="0">
                  <a:solidFill>
                    <a:srgbClr val="FF0000"/>
                  </a:solidFill>
                </a:rPr>
                <a:t>P6</a:t>
              </a:r>
              <a:endParaRPr lang="zh-TW" altLang="en-US" sz="3600" b="1" dirty="0">
                <a:solidFill>
                  <a:srgbClr val="FF0000"/>
                </a:solidFill>
              </a:endParaRPr>
            </a:p>
          </p:txBody>
        </p:sp>
        <p:sp>
          <p:nvSpPr>
            <p:cNvPr id="35" name="文字方塊 34">
              <a:extLst>
                <a:ext uri="{FF2B5EF4-FFF2-40B4-BE49-F238E27FC236}">
                  <a16:creationId xmlns:a16="http://schemas.microsoft.com/office/drawing/2014/main" id="{36BFE527-0A61-412A-A682-9BD5D7F2AFD2}"/>
                </a:ext>
              </a:extLst>
            </p:cNvPr>
            <p:cNvSpPr txBox="1"/>
            <p:nvPr/>
          </p:nvSpPr>
          <p:spPr>
            <a:xfrm>
              <a:off x="8727448" y="770406"/>
              <a:ext cx="719685" cy="699469"/>
            </a:xfrm>
            <a:prstGeom prst="rect">
              <a:avLst/>
            </a:prstGeom>
            <a:noFill/>
          </p:spPr>
          <p:txBody>
            <a:bodyPr wrap="square" rtlCol="0">
              <a:spAutoFit/>
            </a:bodyPr>
            <a:lstStyle/>
            <a:p>
              <a:r>
                <a:rPr lang="en-US" altLang="zh-TW" sz="3600" b="1" dirty="0">
                  <a:solidFill>
                    <a:srgbClr val="FF0000"/>
                  </a:solidFill>
                </a:rPr>
                <a:t>P5</a:t>
              </a:r>
              <a:endParaRPr lang="zh-TW" altLang="en-US" sz="3600" b="1" dirty="0">
                <a:solidFill>
                  <a:srgbClr val="FF0000"/>
                </a:solidFill>
              </a:endParaRPr>
            </a:p>
          </p:txBody>
        </p:sp>
      </p:grpSp>
      <p:grpSp>
        <p:nvGrpSpPr>
          <p:cNvPr id="36" name="群組 35">
            <a:extLst>
              <a:ext uri="{FF2B5EF4-FFF2-40B4-BE49-F238E27FC236}">
                <a16:creationId xmlns:a16="http://schemas.microsoft.com/office/drawing/2014/main" id="{B9CBD2AA-4ACA-437D-9E20-3D4F20DCFBE6}"/>
              </a:ext>
            </a:extLst>
          </p:cNvPr>
          <p:cNvGrpSpPr/>
          <p:nvPr/>
        </p:nvGrpSpPr>
        <p:grpSpPr>
          <a:xfrm>
            <a:off x="1507117" y="4241925"/>
            <a:ext cx="5071485" cy="1574802"/>
            <a:chOff x="1303923" y="3361267"/>
            <a:chExt cx="5071485" cy="1574802"/>
          </a:xfrm>
        </p:grpSpPr>
        <p:pic>
          <p:nvPicPr>
            <p:cNvPr id="37" name="圖片 36">
              <a:extLst>
                <a:ext uri="{FF2B5EF4-FFF2-40B4-BE49-F238E27FC236}">
                  <a16:creationId xmlns:a16="http://schemas.microsoft.com/office/drawing/2014/main" id="{78E08CD6-D43E-4FD9-B1FC-6CB184855623}"/>
                </a:ext>
              </a:extLst>
            </p:cNvPr>
            <p:cNvPicPr>
              <a:picLocks noChangeAspect="1"/>
            </p:cNvPicPr>
            <p:nvPr/>
          </p:nvPicPr>
          <p:blipFill rotWithShape="1">
            <a:blip r:embed="rId3">
              <a:extLst>
                <a:ext uri="{28A0092B-C50C-407E-A947-70E740481C1C}">
                  <a14:useLocalDpi xmlns:a14="http://schemas.microsoft.com/office/drawing/2010/main" val="0"/>
                </a:ext>
              </a:extLst>
            </a:blip>
            <a:srcRect l="9711" t="32684" r="1086" b="27270"/>
            <a:stretch/>
          </p:blipFill>
          <p:spPr>
            <a:xfrm>
              <a:off x="1380067" y="3488267"/>
              <a:ext cx="4868334" cy="1447802"/>
            </a:xfrm>
            <a:prstGeom prst="rect">
              <a:avLst/>
            </a:prstGeom>
          </p:spPr>
        </p:pic>
        <p:sp>
          <p:nvSpPr>
            <p:cNvPr id="38" name="文字方塊 37">
              <a:extLst>
                <a:ext uri="{FF2B5EF4-FFF2-40B4-BE49-F238E27FC236}">
                  <a16:creationId xmlns:a16="http://schemas.microsoft.com/office/drawing/2014/main" id="{79B5A6B8-47D3-4208-891D-AA2E3F676001}"/>
                </a:ext>
              </a:extLst>
            </p:cNvPr>
            <p:cNvSpPr txBox="1"/>
            <p:nvPr/>
          </p:nvSpPr>
          <p:spPr>
            <a:xfrm>
              <a:off x="5291672" y="3361267"/>
              <a:ext cx="1083736" cy="646331"/>
            </a:xfrm>
            <a:prstGeom prst="rect">
              <a:avLst/>
            </a:prstGeom>
            <a:noFill/>
          </p:spPr>
          <p:txBody>
            <a:bodyPr wrap="square" rtlCol="0">
              <a:spAutoFit/>
            </a:bodyPr>
            <a:lstStyle/>
            <a:p>
              <a:r>
                <a:rPr lang="en-US" altLang="zh-TW" sz="3600" b="1" dirty="0">
                  <a:solidFill>
                    <a:srgbClr val="FF0000"/>
                  </a:solidFill>
                </a:rPr>
                <a:t>Yoke</a:t>
              </a:r>
              <a:endParaRPr lang="zh-TW" altLang="en-US" sz="3600" b="1" dirty="0">
                <a:solidFill>
                  <a:srgbClr val="FF0000"/>
                </a:solidFill>
              </a:endParaRPr>
            </a:p>
          </p:txBody>
        </p:sp>
        <p:cxnSp>
          <p:nvCxnSpPr>
            <p:cNvPr id="39" name="直線單箭頭接點 38">
              <a:extLst>
                <a:ext uri="{FF2B5EF4-FFF2-40B4-BE49-F238E27FC236}">
                  <a16:creationId xmlns:a16="http://schemas.microsoft.com/office/drawing/2014/main" id="{DCBB1CE3-5CF2-46C9-8855-480C75573B6E}"/>
                </a:ext>
              </a:extLst>
            </p:cNvPr>
            <p:cNvCxnSpPr>
              <a:cxnSpLocks/>
            </p:cNvCxnSpPr>
            <p:nvPr/>
          </p:nvCxnSpPr>
          <p:spPr>
            <a:xfrm flipH="1">
              <a:off x="5020734" y="3684433"/>
              <a:ext cx="39793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50359F0C-24AF-4C51-9611-2AF9B84B3BA0}"/>
                </a:ext>
              </a:extLst>
            </p:cNvPr>
            <p:cNvSpPr txBox="1"/>
            <p:nvPr/>
          </p:nvSpPr>
          <p:spPr>
            <a:xfrm>
              <a:off x="1303923" y="4249726"/>
              <a:ext cx="982083" cy="646331"/>
            </a:xfrm>
            <a:prstGeom prst="rect">
              <a:avLst/>
            </a:prstGeom>
            <a:noFill/>
          </p:spPr>
          <p:txBody>
            <a:bodyPr wrap="square" rtlCol="0">
              <a:spAutoFit/>
            </a:bodyPr>
            <a:lstStyle/>
            <a:p>
              <a:r>
                <a:rPr lang="en-US" altLang="zh-TW" sz="3600" b="1" dirty="0">
                  <a:solidFill>
                    <a:srgbClr val="FF0000"/>
                  </a:solidFill>
                </a:rPr>
                <a:t>Coil</a:t>
              </a:r>
              <a:endParaRPr lang="zh-TW" altLang="en-US" sz="3600" b="1" dirty="0">
                <a:solidFill>
                  <a:srgbClr val="FF0000"/>
                </a:solidFill>
              </a:endParaRPr>
            </a:p>
          </p:txBody>
        </p:sp>
        <p:cxnSp>
          <p:nvCxnSpPr>
            <p:cNvPr id="41" name="直線單箭頭接點 40">
              <a:extLst>
                <a:ext uri="{FF2B5EF4-FFF2-40B4-BE49-F238E27FC236}">
                  <a16:creationId xmlns:a16="http://schemas.microsoft.com/office/drawing/2014/main" id="{67AF4026-9DC4-4F05-9AFA-6DA4FC1B1E95}"/>
                </a:ext>
              </a:extLst>
            </p:cNvPr>
            <p:cNvCxnSpPr>
              <a:cxnSpLocks/>
            </p:cNvCxnSpPr>
            <p:nvPr/>
          </p:nvCxnSpPr>
          <p:spPr>
            <a:xfrm>
              <a:off x="2167473" y="4542116"/>
              <a:ext cx="43872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5613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61472"/>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6811866" y="752156"/>
            <a:ext cx="5422899" cy="3782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two figures present NTU’s geometric model. View 1 labels the six magnetic poles individually, while View 2 provides a side view. From the side view, the coil wound around the magnetic core to generate the magnetic field, as well as the yoke structure, can be observed. The number of coil turns shown does not correspond to the actual number of turns; the purpose of the figure is to illustrate the coil location and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14" name="表格 14">
            <a:extLst>
              <a:ext uri="{FF2B5EF4-FFF2-40B4-BE49-F238E27FC236}">
                <a16:creationId xmlns:a16="http://schemas.microsoft.com/office/drawing/2014/main" id="{A439813F-80D3-4CEA-BF28-A84D48154D2A}"/>
              </a:ext>
            </a:extLst>
          </p:cNvPr>
          <p:cNvGraphicFramePr>
            <a:graphicFrameLocks noGrp="1"/>
          </p:cNvGraphicFramePr>
          <p:nvPr>
            <p:extLst>
              <p:ext uri="{D42A27DB-BD31-4B8C-83A1-F6EECF244321}">
                <p14:modId xmlns:p14="http://schemas.microsoft.com/office/powerpoint/2010/main" val="3155598407"/>
              </p:ext>
            </p:extLst>
          </p:nvPr>
        </p:nvGraphicFramePr>
        <p:xfrm>
          <a:off x="135467" y="752156"/>
          <a:ext cx="6671733" cy="5919578"/>
        </p:xfrm>
        <a:graphic>
          <a:graphicData uri="http://schemas.openxmlformats.org/drawingml/2006/table">
            <a:tbl>
              <a:tblPr firstRow="1" bandRow="1">
                <a:tableStyleId>{5940675A-B579-460E-94D1-54222C63F5DA}</a:tableStyleId>
              </a:tblPr>
              <a:tblGrid>
                <a:gridCol w="982133">
                  <a:extLst>
                    <a:ext uri="{9D8B030D-6E8A-4147-A177-3AD203B41FA5}">
                      <a16:colId xmlns:a16="http://schemas.microsoft.com/office/drawing/2014/main" val="2856634982"/>
                    </a:ext>
                  </a:extLst>
                </a:gridCol>
                <a:gridCol w="5689600">
                  <a:extLst>
                    <a:ext uri="{9D8B030D-6E8A-4147-A177-3AD203B41FA5}">
                      <a16:colId xmlns:a16="http://schemas.microsoft.com/office/drawing/2014/main" val="3478479201"/>
                    </a:ext>
                  </a:extLst>
                </a:gridCol>
              </a:tblGrid>
              <a:tr h="28924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NTU</a:t>
                      </a:r>
                      <a:endParaRPr lang="zh-TW" altLang="en-US" dirty="0"/>
                    </a:p>
                  </a:txBody>
                  <a:tcPr/>
                </a:tc>
                <a:extLst>
                  <a:ext uri="{0D108BD9-81ED-4DB2-BD59-A6C34878D82A}">
                    <a16:rowId xmlns:a16="http://schemas.microsoft.com/office/drawing/2014/main" val="3335095961"/>
                  </a:ext>
                </a:extLst>
              </a:tr>
              <a:tr h="2776909">
                <a:tc>
                  <a:txBody>
                    <a:bodyPr/>
                    <a:lstStyle/>
                    <a:p>
                      <a:pPr algn="ctr"/>
                      <a:r>
                        <a:rPr lang="en-US" altLang="zh-TW" dirty="0"/>
                        <a:t>View1</a:t>
                      </a:r>
                      <a:endParaRPr lang="zh-TW" altLang="en-US" dirty="0"/>
                    </a:p>
                  </a:txBody>
                  <a:tcPr/>
                </a:tc>
                <a:tc>
                  <a:txBody>
                    <a:bodyPr/>
                    <a:lstStyle/>
                    <a:p>
                      <a:endParaRPr lang="zh-TW" altLang="en-US" dirty="0"/>
                    </a:p>
                  </a:txBody>
                  <a:tcPr/>
                </a:tc>
                <a:extLst>
                  <a:ext uri="{0D108BD9-81ED-4DB2-BD59-A6C34878D82A}">
                    <a16:rowId xmlns:a16="http://schemas.microsoft.com/office/drawing/2014/main" val="1391468359"/>
                  </a:ext>
                </a:extLst>
              </a:tr>
              <a:tr h="2776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View2</a:t>
                      </a:r>
                      <a:endParaRPr lang="zh-TW" altLang="en-US" dirty="0"/>
                    </a:p>
                    <a:p>
                      <a:endParaRPr lang="zh-TW" altLang="en-US" dirty="0"/>
                    </a:p>
                  </a:txBody>
                  <a:tcPr/>
                </a:tc>
                <a:tc>
                  <a:txBody>
                    <a:bodyPr/>
                    <a:lstStyle/>
                    <a:p>
                      <a:endParaRPr lang="zh-TW" altLang="en-US" dirty="0"/>
                    </a:p>
                  </a:txBody>
                  <a:tcPr/>
                </a:tc>
                <a:extLst>
                  <a:ext uri="{0D108BD9-81ED-4DB2-BD59-A6C34878D82A}">
                    <a16:rowId xmlns:a16="http://schemas.microsoft.com/office/drawing/2014/main" val="2032483848"/>
                  </a:ext>
                </a:extLst>
              </a:tr>
            </a:tbl>
          </a:graphicData>
        </a:graphic>
      </p:graphicFrame>
      <p:grpSp>
        <p:nvGrpSpPr>
          <p:cNvPr id="25" name="群組 24">
            <a:extLst>
              <a:ext uri="{FF2B5EF4-FFF2-40B4-BE49-F238E27FC236}">
                <a16:creationId xmlns:a16="http://schemas.microsoft.com/office/drawing/2014/main" id="{68E5F829-7B7F-4E25-BCAE-09E35963EE10}"/>
              </a:ext>
            </a:extLst>
          </p:cNvPr>
          <p:cNvGrpSpPr/>
          <p:nvPr/>
        </p:nvGrpSpPr>
        <p:grpSpPr>
          <a:xfrm>
            <a:off x="1998997" y="1011920"/>
            <a:ext cx="3689891" cy="2901176"/>
            <a:chOff x="6679264" y="515513"/>
            <a:chExt cx="3591835" cy="3262293"/>
          </a:xfrm>
        </p:grpSpPr>
        <p:pic>
          <p:nvPicPr>
            <p:cNvPr id="28" name="圖片 27">
              <a:extLst>
                <a:ext uri="{FF2B5EF4-FFF2-40B4-BE49-F238E27FC236}">
                  <a16:creationId xmlns:a16="http://schemas.microsoft.com/office/drawing/2014/main" id="{9441CE20-D1AB-4121-909E-26E439362A7E}"/>
                </a:ext>
              </a:extLst>
            </p:cNvPr>
            <p:cNvPicPr>
              <a:picLocks noChangeAspect="1"/>
            </p:cNvPicPr>
            <p:nvPr/>
          </p:nvPicPr>
          <p:blipFill rotWithShape="1">
            <a:blip r:embed="rId2">
              <a:extLst>
                <a:ext uri="{28A0092B-C50C-407E-A947-70E740481C1C}">
                  <a14:useLocalDpi xmlns:a14="http://schemas.microsoft.com/office/drawing/2010/main" val="0"/>
                </a:ext>
              </a:extLst>
            </a:blip>
            <a:srcRect l="22576" t="9086" r="14762" b="10493"/>
            <a:stretch/>
          </p:blipFill>
          <p:spPr>
            <a:xfrm>
              <a:off x="6815208" y="694267"/>
              <a:ext cx="3353259" cy="2900622"/>
            </a:xfrm>
            <a:prstGeom prst="rect">
              <a:avLst/>
            </a:prstGeom>
          </p:spPr>
        </p:pic>
        <p:sp>
          <p:nvSpPr>
            <p:cNvPr id="29" name="文字方塊 28">
              <a:extLst>
                <a:ext uri="{FF2B5EF4-FFF2-40B4-BE49-F238E27FC236}">
                  <a16:creationId xmlns:a16="http://schemas.microsoft.com/office/drawing/2014/main" id="{850E822A-4B3B-49E0-8FD6-B43F2641AC2E}"/>
                </a:ext>
              </a:extLst>
            </p:cNvPr>
            <p:cNvSpPr txBox="1"/>
            <p:nvPr/>
          </p:nvSpPr>
          <p:spPr>
            <a:xfrm>
              <a:off x="9551414" y="1862521"/>
              <a:ext cx="719685" cy="726782"/>
            </a:xfrm>
            <a:prstGeom prst="rect">
              <a:avLst/>
            </a:prstGeom>
            <a:noFill/>
          </p:spPr>
          <p:txBody>
            <a:bodyPr wrap="square" rtlCol="0">
              <a:spAutoFit/>
            </a:bodyPr>
            <a:lstStyle/>
            <a:p>
              <a:r>
                <a:rPr lang="en-US" altLang="zh-TW" sz="3600" b="1" dirty="0">
                  <a:solidFill>
                    <a:srgbClr val="FF0000"/>
                  </a:solidFill>
                </a:rPr>
                <a:t>P1</a:t>
              </a:r>
              <a:endParaRPr lang="zh-TW" altLang="en-US" sz="3600" b="1" dirty="0">
                <a:solidFill>
                  <a:srgbClr val="FF0000"/>
                </a:solidFill>
              </a:endParaRPr>
            </a:p>
          </p:txBody>
        </p:sp>
        <p:sp>
          <p:nvSpPr>
            <p:cNvPr id="30" name="文字方塊 29">
              <a:extLst>
                <a:ext uri="{FF2B5EF4-FFF2-40B4-BE49-F238E27FC236}">
                  <a16:creationId xmlns:a16="http://schemas.microsoft.com/office/drawing/2014/main" id="{FCC0FE6A-B6AF-417A-BCAC-C9257C544E04}"/>
                </a:ext>
              </a:extLst>
            </p:cNvPr>
            <p:cNvSpPr txBox="1"/>
            <p:nvPr/>
          </p:nvSpPr>
          <p:spPr>
            <a:xfrm>
              <a:off x="6679264" y="1845442"/>
              <a:ext cx="719685" cy="726781"/>
            </a:xfrm>
            <a:prstGeom prst="rect">
              <a:avLst/>
            </a:prstGeom>
            <a:noFill/>
          </p:spPr>
          <p:txBody>
            <a:bodyPr wrap="square" rtlCol="0">
              <a:spAutoFit/>
            </a:bodyPr>
            <a:lstStyle/>
            <a:p>
              <a:r>
                <a:rPr lang="en-US" altLang="zh-TW" sz="3600" b="1" dirty="0">
                  <a:solidFill>
                    <a:srgbClr val="FF0000"/>
                  </a:solidFill>
                </a:rPr>
                <a:t>P2</a:t>
              </a:r>
              <a:endParaRPr lang="zh-TW" altLang="en-US" sz="3600" b="1" dirty="0">
                <a:solidFill>
                  <a:srgbClr val="FF0000"/>
                </a:solidFill>
              </a:endParaRPr>
            </a:p>
          </p:txBody>
        </p:sp>
        <p:sp>
          <p:nvSpPr>
            <p:cNvPr id="31" name="文字方塊 30">
              <a:extLst>
                <a:ext uri="{FF2B5EF4-FFF2-40B4-BE49-F238E27FC236}">
                  <a16:creationId xmlns:a16="http://schemas.microsoft.com/office/drawing/2014/main" id="{75BFC515-DF32-416E-BB20-743CEA86E568}"/>
                </a:ext>
              </a:extLst>
            </p:cNvPr>
            <p:cNvSpPr txBox="1"/>
            <p:nvPr/>
          </p:nvSpPr>
          <p:spPr>
            <a:xfrm>
              <a:off x="7772152" y="515513"/>
              <a:ext cx="719685" cy="726781"/>
            </a:xfrm>
            <a:prstGeom prst="rect">
              <a:avLst/>
            </a:prstGeom>
            <a:noFill/>
          </p:spPr>
          <p:txBody>
            <a:bodyPr wrap="square" rtlCol="0">
              <a:spAutoFit/>
            </a:bodyPr>
            <a:lstStyle/>
            <a:p>
              <a:r>
                <a:rPr lang="en-US" altLang="zh-TW" sz="3600" b="1" dirty="0">
                  <a:solidFill>
                    <a:srgbClr val="FF0000"/>
                  </a:solidFill>
                </a:rPr>
                <a:t>P3</a:t>
              </a:r>
              <a:endParaRPr lang="zh-TW" altLang="en-US" sz="3600" b="1" dirty="0">
                <a:solidFill>
                  <a:srgbClr val="FF0000"/>
                </a:solidFill>
              </a:endParaRPr>
            </a:p>
          </p:txBody>
        </p:sp>
        <p:sp>
          <p:nvSpPr>
            <p:cNvPr id="32" name="文字方塊 31">
              <a:extLst>
                <a:ext uri="{FF2B5EF4-FFF2-40B4-BE49-F238E27FC236}">
                  <a16:creationId xmlns:a16="http://schemas.microsoft.com/office/drawing/2014/main" id="{82EF8075-8965-426F-BB4E-83A59DD5FCD8}"/>
                </a:ext>
              </a:extLst>
            </p:cNvPr>
            <p:cNvSpPr txBox="1"/>
            <p:nvPr/>
          </p:nvSpPr>
          <p:spPr>
            <a:xfrm>
              <a:off x="8749942" y="3051025"/>
              <a:ext cx="719685" cy="726781"/>
            </a:xfrm>
            <a:prstGeom prst="rect">
              <a:avLst/>
            </a:prstGeom>
            <a:noFill/>
          </p:spPr>
          <p:txBody>
            <a:bodyPr wrap="square" rtlCol="0">
              <a:spAutoFit/>
            </a:bodyPr>
            <a:lstStyle/>
            <a:p>
              <a:r>
                <a:rPr lang="en-US" altLang="zh-TW" sz="3600" b="1" dirty="0">
                  <a:solidFill>
                    <a:srgbClr val="FF0000"/>
                  </a:solidFill>
                </a:rPr>
                <a:t>P4</a:t>
              </a:r>
              <a:endParaRPr lang="zh-TW" altLang="en-US" sz="3600" b="1" dirty="0">
                <a:solidFill>
                  <a:srgbClr val="FF0000"/>
                </a:solidFill>
              </a:endParaRPr>
            </a:p>
          </p:txBody>
        </p:sp>
        <p:sp>
          <p:nvSpPr>
            <p:cNvPr id="43" name="文字方塊 42">
              <a:extLst>
                <a:ext uri="{FF2B5EF4-FFF2-40B4-BE49-F238E27FC236}">
                  <a16:creationId xmlns:a16="http://schemas.microsoft.com/office/drawing/2014/main" id="{17A0DA30-B257-488F-AB93-3D6574B3422F}"/>
                </a:ext>
              </a:extLst>
            </p:cNvPr>
            <p:cNvSpPr txBox="1"/>
            <p:nvPr/>
          </p:nvSpPr>
          <p:spPr>
            <a:xfrm>
              <a:off x="7563019" y="3033817"/>
              <a:ext cx="719685" cy="726781"/>
            </a:xfrm>
            <a:prstGeom prst="rect">
              <a:avLst/>
            </a:prstGeom>
            <a:noFill/>
          </p:spPr>
          <p:txBody>
            <a:bodyPr wrap="square" rtlCol="0">
              <a:spAutoFit/>
            </a:bodyPr>
            <a:lstStyle/>
            <a:p>
              <a:r>
                <a:rPr lang="en-US" altLang="zh-TW" sz="3600" b="1" dirty="0">
                  <a:solidFill>
                    <a:srgbClr val="FF0000"/>
                  </a:solidFill>
                </a:rPr>
                <a:t>P6</a:t>
              </a:r>
              <a:endParaRPr lang="zh-TW" altLang="en-US" sz="3600" b="1" dirty="0">
                <a:solidFill>
                  <a:srgbClr val="FF0000"/>
                </a:solidFill>
              </a:endParaRPr>
            </a:p>
          </p:txBody>
        </p:sp>
        <p:sp>
          <p:nvSpPr>
            <p:cNvPr id="48" name="文字方塊 47">
              <a:extLst>
                <a:ext uri="{FF2B5EF4-FFF2-40B4-BE49-F238E27FC236}">
                  <a16:creationId xmlns:a16="http://schemas.microsoft.com/office/drawing/2014/main" id="{B5035232-5161-4591-9260-AF1380E8CE14}"/>
                </a:ext>
              </a:extLst>
            </p:cNvPr>
            <p:cNvSpPr txBox="1"/>
            <p:nvPr/>
          </p:nvSpPr>
          <p:spPr>
            <a:xfrm>
              <a:off x="8749943" y="533483"/>
              <a:ext cx="719685" cy="726781"/>
            </a:xfrm>
            <a:prstGeom prst="rect">
              <a:avLst/>
            </a:prstGeom>
            <a:noFill/>
          </p:spPr>
          <p:txBody>
            <a:bodyPr wrap="square" rtlCol="0">
              <a:spAutoFit/>
            </a:bodyPr>
            <a:lstStyle/>
            <a:p>
              <a:r>
                <a:rPr lang="en-US" altLang="zh-TW" sz="3600" b="1" dirty="0">
                  <a:solidFill>
                    <a:srgbClr val="FF0000"/>
                  </a:solidFill>
                </a:rPr>
                <a:t>P5</a:t>
              </a:r>
              <a:endParaRPr lang="zh-TW" altLang="en-US" sz="3600" b="1" dirty="0">
                <a:solidFill>
                  <a:srgbClr val="FF0000"/>
                </a:solidFill>
              </a:endParaRPr>
            </a:p>
          </p:txBody>
        </p:sp>
      </p:grpSp>
      <p:grpSp>
        <p:nvGrpSpPr>
          <p:cNvPr id="49" name="群組 48">
            <a:extLst>
              <a:ext uri="{FF2B5EF4-FFF2-40B4-BE49-F238E27FC236}">
                <a16:creationId xmlns:a16="http://schemas.microsoft.com/office/drawing/2014/main" id="{ED95612B-3004-4CF1-B51F-50DA34F08133}"/>
              </a:ext>
            </a:extLst>
          </p:cNvPr>
          <p:cNvGrpSpPr/>
          <p:nvPr/>
        </p:nvGrpSpPr>
        <p:grpSpPr>
          <a:xfrm>
            <a:off x="1659901" y="4443224"/>
            <a:ext cx="4381065" cy="1161709"/>
            <a:chOff x="5370698" y="4209786"/>
            <a:chExt cx="4381065" cy="1014147"/>
          </a:xfrm>
        </p:grpSpPr>
        <p:pic>
          <p:nvPicPr>
            <p:cNvPr id="50" name="圖片 49">
              <a:extLst>
                <a:ext uri="{FF2B5EF4-FFF2-40B4-BE49-F238E27FC236}">
                  <a16:creationId xmlns:a16="http://schemas.microsoft.com/office/drawing/2014/main" id="{4D27C2E2-4CC1-4EF9-ACD6-D114C1A15D09}"/>
                </a:ext>
              </a:extLst>
            </p:cNvPr>
            <p:cNvPicPr>
              <a:picLocks noChangeAspect="1"/>
            </p:cNvPicPr>
            <p:nvPr/>
          </p:nvPicPr>
          <p:blipFill rotWithShape="1">
            <a:blip r:embed="rId3">
              <a:extLst>
                <a:ext uri="{28A0092B-C50C-407E-A947-70E740481C1C}">
                  <a14:useLocalDpi xmlns:a14="http://schemas.microsoft.com/office/drawing/2010/main" val="0"/>
                </a:ext>
              </a:extLst>
            </a:blip>
            <a:srcRect l="6476" t="26759" r="-3409" b="39187"/>
            <a:stretch/>
          </p:blipFill>
          <p:spPr>
            <a:xfrm>
              <a:off x="5468754" y="4209786"/>
              <a:ext cx="4283009" cy="1014147"/>
            </a:xfrm>
            <a:prstGeom prst="rect">
              <a:avLst/>
            </a:prstGeom>
          </p:spPr>
        </p:pic>
        <p:sp>
          <p:nvSpPr>
            <p:cNvPr id="51" name="文字方塊 50">
              <a:extLst>
                <a:ext uri="{FF2B5EF4-FFF2-40B4-BE49-F238E27FC236}">
                  <a16:creationId xmlns:a16="http://schemas.microsoft.com/office/drawing/2014/main" id="{4368A6F5-7805-4A9D-9C91-59A8CDC065BD}"/>
                </a:ext>
              </a:extLst>
            </p:cNvPr>
            <p:cNvSpPr txBox="1"/>
            <p:nvPr/>
          </p:nvSpPr>
          <p:spPr>
            <a:xfrm>
              <a:off x="8657057" y="4242337"/>
              <a:ext cx="1083736" cy="646331"/>
            </a:xfrm>
            <a:prstGeom prst="rect">
              <a:avLst/>
            </a:prstGeom>
            <a:noFill/>
          </p:spPr>
          <p:txBody>
            <a:bodyPr wrap="square" rtlCol="0">
              <a:spAutoFit/>
            </a:bodyPr>
            <a:lstStyle/>
            <a:p>
              <a:r>
                <a:rPr lang="en-US" altLang="zh-TW" sz="3600" b="1" dirty="0">
                  <a:solidFill>
                    <a:srgbClr val="FF0000"/>
                  </a:solidFill>
                </a:rPr>
                <a:t>Yoke</a:t>
              </a:r>
              <a:endParaRPr lang="zh-TW" altLang="en-US" sz="3600" b="1" dirty="0">
                <a:solidFill>
                  <a:srgbClr val="FF0000"/>
                </a:solidFill>
              </a:endParaRPr>
            </a:p>
          </p:txBody>
        </p:sp>
        <p:cxnSp>
          <p:nvCxnSpPr>
            <p:cNvPr id="52" name="直線單箭頭接點 51">
              <a:extLst>
                <a:ext uri="{FF2B5EF4-FFF2-40B4-BE49-F238E27FC236}">
                  <a16:creationId xmlns:a16="http://schemas.microsoft.com/office/drawing/2014/main" id="{0C54DA68-A154-4571-83FD-B2B4064D1FC0}"/>
                </a:ext>
              </a:extLst>
            </p:cNvPr>
            <p:cNvCxnSpPr>
              <a:cxnSpLocks/>
            </p:cNvCxnSpPr>
            <p:nvPr/>
          </p:nvCxnSpPr>
          <p:spPr>
            <a:xfrm flipH="1">
              <a:off x="8430297" y="4565503"/>
              <a:ext cx="36896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4049B71C-E8E9-4498-94B7-0C6928004B33}"/>
                </a:ext>
              </a:extLst>
            </p:cNvPr>
            <p:cNvSpPr txBox="1"/>
            <p:nvPr/>
          </p:nvSpPr>
          <p:spPr>
            <a:xfrm>
              <a:off x="5370698" y="4413353"/>
              <a:ext cx="928084" cy="646331"/>
            </a:xfrm>
            <a:prstGeom prst="rect">
              <a:avLst/>
            </a:prstGeom>
            <a:noFill/>
          </p:spPr>
          <p:txBody>
            <a:bodyPr wrap="square" rtlCol="0">
              <a:spAutoFit/>
            </a:bodyPr>
            <a:lstStyle/>
            <a:p>
              <a:r>
                <a:rPr lang="en-US" altLang="zh-TW" sz="3600" b="1" dirty="0">
                  <a:solidFill>
                    <a:srgbClr val="FF0000"/>
                  </a:solidFill>
                </a:rPr>
                <a:t>Coil</a:t>
              </a:r>
              <a:endParaRPr lang="zh-TW" altLang="en-US" sz="3600" b="1" dirty="0">
                <a:solidFill>
                  <a:srgbClr val="FF0000"/>
                </a:solidFill>
              </a:endParaRPr>
            </a:p>
          </p:txBody>
        </p:sp>
        <p:cxnSp>
          <p:nvCxnSpPr>
            <p:cNvPr id="54" name="直線單箭頭接點 53">
              <a:extLst>
                <a:ext uri="{FF2B5EF4-FFF2-40B4-BE49-F238E27FC236}">
                  <a16:creationId xmlns:a16="http://schemas.microsoft.com/office/drawing/2014/main" id="{44D74C8C-5068-4B25-BC46-70D759A80D7A}"/>
                </a:ext>
              </a:extLst>
            </p:cNvPr>
            <p:cNvCxnSpPr>
              <a:cxnSpLocks/>
            </p:cNvCxnSpPr>
            <p:nvPr/>
          </p:nvCxnSpPr>
          <p:spPr>
            <a:xfrm>
              <a:off x="6208687" y="4739058"/>
              <a:ext cx="43505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3001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8240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50799" y="5204561"/>
            <a:ext cx="12242799"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environment used in this study is </a:t>
            </a:r>
            <a:r>
              <a:rPr lang="en-US" altLang="zh-TW" b="1" dirty="0">
                <a:latin typeface="Times New Roman" panose="02020603050405020304" pitchFamily="18" charset="0"/>
                <a:cs typeface="Times New Roman" panose="02020603050405020304" pitchFamily="18" charset="0"/>
              </a:rPr>
              <a:t>ANSYS Mechanical APDL 2025 R2.</a:t>
            </a:r>
            <a:r>
              <a:rPr lang="en-US" altLang="zh-TW" dirty="0">
                <a:latin typeface="Times New Roman" panose="02020603050405020304" pitchFamily="18" charset="0"/>
                <a:cs typeface="Times New Roman" panose="02020603050405020304" pitchFamily="18" charset="0"/>
              </a:rPr>
              <a:t> After the geometric model is created in SolidWorks, the dimensions of each component are extracted and used as parameters in an APDL script to reconstruct the geometry. Once the geometry has been generated, the model is meshed and solved. The red arrows in the figure indicate the location and winding direction of the coils, which correspond to the coil positions shown on the previous slide.</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6">
            <a:extLst>
              <a:ext uri="{FF2B5EF4-FFF2-40B4-BE49-F238E27FC236}">
                <a16:creationId xmlns:a16="http://schemas.microsoft.com/office/drawing/2014/main" id="{0CA650E1-60C8-4B31-8678-71FAC6764DC2}"/>
              </a:ext>
            </a:extLst>
          </p:cNvPr>
          <p:cNvGraphicFramePr>
            <a:graphicFrameLocks noGrp="1"/>
          </p:cNvGraphicFramePr>
          <p:nvPr>
            <p:extLst>
              <p:ext uri="{D42A27DB-BD31-4B8C-83A1-F6EECF244321}">
                <p14:modId xmlns:p14="http://schemas.microsoft.com/office/powerpoint/2010/main" val="4068867138"/>
              </p:ext>
            </p:extLst>
          </p:nvPr>
        </p:nvGraphicFramePr>
        <p:xfrm>
          <a:off x="110067" y="798493"/>
          <a:ext cx="11811000" cy="4524268"/>
        </p:xfrm>
        <a:graphic>
          <a:graphicData uri="http://schemas.openxmlformats.org/drawingml/2006/table">
            <a:tbl>
              <a:tblPr firstRow="1" bandRow="1">
                <a:tableStyleId>{5940675A-B579-460E-94D1-54222C63F5DA}</a:tableStyleId>
              </a:tblPr>
              <a:tblGrid>
                <a:gridCol w="4055532">
                  <a:extLst>
                    <a:ext uri="{9D8B030D-6E8A-4147-A177-3AD203B41FA5}">
                      <a16:colId xmlns:a16="http://schemas.microsoft.com/office/drawing/2014/main" val="2100999511"/>
                    </a:ext>
                  </a:extLst>
                </a:gridCol>
                <a:gridCol w="3877734">
                  <a:extLst>
                    <a:ext uri="{9D8B030D-6E8A-4147-A177-3AD203B41FA5}">
                      <a16:colId xmlns:a16="http://schemas.microsoft.com/office/drawing/2014/main" val="650228661"/>
                    </a:ext>
                  </a:extLst>
                </a:gridCol>
                <a:gridCol w="3877734">
                  <a:extLst>
                    <a:ext uri="{9D8B030D-6E8A-4147-A177-3AD203B41FA5}">
                      <a16:colId xmlns:a16="http://schemas.microsoft.com/office/drawing/2014/main" val="1476503576"/>
                    </a:ext>
                  </a:extLst>
                </a:gridCol>
              </a:tblGrid>
              <a:tr h="511068">
                <a:tc>
                  <a:txBody>
                    <a:bodyPr/>
                    <a:lstStyle/>
                    <a:p>
                      <a:pPr algn="ctr"/>
                      <a:r>
                        <a:rPr lang="en-US" altLang="zh-TW" dirty="0"/>
                        <a:t>Long</a:t>
                      </a:r>
                      <a:endParaRPr lang="zh-TW" altLang="en-US" dirty="0"/>
                    </a:p>
                  </a:txBody>
                  <a:tcPr/>
                </a:tc>
                <a:tc>
                  <a:txBody>
                    <a:bodyPr/>
                    <a:lstStyle/>
                    <a:p>
                      <a:pPr algn="ctr"/>
                      <a:r>
                        <a:rPr lang="en-US" altLang="zh-TW" dirty="0"/>
                        <a:t>Hung</a:t>
                      </a:r>
                      <a:endParaRPr lang="zh-TW" altLang="en-US" dirty="0"/>
                    </a:p>
                  </a:txBody>
                  <a:tcPr/>
                </a:tc>
                <a:tc>
                  <a:txBody>
                    <a:bodyPr/>
                    <a:lstStyle/>
                    <a:p>
                      <a:pPr algn="ctr"/>
                      <a:r>
                        <a:rPr lang="en-US" altLang="zh-TW" dirty="0"/>
                        <a:t>NTU</a:t>
                      </a:r>
                      <a:endParaRPr lang="zh-TW" altLang="en-US" dirty="0"/>
                    </a:p>
                  </a:txBody>
                  <a:tcPr/>
                </a:tc>
                <a:extLst>
                  <a:ext uri="{0D108BD9-81ED-4DB2-BD59-A6C34878D82A}">
                    <a16:rowId xmlns:a16="http://schemas.microsoft.com/office/drawing/2014/main" val="59472231"/>
                  </a:ext>
                </a:extLst>
              </a:tr>
              <a:tr h="401320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99235176"/>
                  </a:ext>
                </a:extLst>
              </a:tr>
            </a:tbl>
          </a:graphicData>
        </a:graphic>
      </p:graphicFrame>
      <p:pic>
        <p:nvPicPr>
          <p:cNvPr id="8" name="圖片 7">
            <a:extLst>
              <a:ext uri="{FF2B5EF4-FFF2-40B4-BE49-F238E27FC236}">
                <a16:creationId xmlns:a16="http://schemas.microsoft.com/office/drawing/2014/main" id="{B58D460A-6378-497E-9C70-84236AAF3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38" y="1485857"/>
            <a:ext cx="3760717" cy="3312493"/>
          </a:xfrm>
          <a:prstGeom prst="rect">
            <a:avLst/>
          </a:prstGeom>
        </p:spPr>
      </p:pic>
      <p:pic>
        <p:nvPicPr>
          <p:cNvPr id="10" name="圖片 9">
            <a:extLst>
              <a:ext uri="{FF2B5EF4-FFF2-40B4-BE49-F238E27FC236}">
                <a16:creationId xmlns:a16="http://schemas.microsoft.com/office/drawing/2014/main" id="{EB64EA08-5191-4228-83EE-851D44340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644" y="1511422"/>
            <a:ext cx="3682712" cy="3312493"/>
          </a:xfrm>
          <a:prstGeom prst="rect">
            <a:avLst/>
          </a:prstGeom>
        </p:spPr>
      </p:pic>
      <p:pic>
        <p:nvPicPr>
          <p:cNvPr id="12" name="圖片 11">
            <a:extLst>
              <a:ext uri="{FF2B5EF4-FFF2-40B4-BE49-F238E27FC236}">
                <a16:creationId xmlns:a16="http://schemas.microsoft.com/office/drawing/2014/main" id="{E14AD6CC-8300-4351-8CC5-7F189CA26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9545" y="1485856"/>
            <a:ext cx="3572077" cy="3312493"/>
          </a:xfrm>
          <a:prstGeom prst="rect">
            <a:avLst/>
          </a:prstGeom>
        </p:spPr>
      </p:pic>
    </p:spTree>
    <p:extLst>
      <p:ext uri="{BB962C8B-B14F-4D97-AF65-F5344CB8AC3E}">
        <p14:creationId xmlns:p14="http://schemas.microsoft.com/office/powerpoint/2010/main" val="121362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110067" y="308956"/>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10067" y="4839152"/>
            <a:ext cx="11904133"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shows the actuator coordinate system defined for the multipole electromagnetic actuator, with the corresponding magnetic pole numbers labeled. All subsequent model calibration and analysis are conducted in this coordinate system. In addition, the tips of the six magnetic poles lie on a common spherical surface, whose radius is determined by the geometric design of the magnetic tweezer.</a:t>
            </a:r>
            <a:endParaRPr lang="zh-TW" altLang="en-US" dirty="0">
              <a:latin typeface="Times New Roman" panose="02020603050405020304" pitchFamily="18" charset="0"/>
              <a:cs typeface="Times New Roman" panose="02020603050405020304" pitchFamily="18" charset="0"/>
            </a:endParaRPr>
          </a:p>
        </p:txBody>
      </p:sp>
      <p:grpSp>
        <p:nvGrpSpPr>
          <p:cNvPr id="38" name="群組 37">
            <a:extLst>
              <a:ext uri="{FF2B5EF4-FFF2-40B4-BE49-F238E27FC236}">
                <a16:creationId xmlns:a16="http://schemas.microsoft.com/office/drawing/2014/main" id="{AA62B6A9-7877-495D-B0BD-E5924BECB820}"/>
              </a:ext>
            </a:extLst>
          </p:cNvPr>
          <p:cNvGrpSpPr/>
          <p:nvPr/>
        </p:nvGrpSpPr>
        <p:grpSpPr>
          <a:xfrm>
            <a:off x="680041" y="786715"/>
            <a:ext cx="4247557" cy="4083724"/>
            <a:chOff x="1835121" y="897465"/>
            <a:chExt cx="4819678" cy="4812706"/>
          </a:xfrm>
        </p:grpSpPr>
        <p:pic>
          <p:nvPicPr>
            <p:cNvPr id="39" name="圖片 38">
              <a:extLst>
                <a:ext uri="{FF2B5EF4-FFF2-40B4-BE49-F238E27FC236}">
                  <a16:creationId xmlns:a16="http://schemas.microsoft.com/office/drawing/2014/main" id="{32AB840E-7D18-4046-9A2F-2F6AC1DAE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060" y="897465"/>
              <a:ext cx="4389739" cy="4463827"/>
            </a:xfrm>
            <a:prstGeom prst="rect">
              <a:avLst/>
            </a:prstGeom>
          </p:spPr>
        </p:pic>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1D8A4C9E-9DB8-482A-BD04-44467C3D9608}"/>
                    </a:ext>
                  </a:extLst>
                </p:cNvPr>
                <p:cNvSpPr txBox="1"/>
                <p:nvPr/>
              </p:nvSpPr>
              <p:spPr>
                <a:xfrm rot="18912997">
                  <a:off x="2303014" y="4398496"/>
                  <a:ext cx="623961" cy="72675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000" b="1" dirty="0"/>
                </a:p>
              </p:txBody>
            </p:sp>
          </mc:Choice>
          <mc:Fallback xmlns="">
            <p:sp>
              <p:nvSpPr>
                <p:cNvPr id="40" name="文字方塊 39">
                  <a:extLst>
                    <a:ext uri="{FF2B5EF4-FFF2-40B4-BE49-F238E27FC236}">
                      <a16:creationId xmlns:a16="http://schemas.microsoft.com/office/drawing/2014/main" id="{1D8A4C9E-9DB8-482A-BD04-44467C3D9608}"/>
                    </a:ext>
                  </a:extLst>
                </p:cNvPr>
                <p:cNvSpPr txBox="1">
                  <a:spLocks noRot="1" noChangeAspect="1" noMove="1" noResize="1" noEditPoints="1" noAdjustHandles="1" noChangeArrowheads="1" noChangeShapeType="1" noTextEdit="1"/>
                </p:cNvSpPr>
                <p:nvPr/>
              </p:nvSpPr>
              <p:spPr>
                <a:xfrm rot="18912997">
                  <a:off x="2303014" y="4398496"/>
                  <a:ext cx="623961" cy="726755"/>
                </a:xfrm>
                <a:prstGeom prst="rect">
                  <a:avLst/>
                </a:prstGeom>
                <a:blipFill>
                  <a:blip r:embed="rId3"/>
                  <a:stretch>
                    <a:fillRect b="-51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2D066EE1-A98A-4568-B8A4-C73397C3BF73}"/>
                    </a:ext>
                  </a:extLst>
                </p:cNvPr>
                <p:cNvSpPr txBox="1"/>
                <p:nvPr/>
              </p:nvSpPr>
              <p:spPr>
                <a:xfrm rot="15569608">
                  <a:off x="5198718" y="5036276"/>
                  <a:ext cx="64805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000" b="1" dirty="0"/>
                </a:p>
              </p:txBody>
            </p:sp>
          </mc:Choice>
          <mc:Fallback xmlns="">
            <p:sp>
              <p:nvSpPr>
                <p:cNvPr id="41" name="文字方塊 40">
                  <a:extLst>
                    <a:ext uri="{FF2B5EF4-FFF2-40B4-BE49-F238E27FC236}">
                      <a16:creationId xmlns:a16="http://schemas.microsoft.com/office/drawing/2014/main" id="{2D066EE1-A98A-4568-B8A4-C73397C3BF73}"/>
                    </a:ext>
                  </a:extLst>
                </p:cNvPr>
                <p:cNvSpPr txBox="1">
                  <a:spLocks noRot="1" noChangeAspect="1" noMove="1" noResize="1" noEditPoints="1" noAdjustHandles="1" noChangeArrowheads="1" noChangeShapeType="1" noTextEdit="1"/>
                </p:cNvSpPr>
                <p:nvPr/>
              </p:nvSpPr>
              <p:spPr>
                <a:xfrm rot="15569608">
                  <a:off x="5198718" y="5036276"/>
                  <a:ext cx="648055" cy="699735"/>
                </a:xfrm>
                <a:prstGeom prst="rect">
                  <a:avLst/>
                </a:prstGeom>
                <a:blipFill>
                  <a:blip r:embed="rId4"/>
                  <a:stretch>
                    <a:fillRect r="-282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D10CA883-1346-42F7-8B76-2062F1364404}"/>
                    </a:ext>
                  </a:extLst>
                </p:cNvPr>
                <p:cNvSpPr txBox="1"/>
                <p:nvPr/>
              </p:nvSpPr>
              <p:spPr>
                <a:xfrm rot="10800000">
                  <a:off x="1835121" y="2500749"/>
                  <a:ext cx="623961"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000" b="1" dirty="0"/>
                </a:p>
              </p:txBody>
            </p:sp>
          </mc:Choice>
          <mc:Fallback xmlns="">
            <p:sp>
              <p:nvSpPr>
                <p:cNvPr id="42" name="文字方塊 41">
                  <a:extLst>
                    <a:ext uri="{FF2B5EF4-FFF2-40B4-BE49-F238E27FC236}">
                      <a16:creationId xmlns:a16="http://schemas.microsoft.com/office/drawing/2014/main" id="{D10CA883-1346-42F7-8B76-2062F1364404}"/>
                    </a:ext>
                  </a:extLst>
                </p:cNvPr>
                <p:cNvSpPr txBox="1">
                  <a:spLocks noRot="1" noChangeAspect="1" noMove="1" noResize="1" noEditPoints="1" noAdjustHandles="1" noChangeArrowheads="1" noChangeShapeType="1" noTextEdit="1"/>
                </p:cNvSpPr>
                <p:nvPr/>
              </p:nvSpPr>
              <p:spPr>
                <a:xfrm rot="10800000">
                  <a:off x="1835121" y="2500749"/>
                  <a:ext cx="623961" cy="719271"/>
                </a:xfrm>
                <a:prstGeom prst="rect">
                  <a:avLst/>
                </a:prstGeom>
                <a:blipFill>
                  <a:blip r:embed="rId5"/>
                  <a:stretch>
                    <a:fillRect t="-38000"/>
                  </a:stretch>
                </a:blipFill>
              </p:spPr>
              <p:txBody>
                <a:bodyPr/>
                <a:lstStyle/>
                <a:p>
                  <a:r>
                    <a:rPr lang="zh-TW" altLang="en-US">
                      <a:noFill/>
                    </a:rPr>
                    <a:t> </a:t>
                  </a:r>
                </a:p>
              </p:txBody>
            </p:sp>
          </mc:Fallback>
        </mc:AlternateContent>
        <p:sp>
          <p:nvSpPr>
            <p:cNvPr id="43" name="文字方塊 42">
              <a:extLst>
                <a:ext uri="{FF2B5EF4-FFF2-40B4-BE49-F238E27FC236}">
                  <a16:creationId xmlns:a16="http://schemas.microsoft.com/office/drawing/2014/main" id="{9816DB7A-5600-4648-81CF-FC77A97F59A7}"/>
                </a:ext>
              </a:extLst>
            </p:cNvPr>
            <p:cNvSpPr txBox="1"/>
            <p:nvPr/>
          </p:nvSpPr>
          <p:spPr>
            <a:xfrm>
              <a:off x="4033637" y="1230324"/>
              <a:ext cx="591045" cy="392199"/>
            </a:xfrm>
            <a:prstGeom prst="rect">
              <a:avLst/>
            </a:prstGeom>
            <a:noFill/>
          </p:spPr>
          <p:txBody>
            <a:bodyPr vert="horz" wrap="square" rtlCol="0" anchor="ctr" anchorCtr="0">
              <a:spAutoFit/>
            </a:bodyPr>
            <a:lstStyle/>
            <a:p>
              <a:r>
                <a:rPr lang="en-US" altLang="zh-TW" sz="2400" b="1" dirty="0">
                  <a:solidFill>
                    <a:srgbClr val="FF0000"/>
                  </a:solidFill>
                </a:rPr>
                <a:t>P2</a:t>
              </a:r>
              <a:endParaRPr lang="zh-TW" altLang="en-US" sz="2400" b="1" dirty="0">
                <a:solidFill>
                  <a:srgbClr val="FF0000"/>
                </a:solidFill>
              </a:endParaRPr>
            </a:p>
          </p:txBody>
        </p:sp>
        <p:sp>
          <p:nvSpPr>
            <p:cNvPr id="44" name="文字方塊 43">
              <a:extLst>
                <a:ext uri="{FF2B5EF4-FFF2-40B4-BE49-F238E27FC236}">
                  <a16:creationId xmlns:a16="http://schemas.microsoft.com/office/drawing/2014/main" id="{B01D7049-DD29-4D0B-B2B1-625F6E20E98A}"/>
                </a:ext>
              </a:extLst>
            </p:cNvPr>
            <p:cNvSpPr txBox="1"/>
            <p:nvPr/>
          </p:nvSpPr>
          <p:spPr>
            <a:xfrm>
              <a:off x="5351171" y="4095310"/>
              <a:ext cx="591045" cy="436850"/>
            </a:xfrm>
            <a:prstGeom prst="rect">
              <a:avLst/>
            </a:prstGeom>
            <a:noFill/>
          </p:spPr>
          <p:txBody>
            <a:bodyPr vert="horz" wrap="square" rtlCol="0" anchor="ctr" anchorCtr="0">
              <a:spAutoFit/>
            </a:bodyPr>
            <a:lstStyle/>
            <a:p>
              <a:r>
                <a:rPr lang="en-US" altLang="zh-TW" sz="2400" b="1" dirty="0">
                  <a:solidFill>
                    <a:srgbClr val="FF0000"/>
                  </a:solidFill>
                </a:rPr>
                <a:t>P1</a:t>
              </a:r>
              <a:endParaRPr lang="zh-TW" altLang="en-US" sz="2400" b="1" dirty="0">
                <a:solidFill>
                  <a:srgbClr val="FF0000"/>
                </a:solidFill>
              </a:endParaRPr>
            </a:p>
          </p:txBody>
        </p:sp>
        <p:sp>
          <p:nvSpPr>
            <p:cNvPr id="45" name="文字方塊 44">
              <a:extLst>
                <a:ext uri="{FF2B5EF4-FFF2-40B4-BE49-F238E27FC236}">
                  <a16:creationId xmlns:a16="http://schemas.microsoft.com/office/drawing/2014/main" id="{986ADB67-D550-4D05-9BCC-7595C10496CC}"/>
                </a:ext>
              </a:extLst>
            </p:cNvPr>
            <p:cNvSpPr txBox="1"/>
            <p:nvPr/>
          </p:nvSpPr>
          <p:spPr>
            <a:xfrm>
              <a:off x="5504955" y="2941397"/>
              <a:ext cx="591045" cy="436850"/>
            </a:xfrm>
            <a:prstGeom prst="rect">
              <a:avLst/>
            </a:prstGeom>
            <a:noFill/>
          </p:spPr>
          <p:txBody>
            <a:bodyPr vert="horz" wrap="square" rtlCol="0" anchor="ctr" anchorCtr="0">
              <a:spAutoFit/>
            </a:bodyPr>
            <a:lstStyle/>
            <a:p>
              <a:r>
                <a:rPr lang="en-US" altLang="zh-TW" sz="2400" b="1" dirty="0">
                  <a:solidFill>
                    <a:srgbClr val="FF0000"/>
                  </a:solidFill>
                </a:rPr>
                <a:t>P3</a:t>
              </a:r>
              <a:endParaRPr lang="zh-TW" altLang="en-US" sz="2400" b="1" dirty="0">
                <a:solidFill>
                  <a:srgbClr val="FF0000"/>
                </a:solidFill>
              </a:endParaRPr>
            </a:p>
          </p:txBody>
        </p:sp>
        <p:sp>
          <p:nvSpPr>
            <p:cNvPr id="46" name="文字方塊 45">
              <a:extLst>
                <a:ext uri="{FF2B5EF4-FFF2-40B4-BE49-F238E27FC236}">
                  <a16:creationId xmlns:a16="http://schemas.microsoft.com/office/drawing/2014/main" id="{5A6023E5-6C81-4C53-ABB9-EF9DF517A728}"/>
                </a:ext>
              </a:extLst>
            </p:cNvPr>
            <p:cNvSpPr txBox="1"/>
            <p:nvPr/>
          </p:nvSpPr>
          <p:spPr>
            <a:xfrm>
              <a:off x="3363688" y="2282324"/>
              <a:ext cx="591045" cy="436850"/>
            </a:xfrm>
            <a:prstGeom prst="rect">
              <a:avLst/>
            </a:prstGeom>
            <a:noFill/>
          </p:spPr>
          <p:txBody>
            <a:bodyPr vert="horz" wrap="square" rtlCol="0" anchor="ctr" anchorCtr="0">
              <a:spAutoFit/>
            </a:bodyPr>
            <a:lstStyle/>
            <a:p>
              <a:r>
                <a:rPr lang="en-US" altLang="zh-TW" sz="2400" b="1" dirty="0">
                  <a:solidFill>
                    <a:srgbClr val="FF0000"/>
                  </a:solidFill>
                </a:rPr>
                <a:t>P4</a:t>
              </a:r>
              <a:endParaRPr lang="zh-TW" altLang="en-US" sz="2400" b="1" dirty="0">
                <a:solidFill>
                  <a:srgbClr val="FF0000"/>
                </a:solidFill>
              </a:endParaRPr>
            </a:p>
          </p:txBody>
        </p:sp>
        <p:sp>
          <p:nvSpPr>
            <p:cNvPr id="47" name="文字方塊 46">
              <a:extLst>
                <a:ext uri="{FF2B5EF4-FFF2-40B4-BE49-F238E27FC236}">
                  <a16:creationId xmlns:a16="http://schemas.microsoft.com/office/drawing/2014/main" id="{491E7F4D-D5D4-48A1-BCD7-01D13ADACFE0}"/>
                </a:ext>
              </a:extLst>
            </p:cNvPr>
            <p:cNvSpPr txBox="1"/>
            <p:nvPr/>
          </p:nvSpPr>
          <p:spPr>
            <a:xfrm>
              <a:off x="2863776" y="3377262"/>
              <a:ext cx="591045" cy="436850"/>
            </a:xfrm>
            <a:prstGeom prst="rect">
              <a:avLst/>
            </a:prstGeom>
            <a:noFill/>
          </p:spPr>
          <p:txBody>
            <a:bodyPr vert="horz" wrap="square" rtlCol="0" anchor="ctr" anchorCtr="0">
              <a:spAutoFit/>
            </a:bodyPr>
            <a:lstStyle/>
            <a:p>
              <a:r>
                <a:rPr lang="en-US" altLang="zh-TW" sz="2400" b="1" dirty="0">
                  <a:solidFill>
                    <a:srgbClr val="FF0000"/>
                  </a:solidFill>
                </a:rPr>
                <a:t>P6</a:t>
              </a:r>
              <a:endParaRPr lang="zh-TW" altLang="en-US" sz="2400" b="1" dirty="0">
                <a:solidFill>
                  <a:srgbClr val="FF0000"/>
                </a:solidFill>
              </a:endParaRPr>
            </a:p>
          </p:txBody>
        </p:sp>
        <p:sp>
          <p:nvSpPr>
            <p:cNvPr id="48" name="文字方塊 47">
              <a:extLst>
                <a:ext uri="{FF2B5EF4-FFF2-40B4-BE49-F238E27FC236}">
                  <a16:creationId xmlns:a16="http://schemas.microsoft.com/office/drawing/2014/main" id="{7AF339C0-5449-41BD-AC87-E12ABE856DA0}"/>
                </a:ext>
              </a:extLst>
            </p:cNvPr>
            <p:cNvSpPr txBox="1"/>
            <p:nvPr/>
          </p:nvSpPr>
          <p:spPr>
            <a:xfrm>
              <a:off x="5892870" y="1741898"/>
              <a:ext cx="591045" cy="436850"/>
            </a:xfrm>
            <a:prstGeom prst="rect">
              <a:avLst/>
            </a:prstGeom>
            <a:noFill/>
          </p:spPr>
          <p:txBody>
            <a:bodyPr vert="horz" wrap="square" rtlCol="0" anchor="ctr" anchorCtr="0">
              <a:spAutoFit/>
            </a:bodyPr>
            <a:lstStyle/>
            <a:p>
              <a:r>
                <a:rPr lang="en-US" altLang="zh-TW" sz="2400" b="1" dirty="0">
                  <a:solidFill>
                    <a:srgbClr val="FF0000"/>
                  </a:solidFill>
                </a:rPr>
                <a:t>P5</a:t>
              </a:r>
              <a:endParaRPr lang="zh-TW" altLang="en-US" sz="2400" b="1" dirty="0">
                <a:solidFill>
                  <a:srgbClr val="FF0000"/>
                </a:solidFill>
              </a:endParaRPr>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B00A9E93-BF26-4BA1-A4EB-7BCD8BBA08AF}"/>
                    </a:ext>
                  </a:extLst>
                </p:cNvPr>
                <p:cNvSpPr txBox="1"/>
                <p:nvPr/>
              </p:nvSpPr>
              <p:spPr>
                <a:xfrm>
                  <a:off x="4366476" y="311552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𝒙</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49" name="文字方塊 48">
                  <a:extLst>
                    <a:ext uri="{FF2B5EF4-FFF2-40B4-BE49-F238E27FC236}">
                      <a16:creationId xmlns:a16="http://schemas.microsoft.com/office/drawing/2014/main" id="{B00A9E93-BF26-4BA1-A4EB-7BCD8BBA08AF}"/>
                    </a:ext>
                  </a:extLst>
                </p:cNvPr>
                <p:cNvSpPr txBox="1">
                  <a:spLocks noRot="1" noChangeAspect="1" noMove="1" noResize="1" noEditPoints="1" noAdjustHandles="1" noChangeArrowheads="1" noChangeShapeType="1" noTextEdit="1"/>
                </p:cNvSpPr>
                <p:nvPr/>
              </p:nvSpPr>
              <p:spPr>
                <a:xfrm>
                  <a:off x="4366476" y="3115526"/>
                  <a:ext cx="623935" cy="47153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4692E77-59D7-419B-A306-129394131306}"/>
                    </a:ext>
                  </a:extLst>
                </p:cNvPr>
                <p:cNvSpPr txBox="1"/>
                <p:nvPr/>
              </p:nvSpPr>
              <p:spPr>
                <a:xfrm>
                  <a:off x="4914360" y="2705631"/>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𝒚</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50" name="文字方塊 49">
                  <a:extLst>
                    <a:ext uri="{FF2B5EF4-FFF2-40B4-BE49-F238E27FC236}">
                      <a16:creationId xmlns:a16="http://schemas.microsoft.com/office/drawing/2014/main" id="{D4692E77-59D7-419B-A306-129394131306}"/>
                    </a:ext>
                  </a:extLst>
                </p:cNvPr>
                <p:cNvSpPr txBox="1">
                  <a:spLocks noRot="1" noChangeAspect="1" noMove="1" noResize="1" noEditPoints="1" noAdjustHandles="1" noChangeArrowheads="1" noChangeShapeType="1" noTextEdit="1"/>
                </p:cNvSpPr>
                <p:nvPr/>
              </p:nvSpPr>
              <p:spPr>
                <a:xfrm>
                  <a:off x="4914360" y="2705631"/>
                  <a:ext cx="623935" cy="471533"/>
                </a:xfrm>
                <a:prstGeom prst="rect">
                  <a:avLst/>
                </a:prstGeom>
                <a:blipFill>
                  <a:blip r:embed="rId7"/>
                  <a:stretch>
                    <a:fillRect b="-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FED75631-3C23-4326-928D-C25573DE51D4}"/>
                    </a:ext>
                  </a:extLst>
                </p:cNvPr>
                <p:cNvSpPr txBox="1"/>
                <p:nvPr/>
              </p:nvSpPr>
              <p:spPr>
                <a:xfrm>
                  <a:off x="4799795" y="224580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𝒛</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51" name="文字方塊 50">
                  <a:extLst>
                    <a:ext uri="{FF2B5EF4-FFF2-40B4-BE49-F238E27FC236}">
                      <a16:creationId xmlns:a16="http://schemas.microsoft.com/office/drawing/2014/main" id="{FED75631-3C23-4326-928D-C25573DE51D4}"/>
                    </a:ext>
                  </a:extLst>
                </p:cNvPr>
                <p:cNvSpPr txBox="1">
                  <a:spLocks noRot="1" noChangeAspect="1" noMove="1" noResize="1" noEditPoints="1" noAdjustHandles="1" noChangeArrowheads="1" noChangeShapeType="1" noTextEdit="1"/>
                </p:cNvSpPr>
                <p:nvPr/>
              </p:nvSpPr>
              <p:spPr>
                <a:xfrm>
                  <a:off x="4799795" y="2245806"/>
                  <a:ext cx="623935" cy="47153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24862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indent="-342900">
              <a:lnSpc>
                <a:spcPct val="115000"/>
              </a:lnSpc>
              <a:spcAft>
                <a:spcPts val="800"/>
              </a:spcAft>
              <a:buFont typeface="+mj-lt"/>
              <a:buAutoNum type="alphaUcPeriod"/>
            </a:pP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39700" y="4718757"/>
            <a:ext cx="11802532" cy="17045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conditions are an excitation current of 1 A and a 70-turn coil, and the results shown are obtained from Long’s model. The left figure presents a top view of the magnetic flux path through the entire structure when pole P2 is excited. The magnetic flux emerges from pole P2, enters the other poles, and then returns through the yoke. The right figure is an enlarged view of the central region in the left figure, allowing the magnetic flux path to be observed more clearly.</a:t>
            </a:r>
            <a:endParaRPr lang="zh-TW" altLang="en-US"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6ACEBE40-98D9-4A5A-8905-7C5F258AD8ED}"/>
              </a:ext>
            </a:extLst>
          </p:cNvPr>
          <p:cNvGrpSpPr/>
          <p:nvPr/>
        </p:nvGrpSpPr>
        <p:grpSpPr>
          <a:xfrm>
            <a:off x="1860812" y="1036796"/>
            <a:ext cx="7936243" cy="3428797"/>
            <a:chOff x="1471345" y="1074423"/>
            <a:chExt cx="7936243" cy="3428797"/>
          </a:xfrm>
        </p:grpSpPr>
        <p:pic>
          <p:nvPicPr>
            <p:cNvPr id="5" name="圖片 4">
              <a:extLst>
                <a:ext uri="{FF2B5EF4-FFF2-40B4-BE49-F238E27FC236}">
                  <a16:creationId xmlns:a16="http://schemas.microsoft.com/office/drawing/2014/main" id="{DCE6BEAD-4874-4B1F-9882-79E0FE40D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189" y="1080886"/>
              <a:ext cx="7772399" cy="3118488"/>
            </a:xfrm>
            <a:prstGeom prst="rect">
              <a:avLst/>
            </a:prstGeom>
          </p:spPr>
        </p:pic>
        <p:grpSp>
          <p:nvGrpSpPr>
            <p:cNvPr id="9" name="群組 8">
              <a:extLst>
                <a:ext uri="{FF2B5EF4-FFF2-40B4-BE49-F238E27FC236}">
                  <a16:creationId xmlns:a16="http://schemas.microsoft.com/office/drawing/2014/main" id="{63F53FDF-1E8F-42BC-9E62-338722C7CC60}"/>
                </a:ext>
              </a:extLst>
            </p:cNvPr>
            <p:cNvGrpSpPr/>
            <p:nvPr/>
          </p:nvGrpSpPr>
          <p:grpSpPr>
            <a:xfrm>
              <a:off x="1471345" y="1074423"/>
              <a:ext cx="6271969" cy="3428797"/>
              <a:chOff x="1496745" y="2427700"/>
              <a:chExt cx="6271969" cy="3428797"/>
            </a:xfrm>
          </p:grpSpPr>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8A5C6BB-931B-4F4B-A1BB-3497A0FDA336}"/>
                      </a:ext>
                    </a:extLst>
                  </p:cNvPr>
                  <p:cNvSpPr txBox="1"/>
                  <p:nvPr/>
                </p:nvSpPr>
                <p:spPr>
                  <a:xfrm>
                    <a:off x="6877444" y="5527430"/>
                    <a:ext cx="8912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30" name="文字方塊 29">
                    <a:extLst>
                      <a:ext uri="{FF2B5EF4-FFF2-40B4-BE49-F238E27FC236}">
                        <a16:creationId xmlns:a16="http://schemas.microsoft.com/office/drawing/2014/main" id="{48A5C6BB-931B-4F4B-A1BB-3497A0FDA336}"/>
                      </a:ext>
                    </a:extLst>
                  </p:cNvPr>
                  <p:cNvSpPr txBox="1">
                    <a:spLocks noRot="1" noChangeAspect="1" noMove="1" noResize="1" noEditPoints="1" noAdjustHandles="1" noChangeArrowheads="1" noChangeShapeType="1" noTextEdit="1"/>
                  </p:cNvSpPr>
                  <p:nvPr/>
                </p:nvSpPr>
                <p:spPr>
                  <a:xfrm>
                    <a:off x="6877444" y="5527430"/>
                    <a:ext cx="891270" cy="307777"/>
                  </a:xfrm>
                  <a:prstGeom prst="rect">
                    <a:avLst/>
                  </a:prstGeom>
                  <a:blipFill>
                    <a:blip r:embed="rId3"/>
                    <a:stretch>
                      <a:fillRect l="-4110" t="-4000" r="-10274" b="-3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BF3B71D8-6AC7-44F0-B911-59DBD9506675}"/>
                      </a:ext>
                    </a:extLst>
                  </p:cNvPr>
                  <p:cNvSpPr txBox="1"/>
                  <p:nvPr/>
                </p:nvSpPr>
                <p:spPr>
                  <a:xfrm rot="16200000">
                    <a:off x="4996409" y="3622186"/>
                    <a:ext cx="8976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31" name="文字方塊 30">
                    <a:extLst>
                      <a:ext uri="{FF2B5EF4-FFF2-40B4-BE49-F238E27FC236}">
                        <a16:creationId xmlns:a16="http://schemas.microsoft.com/office/drawing/2014/main" id="{BF3B71D8-6AC7-44F0-B911-59DBD9506675}"/>
                      </a:ext>
                    </a:extLst>
                  </p:cNvPr>
                  <p:cNvSpPr txBox="1">
                    <a:spLocks noRot="1" noChangeAspect="1" noMove="1" noResize="1" noEditPoints="1" noAdjustHandles="1" noChangeArrowheads="1" noChangeShapeType="1" noTextEdit="1"/>
                  </p:cNvSpPr>
                  <p:nvPr/>
                </p:nvSpPr>
                <p:spPr>
                  <a:xfrm rot="16200000">
                    <a:off x="4996409" y="3622186"/>
                    <a:ext cx="897682" cy="307777"/>
                  </a:xfrm>
                  <a:prstGeom prst="rect">
                    <a:avLst/>
                  </a:prstGeom>
                  <a:blipFill>
                    <a:blip r:embed="rId4"/>
                    <a:stretch>
                      <a:fillRect l="-4000" t="-10884" r="-36000" b="-6803"/>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8AE40657-1031-448C-A4D9-24F68F910341}"/>
                  </a:ext>
                </a:extLst>
              </p:cNvPr>
              <p:cNvSpPr txBox="1"/>
              <p:nvPr/>
            </p:nvSpPr>
            <p:spPr>
              <a:xfrm>
                <a:off x="4809071" y="3638435"/>
                <a:ext cx="516466" cy="461665"/>
              </a:xfrm>
              <a:prstGeom prst="rect">
                <a:avLst/>
              </a:prstGeom>
              <a:noFill/>
            </p:spPr>
            <p:txBody>
              <a:bodyPr wrap="square" rtlCol="0">
                <a:spAutoFit/>
              </a:bodyPr>
              <a:lstStyle/>
              <a:p>
                <a:r>
                  <a:rPr lang="en-US" altLang="zh-TW" sz="2400" b="1" dirty="0">
                    <a:solidFill>
                      <a:srgbClr val="FF0000"/>
                    </a:solidFill>
                  </a:rPr>
                  <a:t>P1</a:t>
                </a:r>
                <a:endParaRPr lang="zh-TW" altLang="en-US" sz="2400" b="1" dirty="0">
                  <a:solidFill>
                    <a:srgbClr val="FF0000"/>
                  </a:solidFill>
                </a:endParaRPr>
              </a:p>
            </p:txBody>
          </p:sp>
          <p:sp>
            <p:nvSpPr>
              <p:cNvPr id="15" name="文字方塊 14">
                <a:extLst>
                  <a:ext uri="{FF2B5EF4-FFF2-40B4-BE49-F238E27FC236}">
                    <a16:creationId xmlns:a16="http://schemas.microsoft.com/office/drawing/2014/main" id="{D72E3C9E-F1C5-4412-9D66-FFC829DEB1D9}"/>
                  </a:ext>
                </a:extLst>
              </p:cNvPr>
              <p:cNvSpPr txBox="1"/>
              <p:nvPr/>
            </p:nvSpPr>
            <p:spPr>
              <a:xfrm>
                <a:off x="4165602" y="2427700"/>
                <a:ext cx="516466" cy="461665"/>
              </a:xfrm>
              <a:prstGeom prst="rect">
                <a:avLst/>
              </a:prstGeom>
              <a:noFill/>
            </p:spPr>
            <p:txBody>
              <a:bodyPr wrap="square" rtlCol="0">
                <a:spAutoFit/>
              </a:bodyPr>
              <a:lstStyle/>
              <a:p>
                <a:r>
                  <a:rPr lang="en-US" altLang="zh-TW" sz="2400" b="1" dirty="0">
                    <a:solidFill>
                      <a:srgbClr val="FF0000"/>
                    </a:solidFill>
                  </a:rPr>
                  <a:t>P5</a:t>
                </a:r>
                <a:endParaRPr lang="zh-TW" altLang="en-US" sz="2400" b="1" dirty="0">
                  <a:solidFill>
                    <a:srgbClr val="FF0000"/>
                  </a:solidFill>
                </a:endParaRPr>
              </a:p>
            </p:txBody>
          </p:sp>
          <p:sp>
            <p:nvSpPr>
              <p:cNvPr id="14" name="文字方塊 13">
                <a:extLst>
                  <a:ext uri="{FF2B5EF4-FFF2-40B4-BE49-F238E27FC236}">
                    <a16:creationId xmlns:a16="http://schemas.microsoft.com/office/drawing/2014/main" id="{6EBE3124-E78F-43FB-9199-917095FCC580}"/>
                  </a:ext>
                </a:extLst>
              </p:cNvPr>
              <p:cNvSpPr txBox="1"/>
              <p:nvPr/>
            </p:nvSpPr>
            <p:spPr>
              <a:xfrm>
                <a:off x="2489202" y="2447223"/>
                <a:ext cx="516466" cy="461665"/>
              </a:xfrm>
              <a:prstGeom prst="rect">
                <a:avLst/>
              </a:prstGeom>
              <a:noFill/>
            </p:spPr>
            <p:txBody>
              <a:bodyPr wrap="square" rtlCol="0">
                <a:spAutoFit/>
              </a:bodyPr>
              <a:lstStyle/>
              <a:p>
                <a:r>
                  <a:rPr lang="en-US" altLang="zh-TW" sz="2400" b="1" dirty="0">
                    <a:solidFill>
                      <a:srgbClr val="FF0000"/>
                    </a:solidFill>
                  </a:rPr>
                  <a:t>P3</a:t>
                </a:r>
                <a:endParaRPr lang="zh-TW" altLang="en-US" sz="2400" b="1" dirty="0">
                  <a:solidFill>
                    <a:srgbClr val="FF0000"/>
                  </a:solidFill>
                </a:endParaRPr>
              </a:p>
            </p:txBody>
          </p:sp>
          <p:sp>
            <p:nvSpPr>
              <p:cNvPr id="20" name="文字方塊 19">
                <a:extLst>
                  <a:ext uri="{FF2B5EF4-FFF2-40B4-BE49-F238E27FC236}">
                    <a16:creationId xmlns:a16="http://schemas.microsoft.com/office/drawing/2014/main" id="{B0FDEC11-AEB6-4036-8112-D94BFF1A310A}"/>
                  </a:ext>
                </a:extLst>
              </p:cNvPr>
              <p:cNvSpPr txBox="1"/>
              <p:nvPr/>
            </p:nvSpPr>
            <p:spPr>
              <a:xfrm>
                <a:off x="4165602" y="4806832"/>
                <a:ext cx="516466" cy="461665"/>
              </a:xfrm>
              <a:prstGeom prst="rect">
                <a:avLst/>
              </a:prstGeom>
              <a:noFill/>
            </p:spPr>
            <p:txBody>
              <a:bodyPr wrap="square" rtlCol="0">
                <a:spAutoFit/>
              </a:bodyPr>
              <a:lstStyle/>
              <a:p>
                <a:r>
                  <a:rPr lang="en-US" altLang="zh-TW" sz="2400" b="1" dirty="0">
                    <a:solidFill>
                      <a:srgbClr val="FF0000"/>
                    </a:solidFill>
                  </a:rPr>
                  <a:t>P4</a:t>
                </a:r>
                <a:endParaRPr lang="zh-TW" altLang="en-US" sz="2400" b="1" dirty="0">
                  <a:solidFill>
                    <a:srgbClr val="FF0000"/>
                  </a:solidFill>
                </a:endParaRPr>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78EBD6D-62AE-441A-90B8-C293F22D1BA0}"/>
                      </a:ext>
                    </a:extLst>
                  </p:cNvPr>
                  <p:cNvSpPr txBox="1"/>
                  <p:nvPr/>
                </p:nvSpPr>
                <p:spPr>
                  <a:xfrm>
                    <a:off x="3187700" y="5548720"/>
                    <a:ext cx="8912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8" name="文字方塊 27">
                    <a:extLst>
                      <a:ext uri="{FF2B5EF4-FFF2-40B4-BE49-F238E27FC236}">
                        <a16:creationId xmlns:a16="http://schemas.microsoft.com/office/drawing/2014/main" id="{A78EBD6D-62AE-441A-90B8-C293F22D1BA0}"/>
                      </a:ext>
                    </a:extLst>
                  </p:cNvPr>
                  <p:cNvSpPr txBox="1">
                    <a:spLocks noRot="1" noChangeAspect="1" noMove="1" noResize="1" noEditPoints="1" noAdjustHandles="1" noChangeArrowheads="1" noChangeShapeType="1" noTextEdit="1"/>
                  </p:cNvSpPr>
                  <p:nvPr/>
                </p:nvSpPr>
                <p:spPr>
                  <a:xfrm>
                    <a:off x="3187700" y="5548720"/>
                    <a:ext cx="891270" cy="307777"/>
                  </a:xfrm>
                  <a:prstGeom prst="rect">
                    <a:avLst/>
                  </a:prstGeom>
                  <a:blipFill>
                    <a:blip r:embed="rId5"/>
                    <a:stretch>
                      <a:fillRect l="-4110" t="-1961" r="-10274" b="-33333"/>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193AEBC4-A127-4463-AACD-719EFC10D233}"/>
                  </a:ext>
                </a:extLst>
              </p:cNvPr>
              <p:cNvSpPr txBox="1"/>
              <p:nvPr/>
            </p:nvSpPr>
            <p:spPr>
              <a:xfrm>
                <a:off x="2489202" y="4798365"/>
                <a:ext cx="516466" cy="461665"/>
              </a:xfrm>
              <a:prstGeom prst="rect">
                <a:avLst/>
              </a:prstGeom>
              <a:noFill/>
            </p:spPr>
            <p:txBody>
              <a:bodyPr wrap="square" rtlCol="0">
                <a:spAutoFit/>
              </a:bodyPr>
              <a:lstStyle/>
              <a:p>
                <a:r>
                  <a:rPr lang="en-US" altLang="zh-TW" sz="2400" b="1" dirty="0">
                    <a:solidFill>
                      <a:srgbClr val="FF0000"/>
                    </a:solidFill>
                  </a:rPr>
                  <a:t>P6</a:t>
                </a:r>
                <a:endParaRPr lang="zh-TW" altLang="en-US" sz="2400" b="1" dirty="0">
                  <a:solidFill>
                    <a:srgbClr val="FF0000"/>
                  </a:solidFill>
                </a:endParaRPr>
              </a:p>
            </p:txBody>
          </p:sp>
          <p:sp>
            <p:nvSpPr>
              <p:cNvPr id="12" name="文字方塊 11">
                <a:extLst>
                  <a:ext uri="{FF2B5EF4-FFF2-40B4-BE49-F238E27FC236}">
                    <a16:creationId xmlns:a16="http://schemas.microsoft.com/office/drawing/2014/main" id="{4AD49A9E-9AF1-42D6-8A88-19BA4EB49796}"/>
                  </a:ext>
                </a:extLst>
              </p:cNvPr>
              <p:cNvSpPr txBox="1"/>
              <p:nvPr/>
            </p:nvSpPr>
            <p:spPr>
              <a:xfrm>
                <a:off x="1935313" y="3638435"/>
                <a:ext cx="516466" cy="461665"/>
              </a:xfrm>
              <a:prstGeom prst="rect">
                <a:avLst/>
              </a:prstGeom>
              <a:noFill/>
            </p:spPr>
            <p:txBody>
              <a:bodyPr wrap="square" rtlCol="0">
                <a:spAutoFit/>
              </a:bodyPr>
              <a:lstStyle/>
              <a:p>
                <a:r>
                  <a:rPr lang="en-US" altLang="zh-TW" sz="2400" b="1" dirty="0">
                    <a:solidFill>
                      <a:srgbClr val="FF0000"/>
                    </a:solidFill>
                  </a:rPr>
                  <a:t>P2</a:t>
                </a:r>
                <a:endParaRPr lang="zh-TW" altLang="en-US" sz="2400" b="1" dirty="0">
                  <a:solidFill>
                    <a:srgbClr val="FF0000"/>
                  </a:solidFill>
                </a:endParaRPr>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BDB6F4CE-21C6-4DFF-A293-2C7DF6583880}"/>
                      </a:ext>
                    </a:extLst>
                  </p:cNvPr>
                  <p:cNvSpPr txBox="1"/>
                  <p:nvPr/>
                </p:nvSpPr>
                <p:spPr>
                  <a:xfrm rot="16200000">
                    <a:off x="1201793" y="3698389"/>
                    <a:ext cx="8976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9" name="文字方塊 28">
                    <a:extLst>
                      <a:ext uri="{FF2B5EF4-FFF2-40B4-BE49-F238E27FC236}">
                        <a16:creationId xmlns:a16="http://schemas.microsoft.com/office/drawing/2014/main" id="{BDB6F4CE-21C6-4DFF-A293-2C7DF6583880}"/>
                      </a:ext>
                    </a:extLst>
                  </p:cNvPr>
                  <p:cNvSpPr txBox="1">
                    <a:spLocks noRot="1" noChangeAspect="1" noMove="1" noResize="1" noEditPoints="1" noAdjustHandles="1" noChangeArrowheads="1" noChangeShapeType="1" noTextEdit="1"/>
                  </p:cNvSpPr>
                  <p:nvPr/>
                </p:nvSpPr>
                <p:spPr>
                  <a:xfrm rot="16200000">
                    <a:off x="1201793" y="3698389"/>
                    <a:ext cx="897682" cy="307777"/>
                  </a:xfrm>
                  <a:prstGeom prst="rect">
                    <a:avLst/>
                  </a:prstGeom>
                  <a:blipFill>
                    <a:blip r:embed="rId6"/>
                    <a:stretch>
                      <a:fillRect l="-1961" t="-10884" r="-33333" b="-7483"/>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66160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86267" y="4876086"/>
            <a:ext cx="9491132" cy="8735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Two 3D views of the central spherical region are also presented. These views clearly show that the magnetic flux emerges from pole P2 and is then received by the other magnetic poles.</a:t>
            </a:r>
            <a:endParaRPr lang="zh-TW" altLang="en-US" dirty="0">
              <a:latin typeface="Times New Roman" panose="02020603050405020304" pitchFamily="18" charset="0"/>
              <a:cs typeface="Times New Roman" panose="02020603050405020304" pitchFamily="18" charset="0"/>
            </a:endParaRPr>
          </a:p>
        </p:txBody>
      </p:sp>
      <p:grpSp>
        <p:nvGrpSpPr>
          <p:cNvPr id="15" name="群組 14">
            <a:extLst>
              <a:ext uri="{FF2B5EF4-FFF2-40B4-BE49-F238E27FC236}">
                <a16:creationId xmlns:a16="http://schemas.microsoft.com/office/drawing/2014/main" id="{71F356A7-0F86-4F80-B8C7-C0BFACA376AC}"/>
              </a:ext>
            </a:extLst>
          </p:cNvPr>
          <p:cNvGrpSpPr/>
          <p:nvPr/>
        </p:nvGrpSpPr>
        <p:grpSpPr>
          <a:xfrm>
            <a:off x="1139475" y="953711"/>
            <a:ext cx="8537924" cy="3540300"/>
            <a:chOff x="1257032" y="1339668"/>
            <a:chExt cx="9013035" cy="3741404"/>
          </a:xfrm>
        </p:grpSpPr>
        <p:pic>
          <p:nvPicPr>
            <p:cNvPr id="16" name="圖片 15">
              <a:extLst>
                <a:ext uri="{FF2B5EF4-FFF2-40B4-BE49-F238E27FC236}">
                  <a16:creationId xmlns:a16="http://schemas.microsoft.com/office/drawing/2014/main" id="{5597486B-848B-4221-A01F-EB932C48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682" y="1339668"/>
              <a:ext cx="8493385" cy="3432942"/>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7930E2C-1E82-4A26-A2E7-158DE77E49AF}"/>
                    </a:ext>
                  </a:extLst>
                </p:cNvPr>
                <p:cNvSpPr txBox="1"/>
                <p:nvPr/>
              </p:nvSpPr>
              <p:spPr>
                <a:xfrm rot="19298709">
                  <a:off x="1661419" y="3891742"/>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17" name="文字方塊 16">
                  <a:extLst>
                    <a:ext uri="{FF2B5EF4-FFF2-40B4-BE49-F238E27FC236}">
                      <a16:creationId xmlns:a16="http://schemas.microsoft.com/office/drawing/2014/main" id="{07930E2C-1E82-4A26-A2E7-158DE77E49AF}"/>
                    </a:ext>
                  </a:extLst>
                </p:cNvPr>
                <p:cNvSpPr txBox="1">
                  <a:spLocks noRot="1" noChangeAspect="1" noMove="1" noResize="1" noEditPoints="1" noAdjustHandles="1" noChangeArrowheads="1" noChangeShapeType="1" noTextEdit="1"/>
                </p:cNvSpPr>
                <p:nvPr/>
              </p:nvSpPr>
              <p:spPr>
                <a:xfrm rot="19298709">
                  <a:off x="1661419" y="3891742"/>
                  <a:ext cx="580494" cy="739483"/>
                </a:xfrm>
                <a:prstGeom prst="rect">
                  <a:avLst/>
                </a:prstGeom>
                <a:blipFill>
                  <a:blip r:embed="rId3"/>
                  <a:stretch>
                    <a:fillRect b="-6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D570927-CB9B-4120-AA60-E9ACE7DFD9C1}"/>
                    </a:ext>
                  </a:extLst>
                </p:cNvPr>
                <p:cNvSpPr txBox="1"/>
                <p:nvPr/>
              </p:nvSpPr>
              <p:spPr>
                <a:xfrm rot="15396139">
                  <a:off x="3879022" y="4319747"/>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0" name="文字方塊 19">
                  <a:extLst>
                    <a:ext uri="{FF2B5EF4-FFF2-40B4-BE49-F238E27FC236}">
                      <a16:creationId xmlns:a16="http://schemas.microsoft.com/office/drawing/2014/main" id="{8D570927-CB9B-4120-AA60-E9ACE7DFD9C1}"/>
                    </a:ext>
                  </a:extLst>
                </p:cNvPr>
                <p:cNvSpPr txBox="1">
                  <a:spLocks noRot="1" noChangeAspect="1" noMove="1" noResize="1" noEditPoints="1" noAdjustHandles="1" noChangeArrowheads="1" noChangeShapeType="1" noTextEdit="1"/>
                </p:cNvSpPr>
                <p:nvPr/>
              </p:nvSpPr>
              <p:spPr>
                <a:xfrm rot="15396139">
                  <a:off x="3879022" y="4319747"/>
                  <a:ext cx="581130" cy="738673"/>
                </a:xfrm>
                <a:prstGeom prst="rect">
                  <a:avLst/>
                </a:prstGeom>
                <a:blipFill>
                  <a:blip r:embed="rId4"/>
                  <a:stretch>
                    <a:fillRect r="-135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BFC1C62-FD09-4AAF-B51A-BBEB0C11E032}"/>
                    </a:ext>
                  </a:extLst>
                </p:cNvPr>
                <p:cNvSpPr txBox="1"/>
                <p:nvPr/>
              </p:nvSpPr>
              <p:spPr>
                <a:xfrm rot="10800000">
                  <a:off x="1257032" y="2559799"/>
                  <a:ext cx="580494" cy="76012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2BFC1C62-FD09-4AAF-B51A-BBEB0C11E032}"/>
                    </a:ext>
                  </a:extLst>
                </p:cNvPr>
                <p:cNvSpPr txBox="1">
                  <a:spLocks noRot="1" noChangeAspect="1" noMove="1" noResize="1" noEditPoints="1" noAdjustHandles="1" noChangeArrowheads="1" noChangeShapeType="1" noTextEdit="1"/>
                </p:cNvSpPr>
                <p:nvPr/>
              </p:nvSpPr>
              <p:spPr>
                <a:xfrm rot="10800000">
                  <a:off x="1257032" y="2559799"/>
                  <a:ext cx="580494" cy="760129"/>
                </a:xfrm>
                <a:prstGeom prst="rect">
                  <a:avLst/>
                </a:prstGeom>
                <a:blipFill>
                  <a:blip r:embed="rId5"/>
                  <a:stretch>
                    <a:fillRect t="-177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04DB4083-6EA8-4CD9-9B72-38F6986AB676}"/>
                    </a:ext>
                  </a:extLst>
                </p:cNvPr>
                <p:cNvSpPr txBox="1"/>
                <p:nvPr/>
              </p:nvSpPr>
              <p:spPr>
                <a:xfrm rot="10800000">
                  <a:off x="4880023" y="2742906"/>
                  <a:ext cx="580494" cy="996867"/>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04DB4083-6EA8-4CD9-9B72-38F6986AB676}"/>
                    </a:ext>
                  </a:extLst>
                </p:cNvPr>
                <p:cNvSpPr txBox="1">
                  <a:spLocks noRot="1" noChangeAspect="1" noMove="1" noResize="1" noEditPoints="1" noAdjustHandles="1" noChangeArrowheads="1" noChangeShapeType="1" noTextEdit="1"/>
                </p:cNvSpPr>
                <p:nvPr/>
              </p:nvSpPr>
              <p:spPr>
                <a:xfrm rot="10800000">
                  <a:off x="4880023" y="2742906"/>
                  <a:ext cx="580494" cy="99686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1429D37-B8DA-4A46-A33D-2BE259795933}"/>
                    </a:ext>
                  </a:extLst>
                </p:cNvPr>
                <p:cNvSpPr txBox="1"/>
                <p:nvPr/>
              </p:nvSpPr>
              <p:spPr>
                <a:xfrm rot="16470662">
                  <a:off x="6262350" y="4421170"/>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51429D37-B8DA-4A46-A33D-2BE259795933}"/>
                    </a:ext>
                  </a:extLst>
                </p:cNvPr>
                <p:cNvSpPr txBox="1">
                  <a:spLocks noRot="1" noChangeAspect="1" noMove="1" noResize="1" noEditPoints="1" noAdjustHandles="1" noChangeArrowheads="1" noChangeShapeType="1" noTextEdit="1"/>
                </p:cNvSpPr>
                <p:nvPr/>
              </p:nvSpPr>
              <p:spPr>
                <a:xfrm rot="16470662">
                  <a:off x="6262350" y="4421170"/>
                  <a:ext cx="581130" cy="738673"/>
                </a:xfrm>
                <a:prstGeom prst="rect">
                  <a:avLst/>
                </a:prstGeom>
                <a:blipFill>
                  <a:blip r:embed="rId7"/>
                  <a:stretch>
                    <a:fillRect r="-188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4BDABCEF-28D3-42F9-9B2C-BEFEE52776AF}"/>
                    </a:ext>
                  </a:extLst>
                </p:cNvPr>
                <p:cNvSpPr txBox="1"/>
                <p:nvPr/>
              </p:nvSpPr>
              <p:spPr>
                <a:xfrm rot="12331078">
                  <a:off x="8546862" y="3931803"/>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4BDABCEF-28D3-42F9-9B2C-BEFEE52776AF}"/>
                    </a:ext>
                  </a:extLst>
                </p:cNvPr>
                <p:cNvSpPr txBox="1">
                  <a:spLocks noRot="1" noChangeAspect="1" noMove="1" noResize="1" noEditPoints="1" noAdjustHandles="1" noChangeArrowheads="1" noChangeShapeType="1" noTextEdit="1"/>
                </p:cNvSpPr>
                <p:nvPr/>
              </p:nvSpPr>
              <p:spPr>
                <a:xfrm rot="12331078">
                  <a:off x="8546862" y="3931803"/>
                  <a:ext cx="580494" cy="739483"/>
                </a:xfrm>
                <a:prstGeom prst="rect">
                  <a:avLst/>
                </a:prstGeom>
                <a:blipFill>
                  <a:blip r:embed="rId8"/>
                  <a:stretch>
                    <a:fillRect t="-2083"/>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46482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813300"/>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 </a:t>
            </a: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Charge-location model</a:t>
            </a:r>
            <a:endParaRPr lang="zh-TW" altLang="zh-TW" sz="1800" kern="100" dirty="0">
              <a:effectLst/>
              <a:latin typeface="Aptos"/>
              <a:ea typeface="新細明體" panose="02020500000000000000" pitchFamily="18" charset="-120"/>
              <a:cs typeface="Times New Roman" panose="02020603050405020304" pitchFamily="18" charset="0"/>
            </a:endParaRPr>
          </a:p>
          <a:p>
            <a:pPr lvl="0">
              <a:lnSpc>
                <a:spcPct val="115000"/>
              </a:lnSpc>
              <a:spcAft>
                <a:spcPts val="800"/>
              </a:spcAft>
            </a:pP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41" name="群組 40">
            <a:extLst>
              <a:ext uri="{FF2B5EF4-FFF2-40B4-BE49-F238E27FC236}">
                <a16:creationId xmlns:a16="http://schemas.microsoft.com/office/drawing/2014/main" id="{E5D74248-2FB9-447E-806C-879E4EA42806}"/>
              </a:ext>
            </a:extLst>
          </p:cNvPr>
          <p:cNvGrpSpPr/>
          <p:nvPr/>
        </p:nvGrpSpPr>
        <p:grpSpPr>
          <a:xfrm>
            <a:off x="248852" y="731027"/>
            <a:ext cx="6168881" cy="3223850"/>
            <a:chOff x="993919" y="2062391"/>
            <a:chExt cx="6168881" cy="3223850"/>
          </a:xfrm>
        </p:grpSpPr>
        <p:pic>
          <p:nvPicPr>
            <p:cNvPr id="42" name="圖片 41">
              <a:extLst>
                <a:ext uri="{FF2B5EF4-FFF2-40B4-BE49-F238E27FC236}">
                  <a16:creationId xmlns:a16="http://schemas.microsoft.com/office/drawing/2014/main" id="{E9B9F390-E249-4AE4-825F-C2F0956E3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6EA59F1-6545-4924-8CB2-3B8DCE3FE7FE}"/>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44" name="流程圖: 接點 43">
              <a:extLst>
                <a:ext uri="{FF2B5EF4-FFF2-40B4-BE49-F238E27FC236}">
                  <a16:creationId xmlns:a16="http://schemas.microsoft.com/office/drawing/2014/main" id="{79E84CC5-B121-4A76-8AED-C5FA912EB4DB}"/>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流程圖: 接點 44">
              <a:extLst>
                <a:ext uri="{FF2B5EF4-FFF2-40B4-BE49-F238E27FC236}">
                  <a16:creationId xmlns:a16="http://schemas.microsoft.com/office/drawing/2014/main" id="{6E922107-DB2F-4528-92B8-BB413A77C35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A9C4A2B7-ECCE-4C37-A3E3-74474ED139A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73A518E-4196-493F-AA17-EAE8E882E004}"/>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3" name="文字方塊 2">
            <a:extLst>
              <a:ext uri="{FF2B5EF4-FFF2-40B4-BE49-F238E27FC236}">
                <a16:creationId xmlns:a16="http://schemas.microsoft.com/office/drawing/2014/main" id="{6E14EA9D-F563-4C83-AF17-053A51497E94}"/>
              </a:ext>
            </a:extLst>
          </p:cNvPr>
          <p:cNvSpPr txBox="1"/>
          <p:nvPr/>
        </p:nvSpPr>
        <p:spPr>
          <a:xfrm>
            <a:off x="6481232" y="656272"/>
            <a:ext cx="5461915"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21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2" name="群組 11">
            <a:extLst>
              <a:ext uri="{FF2B5EF4-FFF2-40B4-BE49-F238E27FC236}">
                <a16:creationId xmlns:a16="http://schemas.microsoft.com/office/drawing/2014/main" id="{CEAE18FC-9EE7-4435-BAB1-9248663C9F44}"/>
              </a:ext>
            </a:extLst>
          </p:cNvPr>
          <p:cNvGrpSpPr/>
          <p:nvPr/>
        </p:nvGrpSpPr>
        <p:grpSpPr>
          <a:xfrm>
            <a:off x="213893" y="762087"/>
            <a:ext cx="4239177" cy="4070816"/>
            <a:chOff x="6699757" y="1408712"/>
            <a:chExt cx="4239177" cy="4070816"/>
          </a:xfrm>
        </p:grpSpPr>
        <p:pic>
          <p:nvPicPr>
            <p:cNvPr id="13" name="圖片 12">
              <a:extLst>
                <a:ext uri="{FF2B5EF4-FFF2-40B4-BE49-F238E27FC236}">
                  <a16:creationId xmlns:a16="http://schemas.microsoft.com/office/drawing/2014/main" id="{F47A8023-42E1-413C-B2F6-B59CEFD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0217" y="1408712"/>
              <a:ext cx="3838717" cy="3772888"/>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3B36AA3-C2D5-4458-B140-6119FE1F4076}"/>
                    </a:ext>
                  </a:extLst>
                </p:cNvPr>
                <p:cNvSpPr txBox="1"/>
                <p:nvPr/>
              </p:nvSpPr>
              <p:spPr>
                <a:xfrm>
                  <a:off x="8886053" y="332748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𝒙</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14" name="文字方塊 13">
                  <a:extLst>
                    <a:ext uri="{FF2B5EF4-FFF2-40B4-BE49-F238E27FC236}">
                      <a16:creationId xmlns:a16="http://schemas.microsoft.com/office/drawing/2014/main" id="{23B36AA3-C2D5-4458-B140-6119FE1F4076}"/>
                    </a:ext>
                  </a:extLst>
                </p:cNvPr>
                <p:cNvSpPr txBox="1">
                  <a:spLocks noRot="1" noChangeAspect="1" noMove="1" noResize="1" noEditPoints="1" noAdjustHandles="1" noChangeArrowheads="1" noChangeShapeType="1" noTextEdit="1"/>
                </p:cNvSpPr>
                <p:nvPr/>
              </p:nvSpPr>
              <p:spPr>
                <a:xfrm>
                  <a:off x="8886053" y="3327480"/>
                  <a:ext cx="623935" cy="41447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88DB032-8448-4BE0-8A63-56E40746539F}"/>
                    </a:ext>
                  </a:extLst>
                </p:cNvPr>
                <p:cNvSpPr txBox="1"/>
                <p:nvPr/>
              </p:nvSpPr>
              <p:spPr>
                <a:xfrm>
                  <a:off x="9366204" y="2939165"/>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𝒚</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15" name="文字方塊 14">
                  <a:extLst>
                    <a:ext uri="{FF2B5EF4-FFF2-40B4-BE49-F238E27FC236}">
                      <a16:creationId xmlns:a16="http://schemas.microsoft.com/office/drawing/2014/main" id="{488DB032-8448-4BE0-8A63-56E40746539F}"/>
                    </a:ext>
                  </a:extLst>
                </p:cNvPr>
                <p:cNvSpPr txBox="1">
                  <a:spLocks noRot="1" noChangeAspect="1" noMove="1" noResize="1" noEditPoints="1" noAdjustHandles="1" noChangeArrowheads="1" noChangeShapeType="1" noTextEdit="1"/>
                </p:cNvSpPr>
                <p:nvPr/>
              </p:nvSpPr>
              <p:spPr>
                <a:xfrm>
                  <a:off x="9366204" y="2939165"/>
                  <a:ext cx="623935" cy="414478"/>
                </a:xfrm>
                <a:prstGeom prst="rect">
                  <a:avLst/>
                </a:prstGeom>
                <a:blipFill>
                  <a:blip r:embed="rId5"/>
                  <a:stretch>
                    <a:fillRect b="-735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B2E39C46-90A9-4109-A14F-26CE67886198}"/>
                    </a:ext>
                  </a:extLst>
                </p:cNvPr>
                <p:cNvSpPr txBox="1"/>
                <p:nvPr/>
              </p:nvSpPr>
              <p:spPr>
                <a:xfrm>
                  <a:off x="9285506" y="255085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i="1" smtClean="0">
                                <a:solidFill>
                                  <a:schemeClr val="accent1"/>
                                </a:solidFill>
                                <a:latin typeface="Cambria Math" panose="02040503050406030204" pitchFamily="18" charset="0"/>
                              </a:rPr>
                            </m:ctrlPr>
                          </m:sSubPr>
                          <m:e>
                            <m:r>
                              <a:rPr lang="en-US" altLang="zh-TW" sz="2000" b="1" i="1" smtClean="0">
                                <a:solidFill>
                                  <a:schemeClr val="accent1"/>
                                </a:solidFill>
                                <a:latin typeface="Cambria Math" panose="02040503050406030204" pitchFamily="18" charset="0"/>
                              </a:rPr>
                              <m:t>𝒛</m:t>
                            </m:r>
                          </m:e>
                          <m:sub>
                            <m:r>
                              <a:rPr lang="en-US" altLang="zh-TW" sz="2000" b="1" i="1" smtClean="0">
                                <a:solidFill>
                                  <a:schemeClr val="accent1"/>
                                </a:solidFill>
                                <a:latin typeface="Cambria Math" panose="02040503050406030204" pitchFamily="18" charset="0"/>
                              </a:rPr>
                              <m:t>𝒂</m:t>
                            </m:r>
                          </m:sub>
                        </m:sSub>
                      </m:oMath>
                    </m:oMathPara>
                  </a14:m>
                  <a:endParaRPr lang="zh-TW" altLang="en-US" sz="3200" b="1" dirty="0">
                    <a:solidFill>
                      <a:srgbClr val="FF0000"/>
                    </a:solidFill>
                  </a:endParaRPr>
                </a:p>
              </p:txBody>
            </p:sp>
          </mc:Choice>
          <mc:Fallback xmlns="">
            <p:sp>
              <p:nvSpPr>
                <p:cNvPr id="16" name="文字方塊 15">
                  <a:extLst>
                    <a:ext uri="{FF2B5EF4-FFF2-40B4-BE49-F238E27FC236}">
                      <a16:creationId xmlns:a16="http://schemas.microsoft.com/office/drawing/2014/main" id="{B2E39C46-90A9-4109-A14F-26CE67886198}"/>
                    </a:ext>
                  </a:extLst>
                </p:cNvPr>
                <p:cNvSpPr txBox="1">
                  <a:spLocks noRot="1" noChangeAspect="1" noMove="1" noResize="1" noEditPoints="1" noAdjustHandles="1" noChangeArrowheads="1" noChangeShapeType="1" noTextEdit="1"/>
                </p:cNvSpPr>
                <p:nvPr/>
              </p:nvSpPr>
              <p:spPr>
                <a:xfrm>
                  <a:off x="9285506" y="2550850"/>
                  <a:ext cx="623935" cy="41447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F9AE951-04CE-41B8-9C4D-CAF613B68EC8}"/>
                    </a:ext>
                  </a:extLst>
                </p:cNvPr>
                <p:cNvSpPr txBox="1"/>
                <p:nvPr/>
              </p:nvSpPr>
              <p:spPr>
                <a:xfrm rot="19091857">
                  <a:off x="7123023" y="4318598"/>
                  <a:ext cx="529196"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1" smtClean="0">
                            <a:latin typeface="Cambria Math" panose="02040503050406030204" pitchFamily="18" charset="0"/>
                          </a:rPr>
                          <m:t>𝒙</m:t>
                        </m:r>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𝒎𝒎</m:t>
                        </m:r>
                        <m:r>
                          <a:rPr lang="en-US" altLang="zh-TW" sz="2400" b="1" i="1"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FF9AE951-04CE-41B8-9C4D-CAF613B68EC8}"/>
                    </a:ext>
                  </a:extLst>
                </p:cNvPr>
                <p:cNvSpPr txBox="1">
                  <a:spLocks noRot="1" noChangeAspect="1" noMove="1" noResize="1" noEditPoints="1" noAdjustHandles="1" noChangeArrowheads="1" noChangeShapeType="1" noTextEdit="1"/>
                </p:cNvSpPr>
                <p:nvPr/>
              </p:nvSpPr>
              <p:spPr>
                <a:xfrm rot="19091857">
                  <a:off x="7123023" y="4318598"/>
                  <a:ext cx="529196" cy="699735"/>
                </a:xfrm>
                <a:prstGeom prst="rect">
                  <a:avLst/>
                </a:prstGeom>
                <a:blipFill>
                  <a:blip r:embed="rId7"/>
                  <a:stretch>
                    <a:fillRect r="-4930" b="-145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CE9C3455-67ED-4035-B41C-6658A47E0813}"/>
                    </a:ext>
                  </a:extLst>
                </p:cNvPr>
                <p:cNvSpPr txBox="1"/>
                <p:nvPr/>
              </p:nvSpPr>
              <p:spPr>
                <a:xfrm rot="15569608">
                  <a:off x="9644843" y="4865062"/>
                  <a:ext cx="529196"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1" smtClean="0">
                            <a:latin typeface="Cambria Math" panose="02040503050406030204" pitchFamily="18" charset="0"/>
                          </a:rPr>
                          <m:t>𝒚</m:t>
                        </m:r>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𝒎𝒎</m:t>
                        </m:r>
                        <m:r>
                          <a:rPr lang="en-US" altLang="zh-TW" sz="2400" b="1" i="1" smtClean="0">
                            <a:latin typeface="Cambria Math" panose="02040503050406030204" pitchFamily="18" charset="0"/>
                          </a:rPr>
                          <m:t>)</m:t>
                        </m:r>
                      </m:oMath>
                    </m:oMathPara>
                  </a14:m>
                  <a:endParaRPr lang="zh-TW" altLang="en-US" sz="2400" b="1" dirty="0"/>
                </a:p>
              </p:txBody>
            </p:sp>
          </mc:Choice>
          <mc:Fallback xmlns="">
            <p:sp>
              <p:nvSpPr>
                <p:cNvPr id="24" name="文字方塊 23">
                  <a:extLst>
                    <a:ext uri="{FF2B5EF4-FFF2-40B4-BE49-F238E27FC236}">
                      <a16:creationId xmlns:a16="http://schemas.microsoft.com/office/drawing/2014/main" id="{CE9C3455-67ED-4035-B41C-6658A47E0813}"/>
                    </a:ext>
                  </a:extLst>
                </p:cNvPr>
                <p:cNvSpPr txBox="1">
                  <a:spLocks noRot="1" noChangeAspect="1" noMove="1" noResize="1" noEditPoints="1" noAdjustHandles="1" noChangeArrowheads="1" noChangeShapeType="1" noTextEdit="1"/>
                </p:cNvSpPr>
                <p:nvPr/>
              </p:nvSpPr>
              <p:spPr>
                <a:xfrm rot="15569608">
                  <a:off x="9644843" y="4865062"/>
                  <a:ext cx="529196" cy="699735"/>
                </a:xfrm>
                <a:prstGeom prst="rect">
                  <a:avLst/>
                </a:prstGeom>
                <a:blipFill>
                  <a:blip r:embed="rId8"/>
                  <a:stretch>
                    <a:fillRect r="-3565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4080182-E948-44FD-8D97-568D1FC08FB1}"/>
                    </a:ext>
                  </a:extLst>
                </p:cNvPr>
                <p:cNvSpPr txBox="1"/>
                <p:nvPr/>
              </p:nvSpPr>
              <p:spPr>
                <a:xfrm rot="10800000">
                  <a:off x="6699757" y="2763514"/>
                  <a:ext cx="514823"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1" smtClean="0">
                            <a:latin typeface="Cambria Math" panose="02040503050406030204" pitchFamily="18" charset="0"/>
                          </a:rPr>
                          <m:t>𝒛</m:t>
                        </m:r>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𝒎𝒎</m:t>
                        </m:r>
                        <m:r>
                          <a:rPr lang="en-US" altLang="zh-TW" sz="2400" b="1" i="1"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14080182-E948-44FD-8D97-568D1FC08FB1}"/>
                    </a:ext>
                  </a:extLst>
                </p:cNvPr>
                <p:cNvSpPr txBox="1">
                  <a:spLocks noRot="1" noChangeAspect="1" noMove="1" noResize="1" noEditPoints="1" noAdjustHandles="1" noChangeArrowheads="1" noChangeShapeType="1" noTextEdit="1"/>
                </p:cNvSpPr>
                <p:nvPr/>
              </p:nvSpPr>
              <p:spPr>
                <a:xfrm rot="10800000">
                  <a:off x="6699757" y="2763514"/>
                  <a:ext cx="514823" cy="719271"/>
                </a:xfrm>
                <a:prstGeom prst="rect">
                  <a:avLst/>
                </a:prstGeom>
                <a:blipFill>
                  <a:blip r:embed="rId9"/>
                  <a:stretch>
                    <a:fillRect t="-38136"/>
                  </a:stretch>
                </a:blipFill>
              </p:spPr>
              <p:txBody>
                <a:bodyPr/>
                <a:lstStyle/>
                <a:p>
                  <a:r>
                    <a:rPr lang="zh-TW" altLang="en-US">
                      <a:noFill/>
                    </a:rPr>
                    <a:t> </a:t>
                  </a:r>
                </a:p>
              </p:txBody>
            </p:sp>
          </mc:Fallback>
        </mc:AlternateContent>
      </p:grpSp>
      <p:sp>
        <p:nvSpPr>
          <p:cNvPr id="26" name="文字方塊 25">
            <a:extLst>
              <a:ext uri="{FF2B5EF4-FFF2-40B4-BE49-F238E27FC236}">
                <a16:creationId xmlns:a16="http://schemas.microsoft.com/office/drawing/2014/main" id="{0CE4A89D-7C4F-47E6-AFD7-2D7F5FD3E175}"/>
              </a:ext>
            </a:extLst>
          </p:cNvPr>
          <p:cNvSpPr txBox="1"/>
          <p:nvPr/>
        </p:nvSpPr>
        <p:spPr>
          <a:xfrm>
            <a:off x="4918337" y="1150217"/>
            <a:ext cx="6802360" cy="29510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consists of two parts. The first part shows the outer spherical surface formed by the six magnetic pole tips, as described previously. The size of this spherical surface is determined by the geometric design of the magnetic tweezer. The second part, shown in green, represents the model’s sampling region. It is recommended that the sampling region cover the entire operating range, because the model exhibits reduced performance outside the sampled region.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380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416640"/>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416640"/>
                <a:ext cx="3508909" cy="321563"/>
              </a:xfrm>
              <a:prstGeom prst="rect">
                <a:avLst/>
              </a:prstGeom>
              <a:blipFill>
                <a:blip r:embed="rId2"/>
                <a:stretch>
                  <a:fillRect l="-1215" t="-13208" r="-6944" b="-22642"/>
                </a:stretch>
              </a:blipFill>
            </p:spPr>
            <p:txBody>
              <a:bodyPr/>
              <a:lstStyle/>
              <a:p>
                <a:r>
                  <a:rPr lang="zh-TW" altLang="en-US">
                    <a:noFill/>
                  </a:rPr>
                  <a:t> </a:t>
                </a:r>
              </a:p>
            </p:txBody>
          </p:sp>
        </mc:Fallback>
      </mc:AlternateContent>
      <p:grpSp>
        <p:nvGrpSpPr>
          <p:cNvPr id="26" name="群組 25">
            <a:extLst>
              <a:ext uri="{FF2B5EF4-FFF2-40B4-BE49-F238E27FC236}">
                <a16:creationId xmlns:a16="http://schemas.microsoft.com/office/drawing/2014/main" id="{CA630F8B-829D-4AA0-B747-4BBA5D0C06F8}"/>
              </a:ext>
            </a:extLst>
          </p:cNvPr>
          <p:cNvGrpSpPr/>
          <p:nvPr/>
        </p:nvGrpSpPr>
        <p:grpSpPr>
          <a:xfrm>
            <a:off x="176458" y="1046609"/>
            <a:ext cx="4836947" cy="4764782"/>
            <a:chOff x="1110365" y="214247"/>
            <a:chExt cx="4836947" cy="4764782"/>
          </a:xfrm>
        </p:grpSpPr>
        <p:pic>
          <p:nvPicPr>
            <p:cNvPr id="27" name="圖片 26">
              <a:extLst>
                <a:ext uri="{FF2B5EF4-FFF2-40B4-BE49-F238E27FC236}">
                  <a16:creationId xmlns:a16="http://schemas.microsoft.com/office/drawing/2014/main" id="{9DE31391-5987-4BB5-957D-9C77737CF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59" y="214247"/>
              <a:ext cx="4769653" cy="4520022"/>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D8F57F3F-3E26-46A6-9ECE-60EBB67FF9DE}"/>
                    </a:ext>
                  </a:extLst>
                </p:cNvPr>
                <p:cNvSpPr txBox="1"/>
                <p:nvPr/>
              </p:nvSpPr>
              <p:spPr>
                <a:xfrm rot="16200000">
                  <a:off x="855231" y="1022424"/>
                  <a:ext cx="801501"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zh-TW" altLang="en-US" b="1" i="1" smtClean="0">
                                <a:latin typeface="Cambria Math" panose="02040503050406030204" pitchFamily="18" charset="0"/>
                              </a:rPr>
                              <m:t>𝓵</m:t>
                            </m:r>
                          </m:e>
                        </m:acc>
                        <m:r>
                          <a:rPr lang="en-US" altLang="zh-TW" b="1" i="1" smtClean="0">
                            <a:latin typeface="Cambria Math" panose="02040503050406030204" pitchFamily="18" charset="0"/>
                          </a:rPr>
                          <m:t> (</m:t>
                        </m:r>
                        <m:r>
                          <a:rPr lang="en-US" altLang="zh-TW" b="1" i="1" smtClean="0">
                            <a:latin typeface="Cambria Math" panose="02040503050406030204" pitchFamily="18" charset="0"/>
                          </a:rPr>
                          <m:t>𝒖𝒎</m:t>
                        </m:r>
                        <m:r>
                          <a:rPr lang="en-US" altLang="zh-TW" b="1" i="1" smtClean="0">
                            <a:latin typeface="Cambria Math" panose="02040503050406030204" pitchFamily="18" charset="0"/>
                          </a:rPr>
                          <m:t>)</m:t>
                        </m:r>
                      </m:oMath>
                    </m:oMathPara>
                  </a14:m>
                  <a:endParaRPr lang="zh-TW" altLang="en-US" b="1" dirty="0">
                    <a:latin typeface="Arial" panose="020B0604020202020204" pitchFamily="34" charset="0"/>
                    <a:cs typeface="Arial" panose="020B0604020202020204" pitchFamily="34" charset="0"/>
                  </a:endParaRPr>
                </a:p>
              </p:txBody>
            </p:sp>
          </mc:Choice>
          <mc:Fallback xmlns="">
            <p:sp>
              <p:nvSpPr>
                <p:cNvPr id="28" name="文字方塊 27">
                  <a:extLst>
                    <a:ext uri="{FF2B5EF4-FFF2-40B4-BE49-F238E27FC236}">
                      <a16:creationId xmlns:a16="http://schemas.microsoft.com/office/drawing/2014/main" id="{D8F57F3F-3E26-46A6-9ECE-60EBB67FF9DE}"/>
                    </a:ext>
                  </a:extLst>
                </p:cNvPr>
                <p:cNvSpPr txBox="1">
                  <a:spLocks noRot="1" noChangeAspect="1" noMove="1" noResize="1" noEditPoints="1" noAdjustHandles="1" noChangeArrowheads="1" noChangeShapeType="1" noTextEdit="1"/>
                </p:cNvSpPr>
                <p:nvPr/>
              </p:nvSpPr>
              <p:spPr>
                <a:xfrm rot="16200000">
                  <a:off x="855231" y="1022424"/>
                  <a:ext cx="801501" cy="291234"/>
                </a:xfrm>
                <a:prstGeom prst="rect">
                  <a:avLst/>
                </a:prstGeom>
                <a:blipFill>
                  <a:blip r:embed="rId4"/>
                  <a:stretch>
                    <a:fillRect l="-16667" t="-9848" r="-35417" b="-60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A278572-7972-4B71-A7DC-6277C42A3BC0}"/>
                    </a:ext>
                  </a:extLst>
                </p:cNvPr>
                <p:cNvSpPr txBox="1"/>
                <p:nvPr/>
              </p:nvSpPr>
              <p:spPr>
                <a:xfrm>
                  <a:off x="2682571" y="4702030"/>
                  <a:ext cx="24638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𝑺𝒂𝒎𝒑𝒍𝒊𝒏𝒈</m:t>
                        </m:r>
                        <m:r>
                          <a:rPr lang="en-US" altLang="zh-TW" b="1" i="1" smtClean="0">
                            <a:latin typeface="Cambria Math" panose="02040503050406030204" pitchFamily="18" charset="0"/>
                          </a:rPr>
                          <m:t> </m:t>
                        </m:r>
                        <m:r>
                          <a:rPr lang="en-US" altLang="zh-TW" b="1" i="1" smtClean="0">
                            <a:latin typeface="Cambria Math" panose="02040503050406030204" pitchFamily="18" charset="0"/>
                          </a:rPr>
                          <m:t>𝒓𝒂𝒏𝒈𝒆</m:t>
                        </m:r>
                        <m:r>
                          <a:rPr lang="en-US" altLang="zh-TW" b="1" i="1" smtClean="0">
                            <a:latin typeface="Cambria Math" panose="02040503050406030204" pitchFamily="18" charset="0"/>
                          </a:rPr>
                          <m:t>(</m:t>
                        </m:r>
                        <m:r>
                          <a:rPr lang="en-US" altLang="zh-TW" b="1" i="1" smtClean="0">
                            <a:latin typeface="Cambria Math" panose="02040503050406030204" pitchFamily="18" charset="0"/>
                          </a:rPr>
                          <m:t>𝒖𝒎</m:t>
                        </m:r>
                        <m:r>
                          <a:rPr lang="en-US" altLang="zh-TW" b="1" i="1" smtClean="0">
                            <a:latin typeface="Cambria Math" panose="02040503050406030204" pitchFamily="18" charset="0"/>
                          </a:rPr>
                          <m:t>)</m:t>
                        </m:r>
                      </m:oMath>
                    </m:oMathPara>
                  </a14:m>
                  <a:endParaRPr lang="zh-TW" altLang="en-US" b="1" dirty="0"/>
                </a:p>
              </p:txBody>
            </p:sp>
          </mc:Choice>
          <mc:Fallback xmlns="">
            <p:sp>
              <p:nvSpPr>
                <p:cNvPr id="29" name="文字方塊 28">
                  <a:extLst>
                    <a:ext uri="{FF2B5EF4-FFF2-40B4-BE49-F238E27FC236}">
                      <a16:creationId xmlns:a16="http://schemas.microsoft.com/office/drawing/2014/main" id="{8A278572-7972-4B71-A7DC-6277C42A3BC0}"/>
                    </a:ext>
                  </a:extLst>
                </p:cNvPr>
                <p:cNvSpPr txBox="1">
                  <a:spLocks noRot="1" noChangeAspect="1" noMove="1" noResize="1" noEditPoints="1" noAdjustHandles="1" noChangeArrowheads="1" noChangeShapeType="1" noTextEdit="1"/>
                </p:cNvSpPr>
                <p:nvPr/>
              </p:nvSpPr>
              <p:spPr>
                <a:xfrm>
                  <a:off x="2682571" y="4702030"/>
                  <a:ext cx="2463816" cy="276999"/>
                </a:xfrm>
                <a:prstGeom prst="rect">
                  <a:avLst/>
                </a:prstGeom>
                <a:blipFill>
                  <a:blip r:embed="rId5"/>
                  <a:stretch>
                    <a:fillRect l="-3218" t="-6667" r="-3218" b="-35556"/>
                  </a:stretch>
                </a:blipFill>
              </p:spPr>
              <p:txBody>
                <a:bodyPr/>
                <a:lstStyle/>
                <a:p>
                  <a:r>
                    <a:rPr lang="zh-TW" altLang="en-US">
                      <a:noFill/>
                    </a:rPr>
                    <a:t> </a:t>
                  </a:r>
                </a:p>
              </p:txBody>
            </p:sp>
          </mc:Fallback>
        </mc:AlternateContent>
      </p:grpSp>
      <p:sp>
        <p:nvSpPr>
          <p:cNvPr id="6" name="文字方塊 5">
            <a:extLst>
              <a:ext uri="{FF2B5EF4-FFF2-40B4-BE49-F238E27FC236}">
                <a16:creationId xmlns:a16="http://schemas.microsoft.com/office/drawing/2014/main" id="{31ACE95C-3F52-4F1D-AC27-AFA6A8DD7680}"/>
              </a:ext>
            </a:extLst>
          </p:cNvPr>
          <p:cNvSpPr txBox="1"/>
          <p:nvPr/>
        </p:nvSpPr>
        <p:spPr>
          <a:xfrm>
            <a:off x="4943397" y="449633"/>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8FF51F3-095D-484A-BDEA-E3C00BED58DC}"/>
                  </a:ext>
                </a:extLst>
              </p:cNvPr>
              <p:cNvSpPr txBox="1"/>
              <p:nvPr/>
            </p:nvSpPr>
            <p:spPr>
              <a:xfrm>
                <a:off x="5013405" y="3240705"/>
                <a:ext cx="7068528" cy="316766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 left figure shows the trends of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for different sampling ranges. When the sampling range is very small, the sampling sphere is too small and tightly confined around the WP. Consequently, the field distributions generated by the six magnetic poles within the sphere exhibit insufficient variation, causing the estimated values to fluctuate as the sampling range changes and preventing them from converging to stable values. Once the sampling range exceeds approximately 80 </a:t>
                </a:r>
                <a:r>
                  <a:rPr lang="en-US" altLang="zh-TW" dirty="0" err="1"/>
                  <a:t>μm</a:t>
                </a:r>
                <a:r>
                  <a:rPr lang="en-US" altLang="zh-TW" dirty="0"/>
                  <a:t>, sufficient spatial variation in the magnetic field is included, and the estimated values become stable. In this study, the calibration values obtained using a sampling range of 150 </a:t>
                </a:r>
                <a:r>
                  <a:rPr lang="en-US" altLang="zh-TW" dirty="0" err="1"/>
                  <a:t>μm</a:t>
                </a:r>
                <a:r>
                  <a:rPr lang="en-US" altLang="zh-TW" dirty="0"/>
                  <a:t> are adopted because this range covers the required operating region.</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48FF51F3-095D-484A-BDEA-E3C00BED58DC}"/>
                  </a:ext>
                </a:extLst>
              </p:cNvPr>
              <p:cNvSpPr txBox="1">
                <a:spLocks noRot="1" noChangeAspect="1" noMove="1" noResize="1" noEditPoints="1" noAdjustHandles="1" noChangeArrowheads="1" noChangeShapeType="1" noTextEdit="1"/>
              </p:cNvSpPr>
              <p:nvPr/>
            </p:nvSpPr>
            <p:spPr>
              <a:xfrm>
                <a:off x="5013405" y="3240705"/>
                <a:ext cx="7068528" cy="3167662"/>
              </a:xfrm>
              <a:prstGeom prst="rect">
                <a:avLst/>
              </a:prstGeom>
              <a:blipFill>
                <a:blip r:embed="rId9"/>
                <a:stretch>
                  <a:fillRect l="-517" t="-385" r="-86" b="-23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E37FDE3F-DFA3-4ED8-9A80-EF9E57A4AB2A}"/>
                  </a:ext>
                </a:extLst>
              </p:cNvPr>
              <p:cNvSpPr txBox="1"/>
              <p:nvPr/>
            </p:nvSpPr>
            <p:spPr>
              <a:xfrm>
                <a:off x="4934853" y="801849"/>
                <a:ext cx="7013395" cy="1511055"/>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𝐾</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0.0734</m:t>
                                      </m:r>
                                    </m:e>
                                    <m:e>
                                      <m:r>
                                        <a:rPr lang="en-US" altLang="zh-TW" b="0" i="1" smtClean="0">
                                          <a:latin typeface="Cambria Math" panose="02040503050406030204" pitchFamily="18" charset="0"/>
                                        </a:rPr>
                                        <m:t>−0.2013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0.1693</m:t>
                                            </m:r>
                                          </m:e>
                                          <m:e>
                                            <m:r>
                                              <a:rPr lang="en-US" altLang="zh-TW" b="0" i="1" smtClean="0">
                                                <a:latin typeface="Cambria Math" panose="02040503050406030204" pitchFamily="18" charset="0"/>
                                              </a:rPr>
                                              <m:t>−0.1679</m:t>
                                            </m:r>
                                          </m:e>
                                          <m:e>
                                            <m:r>
                                              <a:rPr lang="en-US" altLang="zh-TW" b="0" i="1" smtClean="0">
                                                <a:latin typeface="Cambria Math" panose="02040503050406030204" pitchFamily="18" charset="0"/>
                                              </a:rPr>
                                              <m:t>−0.2032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0.2064</m:t>
                                      </m:r>
                                    </m:e>
                                  </m:mr>
                                  <m:mr>
                                    <m:e>
                                      <m:r>
                                        <a:rPr lang="en-US" altLang="zh-TW" b="0" i="1" smtClean="0">
                                          <a:latin typeface="Cambria Math" panose="02040503050406030204" pitchFamily="18" charset="0"/>
                                        </a:rPr>
                                        <m:t>−0.2062</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0.2378</m:t>
                                            </m:r>
                                          </m:e>
                                        </m:mr>
                                        <m:mr>
                                          <m:e>
                                            <m:r>
                                              <a:rPr lang="en-US" altLang="zh-TW" b="0" i="1" smtClean="0">
                                                <a:latin typeface="Cambria Math" panose="02040503050406030204" pitchFamily="18" charset="0"/>
                                              </a:rPr>
                                              <m:t>−0.2385</m:t>
                                            </m:r>
                                          </m:e>
                                        </m:mr>
                                        <m:mr>
                                          <m:e>
                                            <m:r>
                                              <a:rPr lang="en-US" altLang="zh-TW" b="0" i="1" smtClean="0">
                                                <a:latin typeface="Cambria Math" panose="02040503050406030204" pitchFamily="18" charset="0"/>
                                              </a:rPr>
                                              <m:t>−0.2052</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.9903</m:t>
                                            </m:r>
                                          </m:e>
                                          <m:e>
                                            <m:r>
                                              <a:rPr lang="en-US" altLang="zh-TW" b="0" i="1" smtClean="0">
                                                <a:latin typeface="Cambria Math" panose="02040503050406030204" pitchFamily="18" charset="0"/>
                                              </a:rPr>
                                              <m:t>−0.2362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0.1431</m:t>
                                                  </m:r>
                                                </m:e>
                                                <m:e>
                                                  <m:r>
                                                    <a:rPr lang="en-US" altLang="zh-TW" b="0" i="1" smtClean="0">
                                                      <a:latin typeface="Cambria Math" panose="02040503050406030204" pitchFamily="18" charset="0"/>
                                                    </a:rPr>
                                                    <m:t>−0.1394</m:t>
                                                  </m:r>
                                                </m:e>
                                                <m:e>
                                                  <m:r>
                                                    <a:rPr lang="en-US" altLang="zh-TW" b="0" i="1" smtClean="0">
                                                      <a:latin typeface="Cambria Math" panose="02040503050406030204" pitchFamily="18" charset="0"/>
                                                    </a:rPr>
                                                    <m:t>−0.2428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0.1668</m:t>
                                            </m:r>
                                          </m:e>
                                          <m:e>
                                            <m:r>
                                              <a:rPr lang="en-US" altLang="zh-TW" b="0" i="1" smtClean="0">
                                                <a:latin typeface="Cambria Math" panose="02040503050406030204" pitchFamily="18" charset="0"/>
                                              </a:rPr>
                                              <m:t>0.8422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0.0742</m:t>
                                                  </m:r>
                                                </m:e>
                                                <m:e>
                                                  <m:r>
                                                    <a:rPr lang="en-US" altLang="zh-TW" b="0" i="1" smtClean="0">
                                                      <a:latin typeface="Cambria Math" panose="02040503050406030204" pitchFamily="18" charset="0"/>
                                                    </a:rPr>
                                                    <m:t>−0.1648</m:t>
                                                  </m:r>
                                                </m:e>
                                                <m:e>
                                                  <m:r>
                                                    <a:rPr lang="en-US" altLang="zh-TW" b="0" i="1" smtClean="0">
                                                      <a:latin typeface="Cambria Math" panose="02040503050406030204" pitchFamily="18" charset="0"/>
                                                    </a:rPr>
                                                    <m:t>−0.2040</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0.1423</m:t>
                                                  </m:r>
                                                </m:e>
                                                <m:e>
                                                  <m:r>
                                                    <a:rPr lang="en-US" altLang="zh-TW" b="0" i="1" smtClean="0">
                                                      <a:latin typeface="Cambria Math" panose="02040503050406030204" pitchFamily="18" charset="0"/>
                                                    </a:rPr>
                                                    <m:t>−0.2027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.9951</m:t>
                                                        </m:r>
                                                      </m:e>
                                                      <m:e>
                                                        <m:r>
                                                          <a:rPr lang="en-US" altLang="zh-TW" b="0" i="1" smtClean="0">
                                                            <a:latin typeface="Cambria Math" panose="02040503050406030204" pitchFamily="18" charset="0"/>
                                                          </a:rPr>
                                                          <m:t>−0.1407</m:t>
                                                        </m:r>
                                                      </m:e>
                                                      <m:e>
                                                        <m:r>
                                                          <a:rPr lang="en-US" altLang="zh-TW" b="0" i="1" smtClean="0">
                                                            <a:latin typeface="Cambria Math" panose="02040503050406030204" pitchFamily="18" charset="0"/>
                                                          </a:rPr>
                                                          <m:t>−0.2406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0.1423</m:t>
                                                  </m:r>
                                                </m:e>
                                                <m:e>
                                                  <m:r>
                                                    <a:rPr lang="en-US" altLang="zh-TW" b="0" i="1" smtClean="0">
                                                      <a:latin typeface="Cambria Math" panose="02040503050406030204" pitchFamily="18" charset="0"/>
                                                    </a:rPr>
                                                    <m:t>−0.2323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0.1435</m:t>
                                                        </m:r>
                                                      </m:e>
                                                      <m:e>
                                                        <m:r>
                                                          <a:rPr lang="en-US" altLang="zh-TW" b="0" i="1" smtClean="0">
                                                            <a:latin typeface="Cambria Math" panose="02040503050406030204" pitchFamily="18" charset="0"/>
                                                          </a:rPr>
                                                          <m:t>0.9923</m:t>
                                                        </m:r>
                                                      </m:e>
                                                      <m:e>
                                                        <m:r>
                                                          <a:rPr lang="en-US" altLang="zh-TW" b="0" i="1" smtClean="0">
                                                            <a:latin typeface="Cambria Math" panose="02040503050406030204" pitchFamily="18" charset="0"/>
                                                          </a:rPr>
                                                          <m:t>−0.2032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0.1671</m:t>
                                                  </m:r>
                                                </m:e>
                                                <m:e>
                                                  <m:r>
                                                    <a:rPr lang="en-US" altLang="zh-TW" b="0" i="1" smtClean="0">
                                                      <a:latin typeface="Cambria Math" panose="02040503050406030204" pitchFamily="18" charset="0"/>
                                                    </a:rPr>
                                                    <m:t>−0.2016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0.1667</m:t>
                                                        </m:r>
                                                      </m:e>
                                                      <m:e>
                                                        <m:r>
                                                          <a:rPr lang="en-US" altLang="zh-TW" b="0" i="1" smtClean="0">
                                                            <a:latin typeface="Cambria Math" panose="02040503050406030204" pitchFamily="18" charset="0"/>
                                                          </a:rPr>
                                                          <m:t>−0.0709</m:t>
                                                        </m:r>
                                                      </m:e>
                                                      <m:e>
                                                        <m:r>
                                                          <a:rPr lang="en-US" altLang="zh-TW" b="0" i="1" smtClean="0">
                                                            <a:latin typeface="Cambria Math" panose="02040503050406030204" pitchFamily="18" charset="0"/>
                                                          </a:rPr>
                                                          <m:t>0.8276</m:t>
                                                        </m:r>
                                                      </m:e>
                                                    </m:mr>
                                                  </m:m>
                                                </m:e>
                                              </m:mr>
                                            </m:m>
                                          </m:e>
                                        </m:mr>
                                      </m:m>
                                    </m:e>
                                  </m:mr>
                                </m:m>
                              </m:e>
                            </m:mr>
                          </m:m>
                        </m:e>
                      </m:d>
                    </m:oMath>
                  </m:oMathPara>
                </a14:m>
                <a:endParaRPr lang="zh-TW" altLang="en-US" dirty="0"/>
              </a:p>
            </p:txBody>
          </p:sp>
        </mc:Choice>
        <mc:Fallback xmlns="">
          <p:sp>
            <p:nvSpPr>
              <p:cNvPr id="15" name="文字方塊 14">
                <a:extLst>
                  <a:ext uri="{FF2B5EF4-FFF2-40B4-BE49-F238E27FC236}">
                    <a16:creationId xmlns:a16="http://schemas.microsoft.com/office/drawing/2014/main" id="{E37FDE3F-DFA3-4ED8-9A80-EF9E57A4AB2A}"/>
                  </a:ext>
                </a:extLst>
              </p:cNvPr>
              <p:cNvSpPr txBox="1">
                <a:spLocks noRot="1" noChangeAspect="1" noMove="1" noResize="1" noEditPoints="1" noAdjustHandles="1" noChangeArrowheads="1" noChangeShapeType="1" noTextEdit="1"/>
              </p:cNvSpPr>
              <p:nvPr/>
            </p:nvSpPr>
            <p:spPr>
              <a:xfrm>
                <a:off x="4934853" y="801849"/>
                <a:ext cx="7013395" cy="151105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79A71302-02C1-4BB1-AD43-52D235BC709B}"/>
                  </a:ext>
                </a:extLst>
              </p:cNvPr>
              <p:cNvSpPr txBox="1"/>
              <p:nvPr/>
            </p:nvSpPr>
            <p:spPr>
              <a:xfrm>
                <a:off x="5174285" y="2608114"/>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=860.3 </m:t>
                      </m:r>
                      <m:r>
                        <a:rPr lang="en-US" altLang="zh-TW" b="0" i="1" smtClean="0">
                          <a:latin typeface="Cambria Math" panose="02040503050406030204" pitchFamily="18" charset="0"/>
                        </a:rPr>
                        <m:t>𝑢𝑚</m:t>
                      </m:r>
                    </m:oMath>
                  </m:oMathPara>
                </a14:m>
                <a:endParaRPr lang="zh-TW" altLang="en-US" dirty="0"/>
              </a:p>
            </p:txBody>
          </p:sp>
        </mc:Choice>
        <mc:Fallback xmlns="">
          <p:sp>
            <p:nvSpPr>
              <p:cNvPr id="16" name="文字方塊 15">
                <a:extLst>
                  <a:ext uri="{FF2B5EF4-FFF2-40B4-BE49-F238E27FC236}">
                    <a16:creationId xmlns:a16="http://schemas.microsoft.com/office/drawing/2014/main" id="{79A71302-02C1-4BB1-AD43-52D235BC709B}"/>
                  </a:ext>
                </a:extLst>
              </p:cNvPr>
              <p:cNvSpPr txBox="1">
                <a:spLocks noRot="1" noChangeAspect="1" noMove="1" noResize="1" noEditPoints="1" noAdjustHandles="1" noChangeArrowheads="1" noChangeShapeType="1" noTextEdit="1"/>
              </p:cNvSpPr>
              <p:nvPr/>
            </p:nvSpPr>
            <p:spPr>
              <a:xfrm>
                <a:off x="5174285" y="2608114"/>
                <a:ext cx="1417824" cy="291234"/>
              </a:xfrm>
              <a:prstGeom prst="rect">
                <a:avLst/>
              </a:prstGeom>
              <a:blipFill>
                <a:blip r:embed="rId11"/>
                <a:stretch>
                  <a:fillRect l="-3879" t="-18750" r="-2586" b="-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ABF0CCA-E5B5-473B-A529-1B2B8D65789C}"/>
                  </a:ext>
                </a:extLst>
              </p:cNvPr>
              <p:cNvSpPr txBox="1"/>
              <p:nvPr/>
            </p:nvSpPr>
            <p:spPr>
              <a:xfrm>
                <a:off x="7281852" y="2594008"/>
                <a:ext cx="2059666"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=8. 4534</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7" name="文字方塊 16">
                <a:extLst>
                  <a:ext uri="{FF2B5EF4-FFF2-40B4-BE49-F238E27FC236}">
                    <a16:creationId xmlns:a16="http://schemas.microsoft.com/office/drawing/2014/main" id="{CABF0CCA-E5B5-473B-A529-1B2B8D65789C}"/>
                  </a:ext>
                </a:extLst>
              </p:cNvPr>
              <p:cNvSpPr txBox="1">
                <a:spLocks noRot="1" noChangeAspect="1" noMove="1" noResize="1" noEditPoints="1" noAdjustHandles="1" noChangeArrowheads="1" noChangeShapeType="1" noTextEdit="1"/>
              </p:cNvSpPr>
              <p:nvPr/>
            </p:nvSpPr>
            <p:spPr>
              <a:xfrm>
                <a:off x="7281852" y="2594008"/>
                <a:ext cx="2059666" cy="305340"/>
              </a:xfrm>
              <a:prstGeom prst="rect">
                <a:avLst/>
              </a:prstGeom>
              <a:blipFill>
                <a:blip r:embed="rId12"/>
                <a:stretch>
                  <a:fillRect t="-16000" r="-2671"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5036477" y="533559"/>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5036477" y="533559"/>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21" name="群組 20">
            <a:extLst>
              <a:ext uri="{FF2B5EF4-FFF2-40B4-BE49-F238E27FC236}">
                <a16:creationId xmlns:a16="http://schemas.microsoft.com/office/drawing/2014/main" id="{4E60E85F-5A0B-4708-89BF-45127F8561A6}"/>
              </a:ext>
            </a:extLst>
          </p:cNvPr>
          <p:cNvGrpSpPr/>
          <p:nvPr/>
        </p:nvGrpSpPr>
        <p:grpSpPr>
          <a:xfrm>
            <a:off x="281509" y="1161519"/>
            <a:ext cx="4412674" cy="3050007"/>
            <a:chOff x="5576693" y="729645"/>
            <a:chExt cx="4627825" cy="3596151"/>
          </a:xfrm>
        </p:grpSpPr>
        <p:pic>
          <p:nvPicPr>
            <p:cNvPr id="22" name="圖片 21">
              <a:extLst>
                <a:ext uri="{FF2B5EF4-FFF2-40B4-BE49-F238E27FC236}">
                  <a16:creationId xmlns:a16="http://schemas.microsoft.com/office/drawing/2014/main" id="{55C39458-7C76-474E-B24E-85E9F52B7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4919" y="853522"/>
              <a:ext cx="4369599" cy="3472274"/>
            </a:xfrm>
            <a:prstGeom prst="rect">
              <a:avLst/>
            </a:prstGeom>
          </p:spPr>
        </p:pic>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D9B2C394-82E2-464A-B941-2EF129ED9D43}"/>
                    </a:ext>
                  </a:extLst>
                </p:cNvPr>
                <p:cNvSpPr txBox="1"/>
                <p:nvPr/>
              </p:nvSpPr>
              <p:spPr>
                <a:xfrm rot="16200000">
                  <a:off x="3999327" y="2307011"/>
                  <a:ext cx="3412958" cy="2582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zh-TW" altLang="en-US" sz="1600" b="1" i="1" smtClean="0">
                                <a:latin typeface="Cambria Math" panose="02040503050406030204" pitchFamily="18" charset="0"/>
                              </a:rPr>
                            </m:ctrlPr>
                          </m:fPr>
                          <m:num>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𝒄𝒐𝒖𝒏𝒕</m:t>
                            </m:r>
                          </m:num>
                          <m:den>
                            <m:r>
                              <a:rPr lang="en-US" altLang="zh-TW" sz="1600" b="1" i="1" smtClean="0">
                                <a:latin typeface="Cambria Math" panose="02040503050406030204" pitchFamily="18" charset="0"/>
                              </a:rPr>
                              <m:t>𝒕𝒐𝒕𝒂𝒍</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𝒏𝒐𝒅𝒆</m:t>
                            </m:r>
                          </m:den>
                        </m:f>
                        <m:r>
                          <a:rPr lang="en-US" altLang="zh-TW" sz="1600" b="1" i="1" smtClean="0">
                            <a:latin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ea typeface="Cambria Math" panose="02040503050406030204" pitchFamily="18" charset="0"/>
                          </a:rPr>
                          <m:t>(%)</m:t>
                        </m:r>
                      </m:oMath>
                    </m:oMathPara>
                  </a14:m>
                  <a:endParaRPr lang="zh-TW" altLang="en-US" b="1" dirty="0"/>
                </a:p>
              </p:txBody>
            </p:sp>
          </mc:Choice>
          <mc:Fallback xmlns="">
            <p:sp>
              <p:nvSpPr>
                <p:cNvPr id="23" name="文字方塊 22">
                  <a:extLst>
                    <a:ext uri="{FF2B5EF4-FFF2-40B4-BE49-F238E27FC236}">
                      <a16:creationId xmlns:a16="http://schemas.microsoft.com/office/drawing/2014/main" id="{D9B2C394-82E2-464A-B941-2EF129ED9D43}"/>
                    </a:ext>
                  </a:extLst>
                </p:cNvPr>
                <p:cNvSpPr txBox="1">
                  <a:spLocks noRot="1" noChangeAspect="1" noMove="1" noResize="1" noEditPoints="1" noAdjustHandles="1" noChangeArrowheads="1" noChangeShapeType="1" noTextEdit="1"/>
                </p:cNvSpPr>
                <p:nvPr/>
              </p:nvSpPr>
              <p:spPr>
                <a:xfrm rot="16200000">
                  <a:off x="3999327" y="2307011"/>
                  <a:ext cx="3412958" cy="258226"/>
                </a:xfrm>
                <a:prstGeom prst="rect">
                  <a:avLst/>
                </a:prstGeom>
                <a:blipFill>
                  <a:blip r:embed="rId4"/>
                  <a:stretch>
                    <a:fillRect l="-156098" t="-633" r="-241463" b="-633"/>
                  </a:stretch>
                </a:blipFill>
              </p:spPr>
              <p:txBody>
                <a:bodyPr/>
                <a:lstStyle/>
                <a:p>
                  <a:r>
                    <a:rPr lang="zh-TW" altLang="en-US">
                      <a:noFill/>
                    </a:rPr>
                    <a:t> </a:t>
                  </a:r>
                </a:p>
              </p:txBody>
            </p:sp>
          </mc:Fallback>
        </mc:AlternateContent>
      </p:grpSp>
      <p:sp>
        <p:nvSpPr>
          <p:cNvPr id="24" name="文字方塊 23">
            <a:extLst>
              <a:ext uri="{FF2B5EF4-FFF2-40B4-BE49-F238E27FC236}">
                <a16:creationId xmlns:a16="http://schemas.microsoft.com/office/drawing/2014/main" id="{745AFEF4-E7A8-4692-ADBE-AAAC2F9849EE}"/>
              </a:ext>
            </a:extLst>
          </p:cNvPr>
          <p:cNvSpPr txBox="1"/>
          <p:nvPr/>
        </p:nvSpPr>
        <p:spPr>
          <a:xfrm>
            <a:off x="4918337" y="1150217"/>
            <a:ext cx="6802360" cy="25408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presents the error histogram of the parametric model. The horizontal axis represents the absolute difference between the magnetic-field magnitude obtained from the simulation and that predicted by the model. The vertical axis represents the number of samples within each error interval divided by the total number of samples in the sampling region.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949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2E080BE5-B7C1-4202-8DF4-73FF224DD90D}"/>
              </a:ext>
            </a:extLst>
          </p:cNvPr>
          <p:cNvGrpSpPr/>
          <p:nvPr/>
        </p:nvGrpSpPr>
        <p:grpSpPr>
          <a:xfrm>
            <a:off x="356832" y="1035826"/>
            <a:ext cx="4431757" cy="4424526"/>
            <a:chOff x="7214832" y="405360"/>
            <a:chExt cx="4431757" cy="4424526"/>
          </a:xfrm>
        </p:grpSpPr>
        <p:pic>
          <p:nvPicPr>
            <p:cNvPr id="10" name="圖片 9">
              <a:extLst>
                <a:ext uri="{FF2B5EF4-FFF2-40B4-BE49-F238E27FC236}">
                  <a16:creationId xmlns:a16="http://schemas.microsoft.com/office/drawing/2014/main" id="{8CBC76F5-53A9-4586-98D0-6499FD1C5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030" y="405360"/>
              <a:ext cx="4350559" cy="4137796"/>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6A75E73-5A5B-47AE-A0FD-1A0747386EF9}"/>
                    </a:ext>
                  </a:extLst>
                </p:cNvPr>
                <p:cNvSpPr txBox="1"/>
                <p:nvPr/>
              </p:nvSpPr>
              <p:spPr>
                <a:xfrm rot="16200000">
                  <a:off x="6959698" y="1124025"/>
                  <a:ext cx="801501"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zh-TW" altLang="en-US" b="1" i="1" smtClean="0">
                                <a:latin typeface="Cambria Math" panose="02040503050406030204" pitchFamily="18" charset="0"/>
                              </a:rPr>
                              <m:t>𝓵</m:t>
                            </m:r>
                          </m:e>
                        </m:acc>
                        <m:r>
                          <a:rPr lang="en-US" altLang="zh-TW" b="1" i="1" smtClean="0">
                            <a:latin typeface="Cambria Math" panose="02040503050406030204" pitchFamily="18" charset="0"/>
                          </a:rPr>
                          <m:t> (</m:t>
                        </m:r>
                        <m:r>
                          <a:rPr lang="en-US" altLang="zh-TW" b="1" i="1" smtClean="0">
                            <a:latin typeface="Cambria Math" panose="02040503050406030204" pitchFamily="18" charset="0"/>
                          </a:rPr>
                          <m:t>𝒖𝒎</m:t>
                        </m:r>
                        <m:r>
                          <a:rPr lang="en-US" altLang="zh-TW" b="1" i="1" smtClean="0">
                            <a:latin typeface="Cambria Math" panose="02040503050406030204" pitchFamily="18" charset="0"/>
                          </a:rPr>
                          <m:t>)</m:t>
                        </m:r>
                      </m:oMath>
                    </m:oMathPara>
                  </a14:m>
                  <a:endParaRPr lang="zh-TW" altLang="en-US" b="1" dirty="0">
                    <a:latin typeface="Arial" panose="020B0604020202020204" pitchFamily="34" charset="0"/>
                    <a:cs typeface="Arial" panose="020B0604020202020204" pitchFamily="34" charset="0"/>
                  </a:endParaRPr>
                </a:p>
              </p:txBody>
            </p:sp>
          </mc:Choice>
          <mc:Fallback xmlns="">
            <p:sp>
              <p:nvSpPr>
                <p:cNvPr id="11" name="文字方塊 10">
                  <a:extLst>
                    <a:ext uri="{FF2B5EF4-FFF2-40B4-BE49-F238E27FC236}">
                      <a16:creationId xmlns:a16="http://schemas.microsoft.com/office/drawing/2014/main" id="{B6A75E73-5A5B-47AE-A0FD-1A0747386EF9}"/>
                    </a:ext>
                  </a:extLst>
                </p:cNvPr>
                <p:cNvSpPr txBox="1">
                  <a:spLocks noRot="1" noChangeAspect="1" noMove="1" noResize="1" noEditPoints="1" noAdjustHandles="1" noChangeArrowheads="1" noChangeShapeType="1" noTextEdit="1"/>
                </p:cNvSpPr>
                <p:nvPr/>
              </p:nvSpPr>
              <p:spPr>
                <a:xfrm rot="16200000">
                  <a:off x="6959698" y="1124025"/>
                  <a:ext cx="801501" cy="291234"/>
                </a:xfrm>
                <a:prstGeom prst="rect">
                  <a:avLst/>
                </a:prstGeom>
                <a:blipFill>
                  <a:blip r:embed="rId4"/>
                  <a:stretch>
                    <a:fillRect l="-17021" t="-10687" r="-38298" b="-6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8F55D9E7-A9FA-4768-A086-209E787BC1E9}"/>
                    </a:ext>
                  </a:extLst>
                </p:cNvPr>
                <p:cNvSpPr txBox="1"/>
                <p:nvPr/>
              </p:nvSpPr>
              <p:spPr>
                <a:xfrm>
                  <a:off x="8550525" y="4552887"/>
                  <a:ext cx="24638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𝑺𝒂𝒎𝒑𝒍𝒊𝒏𝒈</m:t>
                        </m:r>
                        <m:r>
                          <a:rPr lang="en-US" altLang="zh-TW" b="1" i="1" smtClean="0">
                            <a:latin typeface="Cambria Math" panose="02040503050406030204" pitchFamily="18" charset="0"/>
                          </a:rPr>
                          <m:t> </m:t>
                        </m:r>
                        <m:r>
                          <a:rPr lang="en-US" altLang="zh-TW" b="1" i="1" smtClean="0">
                            <a:latin typeface="Cambria Math" panose="02040503050406030204" pitchFamily="18" charset="0"/>
                          </a:rPr>
                          <m:t>𝒓𝒂𝒏𝒈𝒆</m:t>
                        </m:r>
                        <m:r>
                          <a:rPr lang="en-US" altLang="zh-TW" b="1" i="1" smtClean="0">
                            <a:latin typeface="Cambria Math" panose="02040503050406030204" pitchFamily="18" charset="0"/>
                          </a:rPr>
                          <m:t>(</m:t>
                        </m:r>
                        <m:r>
                          <a:rPr lang="en-US" altLang="zh-TW" b="1" i="1" smtClean="0">
                            <a:latin typeface="Cambria Math" panose="02040503050406030204" pitchFamily="18" charset="0"/>
                          </a:rPr>
                          <m:t>𝒖𝒎</m:t>
                        </m:r>
                        <m:r>
                          <a:rPr lang="en-US" altLang="zh-TW" b="1" i="1" smtClean="0">
                            <a:latin typeface="Cambria Math" panose="02040503050406030204" pitchFamily="18" charset="0"/>
                          </a:rPr>
                          <m:t>)</m:t>
                        </m:r>
                      </m:oMath>
                    </m:oMathPara>
                  </a14:m>
                  <a:endParaRPr lang="zh-TW" altLang="en-US" b="1" dirty="0"/>
                </a:p>
              </p:txBody>
            </p:sp>
          </mc:Choice>
          <mc:Fallback xmlns="">
            <p:sp>
              <p:nvSpPr>
                <p:cNvPr id="12" name="文字方塊 11">
                  <a:extLst>
                    <a:ext uri="{FF2B5EF4-FFF2-40B4-BE49-F238E27FC236}">
                      <a16:creationId xmlns:a16="http://schemas.microsoft.com/office/drawing/2014/main" id="{8F55D9E7-A9FA-4768-A086-209E787BC1E9}"/>
                    </a:ext>
                  </a:extLst>
                </p:cNvPr>
                <p:cNvSpPr txBox="1">
                  <a:spLocks noRot="1" noChangeAspect="1" noMove="1" noResize="1" noEditPoints="1" noAdjustHandles="1" noChangeArrowheads="1" noChangeShapeType="1" noTextEdit="1"/>
                </p:cNvSpPr>
                <p:nvPr/>
              </p:nvSpPr>
              <p:spPr>
                <a:xfrm>
                  <a:off x="8550525" y="4552887"/>
                  <a:ext cx="2463816" cy="276999"/>
                </a:xfrm>
                <a:prstGeom prst="rect">
                  <a:avLst/>
                </a:prstGeom>
                <a:blipFill>
                  <a:blip r:embed="rId5"/>
                  <a:stretch>
                    <a:fillRect l="-3218" t="-4348" r="-3218" b="-34783"/>
                  </a:stretch>
                </a:blipFill>
              </p:spPr>
              <p:txBody>
                <a:bodyPr/>
                <a:lstStyle/>
                <a:p>
                  <a:r>
                    <a:rPr lang="zh-TW" altLang="en-US">
                      <a:noFill/>
                    </a:rPr>
                    <a:t> </a:t>
                  </a:r>
                </a:p>
              </p:txBody>
            </p:sp>
          </mc:Fallback>
        </mc:AlternateContent>
      </p:grpSp>
      <p:sp>
        <p:nvSpPr>
          <p:cNvPr id="19" name="文字方塊 18">
            <a:extLst>
              <a:ext uri="{FF2B5EF4-FFF2-40B4-BE49-F238E27FC236}">
                <a16:creationId xmlns:a16="http://schemas.microsoft.com/office/drawing/2014/main" id="{EBA17566-B42C-4B02-B869-9832F66C8C0A}"/>
              </a:ext>
            </a:extLst>
          </p:cNvPr>
          <p:cNvSpPr txBox="1"/>
          <p:nvPr/>
        </p:nvSpPr>
        <p:spPr>
          <a:xfrm>
            <a:off x="5207579" y="612760"/>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36B864DE-D4E0-45CF-A983-5B487047D8F7}"/>
                  </a:ext>
                </a:extLst>
              </p:cNvPr>
              <p:cNvSpPr txBox="1"/>
              <p:nvPr/>
            </p:nvSpPr>
            <p:spPr>
              <a:xfrm>
                <a:off x="4818002" y="3026630"/>
                <a:ext cx="7120466" cy="383137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shows the trends of the eighteen parameters. A notable difference can be observed in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whose trend is opposite to that of the one-parameter model. In the eighteen-parameter model, the additional degrees of freedom associated with the magnetic charge locations allow the model to simultaneously fit the magnetic field in both the near-field and near-pole regions. As the sampling sphere becomes larger, a greater magnetic charge strength is required to reproduce the magnetic field over the expanded region. Therefore,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increases as the sampling range increases.</a:t>
                </a:r>
                <a:endParaRPr lang="zh-TW" altLang="en-US" dirty="0"/>
              </a:p>
            </p:txBody>
          </p:sp>
        </mc:Choice>
        <mc:Fallback xmlns="">
          <p:sp>
            <p:nvSpPr>
              <p:cNvPr id="14" name="文字方塊 13">
                <a:extLst>
                  <a:ext uri="{FF2B5EF4-FFF2-40B4-BE49-F238E27FC236}">
                    <a16:creationId xmlns:a16="http://schemas.microsoft.com/office/drawing/2014/main" id="{36B864DE-D4E0-45CF-A983-5B487047D8F7}"/>
                  </a:ext>
                </a:extLst>
              </p:cNvPr>
              <p:cNvSpPr txBox="1">
                <a:spLocks noRot="1" noChangeAspect="1" noMove="1" noResize="1" noEditPoints="1" noAdjustHandles="1" noChangeArrowheads="1" noChangeShapeType="1" noTextEdit="1"/>
              </p:cNvSpPr>
              <p:nvPr/>
            </p:nvSpPr>
            <p:spPr>
              <a:xfrm>
                <a:off x="4818002" y="3026630"/>
                <a:ext cx="7120466" cy="3831370"/>
              </a:xfrm>
              <a:prstGeom prst="rect">
                <a:avLst/>
              </a:prstGeom>
              <a:blipFill>
                <a:blip r:embed="rId9"/>
                <a:stretch>
                  <a:fillRect l="-514" r="-3168" b="-254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514A624-EDE9-40AF-BE57-A60AD18744E7}"/>
                  </a:ext>
                </a:extLst>
              </p:cNvPr>
              <p:cNvSpPr txBox="1"/>
              <p:nvPr/>
            </p:nvSpPr>
            <p:spPr>
              <a:xfrm>
                <a:off x="4869788" y="972964"/>
                <a:ext cx="7013395" cy="15110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𝐾</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0.1241</m:t>
                                      </m:r>
                                    </m:e>
                                    <m:e>
                                      <m:r>
                                        <a:rPr lang="en-US" altLang="zh-TW" b="0" i="1" smtClean="0">
                                          <a:latin typeface="Cambria Math" panose="02040503050406030204" pitchFamily="18" charset="0"/>
                                        </a:rPr>
                                        <m:t>−0.1247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0.1993</m:t>
                                            </m:r>
                                          </m:e>
                                          <m:e>
                                            <m:r>
                                              <a:rPr lang="en-US" altLang="zh-TW" b="0" i="1" smtClean="0">
                                                <a:latin typeface="Cambria Math" panose="02040503050406030204" pitchFamily="18" charset="0"/>
                                              </a:rPr>
                                              <m:t>−0.1996</m:t>
                                            </m:r>
                                          </m:e>
                                          <m:e>
                                            <m:r>
                                              <a:rPr lang="en-US" altLang="zh-TW" b="0" i="1" smtClean="0">
                                                <a:latin typeface="Cambria Math" panose="02040503050406030204" pitchFamily="18" charset="0"/>
                                              </a:rPr>
                                              <m:t>−0.1228</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0.1116</m:t>
                                      </m:r>
                                    </m:e>
                                  </m:mr>
                                  <m:mr>
                                    <m:e>
                                      <m:r>
                                        <a:rPr lang="en-US" altLang="zh-TW" b="0" i="1" smtClean="0">
                                          <a:latin typeface="Cambria Math" panose="02040503050406030204" pitchFamily="18" charset="0"/>
                                        </a:rPr>
                                        <m:t>−0.1239</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0.2063</m:t>
                                            </m:r>
                                          </m:e>
                                        </m:mr>
                                        <m:mr>
                                          <m:e>
                                            <m:r>
                                              <a:rPr lang="en-US" altLang="zh-TW" b="0" i="1" smtClean="0">
                                                <a:latin typeface="Cambria Math" panose="02040503050406030204" pitchFamily="18" charset="0"/>
                                              </a:rPr>
                                              <m:t>−0.2062</m:t>
                                            </m:r>
                                          </m:e>
                                        </m:mr>
                                        <m:mr>
                                          <m:e>
                                            <m:r>
                                              <a:rPr lang="en-US" altLang="zh-TW" b="0" i="1" smtClean="0">
                                                <a:latin typeface="Cambria Math" panose="02040503050406030204" pitchFamily="18" charset="0"/>
                                              </a:rPr>
                                              <m:t>−0.1237</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.8173</m:t>
                                            </m:r>
                                          </m:e>
                                          <m:e>
                                            <m:r>
                                              <a:rPr lang="en-US" altLang="zh-TW" b="0" i="1" smtClean="0">
                                                <a:latin typeface="Cambria Math" panose="02040503050406030204" pitchFamily="18" charset="0"/>
                                              </a:rPr>
                                              <m:t>−0.2089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0.1208</m:t>
                                                  </m:r>
                                                </m:e>
                                                <m:e>
                                                  <m:r>
                                                    <a:rPr lang="en-US" altLang="zh-TW" b="0" i="1" smtClean="0">
                                                      <a:latin typeface="Cambria Math" panose="02040503050406030204" pitchFamily="18" charset="0"/>
                                                    </a:rPr>
                                                    <m:t>−0.1198</m:t>
                                                  </m:r>
                                                </m:e>
                                                <m:e>
                                                  <m:r>
                                                    <a:rPr lang="en-US" altLang="zh-TW" b="0" i="1" smtClean="0">
                                                      <a:latin typeface="Cambria Math" panose="02040503050406030204" pitchFamily="18" charset="0"/>
                                                    </a:rPr>
                                                    <m:t>−0.2102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0.1971</m:t>
                                            </m:r>
                                          </m:e>
                                          <m:e>
                                            <m:r>
                                              <a:rPr lang="en-US" altLang="zh-TW" b="0" i="1" smtClean="0">
                                                <a:latin typeface="Cambria Math" panose="02040503050406030204" pitchFamily="18" charset="0"/>
                                              </a:rPr>
                                              <m:t>0.8358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0.1243</m:t>
                                                  </m:r>
                                                </m:e>
                                                <m:e>
                                                  <m:r>
                                                    <a:rPr lang="en-US" altLang="zh-TW" b="0" i="1" smtClean="0">
                                                      <a:latin typeface="Cambria Math" panose="02040503050406030204" pitchFamily="18" charset="0"/>
                                                    </a:rPr>
                                                    <m:t>−0.1970</m:t>
                                                  </m:r>
                                                </m:e>
                                                <m:e>
                                                  <m:r>
                                                    <a:rPr lang="en-US" altLang="zh-TW" b="0" i="1" smtClean="0">
                                                      <a:latin typeface="Cambria Math" panose="02040503050406030204" pitchFamily="18" charset="0"/>
                                                    </a:rPr>
                                                    <m:t>−0.1232</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0.1207</m:t>
                                                  </m:r>
                                                </m:e>
                                                <m:e>
                                                  <m:r>
                                                    <a:rPr lang="en-US" altLang="zh-TW" b="0" i="1" smtClean="0">
                                                      <a:latin typeface="Cambria Math" panose="02040503050406030204" pitchFamily="18" charset="0"/>
                                                    </a:rPr>
                                                    <m:t>−0.1130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.8230</m:t>
                                                        </m:r>
                                                      </m:e>
                                                      <m:e>
                                                        <m:r>
                                                          <a:rPr lang="en-US" altLang="zh-TW" b="0" i="1" smtClean="0">
                                                            <a:latin typeface="Cambria Math" panose="02040503050406030204" pitchFamily="18" charset="0"/>
                                                          </a:rPr>
                                                          <m:t>−0.1206</m:t>
                                                        </m:r>
                                                      </m:e>
                                                      <m:e>
                                                        <m:r>
                                                          <a:rPr lang="en-US" altLang="zh-TW" b="0" i="1" smtClean="0">
                                                            <a:latin typeface="Cambria Math" panose="02040503050406030204" pitchFamily="18" charset="0"/>
                                                          </a:rPr>
                                                          <m:t>−0.2085</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0.1206</m:t>
                                                  </m:r>
                                                </m:e>
                                                <m:e>
                                                  <m:r>
                                                    <a:rPr lang="en-US" altLang="zh-TW" b="0" i="1" smtClean="0">
                                                      <a:latin typeface="Cambria Math" panose="02040503050406030204" pitchFamily="18" charset="0"/>
                                                    </a:rPr>
                                                    <m:t>−0.2053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0.1211</m:t>
                                                        </m:r>
                                                      </m:e>
                                                      <m:e>
                                                        <m:r>
                                                          <a:rPr lang="en-US" altLang="zh-TW" b="0" i="1" smtClean="0">
                                                            <a:latin typeface="Cambria Math" panose="02040503050406030204" pitchFamily="18" charset="0"/>
                                                          </a:rPr>
                                                          <m:t>0.8174</m:t>
                                                        </m:r>
                                                      </m:e>
                                                      <m:e>
                                                        <m:r>
                                                          <a:rPr lang="en-US" altLang="zh-TW" b="0" i="1" smtClean="0">
                                                            <a:latin typeface="Cambria Math" panose="02040503050406030204" pitchFamily="18" charset="0"/>
                                                          </a:rPr>
                                                          <m:t>−0.1098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0.1973</m:t>
                                                  </m:r>
                                                </m:e>
                                                <m:e>
                                                  <m:r>
                                                    <a:rPr lang="en-US" altLang="zh-TW" b="0" i="1" smtClean="0">
                                                      <a:latin typeface="Cambria Math" panose="02040503050406030204" pitchFamily="18" charset="0"/>
                                                    </a:rPr>
                                                    <m:t>−0.1254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0.1968</m:t>
                                                        </m:r>
                                                      </m:e>
                                                      <m:e>
                                                        <m:r>
                                                          <a:rPr lang="en-US" altLang="zh-TW" b="0" i="1" smtClean="0">
                                                            <a:latin typeface="Cambria Math" panose="02040503050406030204" pitchFamily="18" charset="0"/>
                                                          </a:rPr>
                                                          <m:t>−0.1234</m:t>
                                                        </m:r>
                                                      </m:e>
                                                      <m:e>
                                                        <m:r>
                                                          <a:rPr lang="en-US" altLang="zh-TW" b="0" i="1" smtClean="0">
                                                            <a:latin typeface="Cambria Math" panose="02040503050406030204" pitchFamily="18" charset="0"/>
                                                          </a:rPr>
                                                          <m:t>0.8277</m:t>
                                                        </m:r>
                                                      </m:e>
                                                    </m:mr>
                                                  </m:m>
                                                </m:e>
                                              </m:mr>
                                            </m:m>
                                          </m:e>
                                        </m:mr>
                                      </m:m>
                                    </m:e>
                                  </m:mr>
                                </m:m>
                              </m:e>
                            </m:mr>
                          </m:m>
                        </m:e>
                      </m:d>
                    </m:oMath>
                  </m:oMathPara>
                </a14:m>
                <a:endParaRPr lang="zh-TW" altLang="en-US" dirty="0"/>
              </a:p>
            </p:txBody>
          </p:sp>
        </mc:Choice>
        <mc:Fallback xmlns="">
          <p:sp>
            <p:nvSpPr>
              <p:cNvPr id="16" name="文字方塊 15">
                <a:extLst>
                  <a:ext uri="{FF2B5EF4-FFF2-40B4-BE49-F238E27FC236}">
                    <a16:creationId xmlns:a16="http://schemas.microsoft.com/office/drawing/2014/main" id="{3514A624-EDE9-40AF-BE57-A60AD18744E7}"/>
                  </a:ext>
                </a:extLst>
              </p:cNvPr>
              <p:cNvSpPr txBox="1">
                <a:spLocks noRot="1" noChangeAspect="1" noMove="1" noResize="1" noEditPoints="1" noAdjustHandles="1" noChangeArrowheads="1" noChangeShapeType="1" noTextEdit="1"/>
              </p:cNvSpPr>
              <p:nvPr/>
            </p:nvSpPr>
            <p:spPr>
              <a:xfrm>
                <a:off x="4869788" y="972964"/>
                <a:ext cx="7013395" cy="151105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F6595C69-CAA3-4008-80B0-FCBDF01775AC}"/>
                  </a:ext>
                </a:extLst>
              </p:cNvPr>
              <p:cNvSpPr txBox="1"/>
              <p:nvPr/>
            </p:nvSpPr>
            <p:spPr>
              <a:xfrm>
                <a:off x="5029767" y="2673768"/>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=857.3 </m:t>
                      </m:r>
                      <m:r>
                        <a:rPr lang="en-US" altLang="zh-TW" b="0" i="1" smtClean="0">
                          <a:latin typeface="Cambria Math" panose="02040503050406030204" pitchFamily="18" charset="0"/>
                        </a:rPr>
                        <m:t>𝑢𝑚</m:t>
                      </m:r>
                    </m:oMath>
                  </m:oMathPara>
                </a14:m>
                <a:endParaRPr lang="zh-TW" altLang="en-US" dirty="0"/>
              </a:p>
            </p:txBody>
          </p:sp>
        </mc:Choice>
        <mc:Fallback>
          <p:sp>
            <p:nvSpPr>
              <p:cNvPr id="17" name="文字方塊 16">
                <a:extLst>
                  <a:ext uri="{FF2B5EF4-FFF2-40B4-BE49-F238E27FC236}">
                    <a16:creationId xmlns:a16="http://schemas.microsoft.com/office/drawing/2014/main" id="{F6595C69-CAA3-4008-80B0-FCBDF01775AC}"/>
                  </a:ext>
                </a:extLst>
              </p:cNvPr>
              <p:cNvSpPr txBox="1">
                <a:spLocks noRot="1" noChangeAspect="1" noMove="1" noResize="1" noEditPoints="1" noAdjustHandles="1" noChangeArrowheads="1" noChangeShapeType="1" noTextEdit="1"/>
              </p:cNvSpPr>
              <p:nvPr/>
            </p:nvSpPr>
            <p:spPr>
              <a:xfrm>
                <a:off x="5029767" y="2673768"/>
                <a:ext cx="1417824" cy="291234"/>
              </a:xfrm>
              <a:prstGeom prst="rect">
                <a:avLst/>
              </a:prstGeom>
              <a:blipFill>
                <a:blip r:embed="rId11"/>
                <a:stretch>
                  <a:fillRect l="-3863" t="-19149" r="-2146"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134DFDD4-5BF9-44FC-9723-CF4F06DE5453}"/>
                  </a:ext>
                </a:extLst>
              </p:cNvPr>
              <p:cNvSpPr txBox="1"/>
              <p:nvPr/>
            </p:nvSpPr>
            <p:spPr>
              <a:xfrm>
                <a:off x="8488610" y="2673768"/>
                <a:ext cx="2072490"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=9.6603 </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xmlns="">
          <p:sp>
            <p:nvSpPr>
              <p:cNvPr id="18" name="文字方塊 17">
                <a:extLst>
                  <a:ext uri="{FF2B5EF4-FFF2-40B4-BE49-F238E27FC236}">
                    <a16:creationId xmlns:a16="http://schemas.microsoft.com/office/drawing/2014/main" id="{134DFDD4-5BF9-44FC-9723-CF4F06DE5453}"/>
                  </a:ext>
                </a:extLst>
              </p:cNvPr>
              <p:cNvSpPr txBox="1">
                <a:spLocks noRot="1" noChangeAspect="1" noMove="1" noResize="1" noEditPoints="1" noAdjustHandles="1" noChangeArrowheads="1" noChangeShapeType="1" noTextEdit="1"/>
              </p:cNvSpPr>
              <p:nvPr/>
            </p:nvSpPr>
            <p:spPr>
              <a:xfrm>
                <a:off x="8488610" y="2673768"/>
                <a:ext cx="2072490" cy="305340"/>
              </a:xfrm>
              <a:prstGeom prst="rect">
                <a:avLst/>
              </a:prstGeom>
              <a:blipFill>
                <a:blip r:embed="rId12"/>
                <a:stretch>
                  <a:fillRect t="-16000" r="-2647"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78317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C68A5AEE-6C0A-482A-90B4-5FFC6F626B14}"/>
              </a:ext>
            </a:extLst>
          </p:cNvPr>
          <p:cNvGrpSpPr/>
          <p:nvPr/>
        </p:nvGrpSpPr>
        <p:grpSpPr>
          <a:xfrm>
            <a:off x="283605" y="1223061"/>
            <a:ext cx="4495246" cy="3112269"/>
            <a:chOff x="5844153" y="491067"/>
            <a:chExt cx="5953563" cy="3958935"/>
          </a:xfrm>
        </p:grpSpPr>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81A334B1-1C9B-4840-972E-1377E8E1ACC5}"/>
                    </a:ext>
                  </a:extLst>
                </p:cNvPr>
                <p:cNvSpPr txBox="1"/>
                <p:nvPr/>
              </p:nvSpPr>
              <p:spPr>
                <a:xfrm rot="16200000">
                  <a:off x="4218148" y="2155666"/>
                  <a:ext cx="3578107" cy="326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zh-TW" altLang="en-US" sz="1600" b="1" i="1" smtClean="0">
                                <a:latin typeface="Cambria Math" panose="02040503050406030204" pitchFamily="18" charset="0"/>
                              </a:rPr>
                            </m:ctrlPr>
                          </m:fPr>
                          <m:num>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𝒄𝒐𝒖𝒏𝒕</m:t>
                            </m:r>
                          </m:num>
                          <m:den>
                            <m:r>
                              <a:rPr lang="en-US" altLang="zh-TW" sz="1600" b="1" i="1" smtClean="0">
                                <a:latin typeface="Cambria Math" panose="02040503050406030204" pitchFamily="18" charset="0"/>
                              </a:rPr>
                              <m:t>𝒕𝒐𝒕𝒂𝒍</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𝒏𝒐𝒅𝒆</m:t>
                            </m:r>
                          </m:den>
                        </m:f>
                        <m:r>
                          <a:rPr lang="en-US" altLang="zh-TW" sz="1600" b="1" i="1" smtClean="0">
                            <a:latin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ea typeface="Cambria Math" panose="02040503050406030204" pitchFamily="18" charset="0"/>
                          </a:rPr>
                          <m:t>(%)</m:t>
                        </m:r>
                      </m:oMath>
                    </m:oMathPara>
                  </a14:m>
                  <a:endParaRPr lang="zh-TW" altLang="en-US" b="1" dirty="0"/>
                </a:p>
              </p:txBody>
            </p:sp>
          </mc:Choice>
          <mc:Fallback xmlns="">
            <p:sp>
              <p:nvSpPr>
                <p:cNvPr id="9" name="文字方塊 8">
                  <a:extLst>
                    <a:ext uri="{FF2B5EF4-FFF2-40B4-BE49-F238E27FC236}">
                      <a16:creationId xmlns:a16="http://schemas.microsoft.com/office/drawing/2014/main" id="{81A334B1-1C9B-4840-972E-1377E8E1ACC5}"/>
                    </a:ext>
                  </a:extLst>
                </p:cNvPr>
                <p:cNvSpPr txBox="1">
                  <a:spLocks noRot="1" noChangeAspect="1" noMove="1" noResize="1" noEditPoints="1" noAdjustHandles="1" noChangeArrowheads="1" noChangeShapeType="1" noTextEdit="1"/>
                </p:cNvSpPr>
                <p:nvPr/>
              </p:nvSpPr>
              <p:spPr>
                <a:xfrm rot="16200000">
                  <a:off x="4218148" y="2155666"/>
                  <a:ext cx="3578107" cy="326098"/>
                </a:xfrm>
                <a:prstGeom prst="rect">
                  <a:avLst/>
                </a:prstGeom>
                <a:blipFill>
                  <a:blip r:embed="rId3"/>
                  <a:stretch>
                    <a:fillRect l="-162500" t="-2169" r="-247500" b="-2169"/>
                  </a:stretch>
                </a:blipFill>
              </p:spPr>
              <p:txBody>
                <a:bodyPr/>
                <a:lstStyle/>
                <a:p>
                  <a:r>
                    <a:rPr lang="zh-TW" altLang="en-US">
                      <a:noFill/>
                    </a:rPr>
                    <a:t> </a:t>
                  </a:r>
                </a:p>
              </p:txBody>
            </p:sp>
          </mc:Fallback>
        </mc:AlternateContent>
        <p:pic>
          <p:nvPicPr>
            <p:cNvPr id="10" name="圖片 9">
              <a:extLst>
                <a:ext uri="{FF2B5EF4-FFF2-40B4-BE49-F238E27FC236}">
                  <a16:creationId xmlns:a16="http://schemas.microsoft.com/office/drawing/2014/main" id="{637CA430-2004-40CE-AD62-D6DCD674AD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4801" y="491067"/>
              <a:ext cx="5612915" cy="3958935"/>
            </a:xfrm>
            <a:prstGeom prst="rect">
              <a:avLst/>
            </a:prstGeom>
          </p:spPr>
        </p:pic>
      </p:grpSp>
      <p:sp>
        <p:nvSpPr>
          <p:cNvPr id="4" name="文字方塊 3">
            <a:extLst>
              <a:ext uri="{FF2B5EF4-FFF2-40B4-BE49-F238E27FC236}">
                <a16:creationId xmlns:a16="http://schemas.microsoft.com/office/drawing/2014/main" id="{16209D20-3D4A-4EC3-83E8-3467A9F0B2BC}"/>
              </a:ext>
            </a:extLst>
          </p:cNvPr>
          <p:cNvSpPr txBox="1"/>
          <p:nvPr/>
        </p:nvSpPr>
        <p:spPr>
          <a:xfrm>
            <a:off x="5054600" y="1083512"/>
            <a:ext cx="6383867"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presents the error histogram of the eighteen-parameter model. The horizontal axis represents the absolute difference between the magnetic-field magnitude obtained from the simulation and that predicted by the model. The vertical axis represents the number of samples within each error interval divided by the total number of samples in the sampling region.</a:t>
            </a:r>
            <a:endParaRPr lang="zh-TW" altLang="en-US" dirty="0"/>
          </a:p>
        </p:txBody>
      </p:sp>
    </p:spTree>
    <p:extLst>
      <p:ext uri="{BB962C8B-B14F-4D97-AF65-F5344CB8AC3E}">
        <p14:creationId xmlns:p14="http://schemas.microsoft.com/office/powerpoint/2010/main" val="329773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2" name="群組 11">
            <a:extLst>
              <a:ext uri="{FF2B5EF4-FFF2-40B4-BE49-F238E27FC236}">
                <a16:creationId xmlns:a16="http://schemas.microsoft.com/office/drawing/2014/main" id="{EDCD57BC-537B-4458-A821-CAFAB15C295C}"/>
              </a:ext>
            </a:extLst>
          </p:cNvPr>
          <p:cNvGrpSpPr/>
          <p:nvPr/>
        </p:nvGrpSpPr>
        <p:grpSpPr>
          <a:xfrm>
            <a:off x="254011" y="1573965"/>
            <a:ext cx="4673590" cy="3522969"/>
            <a:chOff x="5139277" y="3275764"/>
            <a:chExt cx="5063787" cy="3472274"/>
          </a:xfrm>
        </p:grpSpPr>
        <p:pic>
          <p:nvPicPr>
            <p:cNvPr id="13" name="圖片 12">
              <a:extLst>
                <a:ext uri="{FF2B5EF4-FFF2-40B4-BE49-F238E27FC236}">
                  <a16:creationId xmlns:a16="http://schemas.microsoft.com/office/drawing/2014/main" id="{EF77B18F-8747-4B86-8D2A-4EDDA4943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498" y="3275764"/>
              <a:ext cx="4817566" cy="3472274"/>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1DEA0B2A-C87D-4D93-AE20-6E785D98E3BE}"/>
                    </a:ext>
                  </a:extLst>
                </p:cNvPr>
                <p:cNvSpPr txBox="1"/>
                <p:nvPr/>
              </p:nvSpPr>
              <p:spPr>
                <a:xfrm rot="16200000">
                  <a:off x="3855945" y="4691036"/>
                  <a:ext cx="281288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zh-TW" altLang="en-US" sz="1600" b="1" i="1" smtClean="0">
                                <a:latin typeface="Cambria Math" panose="02040503050406030204" pitchFamily="18" charset="0"/>
                              </a:rPr>
                            </m:ctrlPr>
                          </m:fPr>
                          <m:num>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𝒄𝒐𝒖𝒏𝒕</m:t>
                            </m:r>
                          </m:num>
                          <m:den>
                            <m:r>
                              <a:rPr lang="en-US" altLang="zh-TW" sz="1600" b="1" i="1" smtClean="0">
                                <a:latin typeface="Cambria Math" panose="02040503050406030204" pitchFamily="18" charset="0"/>
                              </a:rPr>
                              <m:t>𝒕𝒐𝒕𝒂𝒍</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𝒏𝒐𝒅𝒆</m:t>
                            </m:r>
                          </m:den>
                        </m:f>
                        <m:r>
                          <a:rPr lang="en-US" altLang="zh-TW" sz="1600" b="1" i="1" smtClean="0">
                            <a:latin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ea typeface="Cambria Math" panose="02040503050406030204" pitchFamily="18" charset="0"/>
                          </a:rPr>
                          <m:t>(%)</m:t>
                        </m:r>
                      </m:oMath>
                    </m:oMathPara>
                  </a14:m>
                  <a:endParaRPr lang="zh-TW" altLang="en-US" b="1" dirty="0"/>
                </a:p>
              </p:txBody>
            </p:sp>
          </mc:Choice>
          <mc:Fallback xmlns="">
            <p:sp>
              <p:nvSpPr>
                <p:cNvPr id="14" name="文字方塊 13">
                  <a:extLst>
                    <a:ext uri="{FF2B5EF4-FFF2-40B4-BE49-F238E27FC236}">
                      <a16:creationId xmlns:a16="http://schemas.microsoft.com/office/drawing/2014/main" id="{1DEA0B2A-C87D-4D93-AE20-6E785D98E3BE}"/>
                    </a:ext>
                  </a:extLst>
                </p:cNvPr>
                <p:cNvSpPr txBox="1">
                  <a:spLocks noRot="1" noChangeAspect="1" noMove="1" noResize="1" noEditPoints="1" noAdjustHandles="1" noChangeArrowheads="1" noChangeShapeType="1" noTextEdit="1"/>
                </p:cNvSpPr>
                <p:nvPr/>
              </p:nvSpPr>
              <p:spPr>
                <a:xfrm rot="16200000">
                  <a:off x="3855945" y="4691036"/>
                  <a:ext cx="2812886" cy="246221"/>
                </a:xfrm>
                <a:prstGeom prst="rect">
                  <a:avLst/>
                </a:prstGeom>
                <a:blipFill>
                  <a:blip r:embed="rId4"/>
                  <a:stretch>
                    <a:fillRect l="-175676" t="-1282" r="-275676" b="-1496"/>
                  </a:stretch>
                </a:blipFill>
              </p:spPr>
              <p:txBody>
                <a:bodyPr/>
                <a:lstStyle/>
                <a:p>
                  <a:r>
                    <a:rPr lang="zh-TW" altLang="en-US">
                      <a:noFill/>
                    </a:rPr>
                    <a:t> </a:t>
                  </a:r>
                </a:p>
              </p:txBody>
            </p:sp>
          </mc:Fallback>
        </mc:AlternateContent>
      </p:grpSp>
      <p:sp>
        <p:nvSpPr>
          <p:cNvPr id="11" name="文字方塊 10">
            <a:extLst>
              <a:ext uri="{FF2B5EF4-FFF2-40B4-BE49-F238E27FC236}">
                <a16:creationId xmlns:a16="http://schemas.microsoft.com/office/drawing/2014/main" id="{54C8E874-6E04-4F06-97C3-1C58F72C5F9C}"/>
              </a:ext>
            </a:extLst>
          </p:cNvPr>
          <p:cNvSpPr txBox="1"/>
          <p:nvPr/>
        </p:nvSpPr>
        <p:spPr>
          <a:xfrm>
            <a:off x="5367867" y="1413931"/>
            <a:ext cx="5858933"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endParaRPr lang="zh-TW" altLang="en-US" dirty="0"/>
          </a:p>
        </p:txBody>
      </p:sp>
    </p:spTree>
    <p:extLst>
      <p:ext uri="{BB962C8B-B14F-4D97-AF65-F5344CB8AC3E}">
        <p14:creationId xmlns:p14="http://schemas.microsoft.com/office/powerpoint/2010/main" val="3963438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F8F8D7F6-3655-40C8-AA72-9C00122318B8}"/>
              </a:ext>
            </a:extLst>
          </p:cNvPr>
          <p:cNvGrpSpPr/>
          <p:nvPr/>
        </p:nvGrpSpPr>
        <p:grpSpPr>
          <a:xfrm>
            <a:off x="110067" y="648773"/>
            <a:ext cx="6756400" cy="2947279"/>
            <a:chOff x="677333" y="1544881"/>
            <a:chExt cx="9186333" cy="3360781"/>
          </a:xfrm>
        </p:grpSpPr>
        <p:pic>
          <p:nvPicPr>
            <p:cNvPr id="9" name="圖片 8">
              <a:extLst>
                <a:ext uri="{FF2B5EF4-FFF2-40B4-BE49-F238E27FC236}">
                  <a16:creationId xmlns:a16="http://schemas.microsoft.com/office/drawing/2014/main" id="{BAA675CB-6E9C-4C5A-A66D-1A58C6472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3" y="1544881"/>
              <a:ext cx="9186333" cy="3360781"/>
            </a:xfrm>
            <a:prstGeom prst="rect">
              <a:avLst/>
            </a:prstGeom>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AF139932-2969-4529-BFE8-AE1A2A91B32A}"/>
                    </a:ext>
                  </a:extLst>
                </p:cNvPr>
                <p:cNvSpPr txBox="1"/>
                <p:nvPr/>
              </p:nvSpPr>
              <p:spPr>
                <a:xfrm>
                  <a:off x="2915483" y="3723129"/>
                  <a:ext cx="719758" cy="4376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10" name="文字方塊 9">
                  <a:extLst>
                    <a:ext uri="{FF2B5EF4-FFF2-40B4-BE49-F238E27FC236}">
                      <a16:creationId xmlns:a16="http://schemas.microsoft.com/office/drawing/2014/main" id="{AF139932-2969-4529-BFE8-AE1A2A91B32A}"/>
                    </a:ext>
                  </a:extLst>
                </p:cNvPr>
                <p:cNvSpPr txBox="1">
                  <a:spLocks noRot="1" noChangeAspect="1" noMove="1" noResize="1" noEditPoints="1" noAdjustHandles="1" noChangeArrowheads="1" noChangeShapeType="1" noTextEdit="1"/>
                </p:cNvSpPr>
                <p:nvPr/>
              </p:nvSpPr>
              <p:spPr>
                <a:xfrm>
                  <a:off x="2915483" y="3723129"/>
                  <a:ext cx="719758" cy="437623"/>
                </a:xfrm>
                <a:prstGeom prst="rect">
                  <a:avLst/>
                </a:prstGeom>
                <a:blipFill>
                  <a:blip r:embed="rId4"/>
                  <a:stretch>
                    <a:fillRect l="-12644" r="-4598" b="-206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F0BDD73-F94E-40DB-90DC-023DE4671636}"/>
                    </a:ext>
                  </a:extLst>
                </p:cNvPr>
                <p:cNvSpPr txBox="1"/>
                <p:nvPr/>
              </p:nvSpPr>
              <p:spPr>
                <a:xfrm>
                  <a:off x="5990638" y="3187238"/>
                  <a:ext cx="719758" cy="4376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11" name="文字方塊 10">
                  <a:extLst>
                    <a:ext uri="{FF2B5EF4-FFF2-40B4-BE49-F238E27FC236}">
                      <a16:creationId xmlns:a16="http://schemas.microsoft.com/office/drawing/2014/main" id="{CF0BDD73-F94E-40DB-90DC-023DE4671636}"/>
                    </a:ext>
                  </a:extLst>
                </p:cNvPr>
                <p:cNvSpPr txBox="1">
                  <a:spLocks noRot="1" noChangeAspect="1" noMove="1" noResize="1" noEditPoints="1" noAdjustHandles="1" noChangeArrowheads="1" noChangeShapeType="1" noTextEdit="1"/>
                </p:cNvSpPr>
                <p:nvPr/>
              </p:nvSpPr>
              <p:spPr>
                <a:xfrm>
                  <a:off x="5990638" y="3187238"/>
                  <a:ext cx="719758" cy="437623"/>
                </a:xfrm>
                <a:prstGeom prst="rect">
                  <a:avLst/>
                </a:prstGeom>
                <a:blipFill>
                  <a:blip r:embed="rId5"/>
                  <a:stretch>
                    <a:fillRect l="-12644" r="-4598" b="-20635"/>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329B1F0B-E852-469C-82EF-60D1AFA4F237}"/>
              </a:ext>
            </a:extLst>
          </p:cNvPr>
          <p:cNvGrpSpPr/>
          <p:nvPr/>
        </p:nvGrpSpPr>
        <p:grpSpPr>
          <a:xfrm>
            <a:off x="110067" y="3821646"/>
            <a:ext cx="6756400" cy="2711977"/>
            <a:chOff x="513806" y="1470948"/>
            <a:chExt cx="9827266" cy="3595264"/>
          </a:xfrm>
        </p:grpSpPr>
        <p:pic>
          <p:nvPicPr>
            <p:cNvPr id="16" name="圖片 15">
              <a:extLst>
                <a:ext uri="{FF2B5EF4-FFF2-40B4-BE49-F238E27FC236}">
                  <a16:creationId xmlns:a16="http://schemas.microsoft.com/office/drawing/2014/main" id="{0448C77D-B61C-46F5-8BBA-BCAC5666EF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806" y="1470948"/>
              <a:ext cx="9827266" cy="3595264"/>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730050D2-6D01-4A08-AED5-B36543E0B922}"/>
                    </a:ext>
                  </a:extLst>
                </p:cNvPr>
                <p:cNvSpPr txBox="1"/>
                <p:nvPr/>
              </p:nvSpPr>
              <p:spPr>
                <a:xfrm>
                  <a:off x="3678087" y="3556431"/>
                  <a:ext cx="769976" cy="514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17" name="文字方塊 16">
                  <a:extLst>
                    <a:ext uri="{FF2B5EF4-FFF2-40B4-BE49-F238E27FC236}">
                      <a16:creationId xmlns:a16="http://schemas.microsoft.com/office/drawing/2014/main" id="{730050D2-6D01-4A08-AED5-B36543E0B922}"/>
                    </a:ext>
                  </a:extLst>
                </p:cNvPr>
                <p:cNvSpPr txBox="1">
                  <a:spLocks noRot="1" noChangeAspect="1" noMove="1" noResize="1" noEditPoints="1" noAdjustHandles="1" noChangeArrowheads="1" noChangeShapeType="1" noTextEdit="1"/>
                </p:cNvSpPr>
                <p:nvPr/>
              </p:nvSpPr>
              <p:spPr>
                <a:xfrm>
                  <a:off x="3678087" y="3556431"/>
                  <a:ext cx="769976" cy="514204"/>
                </a:xfrm>
                <a:prstGeom prst="rect">
                  <a:avLst/>
                </a:prstGeom>
                <a:blipFill>
                  <a:blip r:embed="rId7"/>
                  <a:stretch>
                    <a:fillRect l="-13793" r="-4598"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97F223A-9473-402A-8F22-6994B2F1B639}"/>
                    </a:ext>
                  </a:extLst>
                </p:cNvPr>
                <p:cNvSpPr txBox="1"/>
                <p:nvPr/>
              </p:nvSpPr>
              <p:spPr>
                <a:xfrm>
                  <a:off x="6289452" y="3224354"/>
                  <a:ext cx="769976" cy="514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18" name="文字方塊 17">
                  <a:extLst>
                    <a:ext uri="{FF2B5EF4-FFF2-40B4-BE49-F238E27FC236}">
                      <a16:creationId xmlns:a16="http://schemas.microsoft.com/office/drawing/2014/main" id="{C97F223A-9473-402A-8F22-6994B2F1B639}"/>
                    </a:ext>
                  </a:extLst>
                </p:cNvPr>
                <p:cNvSpPr txBox="1">
                  <a:spLocks noRot="1" noChangeAspect="1" noMove="1" noResize="1" noEditPoints="1" noAdjustHandles="1" noChangeArrowheads="1" noChangeShapeType="1" noTextEdit="1"/>
                </p:cNvSpPr>
                <p:nvPr/>
              </p:nvSpPr>
              <p:spPr>
                <a:xfrm>
                  <a:off x="6289452" y="3224354"/>
                  <a:ext cx="769976" cy="514204"/>
                </a:xfrm>
                <a:prstGeom prst="rect">
                  <a:avLst/>
                </a:prstGeom>
                <a:blipFill>
                  <a:blip r:embed="rId8"/>
                  <a:stretch>
                    <a:fillRect l="-12644" r="-4598" b="-20313"/>
                  </a:stretch>
                </a:blipFill>
              </p:spPr>
              <p:txBody>
                <a:bodyPr/>
                <a:lstStyle/>
                <a:p>
                  <a:r>
                    <a:rPr lang="zh-TW" altLang="en-US">
                      <a:noFill/>
                    </a:rPr>
                    <a:t> </a:t>
                  </a:r>
                </a:p>
              </p:txBody>
            </p:sp>
          </mc:Fallback>
        </mc:AlternateContent>
      </p:grpSp>
      <p:sp>
        <p:nvSpPr>
          <p:cNvPr id="19" name="文字方塊 18">
            <a:extLst>
              <a:ext uri="{FF2B5EF4-FFF2-40B4-BE49-F238E27FC236}">
                <a16:creationId xmlns:a16="http://schemas.microsoft.com/office/drawing/2014/main" id="{7AEE1245-C1D7-468D-B66E-D359C98E02EC}"/>
              </a:ext>
            </a:extLst>
          </p:cNvPr>
          <p:cNvSpPr txBox="1"/>
          <p:nvPr/>
        </p:nvSpPr>
        <p:spPr>
          <a:xfrm>
            <a:off x="6665468" y="796203"/>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p:spTree>
    <p:extLst>
      <p:ext uri="{BB962C8B-B14F-4D97-AF65-F5344CB8AC3E}">
        <p14:creationId xmlns:p14="http://schemas.microsoft.com/office/powerpoint/2010/main" val="1808899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4" name="群組 3">
            <a:extLst>
              <a:ext uri="{FF2B5EF4-FFF2-40B4-BE49-F238E27FC236}">
                <a16:creationId xmlns:a16="http://schemas.microsoft.com/office/drawing/2014/main" id="{AF7256C5-DB88-49BE-87AE-56FCA3F0FA13}"/>
              </a:ext>
            </a:extLst>
          </p:cNvPr>
          <p:cNvGrpSpPr/>
          <p:nvPr/>
        </p:nvGrpSpPr>
        <p:grpSpPr>
          <a:xfrm>
            <a:off x="424877" y="905146"/>
            <a:ext cx="6597619" cy="2669803"/>
            <a:chOff x="153943" y="971434"/>
            <a:chExt cx="6597619" cy="2669803"/>
          </a:xfrm>
        </p:grpSpPr>
        <p:grpSp>
          <p:nvGrpSpPr>
            <p:cNvPr id="20" name="群組 19">
              <a:extLst>
                <a:ext uri="{FF2B5EF4-FFF2-40B4-BE49-F238E27FC236}">
                  <a16:creationId xmlns:a16="http://schemas.microsoft.com/office/drawing/2014/main" id="{D3925940-3F51-4E81-BD0E-F5EBA4704BB3}"/>
                </a:ext>
              </a:extLst>
            </p:cNvPr>
            <p:cNvGrpSpPr/>
            <p:nvPr/>
          </p:nvGrpSpPr>
          <p:grpSpPr>
            <a:xfrm>
              <a:off x="153943" y="971434"/>
              <a:ext cx="6597619" cy="2669803"/>
              <a:chOff x="1065924" y="2333897"/>
              <a:chExt cx="7084911" cy="2922352"/>
            </a:xfrm>
          </p:grpSpPr>
          <p:pic>
            <p:nvPicPr>
              <p:cNvPr id="21" name="圖片 20">
                <a:extLst>
                  <a:ext uri="{FF2B5EF4-FFF2-40B4-BE49-F238E27FC236}">
                    <a16:creationId xmlns:a16="http://schemas.microsoft.com/office/drawing/2014/main" id="{3E9E0E43-4D81-401D-8244-979EE2791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9619" y="2333897"/>
                <a:ext cx="6493558" cy="2647405"/>
              </a:xfrm>
              <a:prstGeom prst="rect">
                <a:avLst/>
              </a:prstGeom>
            </p:spPr>
          </p:pic>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148EC49B-CCF3-462C-B95E-1B9B6CEB4126}"/>
                      </a:ext>
                    </a:extLst>
                  </p:cNvPr>
                  <p:cNvSpPr txBox="1"/>
                  <p:nvPr/>
                </p:nvSpPr>
                <p:spPr>
                  <a:xfrm rot="19880944">
                    <a:off x="1297126" y="3949588"/>
                    <a:ext cx="54989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2" name="文字方塊 21">
                    <a:extLst>
                      <a:ext uri="{FF2B5EF4-FFF2-40B4-BE49-F238E27FC236}">
                        <a16:creationId xmlns:a16="http://schemas.microsoft.com/office/drawing/2014/main" id="{148EC49B-CCF3-462C-B95E-1B9B6CEB4126}"/>
                      </a:ext>
                    </a:extLst>
                  </p:cNvPr>
                  <p:cNvSpPr txBox="1">
                    <a:spLocks noRot="1" noChangeAspect="1" noMove="1" noResize="1" noEditPoints="1" noAdjustHandles="1" noChangeArrowheads="1" noChangeShapeType="1" noTextEdit="1"/>
                  </p:cNvSpPr>
                  <p:nvPr/>
                </p:nvSpPr>
                <p:spPr>
                  <a:xfrm rot="19880944">
                    <a:off x="1297126" y="3949588"/>
                    <a:ext cx="549894" cy="699735"/>
                  </a:xfrm>
                  <a:prstGeom prst="rect">
                    <a:avLst/>
                  </a:prstGeom>
                  <a:blipFill>
                    <a:blip r:embed="rId4"/>
                    <a:stretch>
                      <a:fillRect b="-1194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8D39A59-913D-4FE9-BAF5-9B04FBD36D83}"/>
                      </a:ext>
                    </a:extLst>
                  </p:cNvPr>
                  <p:cNvSpPr txBox="1"/>
                  <p:nvPr/>
                </p:nvSpPr>
                <p:spPr>
                  <a:xfrm rot="15569608">
                    <a:off x="3244971" y="4631434"/>
                    <a:ext cx="54989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3" name="文字方塊 22">
                    <a:extLst>
                      <a:ext uri="{FF2B5EF4-FFF2-40B4-BE49-F238E27FC236}">
                        <a16:creationId xmlns:a16="http://schemas.microsoft.com/office/drawing/2014/main" id="{28D39A59-913D-4FE9-BAF5-9B04FBD36D83}"/>
                      </a:ext>
                    </a:extLst>
                  </p:cNvPr>
                  <p:cNvSpPr txBox="1">
                    <a:spLocks noRot="1" noChangeAspect="1" noMove="1" noResize="1" noEditPoints="1" noAdjustHandles="1" noChangeArrowheads="1" noChangeShapeType="1" noTextEdit="1"/>
                  </p:cNvSpPr>
                  <p:nvPr/>
                </p:nvSpPr>
                <p:spPr>
                  <a:xfrm rot="15569608">
                    <a:off x="3244971" y="4631434"/>
                    <a:ext cx="549894" cy="699735"/>
                  </a:xfrm>
                  <a:prstGeom prst="rect">
                    <a:avLst/>
                  </a:prstGeom>
                  <a:blipFill>
                    <a:blip r:embed="rId5"/>
                    <a:stretch>
                      <a:fillRect r="-2314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564546D7-559D-4C66-9450-E18834CBB660}"/>
                      </a:ext>
                    </a:extLst>
                  </p:cNvPr>
                  <p:cNvSpPr txBox="1"/>
                  <p:nvPr/>
                </p:nvSpPr>
                <p:spPr>
                  <a:xfrm rot="10800000">
                    <a:off x="1065924" y="3069364"/>
                    <a:ext cx="549894"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000" b="1" dirty="0"/>
                  </a:p>
                </p:txBody>
              </p:sp>
            </mc:Choice>
            <mc:Fallback xmlns="">
              <p:sp>
                <p:nvSpPr>
                  <p:cNvPr id="24" name="文字方塊 23">
                    <a:extLst>
                      <a:ext uri="{FF2B5EF4-FFF2-40B4-BE49-F238E27FC236}">
                        <a16:creationId xmlns:a16="http://schemas.microsoft.com/office/drawing/2014/main" id="{564546D7-559D-4C66-9450-E18834CBB660}"/>
                      </a:ext>
                    </a:extLst>
                  </p:cNvPr>
                  <p:cNvSpPr txBox="1">
                    <a:spLocks noRot="1" noChangeAspect="1" noMove="1" noResize="1" noEditPoints="1" noAdjustHandles="1" noChangeArrowheads="1" noChangeShapeType="1" noTextEdit="1"/>
                  </p:cNvSpPr>
                  <p:nvPr/>
                </p:nvSpPr>
                <p:spPr>
                  <a:xfrm rot="10800000">
                    <a:off x="1065924" y="3069364"/>
                    <a:ext cx="549894" cy="719271"/>
                  </a:xfrm>
                  <a:prstGeom prst="rect">
                    <a:avLst/>
                  </a:prstGeom>
                  <a:blipFill>
                    <a:blip r:embed="rId6"/>
                    <a:stretch>
                      <a:fillRect t="-2897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634B5A96-CED7-4A9A-BF9D-3E99F4F8FD01}"/>
                      </a:ext>
                    </a:extLst>
                  </p:cNvPr>
                  <p:cNvSpPr txBox="1"/>
                  <p:nvPr/>
                </p:nvSpPr>
                <p:spPr>
                  <a:xfrm rot="10800000">
                    <a:off x="4490160" y="3544506"/>
                    <a:ext cx="549894"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5" name="文字方塊 24">
                    <a:extLst>
                      <a:ext uri="{FF2B5EF4-FFF2-40B4-BE49-F238E27FC236}">
                        <a16:creationId xmlns:a16="http://schemas.microsoft.com/office/drawing/2014/main" id="{634B5A96-CED7-4A9A-BF9D-3E99F4F8FD01}"/>
                      </a:ext>
                    </a:extLst>
                  </p:cNvPr>
                  <p:cNvSpPr txBox="1">
                    <a:spLocks noRot="1" noChangeAspect="1" noMove="1" noResize="1" noEditPoints="1" noAdjustHandles="1" noChangeArrowheads="1" noChangeShapeType="1" noTextEdit="1"/>
                  </p:cNvSpPr>
                  <p:nvPr/>
                </p:nvSpPr>
                <p:spPr>
                  <a:xfrm rot="10800000">
                    <a:off x="4490160" y="3544506"/>
                    <a:ext cx="549894" cy="719271"/>
                  </a:xfrm>
                  <a:prstGeom prst="rect">
                    <a:avLst/>
                  </a:prstGeom>
                  <a:blipFill>
                    <a:blip r:embed="rId7"/>
                    <a:stretch>
                      <a:fillRect t="-287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8BA230-992F-41C2-832D-B4E339B33866}"/>
                      </a:ext>
                    </a:extLst>
                  </p:cNvPr>
                  <p:cNvSpPr txBox="1"/>
                  <p:nvPr/>
                </p:nvSpPr>
                <p:spPr>
                  <a:xfrm rot="16784698">
                    <a:off x="5756803" y="4138103"/>
                    <a:ext cx="54989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6" name="文字方塊 25">
                    <a:extLst>
                      <a:ext uri="{FF2B5EF4-FFF2-40B4-BE49-F238E27FC236}">
                        <a16:creationId xmlns:a16="http://schemas.microsoft.com/office/drawing/2014/main" id="{938BA230-992F-41C2-832D-B4E339B33866}"/>
                      </a:ext>
                    </a:extLst>
                  </p:cNvPr>
                  <p:cNvSpPr txBox="1">
                    <a:spLocks noRot="1" noChangeAspect="1" noMove="1" noResize="1" noEditPoints="1" noAdjustHandles="1" noChangeArrowheads="1" noChangeShapeType="1" noTextEdit="1"/>
                  </p:cNvSpPr>
                  <p:nvPr/>
                </p:nvSpPr>
                <p:spPr>
                  <a:xfrm rot="16784698">
                    <a:off x="5756803" y="4138103"/>
                    <a:ext cx="549894" cy="699735"/>
                  </a:xfrm>
                  <a:prstGeom prst="rect">
                    <a:avLst/>
                  </a:prstGeom>
                  <a:blipFill>
                    <a:blip r:embed="rId8"/>
                    <a:stretch>
                      <a:fillRect r="-2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4A7C87E-52BB-4FB8-A64F-CA903177D96F}"/>
                      </a:ext>
                    </a:extLst>
                  </p:cNvPr>
                  <p:cNvSpPr txBox="1"/>
                  <p:nvPr/>
                </p:nvSpPr>
                <p:spPr>
                  <a:xfrm rot="12942440">
                    <a:off x="7600941" y="4023734"/>
                    <a:ext cx="54989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27" name="文字方塊 26">
                    <a:extLst>
                      <a:ext uri="{FF2B5EF4-FFF2-40B4-BE49-F238E27FC236}">
                        <a16:creationId xmlns:a16="http://schemas.microsoft.com/office/drawing/2014/main" id="{84A7C87E-52BB-4FB8-A64F-CA903177D96F}"/>
                      </a:ext>
                    </a:extLst>
                  </p:cNvPr>
                  <p:cNvSpPr txBox="1">
                    <a:spLocks noRot="1" noChangeAspect="1" noMove="1" noResize="1" noEditPoints="1" noAdjustHandles="1" noChangeArrowheads="1" noChangeShapeType="1" noTextEdit="1"/>
                  </p:cNvSpPr>
                  <p:nvPr/>
                </p:nvSpPr>
                <p:spPr>
                  <a:xfrm rot="12942440">
                    <a:off x="7600941" y="4023734"/>
                    <a:ext cx="549894" cy="699735"/>
                  </a:xfrm>
                  <a:prstGeom prst="rect">
                    <a:avLst/>
                  </a:prstGeom>
                  <a:blipFill>
                    <a:blip r:embed="rId9"/>
                    <a:stretch>
                      <a:fillRect t="-4444" r="-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233670CD-3F13-450F-8646-A76A2563201A}"/>
                      </a:ext>
                    </a:extLst>
                  </p:cNvPr>
                  <p:cNvSpPr txBox="1"/>
                  <p:nvPr/>
                </p:nvSpPr>
                <p:spPr>
                  <a:xfrm>
                    <a:off x="3187554" y="3013500"/>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dirty="0"/>
                  </a:p>
                </p:txBody>
              </p:sp>
            </mc:Choice>
            <mc:Fallback xmlns="">
              <p:sp>
                <p:nvSpPr>
                  <p:cNvPr id="29" name="文字方塊 28">
                    <a:extLst>
                      <a:ext uri="{FF2B5EF4-FFF2-40B4-BE49-F238E27FC236}">
                        <a16:creationId xmlns:a16="http://schemas.microsoft.com/office/drawing/2014/main" id="{233670CD-3F13-450F-8646-A76A2563201A}"/>
                      </a:ext>
                    </a:extLst>
                  </p:cNvPr>
                  <p:cNvSpPr txBox="1">
                    <a:spLocks noRot="1" noChangeAspect="1" noMove="1" noResize="1" noEditPoints="1" noAdjustHandles="1" noChangeArrowheads="1" noChangeShapeType="1" noTextEdit="1"/>
                  </p:cNvSpPr>
                  <p:nvPr/>
                </p:nvSpPr>
                <p:spPr>
                  <a:xfrm>
                    <a:off x="3187554" y="3013500"/>
                    <a:ext cx="316668" cy="303202"/>
                  </a:xfrm>
                  <a:prstGeom prst="rect">
                    <a:avLst/>
                  </a:prstGeom>
                  <a:blipFill>
                    <a:blip r:embed="rId10"/>
                    <a:stretch>
                      <a:fillRect l="-20833" r="-10417"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33FAA965-5B61-48E7-8F3D-2E47AB4E4B03}"/>
                      </a:ext>
                    </a:extLst>
                  </p:cNvPr>
                  <p:cNvSpPr txBox="1"/>
                  <p:nvPr/>
                </p:nvSpPr>
                <p:spPr>
                  <a:xfrm>
                    <a:off x="6735745" y="3312719"/>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𝟏</m:t>
                              </m:r>
                            </m:sub>
                          </m:sSub>
                        </m:oMath>
                      </m:oMathPara>
                    </a14:m>
                    <a:endParaRPr lang="zh-TW" altLang="en-US" b="1" dirty="0"/>
                  </a:p>
                </p:txBody>
              </p:sp>
            </mc:Choice>
            <mc:Fallback xmlns="">
              <p:sp>
                <p:nvSpPr>
                  <p:cNvPr id="31" name="文字方塊 30">
                    <a:extLst>
                      <a:ext uri="{FF2B5EF4-FFF2-40B4-BE49-F238E27FC236}">
                        <a16:creationId xmlns:a16="http://schemas.microsoft.com/office/drawing/2014/main" id="{33FAA965-5B61-48E7-8F3D-2E47AB4E4B03}"/>
                      </a:ext>
                    </a:extLst>
                  </p:cNvPr>
                  <p:cNvSpPr txBox="1">
                    <a:spLocks noRot="1" noChangeAspect="1" noMove="1" noResize="1" noEditPoints="1" noAdjustHandles="1" noChangeArrowheads="1" noChangeShapeType="1" noTextEdit="1"/>
                  </p:cNvSpPr>
                  <p:nvPr/>
                </p:nvSpPr>
                <p:spPr>
                  <a:xfrm>
                    <a:off x="6735745" y="3312719"/>
                    <a:ext cx="316668" cy="303202"/>
                  </a:xfrm>
                  <a:prstGeom prst="rect">
                    <a:avLst/>
                  </a:prstGeom>
                  <a:blipFill>
                    <a:blip r:embed="rId11"/>
                    <a:stretch>
                      <a:fillRect l="-20833" r="-10417" b="-1521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9A7576F-6588-46BE-AA6F-7027885B750A}"/>
                    </a:ext>
                  </a:extLst>
                </p:cNvPr>
                <p:cNvSpPr txBox="1"/>
                <p:nvPr/>
              </p:nvSpPr>
              <p:spPr>
                <a:xfrm>
                  <a:off x="5221654" y="2225371"/>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𝟑</m:t>
                            </m:r>
                          </m:sub>
                        </m:sSub>
                      </m:oMath>
                    </m:oMathPara>
                  </a14:m>
                  <a:endParaRPr lang="zh-TW" altLang="en-US" b="1" dirty="0"/>
                </a:p>
              </p:txBody>
            </p:sp>
          </mc:Choice>
          <mc:Fallback xmlns="">
            <p:sp>
              <p:nvSpPr>
                <p:cNvPr id="34" name="文字方塊 33">
                  <a:extLst>
                    <a:ext uri="{FF2B5EF4-FFF2-40B4-BE49-F238E27FC236}">
                      <a16:creationId xmlns:a16="http://schemas.microsoft.com/office/drawing/2014/main" id="{F9A7576F-6588-46BE-AA6F-7027885B750A}"/>
                    </a:ext>
                  </a:extLst>
                </p:cNvPr>
                <p:cNvSpPr txBox="1">
                  <a:spLocks noRot="1" noChangeAspect="1" noMove="1" noResize="1" noEditPoints="1" noAdjustHandles="1" noChangeArrowheads="1" noChangeShapeType="1" noTextEdit="1"/>
                </p:cNvSpPr>
                <p:nvPr/>
              </p:nvSpPr>
              <p:spPr>
                <a:xfrm>
                  <a:off x="5221654" y="2225371"/>
                  <a:ext cx="294888" cy="276999"/>
                </a:xfrm>
                <a:prstGeom prst="rect">
                  <a:avLst/>
                </a:prstGeom>
                <a:blipFill>
                  <a:blip r:embed="rId12"/>
                  <a:stretch>
                    <a:fillRect l="-18750" r="-10417"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8DDB127A-1DDB-4577-A13F-5E2971237997}"/>
                    </a:ext>
                  </a:extLst>
                </p:cNvPr>
                <p:cNvSpPr txBox="1"/>
                <p:nvPr/>
              </p:nvSpPr>
              <p:spPr>
                <a:xfrm>
                  <a:off x="1651537" y="1897609"/>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𝟒</m:t>
                            </m:r>
                          </m:sub>
                        </m:sSub>
                      </m:oMath>
                    </m:oMathPara>
                  </a14:m>
                  <a:endParaRPr lang="zh-TW" altLang="en-US" b="1" dirty="0"/>
                </a:p>
              </p:txBody>
            </p:sp>
          </mc:Choice>
          <mc:Fallback xmlns="">
            <p:sp>
              <p:nvSpPr>
                <p:cNvPr id="35" name="文字方塊 34">
                  <a:extLst>
                    <a:ext uri="{FF2B5EF4-FFF2-40B4-BE49-F238E27FC236}">
                      <a16:creationId xmlns:a16="http://schemas.microsoft.com/office/drawing/2014/main" id="{8DDB127A-1DDB-4577-A13F-5E2971237997}"/>
                    </a:ext>
                  </a:extLst>
                </p:cNvPr>
                <p:cNvSpPr txBox="1">
                  <a:spLocks noRot="1" noChangeAspect="1" noMove="1" noResize="1" noEditPoints="1" noAdjustHandles="1" noChangeArrowheads="1" noChangeShapeType="1" noTextEdit="1"/>
                </p:cNvSpPr>
                <p:nvPr/>
              </p:nvSpPr>
              <p:spPr>
                <a:xfrm>
                  <a:off x="1651537" y="1897609"/>
                  <a:ext cx="294888" cy="276999"/>
                </a:xfrm>
                <a:prstGeom prst="rect">
                  <a:avLst/>
                </a:prstGeom>
                <a:blipFill>
                  <a:blip r:embed="rId13"/>
                  <a:stretch>
                    <a:fillRect l="-18367" r="-8163"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86E84AB7-71ED-4748-A20B-6D60DD63AE5F}"/>
                    </a:ext>
                  </a:extLst>
                </p:cNvPr>
                <p:cNvSpPr txBox="1"/>
                <p:nvPr/>
              </p:nvSpPr>
              <p:spPr>
                <a:xfrm>
                  <a:off x="2501333" y="1784510"/>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86E84AB7-71ED-4748-A20B-6D60DD63AE5F}"/>
                    </a:ext>
                  </a:extLst>
                </p:cNvPr>
                <p:cNvSpPr txBox="1">
                  <a:spLocks noRot="1" noChangeAspect="1" noMove="1" noResize="1" noEditPoints="1" noAdjustHandles="1" noChangeArrowheads="1" noChangeShapeType="1" noTextEdit="1"/>
                </p:cNvSpPr>
                <p:nvPr/>
              </p:nvSpPr>
              <p:spPr>
                <a:xfrm>
                  <a:off x="2501333" y="1784510"/>
                  <a:ext cx="294888" cy="276999"/>
                </a:xfrm>
                <a:prstGeom prst="rect">
                  <a:avLst/>
                </a:prstGeom>
                <a:blipFill>
                  <a:blip r:embed="rId14"/>
                  <a:stretch>
                    <a:fillRect l="-20833" r="-10417" b="-1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04359BE-F3DE-408C-BAD8-B93165146A82}"/>
                    </a:ext>
                  </a:extLst>
                </p:cNvPr>
                <p:cNvSpPr txBox="1"/>
                <p:nvPr/>
              </p:nvSpPr>
              <p:spPr>
                <a:xfrm>
                  <a:off x="4637435" y="2212359"/>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𝟔</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04359BE-F3DE-408C-BAD8-B93165146A82}"/>
                    </a:ext>
                  </a:extLst>
                </p:cNvPr>
                <p:cNvSpPr txBox="1">
                  <a:spLocks noRot="1" noChangeAspect="1" noMove="1" noResize="1" noEditPoints="1" noAdjustHandles="1" noChangeArrowheads="1" noChangeShapeType="1" noTextEdit="1"/>
                </p:cNvSpPr>
                <p:nvPr/>
              </p:nvSpPr>
              <p:spPr>
                <a:xfrm>
                  <a:off x="4637435" y="2212359"/>
                  <a:ext cx="294888" cy="276999"/>
                </a:xfrm>
                <a:prstGeom prst="rect">
                  <a:avLst/>
                </a:prstGeom>
                <a:blipFill>
                  <a:blip r:embed="rId15"/>
                  <a:stretch>
                    <a:fillRect l="-18367" r="-8163" b="-17778"/>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8821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9" name="群組 18">
            <a:extLst>
              <a:ext uri="{FF2B5EF4-FFF2-40B4-BE49-F238E27FC236}">
                <a16:creationId xmlns:a16="http://schemas.microsoft.com/office/drawing/2014/main" id="{8E64CB39-8B07-4CED-A559-14B691D82A6A}"/>
              </a:ext>
            </a:extLst>
          </p:cNvPr>
          <p:cNvGrpSpPr/>
          <p:nvPr/>
        </p:nvGrpSpPr>
        <p:grpSpPr>
          <a:xfrm>
            <a:off x="136460" y="786848"/>
            <a:ext cx="4596407" cy="2462231"/>
            <a:chOff x="396898" y="3229815"/>
            <a:chExt cx="5429454" cy="3157126"/>
          </a:xfrm>
        </p:grpSpPr>
        <p:pic>
          <p:nvPicPr>
            <p:cNvPr id="34" name="圖片 33">
              <a:extLst>
                <a:ext uri="{FF2B5EF4-FFF2-40B4-BE49-F238E27FC236}">
                  <a16:creationId xmlns:a16="http://schemas.microsoft.com/office/drawing/2014/main" id="{620038CC-8113-448D-A9A9-E677E43477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13" y="3229815"/>
              <a:ext cx="4915239" cy="2728640"/>
            </a:xfrm>
            <a:prstGeom prst="rect">
              <a:avLst/>
            </a:prstGeom>
          </p:spPr>
        </p:pic>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8841F82-56E4-47B9-AB45-5CE6850167A5}"/>
                    </a:ext>
                  </a:extLst>
                </p:cNvPr>
                <p:cNvSpPr txBox="1"/>
                <p:nvPr/>
              </p:nvSpPr>
              <p:spPr>
                <a:xfrm>
                  <a:off x="3164002" y="4881154"/>
                  <a:ext cx="3713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35" name="文字方塊 34">
                  <a:extLst>
                    <a:ext uri="{FF2B5EF4-FFF2-40B4-BE49-F238E27FC236}">
                      <a16:creationId xmlns:a16="http://schemas.microsoft.com/office/drawing/2014/main" id="{A8841F82-56E4-47B9-AB45-5CE6850167A5}"/>
                    </a:ext>
                  </a:extLst>
                </p:cNvPr>
                <p:cNvSpPr txBox="1">
                  <a:spLocks noRot="1" noChangeAspect="1" noMove="1" noResize="1" noEditPoints="1" noAdjustHandles="1" noChangeArrowheads="1" noChangeShapeType="1" noTextEdit="1"/>
                </p:cNvSpPr>
                <p:nvPr/>
              </p:nvSpPr>
              <p:spPr>
                <a:xfrm>
                  <a:off x="3164002" y="4881154"/>
                  <a:ext cx="371319" cy="307777"/>
                </a:xfrm>
                <a:prstGeom prst="rect">
                  <a:avLst/>
                </a:prstGeom>
                <a:blipFill>
                  <a:blip r:embed="rId4"/>
                  <a:stretch>
                    <a:fillRect l="-21569" r="-15686"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25867ADF-9FE3-4DDA-BA6D-91864B187AB7}"/>
                    </a:ext>
                  </a:extLst>
                </p:cNvPr>
                <p:cNvSpPr txBox="1"/>
                <p:nvPr/>
              </p:nvSpPr>
              <p:spPr>
                <a:xfrm rot="17246780">
                  <a:off x="2176941" y="5350360"/>
                  <a:ext cx="705086"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36" name="文字方塊 35">
                  <a:extLst>
                    <a:ext uri="{FF2B5EF4-FFF2-40B4-BE49-F238E27FC236}">
                      <a16:creationId xmlns:a16="http://schemas.microsoft.com/office/drawing/2014/main" id="{25867ADF-9FE3-4DDA-BA6D-91864B187AB7}"/>
                    </a:ext>
                  </a:extLst>
                </p:cNvPr>
                <p:cNvSpPr txBox="1">
                  <a:spLocks noRot="1" noChangeAspect="1" noMove="1" noResize="1" noEditPoints="1" noAdjustHandles="1" noChangeArrowheads="1" noChangeShapeType="1" noTextEdit="1"/>
                </p:cNvSpPr>
                <p:nvPr/>
              </p:nvSpPr>
              <p:spPr>
                <a:xfrm rot="17246780">
                  <a:off x="2176941" y="5350360"/>
                  <a:ext cx="705086" cy="639264"/>
                </a:xfrm>
                <a:prstGeom prst="rect">
                  <a:avLst/>
                </a:prstGeom>
                <a:blipFill>
                  <a:blip r:embed="rId5"/>
                  <a:stretch>
                    <a:fillRect r="-309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9BFE79E-3A7C-4122-A6B7-6B23DF8CC74D}"/>
                    </a:ext>
                  </a:extLst>
                </p:cNvPr>
                <p:cNvSpPr txBox="1"/>
                <p:nvPr/>
              </p:nvSpPr>
              <p:spPr>
                <a:xfrm rot="15057989">
                  <a:off x="4737796" y="5708594"/>
                  <a:ext cx="705086"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37" name="文字方塊 36">
                  <a:extLst>
                    <a:ext uri="{FF2B5EF4-FFF2-40B4-BE49-F238E27FC236}">
                      <a16:creationId xmlns:a16="http://schemas.microsoft.com/office/drawing/2014/main" id="{49BFE79E-3A7C-4122-A6B7-6B23DF8CC74D}"/>
                    </a:ext>
                  </a:extLst>
                </p:cNvPr>
                <p:cNvSpPr txBox="1">
                  <a:spLocks noRot="1" noChangeAspect="1" noMove="1" noResize="1" noEditPoints="1" noAdjustHandles="1" noChangeArrowheads="1" noChangeShapeType="1" noTextEdit="1"/>
                </p:cNvSpPr>
                <p:nvPr/>
              </p:nvSpPr>
              <p:spPr>
                <a:xfrm rot="15057989">
                  <a:off x="4737796" y="5708594"/>
                  <a:ext cx="705086" cy="651608"/>
                </a:xfrm>
                <a:prstGeom prst="rect">
                  <a:avLst/>
                </a:prstGeom>
                <a:blipFill>
                  <a:blip r:embed="rId6"/>
                  <a:stretch>
                    <a:fillRect r="-318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1A8EAFC9-9D24-4590-BA5B-D92DF6510E35}"/>
                    </a:ext>
                  </a:extLst>
                </p:cNvPr>
                <p:cNvSpPr txBox="1"/>
                <p:nvPr/>
              </p:nvSpPr>
              <p:spPr>
                <a:xfrm rot="10800000">
                  <a:off x="396898" y="3839932"/>
                  <a:ext cx="64955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1A8EAFC9-9D24-4590-BA5B-D92DF6510E35}"/>
                    </a:ext>
                  </a:extLst>
                </p:cNvPr>
                <p:cNvSpPr txBox="1">
                  <a:spLocks noRot="1" noChangeAspect="1" noMove="1" noResize="1" noEditPoints="1" noAdjustHandles="1" noChangeArrowheads="1" noChangeShapeType="1" noTextEdit="1"/>
                </p:cNvSpPr>
                <p:nvPr/>
              </p:nvSpPr>
              <p:spPr>
                <a:xfrm rot="10800000">
                  <a:off x="396898" y="3839932"/>
                  <a:ext cx="649556" cy="657112"/>
                </a:xfrm>
                <a:prstGeom prst="rect">
                  <a:avLst/>
                </a:prstGeom>
                <a:blipFill>
                  <a:blip r:embed="rId7"/>
                  <a:stretch>
                    <a:fillRect t="-65476"/>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1A412FBE-352D-4C9D-B3A0-E35F79ED3EE9}"/>
              </a:ext>
            </a:extLst>
          </p:cNvPr>
          <p:cNvGrpSpPr/>
          <p:nvPr/>
        </p:nvGrpSpPr>
        <p:grpSpPr>
          <a:xfrm>
            <a:off x="136460" y="3282317"/>
            <a:ext cx="3294235" cy="3403696"/>
            <a:chOff x="6594516" y="616934"/>
            <a:chExt cx="4366518" cy="4497463"/>
          </a:xfrm>
        </p:grpSpPr>
        <p:pic>
          <p:nvPicPr>
            <p:cNvPr id="41" name="圖片 40">
              <a:extLst>
                <a:ext uri="{FF2B5EF4-FFF2-40B4-BE49-F238E27FC236}">
                  <a16:creationId xmlns:a16="http://schemas.microsoft.com/office/drawing/2014/main" id="{7643EFF0-EF53-44FD-B6BD-A4FF0F2DB2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84836" y="616934"/>
              <a:ext cx="3776198" cy="4160710"/>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B5FE4D8-C0B9-4FA9-9D9F-BDA38D9BCFF3}"/>
                    </a:ext>
                  </a:extLst>
                </p:cNvPr>
                <p:cNvSpPr txBox="1"/>
                <p:nvPr/>
              </p:nvSpPr>
              <p:spPr>
                <a:xfrm>
                  <a:off x="9744914" y="2006098"/>
                  <a:ext cx="3713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2" name="文字方塊 41">
                  <a:extLst>
                    <a:ext uri="{FF2B5EF4-FFF2-40B4-BE49-F238E27FC236}">
                      <a16:creationId xmlns:a16="http://schemas.microsoft.com/office/drawing/2014/main" id="{3B5FE4D8-C0B9-4FA9-9D9F-BDA38D9BCFF3}"/>
                    </a:ext>
                  </a:extLst>
                </p:cNvPr>
                <p:cNvSpPr txBox="1">
                  <a:spLocks noRot="1" noChangeAspect="1" noMove="1" noResize="1" noEditPoints="1" noAdjustHandles="1" noChangeArrowheads="1" noChangeShapeType="1" noTextEdit="1"/>
                </p:cNvSpPr>
                <p:nvPr/>
              </p:nvSpPr>
              <p:spPr>
                <a:xfrm>
                  <a:off x="9744914" y="2006098"/>
                  <a:ext cx="371318" cy="307777"/>
                </a:xfrm>
                <a:prstGeom prst="rect">
                  <a:avLst/>
                </a:prstGeom>
                <a:blipFill>
                  <a:blip r:embed="rId9"/>
                  <a:stretch>
                    <a:fillRect l="-23913" r="-30435" b="-3157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F8310A4-B91C-4F74-9375-16BA041101E2}"/>
                    </a:ext>
                  </a:extLst>
                </p:cNvPr>
                <p:cNvSpPr txBox="1"/>
                <p:nvPr/>
              </p:nvSpPr>
              <p:spPr>
                <a:xfrm rot="17628762">
                  <a:off x="7844586" y="4147524"/>
                  <a:ext cx="726601"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𝒙</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800" b="1" dirty="0"/>
                </a:p>
              </p:txBody>
            </p:sp>
          </mc:Choice>
          <mc:Fallback xmlns="">
            <p:sp>
              <p:nvSpPr>
                <p:cNvPr id="43" name="文字方塊 42">
                  <a:extLst>
                    <a:ext uri="{FF2B5EF4-FFF2-40B4-BE49-F238E27FC236}">
                      <a16:creationId xmlns:a16="http://schemas.microsoft.com/office/drawing/2014/main" id="{7F8310A4-B91C-4F74-9375-16BA041101E2}"/>
                    </a:ext>
                  </a:extLst>
                </p:cNvPr>
                <p:cNvSpPr txBox="1">
                  <a:spLocks noRot="1" noChangeAspect="1" noMove="1" noResize="1" noEditPoints="1" noAdjustHandles="1" noChangeArrowheads="1" noChangeShapeType="1" noTextEdit="1"/>
                </p:cNvSpPr>
                <p:nvPr/>
              </p:nvSpPr>
              <p:spPr>
                <a:xfrm rot="17628762">
                  <a:off x="7844586" y="4147524"/>
                  <a:ext cx="726601" cy="639264"/>
                </a:xfrm>
                <a:prstGeom prst="rect">
                  <a:avLst/>
                </a:prstGeom>
                <a:blipFill>
                  <a:blip r:embed="rId10"/>
                  <a:stretch>
                    <a:fillRect r="-34545" b="-8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8BAC9FB-C928-45AA-BB1D-7C942F2E9BD7}"/>
                    </a:ext>
                  </a:extLst>
                </p:cNvPr>
                <p:cNvSpPr txBox="1"/>
                <p:nvPr/>
              </p:nvSpPr>
              <p:spPr>
                <a:xfrm rot="14663048">
                  <a:off x="10307126" y="4537407"/>
                  <a:ext cx="502372"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𝒚</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400" b="1" dirty="0"/>
                </a:p>
              </p:txBody>
            </p:sp>
          </mc:Choice>
          <mc:Fallback xmlns="">
            <p:sp>
              <p:nvSpPr>
                <p:cNvPr id="44" name="文字方塊 43">
                  <a:extLst>
                    <a:ext uri="{FF2B5EF4-FFF2-40B4-BE49-F238E27FC236}">
                      <a16:creationId xmlns:a16="http://schemas.microsoft.com/office/drawing/2014/main" id="{48BAC9FB-C928-45AA-BB1D-7C942F2E9BD7}"/>
                    </a:ext>
                  </a:extLst>
                </p:cNvPr>
                <p:cNvSpPr txBox="1">
                  <a:spLocks noRot="1" noChangeAspect="1" noMove="1" noResize="1" noEditPoints="1" noAdjustHandles="1" noChangeArrowheads="1" noChangeShapeType="1" noTextEdit="1"/>
                </p:cNvSpPr>
                <p:nvPr/>
              </p:nvSpPr>
              <p:spPr>
                <a:xfrm rot="14663048">
                  <a:off x="10307126" y="4537407"/>
                  <a:ext cx="502372" cy="651608"/>
                </a:xfrm>
                <a:prstGeom prst="rect">
                  <a:avLst/>
                </a:prstGeom>
                <a:blipFill>
                  <a:blip r:embed="rId11"/>
                  <a:stretch>
                    <a:fillRect t="-6522" r="-4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115A48E0-B25B-46D6-82BC-8D6C6D813F3C}"/>
                    </a:ext>
                  </a:extLst>
                </p:cNvPr>
                <p:cNvSpPr txBox="1"/>
                <p:nvPr/>
              </p:nvSpPr>
              <p:spPr>
                <a:xfrm rot="10800000">
                  <a:off x="6594516" y="2191129"/>
                  <a:ext cx="72888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1" smtClean="0">
                            <a:latin typeface="Cambria Math" panose="02040503050406030204" pitchFamily="18" charset="0"/>
                          </a:rPr>
                          <m:t>𝒛</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𝒎𝒎</m:t>
                        </m:r>
                        <m:r>
                          <a:rPr lang="en-US" altLang="zh-TW" sz="2000" b="1" i="1" smtClean="0">
                            <a:latin typeface="Cambria Math" panose="02040503050406030204" pitchFamily="18" charset="0"/>
                          </a:rPr>
                          <m:t>)</m:t>
                        </m:r>
                      </m:oMath>
                    </m:oMathPara>
                  </a14:m>
                  <a:endParaRPr lang="zh-TW" altLang="en-US" sz="2000" b="1" dirty="0"/>
                </a:p>
              </p:txBody>
            </p:sp>
          </mc:Choice>
          <mc:Fallback xmlns="">
            <p:sp>
              <p:nvSpPr>
                <p:cNvPr id="45" name="文字方塊 44">
                  <a:extLst>
                    <a:ext uri="{FF2B5EF4-FFF2-40B4-BE49-F238E27FC236}">
                      <a16:creationId xmlns:a16="http://schemas.microsoft.com/office/drawing/2014/main" id="{115A48E0-B25B-46D6-82BC-8D6C6D813F3C}"/>
                    </a:ext>
                  </a:extLst>
                </p:cNvPr>
                <p:cNvSpPr txBox="1">
                  <a:spLocks noRot="1" noChangeAspect="1" noMove="1" noResize="1" noEditPoints="1" noAdjustHandles="1" noChangeArrowheads="1" noChangeShapeType="1" noTextEdit="1"/>
                </p:cNvSpPr>
                <p:nvPr/>
              </p:nvSpPr>
              <p:spPr>
                <a:xfrm rot="10800000">
                  <a:off x="6594516" y="2191129"/>
                  <a:ext cx="728886" cy="657112"/>
                </a:xfrm>
                <a:prstGeom prst="rect">
                  <a:avLst/>
                </a:prstGeom>
                <a:blipFill>
                  <a:blip r:embed="rId12"/>
                  <a:stretch>
                    <a:fillRect t="-7037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27898248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11408</TotalTime>
  <Words>1686</Words>
  <Application>Microsoft Office PowerPoint</Application>
  <PresentationFormat>寬螢幕</PresentationFormat>
  <Paragraphs>172</Paragraphs>
  <Slides>18</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18</vt:i4>
      </vt:variant>
    </vt:vector>
  </HeadingPairs>
  <TitlesOfParts>
    <vt:vector size="25" baseType="lpstr">
      <vt:lpstr>Aptos</vt:lpstr>
      <vt:lpstr>Arial</vt:lpstr>
      <vt:lpstr>Calibri</vt:lpstr>
      <vt:lpstr>Calibri Light</vt:lpstr>
      <vt:lpstr>Cambria Math</vt:lpstr>
      <vt:lpstr>Times New Roman</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78</cp:revision>
  <dcterms:created xsi:type="dcterms:W3CDTF">2026-07-23T11:39:15Z</dcterms:created>
  <dcterms:modified xsi:type="dcterms:W3CDTF">2026-08-07T09:14:29Z</dcterms:modified>
</cp:coreProperties>
</file>