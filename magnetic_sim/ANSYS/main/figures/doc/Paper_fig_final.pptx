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20" r:id="rId3"/>
    <p:sldId id="333" r:id="rId4"/>
    <p:sldId id="287" r:id="rId5"/>
    <p:sldId id="316" r:id="rId6"/>
    <p:sldId id="285" r:id="rId7"/>
    <p:sldId id="312" r:id="rId8"/>
    <p:sldId id="321" r:id="rId9"/>
    <p:sldId id="269" r:id="rId10"/>
    <p:sldId id="339" r:id="rId11"/>
    <p:sldId id="325" r:id="rId12"/>
    <p:sldId id="290" r:id="rId13"/>
    <p:sldId id="272" r:id="rId14"/>
    <p:sldId id="291" r:id="rId15"/>
    <p:sldId id="313" r:id="rId16"/>
    <p:sldId id="273" r:id="rId17"/>
    <p:sldId id="322" r:id="rId18"/>
    <p:sldId id="293" r:id="rId19"/>
    <p:sldId id="294" r:id="rId20"/>
    <p:sldId id="296" r:id="rId21"/>
    <p:sldId id="323" r:id="rId22"/>
    <p:sldId id="324" r:id="rId23"/>
    <p:sldId id="297" r:id="rId24"/>
    <p:sldId id="300" r:id="rId25"/>
    <p:sldId id="301" r:id="rId26"/>
    <p:sldId id="302" r:id="rId27"/>
    <p:sldId id="334" r:id="rId28"/>
    <p:sldId id="341" r:id="rId29"/>
    <p:sldId id="304" r:id="rId30"/>
    <p:sldId id="305" r:id="rId31"/>
    <p:sldId id="307" r:id="rId32"/>
    <p:sldId id="340" r:id="rId33"/>
    <p:sldId id="326" r:id="rId34"/>
    <p:sldId id="327" r:id="rId35"/>
    <p:sldId id="328" r:id="rId36"/>
    <p:sldId id="335" r:id="rId37"/>
    <p:sldId id="329" r:id="rId38"/>
    <p:sldId id="292" r:id="rId39"/>
    <p:sldId id="330" r:id="rId40"/>
    <p:sldId id="332" r:id="rId41"/>
    <p:sldId id="331" r:id="rId42"/>
    <p:sldId id="317" r:id="rId43"/>
    <p:sldId id="309" r:id="rId44"/>
    <p:sldId id="318" r:id="rId45"/>
    <p:sldId id="319" r:id="rId4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68" autoAdjust="0"/>
    <p:restoredTop sz="94660"/>
  </p:normalViewPr>
  <p:slideViewPr>
    <p:cSldViewPr snapToGrid="0">
      <p:cViewPr varScale="1">
        <p:scale>
          <a:sx n="113" d="100"/>
          <a:sy n="113" d="100"/>
        </p:scale>
        <p:origin x="54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2026/9/24</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3.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141.png"/><Relationship Id="rId7" Type="http://schemas.openxmlformats.org/officeDocument/2006/relationships/image" Target="../media/image17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60.png"/><Relationship Id="rId5" Type="http://schemas.openxmlformats.org/officeDocument/2006/relationships/image" Target="../media/image171.png"/><Relationship Id="rId4" Type="http://schemas.openxmlformats.org/officeDocument/2006/relationships/image" Target="../media/image161.png"/></Relationships>
</file>

<file path=ppt/slides/_rels/slide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90.png"/><Relationship Id="rId4" Type="http://schemas.openxmlformats.org/officeDocument/2006/relationships/image" Target="../media/image181.png"/></Relationships>
</file>

<file path=ppt/slides/_rels/slide8.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261.png"/><Relationship Id="rId5" Type="http://schemas.openxmlformats.org/officeDocument/2006/relationships/image" Target="../media/image252.png"/><Relationship Id="rId4" Type="http://schemas.openxmlformats.org/officeDocument/2006/relationships/image" Target="../media/image241.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7" Type="http://schemas.openxmlformats.org/officeDocument/2006/relationships/image" Target="../media/image251.png"/><Relationship Id="rId12" Type="http://schemas.openxmlformats.org/officeDocument/2006/relationships/image" Target="../media/image38.png"/><Relationship Id="rId1" Type="http://schemas.openxmlformats.org/officeDocument/2006/relationships/slideLayout" Target="../slideLayouts/slideLayout2.xml"/><Relationship Id="rId11" Type="http://schemas.openxmlformats.org/officeDocument/2006/relationships/image" Target="../media/image37.png"/><Relationship Id="rId15" Type="http://schemas.openxmlformats.org/officeDocument/2006/relationships/image" Target="../media/image41.png"/><Relationship Id="rId10" Type="http://schemas.openxmlformats.org/officeDocument/2006/relationships/image" Target="../media/image36.png"/><Relationship Id="rId9" Type="http://schemas.openxmlformats.org/officeDocument/2006/relationships/image" Target="../media/image35.png"/><Relationship Id="rId14"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7" Type="http://schemas.openxmlformats.org/officeDocument/2006/relationships/image" Target="../media/image251.png"/><Relationship Id="rId12" Type="http://schemas.openxmlformats.org/officeDocument/2006/relationships/image" Target="../media/image46.png"/><Relationship Id="rId1" Type="http://schemas.openxmlformats.org/officeDocument/2006/relationships/slideLayout" Target="../slideLayouts/slideLayout2.xml"/><Relationship Id="rId11" Type="http://schemas.openxmlformats.org/officeDocument/2006/relationships/image" Target="../media/image45.png"/><Relationship Id="rId15" Type="http://schemas.openxmlformats.org/officeDocument/2006/relationships/image" Target="../media/image49.png"/><Relationship Id="rId10" Type="http://schemas.openxmlformats.org/officeDocument/2006/relationships/image" Target="../media/image44.png"/><Relationship Id="rId9" Type="http://schemas.openxmlformats.org/officeDocument/2006/relationships/image" Target="../media/image43.png"/><Relationship Id="rId14" Type="http://schemas.openxmlformats.org/officeDocument/2006/relationships/image" Target="../media/image48.png"/></Relationships>
</file>

<file path=ppt/slides/_rels/slide11.xml.rels><?xml version="1.0" encoding="UTF-8" standalone="yes"?>
<Relationships xmlns="http://schemas.openxmlformats.org/package/2006/relationships"><Relationship Id="rId18" Type="http://schemas.openxmlformats.org/officeDocument/2006/relationships/image" Target="../media/image53.png"/><Relationship Id="rId26" Type="http://schemas.openxmlformats.org/officeDocument/2006/relationships/image" Target="../media/image61.png"/><Relationship Id="rId21" Type="http://schemas.openxmlformats.org/officeDocument/2006/relationships/image" Target="../media/image56.png"/><Relationship Id="rId17" Type="http://schemas.openxmlformats.org/officeDocument/2006/relationships/image" Target="../media/image52.png"/><Relationship Id="rId25" Type="http://schemas.openxmlformats.org/officeDocument/2006/relationships/image" Target="../media/image60.png"/><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2.xml"/><Relationship Id="rId24" Type="http://schemas.openxmlformats.org/officeDocument/2006/relationships/image" Target="../media/image59.png"/><Relationship Id="rId15" Type="http://schemas.openxmlformats.org/officeDocument/2006/relationships/image" Target="../media/image50.png"/><Relationship Id="rId23" Type="http://schemas.openxmlformats.org/officeDocument/2006/relationships/image" Target="../media/image58.png"/><Relationship Id="rId19" Type="http://schemas.openxmlformats.org/officeDocument/2006/relationships/image" Target="../media/image54.png"/><Relationship Id="rId14" Type="http://schemas.openxmlformats.org/officeDocument/2006/relationships/image" Target="../media/image450.png"/><Relationship Id="rId22" Type="http://schemas.openxmlformats.org/officeDocument/2006/relationships/image" Target="../media/image57.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40.png"/><Relationship Id="rId7" Type="http://schemas.openxmlformats.org/officeDocument/2006/relationships/image" Target="../media/image71.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350.png"/><Relationship Id="rId9" Type="http://schemas.openxmlformats.org/officeDocument/2006/relationships/image" Target="../media/image73.png"/></Relationships>
</file>

<file path=ppt/slides/_rels/slide14.xml.rels><?xml version="1.0" encoding="UTF-8" standalone="yes"?>
<Relationships xmlns="http://schemas.openxmlformats.org/package/2006/relationships"><Relationship Id="rId13" Type="http://schemas.openxmlformats.org/officeDocument/2006/relationships/image" Target="../media/image79.png"/><Relationship Id="rId12" Type="http://schemas.openxmlformats.org/officeDocument/2006/relationships/image" Target="../media/image78.png"/><Relationship Id="rId1" Type="http://schemas.openxmlformats.org/officeDocument/2006/relationships/slideLayout" Target="../slideLayouts/slideLayout2.xml"/><Relationship Id="rId11" Type="http://schemas.openxmlformats.org/officeDocument/2006/relationships/image" Target="../media/image77.png"/><Relationship Id="rId15" Type="http://schemas.openxmlformats.org/officeDocument/2006/relationships/image" Target="../media/image81.png"/><Relationship Id="rId10" Type="http://schemas.openxmlformats.org/officeDocument/2006/relationships/image" Target="../media/image76.png"/><Relationship Id="rId9" Type="http://schemas.openxmlformats.org/officeDocument/2006/relationships/image" Target="../media/image492.png"/><Relationship Id="rId14" Type="http://schemas.openxmlformats.org/officeDocument/2006/relationships/image" Target="../media/image80.png"/></Relationships>
</file>

<file path=ppt/slides/_rels/slide15.xml.rels><?xml version="1.0" encoding="UTF-8" standalone="yes"?>
<Relationships xmlns="http://schemas.openxmlformats.org/package/2006/relationships"><Relationship Id="rId8" Type="http://schemas.openxmlformats.org/officeDocument/2006/relationships/image" Target="../media/image561.png"/><Relationship Id="rId13" Type="http://schemas.openxmlformats.org/officeDocument/2006/relationships/image" Target="../media/image86.png"/><Relationship Id="rId12" Type="http://schemas.openxmlformats.org/officeDocument/2006/relationships/image" Target="../media/image85.png"/><Relationship Id="rId1" Type="http://schemas.openxmlformats.org/officeDocument/2006/relationships/slideLayout" Target="../slideLayouts/slideLayout2.xml"/><Relationship Id="rId11" Type="http://schemas.openxmlformats.org/officeDocument/2006/relationships/image" Target="../media/image84.png"/><Relationship Id="rId10" Type="http://schemas.openxmlformats.org/officeDocument/2006/relationships/image" Target="../media/image83.png"/><Relationship Id="rId9" Type="http://schemas.openxmlformats.org/officeDocument/2006/relationships/image" Target="../media/image82.png"/><Relationship Id="rId14" Type="http://schemas.openxmlformats.org/officeDocument/2006/relationships/image" Target="../media/image87.png"/></Relationships>
</file>

<file path=ppt/slides/_rels/slide16.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88.png"/><Relationship Id="rId7" Type="http://schemas.openxmlformats.org/officeDocument/2006/relationships/image" Target="../media/image23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7.xml.rels><?xml version="1.0" encoding="UTF-8" standalone="yes"?>
<Relationships xmlns="http://schemas.openxmlformats.org/package/2006/relationships"><Relationship Id="rId8" Type="http://schemas.openxmlformats.org/officeDocument/2006/relationships/image" Target="../media/image611.png"/><Relationship Id="rId3" Type="http://schemas.openxmlformats.org/officeDocument/2006/relationships/image" Target="../media/image89.png"/><Relationship Id="rId7" Type="http://schemas.openxmlformats.org/officeDocument/2006/relationships/image" Target="../media/image601.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592.png"/><Relationship Id="rId11" Type="http://schemas.openxmlformats.org/officeDocument/2006/relationships/image" Target="../media/image640.png"/><Relationship Id="rId5" Type="http://schemas.openxmlformats.org/officeDocument/2006/relationships/image" Target="../media/image582.png"/><Relationship Id="rId10" Type="http://schemas.openxmlformats.org/officeDocument/2006/relationships/image" Target="../media/image631.png"/><Relationship Id="rId4" Type="http://schemas.openxmlformats.org/officeDocument/2006/relationships/image" Target="../media/image200.png"/><Relationship Id="rId9" Type="http://schemas.openxmlformats.org/officeDocument/2006/relationships/image" Target="../media/image621.png"/></Relationships>
</file>

<file path=ppt/slides/_rels/slide1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1.png"/></Relationships>
</file>

<file path=ppt/slides/_rels/slide19.xml.rels><?xml version="1.0" encoding="UTF-8" standalone="yes"?>
<Relationships xmlns="http://schemas.openxmlformats.org/package/2006/relationships"><Relationship Id="rId13" Type="http://schemas.openxmlformats.org/officeDocument/2006/relationships/image" Target="../media/image500.png"/><Relationship Id="rId18" Type="http://schemas.openxmlformats.org/officeDocument/2006/relationships/image" Target="../media/image570.png"/><Relationship Id="rId26" Type="http://schemas.openxmlformats.org/officeDocument/2006/relationships/image" Target="../media/image732.png"/><Relationship Id="rId21" Type="http://schemas.openxmlformats.org/officeDocument/2006/relationships/image" Target="../media/image680.png"/><Relationship Id="rId12" Type="http://schemas.openxmlformats.org/officeDocument/2006/relationships/image" Target="../media/image491.png"/><Relationship Id="rId17" Type="http://schemas.openxmlformats.org/officeDocument/2006/relationships/image" Target="../media/image560.png"/><Relationship Id="rId25" Type="http://schemas.openxmlformats.org/officeDocument/2006/relationships/image" Target="../media/image722.png"/><Relationship Id="rId2" Type="http://schemas.openxmlformats.org/officeDocument/2006/relationships/image" Target="../media/image91.png"/><Relationship Id="rId16" Type="http://schemas.openxmlformats.org/officeDocument/2006/relationships/image" Target="../media/image92.png"/><Relationship Id="rId20" Type="http://schemas.openxmlformats.org/officeDocument/2006/relationships/image" Target="../media/image590.png"/><Relationship Id="rId29" Type="http://schemas.openxmlformats.org/officeDocument/2006/relationships/image" Target="../media/image440.png"/><Relationship Id="rId1" Type="http://schemas.openxmlformats.org/officeDocument/2006/relationships/slideLayout" Target="../slideLayouts/slideLayout2.xml"/><Relationship Id="rId24" Type="http://schemas.openxmlformats.org/officeDocument/2006/relationships/image" Target="../media/image710.png"/><Relationship Id="rId15" Type="http://schemas.openxmlformats.org/officeDocument/2006/relationships/image" Target="../media/image520.png"/><Relationship Id="rId23" Type="http://schemas.openxmlformats.org/officeDocument/2006/relationships/image" Target="../media/image700.png"/><Relationship Id="rId28" Type="http://schemas.openxmlformats.org/officeDocument/2006/relationships/image" Target="../media/image750.png"/><Relationship Id="rId19" Type="http://schemas.openxmlformats.org/officeDocument/2006/relationships/image" Target="../media/image580.png"/><Relationship Id="rId14" Type="http://schemas.openxmlformats.org/officeDocument/2006/relationships/image" Target="../media/image510.png"/><Relationship Id="rId22" Type="http://schemas.openxmlformats.org/officeDocument/2006/relationships/image" Target="../media/image690.png"/><Relationship Id="rId27" Type="http://schemas.openxmlformats.org/officeDocument/2006/relationships/image" Target="../media/image742.png"/></Relationships>
</file>

<file path=ppt/slides/_rels/slide20.xml.rels><?xml version="1.0" encoding="UTF-8" standalone="yes"?>
<Relationships xmlns="http://schemas.openxmlformats.org/package/2006/relationships"><Relationship Id="rId13" Type="http://schemas.openxmlformats.org/officeDocument/2006/relationships/image" Target="../media/image681.png"/><Relationship Id="rId18" Type="http://schemas.openxmlformats.org/officeDocument/2006/relationships/image" Target="../media/image731.png"/><Relationship Id="rId26" Type="http://schemas.openxmlformats.org/officeDocument/2006/relationships/image" Target="../media/image440.png"/><Relationship Id="rId21" Type="http://schemas.openxmlformats.org/officeDocument/2006/relationships/image" Target="../media/image781.png"/><Relationship Id="rId12" Type="http://schemas.openxmlformats.org/officeDocument/2006/relationships/image" Target="../media/image671.png"/><Relationship Id="rId17" Type="http://schemas.openxmlformats.org/officeDocument/2006/relationships/image" Target="../media/image721.png"/><Relationship Id="rId25" Type="http://schemas.openxmlformats.org/officeDocument/2006/relationships/image" Target="../media/image821.png"/><Relationship Id="rId2" Type="http://schemas.openxmlformats.org/officeDocument/2006/relationships/image" Target="../media/image93.png"/><Relationship Id="rId16" Type="http://schemas.openxmlformats.org/officeDocument/2006/relationships/image" Target="../media/image94.png"/><Relationship Id="rId20" Type="http://schemas.openxmlformats.org/officeDocument/2006/relationships/image" Target="../media/image751.png"/><Relationship Id="rId29" Type="http://schemas.openxmlformats.org/officeDocument/2006/relationships/image" Target="../media/image851.png"/><Relationship Id="rId1" Type="http://schemas.openxmlformats.org/officeDocument/2006/relationships/slideLayout" Target="../slideLayouts/slideLayout2.xml"/><Relationship Id="rId24" Type="http://schemas.openxmlformats.org/officeDocument/2006/relationships/image" Target="../media/image811.png"/><Relationship Id="rId15" Type="http://schemas.openxmlformats.org/officeDocument/2006/relationships/image" Target="../media/image701.png"/><Relationship Id="rId23" Type="http://schemas.openxmlformats.org/officeDocument/2006/relationships/image" Target="../media/image800.png"/><Relationship Id="rId28" Type="http://schemas.openxmlformats.org/officeDocument/2006/relationships/image" Target="../media/image841.png"/><Relationship Id="rId19" Type="http://schemas.openxmlformats.org/officeDocument/2006/relationships/image" Target="../media/image741.png"/><Relationship Id="rId14" Type="http://schemas.openxmlformats.org/officeDocument/2006/relationships/image" Target="../media/image691.png"/><Relationship Id="rId22" Type="http://schemas.openxmlformats.org/officeDocument/2006/relationships/image" Target="../media/image792.png"/><Relationship Id="rId27" Type="http://schemas.openxmlformats.org/officeDocument/2006/relationships/image" Target="../media/image832.png"/></Relationships>
</file>

<file path=ppt/slides/_rels/slide21.xml.rels><?xml version="1.0" encoding="UTF-8" standalone="yes"?>
<Relationships xmlns="http://schemas.openxmlformats.org/package/2006/relationships"><Relationship Id="rId8" Type="http://schemas.openxmlformats.org/officeDocument/2006/relationships/image" Target="../media/image920.png"/><Relationship Id="rId26" Type="http://schemas.openxmlformats.org/officeDocument/2006/relationships/image" Target="../media/image440.png"/><Relationship Id="rId3" Type="http://schemas.openxmlformats.org/officeDocument/2006/relationships/image" Target="../media/image870.png"/><Relationship Id="rId34" Type="http://schemas.openxmlformats.org/officeDocument/2006/relationships/image" Target="../media/image103.png"/><Relationship Id="rId7" Type="http://schemas.openxmlformats.org/officeDocument/2006/relationships/image" Target="../media/image96.png"/><Relationship Id="rId33" Type="http://schemas.openxmlformats.org/officeDocument/2006/relationships/image" Target="../media/image102.png"/><Relationship Id="rId2" Type="http://schemas.openxmlformats.org/officeDocument/2006/relationships/image" Target="../media/image95.png"/><Relationship Id="rId29"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900.png"/><Relationship Id="rId11" Type="http://schemas.openxmlformats.org/officeDocument/2006/relationships/image" Target="../media/image950.png"/><Relationship Id="rId32" Type="http://schemas.openxmlformats.org/officeDocument/2006/relationships/image" Target="../media/image101.png"/><Relationship Id="rId5" Type="http://schemas.openxmlformats.org/officeDocument/2006/relationships/image" Target="../media/image890.png"/><Relationship Id="rId28" Type="http://schemas.openxmlformats.org/officeDocument/2006/relationships/image" Target="../media/image97.png"/><Relationship Id="rId10" Type="http://schemas.openxmlformats.org/officeDocument/2006/relationships/image" Target="../media/image940.png"/><Relationship Id="rId31" Type="http://schemas.openxmlformats.org/officeDocument/2006/relationships/image" Target="../media/image100.png"/><Relationship Id="rId4" Type="http://schemas.openxmlformats.org/officeDocument/2006/relationships/image" Target="../media/image880.png"/><Relationship Id="rId9" Type="http://schemas.openxmlformats.org/officeDocument/2006/relationships/image" Target="../media/image930.png"/><Relationship Id="rId27" Type="http://schemas.openxmlformats.org/officeDocument/2006/relationships/image" Target="../media/image962.png"/><Relationship Id="rId30" Type="http://schemas.openxmlformats.org/officeDocument/2006/relationships/image" Target="../media/image99.png"/></Relationships>
</file>

<file path=ppt/slides/_rels/slide22.xml.rels><?xml version="1.0" encoding="UTF-8" standalone="yes"?>
<Relationships xmlns="http://schemas.openxmlformats.org/package/2006/relationships"><Relationship Id="rId26" Type="http://schemas.openxmlformats.org/officeDocument/2006/relationships/image" Target="../media/image440.png"/><Relationship Id="rId39" Type="http://schemas.openxmlformats.org/officeDocument/2006/relationships/image" Target="../media/image108.png"/><Relationship Id="rId34" Type="http://schemas.openxmlformats.org/officeDocument/2006/relationships/image" Target="../media/image1032.png"/><Relationship Id="rId33" Type="http://schemas.openxmlformats.org/officeDocument/2006/relationships/image" Target="../media/image1021.png"/><Relationship Id="rId38" Type="http://schemas.openxmlformats.org/officeDocument/2006/relationships/image" Target="../media/image107.png"/><Relationship Id="rId29" Type="http://schemas.openxmlformats.org/officeDocument/2006/relationships/image" Target="../media/image981.png"/><Relationship Id="rId41" Type="http://schemas.openxmlformats.org/officeDocument/2006/relationships/image" Target="../media/image110.png"/><Relationship Id="rId1" Type="http://schemas.openxmlformats.org/officeDocument/2006/relationships/slideLayout" Target="../slideLayouts/slideLayout2.xml"/><Relationship Id="rId32" Type="http://schemas.openxmlformats.org/officeDocument/2006/relationships/image" Target="../media/image105.png"/><Relationship Id="rId37" Type="http://schemas.openxmlformats.org/officeDocument/2006/relationships/image" Target="../media/image106.png"/><Relationship Id="rId40" Type="http://schemas.openxmlformats.org/officeDocument/2006/relationships/image" Target="../media/image109.png"/><Relationship Id="rId28" Type="http://schemas.openxmlformats.org/officeDocument/2006/relationships/image" Target="../media/image972.png"/><Relationship Id="rId36" Type="http://schemas.openxmlformats.org/officeDocument/2006/relationships/image" Target="../media/image1051.png"/><Relationship Id="rId31" Type="http://schemas.openxmlformats.org/officeDocument/2006/relationships/image" Target="../media/image1003.png"/><Relationship Id="rId27" Type="http://schemas.openxmlformats.org/officeDocument/2006/relationships/image" Target="../media/image104.png"/><Relationship Id="rId30" Type="http://schemas.openxmlformats.org/officeDocument/2006/relationships/image" Target="../media/image993.png"/><Relationship Id="rId35" Type="http://schemas.openxmlformats.org/officeDocument/2006/relationships/image" Target="../media/image1042.png"/></Relationships>
</file>

<file path=ppt/slides/_rels/slide2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png"/><Relationship Id="rId7" Type="http://schemas.openxmlformats.org/officeDocument/2006/relationships/image" Target="../media/image117.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15" Type="http://schemas.openxmlformats.org/officeDocument/2006/relationships/image" Target="../media/image120.png"/><Relationship Id="rId4" Type="http://schemas.openxmlformats.org/officeDocument/2006/relationships/image" Target="../media/image1141.png"/><Relationship Id="rId9" Type="http://schemas.openxmlformats.org/officeDocument/2006/relationships/image" Target="../media/image119.png"/><Relationship Id="rId14" Type="http://schemas.openxmlformats.org/officeDocument/2006/relationships/image" Target="../media/image1191.png"/></Relationships>
</file>

<file path=ppt/slides/_rels/slide25.xml.rels><?xml version="1.0" encoding="UTF-8" standalone="yes"?>
<Relationships xmlns="http://schemas.openxmlformats.org/package/2006/relationships"><Relationship Id="rId8" Type="http://schemas.openxmlformats.org/officeDocument/2006/relationships/image" Target="../media/image791.png"/><Relationship Id="rId3" Type="http://schemas.openxmlformats.org/officeDocument/2006/relationships/image" Target="../media/image122.png"/><Relationship Id="rId7" Type="http://schemas.openxmlformats.org/officeDocument/2006/relationships/image" Target="../media/image831.png"/><Relationship Id="rId12" Type="http://schemas.openxmlformats.org/officeDocument/2006/relationships/image" Target="../media/image871.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810.png"/><Relationship Id="rId11" Type="http://schemas.openxmlformats.org/officeDocument/2006/relationships/image" Target="../media/image861.png"/><Relationship Id="rId5" Type="http://schemas.openxmlformats.org/officeDocument/2006/relationships/image" Target="../media/image662.png"/><Relationship Id="rId9" Type="http://schemas.openxmlformats.org/officeDocument/2006/relationships/image" Target="../media/image123.png"/></Relationships>
</file>

<file path=ppt/slides/_rels/slide2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27.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image" Target="../media/image129.png"/><Relationship Id="rId7" Type="http://schemas.openxmlformats.org/officeDocument/2006/relationships/image" Target="../media/image133.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28.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8.png"/><Relationship Id="rId2"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29.xml.rels><?xml version="1.0" encoding="UTF-8" standalone="yes"?>
<Relationships xmlns="http://schemas.openxmlformats.org/package/2006/relationships"><Relationship Id="rId18" Type="http://schemas.openxmlformats.org/officeDocument/2006/relationships/image" Target="../media/image971.png"/><Relationship Id="rId13" Type="http://schemas.openxmlformats.org/officeDocument/2006/relationships/image" Target="../media/image931.png"/><Relationship Id="rId21" Type="http://schemas.openxmlformats.org/officeDocument/2006/relationships/image" Target="../media/image1360.png"/><Relationship Id="rId17" Type="http://schemas.openxmlformats.org/officeDocument/2006/relationships/image" Target="../media/image961.png"/><Relationship Id="rId12" Type="http://schemas.openxmlformats.org/officeDocument/2006/relationships/image" Target="../media/image1031.png"/><Relationship Id="rId2" Type="http://schemas.openxmlformats.org/officeDocument/2006/relationships/image" Target="../media/image142.png"/><Relationship Id="rId20" Type="http://schemas.openxmlformats.org/officeDocument/2006/relationships/image" Target="../media/image992.png"/><Relationship Id="rId1" Type="http://schemas.openxmlformats.org/officeDocument/2006/relationships/slideLayout" Target="../slideLayouts/slideLayout2.xml"/><Relationship Id="rId23" Type="http://schemas.openxmlformats.org/officeDocument/2006/relationships/image" Target="../media/image1381.png"/><Relationship Id="rId19" Type="http://schemas.openxmlformats.org/officeDocument/2006/relationships/image" Target="../media/image980.png"/><Relationship Id="rId22" Type="http://schemas.openxmlformats.org/officeDocument/2006/relationships/image" Target="../media/image143.png"/></Relationships>
</file>

<file path=ppt/slides/_rels/slide30.xml.rels><?xml version="1.0" encoding="UTF-8" standalone="yes"?>
<Relationships xmlns="http://schemas.openxmlformats.org/package/2006/relationships"><Relationship Id="rId8" Type="http://schemas.openxmlformats.org/officeDocument/2006/relationships/image" Target="../media/image1080.png"/><Relationship Id="rId3" Type="http://schemas.openxmlformats.org/officeDocument/2006/relationships/image" Target="../media/image144.png"/><Relationship Id="rId7" Type="http://schemas.openxmlformats.org/officeDocument/2006/relationships/image" Target="../media/image990.png"/><Relationship Id="rId2" Type="http://schemas.openxmlformats.org/officeDocument/2006/relationships/image" Target="../media/image1300.png"/><Relationship Id="rId1" Type="http://schemas.openxmlformats.org/officeDocument/2006/relationships/slideLayout" Target="../slideLayouts/slideLayout2.xml"/><Relationship Id="rId6" Type="http://schemas.openxmlformats.org/officeDocument/2006/relationships/image" Target="../media/image1031.png"/><Relationship Id="rId11" Type="http://schemas.openxmlformats.org/officeDocument/2006/relationships/image" Target="../media/image960.png"/><Relationship Id="rId5" Type="http://schemas.openxmlformats.org/officeDocument/2006/relationships/image" Target="../media/image1071.PNG"/><Relationship Id="rId10" Type="http://schemas.openxmlformats.org/officeDocument/2006/relationships/image" Target="../media/image1002.png"/><Relationship Id="rId9" Type="http://schemas.openxmlformats.org/officeDocument/2006/relationships/image" Target="../media/image145.png"/></Relationships>
</file>

<file path=ppt/slides/_rels/slide3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331.png"/><Relationship Id="rId1" Type="http://schemas.openxmlformats.org/officeDocument/2006/relationships/slideLayout" Target="../slideLayouts/slideLayout2.xml"/><Relationship Id="rId5" Type="http://schemas.openxmlformats.org/officeDocument/2006/relationships/image" Target="../media/image1451.png"/><Relationship Id="rId4" Type="http://schemas.openxmlformats.org/officeDocument/2006/relationships/image" Target="../media/image1440.png"/></Relationships>
</file>

<file path=ppt/slides/_rels/slide32.xml.rels><?xml version="1.0" encoding="UTF-8" standalone="yes"?>
<Relationships xmlns="http://schemas.openxmlformats.org/package/2006/relationships"><Relationship Id="rId8" Type="http://schemas.openxmlformats.org/officeDocument/2006/relationships/image" Target="../media/image154.png"/><Relationship Id="rId3" Type="http://schemas.openxmlformats.org/officeDocument/2006/relationships/image" Target="../media/image147.png"/><Relationship Id="rId7" Type="http://schemas.openxmlformats.org/officeDocument/2006/relationships/image" Target="../media/image153.png"/><Relationship Id="rId2" Type="http://schemas.openxmlformats.org/officeDocument/2006/relationships/image" Target="../media/image1461.png"/><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49.png"/><Relationship Id="rId4" Type="http://schemas.openxmlformats.org/officeDocument/2006/relationships/image" Target="../media/image148.png"/></Relationships>
</file>

<file path=ppt/slides/_rels/slide33.xml.rels><?xml version="1.0" encoding="UTF-8" standalone="yes"?>
<Relationships xmlns="http://schemas.openxmlformats.org/package/2006/relationships"><Relationship Id="rId18" Type="http://schemas.openxmlformats.org/officeDocument/2006/relationships/image" Target="../media/image1390.png"/><Relationship Id="rId13" Type="http://schemas.openxmlformats.org/officeDocument/2006/relationships/image" Target="../media/image931.png"/><Relationship Id="rId21" Type="http://schemas.openxmlformats.org/officeDocument/2006/relationships/image" Target="../media/image156.png"/><Relationship Id="rId17" Type="http://schemas.openxmlformats.org/officeDocument/2006/relationships/image" Target="../media/image1380.png"/><Relationship Id="rId12" Type="http://schemas.openxmlformats.org/officeDocument/2006/relationships/image" Target="../media/image1031.png"/><Relationship Id="rId20" Type="http://schemas.openxmlformats.org/officeDocument/2006/relationships/image" Target="../media/image155.png"/><Relationship Id="rId1" Type="http://schemas.openxmlformats.org/officeDocument/2006/relationships/slideLayout" Target="../slideLayouts/slideLayout2.xml"/><Relationship Id="rId23" Type="http://schemas.openxmlformats.org/officeDocument/2006/relationships/image" Target="../media/image1381.png"/><Relationship Id="rId19" Type="http://schemas.openxmlformats.org/officeDocument/2006/relationships/image" Target="../media/image1420.png"/><Relationship Id="rId22" Type="http://schemas.openxmlformats.org/officeDocument/2006/relationships/image" Target="../media/image157.png"/></Relationships>
</file>

<file path=ppt/slides/_rels/slide34.xml.rels><?xml version="1.0" encoding="UTF-8" standalone="yes"?>
<Relationships xmlns="http://schemas.openxmlformats.org/package/2006/relationships"><Relationship Id="rId3" Type="http://schemas.openxmlformats.org/officeDocument/2006/relationships/image" Target="../media/image158.png"/><Relationship Id="rId7" Type="http://schemas.openxmlformats.org/officeDocument/2006/relationships/image" Target="../media/image117.png"/><Relationship Id="rId2" Type="http://schemas.openxmlformats.org/officeDocument/2006/relationships/image" Target="../media/image1430.png"/><Relationship Id="rId1" Type="http://schemas.openxmlformats.org/officeDocument/2006/relationships/slideLayout" Target="../slideLayouts/slideLayout2.xml"/><Relationship Id="rId11" Type="http://schemas.openxmlformats.org/officeDocument/2006/relationships/image" Target="../media/image159.png"/><Relationship Id="rId6" Type="http://schemas.openxmlformats.org/officeDocument/2006/relationships/image" Target="../media/image1460.png"/><Relationship Id="rId5" Type="http://schemas.openxmlformats.org/officeDocument/2006/relationships/image" Target="../media/image1450.png"/><Relationship Id="rId10" Type="http://schemas.openxmlformats.org/officeDocument/2006/relationships/image" Target="../media/image960.png"/><Relationship Id="rId9" Type="http://schemas.openxmlformats.org/officeDocument/2006/relationships/image" Target="../media/image1002.png"/></Relationships>
</file>

<file path=ppt/slides/_rels/slide3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480.png"/><Relationship Id="rId1" Type="http://schemas.openxmlformats.org/officeDocument/2006/relationships/slideLayout" Target="../slideLayouts/slideLayout2.xml"/><Relationship Id="rId5" Type="http://schemas.openxmlformats.org/officeDocument/2006/relationships/image" Target="../media/image164.png"/><Relationship Id="rId4" Type="http://schemas.openxmlformats.org/officeDocument/2006/relationships/image" Target="../media/image163.png"/></Relationships>
</file>

<file path=ppt/slides/_rels/slide36.xml.rels><?xml version="1.0" encoding="UTF-8" standalone="yes"?>
<Relationships xmlns="http://schemas.openxmlformats.org/package/2006/relationships"><Relationship Id="rId8" Type="http://schemas.openxmlformats.org/officeDocument/2006/relationships/image" Target="../media/image173.png"/><Relationship Id="rId3" Type="http://schemas.openxmlformats.org/officeDocument/2006/relationships/image" Target="../media/image166.png"/><Relationship Id="rId7" Type="http://schemas.openxmlformats.org/officeDocument/2006/relationships/image" Target="../media/image172.png"/><Relationship Id="rId2"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37.xml.rels><?xml version="1.0" encoding="UTF-8" standalone="yes"?>
<Relationships xmlns="http://schemas.openxmlformats.org/package/2006/relationships"><Relationship Id="rId8" Type="http://schemas.openxmlformats.org/officeDocument/2006/relationships/image" Target="../media/image182.png"/><Relationship Id="rId3" Type="http://schemas.openxmlformats.org/officeDocument/2006/relationships/image" Target="../media/image175.png"/><Relationship Id="rId7" Type="http://schemas.openxmlformats.org/officeDocument/2006/relationships/image" Target="../media/image179.png"/><Relationship Id="rId2" Type="http://schemas.openxmlformats.org/officeDocument/2006/relationships/image" Target="../media/image174.png"/><Relationship Id="rId1"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 Id="rId9" Type="http://schemas.openxmlformats.org/officeDocument/2006/relationships/image" Target="../media/image183.png"/></Relationships>
</file>

<file path=ppt/slides/_rels/slide38.xml.rels><?xml version="1.0" encoding="UTF-8" standalone="yes"?>
<Relationships xmlns="http://schemas.openxmlformats.org/package/2006/relationships"><Relationship Id="rId8" Type="http://schemas.openxmlformats.org/officeDocument/2006/relationships/image" Target="../media/image1000.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11" Type="http://schemas.openxmlformats.org/officeDocument/2006/relationships/image" Target="../media/image1650.png"/><Relationship Id="rId5" Type="http://schemas.openxmlformats.org/officeDocument/2006/relationships/image" Target="../media/image5600.png"/><Relationship Id="rId10" Type="http://schemas.openxmlformats.org/officeDocument/2006/relationships/image" Target="../media/image1640.png"/><Relationship Id="rId4" Type="http://schemas.openxmlformats.org/officeDocument/2006/relationships/image" Target="../media/image490.png"/><Relationship Id="rId9" Type="http://schemas.openxmlformats.org/officeDocument/2006/relationships/image" Target="../media/image1010.png"/></Relationships>
</file>

<file path=ppt/slides/_rels/slide39.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660.png"/><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11.PNG"/></Relationships>
</file>

<file path=ppt/slides/_rels/slide40.xml.rels><?xml version="1.0" encoding="UTF-8" standalone="yes"?>
<Relationships xmlns="http://schemas.openxmlformats.org/package/2006/relationships"><Relationship Id="rId8" Type="http://schemas.openxmlformats.org/officeDocument/2006/relationships/image" Target="../media/image1760.png"/><Relationship Id="rId3" Type="http://schemas.openxmlformats.org/officeDocument/2006/relationships/image" Target="../media/image1690.png"/><Relationship Id="rId7" Type="http://schemas.openxmlformats.org/officeDocument/2006/relationships/image" Target="../media/image1751.png"/><Relationship Id="rId2" Type="http://schemas.openxmlformats.org/officeDocument/2006/relationships/image" Target="../media/image1691.png"/><Relationship Id="rId1" Type="http://schemas.openxmlformats.org/officeDocument/2006/relationships/slideLayout" Target="../slideLayouts/slideLayout2.xml"/><Relationship Id="rId6" Type="http://schemas.openxmlformats.org/officeDocument/2006/relationships/image" Target="../media/image1740.png"/><Relationship Id="rId11" Type="http://schemas.openxmlformats.org/officeDocument/2006/relationships/image" Target="../media/image1790.png"/><Relationship Id="rId5" Type="http://schemas.openxmlformats.org/officeDocument/2006/relationships/image" Target="../media/image1730.png"/><Relationship Id="rId10" Type="http://schemas.openxmlformats.org/officeDocument/2006/relationships/image" Target="../media/image1780.png"/><Relationship Id="rId4" Type="http://schemas.openxmlformats.org/officeDocument/2006/relationships/image" Target="../media/image1720.png"/><Relationship Id="rId9" Type="http://schemas.openxmlformats.org/officeDocument/2006/relationships/image" Target="../media/image1770.png"/></Relationships>
</file>

<file path=ppt/slides/_rels/slide41.xml.rels><?xml version="1.0" encoding="UTF-8" standalone="yes"?>
<Relationships xmlns="http://schemas.openxmlformats.org/package/2006/relationships"><Relationship Id="rId8" Type="http://schemas.openxmlformats.org/officeDocument/2006/relationships/image" Target="../media/image188.png"/><Relationship Id="rId7"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750.png"/></Relationships>
</file>

<file path=ppt/slides/_rels/slide42.xml.rels><?xml version="1.0" encoding="UTF-8" standalone="yes"?>
<Relationships xmlns="http://schemas.openxmlformats.org/package/2006/relationships"><Relationship Id="rId8" Type="http://schemas.openxmlformats.org/officeDocument/2006/relationships/image" Target="../media/image1120.png"/><Relationship Id="rId3" Type="http://schemas.openxmlformats.org/officeDocument/2006/relationships/image" Target="../media/image1050.png"/><Relationship Id="rId7" Type="http://schemas.openxmlformats.org/officeDocument/2006/relationships/image" Target="../media/image1111.png"/><Relationship Id="rId2" Type="http://schemas.openxmlformats.org/officeDocument/2006/relationships/image" Target="../media/image1861.png"/><Relationship Id="rId1" Type="http://schemas.openxmlformats.org/officeDocument/2006/relationships/slideLayout" Target="../slideLayouts/slideLayout2.xml"/><Relationship Id="rId6" Type="http://schemas.openxmlformats.org/officeDocument/2006/relationships/image" Target="../media/image571.png"/><Relationship Id="rId11" Type="http://schemas.openxmlformats.org/officeDocument/2006/relationships/image" Target="../media/image1140.png"/><Relationship Id="rId5" Type="http://schemas.openxmlformats.org/officeDocument/2006/relationships/image" Target="../media/image1100.png"/><Relationship Id="rId10" Type="http://schemas.openxmlformats.org/officeDocument/2006/relationships/image" Target="../media/image1130.png"/><Relationship Id="rId4" Type="http://schemas.openxmlformats.org/officeDocument/2006/relationships/image" Target="../media/image1060.png"/><Relationship Id="rId9" Type="http://schemas.openxmlformats.org/officeDocument/2006/relationships/image" Target="../media/image581.png"/></Relationships>
</file>

<file path=ppt/slides/_rels/slide43.xml.rels><?xml version="1.0" encoding="UTF-8" standalone="yes"?>
<Relationships xmlns="http://schemas.openxmlformats.org/package/2006/relationships"><Relationship Id="rId8" Type="http://schemas.openxmlformats.org/officeDocument/2006/relationships/image" Target="../media/image1170.png"/><Relationship Id="rId3" Type="http://schemas.openxmlformats.org/officeDocument/2006/relationships/image" Target="../media/image1050.png"/><Relationship Id="rId7" Type="http://schemas.openxmlformats.org/officeDocument/2006/relationships/image" Target="../media/image1160.png"/><Relationship Id="rId2" Type="http://schemas.openxmlformats.org/officeDocument/2006/relationships/image" Target="../media/image1871.png"/><Relationship Id="rId1" Type="http://schemas.openxmlformats.org/officeDocument/2006/relationships/slideLayout" Target="../slideLayouts/slideLayout2.xml"/><Relationship Id="rId6" Type="http://schemas.openxmlformats.org/officeDocument/2006/relationships/image" Target="../media/image591.png"/><Relationship Id="rId11" Type="http://schemas.openxmlformats.org/officeDocument/2006/relationships/image" Target="../media/image1190.png"/><Relationship Id="rId5" Type="http://schemas.openxmlformats.org/officeDocument/2006/relationships/image" Target="../media/image1150.png"/><Relationship Id="rId10" Type="http://schemas.openxmlformats.org/officeDocument/2006/relationships/image" Target="../media/image1180.png"/><Relationship Id="rId4" Type="http://schemas.openxmlformats.org/officeDocument/2006/relationships/image" Target="../media/image1060.png"/><Relationship Id="rId9" Type="http://schemas.openxmlformats.org/officeDocument/2006/relationships/image" Target="../media/image600.png"/></Relationships>
</file>

<file path=ppt/slides/_rels/slide44.xml.rels><?xml version="1.0" encoding="UTF-8" standalone="yes"?>
<Relationships xmlns="http://schemas.openxmlformats.org/package/2006/relationships"><Relationship Id="rId8" Type="http://schemas.openxmlformats.org/officeDocument/2006/relationships/image" Target="../media/image1860.png"/><Relationship Id="rId13" Type="http://schemas.openxmlformats.org/officeDocument/2006/relationships/image" Target="../media/image720.png"/><Relationship Id="rId18" Type="http://schemas.openxmlformats.org/officeDocument/2006/relationships/image" Target="../media/image194.png"/><Relationship Id="rId3" Type="http://schemas.openxmlformats.org/officeDocument/2006/relationships/image" Target="../media/image610.png"/><Relationship Id="rId7" Type="http://schemas.openxmlformats.org/officeDocument/2006/relationships/image" Target="../media/image1850.png"/><Relationship Id="rId12" Type="http://schemas.openxmlformats.org/officeDocument/2006/relationships/image" Target="../media/image191.png"/><Relationship Id="rId17" Type="http://schemas.openxmlformats.org/officeDocument/2006/relationships/image" Target="../media/image193.png"/><Relationship Id="rId2" Type="http://schemas.openxmlformats.org/officeDocument/2006/relationships/image" Target="../media/image189.png"/><Relationship Id="rId16" Type="http://schemas.openxmlformats.org/officeDocument/2006/relationships/image" Target="../media/image192.png"/><Relationship Id="rId1" Type="http://schemas.openxmlformats.org/officeDocument/2006/relationships/slideLayout" Target="../slideLayouts/slideLayout2.xml"/><Relationship Id="rId6" Type="http://schemas.openxmlformats.org/officeDocument/2006/relationships/image" Target="../media/image1840.png"/><Relationship Id="rId11" Type="http://schemas.openxmlformats.org/officeDocument/2006/relationships/image" Target="../media/image1890.png"/><Relationship Id="rId5" Type="http://schemas.openxmlformats.org/officeDocument/2006/relationships/image" Target="../media/image630.PNG"/><Relationship Id="rId15" Type="http://schemas.openxmlformats.org/officeDocument/2006/relationships/image" Target="../media/image740.png"/><Relationship Id="rId10" Type="http://schemas.openxmlformats.org/officeDocument/2006/relationships/image" Target="../media/image1880.png"/><Relationship Id="rId4" Type="http://schemas.openxmlformats.org/officeDocument/2006/relationships/image" Target="../media/image620.png"/><Relationship Id="rId9" Type="http://schemas.openxmlformats.org/officeDocument/2006/relationships/image" Target="../media/image1870.png"/><Relationship Id="rId14" Type="http://schemas.openxmlformats.org/officeDocument/2006/relationships/image" Target="../media/image730.png"/></Relationships>
</file>

<file path=ppt/slides/_rels/slide45.xml.rels><?xml version="1.0" encoding="UTF-8" standalone="yes"?>
<Relationships xmlns="http://schemas.openxmlformats.org/package/2006/relationships"><Relationship Id="rId8" Type="http://schemas.openxmlformats.org/officeDocument/2006/relationships/image" Target="../media/image840.png"/><Relationship Id="rId3" Type="http://schemas.openxmlformats.org/officeDocument/2006/relationships/image" Target="../media/image790.png"/><Relationship Id="rId7" Type="http://schemas.openxmlformats.org/officeDocument/2006/relationships/image" Target="../media/image830.png"/><Relationship Id="rId2" Type="http://schemas.openxmlformats.org/officeDocument/2006/relationships/image" Target="../media/image780.png"/><Relationship Id="rId1" Type="http://schemas.openxmlformats.org/officeDocument/2006/relationships/slideLayout" Target="../slideLayouts/slideLayout2.xml"/><Relationship Id="rId6" Type="http://schemas.openxmlformats.org/officeDocument/2006/relationships/image" Target="../media/image820.png"/><Relationship Id="rId11" Type="http://schemas.openxmlformats.org/officeDocument/2006/relationships/image" Target="../media/image198.png"/><Relationship Id="rId10" Type="http://schemas.openxmlformats.org/officeDocument/2006/relationships/image" Target="../media/image197.png"/><Relationship Id="rId4" Type="http://schemas.openxmlformats.org/officeDocument/2006/relationships/image" Target="../media/image195.png"/><Relationship Id="rId9" Type="http://schemas.openxmlformats.org/officeDocument/2006/relationships/image" Target="../media/image1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24" name="文字方塊 23">
            <a:extLst>
              <a:ext uri="{FF2B5EF4-FFF2-40B4-BE49-F238E27FC236}">
                <a16:creationId xmlns:a16="http://schemas.microsoft.com/office/drawing/2014/main" id="{99A50A7E-C7D9-49BF-BA9E-3AB385572A53}"/>
              </a:ext>
            </a:extLst>
          </p:cNvPr>
          <p:cNvSpPr txBox="1"/>
          <p:nvPr/>
        </p:nvSpPr>
        <p:spPr>
          <a:xfrm>
            <a:off x="0" y="613132"/>
            <a:ext cx="606854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 for workspace pseudocode</a:t>
            </a:r>
            <a:endParaRPr lang="zh-TW" altLang="en-US" dirty="0">
              <a:latin typeface="Times New Roman" panose="02020603050405020304" pitchFamily="18" charset="0"/>
              <a:cs typeface="Times New Roman" panose="02020603050405020304" pitchFamily="18" charset="0"/>
            </a:endParaRPr>
          </a:p>
        </p:txBody>
      </p:sp>
      <p:grpSp>
        <p:nvGrpSpPr>
          <p:cNvPr id="7" name="群組 6">
            <a:extLst>
              <a:ext uri="{FF2B5EF4-FFF2-40B4-BE49-F238E27FC236}">
                <a16:creationId xmlns:a16="http://schemas.microsoft.com/office/drawing/2014/main" id="{5954FA83-6DDD-47BC-A17B-9741238CC9C1}"/>
              </a:ext>
            </a:extLst>
          </p:cNvPr>
          <p:cNvGrpSpPr/>
          <p:nvPr/>
        </p:nvGrpSpPr>
        <p:grpSpPr>
          <a:xfrm>
            <a:off x="384177" y="1227291"/>
            <a:ext cx="5560000" cy="5017577"/>
            <a:chOff x="402001" y="1227291"/>
            <a:chExt cx="5560000" cy="5017577"/>
          </a:xfrm>
        </p:grpSpPr>
        <p:sp>
          <p:nvSpPr>
            <p:cNvPr id="8" name="Algorithm 1">
              <a:extLst>
                <a:ext uri="{FF2B5EF4-FFF2-40B4-BE49-F238E27FC236}">
                  <a16:creationId xmlns:a16="http://schemas.microsoft.com/office/drawing/2014/main" id="{8E282648-6895-4502-A516-53C86B8C428D}"/>
                </a:ext>
              </a:extLst>
            </p:cNvPr>
            <p:cNvSpPr txBox="1"/>
            <p:nvPr/>
          </p:nvSpPr>
          <p:spPr>
            <a:xfrm>
              <a:off x="402001" y="1227291"/>
              <a:ext cx="5560000" cy="5017577"/>
            </a:xfrm>
            <a:prstGeom prst="rect">
              <a:avLst/>
            </a:prstGeom>
            <a:solidFill>
              <a:srgbClr val="FFFFFF"/>
            </a:solidFill>
            <a:ln w="6350">
              <a:solidFill>
                <a:srgbClr val="000000"/>
              </a:solidFill>
            </a:ln>
          </p:spPr>
          <p:txBody>
            <a:bodyPr wrap="square" lIns="91440" tIns="45720" rIns="91440" bIns="45720">
              <a:noAutofit/>
            </a:bodyPr>
            <a:lstStyle/>
            <a:p>
              <a:pPr>
                <a:lnSpc>
                  <a:spcPct val="103000"/>
                </a:lnSpc>
                <a:spcAft>
                  <a:spcPts val="500"/>
                </a:spcAft>
              </a:pPr>
              <a:r>
                <a:rPr lang="en-US" altLang="zh-TW" sz="1400" b="1" dirty="0">
                  <a:latin typeface="Times New Roman"/>
                  <a:cs typeface="Times New Roman"/>
                </a:rPr>
                <a:t>Algorithm 1 </a:t>
              </a:r>
              <a:r>
                <a:rPr lang="en-US" altLang="zh-TW" sz="1400" dirty="0">
                  <a:latin typeface="Times New Roman"/>
                  <a:cs typeface="Times New Roman"/>
                </a:rPr>
                <a:t>Generate Interpolation Points</a:t>
              </a:r>
            </a:p>
            <a:p>
              <a:pPr>
                <a:lnSpc>
                  <a:spcPct val="103000"/>
                </a:lnSpc>
              </a:pPr>
              <a:r>
                <a:rPr lang="en-US" altLang="zh-TW" sz="1600" b="1" dirty="0">
                  <a:latin typeface="Times New Roman"/>
                  <a:cs typeface="Times New Roman"/>
                </a:rPr>
                <a:t>Input: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i="1" dirty="0">
                  <a:latin typeface="Times New Roman"/>
                  <a:cs typeface="Times New Roman"/>
                </a:rPr>
                <a:t>R</a:t>
              </a:r>
            </a:p>
            <a:p>
              <a:pPr>
                <a:lnSpc>
                  <a:spcPct val="103000"/>
                </a:lnSpc>
                <a:spcAft>
                  <a:spcPts val="500"/>
                </a:spcAft>
              </a:pPr>
              <a:r>
                <a:rPr lang="en-US" altLang="zh-TW" sz="1600" b="1" dirty="0">
                  <a:latin typeface="Times New Roman"/>
                  <a:cs typeface="Times New Roman"/>
                </a:rPr>
                <a:t>Output: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 3)</a:t>
              </a:r>
            </a:p>
            <a:p>
              <a:pPr>
                <a:lnSpc>
                  <a:spcPct val="103000"/>
                </a:lnSpc>
              </a:pPr>
              <a:r>
                <a:rPr lang="en-US" altLang="zh-TW" sz="1200" dirty="0">
                  <a:latin typeface="Times New Roman"/>
                  <a:cs typeface="Times New Roman"/>
                </a:rPr>
                <a:t> 1: </a:t>
              </a:r>
              <a:r>
                <a:rPr lang="en-US" altLang="zh-TW" sz="1600" i="1" dirty="0">
                  <a:latin typeface="Times New Roman"/>
                  <a:cs typeface="Times New Roman"/>
                </a:rPr>
                <a:t>d</a:t>
              </a:r>
              <a:r>
                <a:rPr lang="en-US" altLang="zh-TW" sz="1600" dirty="0">
                  <a:latin typeface="Times New Roman"/>
                  <a:cs typeface="Times New Roman"/>
                </a:rPr>
                <a:t> ← </a:t>
              </a:r>
              <a:r>
                <a:rPr lang="en-US" altLang="zh-TW" sz="1600" i="1" dirty="0">
                  <a:latin typeface="Times New Roman"/>
                  <a:cs typeface="Times New Roman"/>
                </a:rPr>
                <a:t>R</a:t>
              </a:r>
              <a:r>
                <a:rPr lang="en-US" altLang="zh-TW" sz="1600" dirty="0">
                  <a:latin typeface="Times New Roman"/>
                  <a:cs typeface="Times New Roman"/>
                </a:rPr>
                <a:t> /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200" i="1" dirty="0">
                  <a:solidFill>
                    <a:srgbClr val="707070"/>
                  </a:solidFill>
                  <a:latin typeface="Times New Roman"/>
                  <a:cs typeface="Times New Roman"/>
                </a:rPr>
                <a:t>  // division spacing</a:t>
              </a:r>
            </a:p>
            <a:p>
              <a:pPr>
                <a:lnSpc>
                  <a:spcPct val="103000"/>
                </a:lnSpc>
              </a:pPr>
              <a:r>
                <a:rPr lang="en-US" altLang="zh-TW" sz="1200" dirty="0">
                  <a:latin typeface="Times New Roman"/>
                  <a:cs typeface="Times New Roman"/>
                </a:rPr>
                <a:t> 2: </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 1 + 6·</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200" i="1" dirty="0">
                  <a:solidFill>
                    <a:srgbClr val="707070"/>
                  </a:solidFill>
                  <a:latin typeface="Times New Roman"/>
                  <a:cs typeface="Times New Roman"/>
                </a:rPr>
                <a:t>  // total number of points</a:t>
              </a:r>
            </a:p>
            <a:p>
              <a:pPr>
                <a:lnSpc>
                  <a:spcPct val="103000"/>
                </a:lnSpc>
              </a:pPr>
              <a:r>
                <a:rPr lang="en-US" altLang="zh-TW" sz="1200" dirty="0">
                  <a:latin typeface="Times New Roman"/>
                  <a:cs typeface="Times New Roman"/>
                </a:rPr>
                <a:t> 3: 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 ← zeros(</a:t>
              </a:r>
              <a:r>
                <a:rPr lang="en-US" altLang="zh-TW" sz="1600" i="1" dirty="0">
                  <a:latin typeface="Times New Roman"/>
                  <a:cs typeface="Times New Roman"/>
                </a:rPr>
                <a:t>N</a:t>
              </a:r>
              <a:r>
                <a:rPr lang="en-US" altLang="zh-TW" sz="1600" baseline="-25000" dirty="0">
                  <a:latin typeface="Times New Roman"/>
                  <a:cs typeface="Times New Roman"/>
                </a:rPr>
                <a:t>tot</a:t>
              </a:r>
              <a:r>
                <a:rPr lang="en-US" altLang="zh-TW" sz="1600" dirty="0">
                  <a:latin typeface="Times New Roman"/>
                  <a:cs typeface="Times New Roman"/>
                </a:rPr>
                <a:t>, 3)</a:t>
              </a:r>
            </a:p>
            <a:p>
              <a:pPr>
                <a:lnSpc>
                  <a:spcPct val="103000"/>
                </a:lnSpc>
              </a:pPr>
              <a:r>
                <a:rPr lang="en-US" altLang="zh-TW" sz="1200" dirty="0">
                  <a:latin typeface="Times New Roman"/>
                  <a:cs typeface="Times New Roman"/>
                </a:rPr>
                <a:t> 4: </a:t>
              </a:r>
              <a:r>
                <a:rPr lang="en-US" altLang="zh-TW" sz="1600" i="1" dirty="0">
                  <a:latin typeface="Times New Roman"/>
                  <a:cs typeface="Times New Roman"/>
                </a:rPr>
                <a:t>E</a:t>
              </a:r>
              <a:r>
                <a:rPr lang="en-US" altLang="zh-TW" sz="1600" dirty="0">
                  <a:latin typeface="Times New Roman"/>
                  <a:cs typeface="Times New Roman"/>
                </a:rPr>
                <a:t> ← eye(3)</a:t>
              </a:r>
              <a:r>
                <a:rPr lang="en-US" altLang="zh-TW" sz="1200" i="1" dirty="0">
                  <a:solidFill>
                    <a:srgbClr val="707070"/>
                  </a:solidFill>
                  <a:latin typeface="Times New Roman"/>
                  <a:cs typeface="Times New Roman"/>
                </a:rPr>
                <a:t>  // unit vectors of three axes</a:t>
              </a:r>
            </a:p>
            <a:p>
              <a:pPr>
                <a:lnSpc>
                  <a:spcPct val="103000"/>
                </a:lnSpc>
              </a:pPr>
              <a:r>
                <a:rPr lang="en-US" altLang="zh-TW" sz="1200" dirty="0">
                  <a:latin typeface="Times New Roman"/>
                  <a:cs typeface="Times New Roman"/>
                </a:rPr>
                <a:t> 5: </a:t>
              </a:r>
              <a:r>
                <a:rPr lang="en-US" altLang="zh-TW" sz="1600" dirty="0">
                  <a:latin typeface="Times New Roman"/>
                  <a:cs typeface="Times New Roman"/>
                </a:rPr>
                <a:t>cnt ← 1; 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(cnt, :) ← [0, 0, 0]</a:t>
              </a:r>
              <a:r>
                <a:rPr lang="en-US" altLang="zh-TW" sz="1200" i="1" dirty="0">
                  <a:solidFill>
                    <a:srgbClr val="707070"/>
                  </a:solidFill>
                  <a:latin typeface="Times New Roman"/>
                  <a:cs typeface="Times New Roman"/>
                </a:rPr>
                <a:t>  // center point</a:t>
              </a:r>
            </a:p>
            <a:p>
              <a:pPr>
                <a:lnSpc>
                  <a:spcPct val="103000"/>
                </a:lnSpc>
              </a:pPr>
              <a:r>
                <a:rPr lang="en-US" altLang="zh-TW" sz="1200" dirty="0">
                  <a:latin typeface="Times New Roman"/>
                  <a:cs typeface="Times New Roman"/>
                </a:rPr>
                <a:t> 6: </a:t>
              </a:r>
              <a:r>
                <a:rPr lang="en-US" altLang="zh-TW" sz="1600" b="1" dirty="0">
                  <a:latin typeface="Times New Roman"/>
                  <a:cs typeface="Times New Roman"/>
                </a:rPr>
                <a:t>for </a:t>
              </a:r>
              <a:r>
                <a:rPr lang="en-US" altLang="zh-TW" sz="1600" i="1" dirty="0">
                  <a:latin typeface="Times New Roman"/>
                  <a:cs typeface="Times New Roman"/>
                </a:rPr>
                <a:t>j</a:t>
              </a:r>
              <a:r>
                <a:rPr lang="en-US" altLang="zh-TW" sz="1600" dirty="0">
                  <a:latin typeface="Times New Roman"/>
                  <a:cs typeface="Times New Roman"/>
                </a:rPr>
                <a:t> = 1 </a:t>
              </a:r>
              <a:r>
                <a:rPr lang="en-US" altLang="zh-TW" sz="1600" b="1" dirty="0">
                  <a:latin typeface="Times New Roman"/>
                  <a:cs typeface="Times New Roman"/>
                </a:rPr>
                <a:t>to</a:t>
              </a:r>
              <a:r>
                <a:rPr lang="en-US" altLang="zh-TW" sz="1600" dirty="0">
                  <a:latin typeface="Times New Roman"/>
                  <a:cs typeface="Times New Roman"/>
                </a:rPr>
                <a:t> 3 </a:t>
              </a:r>
              <a:r>
                <a:rPr lang="en-US" altLang="zh-TW" sz="1600" b="1" dirty="0">
                  <a:latin typeface="Times New Roman"/>
                  <a:cs typeface="Times New Roman"/>
                </a:rPr>
                <a:t>do</a:t>
              </a:r>
            </a:p>
            <a:p>
              <a:pPr>
                <a:lnSpc>
                  <a:spcPct val="103000"/>
                </a:lnSpc>
              </a:pPr>
              <a:r>
                <a:rPr lang="en-US" altLang="zh-TW" sz="1200" dirty="0">
                  <a:latin typeface="Times New Roman"/>
                  <a:cs typeface="Times New Roman"/>
                </a:rPr>
                <a:t> 7:   </a:t>
              </a:r>
              <a:r>
                <a:rPr lang="en-US" altLang="zh-TW" sz="1600" b="1" dirty="0">
                  <a:latin typeface="Times New Roman"/>
                  <a:cs typeface="Times New Roman"/>
                </a:rPr>
                <a:t>for </a:t>
              </a:r>
              <a:r>
                <a:rPr lang="en-US" altLang="zh-TW" sz="1600" i="1" dirty="0">
                  <a:latin typeface="Times New Roman"/>
                  <a:cs typeface="Times New Roman"/>
                </a:rPr>
                <a:t>s</a:t>
              </a:r>
              <a:r>
                <a:rPr lang="en-US" altLang="zh-TW" sz="1600" dirty="0">
                  <a:latin typeface="Times New Roman"/>
                  <a:cs typeface="Times New Roman"/>
                </a:rPr>
                <a:t> ∈ {+1, −1} </a:t>
              </a:r>
              <a:r>
                <a:rPr lang="en-US" altLang="zh-TW" sz="1600" b="1" dirty="0">
                  <a:latin typeface="Times New Roman"/>
                  <a:cs typeface="Times New Roman"/>
                </a:rPr>
                <a:t>do</a:t>
              </a:r>
              <a:r>
                <a:rPr lang="en-US" altLang="zh-TW" sz="1200" i="1" dirty="0">
                  <a:solidFill>
                    <a:srgbClr val="707070"/>
                  </a:solidFill>
                  <a:latin typeface="Times New Roman"/>
                  <a:cs typeface="Times New Roman"/>
                </a:rPr>
                <a:t>  // ± direction</a:t>
              </a:r>
            </a:p>
            <a:p>
              <a:pPr>
                <a:lnSpc>
                  <a:spcPct val="103000"/>
                </a:lnSpc>
              </a:pPr>
              <a:r>
                <a:rPr lang="en-US" altLang="zh-TW" sz="1200" dirty="0">
                  <a:latin typeface="Times New Roman"/>
                  <a:cs typeface="Times New Roman"/>
                </a:rPr>
                <a:t> 8:     </a:t>
              </a:r>
              <a:r>
                <a:rPr lang="en-US" altLang="zh-TW" sz="1600" b="1" dirty="0">
                  <a:latin typeface="Times New Roman"/>
                  <a:cs typeface="Times New Roman"/>
                </a:rPr>
                <a:t>for </a:t>
              </a:r>
              <a:r>
                <a:rPr lang="en-US" altLang="zh-TW" sz="1600" i="1" dirty="0" err="1">
                  <a:latin typeface="Times New Roman"/>
                  <a:cs typeface="Times New Roman"/>
                </a:rPr>
                <a:t>i</a:t>
              </a:r>
              <a:r>
                <a:rPr lang="en-US" altLang="zh-TW" sz="1600" i="1" dirty="0">
                  <a:latin typeface="Times New Roman"/>
                  <a:cs typeface="Times New Roman"/>
                </a:rPr>
                <a:t> </a:t>
              </a:r>
              <a:r>
                <a:rPr lang="en-US" altLang="zh-TW" sz="1600" dirty="0">
                  <a:latin typeface="Times New Roman"/>
                  <a:cs typeface="Times New Roman"/>
                </a:rPr>
                <a:t>= 1 </a:t>
              </a:r>
              <a:r>
                <a:rPr lang="en-US" altLang="zh-TW" sz="1600" b="1" dirty="0">
                  <a:latin typeface="Times New Roman"/>
                  <a:cs typeface="Times New Roman"/>
                </a:rPr>
                <a:t>to </a:t>
              </a:r>
              <a:r>
                <a:rPr lang="en-US" altLang="zh-TW" sz="1600" i="1" dirty="0">
                  <a:latin typeface="Times New Roman"/>
                  <a:cs typeface="Times New Roman"/>
                </a:rPr>
                <a:t>N</a:t>
              </a:r>
              <a:r>
                <a:rPr lang="en-US" altLang="zh-TW" sz="1600" i="1" baseline="-25000" dirty="0">
                  <a:latin typeface="Times New Roman"/>
                  <a:cs typeface="Times New Roman"/>
                </a:rPr>
                <a:t>a</a:t>
              </a:r>
              <a:r>
                <a:rPr lang="en-US" altLang="zh-TW" sz="1600" dirty="0">
                  <a:latin typeface="Times New Roman"/>
                  <a:cs typeface="Times New Roman"/>
                </a:rPr>
                <a:t> </a:t>
              </a:r>
              <a:r>
                <a:rPr lang="en-US" altLang="zh-TW" sz="1600" b="1" dirty="0">
                  <a:latin typeface="Times New Roman"/>
                  <a:cs typeface="Times New Roman"/>
                </a:rPr>
                <a:t>do</a:t>
              </a:r>
            </a:p>
            <a:p>
              <a:pPr>
                <a:lnSpc>
                  <a:spcPct val="103000"/>
                </a:lnSpc>
              </a:pPr>
              <a:r>
                <a:rPr lang="en-US" altLang="zh-TW" sz="1200" dirty="0">
                  <a:latin typeface="Times New Roman"/>
                  <a:cs typeface="Times New Roman"/>
                </a:rPr>
                <a:t> 9:       </a:t>
              </a:r>
              <a:r>
                <a:rPr lang="en-US" altLang="zh-TW" sz="1600" dirty="0">
                  <a:latin typeface="Times New Roman"/>
                  <a:cs typeface="Times New Roman"/>
                </a:rPr>
                <a:t>cnt ← cnt + 1</a:t>
              </a:r>
            </a:p>
            <a:p>
              <a:pPr>
                <a:lnSpc>
                  <a:spcPct val="103000"/>
                </a:lnSpc>
              </a:pPr>
              <a:r>
                <a:rPr lang="en-US" altLang="zh-TW" sz="1200" dirty="0">
                  <a:latin typeface="Times New Roman"/>
                  <a:cs typeface="Times New Roman"/>
                </a:rPr>
                <a:t>10:       </a:t>
              </a:r>
              <a:r>
                <a:rPr lang="en-US" altLang="zh-TW" sz="1600" i="1" dirty="0">
                  <a:latin typeface="Times New Roman"/>
                  <a:cs typeface="Times New Roman"/>
                </a:rPr>
                <a:t>p</a:t>
              </a:r>
              <a:r>
                <a:rPr lang="en-US" altLang="zh-TW" sz="1600" i="1" baseline="-25000" dirty="0">
                  <a:latin typeface="Times New Roman"/>
                  <a:cs typeface="Times New Roman"/>
                </a:rPr>
                <a:t>a</a:t>
              </a:r>
              <a:r>
                <a:rPr lang="en-US" altLang="zh-TW" sz="1600" dirty="0">
                  <a:latin typeface="Times New Roman"/>
                  <a:cs typeface="Times New Roman"/>
                </a:rPr>
                <a:t>(cnt, :) ← </a:t>
              </a:r>
              <a:r>
                <a:rPr lang="en-US" altLang="zh-TW" sz="1600" i="1" dirty="0">
                  <a:latin typeface="Times New Roman"/>
                  <a:cs typeface="Times New Roman"/>
                </a:rPr>
                <a:t>s</a:t>
              </a:r>
              <a:r>
                <a:rPr lang="en-US" altLang="zh-TW" sz="1600" dirty="0">
                  <a:latin typeface="Times New Roman"/>
                  <a:cs typeface="Times New Roman"/>
                </a:rPr>
                <a:t> · </a:t>
              </a:r>
              <a:r>
                <a:rPr lang="en-US" altLang="zh-TW" sz="1600" i="1" dirty="0">
                  <a:latin typeface="Times New Roman"/>
                  <a:cs typeface="Times New Roman"/>
                </a:rPr>
                <a:t>i</a:t>
              </a:r>
              <a:r>
                <a:rPr lang="en-US" altLang="zh-TW" sz="1600" dirty="0">
                  <a:latin typeface="Times New Roman"/>
                  <a:cs typeface="Times New Roman"/>
                </a:rPr>
                <a:t> · </a:t>
              </a:r>
              <a:r>
                <a:rPr lang="en-US" altLang="zh-TW" sz="1600" i="1" dirty="0">
                  <a:latin typeface="Times New Roman"/>
                  <a:cs typeface="Times New Roman"/>
                </a:rPr>
                <a:t>d</a:t>
              </a:r>
              <a:r>
                <a:rPr lang="en-US" altLang="zh-TW" sz="1600" dirty="0">
                  <a:latin typeface="Times New Roman"/>
                  <a:cs typeface="Times New Roman"/>
                </a:rPr>
                <a:t> · </a:t>
              </a:r>
              <a:r>
                <a:rPr lang="en-US" altLang="zh-TW" sz="1600" i="1" dirty="0">
                  <a:latin typeface="Times New Roman"/>
                  <a:cs typeface="Times New Roman"/>
                </a:rPr>
                <a:t>E</a:t>
              </a:r>
              <a:r>
                <a:rPr lang="en-US" altLang="zh-TW" sz="1600" dirty="0">
                  <a:latin typeface="Times New Roman"/>
                  <a:cs typeface="Times New Roman"/>
                </a:rPr>
                <a:t>(</a:t>
              </a:r>
              <a:r>
                <a:rPr lang="en-US" altLang="zh-TW" sz="1600" i="1" dirty="0">
                  <a:latin typeface="Times New Roman"/>
                  <a:cs typeface="Times New Roman"/>
                </a:rPr>
                <a:t>j</a:t>
              </a:r>
              <a:r>
                <a:rPr lang="en-US" altLang="zh-TW" sz="1600" dirty="0">
                  <a:latin typeface="Times New Roman"/>
                  <a:cs typeface="Times New Roman"/>
                </a:rPr>
                <a:t>, :)</a:t>
              </a:r>
              <a:r>
                <a:rPr lang="en-US" altLang="zh-TW" sz="1200" i="1" dirty="0">
                  <a:solidFill>
                    <a:srgbClr val="707070"/>
                  </a:solidFill>
                  <a:latin typeface="Times New Roman"/>
                  <a:cs typeface="Times New Roman"/>
                </a:rPr>
                <a:t>  // </a:t>
              </a:r>
              <a:r>
                <a:rPr lang="en-US" altLang="zh-TW" sz="1200" i="1" dirty="0" err="1">
                  <a:solidFill>
                    <a:srgbClr val="707070"/>
                  </a:solidFill>
                  <a:latin typeface="Times New Roman"/>
                  <a:cs typeface="Times New Roman"/>
                </a:rPr>
                <a:t>i-th</a:t>
              </a:r>
              <a:r>
                <a:rPr lang="en-US" altLang="zh-TW" sz="1200" i="1" dirty="0">
                  <a:solidFill>
                    <a:srgbClr val="707070"/>
                  </a:solidFill>
                  <a:latin typeface="Times New Roman"/>
                  <a:cs typeface="Times New Roman"/>
                </a:rPr>
                <a:t> point on axis j</a:t>
              </a:r>
            </a:p>
            <a:p>
              <a:pPr>
                <a:lnSpc>
                  <a:spcPct val="103000"/>
                </a:lnSpc>
              </a:pPr>
              <a:r>
                <a:rPr lang="en-US" altLang="zh-TW" sz="1200" dirty="0">
                  <a:latin typeface="Times New Roman"/>
                  <a:cs typeface="Times New Roman"/>
                </a:rPr>
                <a:t>11:     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12:   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13: </a:t>
              </a:r>
              <a:r>
                <a:rPr lang="en-US" altLang="zh-TW" sz="1600" b="1" dirty="0">
                  <a:latin typeface="Times New Roman"/>
                  <a:cs typeface="Times New Roman"/>
                </a:rPr>
                <a:t>end for</a:t>
              </a:r>
            </a:p>
            <a:p>
              <a:pPr>
                <a:lnSpc>
                  <a:spcPct val="103000"/>
                </a:lnSpc>
              </a:pPr>
              <a:r>
                <a:rPr lang="en-US" altLang="zh-TW" sz="1200" dirty="0">
                  <a:latin typeface="Times New Roman"/>
                  <a:cs typeface="Times New Roman"/>
                </a:rPr>
                <a:t>14: </a:t>
              </a:r>
              <a:r>
                <a:rPr lang="en-US" altLang="zh-TW" sz="1600" b="1" dirty="0">
                  <a:latin typeface="Times New Roman"/>
                  <a:cs typeface="Times New Roman"/>
                </a:rPr>
                <a:t>return </a:t>
              </a:r>
              <a:r>
                <a:rPr lang="en-US" altLang="zh-TW" sz="1600" i="1" dirty="0">
                  <a:latin typeface="Times New Roman"/>
                  <a:cs typeface="Times New Roman"/>
                </a:rPr>
                <a:t>p</a:t>
              </a:r>
              <a:r>
                <a:rPr lang="en-US" altLang="zh-TW" sz="1600" i="1" baseline="-25000" dirty="0">
                  <a:latin typeface="Times New Roman"/>
                  <a:cs typeface="Times New Roman"/>
                </a:rPr>
                <a:t>a</a:t>
              </a:r>
              <a:endParaRPr lang="en-US" altLang="zh-TW" sz="1100" i="1" baseline="-25000" dirty="0">
                <a:latin typeface="Times New Roman"/>
                <a:cs typeface="Times New Roman"/>
              </a:endParaRPr>
            </a:p>
          </p:txBody>
        </p:sp>
        <p:cxnSp>
          <p:nvCxnSpPr>
            <p:cNvPr id="9" name="rule103">
              <a:extLst>
                <a:ext uri="{FF2B5EF4-FFF2-40B4-BE49-F238E27FC236}">
                  <a16:creationId xmlns:a16="http://schemas.microsoft.com/office/drawing/2014/main" id="{DDABBAB1-992D-4916-8535-33E3D10BB10E}"/>
                </a:ext>
              </a:extLst>
            </p:cNvPr>
            <p:cNvCxnSpPr/>
            <p:nvPr/>
          </p:nvCxnSpPr>
          <p:spPr>
            <a:xfrm>
              <a:off x="402001" y="1527292"/>
              <a:ext cx="5560000" cy="0"/>
            </a:xfrm>
            <a:prstGeom prst="line">
              <a:avLst/>
            </a:prstGeom>
            <a:ln w="9525">
              <a:solidFill>
                <a:srgbClr val="000000"/>
              </a:solidFill>
            </a:ln>
          </p:spPr>
        </p:cxnSp>
      </p:grpSp>
      <p:grpSp>
        <p:nvGrpSpPr>
          <p:cNvPr id="10" name="群組 9">
            <a:extLst>
              <a:ext uri="{FF2B5EF4-FFF2-40B4-BE49-F238E27FC236}">
                <a16:creationId xmlns:a16="http://schemas.microsoft.com/office/drawing/2014/main" id="{933A178B-8AF6-4B98-AAC3-3EABC363A13D}"/>
              </a:ext>
            </a:extLst>
          </p:cNvPr>
          <p:cNvGrpSpPr/>
          <p:nvPr/>
        </p:nvGrpSpPr>
        <p:grpSpPr>
          <a:xfrm>
            <a:off x="6247823" y="1212036"/>
            <a:ext cx="5560000" cy="5032832"/>
            <a:chOff x="6230001" y="1227291"/>
            <a:chExt cx="5560000" cy="5032832"/>
          </a:xfrm>
        </p:grpSpPr>
        <mc:AlternateContent xmlns:mc="http://schemas.openxmlformats.org/markup-compatibility/2006" xmlns:a14="http://schemas.microsoft.com/office/drawing/2010/main">
          <mc:Choice Requires="a14">
            <p:sp>
              <p:nvSpPr>
                <p:cNvPr id="11" name="Algorithm 2">
                  <a:extLst>
                    <a:ext uri="{FF2B5EF4-FFF2-40B4-BE49-F238E27FC236}">
                      <a16:creationId xmlns:a16="http://schemas.microsoft.com/office/drawing/2014/main" id="{1177C345-91EB-49FB-ACFC-FA3CF50404F7}"/>
                    </a:ext>
                  </a:extLst>
                </p:cNvPr>
                <p:cNvSpPr txBox="1"/>
                <p:nvPr/>
              </p:nvSpPr>
              <p:spPr>
                <a:xfrm>
                  <a:off x="6230001" y="1227291"/>
                  <a:ext cx="5560000" cy="5032832"/>
                </a:xfrm>
                <a:prstGeom prst="rect">
                  <a:avLst/>
                </a:prstGeom>
                <a:solidFill>
                  <a:srgbClr val="FFFFFF"/>
                </a:solidFill>
                <a:ln w="6350">
                  <a:solidFill>
                    <a:srgbClr val="000000"/>
                  </a:solidFill>
                </a:ln>
              </p:spPr>
              <p:txBody>
                <a:bodyPr wrap="square" lIns="91440" tIns="45720" rIns="91440" bIns="45720">
                  <a:noAutofit/>
                </a:bodyPr>
                <a:lstStyle/>
                <a:p>
                  <a:pPr>
                    <a:lnSpc>
                      <a:spcPct val="103000"/>
                    </a:lnSpc>
                    <a:spcAft>
                      <a:spcPts val="500"/>
                    </a:spcAft>
                  </a:pPr>
                  <a:r>
                    <a:rPr lang="en-US" altLang="zh-TW" sz="1400" b="1" dirty="0">
                      <a:latin typeface="Times New Roman"/>
                      <a:cs typeface="Times New Roman"/>
                    </a:rPr>
                    <a:t>Algorithm 2 </a:t>
                  </a:r>
                  <a:r>
                    <a:rPr lang="en-US" altLang="zh-TW" sz="1400" dirty="0">
                      <a:latin typeface="Times New Roman"/>
                      <a:cs typeface="Times New Roman"/>
                    </a:rPr>
                    <a:t>Barycentric Interpolation</a:t>
                  </a:r>
                </a:p>
                <a:p>
                  <a:pPr>
                    <a:lnSpc>
                      <a:spcPct val="103000"/>
                    </a:lnSpc>
                  </a:pPr>
                  <a:r>
                    <a:rPr lang="en-US" altLang="zh-TW" sz="1400" b="1" dirty="0">
                      <a:latin typeface="Times New Roman"/>
                      <a:cs typeface="Times New Roman"/>
                    </a:rPr>
                    <a:t>Input: </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 3), </a:t>
                  </a:r>
                  <a:r>
                    <a:rPr lang="en-US" altLang="zh-TW" sz="1400" i="1" dirty="0">
                      <a:latin typeface="Times New Roman"/>
                      <a:cs typeface="Times New Roman"/>
                    </a:rPr>
                    <a:t>p</a:t>
                  </a:r>
                  <a:r>
                    <a:rPr lang="en-US" altLang="zh-TW" sz="1400" dirty="0">
                      <a:latin typeface="Times New Roman"/>
                      <a:cs typeface="Times New Roman"/>
                    </a:rPr>
                    <a:t> (</a:t>
                  </a:r>
                  <a:r>
                    <a:rPr lang="en-US" altLang="zh-TW" sz="1400" i="1" dirty="0">
                      <a:latin typeface="Times New Roman"/>
                      <a:cs typeface="Times New Roman"/>
                    </a:rPr>
                    <a:t>N</a:t>
                  </a:r>
                  <a:r>
                    <a:rPr lang="en-US" altLang="zh-TW" sz="1400" i="1" baseline="-25000" dirty="0">
                      <a:latin typeface="Times New Roman"/>
                      <a:cs typeface="Times New Roman"/>
                    </a:rPr>
                    <a:t>p</a:t>
                  </a:r>
                  <a:r>
                    <a:rPr lang="en-US" altLang="zh-TW" sz="1400" dirty="0">
                      <a:latin typeface="Times New Roman"/>
                      <a:cs typeface="Times New Roman"/>
                    </a:rPr>
                    <a:t> × 3), 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dirty="0">
                      <a:latin typeface="Times New Roman"/>
                      <a:cs typeface="Times New Roman"/>
                    </a:rPr>
                    <a:t>) (</a:t>
                  </a:r>
                  <a:r>
                    <a:rPr lang="en-US" altLang="zh-TW" sz="1400" i="1" dirty="0">
                      <a:latin typeface="Times New Roman"/>
                      <a:cs typeface="Times New Roman"/>
                    </a:rPr>
                    <a:t>N</a:t>
                  </a:r>
                  <a:r>
                    <a:rPr lang="en-US" altLang="zh-TW" sz="1400" i="1" baseline="-25000" dirty="0">
                      <a:latin typeface="Times New Roman"/>
                      <a:cs typeface="Times New Roman"/>
                    </a:rPr>
                    <a:t>p</a:t>
                  </a:r>
                  <a:r>
                    <a:rPr lang="en-US" altLang="zh-TW" sz="1400" dirty="0">
                      <a:latin typeface="Times New Roman"/>
                      <a:cs typeface="Times New Roman"/>
                    </a:rPr>
                    <a:t> × 3 ×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a:t>
                  </a:r>
                </a:p>
                <a:p>
                  <a:pPr>
                    <a:lnSpc>
                      <a:spcPct val="103000"/>
                    </a:lnSpc>
                    <a:spcAft>
                      <a:spcPts val="500"/>
                    </a:spcAft>
                  </a:pPr>
                  <a:r>
                    <a:rPr lang="en-US" altLang="zh-TW" sz="1400" b="1" dirty="0">
                      <a:latin typeface="Times New Roman"/>
                      <a:cs typeface="Times New Roman"/>
                    </a:rPr>
                    <a:t>Output: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 3 ×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a:t>
                  </a:r>
                </a:p>
                <a:p>
                  <a:pPr>
                    <a:lnSpc>
                      <a:spcPct val="103000"/>
                    </a:lnSpc>
                  </a:pPr>
                  <a:r>
                    <a:rPr lang="en-US" altLang="zh-TW" sz="1100" dirty="0">
                      <a:latin typeface="Times New Roman"/>
                      <a:cs typeface="Times New Roman"/>
                    </a:rPr>
                    <a:t> 1: </a:t>
                  </a:r>
                  <a:r>
                    <a:rPr lang="en-US" altLang="zh-TW" sz="1400" i="1" dirty="0">
                      <a:latin typeface="Times New Roman"/>
                      <a:cs typeface="Times New Roman"/>
                    </a:rPr>
                    <a:t>T</a:t>
                  </a:r>
                  <a:r>
                    <a:rPr lang="en-US" altLang="zh-TW" sz="1400" dirty="0">
                      <a:latin typeface="Times New Roman"/>
                      <a:cs typeface="Times New Roman"/>
                    </a:rPr>
                    <a:t> ← DelaunayTriangulation(</a:t>
                  </a:r>
                  <a:r>
                    <a:rPr lang="en-US" altLang="zh-TW" sz="1400" i="1" dirty="0">
                      <a:latin typeface="Times New Roman"/>
                      <a:cs typeface="Times New Roman"/>
                    </a:rPr>
                    <a:t>p</a:t>
                  </a:r>
                  <a:r>
                    <a:rPr lang="en-US" altLang="zh-TW" sz="1400" dirty="0">
                      <a:latin typeface="Times New Roman"/>
                      <a:cs typeface="Times New Roman"/>
                    </a:rPr>
                    <a:t>)</a:t>
                  </a:r>
                  <a:r>
                    <a:rPr lang="en-US" altLang="zh-TW" sz="1100" i="1" dirty="0">
                      <a:solidFill>
                        <a:srgbClr val="707070"/>
                      </a:solidFill>
                      <a:latin typeface="Times New Roman"/>
                      <a:cs typeface="Times New Roman"/>
                    </a:rPr>
                    <a:t>  // rebuild connectivity</a:t>
                  </a:r>
                </a:p>
                <a:p>
                  <a:pPr>
                    <a:lnSpc>
                      <a:spcPct val="103000"/>
                    </a:lnSpc>
                  </a:pPr>
                  <a:r>
                    <a:rPr lang="en-US" altLang="zh-TW" sz="1100" dirty="0">
                      <a:latin typeface="Times New Roman"/>
                      <a:cs typeface="Times New Roman"/>
                    </a:rPr>
                    <a:t> 2: </a:t>
                  </a:r>
                  <a:r>
                    <a:rPr lang="en-US" altLang="zh-TW" sz="1400" b="1" dirty="0">
                      <a:latin typeface="Times New Roman"/>
                      <a:cs typeface="Times New Roman"/>
                    </a:rPr>
                    <a:t>for </a:t>
                  </a:r>
                  <a:r>
                    <a:rPr lang="en-US" altLang="zh-TW" sz="1400" i="1" dirty="0">
                      <a:latin typeface="Times New Roman"/>
                      <a:cs typeface="Times New Roman"/>
                    </a:rPr>
                    <a:t>q</a:t>
                  </a:r>
                  <a:r>
                    <a:rPr lang="en-US" altLang="zh-TW" sz="1400" dirty="0">
                      <a:latin typeface="Times New Roman"/>
                      <a:cs typeface="Times New Roman"/>
                    </a:rPr>
                    <a:t> = 1 </a:t>
                  </a:r>
                  <a:r>
                    <a:rPr lang="en-US" altLang="zh-TW" sz="1400" b="1" dirty="0">
                      <a:latin typeface="Times New Roman"/>
                      <a:cs typeface="Times New Roman"/>
                    </a:rPr>
                    <a:t>to </a:t>
                  </a:r>
                  <a:r>
                    <a:rPr lang="en-US" altLang="zh-TW" sz="1400" i="1" dirty="0">
                      <a:latin typeface="Times New Roman"/>
                      <a:cs typeface="Times New Roman"/>
                    </a:rPr>
                    <a:t>N</a:t>
                  </a:r>
                  <a:r>
                    <a:rPr lang="en-US" altLang="zh-TW" sz="1400" baseline="-25000" dirty="0">
                      <a:latin typeface="Times New Roman"/>
                      <a:cs typeface="Times New Roman"/>
                    </a:rPr>
                    <a:t>tot</a:t>
                  </a:r>
                  <a:r>
                    <a:rPr lang="en-US" altLang="zh-TW" sz="1400" dirty="0">
                      <a:latin typeface="Times New Roman"/>
                      <a:cs typeface="Times New Roman"/>
                    </a:rPr>
                    <a:t> </a:t>
                  </a:r>
                  <a:r>
                    <a:rPr lang="en-US" altLang="zh-TW" sz="1400" b="1" dirty="0">
                      <a:latin typeface="Times New Roman"/>
                      <a:cs typeface="Times New Roman"/>
                    </a:rPr>
                    <a:t>do</a:t>
                  </a:r>
                </a:p>
                <a:p>
                  <a:pPr>
                    <a:lnSpc>
                      <a:spcPct val="103000"/>
                    </a:lnSpc>
                  </a:pPr>
                  <a:r>
                    <a:rPr lang="en-US" altLang="zh-TW" sz="1100" dirty="0">
                      <a:latin typeface="Times New Roman"/>
                      <a:cs typeface="Times New Roman"/>
                    </a:rPr>
                    <a:t> 3:   </a:t>
                  </a:r>
                  <a:r>
                    <a:rPr lang="en-US" altLang="zh-TW" sz="1400" dirty="0">
                      <a:latin typeface="Times New Roman"/>
                      <a:cs typeface="Times New Roman"/>
                    </a:rPr>
                    <a:t>(tetID, </a:t>
                  </a:r>
                  <a:r>
                    <a:rPr lang="en-US" altLang="zh-TW" sz="1400" i="1" dirty="0">
                      <a:latin typeface="Times New Roman"/>
                      <a:cs typeface="Times New Roman"/>
                    </a:rPr>
                    <a:t>λ</a:t>
                  </a:r>
                  <a:r>
                    <a:rPr lang="en-US" altLang="zh-TW" sz="1400" dirty="0">
                      <a:latin typeface="Times New Roman"/>
                      <a:cs typeface="Times New Roman"/>
                    </a:rPr>
                    <a:t>) ← PointLocation(</a:t>
                  </a:r>
                  <a:r>
                    <a:rPr lang="en-US" altLang="zh-TW" sz="1400" i="1" dirty="0">
                      <a:latin typeface="Times New Roman"/>
                      <a:cs typeface="Times New Roman"/>
                    </a:rPr>
                    <a:t>T</a:t>
                  </a:r>
                  <a:r>
                    <a:rPr lang="en-US" altLang="zh-TW" sz="1400" dirty="0">
                      <a:latin typeface="Times New Roman"/>
                      <a:cs typeface="Times New Roman"/>
                    </a:rPr>
                    <a:t>, </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r>
                    <a:rPr lang="en-US" altLang="zh-TW" sz="1400" i="1" dirty="0">
                      <a:latin typeface="Times New Roman"/>
                      <a:cs typeface="Times New Roman"/>
                    </a:rPr>
                    <a:t>q</a:t>
                  </a:r>
                  <a:r>
                    <a:rPr lang="en-US" altLang="zh-TW" sz="1400" dirty="0">
                      <a:latin typeface="Times New Roman"/>
                      <a:cs typeface="Times New Roman"/>
                    </a:rPr>
                    <a:t>, :))</a:t>
                  </a:r>
                  <a:r>
                    <a:rPr lang="en-US" altLang="zh-TW" sz="1100" i="1" dirty="0">
                      <a:solidFill>
                        <a:srgbClr val="707070"/>
                      </a:solidFill>
                      <a:latin typeface="Times New Roman"/>
                      <a:cs typeface="Times New Roman"/>
                    </a:rPr>
                    <a:t>  // enclosing tetrahedron</a:t>
                  </a:r>
                </a:p>
                <a:p>
                  <a:pPr>
                    <a:lnSpc>
                      <a:spcPct val="103000"/>
                    </a:lnSpc>
                  </a:pPr>
                  <a:r>
                    <a:rPr lang="en-US" altLang="zh-TW" sz="1100" dirty="0">
                      <a:latin typeface="Times New Roman"/>
                      <a:cs typeface="Times New Roman"/>
                    </a:rPr>
                    <a:t> 4:   </a:t>
                  </a:r>
                  <a:r>
                    <a:rPr lang="en-US" altLang="zh-TW" sz="1400" dirty="0">
                      <a:latin typeface="Times New Roman"/>
                      <a:cs typeface="Times New Roman"/>
                    </a:rPr>
                    <a:t>(</a:t>
                  </a:r>
                  <a:r>
                    <a:rPr lang="en-US" altLang="zh-TW" sz="1400" i="1" dirty="0">
                      <a:latin typeface="Times New Roman"/>
                      <a:cs typeface="Times New Roman"/>
                    </a:rPr>
                    <a:t>v</a:t>
                  </a:r>
                  <a:r>
                    <a:rPr lang="en-US" altLang="zh-TW" sz="1400" baseline="-25000" dirty="0">
                      <a:latin typeface="Times New Roman"/>
                      <a:cs typeface="Times New Roman"/>
                    </a:rPr>
                    <a:t>1</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2</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3</a:t>
                  </a:r>
                  <a:r>
                    <a:rPr lang="en-US" altLang="zh-TW" sz="1400" dirty="0">
                      <a:latin typeface="Times New Roman"/>
                      <a:cs typeface="Times New Roman"/>
                    </a:rPr>
                    <a:t>, </a:t>
                  </a:r>
                  <a:r>
                    <a:rPr lang="en-US" altLang="zh-TW" sz="1400" i="1" dirty="0">
                      <a:latin typeface="Times New Roman"/>
                      <a:cs typeface="Times New Roman"/>
                    </a:rPr>
                    <a:t>v</a:t>
                  </a:r>
                  <a:r>
                    <a:rPr lang="en-US" altLang="zh-TW" sz="1400" baseline="-25000" dirty="0">
                      <a:latin typeface="Times New Roman"/>
                      <a:cs typeface="Times New Roman"/>
                    </a:rPr>
                    <a:t>4</a:t>
                  </a:r>
                  <a:r>
                    <a:rPr lang="en-US" altLang="zh-TW" sz="1400" dirty="0">
                      <a:latin typeface="Times New Roman"/>
                      <a:cs typeface="Times New Roman"/>
                    </a:rPr>
                    <a:t>) ← ConnectivityList(</a:t>
                  </a:r>
                  <a:r>
                    <a:rPr lang="en-US" altLang="zh-TW" sz="1400" i="1" dirty="0">
                      <a:latin typeface="Times New Roman"/>
                      <a:cs typeface="Times New Roman"/>
                    </a:rPr>
                    <a:t>T</a:t>
                  </a:r>
                  <a:r>
                    <a:rPr lang="en-US" altLang="zh-TW" sz="1400" dirty="0">
                      <a:latin typeface="Times New Roman"/>
                      <a:cs typeface="Times New Roman"/>
                    </a:rPr>
                    <a:t>, tetID)</a:t>
                  </a:r>
                  <a:r>
                    <a:rPr lang="en-US" altLang="zh-TW" sz="1100" i="1" dirty="0">
                      <a:solidFill>
                        <a:srgbClr val="707070"/>
                      </a:solidFill>
                      <a:latin typeface="Times New Roman"/>
                      <a:cs typeface="Times New Roman"/>
                    </a:rPr>
                    <a:t>  // 4 interpolation nodes</a:t>
                  </a:r>
                </a:p>
                <a:p>
                  <a:pPr>
                    <a:lnSpc>
                      <a:spcPct val="103000"/>
                    </a:lnSpc>
                  </a:pPr>
                  <a:r>
                    <a:rPr lang="en-US" altLang="zh-TW" sz="1100" dirty="0">
                      <a:latin typeface="Times New Roman"/>
                      <a:cs typeface="Times New Roman"/>
                    </a:rPr>
                    <a:t> 5:   </a:t>
                  </a:r>
                  <a:r>
                    <a:rPr lang="en-US" altLang="zh-TW" sz="1400" b="1" dirty="0">
                      <a:latin typeface="Times New Roman"/>
                      <a:cs typeface="Times New Roman"/>
                    </a:rPr>
                    <a:t>for </a:t>
                  </a:r>
                  <a:r>
                    <a:rPr lang="en-US" altLang="zh-TW" sz="1400" i="1" dirty="0">
                      <a:latin typeface="Times New Roman"/>
                      <a:cs typeface="Times New Roman"/>
                    </a:rPr>
                    <a:t>s</a:t>
                  </a:r>
                  <a:r>
                    <a:rPr lang="en-US" altLang="zh-TW" sz="1400" dirty="0">
                      <a:latin typeface="Times New Roman"/>
                      <a:cs typeface="Times New Roman"/>
                    </a:rPr>
                    <a:t> = 1 </a:t>
                  </a:r>
                  <a:r>
                    <a:rPr lang="en-US" altLang="zh-TW" sz="1400" b="1" dirty="0">
                      <a:latin typeface="Times New Roman"/>
                      <a:cs typeface="Times New Roman"/>
                    </a:rPr>
                    <a:t>to </a:t>
                  </a:r>
                  <a:r>
                    <a:rPr lang="en-US" altLang="zh-TW" sz="1400" i="1" dirty="0">
                      <a:latin typeface="Times New Roman"/>
                      <a:cs typeface="Times New Roman"/>
                    </a:rPr>
                    <a:t>N</a:t>
                  </a:r>
                  <a:r>
                    <a:rPr lang="en-US" altLang="zh-TW" sz="1400" i="1" baseline="-25000" dirty="0">
                      <a:latin typeface="Times New Roman"/>
                      <a:cs typeface="Times New Roman"/>
                    </a:rPr>
                    <a:t>s</a:t>
                  </a:r>
                  <a:r>
                    <a:rPr lang="en-US" altLang="zh-TW" sz="1400" dirty="0">
                      <a:latin typeface="Times New Roman"/>
                      <a:cs typeface="Times New Roman"/>
                    </a:rPr>
                    <a:t> </a:t>
                  </a:r>
                  <a:r>
                    <a:rPr lang="en-US" altLang="zh-TW" sz="1400" b="1" dirty="0">
                      <a:latin typeface="Times New Roman"/>
                      <a:cs typeface="Times New Roman"/>
                    </a:rPr>
                    <a:t>do</a:t>
                  </a:r>
                </a:p>
                <a:p>
                  <a:pPr>
                    <a:lnSpc>
                      <a:spcPct val="103000"/>
                    </a:lnSpc>
                  </a:pPr>
                  <a:r>
                    <a:rPr lang="en-US" altLang="zh-TW" sz="1100" dirty="0">
                      <a:latin typeface="Times New Roman"/>
                      <a:cs typeface="Times New Roman"/>
                    </a:rPr>
                    <a:t> 6:     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r>
                    <a:rPr lang="en-US" altLang="zh-TW" sz="1400" i="1" dirty="0">
                      <a:latin typeface="Times New Roman"/>
                      <a:cs typeface="Times New Roman"/>
                    </a:rPr>
                    <a:t>q</a:t>
                  </a:r>
                  <a:r>
                    <a:rPr lang="en-US" altLang="zh-TW" sz="1400" dirty="0">
                      <a:latin typeface="Times New Roman"/>
                      <a:cs typeface="Times New Roman"/>
                    </a:rPr>
                    <a:t>, :, </a:t>
                  </a:r>
                  <a:r>
                    <a:rPr lang="en-US" altLang="zh-TW" sz="1400" i="1" dirty="0">
                      <a:latin typeface="Times New Roman"/>
                      <a:cs typeface="Times New Roman"/>
                    </a:rPr>
                    <a:t>s</a:t>
                  </a:r>
                  <a:r>
                    <a:rPr lang="en-US" altLang="zh-TW" sz="1400" dirty="0">
                      <a:latin typeface="Times New Roman"/>
                      <a:cs typeface="Times New Roman"/>
                    </a:rPr>
                    <a:t>) ← Σ </a:t>
                  </a:r>
                  <a:r>
                    <a:rPr lang="en-US" altLang="zh-TW" sz="1400" i="1" dirty="0">
                      <a:latin typeface="Times New Roman"/>
                      <a:cs typeface="Times New Roman"/>
                    </a:rPr>
                    <a:t>λ</a:t>
                  </a:r>
                  <a:r>
                    <a:rPr lang="en-US" altLang="zh-TW" sz="1400" i="1" baseline="-25000" dirty="0">
                      <a:latin typeface="Times New Roman"/>
                      <a:cs typeface="Times New Roman"/>
                    </a:rPr>
                    <a:t>i</a:t>
                  </a:r>
                  <a:r>
                    <a:rPr lang="en-US" altLang="zh-TW" sz="1400" dirty="0">
                      <a:latin typeface="Times New Roman"/>
                      <a:cs typeface="Times New Roman"/>
                    </a:rPr>
                    <a:t> ·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dirty="0">
                      <a:latin typeface="Times New Roman"/>
                      <a:cs typeface="Times New Roman"/>
                    </a:rPr>
                    <a:t>)</a:t>
                  </a:r>
                  <a14:m>
                    <m:oMath xmlns:m="http://schemas.openxmlformats.org/officeDocument/2006/math">
                      <m:r>
                        <a:rPr lang="en-US" altLang="zh-TW" sz="1400" b="0" i="0" smtClean="0">
                          <a:latin typeface="Cambria Math" panose="02040503050406030204" pitchFamily="18" charset="0"/>
                          <a:ea typeface="Cambria Math" panose="02040503050406030204" pitchFamily="18" charset="0"/>
                          <a:cs typeface="Times New Roman"/>
                        </a:rPr>
                        <m:t> </m:t>
                      </m:r>
                    </m:oMath>
                  </a14:m>
                  <a:r>
                    <a:rPr lang="en-US" altLang="zh-TW" sz="1400" dirty="0">
                      <a:latin typeface="Times New Roman"/>
                      <a:cs typeface="Times New Roman"/>
                    </a:rPr>
                    <a:t> (</a:t>
                  </a:r>
                  <a:r>
                    <a:rPr lang="en-US" altLang="zh-TW" sz="1400" i="1" dirty="0">
                      <a:latin typeface="Times New Roman"/>
                      <a:cs typeface="Times New Roman"/>
                    </a:rPr>
                    <a:t>v</a:t>
                  </a:r>
                  <a:r>
                    <a:rPr lang="en-US" altLang="zh-TW" sz="1400" i="1" baseline="-25000" dirty="0">
                      <a:latin typeface="Times New Roman"/>
                      <a:cs typeface="Times New Roman"/>
                    </a:rPr>
                    <a:t>i</a:t>
                  </a:r>
                  <a:r>
                    <a:rPr lang="en-US" altLang="zh-TW" sz="1400" dirty="0">
                      <a:latin typeface="Times New Roman"/>
                      <a:cs typeface="Times New Roman"/>
                    </a:rPr>
                    <a:t>, :, </a:t>
                  </a:r>
                  <a:r>
                    <a:rPr lang="en-US" altLang="zh-TW" sz="1400" i="1" dirty="0">
                      <a:latin typeface="Times New Roman"/>
                      <a:cs typeface="Times New Roman"/>
                    </a:rPr>
                    <a:t>s</a:t>
                  </a:r>
                  <a:r>
                    <a:rPr lang="en-US" altLang="zh-TW" sz="1400" dirty="0">
                      <a:latin typeface="Times New Roman"/>
                      <a:cs typeface="Times New Roman"/>
                    </a:rPr>
                    <a:t>), </a:t>
                  </a:r>
                  <a:r>
                    <a:rPr lang="en-US" altLang="zh-TW" sz="1400" i="1" dirty="0">
                      <a:latin typeface="Times New Roman"/>
                      <a:cs typeface="Times New Roman"/>
                    </a:rPr>
                    <a:t>i</a:t>
                  </a:r>
                  <a:r>
                    <a:rPr lang="en-US" altLang="zh-TW" sz="1400" dirty="0">
                      <a:latin typeface="Times New Roman"/>
                      <a:cs typeface="Times New Roman"/>
                    </a:rPr>
                    <a:t> = 1,…,4</a:t>
                  </a:r>
                  <a:r>
                    <a:rPr lang="en-US" altLang="zh-TW" sz="1100" i="1" dirty="0">
                      <a:solidFill>
                        <a:srgbClr val="707070"/>
                      </a:solidFill>
                      <a:latin typeface="Times New Roman"/>
                      <a:cs typeface="Times New Roman"/>
                    </a:rPr>
                    <a:t>  // weighting</a:t>
                  </a:r>
                </a:p>
                <a:p>
                  <a:pPr>
                    <a:lnSpc>
                      <a:spcPct val="103000"/>
                    </a:lnSpc>
                  </a:pPr>
                  <a:r>
                    <a:rPr lang="en-US" altLang="zh-TW" sz="1100" dirty="0">
                      <a:latin typeface="Times New Roman"/>
                      <a:cs typeface="Times New Roman"/>
                    </a:rPr>
                    <a:t> 7:   </a:t>
                  </a:r>
                  <a:r>
                    <a:rPr lang="en-US" altLang="zh-TW" sz="1400" b="1" dirty="0">
                      <a:latin typeface="Times New Roman"/>
                      <a:cs typeface="Times New Roman"/>
                    </a:rPr>
                    <a:t>end for</a:t>
                  </a:r>
                </a:p>
                <a:p>
                  <a:pPr>
                    <a:lnSpc>
                      <a:spcPct val="103000"/>
                    </a:lnSpc>
                  </a:pPr>
                  <a:r>
                    <a:rPr lang="en-US" altLang="zh-TW" sz="1100" dirty="0">
                      <a:latin typeface="Times New Roman"/>
                      <a:cs typeface="Times New Roman"/>
                    </a:rPr>
                    <a:t> 8: </a:t>
                  </a:r>
                  <a:r>
                    <a:rPr lang="en-US" altLang="zh-TW" sz="1400" b="1" dirty="0">
                      <a:latin typeface="Times New Roman"/>
                      <a:cs typeface="Times New Roman"/>
                    </a:rPr>
                    <a:t>end for</a:t>
                  </a:r>
                </a:p>
                <a:p>
                  <a:pPr>
                    <a:lnSpc>
                      <a:spcPct val="103000"/>
                    </a:lnSpc>
                  </a:pPr>
                  <a:r>
                    <a:rPr lang="en-US" altLang="zh-TW" sz="1100" dirty="0">
                      <a:latin typeface="Times New Roman"/>
                      <a:cs typeface="Times New Roman"/>
                    </a:rPr>
                    <a:t> 9: </a:t>
                  </a:r>
                  <a:r>
                    <a:rPr lang="en-US" altLang="zh-TW" sz="1400" b="1" dirty="0">
                      <a:latin typeface="Times New Roman"/>
                      <a:cs typeface="Times New Roman"/>
                    </a:rPr>
                    <a:t>return </a:t>
                  </a:r>
                  <a:r>
                    <a:rPr lang="en-US" altLang="zh-TW" sz="1400" i="1" dirty="0">
                      <a:latin typeface="Times New Roman"/>
                      <a:cs typeface="Times New Roman"/>
                    </a:rPr>
                    <a:t>b</a:t>
                  </a:r>
                  <a:r>
                    <a:rPr lang="en-US" altLang="zh-TW" sz="1400" dirty="0">
                      <a:latin typeface="Times New Roman"/>
                      <a:cs typeface="Times New Roman"/>
                    </a:rPr>
                    <a:t>(</a:t>
                  </a:r>
                  <a:r>
                    <a:rPr lang="en-US" altLang="zh-TW" sz="1400" i="1" dirty="0">
                      <a:latin typeface="Times New Roman"/>
                      <a:cs typeface="Times New Roman"/>
                    </a:rPr>
                    <a:t>p</a:t>
                  </a:r>
                  <a:r>
                    <a:rPr lang="en-US" altLang="zh-TW" sz="1400" i="1" baseline="-25000" dirty="0">
                      <a:latin typeface="Times New Roman"/>
                      <a:cs typeface="Times New Roman"/>
                    </a:rPr>
                    <a:t>a</a:t>
                  </a:r>
                  <a:r>
                    <a:rPr lang="en-US" altLang="zh-TW" sz="1400" dirty="0">
                      <a:latin typeface="Times New Roman"/>
                      <a:cs typeface="Times New Roman"/>
                    </a:rPr>
                    <a:t>)</a:t>
                  </a:r>
                  <a:endParaRPr lang="en-US" altLang="zh-TW" sz="1100" dirty="0">
                    <a:latin typeface="Times New Roman"/>
                    <a:cs typeface="Times New Roman"/>
                  </a:endParaRPr>
                </a:p>
              </p:txBody>
            </p:sp>
          </mc:Choice>
          <mc:Fallback xmlns="">
            <p:sp>
              <p:nvSpPr>
                <p:cNvPr id="11" name="Algorithm 2">
                  <a:extLst>
                    <a:ext uri="{FF2B5EF4-FFF2-40B4-BE49-F238E27FC236}">
                      <a16:creationId xmlns:a16="http://schemas.microsoft.com/office/drawing/2014/main" id="{1177C345-91EB-49FB-ACFC-FA3CF50404F7}"/>
                    </a:ext>
                  </a:extLst>
                </p:cNvPr>
                <p:cNvSpPr txBox="1">
                  <a:spLocks noRot="1" noChangeAspect="1" noMove="1" noResize="1" noEditPoints="1" noAdjustHandles="1" noChangeArrowheads="1" noChangeShapeType="1" noTextEdit="1"/>
                </p:cNvSpPr>
                <p:nvPr/>
              </p:nvSpPr>
              <p:spPr>
                <a:xfrm>
                  <a:off x="6230001" y="1227291"/>
                  <a:ext cx="5560000" cy="5032832"/>
                </a:xfrm>
                <a:prstGeom prst="rect">
                  <a:avLst/>
                </a:prstGeom>
                <a:blipFill>
                  <a:blip r:embed="rId2"/>
                  <a:stretch>
                    <a:fillRect l="-329" t="-242"/>
                  </a:stretch>
                </a:blipFill>
                <a:ln w="6350">
                  <a:solidFill>
                    <a:srgbClr val="000000"/>
                  </a:solidFill>
                </a:ln>
              </p:spPr>
              <p:txBody>
                <a:bodyPr/>
                <a:lstStyle/>
                <a:p>
                  <a:r>
                    <a:rPr lang="zh-TW" altLang="en-US">
                      <a:noFill/>
                    </a:rPr>
                    <a:t> </a:t>
                  </a:r>
                </a:p>
              </p:txBody>
            </p:sp>
          </mc:Fallback>
        </mc:AlternateContent>
        <p:cxnSp>
          <p:nvCxnSpPr>
            <p:cNvPr id="12" name="rule106">
              <a:extLst>
                <a:ext uri="{FF2B5EF4-FFF2-40B4-BE49-F238E27FC236}">
                  <a16:creationId xmlns:a16="http://schemas.microsoft.com/office/drawing/2014/main" id="{246A8849-C8C6-421D-8E92-8A33AD83606F}"/>
                </a:ext>
              </a:extLst>
            </p:cNvPr>
            <p:cNvCxnSpPr>
              <a:cxnSpLocks/>
            </p:cNvCxnSpPr>
            <p:nvPr/>
          </p:nvCxnSpPr>
          <p:spPr>
            <a:xfrm>
              <a:off x="6230001" y="1527291"/>
              <a:ext cx="5560000" cy="0"/>
            </a:xfrm>
            <a:prstGeom prst="line">
              <a:avLst/>
            </a:prstGeom>
            <a:ln w="9525">
              <a:solidFill>
                <a:srgbClr val="000000"/>
              </a:solidFill>
            </a:ln>
          </p:spPr>
        </p:cxnSp>
      </p:grpSp>
    </p:spTree>
    <p:extLst>
      <p:ext uri="{BB962C8B-B14F-4D97-AF65-F5344CB8AC3E}">
        <p14:creationId xmlns:p14="http://schemas.microsoft.com/office/powerpoint/2010/main" val="746345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7" name="群組 6">
            <a:extLst>
              <a:ext uri="{FF2B5EF4-FFF2-40B4-BE49-F238E27FC236}">
                <a16:creationId xmlns:a16="http://schemas.microsoft.com/office/drawing/2014/main" id="{80B83760-CB34-48DC-B1DA-35EE2999DB0E}"/>
              </a:ext>
            </a:extLst>
          </p:cNvPr>
          <p:cNvGrpSpPr/>
          <p:nvPr/>
        </p:nvGrpSpPr>
        <p:grpSpPr>
          <a:xfrm>
            <a:off x="248852" y="969062"/>
            <a:ext cx="6168881" cy="3223850"/>
            <a:chOff x="993919" y="2062391"/>
            <a:chExt cx="6168881" cy="3223850"/>
          </a:xfrm>
        </p:grpSpPr>
        <p:pic>
          <p:nvPicPr>
            <p:cNvPr id="8" name="圖片 7">
              <a:extLst>
                <a:ext uri="{FF2B5EF4-FFF2-40B4-BE49-F238E27FC236}">
                  <a16:creationId xmlns:a16="http://schemas.microsoft.com/office/drawing/2014/main" id="{95F983DD-ED2A-4694-A4A2-5E29BEFA2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919" y="2062391"/>
              <a:ext cx="6168881" cy="3223850"/>
            </a:xfrm>
            <a:prstGeom prst="rect">
              <a:avLst/>
            </a:prstGeom>
          </p:spPr>
        </p:pic>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D036E5D6-3E00-4A61-AB11-045B26C86652}"/>
                    </a:ext>
                  </a:extLst>
                </p:cNvPr>
                <p:cNvSpPr txBox="1"/>
                <p:nvPr/>
              </p:nvSpPr>
              <p:spPr>
                <a:xfrm>
                  <a:off x="1684869" y="3142046"/>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3" name="文字方塊 42">
                  <a:extLst>
                    <a:ext uri="{FF2B5EF4-FFF2-40B4-BE49-F238E27FC236}">
                      <a16:creationId xmlns:a16="http://schemas.microsoft.com/office/drawing/2014/main" id="{16EA59F1-6545-4924-8CB2-3B8DCE3FE7FE}"/>
                    </a:ext>
                  </a:extLst>
                </p:cNvPr>
                <p:cNvSpPr txBox="1">
                  <a:spLocks noRot="1" noChangeAspect="1" noMove="1" noResize="1" noEditPoints="1" noAdjustHandles="1" noChangeArrowheads="1" noChangeShapeType="1" noTextEdit="1"/>
                </p:cNvSpPr>
                <p:nvPr/>
              </p:nvSpPr>
              <p:spPr>
                <a:xfrm>
                  <a:off x="1684869" y="3142046"/>
                  <a:ext cx="298159" cy="430887"/>
                </a:xfrm>
                <a:prstGeom prst="rect">
                  <a:avLst/>
                </a:prstGeom>
                <a:blipFill>
                  <a:blip r:embed="rId3"/>
                  <a:stretch>
                    <a:fillRect/>
                  </a:stretch>
                </a:blipFill>
              </p:spPr>
              <p:txBody>
                <a:bodyPr/>
                <a:lstStyle/>
                <a:p>
                  <a:r>
                    <a:rPr lang="zh-TW" altLang="en-US">
                      <a:noFill/>
                    </a:rPr>
                    <a:t> </a:t>
                  </a:r>
                </a:p>
              </p:txBody>
            </p:sp>
          </mc:Fallback>
        </mc:AlternateContent>
        <p:sp>
          <p:nvSpPr>
            <p:cNvPr id="10" name="流程圖: 接點 9">
              <a:extLst>
                <a:ext uri="{FF2B5EF4-FFF2-40B4-BE49-F238E27FC236}">
                  <a16:creationId xmlns:a16="http://schemas.microsoft.com/office/drawing/2014/main" id="{B74BDEA9-A049-43ED-8C66-BA9F22FFBE7F}"/>
                </a:ext>
              </a:extLst>
            </p:cNvPr>
            <p:cNvSpPr/>
            <p:nvPr/>
          </p:nvSpPr>
          <p:spPr>
            <a:xfrm>
              <a:off x="1617134" y="3572933"/>
              <a:ext cx="152402" cy="152130"/>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流程圖: 接點 10">
              <a:extLst>
                <a:ext uri="{FF2B5EF4-FFF2-40B4-BE49-F238E27FC236}">
                  <a16:creationId xmlns:a16="http://schemas.microsoft.com/office/drawing/2014/main" id="{1369744F-99C1-4294-89EB-61B5054D5564}"/>
                </a:ext>
              </a:extLst>
            </p:cNvPr>
            <p:cNvSpPr/>
            <p:nvPr/>
          </p:nvSpPr>
          <p:spPr>
            <a:xfrm>
              <a:off x="5562600" y="4328564"/>
              <a:ext cx="132147" cy="160867"/>
            </a:xfrm>
            <a:prstGeom prst="flowChartConnector">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6E74D8EF-A370-43CA-B059-A36E7CEFD587}"/>
                    </a:ext>
                  </a:extLst>
                </p:cNvPr>
                <p:cNvSpPr txBox="1"/>
                <p:nvPr/>
              </p:nvSpPr>
              <p:spPr>
                <a:xfrm>
                  <a:off x="4886014" y="4204155"/>
                  <a:ext cx="29815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1" i="1" smtClean="0">
                            <a:solidFill>
                              <a:schemeClr val="tx1"/>
                            </a:solidFill>
                            <a:latin typeface="Cambria Math" panose="02040503050406030204" pitchFamily="18" charset="0"/>
                          </a:rPr>
                          <m:t>𝒒</m:t>
                        </m:r>
                      </m:oMath>
                    </m:oMathPara>
                  </a14:m>
                  <a:endParaRPr lang="zh-TW" altLang="en-US" sz="2400" b="1" dirty="0">
                    <a:solidFill>
                      <a:schemeClr val="tx1"/>
                    </a:solidFill>
                  </a:endParaRPr>
                </a:p>
              </p:txBody>
            </p:sp>
          </mc:Choice>
          <mc:Fallback xmlns="">
            <p:sp>
              <p:nvSpPr>
                <p:cNvPr id="46" name="文字方塊 45">
                  <a:extLst>
                    <a:ext uri="{FF2B5EF4-FFF2-40B4-BE49-F238E27FC236}">
                      <a16:creationId xmlns:a16="http://schemas.microsoft.com/office/drawing/2014/main" id="{A9C4A2B7-ECCE-4C37-A3E3-74474ED139A7}"/>
                    </a:ext>
                  </a:extLst>
                </p:cNvPr>
                <p:cNvSpPr txBox="1">
                  <a:spLocks noRot="1" noChangeAspect="1" noMove="1" noResize="1" noEditPoints="1" noAdjustHandles="1" noChangeArrowheads="1" noChangeShapeType="1" noTextEdit="1"/>
                </p:cNvSpPr>
                <p:nvPr/>
              </p:nvSpPr>
              <p:spPr>
                <a:xfrm>
                  <a:off x="4886014" y="4204155"/>
                  <a:ext cx="298159" cy="43088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163D1A3C-8358-4BC2-B607-4542A6951BAC}"/>
                    </a:ext>
                  </a:extLst>
                </p:cNvPr>
                <p:cNvSpPr txBox="1"/>
                <p:nvPr/>
              </p:nvSpPr>
              <p:spPr>
                <a:xfrm>
                  <a:off x="5501585" y="2763541"/>
                  <a:ext cx="38632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b="1" i="1" smtClean="0">
                            <a:solidFill>
                              <a:srgbClr val="FF0000"/>
                            </a:solidFill>
                            <a:latin typeface="Cambria Math" panose="02040503050406030204" pitchFamily="18" charset="0"/>
                          </a:rPr>
                          <m:t>𝚽</m:t>
                        </m:r>
                      </m:oMath>
                    </m:oMathPara>
                  </a14:m>
                  <a:endParaRPr lang="zh-TW" altLang="en-US" sz="2400" b="1" dirty="0">
                    <a:solidFill>
                      <a:srgbClr val="FF0000"/>
                    </a:solidFill>
                  </a:endParaRPr>
                </a:p>
              </p:txBody>
            </p:sp>
          </mc:Choice>
          <mc:Fallback xmlns="">
            <p:sp>
              <p:nvSpPr>
                <p:cNvPr id="47" name="文字方塊 46">
                  <a:extLst>
                    <a:ext uri="{FF2B5EF4-FFF2-40B4-BE49-F238E27FC236}">
                      <a16:creationId xmlns:a16="http://schemas.microsoft.com/office/drawing/2014/main" id="{A73A518E-4196-493F-AA17-EAE8E882E004}"/>
                    </a:ext>
                  </a:extLst>
                </p:cNvPr>
                <p:cNvSpPr txBox="1">
                  <a:spLocks noRot="1" noChangeAspect="1" noMove="1" noResize="1" noEditPoints="1" noAdjustHandles="1" noChangeArrowheads="1" noChangeShapeType="1" noTextEdit="1"/>
                </p:cNvSpPr>
                <p:nvPr/>
              </p:nvSpPr>
              <p:spPr>
                <a:xfrm>
                  <a:off x="5501585" y="2763541"/>
                  <a:ext cx="386324" cy="430887"/>
                </a:xfrm>
                <a:prstGeom prst="rect">
                  <a:avLst/>
                </a:prstGeom>
                <a:blipFill>
                  <a:blip r:embed="rId5"/>
                  <a:stretch>
                    <a:fillRect/>
                  </a:stretch>
                </a:blipFill>
              </p:spPr>
              <p:txBody>
                <a:bodyPr/>
                <a:lstStyle/>
                <a:p>
                  <a:r>
                    <a:rPr lang="zh-TW" altLang="en-US">
                      <a:noFill/>
                    </a:rPr>
                    <a:t> </a:t>
                  </a:r>
                </a:p>
              </p:txBody>
            </p:sp>
          </mc:Fallback>
        </mc:AlternateContent>
      </p:grpSp>
      <p:sp>
        <p:nvSpPr>
          <p:cNvPr id="14" name="文字方塊 13">
            <a:extLst>
              <a:ext uri="{FF2B5EF4-FFF2-40B4-BE49-F238E27FC236}">
                <a16:creationId xmlns:a16="http://schemas.microsoft.com/office/drawing/2014/main" id="{11D76ADA-F254-4972-B2F9-18F4641E08DB}"/>
              </a:ext>
            </a:extLst>
          </p:cNvPr>
          <p:cNvSpPr txBox="1"/>
          <p:nvPr/>
        </p:nvSpPr>
        <p:spPr>
          <a:xfrm>
            <a:off x="6478947" y="577480"/>
            <a:ext cx="5461915" cy="461838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latin typeface="Times New Roman" panose="02020603050405020304" pitchFamily="18" charset="0"/>
                <a:cs typeface="Times New Roman" panose="02020603050405020304" pitchFamily="18" charset="0"/>
              </a:rPr>
              <a:t>This figure illustrates the magnetic flux path when pole P2 is excited. The left figure presents a top view, with the theoretical magnetic charge locations labeled to clarify the magnetic charge concept used in this study. The right figure shows a three-dimensional view of the same model, in which the theoretical magnetic charge locations and the magnetic flux distribution can be clearly observed.</a:t>
            </a:r>
          </a:p>
          <a:p>
            <a:pPr marL="285750" indent="-285750">
              <a:lnSpc>
                <a:spcPct val="150000"/>
              </a:lnSpc>
              <a:buFont typeface="Arial" panose="020B0604020202020204" pitchFamily="34" charset="0"/>
              <a:buChar char="•"/>
            </a:pPr>
            <a:r>
              <a:rPr lang="en-US" altLang="zh-TW" b="1" dirty="0"/>
              <a:t>The threshold used in the 3D plot on the right is 0.1 </a:t>
            </a:r>
            <a:r>
              <a:rPr lang="en-US" altLang="zh-TW" b="1" dirty="0" err="1"/>
              <a:t>mT</a:t>
            </a:r>
            <a:r>
              <a:rPr lang="en-US" altLang="zh-TW" b="1" dirty="0"/>
              <a:t>, meaning that only values greater than 0.1 </a:t>
            </a:r>
            <a:r>
              <a:rPr lang="en-US" altLang="zh-TW" b="1" dirty="0" err="1"/>
              <a:t>mT</a:t>
            </a:r>
            <a:r>
              <a:rPr lang="en-US" altLang="zh-TW" b="1" dirty="0"/>
              <a:t> are displayed in the figure.</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860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8504"/>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534139"/>
                <a:ext cx="11882359" cy="1505669"/>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a:t>Long</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534139"/>
                <a:ext cx="11882359" cy="1505669"/>
              </a:xfrm>
              <a:prstGeom prst="rect">
                <a:avLst/>
              </a:prstGeom>
              <a:blipFill>
                <a:blip r:embed="rId2"/>
                <a:stretch>
                  <a:fillRect l="-308" t="-810"/>
                </a:stretch>
              </a:blipFill>
            </p:spPr>
            <p:txBody>
              <a:bodyPr/>
              <a:lstStyle/>
              <a:p>
                <a:r>
                  <a:rPr lang="zh-TW" altLang="en-US">
                    <a:noFill/>
                  </a:rPr>
                  <a:t> </a:t>
                </a:r>
              </a:p>
            </p:txBody>
          </p:sp>
        </mc:Fallback>
      </mc:AlternateContent>
      <p:grpSp>
        <p:nvGrpSpPr>
          <p:cNvPr id="26" name="群組 25">
            <a:extLst>
              <a:ext uri="{FF2B5EF4-FFF2-40B4-BE49-F238E27FC236}">
                <a16:creationId xmlns:a16="http://schemas.microsoft.com/office/drawing/2014/main" id="{AAFCFE30-B143-451C-BFFD-844F9CC3C8E4}"/>
              </a:ext>
            </a:extLst>
          </p:cNvPr>
          <p:cNvGrpSpPr/>
          <p:nvPr/>
        </p:nvGrpSpPr>
        <p:grpSpPr>
          <a:xfrm>
            <a:off x="148621" y="1846980"/>
            <a:ext cx="2099258" cy="1731634"/>
            <a:chOff x="1486147" y="4539197"/>
            <a:chExt cx="2147943" cy="1632863"/>
          </a:xfrm>
        </p:grpSpPr>
        <p:sp>
          <p:nvSpPr>
            <p:cNvPr id="25" name="矩形 24">
              <a:extLst>
                <a:ext uri="{FF2B5EF4-FFF2-40B4-BE49-F238E27FC236}">
                  <a16:creationId xmlns:a16="http://schemas.microsoft.com/office/drawing/2014/main" id="{50ABEE23-C0F3-4396-A9CE-84BD3E69946C}"/>
                </a:ext>
              </a:extLst>
            </p:cNvPr>
            <p:cNvSpPr/>
            <p:nvPr/>
          </p:nvSpPr>
          <p:spPr>
            <a:xfrm>
              <a:off x="2554490"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1030464" y="4994880"/>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2109031651"/>
                  </p:ext>
                </p:extLst>
              </p:nvPr>
            </p:nvGraphicFramePr>
            <p:xfrm>
              <a:off x="174972" y="4318000"/>
              <a:ext cx="11243732" cy="2484536"/>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636038">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sz="1400" dirty="0"/>
                            <a:t>Number of points at convergence</a:t>
                          </a:r>
                          <a:endParaRPr lang="zh-TW" altLang="en-US" sz="1400" dirty="0"/>
                        </a:p>
                      </a:txBody>
                      <a:tcPr/>
                    </a:tc>
                    <a:tc>
                      <a:txBody>
                        <a:bodyPr/>
                        <a:lstStyle/>
                        <a:p>
                          <a:r>
                            <a:rPr lang="en-US" altLang="zh-TW" sz="1400" dirty="0"/>
                            <a:t>Calibration value at the convergence point</a:t>
                          </a:r>
                          <a:endParaRPr lang="zh-TW" altLang="en-US" sz="1400" dirty="0"/>
                        </a:p>
                      </a:txBody>
                      <a:tcPr/>
                    </a:tc>
                    <a:tc>
                      <a:txBody>
                        <a:bodyPr/>
                        <a:lstStyle/>
                        <a:p>
                          <a:r>
                            <a:rPr lang="en-US" altLang="zh-TW" sz="1400" dirty="0"/>
                            <a:t>Calibration value using all nodes</a:t>
                          </a:r>
                          <a:endParaRPr lang="zh-TW"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(25)</m:t>
                                  </m:r>
                                </m:e>
                              </m:sPre>
                              <m:r>
                                <a:rPr lang="zh-TW" altLang="en-US" i="1" smtClean="0">
                                  <a:latin typeface="Cambria Math" panose="02040503050406030204" pitchFamily="18" charset="0"/>
                                </a:rPr>
                                <m:t>→</m:t>
                              </m:r>
                              <m:r>
                                <a:rPr lang="en-US" altLang="zh-TW" b="0" i="1" smtClean="0">
                                  <a:latin typeface="Cambria Math" panose="02040503050406030204" pitchFamily="18" charset="0"/>
                                </a:rPr>
                                <m:t>25</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870.59</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874.25</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871.00</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9.67</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9.67</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9.69</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(13)</m:t>
                                  </m:r>
                                </m:e>
                              </m:sPre>
                              <m:r>
                                <a:rPr lang="zh-TW" altLang="en-US" i="1" smtClean="0">
                                  <a:latin typeface="Cambria Math" panose="02040503050406030204" pitchFamily="18" charset="0"/>
                                </a:rPr>
                                <m:t>→</m:t>
                              </m:r>
                              <m:r>
                                <a:rPr lang="en-US" altLang="zh-TW" b="0" i="1" smtClean="0">
                                  <a:latin typeface="Cambria Math" panose="02040503050406030204" pitchFamily="18" charset="0"/>
                                </a:rPr>
                                <m:t>13</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867.186</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873.96</a:t>
                          </a:r>
                          <a14:m>
                            <m:oMath xmlns:m="http://schemas.openxmlformats.org/officeDocument/2006/math">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868.57</a:t>
                          </a:r>
                          <a14:m>
                            <m:oMath xmlns:m="http://schemas.openxmlformats.org/officeDocument/2006/math">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360719">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10.6244</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10.75</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10.64</a:t>
                          </a:r>
                          <a14:m>
                            <m:oMath xmlns:m="http://schemas.openxmlformats.org/officeDocument/2006/math">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79" name="表格 79">
                <a:extLst>
                  <a:ext uri="{FF2B5EF4-FFF2-40B4-BE49-F238E27FC236}">
                    <a16:creationId xmlns:a16="http://schemas.microsoft.com/office/drawing/2014/main" id="{27DE5228-C8AB-4329-9CE7-6CB0E321B2BD}"/>
                  </a:ext>
                </a:extLst>
              </p:cNvPr>
              <p:cNvGraphicFramePr>
                <a:graphicFrameLocks noGrp="1"/>
              </p:cNvGraphicFramePr>
              <p:nvPr>
                <p:extLst>
                  <p:ext uri="{D42A27DB-BD31-4B8C-83A1-F6EECF244321}">
                    <p14:modId xmlns:p14="http://schemas.microsoft.com/office/powerpoint/2010/main" val="2109031651"/>
                  </p:ext>
                </p:extLst>
              </p:nvPr>
            </p:nvGraphicFramePr>
            <p:xfrm>
              <a:off x="174972" y="4318000"/>
              <a:ext cx="11243732" cy="2484536"/>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582332">
                      <a:extLst>
                        <a:ext uri="{9D8B030D-6E8A-4147-A177-3AD203B41FA5}">
                          <a16:colId xmlns:a16="http://schemas.microsoft.com/office/drawing/2014/main" val="1620865351"/>
                        </a:ext>
                      </a:extLst>
                    </a:gridCol>
                  </a:tblGrid>
                  <a:tr h="636038">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sz="1400" dirty="0"/>
                            <a:t>Number of points at convergence</a:t>
                          </a:r>
                          <a:endParaRPr lang="zh-TW" altLang="en-US" sz="1400" dirty="0"/>
                        </a:p>
                      </a:txBody>
                      <a:tcPr/>
                    </a:tc>
                    <a:tc>
                      <a:txBody>
                        <a:bodyPr/>
                        <a:lstStyle/>
                        <a:p>
                          <a:r>
                            <a:rPr lang="en-US" altLang="zh-TW" sz="1400" dirty="0"/>
                            <a:t>Calibration value at the convergence point</a:t>
                          </a:r>
                          <a:endParaRPr lang="zh-TW" altLang="en-US" sz="1400" dirty="0"/>
                        </a:p>
                      </a:txBody>
                      <a:tcPr/>
                    </a:tc>
                    <a:tc>
                      <a:txBody>
                        <a:bodyPr/>
                        <a:lstStyle/>
                        <a:p>
                          <a:r>
                            <a:rPr lang="en-US" altLang="zh-TW" sz="1400" dirty="0"/>
                            <a:t>Calibration value using all nodes</a:t>
                          </a:r>
                          <a:endParaRPr lang="zh-TW"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3"/>
                          <a:stretch>
                            <a:fillRect l="-89951" t="-73944" r="-263235" b="-172535"/>
                          </a:stretch>
                        </a:blipFill>
                      </a:tcPr>
                    </a:tc>
                    <a:tc>
                      <a:txBody>
                        <a:bodyPr/>
                        <a:lstStyle/>
                        <a:p>
                          <a:endParaRPr lang="zh-TW"/>
                        </a:p>
                      </a:txBody>
                      <a:tcPr>
                        <a:blipFill>
                          <a:blip r:embed="rId3"/>
                          <a:stretch>
                            <a:fillRect l="-237003" t="-147887" r="-228440" b="-445070"/>
                          </a:stretch>
                        </a:blipFill>
                      </a:tcPr>
                    </a:tc>
                    <a:tc>
                      <a:txBody>
                        <a:bodyPr/>
                        <a:lstStyle/>
                        <a:p>
                          <a:endParaRPr lang="zh-TW"/>
                        </a:p>
                      </a:txBody>
                      <a:tcPr>
                        <a:blipFill>
                          <a:blip r:embed="rId3"/>
                          <a:stretch>
                            <a:fillRect l="-343302" t="-147887" r="-132710" b="-445070"/>
                          </a:stretch>
                        </a:blipFill>
                      </a:tcPr>
                    </a:tc>
                    <a:tc>
                      <a:txBody>
                        <a:bodyPr/>
                        <a:lstStyle/>
                        <a:p>
                          <a:endParaRPr lang="zh-TW"/>
                        </a:p>
                      </a:txBody>
                      <a:tcPr>
                        <a:blipFill>
                          <a:blip r:embed="rId3"/>
                          <a:stretch>
                            <a:fillRect l="-335613" t="-147887" r="-472" b="-445070"/>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3"/>
                          <a:stretch>
                            <a:fillRect l="-237003" t="-247887" r="-228440" b="-345070"/>
                          </a:stretch>
                        </a:blipFill>
                      </a:tcPr>
                    </a:tc>
                    <a:tc>
                      <a:txBody>
                        <a:bodyPr/>
                        <a:lstStyle/>
                        <a:p>
                          <a:endParaRPr lang="zh-TW"/>
                        </a:p>
                      </a:txBody>
                      <a:tcPr>
                        <a:blipFill>
                          <a:blip r:embed="rId3"/>
                          <a:stretch>
                            <a:fillRect l="-343302" t="-247887" r="-132710" b="-345070"/>
                          </a:stretch>
                        </a:blipFill>
                      </a:tcPr>
                    </a:tc>
                    <a:tc>
                      <a:txBody>
                        <a:bodyPr/>
                        <a:lstStyle/>
                        <a:p>
                          <a:endParaRPr lang="zh-TW"/>
                        </a:p>
                      </a:txBody>
                      <a:tcPr>
                        <a:blipFill>
                          <a:blip r:embed="rId3"/>
                          <a:stretch>
                            <a:fillRect l="-335613" t="-247887" r="-472"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3"/>
                          <a:stretch>
                            <a:fillRect l="-89951" t="-152469" r="-263235" b="-51235"/>
                          </a:stretch>
                        </a:blipFill>
                      </a:tcPr>
                    </a:tc>
                    <a:tc>
                      <a:txBody>
                        <a:bodyPr/>
                        <a:lstStyle/>
                        <a:p>
                          <a:endParaRPr lang="zh-TW"/>
                        </a:p>
                      </a:txBody>
                      <a:tcPr>
                        <a:blipFill>
                          <a:blip r:embed="rId3"/>
                          <a:stretch>
                            <a:fillRect l="-237003" t="-320779" r="-228440" b="-218182"/>
                          </a:stretch>
                        </a:blipFill>
                      </a:tcPr>
                    </a:tc>
                    <a:tc>
                      <a:txBody>
                        <a:bodyPr/>
                        <a:lstStyle/>
                        <a:p>
                          <a:endParaRPr lang="zh-TW"/>
                        </a:p>
                      </a:txBody>
                      <a:tcPr>
                        <a:blipFill>
                          <a:blip r:embed="rId3"/>
                          <a:stretch>
                            <a:fillRect l="-343302" t="-320779" r="-132710" b="-218182"/>
                          </a:stretch>
                        </a:blipFill>
                      </a:tcPr>
                    </a:tc>
                    <a:tc>
                      <a:txBody>
                        <a:bodyPr/>
                        <a:lstStyle/>
                        <a:p>
                          <a:endParaRPr lang="zh-TW"/>
                        </a:p>
                      </a:txBody>
                      <a:tcPr>
                        <a:blipFill>
                          <a:blip r:embed="rId3"/>
                          <a:stretch>
                            <a:fillRect l="-335613" t="-320779" r="-472" b="-218182"/>
                          </a:stretch>
                        </a:blipFill>
                      </a:tcPr>
                    </a:tc>
                    <a:extLst>
                      <a:ext uri="{0D108BD9-81ED-4DB2-BD59-A6C34878D82A}">
                        <a16:rowId xmlns:a16="http://schemas.microsoft.com/office/drawing/2014/main" val="1432721735"/>
                      </a:ext>
                    </a:extLst>
                  </a:tr>
                  <a:tr h="518160">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3"/>
                          <a:stretch>
                            <a:fillRect l="-237003" t="-381176" r="-228440" b="-97647"/>
                          </a:stretch>
                        </a:blipFill>
                      </a:tcPr>
                    </a:tc>
                    <a:tc>
                      <a:txBody>
                        <a:bodyPr/>
                        <a:lstStyle/>
                        <a:p>
                          <a:endParaRPr lang="zh-TW"/>
                        </a:p>
                      </a:txBody>
                      <a:tcPr>
                        <a:blipFill>
                          <a:blip r:embed="rId3"/>
                          <a:stretch>
                            <a:fillRect l="-343302" t="-381176" r="-132710" b="-97647"/>
                          </a:stretch>
                        </a:blipFill>
                      </a:tcPr>
                    </a:tc>
                    <a:tc>
                      <a:txBody>
                        <a:bodyPr/>
                        <a:lstStyle/>
                        <a:p>
                          <a:endParaRPr lang="zh-TW"/>
                        </a:p>
                      </a:txBody>
                      <a:tcPr>
                        <a:blipFill>
                          <a:blip r:embed="rId3"/>
                          <a:stretch>
                            <a:fillRect l="-335613" t="-381176" r="-472" b="-97647"/>
                          </a:stretch>
                        </a:blipFill>
                      </a:tcPr>
                    </a:tc>
                    <a:extLst>
                      <a:ext uri="{0D108BD9-81ED-4DB2-BD59-A6C34878D82A}">
                        <a16:rowId xmlns:a16="http://schemas.microsoft.com/office/drawing/2014/main" val="2179688753"/>
                      </a:ext>
                    </a:extLst>
                  </a:tr>
                </a:tbl>
              </a:graphicData>
            </a:graphic>
          </p:graphicFrame>
        </mc:Fallback>
      </mc:AlternateContent>
      <p:cxnSp>
        <p:nvCxnSpPr>
          <p:cNvPr id="9" name="直線接點 8">
            <a:extLst>
              <a:ext uri="{FF2B5EF4-FFF2-40B4-BE49-F238E27FC236}">
                <a16:creationId xmlns:a16="http://schemas.microsoft.com/office/drawing/2014/main" id="{FF5436C8-536B-4A23-8A16-0CB0316D8C25}"/>
              </a:ext>
            </a:extLst>
          </p:cNvPr>
          <p:cNvCxnSpPr/>
          <p:nvPr/>
        </p:nvCxnSpPr>
        <p:spPr>
          <a:xfrm>
            <a:off x="6096000" y="1312332"/>
            <a:ext cx="0" cy="2531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3" name="群組 52">
            <a:extLst>
              <a:ext uri="{FF2B5EF4-FFF2-40B4-BE49-F238E27FC236}">
                <a16:creationId xmlns:a16="http://schemas.microsoft.com/office/drawing/2014/main" id="{CC9DFEED-CCEA-4F9D-A11A-1D49F1145B85}"/>
              </a:ext>
            </a:extLst>
          </p:cNvPr>
          <p:cNvGrpSpPr/>
          <p:nvPr/>
        </p:nvGrpSpPr>
        <p:grpSpPr>
          <a:xfrm>
            <a:off x="6151797" y="1475854"/>
            <a:ext cx="2823507" cy="2657849"/>
            <a:chOff x="6096001" y="1303313"/>
            <a:chExt cx="2823507" cy="2830390"/>
          </a:xfrm>
        </p:grpSpPr>
        <p:pic>
          <p:nvPicPr>
            <p:cNvPr id="52" name="圖片 51">
              <a:extLst>
                <a:ext uri="{FF2B5EF4-FFF2-40B4-BE49-F238E27FC236}">
                  <a16:creationId xmlns:a16="http://schemas.microsoft.com/office/drawing/2014/main" id="{8CBC591D-7A48-4E87-AF3B-1AC95CBEFD78}"/>
                </a:ext>
              </a:extLst>
            </p:cNvPr>
            <p:cNvPicPr>
              <a:picLocks noChangeAspect="1"/>
            </p:cNvPicPr>
            <p:nvPr/>
          </p:nvPicPr>
          <p:blipFill rotWithShape="1">
            <a:blip r:embed="rId4">
              <a:extLst>
                <a:ext uri="{28A0092B-C50C-407E-A947-70E740481C1C}">
                  <a14:useLocalDpi xmlns:a14="http://schemas.microsoft.com/office/drawing/2010/main" val="0"/>
                </a:ext>
              </a:extLst>
            </a:blip>
            <a:srcRect l="4698" b="4633"/>
            <a:stretch/>
          </p:blipFill>
          <p:spPr>
            <a:xfrm>
              <a:off x="6324600" y="1303313"/>
              <a:ext cx="2594908" cy="2596685"/>
            </a:xfrm>
            <a:prstGeom prst="rect">
              <a:avLst/>
            </a:prstGeom>
          </p:spPr>
        </p:pic>
        <p:grpSp>
          <p:nvGrpSpPr>
            <p:cNvPr id="33" name="群組 32">
              <a:extLst>
                <a:ext uri="{FF2B5EF4-FFF2-40B4-BE49-F238E27FC236}">
                  <a16:creationId xmlns:a16="http://schemas.microsoft.com/office/drawing/2014/main" id="{48D49A93-5FA8-4EBB-B896-30AC4DBB31F5}"/>
                </a:ext>
              </a:extLst>
            </p:cNvPr>
            <p:cNvGrpSpPr/>
            <p:nvPr/>
          </p:nvGrpSpPr>
          <p:grpSpPr>
            <a:xfrm>
              <a:off x="6096001" y="1979561"/>
              <a:ext cx="2537338" cy="2154142"/>
              <a:chOff x="130581" y="2168608"/>
              <a:chExt cx="2537338" cy="2118217"/>
            </a:xfrm>
          </p:grpSpPr>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825107" y="4021624"/>
                    <a:ext cx="1842812" cy="26520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825107" y="4021624"/>
                    <a:ext cx="1842812" cy="265201"/>
                  </a:xfrm>
                  <a:prstGeom prst="rect">
                    <a:avLst/>
                  </a:prstGeom>
                  <a:blipFill>
                    <a:blip r:embed="rId5"/>
                    <a:stretch>
                      <a:fillRect l="-6623" t="-26829" r="-3642" b="-463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B562BA5A-6EED-4296-8834-A83308163C2A}"/>
                      </a:ext>
                    </a:extLst>
                  </p:cNvPr>
                  <p:cNvSpPr txBox="1"/>
                  <p:nvPr/>
                </p:nvSpPr>
                <p:spPr>
                  <a:xfrm rot="16200000">
                    <a:off x="-304473" y="2603662"/>
                    <a:ext cx="1141593" cy="271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600" i="1" smtClean="0">
                                  <a:latin typeface="Cambria Math" panose="02040503050406030204" pitchFamily="18" charset="0"/>
                                </a:rPr>
                              </m:ctrlPr>
                            </m:sPrePr>
                            <m:sub/>
                            <m:sup>
                              <m:r>
                                <a:rPr lang="en-US" altLang="zh-TW" sz="1600" b="0" i="1" smtClean="0">
                                  <a:latin typeface="Cambria Math" panose="02040503050406030204" pitchFamily="18" charset="0"/>
                                </a:rPr>
                                <m:t>𝐵</m:t>
                              </m:r>
                            </m:sup>
                            <m:e>
                              <m:sSub>
                                <m:sSubPr>
                                  <m:ctrlPr>
                                    <a:rPr lang="en-US" altLang="zh-TW" sz="1600" i="1" smtClean="0">
                                      <a:latin typeface="Cambria Math" panose="02040503050406030204" pitchFamily="18" charset="0"/>
                                    </a:rPr>
                                  </m:ctrlPr>
                                </m:sSubPr>
                                <m:e>
                                  <m:acc>
                                    <m:accPr>
                                      <m:chr m:val="̂"/>
                                      <m:ctrlPr>
                                        <a:rPr lang="en-US" altLang="zh-TW" sz="1600" i="1" smtClean="0">
                                          <a:latin typeface="Cambria Math" panose="02040503050406030204" pitchFamily="18" charset="0"/>
                                        </a:rPr>
                                      </m:ctrlPr>
                                    </m:accPr>
                                    <m:e>
                                      <m:r>
                                        <a:rPr lang="en-US" altLang="zh-TW" sz="1600" b="0" i="1" smtClean="0">
                                          <a:latin typeface="Cambria Math" panose="02040503050406030204" pitchFamily="18" charset="0"/>
                                        </a:rPr>
                                        <m:t>𝑔</m:t>
                                      </m:r>
                                    </m:e>
                                  </m:acc>
                                </m:e>
                                <m:sub>
                                  <m:r>
                                    <a:rPr lang="en-US" altLang="zh-TW" sz="1600" b="0" i="1" smtClean="0">
                                      <a:latin typeface="Cambria Math" panose="02040503050406030204" pitchFamily="18" charset="0"/>
                                    </a:rPr>
                                    <m:t>𝐼</m:t>
                                  </m:r>
                                </m:sub>
                              </m:sSub>
                            </m:e>
                          </m:sPre>
                          <m:r>
                            <a:rPr lang="en-US" altLang="zh-TW" sz="1600" b="0" i="1" smtClean="0">
                              <a:latin typeface="Cambria Math" panose="02040503050406030204" pitchFamily="18" charset="0"/>
                            </a:rPr>
                            <m:t> (</m:t>
                          </m:r>
                          <m:f>
                            <m:fPr>
                              <m:type m:val="lin"/>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m:oMathPara>
                    </a14:m>
                    <a:endParaRPr lang="zh-TW" altLang="en-US" dirty="0"/>
                  </a:p>
                </p:txBody>
              </p:sp>
            </mc:Choice>
            <mc:Fallback xmlns="">
              <p:sp>
                <p:nvSpPr>
                  <p:cNvPr id="54" name="文字方塊 53">
                    <a:extLst>
                      <a:ext uri="{FF2B5EF4-FFF2-40B4-BE49-F238E27FC236}">
                        <a16:creationId xmlns:a16="http://schemas.microsoft.com/office/drawing/2014/main" id="{B562BA5A-6EED-4296-8834-A83308163C2A}"/>
                      </a:ext>
                    </a:extLst>
                  </p:cNvPr>
                  <p:cNvSpPr txBox="1">
                    <a:spLocks noRot="1" noChangeAspect="1" noMove="1" noResize="1" noEditPoints="1" noAdjustHandles="1" noChangeArrowheads="1" noChangeShapeType="1" noTextEdit="1"/>
                  </p:cNvSpPr>
                  <p:nvPr/>
                </p:nvSpPr>
                <p:spPr>
                  <a:xfrm rot="16200000">
                    <a:off x="-304473" y="2603662"/>
                    <a:ext cx="1141593" cy="271485"/>
                  </a:xfrm>
                  <a:prstGeom prst="rect">
                    <a:avLst/>
                  </a:prstGeom>
                  <a:blipFill>
                    <a:blip r:embed="rId6"/>
                    <a:stretch>
                      <a:fillRect l="-133333" t="-37430" r="-220000" b="-1117"/>
                    </a:stretch>
                  </a:blipFill>
                </p:spPr>
                <p:txBody>
                  <a:bodyPr/>
                  <a:lstStyle/>
                  <a:p>
                    <a:r>
                      <a:rPr lang="zh-TW" altLang="en-US">
                        <a:noFill/>
                      </a:rPr>
                      <a:t> </a:t>
                    </a:r>
                  </a:p>
                </p:txBody>
              </p:sp>
            </mc:Fallback>
          </mc:AlternateContent>
        </p:grpSp>
      </p:grpSp>
      <p:grpSp>
        <p:nvGrpSpPr>
          <p:cNvPr id="58" name="群組 57">
            <a:extLst>
              <a:ext uri="{FF2B5EF4-FFF2-40B4-BE49-F238E27FC236}">
                <a16:creationId xmlns:a16="http://schemas.microsoft.com/office/drawing/2014/main" id="{370219C5-A627-4808-ABDF-6FE3FDA747A2}"/>
              </a:ext>
            </a:extLst>
          </p:cNvPr>
          <p:cNvGrpSpPr/>
          <p:nvPr/>
        </p:nvGrpSpPr>
        <p:grpSpPr>
          <a:xfrm>
            <a:off x="8975304" y="1482626"/>
            <a:ext cx="2981627" cy="2666279"/>
            <a:chOff x="8975304" y="1290177"/>
            <a:chExt cx="2981627" cy="2806078"/>
          </a:xfrm>
        </p:grpSpPr>
        <p:pic>
          <p:nvPicPr>
            <p:cNvPr id="57" name="圖片 56">
              <a:extLst>
                <a:ext uri="{FF2B5EF4-FFF2-40B4-BE49-F238E27FC236}">
                  <a16:creationId xmlns:a16="http://schemas.microsoft.com/office/drawing/2014/main" id="{13378216-1D12-4A37-81B7-0E56F7F9BED2}"/>
                </a:ext>
              </a:extLst>
            </p:cNvPr>
            <p:cNvPicPr>
              <a:picLocks noChangeAspect="1"/>
            </p:cNvPicPr>
            <p:nvPr/>
          </p:nvPicPr>
          <p:blipFill rotWithShape="1">
            <a:blip r:embed="rId7">
              <a:extLst>
                <a:ext uri="{28A0092B-C50C-407E-A947-70E740481C1C}">
                  <a14:useLocalDpi xmlns:a14="http://schemas.microsoft.com/office/drawing/2010/main" val="0"/>
                </a:ext>
              </a:extLst>
            </a:blip>
            <a:srcRect l="5012" b="4347"/>
            <a:stretch/>
          </p:blipFill>
          <p:spPr>
            <a:xfrm>
              <a:off x="9302585" y="1290177"/>
              <a:ext cx="2654346" cy="2575738"/>
            </a:xfrm>
            <a:prstGeom prst="rect">
              <a:avLst/>
            </a:prstGeom>
          </p:spPr>
        </p:pic>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750B202C-325D-4F1F-B5A7-228130688936}"/>
                    </a:ext>
                  </a:extLst>
                </p:cNvPr>
                <p:cNvSpPr txBox="1"/>
                <p:nvPr/>
              </p:nvSpPr>
              <p:spPr>
                <a:xfrm>
                  <a:off x="9738562" y="3831054"/>
                  <a:ext cx="1842812" cy="26520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48" name="文字方塊 47">
                  <a:extLst>
                    <a:ext uri="{FF2B5EF4-FFF2-40B4-BE49-F238E27FC236}">
                      <a16:creationId xmlns:a16="http://schemas.microsoft.com/office/drawing/2014/main" id="{750B202C-325D-4F1F-B5A7-228130688936}"/>
                    </a:ext>
                  </a:extLst>
                </p:cNvPr>
                <p:cNvSpPr txBox="1">
                  <a:spLocks noRot="1" noChangeAspect="1" noMove="1" noResize="1" noEditPoints="1" noAdjustHandles="1" noChangeArrowheads="1" noChangeShapeType="1" noTextEdit="1"/>
                </p:cNvSpPr>
                <p:nvPr/>
              </p:nvSpPr>
              <p:spPr>
                <a:xfrm>
                  <a:off x="9738562" y="3831054"/>
                  <a:ext cx="1842812" cy="265201"/>
                </a:xfrm>
                <a:prstGeom prst="rect">
                  <a:avLst/>
                </a:prstGeom>
                <a:blipFill>
                  <a:blip r:embed="rId8"/>
                  <a:stretch>
                    <a:fillRect l="-6954" t="-23810" r="-3311" b="-452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38C11213-9043-461F-BD10-B234A68A0635}"/>
                    </a:ext>
                  </a:extLst>
                </p:cNvPr>
                <p:cNvSpPr txBox="1"/>
                <p:nvPr/>
              </p:nvSpPr>
              <p:spPr>
                <a:xfrm rot="16200000">
                  <a:off x="8540250" y="2486766"/>
                  <a:ext cx="1141593" cy="271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600" i="1" smtClean="0">
                                <a:latin typeface="Cambria Math" panose="02040503050406030204" pitchFamily="18" charset="0"/>
                              </a:rPr>
                            </m:ctrlPr>
                          </m:sPrePr>
                          <m:sub/>
                          <m:sup>
                            <m:r>
                              <a:rPr lang="en-US" altLang="zh-TW" sz="1600" b="0" i="1" smtClean="0">
                                <a:latin typeface="Cambria Math" panose="02040503050406030204" pitchFamily="18" charset="0"/>
                              </a:rPr>
                              <m:t>𝐵</m:t>
                            </m:r>
                          </m:sup>
                          <m:e>
                            <m:sSub>
                              <m:sSubPr>
                                <m:ctrlPr>
                                  <a:rPr lang="en-US" altLang="zh-TW" sz="1600" i="1" smtClean="0">
                                    <a:latin typeface="Cambria Math" panose="02040503050406030204" pitchFamily="18" charset="0"/>
                                  </a:rPr>
                                </m:ctrlPr>
                              </m:sSubPr>
                              <m:e>
                                <m:acc>
                                  <m:accPr>
                                    <m:chr m:val="̂"/>
                                    <m:ctrlPr>
                                      <a:rPr lang="en-US" altLang="zh-TW" sz="1600" i="1" smtClean="0">
                                        <a:latin typeface="Cambria Math" panose="02040503050406030204" pitchFamily="18" charset="0"/>
                                      </a:rPr>
                                    </m:ctrlPr>
                                  </m:accPr>
                                  <m:e>
                                    <m:r>
                                      <a:rPr lang="en-US" altLang="zh-TW" sz="1600" b="0" i="1" smtClean="0">
                                        <a:latin typeface="Cambria Math" panose="02040503050406030204" pitchFamily="18" charset="0"/>
                                      </a:rPr>
                                      <m:t>𝑔</m:t>
                                    </m:r>
                                  </m:e>
                                </m:acc>
                              </m:e>
                              <m:sub>
                                <m:r>
                                  <a:rPr lang="en-US" altLang="zh-TW" sz="1600" b="0" i="1" smtClean="0">
                                    <a:latin typeface="Cambria Math" panose="02040503050406030204" pitchFamily="18" charset="0"/>
                                  </a:rPr>
                                  <m:t>𝐼</m:t>
                                </m:r>
                              </m:sub>
                            </m:sSub>
                          </m:e>
                        </m:sPre>
                        <m:r>
                          <a:rPr lang="en-US" altLang="zh-TW" sz="1600" b="0" i="1" smtClean="0">
                            <a:latin typeface="Cambria Math" panose="02040503050406030204" pitchFamily="18" charset="0"/>
                          </a:rPr>
                          <m:t> (</m:t>
                        </m:r>
                        <m:f>
                          <m:fPr>
                            <m:type m:val="lin"/>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m:oMathPara>
                  </a14:m>
                  <a:endParaRPr lang="zh-TW" altLang="en-US" dirty="0"/>
                </a:p>
              </p:txBody>
            </p:sp>
          </mc:Choice>
          <mc:Fallback xmlns="">
            <p:sp>
              <p:nvSpPr>
                <p:cNvPr id="56" name="文字方塊 55">
                  <a:extLst>
                    <a:ext uri="{FF2B5EF4-FFF2-40B4-BE49-F238E27FC236}">
                      <a16:creationId xmlns:a16="http://schemas.microsoft.com/office/drawing/2014/main" id="{38C11213-9043-461F-BD10-B234A68A0635}"/>
                    </a:ext>
                  </a:extLst>
                </p:cNvPr>
                <p:cNvSpPr txBox="1">
                  <a:spLocks noRot="1" noChangeAspect="1" noMove="1" noResize="1" noEditPoints="1" noAdjustHandles="1" noChangeArrowheads="1" noChangeShapeType="1" noTextEdit="1"/>
                </p:cNvSpPr>
                <p:nvPr/>
              </p:nvSpPr>
              <p:spPr>
                <a:xfrm rot="16200000">
                  <a:off x="8540250" y="2486766"/>
                  <a:ext cx="1141593" cy="271485"/>
                </a:xfrm>
                <a:prstGeom prst="rect">
                  <a:avLst/>
                </a:prstGeom>
                <a:blipFill>
                  <a:blip r:embed="rId9"/>
                  <a:stretch>
                    <a:fillRect l="-133333" t="-38764" r="-220000" b="-1124"/>
                  </a:stretch>
                </a:blipFill>
              </p:spPr>
              <p:txBody>
                <a:bodyPr/>
                <a:lstStyle/>
                <a:p>
                  <a:r>
                    <a:rPr lang="zh-TW" altLang="en-US">
                      <a:noFill/>
                    </a:rPr>
                    <a:t> </a:t>
                  </a:r>
                </a:p>
              </p:txBody>
            </p:sp>
          </mc:Fallback>
        </mc:AlternateContent>
      </p:grpSp>
      <p:grpSp>
        <p:nvGrpSpPr>
          <p:cNvPr id="45" name="群組 44">
            <a:extLst>
              <a:ext uri="{FF2B5EF4-FFF2-40B4-BE49-F238E27FC236}">
                <a16:creationId xmlns:a16="http://schemas.microsoft.com/office/drawing/2014/main" id="{1D7E9889-09C8-4D4E-9A6A-41200038AECE}"/>
              </a:ext>
            </a:extLst>
          </p:cNvPr>
          <p:cNvGrpSpPr/>
          <p:nvPr/>
        </p:nvGrpSpPr>
        <p:grpSpPr>
          <a:xfrm>
            <a:off x="53048" y="1489819"/>
            <a:ext cx="2930164" cy="2659086"/>
            <a:chOff x="45513" y="1428574"/>
            <a:chExt cx="2930164" cy="2659086"/>
          </a:xfrm>
        </p:grpSpPr>
        <p:pic>
          <p:nvPicPr>
            <p:cNvPr id="42" name="圖片 41">
              <a:extLst>
                <a:ext uri="{FF2B5EF4-FFF2-40B4-BE49-F238E27FC236}">
                  <a16:creationId xmlns:a16="http://schemas.microsoft.com/office/drawing/2014/main" id="{3098D7FA-8E67-43CA-80D1-BD08605C5564}"/>
                </a:ext>
              </a:extLst>
            </p:cNvPr>
            <p:cNvPicPr>
              <a:picLocks noChangeAspect="1"/>
            </p:cNvPicPr>
            <p:nvPr/>
          </p:nvPicPr>
          <p:blipFill rotWithShape="1">
            <a:blip r:embed="rId10">
              <a:extLst>
                <a:ext uri="{28A0092B-C50C-407E-A947-70E740481C1C}">
                  <a14:useLocalDpi xmlns:a14="http://schemas.microsoft.com/office/drawing/2010/main" val="0"/>
                </a:ext>
              </a:extLst>
            </a:blip>
            <a:srcRect l="5109" b="3830"/>
            <a:stretch/>
          </p:blipFill>
          <p:spPr>
            <a:xfrm>
              <a:off x="306082" y="1428574"/>
              <a:ext cx="2669595" cy="2389387"/>
            </a:xfrm>
            <a:prstGeom prst="rect">
              <a:avLst/>
            </a:prstGeom>
          </p:spPr>
        </p:pic>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EB1844FD-09CA-4516-9030-F87C09D425A3}"/>
                    </a:ext>
                  </a:extLst>
                </p:cNvPr>
                <p:cNvSpPr txBox="1"/>
                <p:nvPr/>
              </p:nvSpPr>
              <p:spPr>
                <a:xfrm>
                  <a:off x="798908" y="3817961"/>
                  <a:ext cx="1842812" cy="269699"/>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61" name="文字方塊 60">
                  <a:extLst>
                    <a:ext uri="{FF2B5EF4-FFF2-40B4-BE49-F238E27FC236}">
                      <a16:creationId xmlns:a16="http://schemas.microsoft.com/office/drawing/2014/main" id="{EB1844FD-09CA-4516-9030-F87C09D425A3}"/>
                    </a:ext>
                  </a:extLst>
                </p:cNvPr>
                <p:cNvSpPr txBox="1">
                  <a:spLocks noRot="1" noChangeAspect="1" noMove="1" noResize="1" noEditPoints="1" noAdjustHandles="1" noChangeArrowheads="1" noChangeShapeType="1" noTextEdit="1"/>
                </p:cNvSpPr>
                <p:nvPr/>
              </p:nvSpPr>
              <p:spPr>
                <a:xfrm>
                  <a:off x="798908" y="3817961"/>
                  <a:ext cx="1842812" cy="269699"/>
                </a:xfrm>
                <a:prstGeom prst="rect">
                  <a:avLst/>
                </a:prstGeom>
                <a:blipFill>
                  <a:blip r:embed="rId11"/>
                  <a:stretch>
                    <a:fillRect l="-6601" t="-22222" r="-3300" b="-3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678BD67F-3AAE-4504-A128-F7A3D10577A4}"/>
                    </a:ext>
                  </a:extLst>
                </p:cNvPr>
                <p:cNvSpPr txBox="1"/>
                <p:nvPr/>
              </p:nvSpPr>
              <p:spPr>
                <a:xfrm rot="16200000">
                  <a:off x="-174643" y="2410388"/>
                  <a:ext cx="699229" cy="2589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r>
                          <a:rPr lang="zh-TW" altLang="en-US" sz="1600" i="1">
                            <a:latin typeface="Cambria Math" panose="02040503050406030204" pitchFamily="18" charset="0"/>
                          </a:rPr>
                          <m:t> </m:t>
                        </m:r>
                        <m:r>
                          <a:rPr lang="en-US" altLang="zh-TW" sz="1600" i="1">
                            <a:latin typeface="Cambria Math" panose="02040503050406030204" pitchFamily="18" charset="0"/>
                          </a:rPr>
                          <m:t>(</m:t>
                        </m:r>
                        <m:r>
                          <a:rPr lang="zh-TW" altLang="en-US" sz="160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1" smtClean="0">
                            <a:latin typeface="Cambria Math" panose="02040503050406030204" pitchFamily="18" charset="0"/>
                          </a:rPr>
                          <m:t>) </m:t>
                        </m:r>
                      </m:oMath>
                    </m:oMathPara>
                  </a14:m>
                  <a:endParaRPr lang="zh-TW" altLang="en-US" sz="1600" dirty="0"/>
                </a:p>
              </p:txBody>
            </p:sp>
          </mc:Choice>
          <mc:Fallback xmlns="">
            <p:sp>
              <p:nvSpPr>
                <p:cNvPr id="43" name="文字方塊 42">
                  <a:extLst>
                    <a:ext uri="{FF2B5EF4-FFF2-40B4-BE49-F238E27FC236}">
                      <a16:creationId xmlns:a16="http://schemas.microsoft.com/office/drawing/2014/main" id="{678BD67F-3AAE-4504-A128-F7A3D10577A4}"/>
                    </a:ext>
                  </a:extLst>
                </p:cNvPr>
                <p:cNvSpPr txBox="1">
                  <a:spLocks noRot="1" noChangeAspect="1" noMove="1" noResize="1" noEditPoints="1" noAdjustHandles="1" noChangeArrowheads="1" noChangeShapeType="1" noTextEdit="1"/>
                </p:cNvSpPr>
                <p:nvPr/>
              </p:nvSpPr>
              <p:spPr>
                <a:xfrm rot="16200000">
                  <a:off x="-174643" y="2410388"/>
                  <a:ext cx="699229" cy="258917"/>
                </a:xfrm>
                <a:prstGeom prst="rect">
                  <a:avLst/>
                </a:prstGeom>
                <a:blipFill>
                  <a:blip r:embed="rId12"/>
                  <a:stretch>
                    <a:fillRect l="-19048" t="-2609" r="-33333" b="-6957"/>
                  </a:stretch>
                </a:blipFill>
              </p:spPr>
              <p:txBody>
                <a:bodyPr/>
                <a:lstStyle/>
                <a:p>
                  <a:r>
                    <a:rPr lang="zh-TW" altLang="en-US">
                      <a:noFill/>
                    </a:rPr>
                    <a:t> </a:t>
                  </a:r>
                </a:p>
              </p:txBody>
            </p:sp>
          </mc:Fallback>
        </mc:AlternateContent>
      </p:grpSp>
      <p:grpSp>
        <p:nvGrpSpPr>
          <p:cNvPr id="44" name="群組 43">
            <a:extLst>
              <a:ext uri="{FF2B5EF4-FFF2-40B4-BE49-F238E27FC236}">
                <a16:creationId xmlns:a16="http://schemas.microsoft.com/office/drawing/2014/main" id="{31128BAE-0E8E-4384-9A4A-5699FE973218}"/>
              </a:ext>
            </a:extLst>
          </p:cNvPr>
          <p:cNvGrpSpPr/>
          <p:nvPr/>
        </p:nvGrpSpPr>
        <p:grpSpPr>
          <a:xfrm>
            <a:off x="3127011" y="1481670"/>
            <a:ext cx="2859170" cy="2652034"/>
            <a:chOff x="3050249" y="1349805"/>
            <a:chExt cx="2859170" cy="2781651"/>
          </a:xfrm>
        </p:grpSpPr>
        <p:pic>
          <p:nvPicPr>
            <p:cNvPr id="39" name="圖片 38">
              <a:extLst>
                <a:ext uri="{FF2B5EF4-FFF2-40B4-BE49-F238E27FC236}">
                  <a16:creationId xmlns:a16="http://schemas.microsoft.com/office/drawing/2014/main" id="{ED909950-99C6-48EC-A267-F1064F281A77}"/>
                </a:ext>
              </a:extLst>
            </p:cNvPr>
            <p:cNvPicPr>
              <a:picLocks noChangeAspect="1"/>
            </p:cNvPicPr>
            <p:nvPr/>
          </p:nvPicPr>
          <p:blipFill rotWithShape="1">
            <a:blip r:embed="rId13">
              <a:extLst>
                <a:ext uri="{28A0092B-C50C-407E-A947-70E740481C1C}">
                  <a14:useLocalDpi xmlns:a14="http://schemas.microsoft.com/office/drawing/2010/main" val="0"/>
                </a:ext>
              </a:extLst>
            </a:blip>
            <a:srcRect l="4737" b="3873"/>
            <a:stretch/>
          </p:blipFill>
          <p:spPr>
            <a:xfrm>
              <a:off x="3366289" y="1349805"/>
              <a:ext cx="2543130" cy="2510336"/>
            </a:xfrm>
            <a:prstGeom prst="rect">
              <a:avLst/>
            </a:prstGeom>
          </p:spPr>
        </p:pic>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0248A5C8-AF91-4248-AA17-C6CD62ED1CCE}"/>
                    </a:ext>
                  </a:extLst>
                </p:cNvPr>
                <p:cNvSpPr txBox="1"/>
                <p:nvPr/>
              </p:nvSpPr>
              <p:spPr>
                <a:xfrm>
                  <a:off x="3842492" y="3866255"/>
                  <a:ext cx="1842812" cy="26520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62" name="文字方塊 61">
                  <a:extLst>
                    <a:ext uri="{FF2B5EF4-FFF2-40B4-BE49-F238E27FC236}">
                      <a16:creationId xmlns:a16="http://schemas.microsoft.com/office/drawing/2014/main" id="{0248A5C8-AF91-4248-AA17-C6CD62ED1CCE}"/>
                    </a:ext>
                  </a:extLst>
                </p:cNvPr>
                <p:cNvSpPr txBox="1">
                  <a:spLocks noRot="1" noChangeAspect="1" noMove="1" noResize="1" noEditPoints="1" noAdjustHandles="1" noChangeArrowheads="1" noChangeShapeType="1" noTextEdit="1"/>
                </p:cNvSpPr>
                <p:nvPr/>
              </p:nvSpPr>
              <p:spPr>
                <a:xfrm>
                  <a:off x="3842492" y="3866255"/>
                  <a:ext cx="1842812" cy="265201"/>
                </a:xfrm>
                <a:prstGeom prst="rect">
                  <a:avLst/>
                </a:prstGeom>
                <a:blipFill>
                  <a:blip r:embed="rId14"/>
                  <a:stretch>
                    <a:fillRect l="-6954" t="-26829" r="-3311" b="-463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E60C2A2D-ACDA-4699-9E7D-D7F9DF245809}"/>
                    </a:ext>
                  </a:extLst>
                </p:cNvPr>
                <p:cNvSpPr txBox="1"/>
                <p:nvPr/>
              </p:nvSpPr>
              <p:spPr>
                <a:xfrm rot="16200000">
                  <a:off x="2830093" y="2439365"/>
                  <a:ext cx="699229" cy="2589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r>
                          <a:rPr lang="zh-TW" altLang="en-US" sz="1600" i="1">
                            <a:latin typeface="Cambria Math" panose="02040503050406030204" pitchFamily="18" charset="0"/>
                          </a:rPr>
                          <m:t> </m:t>
                        </m:r>
                        <m:r>
                          <a:rPr lang="en-US" altLang="zh-TW" sz="1600" i="1">
                            <a:latin typeface="Cambria Math" panose="02040503050406030204" pitchFamily="18" charset="0"/>
                          </a:rPr>
                          <m:t>(</m:t>
                        </m:r>
                        <m:r>
                          <a:rPr lang="zh-TW" altLang="en-US" sz="160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1" smtClean="0">
                            <a:latin typeface="Cambria Math" panose="02040503050406030204" pitchFamily="18" charset="0"/>
                          </a:rPr>
                          <m:t>) </m:t>
                        </m:r>
                      </m:oMath>
                    </m:oMathPara>
                  </a14:m>
                  <a:endParaRPr lang="zh-TW" altLang="en-US" sz="1600" dirty="0"/>
                </a:p>
              </p:txBody>
            </p:sp>
          </mc:Choice>
          <mc:Fallback xmlns="">
            <p:sp>
              <p:nvSpPr>
                <p:cNvPr id="64" name="文字方塊 63">
                  <a:extLst>
                    <a:ext uri="{FF2B5EF4-FFF2-40B4-BE49-F238E27FC236}">
                      <a16:creationId xmlns:a16="http://schemas.microsoft.com/office/drawing/2014/main" id="{E60C2A2D-ACDA-4699-9E7D-D7F9DF245809}"/>
                    </a:ext>
                  </a:extLst>
                </p:cNvPr>
                <p:cNvSpPr txBox="1">
                  <a:spLocks noRot="1" noChangeAspect="1" noMove="1" noResize="1" noEditPoints="1" noAdjustHandles="1" noChangeArrowheads="1" noChangeShapeType="1" noTextEdit="1"/>
                </p:cNvSpPr>
                <p:nvPr/>
              </p:nvSpPr>
              <p:spPr>
                <a:xfrm rot="16200000">
                  <a:off x="2830093" y="2439365"/>
                  <a:ext cx="699229" cy="258917"/>
                </a:xfrm>
                <a:prstGeom prst="rect">
                  <a:avLst/>
                </a:prstGeom>
                <a:blipFill>
                  <a:blip r:embed="rId15"/>
                  <a:stretch>
                    <a:fillRect l="-19048" t="-5505" r="-33333" b="-917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510371"/>
                <a:ext cx="11882359" cy="1228670"/>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convergence criterion is defined as follows: check whether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remain within ±0.2% of their steady-state values for ten consecutive points. If this condition is satisfied, the first point is taken as the convergence point.</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≤150</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en-US" altLang="zh-TW" dirty="0"/>
              </a:p>
              <a:p>
                <a:pPr marL="285750" indent="-285750">
                  <a:buFont typeface="Wingdings" panose="05000000000000000000" pitchFamily="2" charset="2"/>
                  <a:buChar char="l"/>
                </a:pPr>
                <a:r>
                  <a:rPr lang="en-US" altLang="zh-TW" dirty="0" err="1"/>
                  <a:t>Zhi</a:t>
                </a:r>
                <a:r>
                  <a:rPr lang="en-US" altLang="zh-TW" dirty="0"/>
                  <a:t> </a:t>
                </a:r>
                <a:r>
                  <a:rPr lang="en-US" altLang="zh-TW" dirty="0" err="1"/>
                  <a:t>peng</a:t>
                </a:r>
                <a:endParaRPr lang="en-US" altLang="zh-TW" dirty="0"/>
              </a:p>
              <a:p>
                <a:pPr marL="285750" indent="-285750">
                  <a:buFont typeface="Arial" panose="020B0604020202020204" pitchFamily="34" charset="0"/>
                  <a:buChar char="•"/>
                </a:pP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510371"/>
                <a:ext cx="11882359" cy="1228670"/>
              </a:xfrm>
              <a:prstGeom prst="rect">
                <a:avLst/>
              </a:prstGeom>
              <a:blipFill>
                <a:blip r:embed="rId2"/>
                <a:stretch>
                  <a:fillRect l="-308" t="-9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2365416167"/>
                  </p:ext>
                </p:extLst>
              </p:nvPr>
            </p:nvGraphicFramePr>
            <p:xfrm>
              <a:off x="140302" y="4321721"/>
              <a:ext cx="11601753" cy="249910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940353">
                      <a:extLst>
                        <a:ext uri="{9D8B030D-6E8A-4147-A177-3AD203B41FA5}">
                          <a16:colId xmlns:a16="http://schemas.microsoft.com/office/drawing/2014/main" val="1620865351"/>
                        </a:ext>
                      </a:extLst>
                    </a:gridCol>
                  </a:tblGrid>
                  <a:tr h="540516">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sz="1400" dirty="0"/>
                            <a:t>Number of points at convergence</a:t>
                          </a:r>
                          <a:endParaRPr lang="zh-TW" altLang="en-US" sz="1400" dirty="0"/>
                        </a:p>
                      </a:txBody>
                      <a:tcPr/>
                    </a:tc>
                    <a:tc>
                      <a:txBody>
                        <a:bodyPr/>
                        <a:lstStyle/>
                        <a:p>
                          <a:r>
                            <a:rPr lang="en-US" altLang="zh-TW" sz="1400" dirty="0"/>
                            <a:t>Calibration value at the convergence point</a:t>
                          </a:r>
                          <a:endParaRPr lang="zh-TW" altLang="en-US" sz="1400" dirty="0"/>
                        </a:p>
                      </a:txBody>
                      <a:tcPr/>
                    </a:tc>
                    <a:tc>
                      <a:txBody>
                        <a:bodyPr/>
                        <a:lstStyle/>
                        <a:p>
                          <a:r>
                            <a:rPr lang="en-US" altLang="zh-TW" sz="1400" dirty="0"/>
                            <a:t>Calibration value using all nodes</a:t>
                          </a:r>
                          <a:endParaRPr lang="zh-TW"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(13)</m:t>
                                  </m:r>
                                </m:e>
                              </m:sPre>
                              <m:r>
                                <a:rPr lang="zh-TW" altLang="en-US" i="1" smtClean="0">
                                  <a:latin typeface="Cambria Math" panose="02040503050406030204" pitchFamily="18" charset="0"/>
                                </a:rPr>
                                <m:t>→</m:t>
                              </m:r>
                              <m:r>
                                <a:rPr lang="en-US" altLang="zh-TW" b="0" i="1" smtClean="0">
                                  <a:latin typeface="Cambria Math" panose="02040503050406030204" pitchFamily="18" charset="0"/>
                                </a:rPr>
                                <m:t>13</m:t>
                              </m:r>
                            </m:oMath>
                          </a14:m>
                          <a:r>
                            <a:rPr lang="en-US" altLang="zh-TW" dirty="0"/>
                            <a:t>points</a:t>
                          </a:r>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744.24</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m:oMathPara>
                          </a14:m>
                          <a:endParaRPr lang="zh-TW" altLang="en-US" dirty="0"/>
                        </a:p>
                      </a:txBody>
                      <a:tcPr/>
                    </a:tc>
                    <a:tc>
                      <a:txBody>
                        <a:bodyPr/>
                        <a:lstStyle/>
                        <a:p>
                          <a:pPr algn="ctr"/>
                          <a:r>
                            <a:rPr lang="en-US" altLang="zh-TW" dirty="0"/>
                            <a:t>7</a:t>
                          </a:r>
                          <a14:m>
                            <m:oMath xmlns:m="http://schemas.openxmlformats.org/officeDocument/2006/math">
                              <m:r>
                                <a:rPr lang="en-US" altLang="zh-TW" b="0" i="0" smtClean="0">
                                  <a:latin typeface="Cambria Math" panose="02040503050406030204" pitchFamily="18" charset="0"/>
                                </a:rPr>
                                <m:t>45.01</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tc>
                      <a:txBody>
                        <a:bodyPr/>
                        <a:lstStyle/>
                        <a:p>
                          <a:pPr algn="ctr"/>
                          <a:r>
                            <a:rPr lang="en-US" altLang="zh-TW" dirty="0"/>
                            <a:t>7</a:t>
                          </a:r>
                          <a14:m>
                            <m:oMath xmlns:m="http://schemas.openxmlformats.org/officeDocument/2006/math">
                              <m:r>
                                <a:rPr lang="en-US" altLang="zh-TW" b="0" i="0" smtClean="0">
                                  <a:latin typeface="Cambria Math" panose="02040503050406030204" pitchFamily="18" charset="0"/>
                                </a:rPr>
                                <m:t>44.</m:t>
                              </m:r>
                              <m:r>
                                <a:rPr lang="en-US" altLang="zh-TW" b="0" i="1" smtClean="0">
                                  <a:latin typeface="Cambria Math" panose="02040503050406030204" pitchFamily="18" charset="0"/>
                                </a:rPr>
                                <m:t>66</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33.58</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m:oMathPara>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3.09</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3.5</m:t>
                              </m:r>
                              <m:r>
                                <a:rPr lang="en-US" altLang="zh-TW" b="0" i="1" smtClean="0">
                                  <a:latin typeface="Cambria Math" panose="02040503050406030204" pitchFamily="18" charset="0"/>
                                </a:rPr>
                                <m:t>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en-US" altLang="zh-TW" b="0" i="1" smtClean="0">
                                  <a:latin typeface="Cambria Math" panose="02040503050406030204" pitchFamily="18" charset="0"/>
                                </a:rPr>
                                <m:t>(7)</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(7)</m:t>
                                  </m:r>
                                </m:e>
                              </m:sPre>
                              <m:r>
                                <a:rPr lang="zh-TW" altLang="en-US" i="1" smtClean="0">
                                  <a:latin typeface="Cambria Math" panose="02040503050406030204" pitchFamily="18" charset="0"/>
                                </a:rPr>
                                <m:t>→</m:t>
                              </m:r>
                              <m:r>
                                <a:rPr lang="en-US" altLang="zh-TW" b="0" i="1" smtClean="0">
                                  <a:latin typeface="Cambria Math" panose="02040503050406030204" pitchFamily="18" charset="0"/>
                                </a:rPr>
                                <m:t>7</m:t>
                              </m:r>
                            </m:oMath>
                          </a14:m>
                          <a:r>
                            <a:rPr lang="en-US" altLang="zh-TW" dirty="0"/>
                            <a:t>points</a:t>
                          </a:r>
                          <a:endParaRPr lang="zh-TW" altLang="en-US" dirty="0"/>
                        </a:p>
                        <a:p>
                          <a:endParaRPr lang="zh-TW" alt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597.62</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m:oMathPara>
                          </a14:m>
                          <a:endParaRPr lang="zh-TW" altLang="en-US" sz="1400" dirty="0"/>
                        </a:p>
                      </a:txBody>
                      <a:tcPr/>
                    </a:tc>
                    <a:tc>
                      <a:txBody>
                        <a:bodyPr/>
                        <a:lstStyle/>
                        <a:p>
                          <a:pPr algn="ctr"/>
                          <a:r>
                            <a:rPr lang="en-US" altLang="zh-TW" sz="1400" dirty="0"/>
                            <a:t>6</a:t>
                          </a:r>
                          <a14:m>
                            <m:oMath xmlns:m="http://schemas.openxmlformats.org/officeDocument/2006/math">
                              <m:r>
                                <a:rPr lang="en-US" altLang="zh-TW" sz="1400" b="0" i="0" smtClean="0">
                                  <a:latin typeface="Cambria Math" panose="02040503050406030204" pitchFamily="18" charset="0"/>
                                </a:rPr>
                                <m:t>04.14</m:t>
                              </m:r>
                              <m:r>
                                <a:rPr lang="zh-TW" altLang="en-US" sz="1400" b="0" i="1" smtClean="0">
                                  <a:latin typeface="Cambria Math" panose="02040503050406030204" pitchFamily="18" charset="0"/>
                                </a:rPr>
                                <m:t>𝜇</m:t>
                              </m:r>
                              <m:r>
                                <a:rPr lang="en-US" altLang="zh-TW" sz="1400" b="0" i="1" smtClean="0">
                                  <a:latin typeface="Cambria Math" panose="02040503050406030204" pitchFamily="18" charset="0"/>
                                </a:rPr>
                                <m:t>𝑚</m:t>
                              </m:r>
                            </m:oMath>
                          </a14:m>
                          <a:endParaRPr lang="zh-TW" altLang="en-US" sz="1400" dirty="0"/>
                        </a:p>
                      </a:txBody>
                      <a:tcPr/>
                    </a:tc>
                    <a:tc>
                      <a:txBody>
                        <a:bodyPr/>
                        <a:lstStyle/>
                        <a:p>
                          <a:pPr algn="ctr"/>
                          <a:r>
                            <a:rPr lang="en-US" altLang="zh-TW" dirty="0"/>
                            <a:t>5</a:t>
                          </a:r>
                          <a14:m>
                            <m:oMath xmlns:m="http://schemas.openxmlformats.org/officeDocument/2006/math">
                              <m:r>
                                <a:rPr lang="en-US" altLang="zh-TW" b="0" i="0" smtClean="0">
                                  <a:latin typeface="Cambria Math" panose="02040503050406030204" pitchFamily="18" charset="0"/>
                                </a:rPr>
                                <m:t>97.</m:t>
                              </m:r>
                              <m:r>
                                <a:rPr lang="en-US" altLang="zh-TW" b="0" i="1" smtClean="0">
                                  <a:latin typeface="Cambria Math" panose="02040503050406030204" pitchFamily="18" charset="0"/>
                                </a:rPr>
                                <m:t>87</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oMath>
                          </a14:m>
                          <a:endParaRPr lang="zh-TW" altLang="en-US" dirty="0"/>
                        </a:p>
                      </a:txBody>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latin typeface="Cambria Math" panose="02040503050406030204" pitchFamily="18" charset="0"/>
                                  </a:rPr>
                                  <m:t>37.38</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oMath>
                            </m:oMathPara>
                          </a14:m>
                          <a:endParaRPr lang="zh-TW" altLang="en-US" sz="1400" dirty="0"/>
                        </a:p>
                        <a:p>
                          <a:endParaRPr lang="zh-TW" altLang="en-US" sz="1400"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7.56</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tc>
                      <a:txBody>
                        <a:bodyPr/>
                        <a:lstStyle/>
                        <a:p>
                          <a:pPr algn="ctr"/>
                          <a:r>
                            <a:rPr lang="en-US" altLang="zh-TW" dirty="0"/>
                            <a:t>3</a:t>
                          </a:r>
                          <a14:m>
                            <m:oMath xmlns:m="http://schemas.openxmlformats.org/officeDocument/2006/math">
                              <m:r>
                                <a:rPr lang="en-US" altLang="zh-TW" b="0" i="0" smtClean="0">
                                  <a:latin typeface="Cambria Math" panose="02040503050406030204" pitchFamily="18" charset="0"/>
                                </a:rPr>
                                <m:t>7.3</m:t>
                              </m:r>
                              <m:r>
                                <a:rPr lang="en-US" altLang="zh-TW" b="0" i="1" smtClean="0">
                                  <a:latin typeface="Cambria Math" panose="02040503050406030204" pitchFamily="18" charset="0"/>
                                </a:rPr>
                                <m:t>3</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oMath>
                          </a14:m>
                          <a:endParaRPr lang="zh-TW" altLang="en-US" dirty="0"/>
                        </a:p>
                      </a:txBody>
                      <a:tcPr/>
                    </a:tc>
                    <a:extLst>
                      <a:ext uri="{0D108BD9-81ED-4DB2-BD59-A6C34878D82A}">
                        <a16:rowId xmlns:a16="http://schemas.microsoft.com/office/drawing/2014/main" val="2179688753"/>
                      </a:ext>
                    </a:extLst>
                  </a:tr>
                </a:tbl>
              </a:graphicData>
            </a:graphic>
          </p:graphicFrame>
        </mc:Choice>
        <mc:Fallback xmlns="">
          <p:graphicFrame>
            <p:nvGraphicFramePr>
              <p:cNvPr id="22" name="表格 79">
                <a:extLst>
                  <a:ext uri="{FF2B5EF4-FFF2-40B4-BE49-F238E27FC236}">
                    <a16:creationId xmlns:a16="http://schemas.microsoft.com/office/drawing/2014/main" id="{73C431D0-348A-459A-81C5-DACFC9FEA1CF}"/>
                  </a:ext>
                </a:extLst>
              </p:cNvPr>
              <p:cNvGraphicFramePr>
                <a:graphicFrameLocks noGrp="1"/>
              </p:cNvGraphicFramePr>
              <p:nvPr>
                <p:extLst>
                  <p:ext uri="{D42A27DB-BD31-4B8C-83A1-F6EECF244321}">
                    <p14:modId xmlns:p14="http://schemas.microsoft.com/office/powerpoint/2010/main" val="2365416167"/>
                  </p:ext>
                </p:extLst>
              </p:nvPr>
            </p:nvGraphicFramePr>
            <p:xfrm>
              <a:off x="140302" y="4321721"/>
              <a:ext cx="11601753" cy="2499104"/>
            </p:xfrm>
            <a:graphic>
              <a:graphicData uri="http://schemas.openxmlformats.org/drawingml/2006/table">
                <a:tbl>
                  <a:tblPr firstRow="1" bandRow="1">
                    <a:tableStyleId>{5940675A-B579-460E-94D1-54222C63F5DA}</a:tableStyleId>
                  </a:tblPr>
                  <a:tblGrid>
                    <a:gridCol w="2229154">
                      <a:extLst>
                        <a:ext uri="{9D8B030D-6E8A-4147-A177-3AD203B41FA5}">
                          <a16:colId xmlns:a16="http://schemas.microsoft.com/office/drawing/2014/main" val="4152913983"/>
                        </a:ext>
                      </a:extLst>
                    </a:gridCol>
                    <a:gridCol w="2486779">
                      <a:extLst>
                        <a:ext uri="{9D8B030D-6E8A-4147-A177-3AD203B41FA5}">
                          <a16:colId xmlns:a16="http://schemas.microsoft.com/office/drawing/2014/main" val="2719724219"/>
                        </a:ext>
                      </a:extLst>
                    </a:gridCol>
                    <a:gridCol w="1989667">
                      <a:extLst>
                        <a:ext uri="{9D8B030D-6E8A-4147-A177-3AD203B41FA5}">
                          <a16:colId xmlns:a16="http://schemas.microsoft.com/office/drawing/2014/main" val="3621208620"/>
                        </a:ext>
                      </a:extLst>
                    </a:gridCol>
                    <a:gridCol w="1955800">
                      <a:extLst>
                        <a:ext uri="{9D8B030D-6E8A-4147-A177-3AD203B41FA5}">
                          <a16:colId xmlns:a16="http://schemas.microsoft.com/office/drawing/2014/main" val="1836300288"/>
                        </a:ext>
                      </a:extLst>
                    </a:gridCol>
                    <a:gridCol w="2940353">
                      <a:extLst>
                        <a:ext uri="{9D8B030D-6E8A-4147-A177-3AD203B41FA5}">
                          <a16:colId xmlns:a16="http://schemas.microsoft.com/office/drawing/2014/main" val="1620865351"/>
                        </a:ext>
                      </a:extLst>
                    </a:gridCol>
                  </a:tblGrid>
                  <a:tr h="57912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r>
                            <a:rPr lang="en-US" altLang="zh-TW" sz="1400" dirty="0"/>
                            <a:t>Number of points at convergence</a:t>
                          </a:r>
                          <a:endParaRPr lang="zh-TW" altLang="en-US" sz="1400" dirty="0"/>
                        </a:p>
                      </a:txBody>
                      <a:tcPr/>
                    </a:tc>
                    <a:tc>
                      <a:txBody>
                        <a:bodyPr/>
                        <a:lstStyle/>
                        <a:p>
                          <a:r>
                            <a:rPr lang="en-US" altLang="zh-TW" sz="1400" dirty="0"/>
                            <a:t>Calibration value at the convergence point</a:t>
                          </a:r>
                          <a:endParaRPr lang="zh-TW" altLang="en-US" sz="1400" dirty="0"/>
                        </a:p>
                      </a:txBody>
                      <a:tcPr/>
                    </a:tc>
                    <a:tc>
                      <a:txBody>
                        <a:bodyPr/>
                        <a:lstStyle/>
                        <a:p>
                          <a:r>
                            <a:rPr lang="en-US" altLang="zh-TW" sz="1400" dirty="0"/>
                            <a:t>Calibration value using all nodes</a:t>
                          </a:r>
                          <a:endParaRPr lang="zh-TW" altLang="en-US" sz="1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dirty="0"/>
                            <a:t>Steady-state value</a:t>
                          </a:r>
                        </a:p>
                        <a:p>
                          <a:endParaRPr lang="zh-TW" altLang="en-US" dirty="0"/>
                        </a:p>
                      </a:txBody>
                      <a:tcPr/>
                    </a:tc>
                    <a:extLst>
                      <a:ext uri="{0D108BD9-81ED-4DB2-BD59-A6C34878D82A}">
                        <a16:rowId xmlns:a16="http://schemas.microsoft.com/office/drawing/2014/main" val="3608300422"/>
                      </a:ext>
                    </a:extLst>
                  </a:tr>
                  <a:tr h="429552">
                    <a:tc rowSpan="2">
                      <a:txBody>
                        <a:bodyPr/>
                        <a:lstStyle/>
                        <a:p>
                          <a:pPr algn="ctr"/>
                          <a:r>
                            <a:rPr lang="en-US" altLang="zh-TW" dirty="0"/>
                            <a:t>Single parameter</a:t>
                          </a:r>
                          <a:endParaRPr lang="zh-TW" altLang="en-US" dirty="0"/>
                        </a:p>
                      </a:txBody>
                      <a:tcPr/>
                    </a:tc>
                    <a:tc rowSpan="2">
                      <a:txBody>
                        <a:bodyPr/>
                        <a:lstStyle/>
                        <a:p>
                          <a:endParaRPr lang="zh-TW"/>
                        </a:p>
                      </a:txBody>
                      <a:tcPr>
                        <a:blipFill>
                          <a:blip r:embed="rId3"/>
                          <a:stretch>
                            <a:fillRect l="-90196" t="-67606" r="-277451" b="-172535"/>
                          </a:stretch>
                        </a:blipFill>
                      </a:tcPr>
                    </a:tc>
                    <a:tc>
                      <a:txBody>
                        <a:bodyPr/>
                        <a:lstStyle/>
                        <a:p>
                          <a:endParaRPr lang="zh-TW"/>
                        </a:p>
                      </a:txBody>
                      <a:tcPr>
                        <a:blipFill>
                          <a:blip r:embed="rId3"/>
                          <a:stretch>
                            <a:fillRect l="-238037" t="-135211" r="-247239" b="-445070"/>
                          </a:stretch>
                        </a:blipFill>
                      </a:tcPr>
                    </a:tc>
                    <a:tc>
                      <a:txBody>
                        <a:bodyPr/>
                        <a:lstStyle/>
                        <a:p>
                          <a:endParaRPr lang="zh-TW"/>
                        </a:p>
                      </a:txBody>
                      <a:tcPr>
                        <a:blipFill>
                          <a:blip r:embed="rId3"/>
                          <a:stretch>
                            <a:fillRect l="-343302" t="-135211" r="-151090" b="-445070"/>
                          </a:stretch>
                        </a:blipFill>
                      </a:tcPr>
                    </a:tc>
                    <a:tc>
                      <a:txBody>
                        <a:bodyPr/>
                        <a:lstStyle/>
                        <a:p>
                          <a:endParaRPr lang="zh-TW"/>
                        </a:p>
                      </a:txBody>
                      <a:tcPr>
                        <a:blipFill>
                          <a:blip r:embed="rId3"/>
                          <a:stretch>
                            <a:fillRect l="-294617" t="-135211" r="-414" b="-445070"/>
                          </a:stretch>
                        </a:blipFill>
                      </a:tcPr>
                    </a:tc>
                    <a:extLst>
                      <a:ext uri="{0D108BD9-81ED-4DB2-BD59-A6C34878D82A}">
                        <a16:rowId xmlns:a16="http://schemas.microsoft.com/office/drawing/2014/main" val="2325691140"/>
                      </a:ext>
                    </a:extLst>
                  </a:tr>
                  <a:tr h="429552">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3"/>
                          <a:stretch>
                            <a:fillRect l="-238037" t="-235211" r="-247239" b="-345070"/>
                          </a:stretch>
                        </a:blipFill>
                      </a:tcPr>
                    </a:tc>
                    <a:tc>
                      <a:txBody>
                        <a:bodyPr/>
                        <a:lstStyle/>
                        <a:p>
                          <a:endParaRPr lang="zh-TW"/>
                        </a:p>
                      </a:txBody>
                      <a:tcPr>
                        <a:blipFill>
                          <a:blip r:embed="rId3"/>
                          <a:stretch>
                            <a:fillRect l="-343302" t="-235211" r="-151090" b="-345070"/>
                          </a:stretch>
                        </a:blipFill>
                      </a:tcPr>
                    </a:tc>
                    <a:tc>
                      <a:txBody>
                        <a:bodyPr/>
                        <a:lstStyle/>
                        <a:p>
                          <a:endParaRPr lang="zh-TW"/>
                        </a:p>
                      </a:txBody>
                      <a:tcPr>
                        <a:blipFill>
                          <a:blip r:embed="rId3"/>
                          <a:stretch>
                            <a:fillRect l="-294617" t="-235211" r="-414" b="-345070"/>
                          </a:stretch>
                        </a:blipFill>
                      </a:tcPr>
                    </a:tc>
                    <a:extLst>
                      <a:ext uri="{0D108BD9-81ED-4DB2-BD59-A6C34878D82A}">
                        <a16:rowId xmlns:a16="http://schemas.microsoft.com/office/drawing/2014/main" val="556670571"/>
                      </a:ext>
                    </a:extLst>
                  </a:tr>
                  <a:tr h="471234">
                    <a:tc rowSpan="2">
                      <a:txBody>
                        <a:bodyPr/>
                        <a:lstStyle/>
                        <a:p>
                          <a:pPr algn="ctr"/>
                          <a:r>
                            <a:rPr lang="en-US" altLang="zh-TW" dirty="0"/>
                            <a:t>Eighteen parameters</a:t>
                          </a:r>
                          <a:endParaRPr lang="zh-TW" altLang="en-US" dirty="0"/>
                        </a:p>
                      </a:txBody>
                      <a:tcPr/>
                    </a:tc>
                    <a:tc rowSpan="2">
                      <a:txBody>
                        <a:bodyPr/>
                        <a:lstStyle/>
                        <a:p>
                          <a:endParaRPr lang="zh-TW"/>
                        </a:p>
                      </a:txBody>
                      <a:tcPr>
                        <a:blipFill>
                          <a:blip r:embed="rId3"/>
                          <a:stretch>
                            <a:fillRect l="-90196" t="-136782" r="-277451" b="-40805"/>
                          </a:stretch>
                        </a:blipFill>
                      </a:tcPr>
                    </a:tc>
                    <a:tc>
                      <a:txBody>
                        <a:bodyPr/>
                        <a:lstStyle/>
                        <a:p>
                          <a:endParaRPr lang="zh-TW"/>
                        </a:p>
                      </a:txBody>
                      <a:tcPr>
                        <a:blipFill>
                          <a:blip r:embed="rId3"/>
                          <a:stretch>
                            <a:fillRect l="-238037" t="-309091" r="-247239" b="-218182"/>
                          </a:stretch>
                        </a:blipFill>
                      </a:tcPr>
                    </a:tc>
                    <a:tc>
                      <a:txBody>
                        <a:bodyPr/>
                        <a:lstStyle/>
                        <a:p>
                          <a:endParaRPr lang="zh-TW"/>
                        </a:p>
                      </a:txBody>
                      <a:tcPr>
                        <a:blipFill>
                          <a:blip r:embed="rId3"/>
                          <a:stretch>
                            <a:fillRect l="-343302" t="-309091" r="-151090" b="-218182"/>
                          </a:stretch>
                        </a:blipFill>
                      </a:tcPr>
                    </a:tc>
                    <a:tc>
                      <a:txBody>
                        <a:bodyPr/>
                        <a:lstStyle/>
                        <a:p>
                          <a:endParaRPr lang="zh-TW"/>
                        </a:p>
                      </a:txBody>
                      <a:tcPr>
                        <a:blipFill>
                          <a:blip r:embed="rId3"/>
                          <a:stretch>
                            <a:fillRect l="-294617" t="-309091" r="-414" b="-218182"/>
                          </a:stretch>
                        </a:blipFill>
                      </a:tcPr>
                    </a:tc>
                    <a:extLst>
                      <a:ext uri="{0D108BD9-81ED-4DB2-BD59-A6C34878D82A}">
                        <a16:rowId xmlns:a16="http://schemas.microsoft.com/office/drawing/2014/main" val="1432721735"/>
                      </a:ext>
                    </a:extLst>
                  </a:tr>
                  <a:tr h="589646">
                    <a:tc vMerge="1">
                      <a:txBody>
                        <a:bodyPr/>
                        <a:lstStyle/>
                        <a:p>
                          <a:endParaRPr lang="zh-TW" altLang="en-US"/>
                        </a:p>
                      </a:txBody>
                      <a:tcPr/>
                    </a:tc>
                    <a:tc vMerge="1">
                      <a:txBody>
                        <a:bodyPr/>
                        <a:lstStyle/>
                        <a:p>
                          <a:endParaRPr lang="zh-TW" altLang="en-US"/>
                        </a:p>
                      </a:txBody>
                      <a:tcPr/>
                    </a:tc>
                    <a:tc>
                      <a:txBody>
                        <a:bodyPr/>
                        <a:lstStyle/>
                        <a:p>
                          <a:endParaRPr lang="zh-TW"/>
                        </a:p>
                      </a:txBody>
                      <a:tcPr>
                        <a:blipFill>
                          <a:blip r:embed="rId3"/>
                          <a:stretch>
                            <a:fillRect l="-238037" t="-324742" r="-247239" b="-73196"/>
                          </a:stretch>
                        </a:blipFill>
                      </a:tcPr>
                    </a:tc>
                    <a:tc>
                      <a:txBody>
                        <a:bodyPr/>
                        <a:lstStyle/>
                        <a:p>
                          <a:endParaRPr lang="zh-TW"/>
                        </a:p>
                      </a:txBody>
                      <a:tcPr>
                        <a:blipFill>
                          <a:blip r:embed="rId3"/>
                          <a:stretch>
                            <a:fillRect l="-343302" t="-324742" r="-151090" b="-73196"/>
                          </a:stretch>
                        </a:blipFill>
                      </a:tcPr>
                    </a:tc>
                    <a:tc>
                      <a:txBody>
                        <a:bodyPr/>
                        <a:lstStyle/>
                        <a:p>
                          <a:endParaRPr lang="zh-TW"/>
                        </a:p>
                      </a:txBody>
                      <a:tcPr>
                        <a:blipFill>
                          <a:blip r:embed="rId3"/>
                          <a:stretch>
                            <a:fillRect l="-294617" t="-324742" r="-414" b="-73196"/>
                          </a:stretch>
                        </a:blipFill>
                      </a:tcPr>
                    </a:tc>
                    <a:extLst>
                      <a:ext uri="{0D108BD9-81ED-4DB2-BD59-A6C34878D82A}">
                        <a16:rowId xmlns:a16="http://schemas.microsoft.com/office/drawing/2014/main" val="2179688753"/>
                      </a:ext>
                    </a:extLst>
                  </a:tr>
                </a:tbl>
              </a:graphicData>
            </a:graphic>
          </p:graphicFrame>
        </mc:Fallback>
      </mc:AlternateContent>
      <p:cxnSp>
        <p:nvCxnSpPr>
          <p:cNvPr id="23" name="直線接點 22">
            <a:extLst>
              <a:ext uri="{FF2B5EF4-FFF2-40B4-BE49-F238E27FC236}">
                <a16:creationId xmlns:a16="http://schemas.microsoft.com/office/drawing/2014/main" id="{94070808-55B3-4269-B062-A5B93200C8F3}"/>
              </a:ext>
            </a:extLst>
          </p:cNvPr>
          <p:cNvCxnSpPr/>
          <p:nvPr/>
        </p:nvCxnSpPr>
        <p:spPr>
          <a:xfrm>
            <a:off x="6011333" y="1246814"/>
            <a:ext cx="0" cy="2531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 name="群組 56">
            <a:extLst>
              <a:ext uri="{FF2B5EF4-FFF2-40B4-BE49-F238E27FC236}">
                <a16:creationId xmlns:a16="http://schemas.microsoft.com/office/drawing/2014/main" id="{7C8B9469-C688-4A6D-8F81-58A7E8038E45}"/>
              </a:ext>
            </a:extLst>
          </p:cNvPr>
          <p:cNvGrpSpPr/>
          <p:nvPr/>
        </p:nvGrpSpPr>
        <p:grpSpPr>
          <a:xfrm>
            <a:off x="9083480" y="1466064"/>
            <a:ext cx="2928284" cy="2621677"/>
            <a:chOff x="8978933" y="1307255"/>
            <a:chExt cx="2928284" cy="2632892"/>
          </a:xfrm>
        </p:grpSpPr>
        <p:pic>
          <p:nvPicPr>
            <p:cNvPr id="54" name="圖片 53">
              <a:extLst>
                <a:ext uri="{FF2B5EF4-FFF2-40B4-BE49-F238E27FC236}">
                  <a16:creationId xmlns:a16="http://schemas.microsoft.com/office/drawing/2014/main" id="{E1E1F15E-15E2-487C-BF8B-031053F1F53E}"/>
                </a:ext>
              </a:extLst>
            </p:cNvPr>
            <p:cNvPicPr>
              <a:picLocks noChangeAspect="1"/>
            </p:cNvPicPr>
            <p:nvPr/>
          </p:nvPicPr>
          <p:blipFill rotWithShape="1">
            <a:blip r:embed="rId4">
              <a:extLst>
                <a:ext uri="{28A0092B-C50C-407E-A947-70E740481C1C}">
                  <a14:useLocalDpi xmlns:a14="http://schemas.microsoft.com/office/drawing/2010/main" val="0"/>
                </a:ext>
              </a:extLst>
            </a:blip>
            <a:srcRect l="4409" b="3232"/>
            <a:stretch/>
          </p:blipFill>
          <p:spPr>
            <a:xfrm>
              <a:off x="9249310" y="1307255"/>
              <a:ext cx="2657907" cy="2470987"/>
            </a:xfrm>
            <a:prstGeom prst="rect">
              <a:avLst/>
            </a:prstGeom>
          </p:spPr>
        </p:pic>
        <p:grpSp>
          <p:nvGrpSpPr>
            <p:cNvPr id="41" name="群組 40">
              <a:extLst>
                <a:ext uri="{FF2B5EF4-FFF2-40B4-BE49-F238E27FC236}">
                  <a16:creationId xmlns:a16="http://schemas.microsoft.com/office/drawing/2014/main" id="{220323DF-28F8-4B0A-BEBE-640B86AF24A9}"/>
                </a:ext>
              </a:extLst>
            </p:cNvPr>
            <p:cNvGrpSpPr/>
            <p:nvPr/>
          </p:nvGrpSpPr>
          <p:grpSpPr>
            <a:xfrm>
              <a:off x="8978933" y="2003503"/>
              <a:ext cx="2472522" cy="1936644"/>
              <a:chOff x="9031819" y="2152857"/>
              <a:chExt cx="2609039" cy="2170681"/>
            </a:xfrm>
          </p:grpSpPr>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7F822ACA-72B6-4F82-8F27-DC38C0A71EA5}"/>
                      </a:ext>
                    </a:extLst>
                  </p:cNvPr>
                  <p:cNvSpPr txBox="1"/>
                  <p:nvPr/>
                </p:nvSpPr>
                <p:spPr>
                  <a:xfrm>
                    <a:off x="9798046" y="4058337"/>
                    <a:ext cx="1842812" cy="26520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43" name="文字方塊 42">
                    <a:extLst>
                      <a:ext uri="{FF2B5EF4-FFF2-40B4-BE49-F238E27FC236}">
                        <a16:creationId xmlns:a16="http://schemas.microsoft.com/office/drawing/2014/main" id="{7F822ACA-72B6-4F82-8F27-DC38C0A71EA5}"/>
                      </a:ext>
                    </a:extLst>
                  </p:cNvPr>
                  <p:cNvSpPr txBox="1">
                    <a:spLocks noRot="1" noChangeAspect="1" noMove="1" noResize="1" noEditPoints="1" noAdjustHandles="1" noChangeArrowheads="1" noChangeShapeType="1" noTextEdit="1"/>
                  </p:cNvSpPr>
                  <p:nvPr/>
                </p:nvSpPr>
                <p:spPr>
                  <a:xfrm>
                    <a:off x="9798046" y="4058337"/>
                    <a:ext cx="1842812" cy="265201"/>
                  </a:xfrm>
                  <a:prstGeom prst="rect">
                    <a:avLst/>
                  </a:prstGeom>
                  <a:blipFill>
                    <a:blip r:embed="rId5"/>
                    <a:stretch>
                      <a:fillRect l="-6969" t="-28205" r="-9059" b="-538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EC605A69-E524-4E7E-8586-26B7DDD88B64}"/>
                      </a:ext>
                    </a:extLst>
                  </p:cNvPr>
                  <p:cNvSpPr txBox="1"/>
                  <p:nvPr/>
                </p:nvSpPr>
                <p:spPr>
                  <a:xfrm rot="16200000">
                    <a:off x="8596765" y="2587911"/>
                    <a:ext cx="1141593" cy="271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600" i="1" smtClean="0">
                                  <a:latin typeface="Cambria Math" panose="02040503050406030204" pitchFamily="18" charset="0"/>
                                </a:rPr>
                              </m:ctrlPr>
                            </m:sPrePr>
                            <m:sub/>
                            <m:sup>
                              <m:r>
                                <a:rPr lang="en-US" altLang="zh-TW" sz="1600" b="0" i="1" smtClean="0">
                                  <a:latin typeface="Cambria Math" panose="02040503050406030204" pitchFamily="18" charset="0"/>
                                </a:rPr>
                                <m:t>𝐵</m:t>
                              </m:r>
                            </m:sup>
                            <m:e>
                              <m:sSub>
                                <m:sSubPr>
                                  <m:ctrlPr>
                                    <a:rPr lang="en-US" altLang="zh-TW" sz="1600" i="1" smtClean="0">
                                      <a:latin typeface="Cambria Math" panose="02040503050406030204" pitchFamily="18" charset="0"/>
                                    </a:rPr>
                                  </m:ctrlPr>
                                </m:sSubPr>
                                <m:e>
                                  <m:acc>
                                    <m:accPr>
                                      <m:chr m:val="̂"/>
                                      <m:ctrlPr>
                                        <a:rPr lang="en-US" altLang="zh-TW" sz="1600" i="1" smtClean="0">
                                          <a:latin typeface="Cambria Math" panose="02040503050406030204" pitchFamily="18" charset="0"/>
                                        </a:rPr>
                                      </m:ctrlPr>
                                    </m:accPr>
                                    <m:e>
                                      <m:r>
                                        <a:rPr lang="en-US" altLang="zh-TW" sz="1600" b="0" i="1" smtClean="0">
                                          <a:latin typeface="Cambria Math" panose="02040503050406030204" pitchFamily="18" charset="0"/>
                                        </a:rPr>
                                        <m:t>𝑔</m:t>
                                      </m:r>
                                    </m:e>
                                  </m:acc>
                                </m:e>
                                <m:sub>
                                  <m:r>
                                    <a:rPr lang="en-US" altLang="zh-TW" sz="1600" b="0" i="1" smtClean="0">
                                      <a:latin typeface="Cambria Math" panose="02040503050406030204" pitchFamily="18" charset="0"/>
                                    </a:rPr>
                                    <m:t>𝐼</m:t>
                                  </m:r>
                                </m:sub>
                              </m:sSub>
                            </m:e>
                          </m:sPre>
                          <m:r>
                            <a:rPr lang="en-US" altLang="zh-TW" sz="1600" b="0" i="1" smtClean="0">
                              <a:latin typeface="Cambria Math" panose="02040503050406030204" pitchFamily="18" charset="0"/>
                            </a:rPr>
                            <m:t> (</m:t>
                          </m:r>
                          <m:f>
                            <m:fPr>
                              <m:type m:val="lin"/>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m:oMathPara>
                    </a14:m>
                    <a:endParaRPr lang="zh-TW" altLang="en-US" dirty="0"/>
                  </a:p>
                </p:txBody>
              </p:sp>
            </mc:Choice>
            <mc:Fallback xmlns="">
              <p:sp>
                <p:nvSpPr>
                  <p:cNvPr id="44" name="文字方塊 43">
                    <a:extLst>
                      <a:ext uri="{FF2B5EF4-FFF2-40B4-BE49-F238E27FC236}">
                        <a16:creationId xmlns:a16="http://schemas.microsoft.com/office/drawing/2014/main" id="{EC605A69-E524-4E7E-8586-26B7DDD88B64}"/>
                      </a:ext>
                    </a:extLst>
                  </p:cNvPr>
                  <p:cNvSpPr txBox="1">
                    <a:spLocks noRot="1" noChangeAspect="1" noMove="1" noResize="1" noEditPoints="1" noAdjustHandles="1" noChangeArrowheads="1" noChangeShapeType="1" noTextEdit="1"/>
                  </p:cNvSpPr>
                  <p:nvPr/>
                </p:nvSpPr>
                <p:spPr>
                  <a:xfrm rot="16200000">
                    <a:off x="8596765" y="2587911"/>
                    <a:ext cx="1141593" cy="271485"/>
                  </a:xfrm>
                  <a:prstGeom prst="rect">
                    <a:avLst/>
                  </a:prstGeom>
                  <a:blipFill>
                    <a:blip r:embed="rId6"/>
                    <a:stretch>
                      <a:fillRect l="-142857" t="-47904" r="-242857" b="-1198"/>
                    </a:stretch>
                  </a:blipFill>
                </p:spPr>
                <p:txBody>
                  <a:bodyPr/>
                  <a:lstStyle/>
                  <a:p>
                    <a:r>
                      <a:rPr lang="zh-TW" altLang="en-US">
                        <a:noFill/>
                      </a:rPr>
                      <a:t> </a:t>
                    </a:r>
                  </a:p>
                </p:txBody>
              </p:sp>
            </mc:Fallback>
          </mc:AlternateContent>
        </p:grpSp>
      </p:grpSp>
      <p:grpSp>
        <p:nvGrpSpPr>
          <p:cNvPr id="58" name="群組 57">
            <a:extLst>
              <a:ext uri="{FF2B5EF4-FFF2-40B4-BE49-F238E27FC236}">
                <a16:creationId xmlns:a16="http://schemas.microsoft.com/office/drawing/2014/main" id="{E9F858B3-29F5-44D7-86AF-4853E71FC8FF}"/>
              </a:ext>
            </a:extLst>
          </p:cNvPr>
          <p:cNvGrpSpPr/>
          <p:nvPr/>
        </p:nvGrpSpPr>
        <p:grpSpPr>
          <a:xfrm>
            <a:off x="6122473" y="1440352"/>
            <a:ext cx="2941775" cy="2746271"/>
            <a:chOff x="6122017" y="1313736"/>
            <a:chExt cx="2941775" cy="2746271"/>
          </a:xfrm>
        </p:grpSpPr>
        <p:pic>
          <p:nvPicPr>
            <p:cNvPr id="56" name="圖片 55">
              <a:extLst>
                <a:ext uri="{FF2B5EF4-FFF2-40B4-BE49-F238E27FC236}">
                  <a16:creationId xmlns:a16="http://schemas.microsoft.com/office/drawing/2014/main" id="{0D8B2929-1A87-4FF5-A032-8C1C1B3DFEEB}"/>
                </a:ext>
              </a:extLst>
            </p:cNvPr>
            <p:cNvPicPr>
              <a:picLocks noChangeAspect="1"/>
            </p:cNvPicPr>
            <p:nvPr/>
          </p:nvPicPr>
          <p:blipFill rotWithShape="1">
            <a:blip r:embed="rId7">
              <a:extLst>
                <a:ext uri="{28A0092B-C50C-407E-A947-70E740481C1C}">
                  <a14:useLocalDpi xmlns:a14="http://schemas.microsoft.com/office/drawing/2010/main" val="0"/>
                </a:ext>
              </a:extLst>
            </a:blip>
            <a:srcRect l="5537" b="4130"/>
            <a:stretch/>
          </p:blipFill>
          <p:spPr>
            <a:xfrm>
              <a:off x="6414670" y="1313736"/>
              <a:ext cx="2649122" cy="2531428"/>
            </a:xfrm>
            <a:prstGeom prst="rect">
              <a:avLst/>
            </a:prstGeom>
          </p:spPr>
        </p:pic>
        <p:grpSp>
          <p:nvGrpSpPr>
            <p:cNvPr id="45" name="群組 44">
              <a:extLst>
                <a:ext uri="{FF2B5EF4-FFF2-40B4-BE49-F238E27FC236}">
                  <a16:creationId xmlns:a16="http://schemas.microsoft.com/office/drawing/2014/main" id="{D1F079F4-C647-4645-ADA0-EDC6340E60C2}"/>
                </a:ext>
              </a:extLst>
            </p:cNvPr>
            <p:cNvGrpSpPr/>
            <p:nvPr/>
          </p:nvGrpSpPr>
          <p:grpSpPr>
            <a:xfrm>
              <a:off x="6122017" y="2018835"/>
              <a:ext cx="2501108" cy="2041172"/>
              <a:chOff x="3055693" y="2180476"/>
              <a:chExt cx="2607257" cy="2217923"/>
            </a:xfrm>
          </p:grpSpPr>
          <mc:AlternateContent xmlns:mc="http://schemas.openxmlformats.org/markup-compatibility/2006" xmlns:a14="http://schemas.microsoft.com/office/drawing/2010/main">
            <mc:Choice Requires="a14">
              <p:sp>
                <p:nvSpPr>
                  <p:cNvPr id="47" name="文字方塊 46">
                    <a:extLst>
                      <a:ext uri="{FF2B5EF4-FFF2-40B4-BE49-F238E27FC236}">
                        <a16:creationId xmlns:a16="http://schemas.microsoft.com/office/drawing/2014/main" id="{031A0106-66B8-4BB2-AA6C-025D5F10AD58}"/>
                      </a:ext>
                    </a:extLst>
                  </p:cNvPr>
                  <p:cNvSpPr txBox="1"/>
                  <p:nvPr/>
                </p:nvSpPr>
                <p:spPr>
                  <a:xfrm rot="16200000">
                    <a:off x="2620639" y="2615530"/>
                    <a:ext cx="1141593" cy="2714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600" i="1" smtClean="0">
                                  <a:latin typeface="Cambria Math" panose="02040503050406030204" pitchFamily="18" charset="0"/>
                                </a:rPr>
                              </m:ctrlPr>
                            </m:sPrePr>
                            <m:sub/>
                            <m:sup>
                              <m:r>
                                <a:rPr lang="en-US" altLang="zh-TW" sz="1600" b="0" i="1" smtClean="0">
                                  <a:latin typeface="Cambria Math" panose="02040503050406030204" pitchFamily="18" charset="0"/>
                                </a:rPr>
                                <m:t>𝐵</m:t>
                              </m:r>
                            </m:sup>
                            <m:e>
                              <m:sSub>
                                <m:sSubPr>
                                  <m:ctrlPr>
                                    <a:rPr lang="en-US" altLang="zh-TW" sz="1600" i="1" smtClean="0">
                                      <a:latin typeface="Cambria Math" panose="02040503050406030204" pitchFamily="18" charset="0"/>
                                    </a:rPr>
                                  </m:ctrlPr>
                                </m:sSubPr>
                                <m:e>
                                  <m:acc>
                                    <m:accPr>
                                      <m:chr m:val="̂"/>
                                      <m:ctrlPr>
                                        <a:rPr lang="en-US" altLang="zh-TW" sz="1600" i="1" smtClean="0">
                                          <a:latin typeface="Cambria Math" panose="02040503050406030204" pitchFamily="18" charset="0"/>
                                        </a:rPr>
                                      </m:ctrlPr>
                                    </m:accPr>
                                    <m:e>
                                      <m:r>
                                        <a:rPr lang="en-US" altLang="zh-TW" sz="1600" b="0" i="1" smtClean="0">
                                          <a:latin typeface="Cambria Math" panose="02040503050406030204" pitchFamily="18" charset="0"/>
                                        </a:rPr>
                                        <m:t>𝑔</m:t>
                                      </m:r>
                                    </m:e>
                                  </m:acc>
                                </m:e>
                                <m:sub>
                                  <m:r>
                                    <a:rPr lang="en-US" altLang="zh-TW" sz="1600" b="0" i="1" smtClean="0">
                                      <a:latin typeface="Cambria Math" panose="02040503050406030204" pitchFamily="18" charset="0"/>
                                    </a:rPr>
                                    <m:t>𝐼</m:t>
                                  </m:r>
                                </m:sub>
                              </m:sSub>
                            </m:e>
                          </m:sPre>
                          <m:r>
                            <a:rPr lang="en-US" altLang="zh-TW" sz="1600" b="0" i="1" smtClean="0">
                              <a:latin typeface="Cambria Math" panose="02040503050406030204" pitchFamily="18" charset="0"/>
                            </a:rPr>
                            <m:t> (</m:t>
                          </m:r>
                          <m:f>
                            <m:fPr>
                              <m:type m:val="lin"/>
                              <m:ctrlPr>
                                <a:rPr lang="en-US" altLang="zh-TW" sz="1600" b="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m:oMathPara>
                    </a14:m>
                    <a:endParaRPr lang="zh-TW" altLang="en-US" dirty="0"/>
                  </a:p>
                </p:txBody>
              </p:sp>
            </mc:Choice>
            <mc:Fallback xmlns="">
              <p:sp>
                <p:nvSpPr>
                  <p:cNvPr id="47" name="文字方塊 46">
                    <a:extLst>
                      <a:ext uri="{FF2B5EF4-FFF2-40B4-BE49-F238E27FC236}">
                        <a16:creationId xmlns:a16="http://schemas.microsoft.com/office/drawing/2014/main" id="{031A0106-66B8-4BB2-AA6C-025D5F10AD58}"/>
                      </a:ext>
                    </a:extLst>
                  </p:cNvPr>
                  <p:cNvSpPr txBox="1">
                    <a:spLocks noRot="1" noChangeAspect="1" noMove="1" noResize="1" noEditPoints="1" noAdjustHandles="1" noChangeArrowheads="1" noChangeShapeType="1" noTextEdit="1"/>
                  </p:cNvSpPr>
                  <p:nvPr/>
                </p:nvSpPr>
                <p:spPr>
                  <a:xfrm rot="16200000">
                    <a:off x="2620639" y="2615530"/>
                    <a:ext cx="1141593" cy="271485"/>
                  </a:xfrm>
                  <a:prstGeom prst="rect">
                    <a:avLst/>
                  </a:prstGeom>
                  <a:blipFill>
                    <a:blip r:embed="rId8"/>
                    <a:stretch>
                      <a:fillRect l="-139535" t="-43023" r="-234884" b="-11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AD0C4154-F5CE-4B71-875F-223DBE694CC0}"/>
                      </a:ext>
                    </a:extLst>
                  </p:cNvPr>
                  <p:cNvSpPr txBox="1"/>
                  <p:nvPr/>
                </p:nvSpPr>
                <p:spPr>
                  <a:xfrm>
                    <a:off x="3820138" y="4133197"/>
                    <a:ext cx="1842812" cy="265202"/>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48" name="文字方塊 47">
                    <a:extLst>
                      <a:ext uri="{FF2B5EF4-FFF2-40B4-BE49-F238E27FC236}">
                        <a16:creationId xmlns:a16="http://schemas.microsoft.com/office/drawing/2014/main" id="{AD0C4154-F5CE-4B71-875F-223DBE694CC0}"/>
                      </a:ext>
                    </a:extLst>
                  </p:cNvPr>
                  <p:cNvSpPr txBox="1">
                    <a:spLocks noRot="1" noChangeAspect="1" noMove="1" noResize="1" noEditPoints="1" noAdjustHandles="1" noChangeArrowheads="1" noChangeShapeType="1" noTextEdit="1"/>
                  </p:cNvSpPr>
                  <p:nvPr/>
                </p:nvSpPr>
                <p:spPr>
                  <a:xfrm>
                    <a:off x="3820138" y="4133197"/>
                    <a:ext cx="1842812" cy="265202"/>
                  </a:xfrm>
                  <a:prstGeom prst="rect">
                    <a:avLst/>
                  </a:prstGeom>
                  <a:blipFill>
                    <a:blip r:embed="rId9"/>
                    <a:stretch>
                      <a:fillRect l="-7241" t="-27500" r="-7586" b="-50000"/>
                    </a:stretch>
                  </a:blipFill>
                </p:spPr>
                <p:txBody>
                  <a:bodyPr/>
                  <a:lstStyle/>
                  <a:p>
                    <a:r>
                      <a:rPr lang="zh-TW" altLang="en-US">
                        <a:noFill/>
                      </a:rPr>
                      <a:t> </a:t>
                    </a:r>
                  </a:p>
                </p:txBody>
              </p:sp>
            </mc:Fallback>
          </mc:AlternateContent>
        </p:grpSp>
      </p:grpSp>
      <p:grpSp>
        <p:nvGrpSpPr>
          <p:cNvPr id="20" name="群組 19">
            <a:extLst>
              <a:ext uri="{FF2B5EF4-FFF2-40B4-BE49-F238E27FC236}">
                <a16:creationId xmlns:a16="http://schemas.microsoft.com/office/drawing/2014/main" id="{28C4B2E1-4E5E-4133-B03E-35897083A85D}"/>
              </a:ext>
            </a:extLst>
          </p:cNvPr>
          <p:cNvGrpSpPr/>
          <p:nvPr/>
        </p:nvGrpSpPr>
        <p:grpSpPr>
          <a:xfrm>
            <a:off x="161142" y="1466348"/>
            <a:ext cx="2911005" cy="2685497"/>
            <a:chOff x="-8278" y="1549894"/>
            <a:chExt cx="2911005" cy="2685497"/>
          </a:xfrm>
        </p:grpSpPr>
        <p:pic>
          <p:nvPicPr>
            <p:cNvPr id="19" name="圖片 18">
              <a:extLst>
                <a:ext uri="{FF2B5EF4-FFF2-40B4-BE49-F238E27FC236}">
                  <a16:creationId xmlns:a16="http://schemas.microsoft.com/office/drawing/2014/main" id="{7AF3E11D-5E8C-47C0-A89C-9587D7D5257A}"/>
                </a:ext>
              </a:extLst>
            </p:cNvPr>
            <p:cNvPicPr>
              <a:picLocks noChangeAspect="1"/>
            </p:cNvPicPr>
            <p:nvPr/>
          </p:nvPicPr>
          <p:blipFill rotWithShape="1">
            <a:blip r:embed="rId10">
              <a:extLst>
                <a:ext uri="{28A0092B-C50C-407E-A947-70E740481C1C}">
                  <a14:useLocalDpi xmlns:a14="http://schemas.microsoft.com/office/drawing/2010/main" val="0"/>
                </a:ext>
              </a:extLst>
            </a:blip>
            <a:srcRect l="5671" t="1" b="3174"/>
            <a:stretch/>
          </p:blipFill>
          <p:spPr>
            <a:xfrm>
              <a:off x="300356" y="1549894"/>
              <a:ext cx="2602371" cy="2499105"/>
            </a:xfrm>
            <a:prstGeom prst="rect">
              <a:avLst/>
            </a:prstGeom>
          </p:spPr>
        </p:pic>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375038E2-A02E-4A7B-8B46-37BE0EEB3E60}"/>
                    </a:ext>
                  </a:extLst>
                </p:cNvPr>
                <p:cNvSpPr txBox="1"/>
                <p:nvPr/>
              </p:nvSpPr>
              <p:spPr>
                <a:xfrm>
                  <a:off x="764644" y="3998783"/>
                  <a:ext cx="1746388" cy="236608"/>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50" name="文字方塊 49">
                  <a:extLst>
                    <a:ext uri="{FF2B5EF4-FFF2-40B4-BE49-F238E27FC236}">
                      <a16:creationId xmlns:a16="http://schemas.microsoft.com/office/drawing/2014/main" id="{375038E2-A02E-4A7B-8B46-37BE0EEB3E60}"/>
                    </a:ext>
                  </a:extLst>
                </p:cNvPr>
                <p:cNvSpPr txBox="1">
                  <a:spLocks noRot="1" noChangeAspect="1" noMove="1" noResize="1" noEditPoints="1" noAdjustHandles="1" noChangeArrowheads="1" noChangeShapeType="1" noTextEdit="1"/>
                </p:cNvSpPr>
                <p:nvPr/>
              </p:nvSpPr>
              <p:spPr>
                <a:xfrm>
                  <a:off x="764644" y="3998783"/>
                  <a:ext cx="1746388" cy="236608"/>
                </a:xfrm>
                <a:prstGeom prst="rect">
                  <a:avLst/>
                </a:prstGeom>
                <a:blipFill>
                  <a:blip r:embed="rId11"/>
                  <a:stretch>
                    <a:fillRect l="-6969" t="-25641" r="-9059" b="-56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a:extLst>
                    <a:ext uri="{FF2B5EF4-FFF2-40B4-BE49-F238E27FC236}">
                      <a16:creationId xmlns:a16="http://schemas.microsoft.com/office/drawing/2014/main" id="{CF6604E8-53C8-4B4F-BA72-8DEC095944B5}"/>
                    </a:ext>
                  </a:extLst>
                </p:cNvPr>
                <p:cNvSpPr txBox="1"/>
                <p:nvPr/>
              </p:nvSpPr>
              <p:spPr>
                <a:xfrm rot="16200000">
                  <a:off x="-228434" y="2677029"/>
                  <a:ext cx="699229" cy="2589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r>
                          <a:rPr lang="zh-TW" altLang="en-US" sz="1600" i="1">
                            <a:latin typeface="Cambria Math" panose="02040503050406030204" pitchFamily="18" charset="0"/>
                          </a:rPr>
                          <m:t> </m:t>
                        </m:r>
                        <m:r>
                          <a:rPr lang="en-US" altLang="zh-TW" sz="1600" i="1">
                            <a:latin typeface="Cambria Math" panose="02040503050406030204" pitchFamily="18" charset="0"/>
                          </a:rPr>
                          <m:t>(</m:t>
                        </m:r>
                        <m:r>
                          <a:rPr lang="zh-TW" altLang="en-US" sz="160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1" smtClean="0">
                            <a:latin typeface="Cambria Math" panose="02040503050406030204" pitchFamily="18" charset="0"/>
                          </a:rPr>
                          <m:t>) </m:t>
                        </m:r>
                      </m:oMath>
                    </m:oMathPara>
                  </a14:m>
                  <a:endParaRPr lang="zh-TW" altLang="en-US" sz="1600" dirty="0"/>
                </a:p>
              </p:txBody>
            </p:sp>
          </mc:Choice>
          <mc:Fallback xmlns="">
            <p:sp>
              <p:nvSpPr>
                <p:cNvPr id="51" name="文字方塊 50">
                  <a:extLst>
                    <a:ext uri="{FF2B5EF4-FFF2-40B4-BE49-F238E27FC236}">
                      <a16:creationId xmlns:a16="http://schemas.microsoft.com/office/drawing/2014/main" id="{CF6604E8-53C8-4B4F-BA72-8DEC095944B5}"/>
                    </a:ext>
                  </a:extLst>
                </p:cNvPr>
                <p:cNvSpPr txBox="1">
                  <a:spLocks noRot="1" noChangeAspect="1" noMove="1" noResize="1" noEditPoints="1" noAdjustHandles="1" noChangeArrowheads="1" noChangeShapeType="1" noTextEdit="1"/>
                </p:cNvSpPr>
                <p:nvPr/>
              </p:nvSpPr>
              <p:spPr>
                <a:xfrm rot="16200000">
                  <a:off x="-228434" y="2677029"/>
                  <a:ext cx="699229" cy="258917"/>
                </a:xfrm>
                <a:prstGeom prst="rect">
                  <a:avLst/>
                </a:prstGeom>
                <a:blipFill>
                  <a:blip r:embed="rId12"/>
                  <a:stretch>
                    <a:fillRect l="-16279" t="-2609" r="-32558" b="-6957"/>
                  </a:stretch>
                </a:blipFill>
              </p:spPr>
              <p:txBody>
                <a:bodyPr/>
                <a:lstStyle/>
                <a:p>
                  <a:r>
                    <a:rPr lang="zh-TW" altLang="en-US">
                      <a:noFill/>
                    </a:rPr>
                    <a:t> </a:t>
                  </a:r>
                </a:p>
              </p:txBody>
            </p:sp>
          </mc:Fallback>
        </mc:AlternateContent>
      </p:grpSp>
      <p:grpSp>
        <p:nvGrpSpPr>
          <p:cNvPr id="21" name="群組 20">
            <a:extLst>
              <a:ext uri="{FF2B5EF4-FFF2-40B4-BE49-F238E27FC236}">
                <a16:creationId xmlns:a16="http://schemas.microsoft.com/office/drawing/2014/main" id="{0F91BC91-7904-4870-B5EC-7E7B6BC9A999}"/>
              </a:ext>
            </a:extLst>
          </p:cNvPr>
          <p:cNvGrpSpPr/>
          <p:nvPr/>
        </p:nvGrpSpPr>
        <p:grpSpPr>
          <a:xfrm>
            <a:off x="2960093" y="1466064"/>
            <a:ext cx="2906207" cy="2675144"/>
            <a:chOff x="2906760" y="1563977"/>
            <a:chExt cx="2906207" cy="2675144"/>
          </a:xfrm>
        </p:grpSpPr>
        <p:pic>
          <p:nvPicPr>
            <p:cNvPr id="10" name="圖片 9">
              <a:extLst>
                <a:ext uri="{FF2B5EF4-FFF2-40B4-BE49-F238E27FC236}">
                  <a16:creationId xmlns:a16="http://schemas.microsoft.com/office/drawing/2014/main" id="{4F635C7A-BC8F-4767-B227-CF14CB2DB16C}"/>
                </a:ext>
              </a:extLst>
            </p:cNvPr>
            <p:cNvPicPr>
              <a:picLocks noChangeAspect="1"/>
            </p:cNvPicPr>
            <p:nvPr/>
          </p:nvPicPr>
          <p:blipFill rotWithShape="1">
            <a:blip r:embed="rId13">
              <a:extLst>
                <a:ext uri="{28A0092B-C50C-407E-A947-70E740481C1C}">
                  <a14:useLocalDpi xmlns:a14="http://schemas.microsoft.com/office/drawing/2010/main" val="0"/>
                </a:ext>
              </a:extLst>
            </a:blip>
            <a:srcRect l="5399" b="3192"/>
            <a:stretch/>
          </p:blipFill>
          <p:spPr>
            <a:xfrm>
              <a:off x="3203083" y="1563977"/>
              <a:ext cx="2609884" cy="2485022"/>
            </a:xfrm>
            <a:prstGeom prst="rect">
              <a:avLst/>
            </a:prstGeom>
          </p:spPr>
        </p:pic>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BDE50754-74EF-4873-8FF7-6E324933623F}"/>
                    </a:ext>
                  </a:extLst>
                </p:cNvPr>
                <p:cNvSpPr txBox="1"/>
                <p:nvPr/>
              </p:nvSpPr>
              <p:spPr>
                <a:xfrm>
                  <a:off x="3624132" y="3995054"/>
                  <a:ext cx="1767786" cy="244067"/>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49" name="文字方塊 48">
                  <a:extLst>
                    <a:ext uri="{FF2B5EF4-FFF2-40B4-BE49-F238E27FC236}">
                      <a16:creationId xmlns:a16="http://schemas.microsoft.com/office/drawing/2014/main" id="{BDE50754-74EF-4873-8FF7-6E324933623F}"/>
                    </a:ext>
                  </a:extLst>
                </p:cNvPr>
                <p:cNvSpPr txBox="1">
                  <a:spLocks noRot="1" noChangeAspect="1" noMove="1" noResize="1" noEditPoints="1" noAdjustHandles="1" noChangeArrowheads="1" noChangeShapeType="1" noTextEdit="1"/>
                </p:cNvSpPr>
                <p:nvPr/>
              </p:nvSpPr>
              <p:spPr>
                <a:xfrm>
                  <a:off x="3624132" y="3995054"/>
                  <a:ext cx="1767786" cy="244067"/>
                </a:xfrm>
                <a:prstGeom prst="rect">
                  <a:avLst/>
                </a:prstGeom>
                <a:blipFill>
                  <a:blip r:embed="rId14"/>
                  <a:stretch>
                    <a:fillRect l="-6897" t="-25000" r="-7931" b="-5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A8856997-526C-4D0A-8080-B48B3F0FE5A9}"/>
                    </a:ext>
                  </a:extLst>
                </p:cNvPr>
                <p:cNvSpPr txBox="1"/>
                <p:nvPr/>
              </p:nvSpPr>
              <p:spPr>
                <a:xfrm rot="16200000">
                  <a:off x="2686604" y="2663999"/>
                  <a:ext cx="699229" cy="25891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sz="1600" i="1" smtClean="0">
                                <a:latin typeface="Cambria Math" panose="02040503050406030204" pitchFamily="18" charset="0"/>
                              </a:rPr>
                            </m:ctrlPr>
                          </m:accPr>
                          <m:e>
                            <m:r>
                              <a:rPr lang="en-US" altLang="zh-TW" sz="1600" i="1" smtClean="0">
                                <a:latin typeface="Cambria Math" panose="02040503050406030204" pitchFamily="18" charset="0"/>
                                <a:ea typeface="Cambria Math" panose="02040503050406030204" pitchFamily="18" charset="0"/>
                              </a:rPr>
                              <m:t>ℓ</m:t>
                            </m:r>
                          </m:e>
                        </m:acc>
                        <m:r>
                          <a:rPr lang="zh-TW" altLang="en-US" sz="1600" i="1">
                            <a:latin typeface="Cambria Math" panose="02040503050406030204" pitchFamily="18" charset="0"/>
                          </a:rPr>
                          <m:t> </m:t>
                        </m:r>
                        <m:r>
                          <a:rPr lang="en-US" altLang="zh-TW" sz="1600" i="1">
                            <a:latin typeface="Cambria Math" panose="02040503050406030204" pitchFamily="18" charset="0"/>
                          </a:rPr>
                          <m:t>(</m:t>
                        </m:r>
                        <m:r>
                          <a:rPr lang="zh-TW" altLang="en-US" sz="1600" i="1" smtClean="0">
                            <a:latin typeface="Cambria Math" panose="02040503050406030204" pitchFamily="18" charset="0"/>
                          </a:rPr>
                          <m:t>𝜇</m:t>
                        </m:r>
                        <m:r>
                          <a:rPr lang="en-US" altLang="zh-TW" sz="1600" b="0" i="1" smtClean="0">
                            <a:latin typeface="Cambria Math" panose="02040503050406030204" pitchFamily="18" charset="0"/>
                          </a:rPr>
                          <m:t>𝑚</m:t>
                        </m:r>
                        <m:r>
                          <a:rPr lang="en-US" altLang="zh-TW" sz="1600" b="0" i="1" smtClean="0">
                            <a:latin typeface="Cambria Math" panose="02040503050406030204" pitchFamily="18" charset="0"/>
                          </a:rPr>
                          <m:t>) </m:t>
                        </m:r>
                      </m:oMath>
                    </m:oMathPara>
                  </a14:m>
                  <a:endParaRPr lang="zh-TW" altLang="en-US" sz="1600" dirty="0"/>
                </a:p>
              </p:txBody>
            </p:sp>
          </mc:Choice>
          <mc:Fallback xmlns="">
            <p:sp>
              <p:nvSpPr>
                <p:cNvPr id="52" name="文字方塊 51">
                  <a:extLst>
                    <a:ext uri="{FF2B5EF4-FFF2-40B4-BE49-F238E27FC236}">
                      <a16:creationId xmlns:a16="http://schemas.microsoft.com/office/drawing/2014/main" id="{A8856997-526C-4D0A-8080-B48B3F0FE5A9}"/>
                    </a:ext>
                  </a:extLst>
                </p:cNvPr>
                <p:cNvSpPr txBox="1">
                  <a:spLocks noRot="1" noChangeAspect="1" noMove="1" noResize="1" noEditPoints="1" noAdjustHandles="1" noChangeArrowheads="1" noChangeShapeType="1" noTextEdit="1"/>
                </p:cNvSpPr>
                <p:nvPr/>
              </p:nvSpPr>
              <p:spPr>
                <a:xfrm rot="16200000">
                  <a:off x="2686604" y="2663999"/>
                  <a:ext cx="699229" cy="258917"/>
                </a:xfrm>
                <a:prstGeom prst="rect">
                  <a:avLst/>
                </a:prstGeom>
                <a:blipFill>
                  <a:blip r:embed="rId15"/>
                  <a:stretch>
                    <a:fillRect l="-19048" t="-3478" r="-33333" b="-6957"/>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602862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parameter(25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4066794"/>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parameters(13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a:t>Long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LF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−0.0946</m:t>
                                </m:r>
                              </m:e>
                              <m:e>
                                <m:r>
                                  <a:rPr lang="en-US" sz="1200" b="0" i="0">
                                    <a:latin typeface="Cambria Math" panose="02040503050406030204" pitchFamily="18" charset="0"/>
                                  </a:rPr>
                                  <m:t>−0.2002</m:t>
                                </m:r>
                              </m:e>
                              <m:e>
                                <m:r>
                                  <a:rPr lang="en-US" sz="1200" b="0" i="0">
                                    <a:latin typeface="Cambria Math" panose="02040503050406030204" pitchFamily="18" charset="0"/>
                                  </a:rPr>
                                  <m:t>−0.1664</m:t>
                                </m:r>
                              </m:e>
                              <m:e>
                                <m:r>
                                  <a:rPr lang="en-US" sz="1200" b="0" i="0">
                                    <a:latin typeface="Cambria Math" panose="02040503050406030204" pitchFamily="18" charset="0"/>
                                  </a:rPr>
                                  <m:t>−0.1727</m:t>
                                </m:r>
                              </m:e>
                              <m:e>
                                <m:r>
                                  <a:rPr lang="en-US" sz="1200" b="0" i="0">
                                    <a:latin typeface="Cambria Math" panose="02040503050406030204" pitchFamily="18" charset="0"/>
                                  </a:rPr>
                                  <m:t>−0.1965</m:t>
                                </m:r>
                              </m:e>
                            </m:mr>
                            <m:mr>
                              <m:e>
                                <m:r>
                                  <a:rPr lang="en-US" sz="1200" b="0" i="0">
                                    <a:latin typeface="Cambria Math" panose="02040503050406030204" pitchFamily="18" charset="0"/>
                                  </a:rPr>
                                  <m:t>−0.2151</m:t>
                                </m:r>
                              </m:e>
                              <m:e>
                                <m:r>
                                  <a:rPr lang="en-US" sz="1200" b="0" i="0">
                                    <a:latin typeface="Cambria Math" panose="02040503050406030204" pitchFamily="18" charset="0"/>
                                  </a:rPr>
                                  <m:t>0.9630</m:t>
                                </m:r>
                              </m:e>
                              <m:e>
                                <m:r>
                                  <a:rPr lang="en-US" sz="1200" b="0" i="0">
                                    <a:latin typeface="Cambria Math" panose="02040503050406030204" pitchFamily="18" charset="0"/>
                                  </a:rPr>
                                  <m:t>−0.2182</m:t>
                                </m:r>
                              </m:e>
                              <m:e>
                                <m:r>
                                  <a:rPr lang="en-US" sz="1200" b="0" i="0">
                                    <a:latin typeface="Cambria Math" panose="02040503050406030204" pitchFamily="18" charset="0"/>
                                  </a:rPr>
                                  <m:t>−0.1508</m:t>
                                </m:r>
                              </m:e>
                              <m:e>
                                <m:r>
                                  <a:rPr lang="en-US" sz="1200" b="0" i="0">
                                    <a:latin typeface="Cambria Math" panose="02040503050406030204" pitchFamily="18" charset="0"/>
                                  </a:rPr>
                                  <m:t>−0.1567</m:t>
                                </m:r>
                              </m:e>
                              <m:e>
                                <m:r>
                                  <a:rPr lang="en-US" sz="1200" b="0" i="0">
                                    <a:latin typeface="Cambria Math" panose="02040503050406030204" pitchFamily="18" charset="0"/>
                                  </a:rPr>
                                  <m:t>−0.2140</m:t>
                                </m:r>
                              </m:e>
                            </m:mr>
                            <m:mr>
                              <m:e>
                                <m:r>
                                  <a:rPr lang="en-US" sz="1200" b="0" i="0">
                                    <a:latin typeface="Cambria Math" panose="02040503050406030204" pitchFamily="18" charset="0"/>
                                  </a:rPr>
                                  <m:t>−0.1905</m:t>
                                </m:r>
                              </m:e>
                              <m:e>
                                <m:r>
                                  <a:rPr lang="en-US" sz="1200" b="0" i="0">
                                    <a:latin typeface="Cambria Math" panose="02040503050406030204" pitchFamily="18" charset="0"/>
                                  </a:rPr>
                                  <m:t>−0.1671</m:t>
                                </m:r>
                              </m:e>
                              <m:e>
                                <m:r>
                                  <a:rPr lang="en-US" sz="1200" b="0" i="0">
                                    <a:latin typeface="Cambria Math" panose="02040503050406030204" pitchFamily="18" charset="0"/>
                                  </a:rPr>
                                  <m:t>0.8264</m:t>
                                </m:r>
                              </m:e>
                              <m:e>
                                <m:r>
                                  <a:rPr lang="en-US" sz="1200" b="0" i="0">
                                    <a:latin typeface="Cambria Math" panose="02040503050406030204" pitchFamily="18" charset="0"/>
                                  </a:rPr>
                                  <m:t>−0.0967</m:t>
                                </m:r>
                              </m:e>
                              <m:e>
                                <m:r>
                                  <a:rPr lang="en-US" sz="1200" b="0" i="0">
                                    <a:latin typeface="Cambria Math" panose="02040503050406030204" pitchFamily="18" charset="0"/>
                                  </a:rPr>
                                  <m:t>−0.1727</m:t>
                                </m:r>
                              </m:e>
                              <m:e>
                                <m:r>
                                  <a:rPr lang="en-US" sz="1200" b="0" i="0">
                                    <a:latin typeface="Cambria Math" panose="02040503050406030204" pitchFamily="18" charset="0"/>
                                  </a:rPr>
                                  <m:t>−0.1965</m:t>
                                </m:r>
                              </m:e>
                            </m:mr>
                            <m:mr>
                              <m:e>
                                <m:r>
                                  <a:rPr lang="en-US" sz="1200" b="0" i="0">
                                    <a:latin typeface="Cambria Math" panose="02040503050406030204" pitchFamily="18" charset="0"/>
                                  </a:rPr>
                                  <m:t>−0.2074</m:t>
                                </m:r>
                              </m:e>
                              <m:e>
                                <m:r>
                                  <a:rPr lang="en-US" sz="1200" b="0" i="0">
                                    <a:latin typeface="Cambria Math" panose="02040503050406030204" pitchFamily="18" charset="0"/>
                                  </a:rPr>
                                  <m:t>−0.1505</m:t>
                                </m:r>
                              </m:e>
                              <m:e>
                                <m:r>
                                  <a:rPr lang="en-US" sz="1200" b="0" i="0">
                                    <a:latin typeface="Cambria Math" panose="02040503050406030204" pitchFamily="18" charset="0"/>
                                  </a:rPr>
                                  <m:t>−0.2238</m:t>
                                </m:r>
                              </m:e>
                              <m:e>
                                <m:r>
                                  <a:rPr lang="en-US" sz="1200" b="0" i="0">
                                    <a:latin typeface="Cambria Math" panose="02040503050406030204" pitchFamily="18" charset="0"/>
                                  </a:rPr>
                                  <m:t>0.9575</m:t>
                                </m:r>
                              </m:e>
                              <m:e>
                                <m:r>
                                  <a:rPr lang="en-US" sz="1200" b="0" i="0">
                                    <a:latin typeface="Cambria Math" panose="02040503050406030204" pitchFamily="18" charset="0"/>
                                  </a:rPr>
                                  <m:t>−0.1555</m:t>
                                </m:r>
                              </m:e>
                              <m:e>
                                <m:r>
                                  <a:rPr lang="en-US" sz="1200" b="0" i="0">
                                    <a:latin typeface="Cambria Math" panose="02040503050406030204" pitchFamily="18" charset="0"/>
                                  </a:rPr>
                                  <m:t>−0.2133</m:t>
                                </m:r>
                              </m:e>
                            </m:mr>
                            <m:mr>
                              <m:e>
                                <m:r>
                                  <a:rPr lang="en-US" sz="1200" b="0" i="0">
                                    <a:latin typeface="Cambria Math" panose="02040503050406030204" pitchFamily="18" charset="0"/>
                                  </a:rPr>
                                  <m:t>−0.2080</m:t>
                                </m:r>
                              </m:e>
                              <m:e>
                                <m:r>
                                  <a:rPr lang="en-US" sz="1200" b="0" i="0">
                                    <a:latin typeface="Cambria Math" panose="02040503050406030204" pitchFamily="18" charset="0"/>
                                  </a:rPr>
                                  <m:t>−0.1506</m:t>
                                </m:r>
                              </m:e>
                              <m:e>
                                <m:r>
                                  <a:rPr lang="en-US" sz="1200" b="0" i="0">
                                    <a:latin typeface="Cambria Math" panose="02040503050406030204" pitchFamily="18" charset="0"/>
                                  </a:rPr>
                                  <m:t>−0.2176</m:t>
                                </m:r>
                              </m:e>
                              <m:e>
                                <m:r>
                                  <a:rPr lang="en-US" sz="1200" b="0" i="0">
                                    <a:latin typeface="Cambria Math" panose="02040503050406030204" pitchFamily="18" charset="0"/>
                                  </a:rPr>
                                  <m:t>−0.1510</m:t>
                                </m:r>
                              </m:e>
                              <m:e>
                                <m:r>
                                  <a:rPr lang="en-US" sz="1200" b="0" i="0">
                                    <a:latin typeface="Cambria Math" panose="02040503050406030204" pitchFamily="18" charset="0"/>
                                  </a:rPr>
                                  <m:t>0.9557</m:t>
                                </m:r>
                              </m:e>
                              <m:e>
                                <m:r>
                                  <a:rPr lang="en-US" sz="1200" b="0" i="0">
                                    <a:latin typeface="Cambria Math" panose="02040503050406030204" pitchFamily="18" charset="0"/>
                                  </a:rPr>
                                  <m:t>−0.2213</m:t>
                                </m:r>
                              </m:e>
                            </m:mr>
                            <m:mr>
                              <m:e>
                                <m:r>
                                  <a:rPr lang="en-US" sz="1200" b="0" i="0">
                                    <a:latin typeface="Cambria Math" panose="02040503050406030204" pitchFamily="18" charset="0"/>
                                  </a:rPr>
                                  <m:t>−0.1903</m:t>
                                </m:r>
                              </m:e>
                              <m:e>
                                <m:r>
                                  <a:rPr lang="en-US" sz="1200" b="0" i="0">
                                    <a:latin typeface="Cambria Math" panose="02040503050406030204" pitchFamily="18" charset="0"/>
                                  </a:rPr>
                                  <m:t>−0.1666</m:t>
                                </m:r>
                              </m:e>
                              <m:e>
                                <m:r>
                                  <a:rPr lang="en-US" sz="1200" b="0" i="0">
                                    <a:latin typeface="Cambria Math" panose="02040503050406030204" pitchFamily="18" charset="0"/>
                                  </a:rPr>
                                  <m:t>−0.1996</m:t>
                                </m:r>
                              </m:e>
                              <m:e>
                                <m:r>
                                  <a:rPr lang="en-US" sz="1200" b="0" i="0">
                                    <a:latin typeface="Cambria Math" panose="02040503050406030204" pitchFamily="18" charset="0"/>
                                  </a:rPr>
                                  <m:t>−0.1667</m:t>
                                </m:r>
                              </m:e>
                              <m:e>
                                <m:r>
                                  <a:rPr lang="en-US" sz="1200" b="0" i="0">
                                    <a:latin typeface="Cambria Math" panose="02040503050406030204" pitchFamily="18" charset="0"/>
                                  </a:rPr>
                                  <m:t>−0.1018</m:t>
                                </m:r>
                              </m:e>
                              <m:e>
                                <m:r>
                                  <a:rPr lang="en-US" sz="1200" b="0" i="0">
                                    <a:latin typeface="Cambria Math" panose="02040503050406030204" pitchFamily="18" charset="0"/>
                                  </a:rPr>
                                  <m:t>0.8275</m:t>
                                </m:r>
                              </m:e>
                            </m:mr>
                          </m:m>
                        </m:e>
                      </m:d>
                      <m:r>
                        <a:rPr lang="en-US" sz="1200" b="0" i="0">
                          <a:latin typeface="Cambria Math" panose="02040503050406030204" pitchFamily="18" charset="0"/>
                        </a:rPr>
                        <m:t> </m:t>
                      </m:r>
                    </m:oMath>
                  </m:oMathPara>
                </a14:m>
                <a:endParaRPr lang="en-US" sz="1100" dirty="0"/>
              </a:p>
            </p:txBody>
          </p:sp>
        </mc:Choice>
        <mc:Fallback xmlns="">
          <p:sp>
            <p:nvSpPr>
              <p:cNvPr id="48" name="LF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LF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870.6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9.67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LF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rId4"/>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LF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50" name="LF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LF_e_mat"/>
              <p:cNvSpPr txBox="1"/>
              <p:nvPr/>
            </p:nvSpPr>
            <p:spPr>
              <a:xfrm>
                <a:off x="460000" y="448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−0.1382</m:t>
                                </m:r>
                              </m:e>
                              <m:e>
                                <m:r>
                                  <a:rPr lang="en-US" sz="1200" b="0" i="0">
                                    <a:latin typeface="Cambria Math" panose="02040503050406030204" pitchFamily="18" charset="0"/>
                                  </a:rPr>
                                  <m:t>−0.1334</m:t>
                                </m:r>
                              </m:e>
                              <m:e>
                                <m:r>
                                  <a:rPr lang="en-US" sz="1200" b="0" i="0">
                                    <a:latin typeface="Cambria Math" panose="02040503050406030204" pitchFamily="18" charset="0"/>
                                  </a:rPr>
                                  <m:t>−0.1889</m:t>
                                </m:r>
                              </m:e>
                              <m:e>
                                <m:r>
                                  <a:rPr lang="en-US" sz="1200" b="0" i="0">
                                    <a:latin typeface="Cambria Math" panose="02040503050406030204" pitchFamily="18" charset="0"/>
                                  </a:rPr>
                                  <m:t>−0.1927</m:t>
                                </m:r>
                              </m:e>
                              <m:e>
                                <m:r>
                                  <a:rPr lang="en-US" sz="1200" b="0" i="0">
                                    <a:latin typeface="Cambria Math" panose="02040503050406030204" pitchFamily="18" charset="0"/>
                                  </a:rPr>
                                  <m:t>−0.1320</m:t>
                                </m:r>
                              </m:e>
                            </m:mr>
                            <m:mr>
                              <m:e>
                                <m:r>
                                  <a:rPr lang="en-US" sz="1200" b="0" i="0">
                                    <a:latin typeface="Cambria Math" panose="02040503050406030204" pitchFamily="18" charset="0"/>
                                  </a:rPr>
                                  <m:t>−0.1395</m:t>
                                </m:r>
                              </m:e>
                              <m:e>
                                <m:r>
                                  <a:rPr lang="en-US" sz="1200" b="0" i="0">
                                    <a:latin typeface="Cambria Math" panose="02040503050406030204" pitchFamily="18" charset="0"/>
                                  </a:rPr>
                                  <m:t>0.8381</m:t>
                                </m:r>
                              </m:e>
                              <m:e>
                                <m:r>
                                  <a:rPr lang="en-US" sz="1200" b="0" i="0">
                                    <a:latin typeface="Cambria Math" panose="02040503050406030204" pitchFamily="18" charset="0"/>
                                  </a:rPr>
                                  <m:t>−0.2070</m:t>
                                </m:r>
                              </m:e>
                              <m:e>
                                <m:r>
                                  <a:rPr lang="en-US" sz="1200" b="0" i="0">
                                    <a:latin typeface="Cambria Math" panose="02040503050406030204" pitchFamily="18" charset="0"/>
                                  </a:rPr>
                                  <m:t>−0.1220</m:t>
                                </m:r>
                              </m:e>
                              <m:e>
                                <m:r>
                                  <a:rPr lang="en-US" sz="1200" b="0" i="0">
                                    <a:latin typeface="Cambria Math" panose="02040503050406030204" pitchFamily="18" charset="0"/>
                                  </a:rPr>
                                  <m:t>−0.1254</m:t>
                                </m:r>
                              </m:e>
                              <m:e>
                                <m:r>
                                  <a:rPr lang="en-US" sz="1200" b="0" i="0">
                                    <a:latin typeface="Cambria Math" panose="02040503050406030204" pitchFamily="18" charset="0"/>
                                  </a:rPr>
                                  <m:t>−0.2063</m:t>
                                </m:r>
                              </m:e>
                            </m:mr>
                            <m:mr>
                              <m:e>
                                <m:r>
                                  <a:rPr lang="en-US" sz="1200" b="0" i="0">
                                    <a:latin typeface="Cambria Math" panose="02040503050406030204" pitchFamily="18" charset="0"/>
                                  </a:rPr>
                                  <m:t>−0.1320</m:t>
                                </m:r>
                              </m:e>
                              <m:e>
                                <m:r>
                                  <a:rPr lang="en-US" sz="1200" b="0" i="0">
                                    <a:latin typeface="Cambria Math" panose="02040503050406030204" pitchFamily="18" charset="0"/>
                                  </a:rPr>
                                  <m:t>−0.1984</m:t>
                                </m:r>
                              </m:e>
                              <m:e>
                                <m:r>
                                  <a:rPr lang="en-US" sz="1200" b="0" i="0">
                                    <a:latin typeface="Cambria Math" panose="02040503050406030204" pitchFamily="18" charset="0"/>
                                  </a:rPr>
                                  <m:t>0.8461</m:t>
                                </m:r>
                              </m:e>
                              <m:e>
                                <m:r>
                                  <a:rPr lang="en-US" sz="1200" b="0" i="0">
                                    <a:latin typeface="Cambria Math" panose="02040503050406030204" pitchFamily="18" charset="0"/>
                                  </a:rPr>
                                  <m:t>−0.1361</m:t>
                                </m:r>
                              </m:e>
                              <m:e>
                                <m:r>
                                  <a:rPr lang="en-US" sz="1200" b="0" i="0">
                                    <a:latin typeface="Cambria Math" panose="02040503050406030204" pitchFamily="18" charset="0"/>
                                  </a:rPr>
                                  <m:t>−0.1960</m:t>
                                </m:r>
                              </m:e>
                              <m:e>
                                <m:r>
                                  <a:rPr lang="en-US" sz="1200" b="0" i="0">
                                    <a:latin typeface="Cambria Math" panose="02040503050406030204" pitchFamily="18" charset="0"/>
                                  </a:rPr>
                                  <m:t>−0.1345</m:t>
                                </m:r>
                              </m:e>
                            </m:mr>
                            <m:mr>
                              <m:e>
                                <m:r>
                                  <a:rPr lang="en-US" sz="1200" b="0" i="0">
                                    <a:latin typeface="Cambria Math" panose="02040503050406030204" pitchFamily="18" charset="0"/>
                                  </a:rPr>
                                  <m:t>−0.2039</m:t>
                                </m:r>
                              </m:e>
                              <m:e>
                                <m:r>
                                  <a:rPr lang="en-US" sz="1200" b="0" i="0">
                                    <a:latin typeface="Cambria Math" panose="02040503050406030204" pitchFamily="18" charset="0"/>
                                  </a:rPr>
                                  <m:t>−0.1264</m:t>
                                </m:r>
                              </m:e>
                              <m:e>
                                <m:r>
                                  <a:rPr lang="en-US" sz="1200" b="0" i="0">
                                    <a:latin typeface="Cambria Math" panose="02040503050406030204" pitchFamily="18" charset="0"/>
                                  </a:rPr>
                                  <m:t>−0.1400</m:t>
                                </m:r>
                              </m:e>
                              <m:e>
                                <m:r>
                                  <a:rPr lang="en-US" sz="1200" b="0" i="0">
                                    <a:latin typeface="Cambria Math" panose="02040503050406030204" pitchFamily="18" charset="0"/>
                                  </a:rPr>
                                  <m:t>0.8415</m:t>
                                </m:r>
                              </m:e>
                              <m:e>
                                <m:r>
                                  <a:rPr lang="en-US" sz="1200" b="0" i="0">
                                    <a:latin typeface="Cambria Math" panose="02040503050406030204" pitchFamily="18" charset="0"/>
                                  </a:rPr>
                                  <m:t>−0.1260</m:t>
                                </m:r>
                              </m:e>
                              <m:e>
                                <m:r>
                                  <a:rPr lang="en-US" sz="1200" b="0" i="0">
                                    <a:latin typeface="Cambria Math" panose="02040503050406030204" pitchFamily="18" charset="0"/>
                                  </a:rPr>
                                  <m:t>−0.2072</m:t>
                                </m:r>
                              </m:e>
                            </m:mr>
                            <m:mr>
                              <m:e>
                                <m:r>
                                  <a:rPr lang="en-US" sz="1200" b="0" i="0">
                                    <a:latin typeface="Cambria Math" panose="02040503050406030204" pitchFamily="18" charset="0"/>
                                  </a:rPr>
                                  <m:t>−0.2091</m:t>
                                </m:r>
                              </m:e>
                              <m:e>
                                <m:r>
                                  <a:rPr lang="en-US" sz="1200" b="0" i="0">
                                    <a:latin typeface="Cambria Math" panose="02040503050406030204" pitchFamily="18" charset="0"/>
                                  </a:rPr>
                                  <m:t>−0.1281</m:t>
                                </m:r>
                              </m:e>
                              <m:e>
                                <m:r>
                                  <a:rPr lang="en-US" sz="1200" b="0" i="0">
                                    <a:latin typeface="Cambria Math" panose="02040503050406030204" pitchFamily="18" charset="0"/>
                                  </a:rPr>
                                  <m:t>−0.2122</m:t>
                                </m:r>
                              </m:e>
                              <m:e>
                                <m:r>
                                  <a:rPr lang="en-US" sz="1200" b="0" i="0">
                                    <a:latin typeface="Cambria Math" panose="02040503050406030204" pitchFamily="18" charset="0"/>
                                  </a:rPr>
                                  <m:t>−0.1257</m:t>
                                </m:r>
                              </m:e>
                              <m:e>
                                <m:r>
                                  <a:rPr lang="en-US" sz="1200" b="0" i="0">
                                    <a:latin typeface="Cambria Math" panose="02040503050406030204" pitchFamily="18" charset="0"/>
                                  </a:rPr>
                                  <m:t>0.8574</m:t>
                                </m:r>
                              </m:e>
                              <m:e>
                                <m:r>
                                  <a:rPr lang="en-US" sz="1200" b="0" i="0">
                                    <a:latin typeface="Cambria Math" panose="02040503050406030204" pitchFamily="18" charset="0"/>
                                  </a:rPr>
                                  <m:t>−0.1443</m:t>
                                </m:r>
                              </m:e>
                            </m:mr>
                            <m:mr>
                              <m:e>
                                <m:r>
                                  <a:rPr lang="en-US" sz="1200" b="0" i="0">
                                    <a:latin typeface="Cambria Math" panose="02040503050406030204" pitchFamily="18" charset="0"/>
                                  </a:rPr>
                                  <m:t>−0.1320</m:t>
                                </m:r>
                              </m:e>
                              <m:e>
                                <m:r>
                                  <a:rPr lang="en-US" sz="1200" b="0" i="0">
                                    <a:latin typeface="Cambria Math" panose="02040503050406030204" pitchFamily="18" charset="0"/>
                                  </a:rPr>
                                  <m:t>−0.1972</m:t>
                                </m:r>
                              </m:e>
                              <m:e>
                                <m:r>
                                  <a:rPr lang="en-US" sz="1200" b="0" i="0">
                                    <a:latin typeface="Cambria Math" panose="02040503050406030204" pitchFamily="18" charset="0"/>
                                  </a:rPr>
                                  <m:t>−0.1352</m:t>
                                </m:r>
                              </m:e>
                              <m:e>
                                <m:r>
                                  <a:rPr lang="en-US" sz="1200" b="0" i="0">
                                    <a:latin typeface="Cambria Math" panose="02040503050406030204" pitchFamily="18" charset="0"/>
                                  </a:rPr>
                                  <m:t>−0.1918</m:t>
                                </m:r>
                              </m:e>
                              <m:e>
                                <m:r>
                                  <a:rPr lang="en-US" sz="1200" b="0" i="0">
                                    <a:latin typeface="Cambria Math" panose="02040503050406030204" pitchFamily="18" charset="0"/>
                                  </a:rPr>
                                  <m:t>−0.1356</m:t>
                                </m:r>
                              </m:e>
                              <m:e>
                                <m:r>
                                  <a:rPr lang="en-US" sz="1200" b="0" i="0">
                                    <a:latin typeface="Cambria Math" panose="02040503050406030204" pitchFamily="18" charset="0"/>
                                  </a:rPr>
                                  <m:t>0.8404</m:t>
                                </m:r>
                              </m:e>
                            </m:mr>
                          </m:m>
                        </m:e>
                      </m:d>
                      <m:r>
                        <a:rPr lang="en-US" sz="1200" b="0" i="0">
                          <a:latin typeface="Cambria Math" panose="02040503050406030204" pitchFamily="18" charset="0"/>
                        </a:rPr>
                        <m:t> </m:t>
                      </m:r>
                    </m:oMath>
                  </m:oMathPara>
                </a14:m>
                <a:endParaRPr lang="en-US" sz="1100" dirty="0"/>
              </a:p>
            </p:txBody>
          </p:sp>
        </mc:Choice>
        <mc:Fallback xmlns="">
          <p:sp>
            <p:nvSpPr>
              <p:cNvPr id="51" name="LF_e_mat"/>
              <p:cNvSpPr txBox="1">
                <a:spLocks noRot="1" noChangeAspect="1" noMove="1" noResize="1" noEditPoints="1" noAdjustHandles="1" noChangeArrowheads="1" noChangeShapeType="1" noTextEdit="1"/>
              </p:cNvSpPr>
              <p:nvPr/>
            </p:nvSpPr>
            <p:spPr>
              <a:xfrm>
                <a:off x="460000" y="448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LF_e_sc"/>
              <p:cNvSpPr txBox="1"/>
              <p:nvPr/>
            </p:nvSpPr>
            <p:spPr>
              <a:xfrm>
                <a:off x="5300000" y="463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867.2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10.62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LF_e_sc"/>
              <p:cNvSpPr txBox="1">
                <a:spLocks noRot="1" noChangeAspect="1" noMove="1" noResize="1" noEditPoints="1" noAdjustHandles="1" noChangeArrowheads="1" noChangeShapeType="1" noTextEdit="1"/>
              </p:cNvSpPr>
              <p:nvPr/>
            </p:nvSpPr>
            <p:spPr>
              <a:xfrm>
                <a:off x="5300000" y="4630000"/>
                <a:ext cx="3457787" cy="310896"/>
              </a:xfrm>
              <a:prstGeom prst="rect">
                <a:avLst/>
              </a:prstGeom>
              <a:blipFill>
                <a:blip r:embed="rId5"/>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LF_e_nmae"/>
              <p:cNvSpPr txBox="1"/>
              <p:nvPr/>
            </p:nvSpPr>
            <p:spPr>
              <a:xfrm>
                <a:off x="5235787" y="5155433"/>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53" name="LF_e_nmae"/>
              <p:cNvSpPr txBox="1">
                <a:spLocks noRot="1" noChangeAspect="1" noMove="1" noResize="1" noEditPoints="1" noAdjustHandles="1" noChangeArrowheads="1" noChangeShapeType="1" noTextEdit="1"/>
              </p:cNvSpPr>
              <p:nvPr/>
            </p:nvSpPr>
            <p:spPr>
              <a:xfrm>
                <a:off x="5235787" y="5155433"/>
                <a:ext cx="4191000" cy="549509"/>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LF_e_bias"/>
              <p:cNvSpPr txBox="1"/>
              <p:nvPr/>
            </p:nvSpPr>
            <p:spPr>
              <a:xfrm>
                <a:off x="0" y="5847727"/>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0.0136</m:t>
                                </m:r>
                              </m:e>
                              <m:e>
                                <m:r>
                                  <a:rPr lang="en-US" sz="1200" b="0" i="0">
                                    <a:latin typeface="Cambria Math" panose="02040503050406030204" pitchFamily="18" charset="0"/>
                                  </a:rPr>
                                  <m:t>0.0213</m:t>
                                </m:r>
                              </m:e>
                              <m:e>
                                <m:r>
                                  <a:rPr lang="en-US" sz="1200" b="0" i="0">
                                    <a:latin typeface="Cambria Math" panose="02040503050406030204" pitchFamily="18" charset="0"/>
                                  </a:rPr>
                                  <m:t>−0.1165</m:t>
                                </m:r>
                              </m:e>
                              <m:e>
                                <m:r>
                                  <a:rPr lang="en-US" sz="1200" b="0" i="0">
                                    <a:latin typeface="Cambria Math" panose="02040503050406030204" pitchFamily="18" charset="0"/>
                                  </a:rPr>
                                  <m:t>0.0005</m:t>
                                </m:r>
                              </m:e>
                              <m:e>
                                <m:r>
                                  <a:rPr lang="en-US" sz="1200" b="0" i="0">
                                    <a:latin typeface="Cambria Math" panose="02040503050406030204" pitchFamily="18" charset="0"/>
                                  </a:rPr>
                                  <m:t>−0.0002</m:t>
                                </m:r>
                              </m:e>
                              <m:e>
                                <m:r>
                                  <a:rPr lang="en-US" sz="1200" b="0" i="0">
                                    <a:latin typeface="Cambria Math" panose="02040503050406030204" pitchFamily="18" charset="0"/>
                                  </a:rPr>
                                  <m:t>−0.1175</m:t>
                                </m:r>
                              </m:e>
                            </m:mr>
                            <m:mr>
                              <m:e>
                                <m:r>
                                  <a:rPr lang="en-US" sz="1200" b="0" i="0">
                                    <a:latin typeface="Cambria Math" panose="02040503050406030204" pitchFamily="18" charset="0"/>
                                  </a:rPr>
                                  <m:t>−0.1142</m:t>
                                </m:r>
                              </m:e>
                              <m:e>
                                <m:r>
                                  <a:rPr lang="en-US" sz="1200" b="0" i="0">
                                    <a:latin typeface="Cambria Math" panose="02040503050406030204" pitchFamily="18" charset="0"/>
                                  </a:rPr>
                                  <m:t>0.0019</m:t>
                                </m:r>
                              </m:e>
                              <m:e>
                                <m:r>
                                  <a:rPr lang="en-US" sz="1200" b="0" i="0">
                                    <a:latin typeface="Cambria Math" panose="02040503050406030204" pitchFamily="18" charset="0"/>
                                  </a:rPr>
                                  <m:t>0.0199</m:t>
                                </m:r>
                              </m:e>
                              <m:e>
                                <m:r>
                                  <a:rPr lang="en-US" sz="1200" b="0" i="0">
                                    <a:latin typeface="Cambria Math" panose="02040503050406030204" pitchFamily="18" charset="0"/>
                                  </a:rPr>
                                  <m:t>0.0187</m:t>
                                </m:r>
                              </m:e>
                              <m:e>
                                <m:r>
                                  <a:rPr lang="en-US" sz="1200" b="0" i="0">
                                    <a:latin typeface="Cambria Math" panose="02040503050406030204" pitchFamily="18" charset="0"/>
                                  </a:rPr>
                                  <m:t>0.0002</m:t>
                                </m:r>
                              </m:e>
                              <m:e>
                                <m:r>
                                  <a:rPr lang="en-US" sz="1200" b="0" i="0">
                                    <a:latin typeface="Cambria Math" panose="02040503050406030204" pitchFamily="18" charset="0"/>
                                  </a:rPr>
                                  <m:t>−0.1162</m:t>
                                </m:r>
                              </m:e>
                            </m:mr>
                            <m:mr>
                              <m:e>
                                <m:r>
                                  <a:rPr lang="en-US" sz="1200" b="0" i="0">
                                    <a:latin typeface="Cambria Math" panose="02040503050406030204" pitchFamily="18" charset="0"/>
                                  </a:rPr>
                                  <m:t>0.1150</m:t>
                                </m:r>
                              </m:e>
                              <m:e>
                                <m:r>
                                  <a:rPr lang="en-US" sz="1200" b="0" i="0">
                                    <a:latin typeface="Cambria Math" panose="02040503050406030204" pitchFamily="18" charset="0"/>
                                  </a:rPr>
                                  <m:t>−0.0025</m:t>
                                </m:r>
                              </m:e>
                              <m:e>
                                <m:r>
                                  <a:rPr lang="en-US" sz="1200" b="0" i="0">
                                    <a:latin typeface="Cambria Math" panose="02040503050406030204" pitchFamily="18" charset="0"/>
                                  </a:rPr>
                                  <m:t>0.1157</m:t>
                                </m:r>
                              </m:e>
                              <m:e>
                                <m:r>
                                  <a:rPr lang="en-US" sz="1200" b="0" i="0">
                                    <a:latin typeface="Cambria Math" panose="02040503050406030204" pitchFamily="18" charset="0"/>
                                  </a:rPr>
                                  <m:t>−0.0012</m:t>
                                </m:r>
                              </m:e>
                              <m:e>
                                <m:r>
                                  <a:rPr lang="en-US" sz="1200" b="0" i="0">
                                    <a:latin typeface="Cambria Math" panose="02040503050406030204" pitchFamily="18" charset="0"/>
                                  </a:rPr>
                                  <m:t>−0.0112</m:t>
                                </m:r>
                              </m:e>
                              <m:e>
                                <m:r>
                                  <a:rPr lang="en-US" sz="1200" b="0" i="0">
                                    <a:latin typeface="Cambria Math" panose="02040503050406030204" pitchFamily="18" charset="0"/>
                                  </a:rPr>
                                  <m:t>−0.0178</m:t>
                                </m:r>
                              </m:e>
                            </m:mr>
                          </m:m>
                        </m:e>
                      </m:d>
                    </m:oMath>
                  </m:oMathPara>
                </a14:m>
                <a:endParaRPr lang="en-US" sz="1100" dirty="0"/>
              </a:p>
            </p:txBody>
          </p:sp>
        </mc:Choice>
        <mc:Fallback xmlns="">
          <p:sp>
            <p:nvSpPr>
              <p:cNvPr id="54" name="LF_e_bias"/>
              <p:cNvSpPr txBox="1">
                <a:spLocks noRot="1" noChangeAspect="1" noMove="1" noResize="1" noEditPoints="1" noAdjustHandles="1" noChangeArrowheads="1" noChangeShapeType="1" noTextEdit="1"/>
              </p:cNvSpPr>
              <p:nvPr/>
            </p:nvSpPr>
            <p:spPr>
              <a:xfrm>
                <a:off x="0" y="5847727"/>
                <a:ext cx="5235787" cy="566928"/>
              </a:xfrm>
              <a:prstGeom prst="rect">
                <a:avLst/>
              </a:prstGeom>
              <a:blipFill>
                <a:blip r:embed="rId7"/>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2052543"/>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parameter(7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32720" y="4251460"/>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parameters(7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1200329"/>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p>
              <a:p>
                <a:pPr marL="285750" indent="-285750">
                  <a:buFont typeface="Wingdings" panose="05000000000000000000" pitchFamily="2" charset="2"/>
                  <a:buChar char="Ø"/>
                </a:pPr>
                <a:r>
                  <a:rPr lang="en-US" altLang="zh-TW" dirty="0" err="1"/>
                  <a:t>Zhi</a:t>
                </a:r>
                <a:r>
                  <a:rPr lang="en-US" altLang="zh-TW" dirty="0"/>
                  <a:t> </a:t>
                </a:r>
                <a:r>
                  <a:rPr lang="en-US" altLang="zh-TW" dirty="0" err="1"/>
                  <a:t>peng</a:t>
                </a:r>
                <a:r>
                  <a:rPr lang="en-US" altLang="zh-TW" dirty="0"/>
                  <a:t> calibrate results</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1200329"/>
              </a:xfrm>
              <a:prstGeom prst="rect">
                <a:avLst/>
              </a:prstGeom>
              <a:blipFill>
                <a:blip r:embed="rId3"/>
                <a:stretch>
                  <a:fillRect l="-519" t="-1523" r="-519" b="-71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ZP_s_mat"/>
              <p:cNvSpPr txBox="1"/>
              <p:nvPr/>
            </p:nvSpPr>
            <p:spPr>
              <a:xfrm>
                <a:off x="460000" y="24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−0.0639</m:t>
                                </m:r>
                              </m:e>
                              <m:e>
                                <m:r>
                                  <a:rPr lang="en-US" sz="1200" b="0" i="0">
                                    <a:latin typeface="Cambria Math" panose="02040503050406030204" pitchFamily="18" charset="0"/>
                                  </a:rPr>
                                  <m:t>−0.2179</m:t>
                                </m:r>
                              </m:e>
                              <m:e>
                                <m:r>
                                  <a:rPr lang="en-US" sz="1200" b="0" i="0">
                                    <a:latin typeface="Cambria Math" panose="02040503050406030204" pitchFamily="18" charset="0"/>
                                  </a:rPr>
                                  <m:t>−0.1082</m:t>
                                </m:r>
                              </m:e>
                              <m:e>
                                <m:r>
                                  <a:rPr lang="en-US" sz="1200" b="0" i="0">
                                    <a:latin typeface="Cambria Math" panose="02040503050406030204" pitchFamily="18" charset="0"/>
                                  </a:rPr>
                                  <m:t>−0.1076</m:t>
                                </m:r>
                              </m:e>
                              <m:e>
                                <m:r>
                                  <a:rPr lang="en-US" sz="1200" b="0" i="0">
                                    <a:latin typeface="Cambria Math" panose="02040503050406030204" pitchFamily="18" charset="0"/>
                                  </a:rPr>
                                  <m:t>−0.2163</m:t>
                                </m:r>
                              </m:e>
                            </m:mr>
                            <m:mr>
                              <m:e>
                                <m:r>
                                  <a:rPr lang="en-US" sz="1200" b="0" i="0">
                                    <a:latin typeface="Cambria Math" panose="02040503050406030204" pitchFamily="18" charset="0"/>
                                  </a:rPr>
                                  <m:t>−0.0630</m:t>
                                </m:r>
                              </m:e>
                              <m:e>
                                <m:r>
                                  <a:rPr lang="en-US" sz="1200" b="0" i="0">
                                    <a:latin typeface="Cambria Math" panose="02040503050406030204" pitchFamily="18" charset="0"/>
                                  </a:rPr>
                                  <m:t>0.8255</m:t>
                                </m:r>
                              </m:e>
                              <m:e>
                                <m:r>
                                  <a:rPr lang="en-US" sz="1200" b="0" i="0">
                                    <a:latin typeface="Cambria Math" panose="02040503050406030204" pitchFamily="18" charset="0"/>
                                  </a:rPr>
                                  <m:t>−0.1093</m:t>
                                </m:r>
                              </m:e>
                              <m:e>
                                <m:r>
                                  <a:rPr lang="en-US" sz="1200" b="0" i="0">
                                    <a:latin typeface="Cambria Math" panose="02040503050406030204" pitchFamily="18" charset="0"/>
                                  </a:rPr>
                                  <m:t>−0.2206</m:t>
                                </m:r>
                              </m:e>
                              <m:e>
                                <m:r>
                                  <a:rPr lang="en-US" sz="1200" b="0" i="0">
                                    <a:latin typeface="Cambria Math" panose="02040503050406030204" pitchFamily="18" charset="0"/>
                                  </a:rPr>
                                  <m:t>−0.2202</m:t>
                                </m:r>
                              </m:e>
                              <m:e>
                                <m:r>
                                  <a:rPr lang="en-US" sz="1200" b="0" i="0">
                                    <a:latin typeface="Cambria Math" panose="02040503050406030204" pitchFamily="18" charset="0"/>
                                  </a:rPr>
                                  <m:t>−0.1077</m:t>
                                </m:r>
                              </m:e>
                            </m:mr>
                            <m:mr>
                              <m:e>
                                <m:r>
                                  <a:rPr lang="en-US" sz="1200" b="0" i="0">
                                    <a:latin typeface="Cambria Math" panose="02040503050406030204" pitchFamily="18" charset="0"/>
                                  </a:rPr>
                                  <m:t>−0.2480</m:t>
                                </m:r>
                              </m:e>
                              <m:e>
                                <m:r>
                                  <a:rPr lang="en-US" sz="1200" b="0" i="0">
                                    <a:latin typeface="Cambria Math" panose="02040503050406030204" pitchFamily="18" charset="0"/>
                                  </a:rPr>
                                  <m:t>−0.0996</m:t>
                                </m:r>
                              </m:e>
                              <m:e>
                                <m:r>
                                  <a:rPr lang="en-US" sz="1200" b="0" i="0">
                                    <a:latin typeface="Cambria Math" panose="02040503050406030204" pitchFamily="18" charset="0"/>
                                  </a:rPr>
                                  <m:t>0.7428</m:t>
                                </m:r>
                              </m:e>
                              <m:e>
                                <m:r>
                                  <a:rPr lang="en-US" sz="1200" b="0" i="0">
                                    <a:latin typeface="Cambria Math" panose="02040503050406030204" pitchFamily="18" charset="0"/>
                                  </a:rPr>
                                  <m:t>−0.0560</m:t>
                                </m:r>
                              </m:e>
                              <m:e>
                                <m:r>
                                  <a:rPr lang="en-US" sz="1200" b="0" i="0">
                                    <a:latin typeface="Cambria Math" panose="02040503050406030204" pitchFamily="18" charset="0"/>
                                  </a:rPr>
                                  <m:t>−0.0718</m:t>
                                </m:r>
                              </m:e>
                              <m:e>
                                <m:r>
                                  <a:rPr lang="en-US" sz="1200" b="0" i="0">
                                    <a:latin typeface="Cambria Math" panose="02040503050406030204" pitchFamily="18" charset="0"/>
                                  </a:rPr>
                                  <m:t>−0.2343</m:t>
                                </m:r>
                              </m:e>
                            </m:mr>
                            <m:mr>
                              <m:e>
                                <m:r>
                                  <a:rPr lang="en-US" sz="1200" b="0" i="0">
                                    <a:latin typeface="Cambria Math" panose="02040503050406030204" pitchFamily="18" charset="0"/>
                                  </a:rPr>
                                  <m:t>−0.0996</m:t>
                                </m:r>
                              </m:e>
                              <m:e>
                                <m:r>
                                  <a:rPr lang="en-US" sz="1200" b="0" i="0">
                                    <a:latin typeface="Cambria Math" panose="02040503050406030204" pitchFamily="18" charset="0"/>
                                  </a:rPr>
                                  <m:t>−0.2522</m:t>
                                </m:r>
                              </m:e>
                              <m:e>
                                <m:r>
                                  <a:rPr lang="en-US" sz="1200" b="0" i="0">
                                    <a:latin typeface="Cambria Math" panose="02040503050406030204" pitchFamily="18" charset="0"/>
                                  </a:rPr>
                                  <m:t>−0.0574</m:t>
                                </m:r>
                              </m:e>
                              <m:e>
                                <m:r>
                                  <a:rPr lang="en-US" sz="1200" b="0" i="0">
                                    <a:latin typeface="Cambria Math" panose="02040503050406030204" pitchFamily="18" charset="0"/>
                                  </a:rPr>
                                  <m:t>0.7368</m:t>
                                </m:r>
                              </m:e>
                              <m:e>
                                <m:r>
                                  <a:rPr lang="en-US" sz="1200" b="0" i="0">
                                    <a:latin typeface="Cambria Math" panose="02040503050406030204" pitchFamily="18" charset="0"/>
                                  </a:rPr>
                                  <m:t>−0.2383</m:t>
                                </m:r>
                              </m:e>
                              <m:e>
                                <m:r>
                                  <a:rPr lang="en-US" sz="1200" b="0" i="0">
                                    <a:latin typeface="Cambria Math" panose="02040503050406030204" pitchFamily="18" charset="0"/>
                                  </a:rPr>
                                  <m:t>−0.0727</m:t>
                                </m:r>
                              </m:e>
                            </m:mr>
                            <m:mr>
                              <m:e>
                                <m:r>
                                  <a:rPr lang="en-US" sz="1200" b="0" i="0">
                                    <a:latin typeface="Cambria Math" panose="02040503050406030204" pitchFamily="18" charset="0"/>
                                  </a:rPr>
                                  <m:t>−0.0995</m:t>
                                </m:r>
                              </m:e>
                              <m:e>
                                <m:r>
                                  <a:rPr lang="en-US" sz="1200" b="0" i="0">
                                    <a:latin typeface="Cambria Math" panose="02040503050406030204" pitchFamily="18" charset="0"/>
                                  </a:rPr>
                                  <m:t>−0.2522</m:t>
                                </m:r>
                              </m:e>
                              <m:e>
                                <m:r>
                                  <a:rPr lang="en-US" sz="1200" b="0" i="0">
                                    <a:latin typeface="Cambria Math" panose="02040503050406030204" pitchFamily="18" charset="0"/>
                                  </a:rPr>
                                  <m:t>−0.0735</m:t>
                                </m:r>
                              </m:e>
                              <m:e>
                                <m:r>
                                  <a:rPr lang="en-US" sz="1200" b="0" i="0">
                                    <a:latin typeface="Cambria Math" panose="02040503050406030204" pitchFamily="18" charset="0"/>
                                  </a:rPr>
                                  <m:t>−0.2386</m:t>
                                </m:r>
                              </m:e>
                              <m:e>
                                <m:r>
                                  <a:rPr lang="en-US" sz="1200" b="0" i="0">
                                    <a:latin typeface="Cambria Math" panose="02040503050406030204" pitchFamily="18" charset="0"/>
                                  </a:rPr>
                                  <m:t>0.7357</m:t>
                                </m:r>
                              </m:e>
                              <m:e>
                                <m:r>
                                  <a:rPr lang="en-US" sz="1200" b="0" i="0">
                                    <a:latin typeface="Cambria Math" panose="02040503050406030204" pitchFamily="18" charset="0"/>
                                  </a:rPr>
                                  <m:t>−0.0554</m:t>
                                </m:r>
                              </m:e>
                            </m:mr>
                            <m:mr>
                              <m:e>
                                <m:r>
                                  <a:rPr lang="en-US" sz="1200" b="0" i="0">
                                    <a:latin typeface="Cambria Math" panose="02040503050406030204" pitchFamily="18" charset="0"/>
                                  </a:rPr>
                                  <m:t>−0.2482</m:t>
                                </m:r>
                              </m:e>
                              <m:e>
                                <m:r>
                                  <a:rPr lang="en-US" sz="1200" b="0" i="0">
                                    <a:latin typeface="Cambria Math" panose="02040503050406030204" pitchFamily="18" charset="0"/>
                                  </a:rPr>
                                  <m:t>−0.0997</m:t>
                                </m:r>
                              </m:e>
                              <m:e>
                                <m:r>
                                  <a:rPr lang="en-US" sz="1200" b="0" i="0">
                                    <a:latin typeface="Cambria Math" panose="02040503050406030204" pitchFamily="18" charset="0"/>
                                  </a:rPr>
                                  <m:t>−0.2355</m:t>
                                </m:r>
                              </m:e>
                              <m:e>
                                <m:r>
                                  <a:rPr lang="en-US" sz="1200" b="0" i="0">
                                    <a:latin typeface="Cambria Math" panose="02040503050406030204" pitchFamily="18" charset="0"/>
                                  </a:rPr>
                                  <m:t>−0.0722</m:t>
                                </m:r>
                              </m:e>
                              <m:e>
                                <m:r>
                                  <a:rPr lang="en-US" sz="1200" b="0" i="0">
                                    <a:latin typeface="Cambria Math" panose="02040503050406030204" pitchFamily="18" charset="0"/>
                                  </a:rPr>
                                  <m:t>−0.0563</m:t>
                                </m:r>
                              </m:e>
                              <m:e>
                                <m:r>
                                  <a:rPr lang="en-US" sz="1200" b="0" i="0">
                                    <a:latin typeface="Cambria Math" panose="02040503050406030204" pitchFamily="18" charset="0"/>
                                  </a:rPr>
                                  <m:t>0.7449</m:t>
                                </m:r>
                              </m:e>
                            </m:mr>
                          </m:m>
                        </m:e>
                      </m:d>
                      <m:r>
                        <a:rPr lang="en-US" sz="1200" b="0" i="0">
                          <a:latin typeface="Cambria Math" panose="02040503050406030204" pitchFamily="18" charset="0"/>
                        </a:rPr>
                        <m:t> </m:t>
                      </m:r>
                    </m:oMath>
                  </m:oMathPara>
                </a14:m>
                <a:endParaRPr lang="en-US" sz="1100" dirty="0"/>
              </a:p>
            </p:txBody>
          </p:sp>
        </mc:Choice>
        <mc:Fallback xmlns="">
          <p:sp>
            <p:nvSpPr>
              <p:cNvPr id="48" name="ZP_s_mat"/>
              <p:cNvSpPr txBox="1">
                <a:spLocks noRot="1" noChangeAspect="1" noMove="1" noResize="1" noEditPoints="1" noAdjustHandles="1" noChangeArrowheads="1" noChangeShapeType="1" noTextEdit="1"/>
              </p:cNvSpPr>
              <p:nvPr/>
            </p:nvSpPr>
            <p:spPr>
              <a:xfrm>
                <a:off x="460000" y="2450000"/>
                <a:ext cx="4389119" cy="1115568"/>
              </a:xfrm>
              <a:prstGeom prst="rect">
                <a:avLst/>
              </a:prstGeom>
              <a:blipFill>
                <a:blip r:embed=""/>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ZP_s_sc"/>
              <p:cNvSpPr txBox="1"/>
              <p:nvPr/>
            </p:nvSpPr>
            <p:spPr>
              <a:xfrm>
                <a:off x="5300000" y="260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744.5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33.63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ZP_s_sc"/>
              <p:cNvSpPr txBox="1">
                <a:spLocks noRot="1" noChangeAspect="1" noMove="1" noResize="1" noEditPoints="1" noAdjustHandles="1" noChangeArrowheads="1" noChangeShapeType="1" noTextEdit="1"/>
              </p:cNvSpPr>
              <p:nvPr/>
            </p:nvSpPr>
            <p:spPr>
              <a:xfrm>
                <a:off x="5300000" y="2600000"/>
                <a:ext cx="3457787" cy="310896"/>
              </a:xfrm>
              <a:prstGeom prst="rect">
                <a:avLst/>
              </a:prstGeom>
              <a:blipFill>
                <a:blip r:embed="rId4"/>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ZP_s_nmae"/>
              <p:cNvSpPr txBox="1"/>
              <p:nvPr/>
            </p:nvSpPr>
            <p:spPr>
              <a:xfrm>
                <a:off x="5300000" y="305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50" name="ZP_s_nmae"/>
              <p:cNvSpPr txBox="1">
                <a:spLocks noRot="1" noChangeAspect="1" noMove="1" noResize="1" noEditPoints="1" noAdjustHandles="1" noChangeArrowheads="1" noChangeShapeType="1" noTextEdit="1"/>
              </p:cNvSpPr>
              <p:nvPr/>
            </p:nvSpPr>
            <p:spPr>
              <a:xfrm>
                <a:off x="5300000" y="3050000"/>
                <a:ext cx="4191000" cy="549509"/>
              </a:xfrm>
              <a:prstGeom prst="rect">
                <a:avLst/>
              </a:prstGeom>
              <a:blipFill>
                <a:blip r:embed=""/>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ZP_e_mat"/>
              <p:cNvSpPr txBox="1"/>
              <p:nvPr/>
            </p:nvSpPr>
            <p:spPr>
              <a:xfrm>
                <a:off x="460000" y="466000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−0.1078</m:t>
                                </m:r>
                              </m:e>
                              <m:e>
                                <m:r>
                                  <a:rPr lang="en-US" sz="1200" b="0" i="0">
                                    <a:latin typeface="Cambria Math" panose="02040503050406030204" pitchFamily="18" charset="0"/>
                                  </a:rPr>
                                  <m:t>−0.1162</m:t>
                                </m:r>
                              </m:e>
                              <m:e>
                                <m:r>
                                  <a:rPr lang="en-US" sz="1200" b="0" i="0">
                                    <a:latin typeface="Cambria Math" panose="02040503050406030204" pitchFamily="18" charset="0"/>
                                  </a:rPr>
                                  <m:t>−0.1870</m:t>
                                </m:r>
                              </m:e>
                              <m:e>
                                <m:r>
                                  <a:rPr lang="en-US" sz="1200" b="0" i="0">
                                    <a:latin typeface="Cambria Math" panose="02040503050406030204" pitchFamily="18" charset="0"/>
                                  </a:rPr>
                                  <m:t>−0.1870</m:t>
                                </m:r>
                              </m:e>
                              <m:e>
                                <m:r>
                                  <a:rPr lang="en-US" sz="1200" b="0" i="0">
                                    <a:latin typeface="Cambria Math" panose="02040503050406030204" pitchFamily="18" charset="0"/>
                                  </a:rPr>
                                  <m:t>−0.1162</m:t>
                                </m:r>
                              </m:e>
                            </m:mr>
                            <m:mr>
                              <m:e>
                                <m:r>
                                  <a:rPr lang="en-US" sz="1200" b="0" i="0">
                                    <a:latin typeface="Cambria Math" panose="02040503050406030204" pitchFamily="18" charset="0"/>
                                  </a:rPr>
                                  <m:t>−0.1107</m:t>
                                </m:r>
                              </m:e>
                              <m:e>
                                <m:r>
                                  <a:rPr lang="en-US" sz="1200" b="0" i="0">
                                    <a:latin typeface="Cambria Math" panose="02040503050406030204" pitchFamily="18" charset="0"/>
                                  </a:rPr>
                                  <m:t>0.8260</m:t>
                                </m:r>
                              </m:e>
                              <m:e>
                                <m:r>
                                  <a:rPr lang="en-US" sz="1200" b="0" i="0">
                                    <a:latin typeface="Cambria Math" panose="02040503050406030204" pitchFamily="18" charset="0"/>
                                  </a:rPr>
                                  <m:t>−0.1914</m:t>
                                </m:r>
                              </m:e>
                              <m:e>
                                <m:r>
                                  <a:rPr lang="en-US" sz="1200" b="0" i="0">
                                    <a:latin typeface="Cambria Math" panose="02040503050406030204" pitchFamily="18" charset="0"/>
                                  </a:rPr>
                                  <m:t>−0.1201</m:t>
                                </m:r>
                              </m:e>
                              <m:e>
                                <m:r>
                                  <a:rPr lang="en-US" sz="1200" b="0" i="0">
                                    <a:latin typeface="Cambria Math" panose="02040503050406030204" pitchFamily="18" charset="0"/>
                                  </a:rPr>
                                  <m:t>−0.1198</m:t>
                                </m:r>
                              </m:e>
                              <m:e>
                                <m:r>
                                  <a:rPr lang="en-US" sz="1200" b="0" i="0">
                                    <a:latin typeface="Cambria Math" panose="02040503050406030204" pitchFamily="18" charset="0"/>
                                  </a:rPr>
                                  <m:t>−0.1906</m:t>
                                </m:r>
                              </m:e>
                            </m:mr>
                            <m:mr>
                              <m:e>
                                <m:r>
                                  <a:rPr lang="en-US" sz="1200" b="0" i="0">
                                    <a:latin typeface="Cambria Math" panose="02040503050406030204" pitchFamily="18" charset="0"/>
                                  </a:rPr>
                                  <m:t>−0.1345</m:t>
                                </m:r>
                              </m:e>
                              <m:e>
                                <m:r>
                                  <a:rPr lang="en-US" sz="1200" b="0" i="0">
                                    <a:latin typeface="Cambria Math" panose="02040503050406030204" pitchFamily="18" charset="0"/>
                                  </a:rPr>
                                  <m:t>−0.1938</m:t>
                                </m:r>
                              </m:e>
                              <m:e>
                                <m:r>
                                  <a:rPr lang="en-US" sz="1200" b="0" i="0">
                                    <a:latin typeface="Cambria Math" panose="02040503050406030204" pitchFamily="18" charset="0"/>
                                  </a:rPr>
                                  <m:t>0.7481</m:t>
                                </m:r>
                              </m:e>
                              <m:e>
                                <m:r>
                                  <a:rPr lang="en-US" sz="1200" b="0" i="0">
                                    <a:latin typeface="Cambria Math" panose="02040503050406030204" pitchFamily="18" charset="0"/>
                                  </a:rPr>
                                  <m:t>−0.0935</m:t>
                                </m:r>
                              </m:e>
                              <m:e>
                                <m:r>
                                  <a:rPr lang="en-US" sz="1200" b="0" i="0">
                                    <a:latin typeface="Cambria Math" panose="02040503050406030204" pitchFamily="18" charset="0"/>
                                  </a:rPr>
                                  <m:t>−0.1572</m:t>
                                </m:r>
                              </m:e>
                              <m:e>
                                <m:r>
                                  <a:rPr lang="en-US" sz="1200" b="0" i="0">
                                    <a:latin typeface="Cambria Math" panose="02040503050406030204" pitchFamily="18" charset="0"/>
                                  </a:rPr>
                                  <m:t>−0.1313</m:t>
                                </m:r>
                              </m:e>
                            </m:mr>
                            <m:mr>
                              <m:e>
                                <m:r>
                                  <a:rPr lang="en-US" sz="1200" b="0" i="0">
                                    <a:latin typeface="Cambria Math" panose="02040503050406030204" pitchFamily="18" charset="0"/>
                                  </a:rPr>
                                  <m:t>−0.1972</m:t>
                                </m:r>
                              </m:e>
                              <m:e>
                                <m:r>
                                  <a:rPr lang="en-US" sz="1200" b="0" i="0">
                                    <a:latin typeface="Cambria Math" panose="02040503050406030204" pitchFamily="18" charset="0"/>
                                  </a:rPr>
                                  <m:t>−0.1383</m:t>
                                </m:r>
                              </m:e>
                              <m:e>
                                <m:r>
                                  <a:rPr lang="en-US" sz="1200" b="0" i="0">
                                    <a:latin typeface="Cambria Math" panose="02040503050406030204" pitchFamily="18" charset="0"/>
                                  </a:rPr>
                                  <m:t>−0.0970</m:t>
                                </m:r>
                              </m:e>
                              <m:e>
                                <m:r>
                                  <a:rPr lang="en-US" sz="1200" b="0" i="0">
                                    <a:latin typeface="Cambria Math" panose="02040503050406030204" pitchFamily="18" charset="0"/>
                                  </a:rPr>
                                  <m:t>0.7389</m:t>
                                </m:r>
                              </m:e>
                              <m:e>
                                <m:r>
                                  <a:rPr lang="en-US" sz="1200" b="0" i="0">
                                    <a:latin typeface="Cambria Math" panose="02040503050406030204" pitchFamily="18" charset="0"/>
                                  </a:rPr>
                                  <m:t>−0.1348</m:t>
                                </m:r>
                              </m:e>
                              <m:e>
                                <m:r>
                                  <a:rPr lang="en-US" sz="1200" b="0" i="0">
                                    <a:latin typeface="Cambria Math" panose="02040503050406030204" pitchFamily="18" charset="0"/>
                                  </a:rPr>
                                  <m:t>−0.1609</m:t>
                                </m:r>
                              </m:e>
                            </m:mr>
                            <m:mr>
                              <m:e>
                                <m:r>
                                  <a:rPr lang="en-US" sz="1200" b="0" i="0">
                                    <a:latin typeface="Cambria Math" panose="02040503050406030204" pitchFamily="18" charset="0"/>
                                  </a:rPr>
                                  <m:t>−0.1977</m:t>
                                </m:r>
                              </m:e>
                              <m:e>
                                <m:r>
                                  <a:rPr lang="en-US" sz="1200" b="0" i="0">
                                    <a:latin typeface="Cambria Math" panose="02040503050406030204" pitchFamily="18" charset="0"/>
                                  </a:rPr>
                                  <m:t>−0.1385</m:t>
                                </m:r>
                              </m:e>
                              <m:e>
                                <m:r>
                                  <a:rPr lang="en-US" sz="1200" b="0" i="0">
                                    <a:latin typeface="Cambria Math" panose="02040503050406030204" pitchFamily="18" charset="0"/>
                                  </a:rPr>
                                  <m:t>−0.1612</m:t>
                                </m:r>
                              </m:e>
                              <m:e>
                                <m:r>
                                  <a:rPr lang="en-US" sz="1200" b="0" i="0">
                                    <a:latin typeface="Cambria Math" panose="02040503050406030204" pitchFamily="18" charset="0"/>
                                  </a:rPr>
                                  <m:t>−0.1353</m:t>
                                </m:r>
                              </m:e>
                              <m:e>
                                <m:r>
                                  <a:rPr lang="en-US" sz="1200" b="0" i="0">
                                    <a:latin typeface="Cambria Math" panose="02040503050406030204" pitchFamily="18" charset="0"/>
                                  </a:rPr>
                                  <m:t>0.7403</m:t>
                                </m:r>
                              </m:e>
                              <m:e>
                                <m:r>
                                  <a:rPr lang="en-US" sz="1200" b="0" i="0">
                                    <a:latin typeface="Cambria Math" panose="02040503050406030204" pitchFamily="18" charset="0"/>
                                  </a:rPr>
                                  <m:t>−0.0971</m:t>
                                </m:r>
                              </m:e>
                            </m:mr>
                            <m:mr>
                              <m:e>
                                <m:r>
                                  <a:rPr lang="en-US" sz="1200" b="0" i="0">
                                    <a:latin typeface="Cambria Math" panose="02040503050406030204" pitchFamily="18" charset="0"/>
                                  </a:rPr>
                                  <m:t>−0.1345</m:t>
                                </m:r>
                              </m:e>
                              <m:e>
                                <m:r>
                                  <a:rPr lang="en-US" sz="1200" b="0" i="0">
                                    <a:latin typeface="Cambria Math" panose="02040503050406030204" pitchFamily="18" charset="0"/>
                                  </a:rPr>
                                  <m:t>−0.1936</m:t>
                                </m:r>
                              </m:e>
                              <m:e>
                                <m:r>
                                  <a:rPr lang="en-US" sz="1200" b="0" i="0">
                                    <a:latin typeface="Cambria Math" panose="02040503050406030204" pitchFamily="18" charset="0"/>
                                  </a:rPr>
                                  <m:t>−0.1308</m:t>
                                </m:r>
                              </m:e>
                              <m:e>
                                <m:r>
                                  <a:rPr lang="en-US" sz="1200" b="0" i="0">
                                    <a:latin typeface="Cambria Math" panose="02040503050406030204" pitchFamily="18" charset="0"/>
                                  </a:rPr>
                                  <m:t>−0.1569</m:t>
                                </m:r>
                              </m:e>
                              <m:e>
                                <m:r>
                                  <a:rPr lang="en-US" sz="1200" b="0" i="0">
                                    <a:latin typeface="Cambria Math" panose="02040503050406030204" pitchFamily="18" charset="0"/>
                                  </a:rPr>
                                  <m:t>−0.0931</m:t>
                                </m:r>
                              </m:e>
                              <m:e>
                                <m:r>
                                  <a:rPr lang="en-US" sz="1200" b="0" i="0">
                                    <a:latin typeface="Cambria Math" panose="02040503050406030204" pitchFamily="18" charset="0"/>
                                  </a:rPr>
                                  <m:t>0.7466</m:t>
                                </m:r>
                              </m:e>
                            </m:mr>
                          </m:m>
                        </m:e>
                      </m:d>
                      <m:r>
                        <a:rPr lang="en-US" sz="1200" b="0" i="0">
                          <a:latin typeface="Cambria Math" panose="02040503050406030204" pitchFamily="18" charset="0"/>
                        </a:rPr>
                        <m:t> </m:t>
                      </m:r>
                    </m:oMath>
                  </m:oMathPara>
                </a14:m>
                <a:endParaRPr lang="en-US" sz="1100" dirty="0"/>
              </a:p>
            </p:txBody>
          </p:sp>
        </mc:Choice>
        <mc:Fallback xmlns="">
          <p:sp>
            <p:nvSpPr>
              <p:cNvPr id="51" name="ZP_e_mat"/>
              <p:cNvSpPr txBox="1">
                <a:spLocks noRot="1" noChangeAspect="1" noMove="1" noResize="1" noEditPoints="1" noAdjustHandles="1" noChangeArrowheads="1" noChangeShapeType="1" noTextEdit="1"/>
              </p:cNvSpPr>
              <p:nvPr/>
            </p:nvSpPr>
            <p:spPr>
              <a:xfrm>
                <a:off x="460000" y="4660000"/>
                <a:ext cx="4524587" cy="1115568"/>
              </a:xfrm>
              <a:prstGeom prst="rect">
                <a:avLst/>
              </a:prstGeom>
              <a:blipFill>
                <a:blip r:embed=""/>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ZP_e_sc"/>
              <p:cNvSpPr txBox="1"/>
              <p:nvPr/>
            </p:nvSpPr>
            <p:spPr>
              <a:xfrm>
                <a:off x="5300000" y="48100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597.6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37.38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52" name="ZP_e_sc"/>
              <p:cNvSpPr txBox="1">
                <a:spLocks noRot="1" noChangeAspect="1" noMove="1" noResize="1" noEditPoints="1" noAdjustHandles="1" noChangeArrowheads="1" noChangeShapeType="1" noTextEdit="1"/>
              </p:cNvSpPr>
              <p:nvPr/>
            </p:nvSpPr>
            <p:spPr>
              <a:xfrm>
                <a:off x="5300000" y="4810000"/>
                <a:ext cx="3457787" cy="310896"/>
              </a:xfrm>
              <a:prstGeom prst="rect">
                <a:avLst/>
              </a:prstGeom>
              <a:blipFill>
                <a:blip r:embed="rId5"/>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ZP_e_nmae"/>
              <p:cNvSpPr txBox="1"/>
              <p:nvPr/>
            </p:nvSpPr>
            <p:spPr>
              <a:xfrm>
                <a:off x="5300000" y="526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53" name="ZP_e_nmae"/>
              <p:cNvSpPr txBox="1">
                <a:spLocks noRot="1" noChangeAspect="1" noMove="1" noResize="1" noEditPoints="1" noAdjustHandles="1" noChangeArrowheads="1" noChangeShapeType="1" noTextEdit="1"/>
              </p:cNvSpPr>
              <p:nvPr/>
            </p:nvSpPr>
            <p:spPr>
              <a:xfrm>
                <a:off x="5300000" y="5260000"/>
                <a:ext cx="4191000" cy="549509"/>
              </a:xfrm>
              <a:prstGeom prst="rect">
                <a:avLst/>
              </a:prstGeom>
              <a:blipFill>
                <a:blip r:embed=""/>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ZP_e_bias"/>
              <p:cNvSpPr txBox="1"/>
              <p:nvPr/>
            </p:nvSpPr>
            <p:spPr>
              <a:xfrm>
                <a:off x="-168970" y="5946040"/>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−0.0008</m:t>
                                </m:r>
                              </m:e>
                              <m:e>
                                <m:r>
                                  <a:rPr lang="en-US" sz="1200" b="0" i="0">
                                    <a:latin typeface="Cambria Math" panose="02040503050406030204" pitchFamily="18" charset="0"/>
                                  </a:rPr>
                                  <m:t>0.0013</m:t>
                                </m:r>
                              </m:e>
                              <m:e>
                                <m:r>
                                  <a:rPr lang="en-US" sz="1200" b="0" i="0">
                                    <a:latin typeface="Cambria Math" panose="02040503050406030204" pitchFamily="18" charset="0"/>
                                  </a:rPr>
                                  <m:t>−0.2149</m:t>
                                </m:r>
                              </m:e>
                              <m:e>
                                <m:r>
                                  <a:rPr lang="en-US" sz="1200" b="0" i="0">
                                    <a:latin typeface="Cambria Math" panose="02040503050406030204" pitchFamily="18" charset="0"/>
                                  </a:rPr>
                                  <m:t>0.2140</m:t>
                                </m:r>
                              </m:e>
                              <m:e>
                                <m:r>
                                  <a:rPr lang="en-US" sz="1200" b="0" i="0">
                                    <a:latin typeface="Cambria Math" panose="02040503050406030204" pitchFamily="18" charset="0"/>
                                  </a:rPr>
                                  <m:t>0.2148</m:t>
                                </m:r>
                              </m:e>
                              <m:e>
                                <m:r>
                                  <a:rPr lang="en-US" sz="1200" b="0" i="0">
                                    <a:latin typeface="Cambria Math" panose="02040503050406030204" pitchFamily="18" charset="0"/>
                                  </a:rPr>
                                  <m:t>−0.2140</m:t>
                                </m:r>
                              </m:e>
                            </m:mr>
                            <m:mr>
                              <m:e>
                                <m:r>
                                  <a:rPr lang="en-US" sz="1200" b="0" i="0">
                                    <a:latin typeface="Cambria Math" panose="02040503050406030204" pitchFamily="18" charset="0"/>
                                  </a:rPr>
                                  <m:t>−0.2137</m:t>
                                </m:r>
                              </m:e>
                              <m:e>
                                <m:r>
                                  <a:rPr lang="en-US" sz="1200" b="0" i="0">
                                    <a:latin typeface="Cambria Math" panose="02040503050406030204" pitchFamily="18" charset="0"/>
                                  </a:rPr>
                                  <m:t>0.2139</m:t>
                                </m:r>
                              </m:e>
                              <m:e>
                                <m:r>
                                  <a:rPr lang="en-US" sz="1200" b="0" i="0">
                                    <a:latin typeface="Cambria Math" panose="02040503050406030204" pitchFamily="18" charset="0"/>
                                  </a:rPr>
                                  <m:t>0.0011</m:t>
                                </m:r>
                              </m:e>
                              <m:e>
                                <m:r>
                                  <a:rPr lang="en-US" sz="1200" b="0" i="0">
                                    <a:latin typeface="Cambria Math" panose="02040503050406030204" pitchFamily="18" charset="0"/>
                                  </a:rPr>
                                  <m:t>0.0002</m:t>
                                </m:r>
                              </m:e>
                              <m:e>
                                <m:r>
                                  <a:rPr lang="en-US" sz="1200" b="0" i="0">
                                    <a:latin typeface="Cambria Math" panose="02040503050406030204" pitchFamily="18" charset="0"/>
                                  </a:rPr>
                                  <m:t>0.2156</m:t>
                                </m:r>
                              </m:e>
                              <m:e>
                                <m:r>
                                  <a:rPr lang="en-US" sz="1200" b="0" i="0">
                                    <a:latin typeface="Cambria Math" panose="02040503050406030204" pitchFamily="18" charset="0"/>
                                  </a:rPr>
                                  <m:t>−0.2138</m:t>
                                </m:r>
                              </m:e>
                            </m:mr>
                            <m:mr>
                              <m:e>
                                <m:r>
                                  <a:rPr lang="en-US" sz="1200" b="0" i="0">
                                    <a:latin typeface="Cambria Math" panose="02040503050406030204" pitchFamily="18" charset="0"/>
                                  </a:rPr>
                                  <m:t>0.2136</m:t>
                                </m:r>
                              </m:e>
                              <m:e>
                                <m:r>
                                  <a:rPr lang="en-US" sz="1200" b="0" i="0">
                                    <a:latin typeface="Cambria Math" panose="02040503050406030204" pitchFamily="18" charset="0"/>
                                  </a:rPr>
                                  <m:t>−0.2143</m:t>
                                </m:r>
                              </m:e>
                              <m:e>
                                <m:r>
                                  <a:rPr lang="en-US" sz="1200" b="0" i="0">
                                    <a:latin typeface="Cambria Math" panose="02040503050406030204" pitchFamily="18" charset="0"/>
                                  </a:rPr>
                                  <m:t>0.2143</m:t>
                                </m:r>
                              </m:e>
                              <m:e>
                                <m:r>
                                  <a:rPr lang="en-US" sz="1200" b="0" i="0">
                                    <a:latin typeface="Cambria Math" panose="02040503050406030204" pitchFamily="18" charset="0"/>
                                  </a:rPr>
                                  <m:t>−0.2150</m:t>
                                </m:r>
                              </m:e>
                              <m:e>
                                <m:r>
                                  <a:rPr lang="en-US" sz="1200" b="0" i="0">
                                    <a:latin typeface="Cambria Math" panose="02040503050406030204" pitchFamily="18" charset="0"/>
                                  </a:rPr>
                                  <m:t>0.0009</m:t>
                                </m:r>
                              </m:e>
                              <m:e>
                                <m:r>
                                  <a:rPr lang="en-US" sz="1200" b="0" i="0">
                                    <a:latin typeface="Cambria Math" panose="02040503050406030204" pitchFamily="18" charset="0"/>
                                  </a:rPr>
                                  <m:t>−0.0003</m:t>
                                </m:r>
                              </m:e>
                            </m:mr>
                          </m:m>
                        </m:e>
                      </m:d>
                    </m:oMath>
                  </m:oMathPara>
                </a14:m>
                <a:endParaRPr lang="en-US" sz="1100" dirty="0"/>
              </a:p>
            </p:txBody>
          </p:sp>
        </mc:Choice>
        <mc:Fallback xmlns="">
          <p:sp>
            <p:nvSpPr>
              <p:cNvPr id="54" name="ZP_e_bias"/>
              <p:cNvSpPr txBox="1">
                <a:spLocks noRot="1" noChangeAspect="1" noMove="1" noResize="1" noEditPoints="1" noAdjustHandles="1" noChangeArrowheads="1" noChangeShapeType="1" noTextEdit="1"/>
              </p:cNvSpPr>
              <p:nvPr/>
            </p:nvSpPr>
            <p:spPr>
              <a:xfrm>
                <a:off x="-168970" y="5946040"/>
                <a:ext cx="5235787" cy="566928"/>
              </a:xfrm>
              <a:prstGeom prst="rect">
                <a:avLst/>
              </a:prstGeom>
              <a:blipFill>
                <a:blip r:embed="rId6"/>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09825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1" y="1788420"/>
            <a:ext cx="5198534"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Long bias at measure</a:t>
            </a:r>
            <a:r>
              <a:rPr lang="zh-TW" altLang="en-US" dirty="0"/>
              <a:t> </a:t>
            </a:r>
            <a:r>
              <a:rPr lang="en-US" altLang="zh-TW" dirty="0"/>
              <a:t>coordinate system</a:t>
            </a:r>
            <a:r>
              <a:rPr lang="zh-TW" altLang="en-US" dirty="0"/>
              <a:t> </a:t>
            </a:r>
            <a:r>
              <a:rPr lang="en-US" altLang="zh-TW" dirty="0"/>
              <a:t> </a:t>
            </a:r>
            <a:endParaRPr lang="zh-TW" altLang="en-US" dirty="0"/>
          </a:p>
        </p:txBody>
      </p:sp>
      <p:sp>
        <p:nvSpPr>
          <p:cNvPr id="19" name="文字方塊 18">
            <a:extLst>
              <a:ext uri="{FF2B5EF4-FFF2-40B4-BE49-F238E27FC236}">
                <a16:creationId xmlns:a16="http://schemas.microsoft.com/office/drawing/2014/main" id="{EEDE3FB3-DE64-4C74-B428-E48320112A39}"/>
              </a:ext>
            </a:extLst>
          </p:cNvPr>
          <p:cNvSpPr txBox="1"/>
          <p:nvPr/>
        </p:nvSpPr>
        <p:spPr>
          <a:xfrm>
            <a:off x="0" y="3988976"/>
            <a:ext cx="6705602"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err="1"/>
              <a:t>Zhi</a:t>
            </a:r>
            <a:r>
              <a:rPr lang="en-US" altLang="zh-TW" dirty="0"/>
              <a:t> </a:t>
            </a:r>
            <a:r>
              <a:rPr lang="en-US" altLang="zh-TW" dirty="0" err="1"/>
              <a:t>peng</a:t>
            </a:r>
            <a:r>
              <a:rPr lang="en-US" altLang="zh-TW" dirty="0"/>
              <a:t> bias at</a:t>
            </a:r>
            <a:r>
              <a:rPr lang="zh-TW" altLang="en-US" dirty="0"/>
              <a:t> </a:t>
            </a:r>
            <a:r>
              <a:rPr lang="en-US" altLang="zh-TW" dirty="0"/>
              <a:t>measure</a:t>
            </a:r>
            <a:r>
              <a:rPr lang="zh-TW" altLang="en-US" dirty="0"/>
              <a:t> </a:t>
            </a:r>
            <a:r>
              <a:rPr lang="en-US" altLang="zh-TW" dirty="0"/>
              <a:t>coordinate system </a:t>
            </a:r>
            <a:endParaRPr lang="zh-TW" altLang="en-US" dirty="0"/>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1837E9FC-4D9E-4D23-B77F-EF450DF687F6}"/>
                  </a:ext>
                </a:extLst>
              </p:cNvPr>
              <p:cNvSpPr txBox="1"/>
              <p:nvPr/>
            </p:nvSpPr>
            <p:spPr>
              <a:xfrm>
                <a:off x="27458" y="899719"/>
                <a:ext cx="11688234" cy="946991"/>
              </a:xfrm>
              <a:prstGeom prst="rect">
                <a:avLst/>
              </a:prstGeom>
              <a:noFill/>
            </p:spPr>
            <p:txBody>
              <a:bodyPr wrap="square">
                <a:spAutoFit/>
              </a:bodyPr>
              <a:lstStyle/>
              <a:p>
                <a:pPr marL="285750" indent="-285750">
                  <a:buFont typeface="Wingdings" panose="05000000000000000000" pitchFamily="2" charset="2"/>
                  <a:buChar char="Ø"/>
                </a:pPr>
                <a:r>
                  <a:rPr lang="en-US" altLang="zh-TW" dirty="0"/>
                  <a:t>Transforming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𝑒</m:t>
                            </m:r>
                          </m:e>
                        </m:acc>
                      </m:e>
                      <m:sub>
                        <m:r>
                          <a:rPr lang="en-US" altLang="zh-TW" b="0" i="1" smtClean="0">
                            <a:latin typeface="Cambria Math" panose="02040503050406030204" pitchFamily="18" charset="0"/>
                          </a:rPr>
                          <m:t>𝑎</m:t>
                        </m:r>
                      </m:sub>
                    </m:sSub>
                  </m:oMath>
                </a14:m>
                <a:r>
                  <a:rPr lang="en-US" altLang="zh-TW" dirty="0"/>
                  <a:t>into the measurement coordinate system makes the primary direction of the magnetic charge displacement more apparent. It can be observed that the displacement of P1 occurs mainly in the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𝑧</m:t>
                        </m:r>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 </m:t>
                    </m:r>
                  </m:oMath>
                </a14:m>
                <a:r>
                  <a:rPr lang="en-US" altLang="zh-TW" dirty="0"/>
                  <a:t>plane, which is physically reasonable.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𝑒</m:t>
                            </m:r>
                          </m:e>
                        </m:acc>
                      </m:e>
                      <m:sub>
                        <m:r>
                          <a:rPr lang="en-US" altLang="zh-TW" b="0" i="1" smtClean="0">
                            <a:latin typeface="Cambria Math" panose="02040503050406030204" pitchFamily="18" charset="0"/>
                          </a:rPr>
                          <m:t>𝑚</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𝑅</m:t>
                        </m:r>
                      </m:e>
                      <m:sup>
                        <m:r>
                          <a:rPr lang="en-US" altLang="zh-TW" b="0" i="1" smtClean="0">
                            <a:latin typeface="Cambria Math" panose="02040503050406030204" pitchFamily="18" charset="0"/>
                          </a:rPr>
                          <m:t>𝑇</m:t>
                        </m:r>
                      </m:sup>
                    </m:sSup>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𝑒</m:t>
                            </m:r>
                          </m:e>
                        </m:acc>
                      </m:e>
                      <m:sub>
                        <m:r>
                          <a:rPr lang="en-US" altLang="zh-TW" i="1">
                            <a:latin typeface="Cambria Math" panose="02040503050406030204" pitchFamily="18" charset="0"/>
                          </a:rPr>
                          <m:t>𝑎</m:t>
                        </m:r>
                      </m:sub>
                    </m:sSub>
                  </m:oMath>
                </a14:m>
                <a:endParaRPr lang="zh-TW" altLang="en-US" dirty="0"/>
              </a:p>
            </p:txBody>
          </p:sp>
        </mc:Choice>
        <mc:Fallback xmlns="">
          <p:sp>
            <p:nvSpPr>
              <p:cNvPr id="20" name="文字方塊 19">
                <a:extLst>
                  <a:ext uri="{FF2B5EF4-FFF2-40B4-BE49-F238E27FC236}">
                    <a16:creationId xmlns:a16="http://schemas.microsoft.com/office/drawing/2014/main" id="{1837E9FC-4D9E-4D23-B77F-EF450DF687F6}"/>
                  </a:ext>
                </a:extLst>
              </p:cNvPr>
              <p:cNvSpPr txBox="1">
                <a:spLocks noRot="1" noChangeAspect="1" noMove="1" noResize="1" noEditPoints="1" noAdjustHandles="1" noChangeArrowheads="1" noChangeShapeType="1" noTextEdit="1"/>
              </p:cNvSpPr>
              <p:nvPr/>
            </p:nvSpPr>
            <p:spPr>
              <a:xfrm>
                <a:off x="27458" y="899719"/>
                <a:ext cx="11688234" cy="946991"/>
              </a:xfrm>
              <a:prstGeom prst="rect">
                <a:avLst/>
              </a:prstGeom>
              <a:blipFill>
                <a:blip r:embed="rId3"/>
                <a:stretch>
                  <a:fillRect l="-365" t="-3871" r="-469" b="-70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S7_R"/>
              <p:cNvSpPr txBox="1"/>
              <p:nvPr/>
            </p:nvSpPr>
            <p:spPr>
              <a:xfrm>
                <a:off x="7583839" y="2485462"/>
                <a:ext cx="2697480" cy="603504"/>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𝑅</m:t>
                      </m:r>
                      <m:r>
                        <a:rPr lang="en-US" sz="1600" b="0" i="0">
                          <a:latin typeface="Cambria Math" panose="02040503050406030204" pitchFamily="18" charset="0"/>
                        </a:rPr>
                        <m:t>= </m:t>
                      </m:r>
                      <m:d>
                        <m:dPr>
                          <m:begChr m:val="["/>
                          <m:endChr m:val="]"/>
                          <m:ctrlPr>
                            <a:rPr lang="en-US" sz="1600" b="0" i="1">
                              <a:latin typeface="Cambria Math" panose="02040503050406030204" pitchFamily="18" charset="0"/>
                            </a:rPr>
                          </m:ctrlPr>
                        </m:dPr>
                        <m:e>
                          <m:m>
                            <m:mPr>
                              <m:mcs>
                                <m:mc>
                                  <m:mcPr>
                                    <m:count m:val="3"/>
                                    <m:mcJc m:val="center"/>
                                  </m:mcPr>
                                </m:mc>
                              </m:mcs>
                              <m:ctrlPr>
                                <a:rPr lang="en-US" sz="1600" b="0" i="1">
                                  <a:latin typeface="Cambria Math" panose="02040503050406030204" pitchFamily="18" charset="0"/>
                                </a:rPr>
                              </m:ctrlPr>
                            </m:mPr>
                            <m:mr>
                              <m:e>
                                <m:r>
                                  <a:rPr lang="en-US" sz="1600" b="0" i="0">
                                    <a:latin typeface="Cambria Math" panose="02040503050406030204" pitchFamily="18" charset="0"/>
                                  </a:rPr>
                                  <m:t>0.8165</m:t>
                                </m:r>
                              </m:e>
                              <m:e>
                                <m:r>
                                  <a:rPr lang="en-US" sz="1600" b="0" i="0">
                                    <a:latin typeface="Cambria Math" panose="02040503050406030204" pitchFamily="18" charset="0"/>
                                  </a:rPr>
                                  <m:t>0</m:t>
                                </m:r>
                              </m:e>
                              <m:e>
                                <m:r>
                                  <a:rPr lang="en-US" sz="1600" b="0" i="0">
                                    <a:latin typeface="Cambria Math" panose="02040503050406030204" pitchFamily="18" charset="0"/>
                                  </a:rPr>
                                  <m:t>−0.5774</m:t>
                                </m:r>
                              </m:e>
                            </m:mr>
                            <m:mr>
                              <m:e>
                                <m:r>
                                  <a:rPr lang="en-US" sz="1600" b="0" i="0">
                                    <a:latin typeface="Cambria Math" panose="02040503050406030204" pitchFamily="18" charset="0"/>
                                  </a:rPr>
                                  <m:t>−0.4082</m:t>
                                </m:r>
                              </m:e>
                              <m:e>
                                <m:r>
                                  <a:rPr lang="en-US" sz="1600" b="0" i="0">
                                    <a:latin typeface="Cambria Math" panose="02040503050406030204" pitchFamily="18" charset="0"/>
                                  </a:rPr>
                                  <m:t>0.7071</m:t>
                                </m:r>
                              </m:e>
                              <m:e>
                                <m:r>
                                  <a:rPr lang="en-US" sz="1600" b="0" i="0">
                                    <a:latin typeface="Cambria Math" panose="02040503050406030204" pitchFamily="18" charset="0"/>
                                  </a:rPr>
                                  <m:t>−0.5774</m:t>
                                </m:r>
                              </m:e>
                            </m:mr>
                            <m:mr>
                              <m:e>
                                <m:r>
                                  <a:rPr lang="en-US" sz="1600" b="0" i="0">
                                    <a:latin typeface="Cambria Math" panose="02040503050406030204" pitchFamily="18" charset="0"/>
                                  </a:rPr>
                                  <m:t>0.4082</m:t>
                                </m:r>
                              </m:e>
                              <m:e>
                                <m:r>
                                  <a:rPr lang="en-US" sz="1600" b="0" i="0">
                                    <a:latin typeface="Cambria Math" panose="02040503050406030204" pitchFamily="18" charset="0"/>
                                  </a:rPr>
                                  <m:t>0.7071</m:t>
                                </m:r>
                              </m:e>
                              <m:e>
                                <m:r>
                                  <a:rPr lang="en-US" sz="1600" b="0" i="0">
                                    <a:latin typeface="Cambria Math" panose="02040503050406030204" pitchFamily="18" charset="0"/>
                                  </a:rPr>
                                  <m:t>0.5774</m:t>
                                </m:r>
                              </m:e>
                            </m:mr>
                          </m:m>
                        </m:e>
                      </m:d>
                    </m:oMath>
                  </m:oMathPara>
                </a14:m>
                <a:endParaRPr dirty="0"/>
              </a:p>
            </p:txBody>
          </p:sp>
        </mc:Choice>
        <mc:Fallback xmlns="">
          <p:sp>
            <p:nvSpPr>
              <p:cNvPr id="41" name="S7_R"/>
              <p:cNvSpPr txBox="1">
                <a:spLocks noRot="1" noChangeAspect="1" noMove="1" noResize="1" noEditPoints="1" noAdjustHandles="1" noChangeArrowheads="1" noChangeShapeType="1" noTextEdit="1"/>
              </p:cNvSpPr>
              <p:nvPr/>
            </p:nvSpPr>
            <p:spPr>
              <a:xfrm>
                <a:off x="7583839" y="2485462"/>
                <a:ext cx="2697480" cy="603504"/>
              </a:xfrm>
              <a:prstGeom prst="rect">
                <a:avLst/>
              </a:prstGeom>
              <a:blipFill>
                <a:blip r:embed="rId4"/>
                <a:stretch>
                  <a:fillRect l="-8804" r="-6321" b="-707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S7_LF_em"/>
              <p:cNvSpPr txBox="1"/>
              <p:nvPr/>
            </p:nvSpPr>
            <p:spPr>
              <a:xfrm>
                <a:off x="206587" y="2485462"/>
                <a:ext cx="6050280" cy="946991"/>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600" b="0" i="1">
                              <a:latin typeface="Cambria Math" panose="02040503050406030204" pitchFamily="18" charset="0"/>
                            </a:rPr>
                          </m:ctrlPr>
                        </m:sSubPr>
                        <m:e>
                          <m:acc>
                            <m:accPr>
                              <m:chr m:val="̂"/>
                              <m:ctrlPr>
                                <a:rPr lang="en-US" sz="1600" b="0" i="1">
                                  <a:latin typeface="Cambria Math" panose="02040503050406030204" pitchFamily="18" charset="0"/>
                                </a:rPr>
                              </m:ctrlPr>
                            </m:accPr>
                            <m:e>
                              <m:r>
                                <a:rPr lang="en-US" sz="1600" b="0" i="1">
                                  <a:latin typeface="Cambria Math" panose="02040503050406030204" pitchFamily="18" charset="0"/>
                                </a:rPr>
                                <m:t>𝑒</m:t>
                              </m:r>
                            </m:e>
                          </m:acc>
                        </m:e>
                        <m:sub>
                          <m:r>
                            <a:rPr lang="en-US" sz="1600" b="0" i="1">
                              <a:latin typeface="Cambria Math" panose="02040503050406030204" pitchFamily="18" charset="0"/>
                            </a:rPr>
                            <m:t>𝑚</m:t>
                          </m:r>
                        </m:sub>
                      </m:sSub>
                      <m:r>
                        <a:rPr lang="en-US" sz="1600" b="0" i="0">
                          <a:latin typeface="Cambria Math" panose="02040503050406030204" pitchFamily="18" charset="0"/>
                        </a:rPr>
                        <m:t>= </m:t>
                      </m:r>
                      <m:d>
                        <m:dPr>
                          <m:begChr m:val="["/>
                          <m:endChr m:val="]"/>
                          <m:ctrlPr>
                            <a:rPr lang="en-US" sz="1600" b="0" i="1">
                              <a:latin typeface="Cambria Math" panose="02040503050406030204" pitchFamily="18" charset="0"/>
                            </a:rPr>
                          </m:ctrlPr>
                        </m:dPr>
                        <m:e>
                          <m:m>
                            <m:mPr>
                              <m:mcs>
                                <m:mc>
                                  <m:mcPr>
                                    <m:count m:val="6"/>
                                    <m:mcJc m:val="center"/>
                                  </m:mcPr>
                                </m:mc>
                              </m:mcs>
                              <m:ctrlPr>
                                <a:rPr lang="en-US" sz="1600" b="0" i="1">
                                  <a:latin typeface="Cambria Math" panose="02040503050406030204" pitchFamily="18" charset="0"/>
                                </a:rPr>
                              </m:ctrlPr>
                            </m:mPr>
                            <m:mr>
                              <m:e>
                                <m:r>
                                  <a:rPr lang="en-US" sz="1600" b="0" i="0">
                                    <a:latin typeface="Cambria Math" panose="02040503050406030204" pitchFamily="18" charset="0"/>
                                  </a:rPr>
                                  <m:t>0.1047</m:t>
                                </m:r>
                              </m:e>
                              <m:e>
                                <m:r>
                                  <a:rPr lang="en-US" sz="1600" b="0" i="0">
                                    <a:latin typeface="Cambria Math" panose="02040503050406030204" pitchFamily="18" charset="0"/>
                                  </a:rPr>
                                  <m:t>0.0156</m:t>
                                </m:r>
                              </m:e>
                              <m:e>
                                <m:r>
                                  <a:rPr lang="en-US" sz="1600" b="0" i="0">
                                    <a:latin typeface="Cambria Math" panose="02040503050406030204" pitchFamily="18" charset="0"/>
                                  </a:rPr>
                                  <m:t>−0.0560</m:t>
                                </m:r>
                              </m:e>
                              <m:e>
                                <m:r>
                                  <a:rPr lang="en-US" sz="1600" b="0" i="0">
                                    <a:latin typeface="Cambria Math" panose="02040503050406030204" pitchFamily="18" charset="0"/>
                                  </a:rPr>
                                  <m:t>−0.0077</m:t>
                                </m:r>
                              </m:e>
                              <m:e>
                                <m:r>
                                  <a:rPr lang="en-US" sz="1600" b="0" i="0">
                                    <a:latin typeface="Cambria Math" panose="02040503050406030204" pitchFamily="18" charset="0"/>
                                  </a:rPr>
                                  <m:t>−0.0048</m:t>
                                </m:r>
                              </m:e>
                              <m:e>
                                <m:r>
                                  <a:rPr lang="en-US" sz="1600" b="0" i="0">
                                    <a:latin typeface="Cambria Math" panose="02040503050406030204" pitchFamily="18" charset="0"/>
                                  </a:rPr>
                                  <m:t>−0.0558</m:t>
                                </m:r>
                              </m:e>
                            </m:mr>
                            <m:mr>
                              <m:e>
                                <m:r>
                                  <a:rPr lang="en-US" sz="1600" b="0" i="0">
                                    <a:latin typeface="Cambria Math" panose="02040503050406030204" pitchFamily="18" charset="0"/>
                                  </a:rPr>
                                  <m:t>0.0005</m:t>
                                </m:r>
                              </m:e>
                              <m:e>
                                <m:r>
                                  <a:rPr lang="en-US" sz="1600" b="0" i="0">
                                    <a:latin typeface="Cambria Math" panose="02040503050406030204" pitchFamily="18" charset="0"/>
                                  </a:rPr>
                                  <m:t>−0.0005</m:t>
                                </m:r>
                              </m:e>
                              <m:e>
                                <m:r>
                                  <a:rPr lang="en-US" sz="1600" b="0" i="0">
                                    <a:latin typeface="Cambria Math" panose="02040503050406030204" pitchFamily="18" charset="0"/>
                                  </a:rPr>
                                  <m:t>0.0959</m:t>
                                </m:r>
                              </m:e>
                              <m:e>
                                <m:r>
                                  <a:rPr lang="en-US" sz="1600" b="0" i="0">
                                    <a:latin typeface="Cambria Math" panose="02040503050406030204" pitchFamily="18" charset="0"/>
                                  </a:rPr>
                                  <m:t>0.0124</m:t>
                                </m:r>
                              </m:e>
                              <m:e>
                                <m:r>
                                  <a:rPr lang="en-US" sz="1600" b="0" i="0">
                                    <a:latin typeface="Cambria Math" panose="02040503050406030204" pitchFamily="18" charset="0"/>
                                  </a:rPr>
                                  <m:t>−0.0078</m:t>
                                </m:r>
                              </m:e>
                              <m:e>
                                <m:r>
                                  <a:rPr lang="en-US" sz="1600" b="0" i="0">
                                    <a:latin typeface="Cambria Math" panose="02040503050406030204" pitchFamily="18" charset="0"/>
                                  </a:rPr>
                                  <m:t>−0.0947</m:t>
                                </m:r>
                              </m:e>
                            </m:mr>
                            <m:mr>
                              <m:e>
                                <m:r>
                                  <a:rPr lang="en-US" sz="1600" b="0" i="0">
                                    <a:latin typeface="Cambria Math" panose="02040503050406030204" pitchFamily="18" charset="0"/>
                                  </a:rPr>
                                  <m:t>0.1245</m:t>
                                </m:r>
                              </m:e>
                              <m:e>
                                <m:r>
                                  <a:rPr lang="en-US" sz="1600" b="0" i="0">
                                    <a:latin typeface="Cambria Math" panose="02040503050406030204" pitchFamily="18" charset="0"/>
                                  </a:rPr>
                                  <m:t>−0.0148</m:t>
                                </m:r>
                              </m:e>
                              <m:e>
                                <m:r>
                                  <a:rPr lang="en-US" sz="1600" b="0" i="0">
                                    <a:latin typeface="Cambria Math" panose="02040503050406030204" pitchFamily="18" charset="0"/>
                                  </a:rPr>
                                  <m:t>0.1226</m:t>
                                </m:r>
                              </m:e>
                              <m:e>
                                <m:r>
                                  <a:rPr lang="en-US" sz="1600" b="0" i="0">
                                    <a:latin typeface="Cambria Math" panose="02040503050406030204" pitchFamily="18" charset="0"/>
                                  </a:rPr>
                                  <m:t>−0.0118</m:t>
                                </m:r>
                              </m:e>
                              <m:e>
                                <m:r>
                                  <a:rPr lang="en-US" sz="1600" b="0" i="0">
                                    <a:latin typeface="Cambria Math" panose="02040503050406030204" pitchFamily="18" charset="0"/>
                                  </a:rPr>
                                  <m:t>−0.0065</m:t>
                                </m:r>
                              </m:e>
                              <m:e>
                                <m:r>
                                  <a:rPr lang="en-US" sz="1600" b="0" i="0">
                                    <a:latin typeface="Cambria Math" panose="02040503050406030204" pitchFamily="18" charset="0"/>
                                  </a:rPr>
                                  <m:t>0.1247</m:t>
                                </m:r>
                              </m:e>
                            </m:mr>
                          </m:m>
                        </m:e>
                      </m:d>
                    </m:oMath>
                  </m:oMathPara>
                </a14:m>
                <a:endParaRPr dirty="0"/>
              </a:p>
            </p:txBody>
          </p:sp>
        </mc:Choice>
        <mc:Fallback xmlns="">
          <p:sp>
            <p:nvSpPr>
              <p:cNvPr id="42" name="S7_LF_em"/>
              <p:cNvSpPr txBox="1">
                <a:spLocks noRot="1" noChangeAspect="1" noMove="1" noResize="1" noEditPoints="1" noAdjustHandles="1" noChangeArrowheads="1" noChangeShapeType="1" noTextEdit="1"/>
              </p:cNvSpPr>
              <p:nvPr/>
            </p:nvSpPr>
            <p:spPr>
              <a:xfrm>
                <a:off x="206587" y="2485462"/>
                <a:ext cx="6050280" cy="946991"/>
              </a:xfrm>
              <a:prstGeom prst="rect">
                <a:avLst/>
              </a:prstGeom>
              <a:blipFill>
                <a:blip r:embed="rId5"/>
                <a:stretch>
                  <a:fillRect l="-9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S7_ZP_em"/>
              <p:cNvSpPr txBox="1"/>
              <p:nvPr/>
            </p:nvSpPr>
            <p:spPr>
              <a:xfrm>
                <a:off x="358987" y="4781326"/>
                <a:ext cx="5212080" cy="603504"/>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𝑒</m:t>
                              </m:r>
                            </m:e>
                          </m:acc>
                        </m:e>
                        <m:sub>
                          <m:r>
                            <a:rPr lang="en-US" sz="1400" b="0" i="1">
                              <a:latin typeface="Cambria Math" panose="02040503050406030204" pitchFamily="18" charset="0"/>
                            </a:rPr>
                            <m:t>𝑚</m:t>
                          </m:r>
                        </m:sub>
                      </m:sSub>
                      <m:r>
                        <a:rPr lang="en-US" sz="1400" b="0" i="0">
                          <a:latin typeface="Cambria Math" panose="02040503050406030204" pitchFamily="18" charset="0"/>
                        </a:rPr>
                        <m:t>= </m:t>
                      </m:r>
                      <m:d>
                        <m:dPr>
                          <m:begChr m:val="["/>
                          <m:endChr m:val="]"/>
                          <m:ctrlPr>
                            <a:rPr lang="en-US" sz="1400" b="0" i="1">
                              <a:latin typeface="Cambria Math" panose="02040503050406030204" pitchFamily="18" charset="0"/>
                            </a:rPr>
                          </m:ctrlPr>
                        </m:dPr>
                        <m:e>
                          <m:m>
                            <m:mPr>
                              <m:mcs>
                                <m:mc>
                                  <m:mcPr>
                                    <m:count m:val="6"/>
                                    <m:mcJc m:val="center"/>
                                  </m:mcPr>
                                </m:mc>
                              </m:mcs>
                              <m:ctrlPr>
                                <a:rPr lang="en-US" sz="1400" b="0" i="1">
                                  <a:latin typeface="Cambria Math" panose="02040503050406030204" pitchFamily="18" charset="0"/>
                                </a:rPr>
                              </m:ctrlPr>
                            </m:mPr>
                            <m:mr>
                              <m:e>
                                <m:r>
                                  <a:rPr lang="en-US" sz="1400" b="0" i="0">
                                    <a:latin typeface="Cambria Math" panose="02040503050406030204" pitchFamily="18" charset="0"/>
                                  </a:rPr>
                                  <m:t>0.1738</m:t>
                                </m:r>
                              </m:e>
                              <m:e>
                                <m:r>
                                  <a:rPr lang="en-US" sz="1400" b="0" i="0">
                                    <a:latin typeface="Cambria Math" panose="02040503050406030204" pitchFamily="18" charset="0"/>
                                  </a:rPr>
                                  <m:t>−0.1738</m:t>
                                </m:r>
                              </m:e>
                              <m:e>
                                <m:r>
                                  <a:rPr lang="en-US" sz="1400" b="0" i="0">
                                    <a:latin typeface="Cambria Math" panose="02040503050406030204" pitchFamily="18" charset="0"/>
                                  </a:rPr>
                                  <m:t>−0.0884</m:t>
                                </m:r>
                              </m:e>
                              <m:e>
                                <m:r>
                                  <a:rPr lang="en-US" sz="1400" b="0" i="0">
                                    <a:latin typeface="Cambria Math" panose="02040503050406030204" pitchFamily="18" charset="0"/>
                                  </a:rPr>
                                  <m:t>0.0869</m:t>
                                </m:r>
                              </m:e>
                              <m:e>
                                <m:r>
                                  <a:rPr lang="en-US" sz="1400" b="0" i="0">
                                    <a:latin typeface="Cambria Math" panose="02040503050406030204" pitchFamily="18" charset="0"/>
                                  </a:rPr>
                                  <m:t>0.0877</m:t>
                                </m:r>
                              </m:e>
                              <m:e>
                                <m:r>
                                  <a:rPr lang="en-US" sz="1400" b="0" i="0">
                                    <a:latin typeface="Cambria Math" panose="02040503050406030204" pitchFamily="18" charset="0"/>
                                  </a:rPr>
                                  <m:t>−0.0875</m:t>
                                </m:r>
                              </m:e>
                            </m:mr>
                            <m:mr>
                              <m:e>
                                <m:r>
                                  <a:rPr lang="en-US" sz="1400" b="0" i="0">
                                    <a:latin typeface="Cambria Math" panose="02040503050406030204" pitchFamily="18" charset="0"/>
                                  </a:rPr>
                                  <m:t>−0.0001</m:t>
                                </m:r>
                              </m:e>
                              <m:e>
                                <m:r>
                                  <a:rPr lang="en-US" sz="1400" b="0" i="0">
                                    <a:latin typeface="Cambria Math" panose="02040503050406030204" pitchFamily="18" charset="0"/>
                                  </a:rPr>
                                  <m:t>−0.0003</m:t>
                                </m:r>
                              </m:e>
                              <m:e>
                                <m:r>
                                  <a:rPr lang="en-US" sz="1400" b="0" i="0">
                                    <a:latin typeface="Cambria Math" panose="02040503050406030204" pitchFamily="18" charset="0"/>
                                  </a:rPr>
                                  <m:t>0.1523</m:t>
                                </m:r>
                              </m:e>
                              <m:e>
                                <m:r>
                                  <a:rPr lang="en-US" sz="1400" b="0" i="0">
                                    <a:latin typeface="Cambria Math" panose="02040503050406030204" pitchFamily="18" charset="0"/>
                                  </a:rPr>
                                  <m:t>−0.1519</m:t>
                                </m:r>
                              </m:e>
                              <m:e>
                                <m:r>
                                  <a:rPr lang="en-US" sz="1400" b="0" i="0">
                                    <a:latin typeface="Cambria Math" panose="02040503050406030204" pitchFamily="18" charset="0"/>
                                  </a:rPr>
                                  <m:t>0.1530</m:t>
                                </m:r>
                              </m:e>
                              <m:e>
                                <m:r>
                                  <a:rPr lang="en-US" sz="1400" b="0" i="0">
                                    <a:latin typeface="Cambria Math" panose="02040503050406030204" pitchFamily="18" charset="0"/>
                                  </a:rPr>
                                  <m:t>−0.1514</m:t>
                                </m:r>
                              </m:e>
                            </m:mr>
                            <m:mr>
                              <m:e>
                                <m:r>
                                  <a:rPr lang="en-US" sz="1400" b="0" i="0">
                                    <a:latin typeface="Cambria Math" panose="02040503050406030204" pitchFamily="18" charset="0"/>
                                  </a:rPr>
                                  <m:t>0.2472</m:t>
                                </m:r>
                              </m:e>
                              <m:e>
                                <m:r>
                                  <a:rPr lang="en-US" sz="1400" b="0" i="0">
                                    <a:latin typeface="Cambria Math" panose="02040503050406030204" pitchFamily="18" charset="0"/>
                                  </a:rPr>
                                  <m:t>−0.2479</m:t>
                                </m:r>
                              </m:e>
                              <m:e>
                                <m:r>
                                  <a:rPr lang="en-US" sz="1400" b="0" i="0">
                                    <a:latin typeface="Cambria Math" panose="02040503050406030204" pitchFamily="18" charset="0"/>
                                  </a:rPr>
                                  <m:t>0.2472</m:t>
                                </m:r>
                              </m:e>
                              <m:e>
                                <m:r>
                                  <a:rPr lang="en-US" sz="1400" b="0" i="0">
                                    <a:latin typeface="Cambria Math" panose="02040503050406030204" pitchFamily="18" charset="0"/>
                                  </a:rPr>
                                  <m:t>−0.2477</m:t>
                                </m:r>
                              </m:e>
                              <m:e>
                                <m:r>
                                  <a:rPr lang="en-US" sz="1400" b="0" i="0">
                                    <a:latin typeface="Cambria Math" panose="02040503050406030204" pitchFamily="18" charset="0"/>
                                  </a:rPr>
                                  <m:t>−0.2479</m:t>
                                </m:r>
                              </m:e>
                              <m:e>
                                <m:r>
                                  <a:rPr lang="en-US" sz="1400" b="0" i="0">
                                    <a:latin typeface="Cambria Math" panose="02040503050406030204" pitchFamily="18" charset="0"/>
                                  </a:rPr>
                                  <m:t>0.2468</m:t>
                                </m:r>
                              </m:e>
                            </m:mr>
                          </m:m>
                        </m:e>
                      </m:d>
                    </m:oMath>
                  </m:oMathPara>
                </a14:m>
                <a:endParaRPr dirty="0"/>
              </a:p>
            </p:txBody>
          </p:sp>
        </mc:Choice>
        <mc:Fallback xmlns="">
          <p:sp>
            <p:nvSpPr>
              <p:cNvPr id="43" name="S7_ZP_em"/>
              <p:cNvSpPr txBox="1">
                <a:spLocks noRot="1" noChangeAspect="1" noMove="1" noResize="1" noEditPoints="1" noAdjustHandles="1" noChangeArrowheads="1" noChangeShapeType="1" noTextEdit="1"/>
              </p:cNvSpPr>
              <p:nvPr/>
            </p:nvSpPr>
            <p:spPr>
              <a:xfrm>
                <a:off x="358987" y="4781326"/>
                <a:ext cx="5212080" cy="603504"/>
              </a:xfrm>
              <a:prstGeom prst="rect">
                <a:avLst/>
              </a:prstGeom>
              <a:blipFill>
                <a:blip r:embed="rId6"/>
                <a:stretch>
                  <a:fillRect l="-2924" r="-198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2145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9E37473-7A2F-4A05-A742-3A32544C9789}"/>
                  </a:ext>
                </a:extLst>
              </p:cNvPr>
              <p:cNvSpPr txBox="1"/>
              <p:nvPr/>
            </p:nvSpPr>
            <p:spPr>
              <a:xfrm>
                <a:off x="0" y="574720"/>
                <a:ext cx="11722945" cy="1782667"/>
              </a:xfrm>
              <a:prstGeom prst="rect">
                <a:avLst/>
              </a:prstGeom>
              <a:noFill/>
            </p:spPr>
            <p:txBody>
              <a:bodyPr wrap="square">
                <a:spAutoFit/>
              </a:bodyPr>
              <a:lstStyle/>
              <a:p>
                <a:pPr marL="285750" indent="-285750">
                  <a:buFont typeface="Wingdings" panose="05000000000000000000" pitchFamily="2" charset="2"/>
                  <a:buChar char="l"/>
                </a:pPr>
                <a:r>
                  <a:rPr lang="en-US" altLang="zh-TW" dirty="0"/>
                  <a:t>This figure shows the trends of the calibration results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for </a:t>
                </a:r>
                <a:r>
                  <a:rPr lang="en-US" altLang="zh-TW" b="1" dirty="0"/>
                  <a:t>Long-Fei and </a:t>
                </a:r>
                <a:r>
                  <a:rPr lang="en-US" altLang="zh-TW" b="1" dirty="0" err="1"/>
                  <a:t>Zhi</a:t>
                </a:r>
                <a:r>
                  <a:rPr lang="en-US" altLang="zh-TW" b="1" dirty="0"/>
                  <a:t>-Peng</a:t>
                </a:r>
                <a:r>
                  <a:rPr lang="en-US" altLang="zh-TW" dirty="0"/>
                  <a:t>, using the </a:t>
                </a:r>
                <a:r>
                  <a:rPr lang="en-US" altLang="zh-TW" b="1" dirty="0"/>
                  <a:t>minimum number of points required for each working range</a:t>
                </a:r>
                <a:r>
                  <a:rPr lang="en-US" altLang="zh-TW" dirty="0"/>
                  <a:t>.</a:t>
                </a:r>
              </a:p>
              <a:p>
                <a:pPr marL="285750" indent="-285750">
                  <a:buFont typeface="Wingdings" panose="05000000000000000000" pitchFamily="2" charset="2"/>
                  <a:buChar char="l"/>
                </a:pPr>
                <a:r>
                  <a:rPr lang="en-US" altLang="zh-TW" dirty="0"/>
                  <a:t>If no convergence point can be found within a given range for either the </a:t>
                </a:r>
                <a:r>
                  <a:rPr lang="en-US" altLang="zh-TW" b="1" dirty="0"/>
                  <a:t>single-parameter model</a:t>
                </a:r>
                <a:r>
                  <a:rPr lang="en-US" altLang="zh-TW" dirty="0"/>
                  <a:t> or the </a:t>
                </a:r>
                <a:r>
                  <a:rPr lang="en-US" altLang="zh-TW" b="1" dirty="0"/>
                  <a:t>eighteen-parameter model</a:t>
                </a:r>
                <a:r>
                  <a:rPr lang="en-US" altLang="zh-TW" dirty="0"/>
                  <a:t>, all nodes within that range are used for calibration instead. </a:t>
                </a:r>
                <a:r>
                  <a:rPr lang="en-US" altLang="zh-TW" b="1" dirty="0"/>
                  <a:t>This is used only to illustrate the trend, and the values within that range are not used as a basis for calibration.</a:t>
                </a:r>
              </a:p>
              <a:p>
                <a:endParaRPr lang="en-US" altLang="zh-TW" b="1" dirty="0"/>
              </a:p>
            </p:txBody>
          </p:sp>
        </mc:Choice>
        <mc:Fallback xmlns="">
          <p:sp>
            <p:nvSpPr>
              <p:cNvPr id="24" name="文字方塊 23">
                <a:extLst>
                  <a:ext uri="{FF2B5EF4-FFF2-40B4-BE49-F238E27FC236}">
                    <a16:creationId xmlns:a16="http://schemas.microsoft.com/office/drawing/2014/main" id="{B9E37473-7A2F-4A05-A742-3A32544C9789}"/>
                  </a:ext>
                </a:extLst>
              </p:cNvPr>
              <p:cNvSpPr txBox="1">
                <a:spLocks noRot="1" noChangeAspect="1" noMove="1" noResize="1" noEditPoints="1" noAdjustHandles="1" noChangeArrowheads="1" noChangeShapeType="1" noTextEdit="1"/>
              </p:cNvSpPr>
              <p:nvPr/>
            </p:nvSpPr>
            <p:spPr>
              <a:xfrm>
                <a:off x="0" y="574720"/>
                <a:ext cx="11722945" cy="1782667"/>
              </a:xfrm>
              <a:prstGeom prst="rect">
                <a:avLst/>
              </a:prstGeom>
              <a:blipFill>
                <a:blip r:embed="rId7"/>
                <a:stretch>
                  <a:fillRect l="-312" t="-341"/>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A1506DC-3DFA-49FB-A652-CF9232BDCE5B}"/>
              </a:ext>
            </a:extLst>
          </p:cNvPr>
          <p:cNvSpPr txBox="1"/>
          <p:nvPr/>
        </p:nvSpPr>
        <p:spPr>
          <a:xfrm>
            <a:off x="98082" y="2006086"/>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grpSp>
        <p:nvGrpSpPr>
          <p:cNvPr id="72" name="群組 71">
            <a:extLst>
              <a:ext uri="{FF2B5EF4-FFF2-40B4-BE49-F238E27FC236}">
                <a16:creationId xmlns:a16="http://schemas.microsoft.com/office/drawing/2014/main" id="{A616E8D2-104D-4DC5-A1FC-A582D66174B3}"/>
              </a:ext>
            </a:extLst>
          </p:cNvPr>
          <p:cNvGrpSpPr/>
          <p:nvPr/>
        </p:nvGrpSpPr>
        <p:grpSpPr>
          <a:xfrm>
            <a:off x="1263005" y="2754259"/>
            <a:ext cx="3924518" cy="3857308"/>
            <a:chOff x="988925" y="2846379"/>
            <a:chExt cx="3924518" cy="3857308"/>
          </a:xfrm>
        </p:grpSpPr>
        <mc:AlternateContent xmlns:mc="http://schemas.openxmlformats.org/markup-compatibility/2006" xmlns:a14="http://schemas.microsoft.com/office/drawing/2010/main">
          <mc:Choice Requires="a14">
            <p:sp>
              <p:nvSpPr>
                <p:cNvPr id="61" name="文字方塊 60">
                  <a:extLst>
                    <a:ext uri="{FF2B5EF4-FFF2-40B4-BE49-F238E27FC236}">
                      <a16:creationId xmlns:a16="http://schemas.microsoft.com/office/drawing/2014/main" id="{8CE5AC7E-1A86-4128-A4B1-358B36526D78}"/>
                    </a:ext>
                  </a:extLst>
                </p:cNvPr>
                <p:cNvSpPr txBox="1"/>
                <p:nvPr/>
              </p:nvSpPr>
              <p:spPr>
                <a:xfrm rot="16200000">
                  <a:off x="738215" y="3834505"/>
                  <a:ext cx="792653"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oMath>
                    </m:oMathPara>
                  </a14:m>
                  <a:endParaRPr lang="zh-TW" altLang="en-US" dirty="0"/>
                </a:p>
              </p:txBody>
            </p:sp>
          </mc:Choice>
          <mc:Fallback xmlns="">
            <p:sp>
              <p:nvSpPr>
                <p:cNvPr id="61" name="文字方塊 60">
                  <a:extLst>
                    <a:ext uri="{FF2B5EF4-FFF2-40B4-BE49-F238E27FC236}">
                      <a16:creationId xmlns:a16="http://schemas.microsoft.com/office/drawing/2014/main" id="{8CE5AC7E-1A86-4128-A4B1-358B36526D78}"/>
                    </a:ext>
                  </a:extLst>
                </p:cNvPr>
                <p:cNvSpPr txBox="1">
                  <a:spLocks noRot="1" noChangeAspect="1" noMove="1" noResize="1" noEditPoints="1" noAdjustHandles="1" noChangeArrowheads="1" noChangeShapeType="1" noTextEdit="1"/>
                </p:cNvSpPr>
                <p:nvPr/>
              </p:nvSpPr>
              <p:spPr>
                <a:xfrm rot="16200000">
                  <a:off x="738215" y="3834505"/>
                  <a:ext cx="792653" cy="291234"/>
                </a:xfrm>
                <a:prstGeom prst="rect">
                  <a:avLst/>
                </a:prstGeom>
                <a:blipFill>
                  <a:blip r:embed="rId8"/>
                  <a:stretch>
                    <a:fillRect l="-16667" t="-3846" r="-33333" b="-6923"/>
                  </a:stretch>
                </a:blipFill>
              </p:spPr>
              <p:txBody>
                <a:bodyPr/>
                <a:lstStyle/>
                <a:p>
                  <a:r>
                    <a:rPr lang="zh-TW" altLang="en-US">
                      <a:noFill/>
                    </a:rPr>
                    <a:t> </a:t>
                  </a:r>
                </a:p>
              </p:txBody>
            </p:sp>
          </mc:Fallback>
        </mc:AlternateContent>
        <p:grpSp>
          <p:nvGrpSpPr>
            <p:cNvPr id="66" name="群組 65">
              <a:extLst>
                <a:ext uri="{FF2B5EF4-FFF2-40B4-BE49-F238E27FC236}">
                  <a16:creationId xmlns:a16="http://schemas.microsoft.com/office/drawing/2014/main" id="{F422CFAD-7B39-4BC3-9144-EEEE1FD8F31B}"/>
                </a:ext>
              </a:extLst>
            </p:cNvPr>
            <p:cNvGrpSpPr/>
            <p:nvPr/>
          </p:nvGrpSpPr>
          <p:grpSpPr>
            <a:xfrm>
              <a:off x="1210735" y="2846379"/>
              <a:ext cx="3702708" cy="3580309"/>
              <a:chOff x="1210735" y="2846379"/>
              <a:chExt cx="3702708" cy="3580309"/>
            </a:xfrm>
          </p:grpSpPr>
          <p:pic>
            <p:nvPicPr>
              <p:cNvPr id="62" name="圖片 61">
                <a:extLst>
                  <a:ext uri="{FF2B5EF4-FFF2-40B4-BE49-F238E27FC236}">
                    <a16:creationId xmlns:a16="http://schemas.microsoft.com/office/drawing/2014/main" id="{12923391-0743-468B-A9AB-C72095A85AD0}"/>
                  </a:ext>
                </a:extLst>
              </p:cNvPr>
              <p:cNvPicPr>
                <a:picLocks noChangeAspect="1"/>
              </p:cNvPicPr>
              <p:nvPr/>
            </p:nvPicPr>
            <p:blipFill rotWithShape="1">
              <a:blip r:embed="rId9">
                <a:extLst>
                  <a:ext uri="{28A0092B-C50C-407E-A947-70E740481C1C}">
                    <a14:useLocalDpi xmlns:a14="http://schemas.microsoft.com/office/drawing/2010/main" val="0"/>
                  </a:ext>
                </a:extLst>
              </a:blip>
              <a:srcRect l="4924" b="5250"/>
              <a:stretch/>
            </p:blipFill>
            <p:spPr>
              <a:xfrm>
                <a:off x="1320800" y="2846379"/>
                <a:ext cx="3592643" cy="3580309"/>
              </a:xfrm>
              <a:prstGeom prst="rect">
                <a:avLst/>
              </a:prstGeom>
            </p:spPr>
          </p:pic>
          <p:sp>
            <p:nvSpPr>
              <p:cNvPr id="65" name="矩形 64">
                <a:extLst>
                  <a:ext uri="{FF2B5EF4-FFF2-40B4-BE49-F238E27FC236}">
                    <a16:creationId xmlns:a16="http://schemas.microsoft.com/office/drawing/2014/main" id="{CFCA610F-9429-44C9-95FD-A5D0161DEAC1}"/>
                  </a:ext>
                </a:extLst>
              </p:cNvPr>
              <p:cNvSpPr/>
              <p:nvPr/>
            </p:nvSpPr>
            <p:spPr>
              <a:xfrm>
                <a:off x="1210735" y="5113866"/>
                <a:ext cx="220130" cy="744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2D4DA164-011D-4971-B37C-AD2354B173E6}"/>
                    </a:ext>
                  </a:extLst>
                </p:cNvPr>
                <p:cNvSpPr txBox="1"/>
                <p:nvPr/>
              </p:nvSpPr>
              <p:spPr>
                <a:xfrm>
                  <a:off x="2195597" y="6426688"/>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68" name="文字方塊 67">
                  <a:extLst>
                    <a:ext uri="{FF2B5EF4-FFF2-40B4-BE49-F238E27FC236}">
                      <a16:creationId xmlns:a16="http://schemas.microsoft.com/office/drawing/2014/main" id="{2D4DA164-011D-4971-B37C-AD2354B173E6}"/>
                    </a:ext>
                  </a:extLst>
                </p:cNvPr>
                <p:cNvSpPr txBox="1">
                  <a:spLocks noRot="1" noChangeAspect="1" noMove="1" noResize="1" noEditPoints="1" noAdjustHandles="1" noChangeArrowheads="1" noChangeShapeType="1" noTextEdit="1"/>
                </p:cNvSpPr>
                <p:nvPr/>
              </p:nvSpPr>
              <p:spPr>
                <a:xfrm>
                  <a:off x="2195597" y="6426688"/>
                  <a:ext cx="2216889" cy="276999"/>
                </a:xfrm>
                <a:prstGeom prst="rect">
                  <a:avLst/>
                </a:prstGeom>
                <a:blipFill>
                  <a:blip r:embed="rId10"/>
                  <a:stretch>
                    <a:fillRect l="-6319" t="-30435" r="-4121" b="-478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C3B1AE02-BED3-4104-BAED-EBF82B71B38A}"/>
                    </a:ext>
                  </a:extLst>
                </p:cNvPr>
                <p:cNvSpPr txBox="1"/>
                <p:nvPr/>
              </p:nvSpPr>
              <p:spPr>
                <a:xfrm rot="16200000">
                  <a:off x="621680" y="5354554"/>
                  <a:ext cx="1288173"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m:oMathPara>
                  </a14:m>
                  <a:endParaRPr lang="zh-TW" altLang="en-US" dirty="0"/>
                </a:p>
              </p:txBody>
            </p:sp>
          </mc:Choice>
          <mc:Fallback xmlns="">
            <p:sp>
              <p:nvSpPr>
                <p:cNvPr id="69" name="文字方塊 68">
                  <a:extLst>
                    <a:ext uri="{FF2B5EF4-FFF2-40B4-BE49-F238E27FC236}">
                      <a16:creationId xmlns:a16="http://schemas.microsoft.com/office/drawing/2014/main" id="{C3B1AE02-BED3-4104-BAED-EBF82B71B38A}"/>
                    </a:ext>
                  </a:extLst>
                </p:cNvPr>
                <p:cNvSpPr txBox="1">
                  <a:spLocks noRot="1" noChangeAspect="1" noMove="1" noResize="1" noEditPoints="1" noAdjustHandles="1" noChangeArrowheads="1" noChangeShapeType="1" noTextEdit="1"/>
                </p:cNvSpPr>
                <p:nvPr/>
              </p:nvSpPr>
              <p:spPr>
                <a:xfrm rot="16200000">
                  <a:off x="621680" y="5354554"/>
                  <a:ext cx="1288173" cy="305340"/>
                </a:xfrm>
                <a:prstGeom prst="rect">
                  <a:avLst/>
                </a:prstGeom>
                <a:blipFill>
                  <a:blip r:embed="rId11"/>
                  <a:stretch>
                    <a:fillRect l="-150000" t="-36493" r="-228000"/>
                  </a:stretch>
                </a:blipFill>
              </p:spPr>
              <p:txBody>
                <a:bodyPr/>
                <a:lstStyle/>
                <a:p>
                  <a:r>
                    <a:rPr lang="zh-TW" altLang="en-US">
                      <a:noFill/>
                    </a:rPr>
                    <a:t> </a:t>
                  </a:r>
                </a:p>
              </p:txBody>
            </p:sp>
          </mc:Fallback>
        </mc:AlternateContent>
      </p:grpSp>
      <p:grpSp>
        <p:nvGrpSpPr>
          <p:cNvPr id="73" name="群組 72">
            <a:extLst>
              <a:ext uri="{FF2B5EF4-FFF2-40B4-BE49-F238E27FC236}">
                <a16:creationId xmlns:a16="http://schemas.microsoft.com/office/drawing/2014/main" id="{4D61658B-D3B1-4CB4-A60D-A52B9336742A}"/>
              </a:ext>
            </a:extLst>
          </p:cNvPr>
          <p:cNvGrpSpPr/>
          <p:nvPr/>
        </p:nvGrpSpPr>
        <p:grpSpPr>
          <a:xfrm>
            <a:off x="6703325" y="2754259"/>
            <a:ext cx="3893795" cy="3731321"/>
            <a:chOff x="6418605" y="2846379"/>
            <a:chExt cx="3893795" cy="3731321"/>
          </a:xfrm>
        </p:grpSpPr>
        <p:grpSp>
          <p:nvGrpSpPr>
            <p:cNvPr id="67" name="群組 66">
              <a:extLst>
                <a:ext uri="{FF2B5EF4-FFF2-40B4-BE49-F238E27FC236}">
                  <a16:creationId xmlns:a16="http://schemas.microsoft.com/office/drawing/2014/main" id="{81CBAE20-B6C4-4389-BD47-DC6E8805255B}"/>
                </a:ext>
              </a:extLst>
            </p:cNvPr>
            <p:cNvGrpSpPr/>
            <p:nvPr/>
          </p:nvGrpSpPr>
          <p:grpSpPr>
            <a:xfrm>
              <a:off x="6654805" y="2846379"/>
              <a:ext cx="3657595" cy="3436901"/>
              <a:chOff x="6654805" y="2846379"/>
              <a:chExt cx="3657595" cy="3436901"/>
            </a:xfrm>
          </p:grpSpPr>
          <p:pic>
            <p:nvPicPr>
              <p:cNvPr id="64" name="圖片 63">
                <a:extLst>
                  <a:ext uri="{FF2B5EF4-FFF2-40B4-BE49-F238E27FC236}">
                    <a16:creationId xmlns:a16="http://schemas.microsoft.com/office/drawing/2014/main" id="{D6B037DF-AE6C-42E4-87A9-2ED845063DEA}"/>
                  </a:ext>
                </a:extLst>
              </p:cNvPr>
              <p:cNvPicPr>
                <a:picLocks noChangeAspect="1"/>
              </p:cNvPicPr>
              <p:nvPr/>
            </p:nvPicPr>
            <p:blipFill rotWithShape="1">
              <a:blip r:embed="rId12">
                <a:extLst>
                  <a:ext uri="{28A0092B-C50C-407E-A947-70E740481C1C}">
                    <a14:useLocalDpi xmlns:a14="http://schemas.microsoft.com/office/drawing/2010/main" val="0"/>
                  </a:ext>
                </a:extLst>
              </a:blip>
              <a:srcRect l="4491" b="6427"/>
              <a:stretch/>
            </p:blipFill>
            <p:spPr>
              <a:xfrm>
                <a:off x="6764870" y="2846379"/>
                <a:ext cx="3547530" cy="3436901"/>
              </a:xfrm>
              <a:prstGeom prst="rect">
                <a:avLst/>
              </a:prstGeom>
            </p:spPr>
          </p:pic>
          <p:sp>
            <p:nvSpPr>
              <p:cNvPr id="18" name="矩形 17">
                <a:extLst>
                  <a:ext uri="{FF2B5EF4-FFF2-40B4-BE49-F238E27FC236}">
                    <a16:creationId xmlns:a16="http://schemas.microsoft.com/office/drawing/2014/main" id="{610A0588-8D81-430F-81FF-EF37F3FCCB35}"/>
                  </a:ext>
                </a:extLst>
              </p:cNvPr>
              <p:cNvSpPr/>
              <p:nvPr/>
            </p:nvSpPr>
            <p:spPr>
              <a:xfrm>
                <a:off x="6654805" y="5113866"/>
                <a:ext cx="220130" cy="744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0" name="文字方塊 59">
                  <a:extLst>
                    <a:ext uri="{FF2B5EF4-FFF2-40B4-BE49-F238E27FC236}">
                      <a16:creationId xmlns:a16="http://schemas.microsoft.com/office/drawing/2014/main" id="{B22B2B1D-255B-4D4F-B2AE-B160FBFBEF3B}"/>
                    </a:ext>
                  </a:extLst>
                </p:cNvPr>
                <p:cNvSpPr txBox="1"/>
                <p:nvPr/>
              </p:nvSpPr>
              <p:spPr>
                <a:xfrm>
                  <a:off x="7648130" y="6300701"/>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60" name="文字方塊 59">
                  <a:extLst>
                    <a:ext uri="{FF2B5EF4-FFF2-40B4-BE49-F238E27FC236}">
                      <a16:creationId xmlns:a16="http://schemas.microsoft.com/office/drawing/2014/main" id="{B22B2B1D-255B-4D4F-B2AE-B160FBFBEF3B}"/>
                    </a:ext>
                  </a:extLst>
                </p:cNvPr>
                <p:cNvSpPr txBox="1">
                  <a:spLocks noRot="1" noChangeAspect="1" noMove="1" noResize="1" noEditPoints="1" noAdjustHandles="1" noChangeArrowheads="1" noChangeShapeType="1" noTextEdit="1"/>
                </p:cNvSpPr>
                <p:nvPr/>
              </p:nvSpPr>
              <p:spPr>
                <a:xfrm>
                  <a:off x="7648130" y="6300701"/>
                  <a:ext cx="2216889" cy="276999"/>
                </a:xfrm>
                <a:prstGeom prst="rect">
                  <a:avLst/>
                </a:prstGeom>
                <a:blipFill>
                  <a:blip r:embed="rId13"/>
                  <a:stretch>
                    <a:fillRect l="-6319" t="-30435" r="-4121" b="-478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0" name="文字方塊 69">
                  <a:extLst>
                    <a:ext uri="{FF2B5EF4-FFF2-40B4-BE49-F238E27FC236}">
                      <a16:creationId xmlns:a16="http://schemas.microsoft.com/office/drawing/2014/main" id="{ABF45B27-8A67-4AFD-9094-4F7F0DC5BE57}"/>
                    </a:ext>
                  </a:extLst>
                </p:cNvPr>
                <p:cNvSpPr txBox="1"/>
                <p:nvPr/>
              </p:nvSpPr>
              <p:spPr>
                <a:xfrm rot="16200000">
                  <a:off x="6167895" y="3809893"/>
                  <a:ext cx="792653"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oMath>
                    </m:oMathPara>
                  </a14:m>
                  <a:endParaRPr lang="zh-TW" altLang="en-US" dirty="0"/>
                </a:p>
              </p:txBody>
            </p:sp>
          </mc:Choice>
          <mc:Fallback xmlns="">
            <p:sp>
              <p:nvSpPr>
                <p:cNvPr id="70" name="文字方塊 69">
                  <a:extLst>
                    <a:ext uri="{FF2B5EF4-FFF2-40B4-BE49-F238E27FC236}">
                      <a16:creationId xmlns:a16="http://schemas.microsoft.com/office/drawing/2014/main" id="{ABF45B27-8A67-4AFD-9094-4F7F0DC5BE57}"/>
                    </a:ext>
                  </a:extLst>
                </p:cNvPr>
                <p:cNvSpPr txBox="1">
                  <a:spLocks noRot="1" noChangeAspect="1" noMove="1" noResize="1" noEditPoints="1" noAdjustHandles="1" noChangeArrowheads="1" noChangeShapeType="1" noTextEdit="1"/>
                </p:cNvSpPr>
                <p:nvPr/>
              </p:nvSpPr>
              <p:spPr>
                <a:xfrm rot="16200000">
                  <a:off x="6167895" y="3809893"/>
                  <a:ext cx="792653" cy="291234"/>
                </a:xfrm>
                <a:prstGeom prst="rect">
                  <a:avLst/>
                </a:prstGeom>
                <a:blipFill>
                  <a:blip r:embed="rId14"/>
                  <a:stretch>
                    <a:fillRect l="-19149" t="-3846" r="-36170" b="-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1" name="文字方塊 70">
                  <a:extLst>
                    <a:ext uri="{FF2B5EF4-FFF2-40B4-BE49-F238E27FC236}">
                      <a16:creationId xmlns:a16="http://schemas.microsoft.com/office/drawing/2014/main" id="{F0FE0359-7C2E-483C-987C-A6245723EFD1}"/>
                    </a:ext>
                  </a:extLst>
                </p:cNvPr>
                <p:cNvSpPr txBox="1"/>
                <p:nvPr/>
              </p:nvSpPr>
              <p:spPr>
                <a:xfrm rot="16200000">
                  <a:off x="6078179" y="5317640"/>
                  <a:ext cx="1288173"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m:oMathPara>
                  </a14:m>
                  <a:endParaRPr lang="zh-TW" altLang="en-US" dirty="0"/>
                </a:p>
              </p:txBody>
            </p:sp>
          </mc:Choice>
          <mc:Fallback xmlns="">
            <p:sp>
              <p:nvSpPr>
                <p:cNvPr id="71" name="文字方塊 70">
                  <a:extLst>
                    <a:ext uri="{FF2B5EF4-FFF2-40B4-BE49-F238E27FC236}">
                      <a16:creationId xmlns:a16="http://schemas.microsoft.com/office/drawing/2014/main" id="{F0FE0359-7C2E-483C-987C-A6245723EFD1}"/>
                    </a:ext>
                  </a:extLst>
                </p:cNvPr>
                <p:cNvSpPr txBox="1">
                  <a:spLocks noRot="1" noChangeAspect="1" noMove="1" noResize="1" noEditPoints="1" noAdjustHandles="1" noChangeArrowheads="1" noChangeShapeType="1" noTextEdit="1"/>
                </p:cNvSpPr>
                <p:nvPr/>
              </p:nvSpPr>
              <p:spPr>
                <a:xfrm rot="16200000">
                  <a:off x="6078179" y="5317640"/>
                  <a:ext cx="1288173" cy="305340"/>
                </a:xfrm>
                <a:prstGeom prst="rect">
                  <a:avLst/>
                </a:prstGeom>
                <a:blipFill>
                  <a:blip r:embed="rId15"/>
                  <a:stretch>
                    <a:fillRect l="-148000" t="-36493" r="-23000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9E37473-7A2F-4A05-A742-3A32544C9789}"/>
                  </a:ext>
                </a:extLst>
              </p:cNvPr>
              <p:cNvSpPr txBox="1"/>
              <p:nvPr/>
            </p:nvSpPr>
            <p:spPr>
              <a:xfrm>
                <a:off x="0" y="574720"/>
                <a:ext cx="11722945" cy="1782667"/>
              </a:xfrm>
              <a:prstGeom prst="rect">
                <a:avLst/>
              </a:prstGeom>
              <a:noFill/>
            </p:spPr>
            <p:txBody>
              <a:bodyPr wrap="square">
                <a:spAutoFit/>
              </a:bodyPr>
              <a:lstStyle/>
              <a:p>
                <a:pPr marL="285750" indent="-285750">
                  <a:buFont typeface="Wingdings" panose="05000000000000000000" pitchFamily="2" charset="2"/>
                  <a:buChar char="l"/>
                </a:pPr>
                <a:r>
                  <a:rPr lang="en-US" altLang="zh-TW" dirty="0"/>
                  <a:t>This figure shows the trends of the calibration results for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r>
                          <a:rPr lang="en-US" altLang="zh-TW" b="0" i="1" smtClean="0">
                            <a:latin typeface="Cambria Math" panose="02040503050406030204" pitchFamily="18" charset="0"/>
                            <a:ea typeface="Cambria Math" panose="02040503050406030204" pitchFamily="18" charset="0"/>
                          </a:rPr>
                          <m:t> </m:t>
                        </m:r>
                      </m:e>
                    </m:acc>
                  </m:oMath>
                </a14:m>
                <a:r>
                  <a:rPr lang="en-US" altLang="zh-TW" dirty="0"/>
                  <a:t>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 for </a:t>
                </a:r>
                <a:r>
                  <a:rPr lang="en-US" altLang="zh-TW" b="1" dirty="0"/>
                  <a:t>Long-Fei and </a:t>
                </a:r>
                <a:r>
                  <a:rPr lang="en-US" altLang="zh-TW" b="1" dirty="0" err="1"/>
                  <a:t>Zhi</a:t>
                </a:r>
                <a:r>
                  <a:rPr lang="en-US" altLang="zh-TW" b="1" dirty="0"/>
                  <a:t>-Peng</a:t>
                </a:r>
                <a:r>
                  <a:rPr lang="en-US" altLang="zh-TW" dirty="0"/>
                  <a:t>, using the </a:t>
                </a:r>
                <a:r>
                  <a:rPr lang="en-US" altLang="zh-TW" b="1" dirty="0"/>
                  <a:t>minimum number of points required for each working range</a:t>
                </a:r>
                <a:r>
                  <a:rPr lang="en-US" altLang="zh-TW" dirty="0"/>
                  <a:t>.</a:t>
                </a:r>
              </a:p>
              <a:p>
                <a:pPr marL="285750" indent="-285750">
                  <a:buFont typeface="Wingdings" panose="05000000000000000000" pitchFamily="2" charset="2"/>
                  <a:buChar char="l"/>
                </a:pPr>
                <a:r>
                  <a:rPr lang="en-US" altLang="zh-TW" dirty="0"/>
                  <a:t>If no convergence point can be found within a given range for either the </a:t>
                </a:r>
                <a:r>
                  <a:rPr lang="en-US" altLang="zh-TW" b="1" dirty="0"/>
                  <a:t>single-parameter model</a:t>
                </a:r>
                <a:r>
                  <a:rPr lang="en-US" altLang="zh-TW" dirty="0"/>
                  <a:t> or the </a:t>
                </a:r>
                <a:r>
                  <a:rPr lang="en-US" altLang="zh-TW" b="1" dirty="0"/>
                  <a:t>eighteen-parameter model</a:t>
                </a:r>
                <a:r>
                  <a:rPr lang="en-US" altLang="zh-TW" dirty="0"/>
                  <a:t>, all nodes within that range are used for calibration instead. </a:t>
                </a:r>
                <a:r>
                  <a:rPr lang="en-US" altLang="zh-TW" b="1" dirty="0"/>
                  <a:t>This is used only to illustrate the trend, and the values within that range are not used as a basis for calibration.</a:t>
                </a:r>
              </a:p>
              <a:p>
                <a:endParaRPr lang="en-US" altLang="zh-TW" b="1" dirty="0"/>
              </a:p>
            </p:txBody>
          </p:sp>
        </mc:Choice>
        <mc:Fallback xmlns="">
          <p:sp>
            <p:nvSpPr>
              <p:cNvPr id="24" name="文字方塊 23">
                <a:extLst>
                  <a:ext uri="{FF2B5EF4-FFF2-40B4-BE49-F238E27FC236}">
                    <a16:creationId xmlns:a16="http://schemas.microsoft.com/office/drawing/2014/main" id="{B9E37473-7A2F-4A05-A742-3A32544C9789}"/>
                  </a:ext>
                </a:extLst>
              </p:cNvPr>
              <p:cNvSpPr txBox="1">
                <a:spLocks noRot="1" noChangeAspect="1" noMove="1" noResize="1" noEditPoints="1" noAdjustHandles="1" noChangeArrowheads="1" noChangeShapeType="1" noTextEdit="1"/>
              </p:cNvSpPr>
              <p:nvPr/>
            </p:nvSpPr>
            <p:spPr>
              <a:xfrm>
                <a:off x="0" y="574720"/>
                <a:ext cx="11722945" cy="1782667"/>
              </a:xfrm>
              <a:prstGeom prst="rect">
                <a:avLst/>
              </a:prstGeom>
              <a:blipFill>
                <a:blip r:embed="rId7"/>
                <a:stretch>
                  <a:fillRect l="-312" t="-341"/>
                </a:stretch>
              </a:blipFill>
            </p:spPr>
            <p:txBody>
              <a:bodyPr/>
              <a:lstStyle/>
              <a:p>
                <a:r>
                  <a:rPr lang="zh-TW" altLang="en-US">
                    <a:noFill/>
                  </a:rPr>
                  <a:t> </a:t>
                </a:r>
              </a:p>
            </p:txBody>
          </p:sp>
        </mc:Fallback>
      </mc:AlternateContent>
      <p:sp>
        <p:nvSpPr>
          <p:cNvPr id="25" name="文字方塊 24">
            <a:extLst>
              <a:ext uri="{FF2B5EF4-FFF2-40B4-BE49-F238E27FC236}">
                <a16:creationId xmlns:a16="http://schemas.microsoft.com/office/drawing/2014/main" id="{8A1506DC-3DFA-49FB-A652-CF9232BDCE5B}"/>
              </a:ext>
            </a:extLst>
          </p:cNvPr>
          <p:cNvSpPr txBox="1"/>
          <p:nvPr/>
        </p:nvSpPr>
        <p:spPr>
          <a:xfrm>
            <a:off x="98082" y="2006086"/>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66" name="群組 65">
            <a:extLst>
              <a:ext uri="{FF2B5EF4-FFF2-40B4-BE49-F238E27FC236}">
                <a16:creationId xmlns:a16="http://schemas.microsoft.com/office/drawing/2014/main" id="{0BB563A1-B9E5-42A9-A45D-FD5C5324DEF8}"/>
              </a:ext>
            </a:extLst>
          </p:cNvPr>
          <p:cNvGrpSpPr/>
          <p:nvPr/>
        </p:nvGrpSpPr>
        <p:grpSpPr>
          <a:xfrm>
            <a:off x="1442587" y="2623151"/>
            <a:ext cx="3789284" cy="3660129"/>
            <a:chOff x="984839" y="2574968"/>
            <a:chExt cx="4247032" cy="3985311"/>
          </a:xfrm>
        </p:grpSpPr>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1FBABB3C-0243-4F5E-983B-3AAA69B0B1DD}"/>
                    </a:ext>
                  </a:extLst>
                </p:cNvPr>
                <p:cNvSpPr txBox="1"/>
                <p:nvPr/>
              </p:nvSpPr>
              <p:spPr>
                <a:xfrm>
                  <a:off x="2359610" y="6283280"/>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56" name="文字方塊 55">
                  <a:extLst>
                    <a:ext uri="{FF2B5EF4-FFF2-40B4-BE49-F238E27FC236}">
                      <a16:creationId xmlns:a16="http://schemas.microsoft.com/office/drawing/2014/main" id="{1FBABB3C-0243-4F5E-983B-3AAA69B0B1DD}"/>
                    </a:ext>
                  </a:extLst>
                </p:cNvPr>
                <p:cNvSpPr txBox="1">
                  <a:spLocks noRot="1" noChangeAspect="1" noMove="1" noResize="1" noEditPoints="1" noAdjustHandles="1" noChangeArrowheads="1" noChangeShapeType="1" noTextEdit="1"/>
                </p:cNvSpPr>
                <p:nvPr/>
              </p:nvSpPr>
              <p:spPr>
                <a:xfrm>
                  <a:off x="2359610" y="6283280"/>
                  <a:ext cx="2216889" cy="276999"/>
                </a:xfrm>
                <a:prstGeom prst="rect">
                  <a:avLst/>
                </a:prstGeom>
                <a:blipFill>
                  <a:blip r:embed="rId8"/>
                  <a:stretch>
                    <a:fillRect l="-6319" t="-31111" r="-4121" b="-48889"/>
                  </a:stretch>
                </a:blipFill>
              </p:spPr>
              <p:txBody>
                <a:bodyPr/>
                <a:lstStyle/>
                <a:p>
                  <a:r>
                    <a:rPr lang="zh-TW" altLang="en-US">
                      <a:noFill/>
                    </a:rPr>
                    <a:t> </a:t>
                  </a:r>
                </a:p>
              </p:txBody>
            </p:sp>
          </mc:Fallback>
        </mc:AlternateContent>
        <p:grpSp>
          <p:nvGrpSpPr>
            <p:cNvPr id="18" name="群組 17">
              <a:extLst>
                <a:ext uri="{FF2B5EF4-FFF2-40B4-BE49-F238E27FC236}">
                  <a16:creationId xmlns:a16="http://schemas.microsoft.com/office/drawing/2014/main" id="{07C15930-FD73-481E-91FD-0A7DB82101C1}"/>
                </a:ext>
              </a:extLst>
            </p:cNvPr>
            <p:cNvGrpSpPr/>
            <p:nvPr/>
          </p:nvGrpSpPr>
          <p:grpSpPr>
            <a:xfrm>
              <a:off x="1210733" y="2574968"/>
              <a:ext cx="4021138" cy="3708312"/>
              <a:chOff x="1210733" y="2574968"/>
              <a:chExt cx="4021138" cy="3708312"/>
            </a:xfrm>
          </p:grpSpPr>
          <p:pic>
            <p:nvPicPr>
              <p:cNvPr id="11" name="圖片 10">
                <a:extLst>
                  <a:ext uri="{FF2B5EF4-FFF2-40B4-BE49-F238E27FC236}">
                    <a16:creationId xmlns:a16="http://schemas.microsoft.com/office/drawing/2014/main" id="{84BE66EC-E47C-476C-AD72-A74B76C13CDB}"/>
                  </a:ext>
                </a:extLst>
              </p:cNvPr>
              <p:cNvPicPr>
                <a:picLocks noChangeAspect="1"/>
              </p:cNvPicPr>
              <p:nvPr/>
            </p:nvPicPr>
            <p:blipFill rotWithShape="1">
              <a:blip r:embed="rId9">
                <a:extLst>
                  <a:ext uri="{28A0092B-C50C-407E-A947-70E740481C1C}">
                    <a14:useLocalDpi xmlns:a14="http://schemas.microsoft.com/office/drawing/2010/main" val="0"/>
                  </a:ext>
                </a:extLst>
              </a:blip>
              <a:srcRect l="4640" b="6687"/>
              <a:stretch/>
            </p:blipFill>
            <p:spPr>
              <a:xfrm>
                <a:off x="1371600" y="2574968"/>
                <a:ext cx="3860271" cy="3708312"/>
              </a:xfrm>
              <a:prstGeom prst="rect">
                <a:avLst/>
              </a:prstGeom>
            </p:spPr>
          </p:pic>
          <p:sp>
            <p:nvSpPr>
              <p:cNvPr id="14" name="矩形 13">
                <a:extLst>
                  <a:ext uri="{FF2B5EF4-FFF2-40B4-BE49-F238E27FC236}">
                    <a16:creationId xmlns:a16="http://schemas.microsoft.com/office/drawing/2014/main" id="{1D2436A2-7FD2-4B82-8DD2-517D9D76D35A}"/>
                  </a:ext>
                </a:extLst>
              </p:cNvPr>
              <p:cNvSpPr/>
              <p:nvPr/>
            </p:nvSpPr>
            <p:spPr>
              <a:xfrm>
                <a:off x="1210733" y="4961467"/>
                <a:ext cx="279400" cy="770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2" name="文字方塊 61">
                  <a:extLst>
                    <a:ext uri="{FF2B5EF4-FFF2-40B4-BE49-F238E27FC236}">
                      <a16:creationId xmlns:a16="http://schemas.microsoft.com/office/drawing/2014/main" id="{0C8B8ED9-7966-4D3F-8926-23F28EA72270}"/>
                    </a:ext>
                  </a:extLst>
                </p:cNvPr>
                <p:cNvSpPr txBox="1"/>
                <p:nvPr/>
              </p:nvSpPr>
              <p:spPr>
                <a:xfrm rot="16200000">
                  <a:off x="734129" y="3561438"/>
                  <a:ext cx="792653"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oMath>
                    </m:oMathPara>
                  </a14:m>
                  <a:endParaRPr lang="zh-TW" altLang="en-US" dirty="0"/>
                </a:p>
              </p:txBody>
            </p:sp>
          </mc:Choice>
          <mc:Fallback xmlns="">
            <p:sp>
              <p:nvSpPr>
                <p:cNvPr id="62" name="文字方塊 61">
                  <a:extLst>
                    <a:ext uri="{FF2B5EF4-FFF2-40B4-BE49-F238E27FC236}">
                      <a16:creationId xmlns:a16="http://schemas.microsoft.com/office/drawing/2014/main" id="{0C8B8ED9-7966-4D3F-8926-23F28EA72270}"/>
                    </a:ext>
                  </a:extLst>
                </p:cNvPr>
                <p:cNvSpPr txBox="1">
                  <a:spLocks noRot="1" noChangeAspect="1" noMove="1" noResize="1" noEditPoints="1" noAdjustHandles="1" noChangeArrowheads="1" noChangeShapeType="1" noTextEdit="1"/>
                </p:cNvSpPr>
                <p:nvPr/>
              </p:nvSpPr>
              <p:spPr>
                <a:xfrm rot="16200000">
                  <a:off x="734129" y="3561438"/>
                  <a:ext cx="792653" cy="291234"/>
                </a:xfrm>
                <a:prstGeom prst="rect">
                  <a:avLst/>
                </a:prstGeom>
                <a:blipFill>
                  <a:blip r:embed="rId10"/>
                  <a:stretch>
                    <a:fillRect l="-21429" t="-9167" r="-52381" b="-1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文字方塊 62">
                  <a:extLst>
                    <a:ext uri="{FF2B5EF4-FFF2-40B4-BE49-F238E27FC236}">
                      <a16:creationId xmlns:a16="http://schemas.microsoft.com/office/drawing/2014/main" id="{95A2F6FC-E184-45F2-9CEC-DF8F0F6883E9}"/>
                    </a:ext>
                  </a:extLst>
                </p:cNvPr>
                <p:cNvSpPr txBox="1"/>
                <p:nvPr/>
              </p:nvSpPr>
              <p:spPr>
                <a:xfrm rot="16200000">
                  <a:off x="650132" y="5212344"/>
                  <a:ext cx="1288173"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m:oMathPara>
                  </a14:m>
                  <a:endParaRPr lang="zh-TW" altLang="en-US" dirty="0"/>
                </a:p>
              </p:txBody>
            </p:sp>
          </mc:Choice>
          <mc:Fallback xmlns="">
            <p:sp>
              <p:nvSpPr>
                <p:cNvPr id="63" name="文字方塊 62">
                  <a:extLst>
                    <a:ext uri="{FF2B5EF4-FFF2-40B4-BE49-F238E27FC236}">
                      <a16:creationId xmlns:a16="http://schemas.microsoft.com/office/drawing/2014/main" id="{95A2F6FC-E184-45F2-9CEC-DF8F0F6883E9}"/>
                    </a:ext>
                  </a:extLst>
                </p:cNvPr>
                <p:cNvSpPr txBox="1">
                  <a:spLocks noRot="1" noChangeAspect="1" noMove="1" noResize="1" noEditPoints="1" noAdjustHandles="1" noChangeArrowheads="1" noChangeShapeType="1" noTextEdit="1"/>
                </p:cNvSpPr>
                <p:nvPr/>
              </p:nvSpPr>
              <p:spPr>
                <a:xfrm rot="16200000">
                  <a:off x="650132" y="5212344"/>
                  <a:ext cx="1288173" cy="305340"/>
                </a:xfrm>
                <a:prstGeom prst="rect">
                  <a:avLst/>
                </a:prstGeom>
                <a:blipFill>
                  <a:blip r:embed="rId11"/>
                  <a:stretch>
                    <a:fillRect l="-170455" t="-45876" r="-272727" b="-515"/>
                  </a:stretch>
                </a:blipFill>
              </p:spPr>
              <p:txBody>
                <a:bodyPr/>
                <a:lstStyle/>
                <a:p>
                  <a:r>
                    <a:rPr lang="zh-TW" altLang="en-US">
                      <a:noFill/>
                    </a:rPr>
                    <a:t> </a:t>
                  </a:r>
                </a:p>
              </p:txBody>
            </p:sp>
          </mc:Fallback>
        </mc:AlternateContent>
      </p:grpSp>
      <p:grpSp>
        <p:nvGrpSpPr>
          <p:cNvPr id="67" name="群組 66">
            <a:extLst>
              <a:ext uri="{FF2B5EF4-FFF2-40B4-BE49-F238E27FC236}">
                <a16:creationId xmlns:a16="http://schemas.microsoft.com/office/drawing/2014/main" id="{8F3F0093-9374-427B-B104-0F4D2A30B6F9}"/>
              </a:ext>
            </a:extLst>
          </p:cNvPr>
          <p:cNvGrpSpPr/>
          <p:nvPr/>
        </p:nvGrpSpPr>
        <p:grpSpPr>
          <a:xfrm>
            <a:off x="7110142" y="2548207"/>
            <a:ext cx="3762646" cy="3735073"/>
            <a:chOff x="6698354" y="2526271"/>
            <a:chExt cx="4309901" cy="4034008"/>
          </a:xfrm>
        </p:grpSpPr>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AE7E0BC6-BFE8-4C20-9B2B-4D6F5BB08FCB}"/>
                    </a:ext>
                  </a:extLst>
                </p:cNvPr>
                <p:cNvSpPr txBox="1"/>
                <p:nvPr/>
              </p:nvSpPr>
              <p:spPr>
                <a:xfrm>
                  <a:off x="8091544" y="6283280"/>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59" name="文字方塊 58">
                  <a:extLst>
                    <a:ext uri="{FF2B5EF4-FFF2-40B4-BE49-F238E27FC236}">
                      <a16:creationId xmlns:a16="http://schemas.microsoft.com/office/drawing/2014/main" id="{AE7E0BC6-BFE8-4C20-9B2B-4D6F5BB08FCB}"/>
                    </a:ext>
                  </a:extLst>
                </p:cNvPr>
                <p:cNvSpPr txBox="1">
                  <a:spLocks noRot="1" noChangeAspect="1" noMove="1" noResize="1" noEditPoints="1" noAdjustHandles="1" noChangeArrowheads="1" noChangeShapeType="1" noTextEdit="1"/>
                </p:cNvSpPr>
                <p:nvPr/>
              </p:nvSpPr>
              <p:spPr>
                <a:xfrm>
                  <a:off x="8091544" y="6283280"/>
                  <a:ext cx="2216889" cy="276999"/>
                </a:xfrm>
                <a:prstGeom prst="rect">
                  <a:avLst/>
                </a:prstGeom>
                <a:blipFill>
                  <a:blip r:embed="rId12"/>
                  <a:stretch>
                    <a:fillRect l="-6319" t="-31111" r="-4121" b="-48889"/>
                  </a:stretch>
                </a:blipFill>
              </p:spPr>
              <p:txBody>
                <a:bodyPr/>
                <a:lstStyle/>
                <a:p>
                  <a:r>
                    <a:rPr lang="zh-TW" altLang="en-US">
                      <a:noFill/>
                    </a:rPr>
                    <a:t> </a:t>
                  </a:r>
                </a:p>
              </p:txBody>
            </p:sp>
          </mc:Fallback>
        </mc:AlternateContent>
        <p:grpSp>
          <p:nvGrpSpPr>
            <p:cNvPr id="61" name="群組 60">
              <a:extLst>
                <a:ext uri="{FF2B5EF4-FFF2-40B4-BE49-F238E27FC236}">
                  <a16:creationId xmlns:a16="http://schemas.microsoft.com/office/drawing/2014/main" id="{A829433D-492D-4BA6-8B07-17671C4C6FD9}"/>
                </a:ext>
              </a:extLst>
            </p:cNvPr>
            <p:cNvGrpSpPr/>
            <p:nvPr/>
          </p:nvGrpSpPr>
          <p:grpSpPr>
            <a:xfrm>
              <a:off x="6856941" y="2526271"/>
              <a:ext cx="4151314" cy="3757009"/>
              <a:chOff x="6856941" y="2526271"/>
              <a:chExt cx="4151314" cy="3757009"/>
            </a:xfrm>
          </p:grpSpPr>
          <p:pic>
            <p:nvPicPr>
              <p:cNvPr id="5" name="圖片 4">
                <a:extLst>
                  <a:ext uri="{FF2B5EF4-FFF2-40B4-BE49-F238E27FC236}">
                    <a16:creationId xmlns:a16="http://schemas.microsoft.com/office/drawing/2014/main" id="{0E0CB78A-A7CC-4209-A4E9-4F13CC2E41B7}"/>
                  </a:ext>
                </a:extLst>
              </p:cNvPr>
              <p:cNvPicPr>
                <a:picLocks noChangeAspect="1"/>
              </p:cNvPicPr>
              <p:nvPr/>
            </p:nvPicPr>
            <p:blipFill rotWithShape="1">
              <a:blip r:embed="rId13">
                <a:extLst>
                  <a:ext uri="{28A0092B-C50C-407E-A947-70E740481C1C}">
                    <a14:useLocalDpi xmlns:a14="http://schemas.microsoft.com/office/drawing/2010/main" val="0"/>
                  </a:ext>
                </a:extLst>
              </a:blip>
              <a:srcRect l="5030" b="6811"/>
              <a:stretch/>
            </p:blipFill>
            <p:spPr>
              <a:xfrm>
                <a:off x="7052202" y="2526271"/>
                <a:ext cx="3956053" cy="3757009"/>
              </a:xfrm>
              <a:prstGeom prst="rect">
                <a:avLst/>
              </a:prstGeom>
            </p:spPr>
          </p:pic>
          <p:sp>
            <p:nvSpPr>
              <p:cNvPr id="60" name="矩形 59">
                <a:extLst>
                  <a:ext uri="{FF2B5EF4-FFF2-40B4-BE49-F238E27FC236}">
                    <a16:creationId xmlns:a16="http://schemas.microsoft.com/office/drawing/2014/main" id="{33CE3201-DFED-4E9C-B32E-CB40869CB2A7}"/>
                  </a:ext>
                </a:extLst>
              </p:cNvPr>
              <p:cNvSpPr/>
              <p:nvPr/>
            </p:nvSpPr>
            <p:spPr>
              <a:xfrm>
                <a:off x="6856941" y="4961467"/>
                <a:ext cx="279400" cy="770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CB157074-4DF6-4AE1-B92B-0580BCAFF6C9}"/>
                    </a:ext>
                  </a:extLst>
                </p:cNvPr>
                <p:cNvSpPr txBox="1"/>
                <p:nvPr/>
              </p:nvSpPr>
              <p:spPr>
                <a:xfrm rot="16200000">
                  <a:off x="6447645" y="3662386"/>
                  <a:ext cx="792652" cy="291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r>
                          <a:rPr lang="zh-TW" altLang="en-US" i="1">
                            <a:latin typeface="Cambria Math" panose="02040503050406030204" pitchFamily="18" charset="0"/>
                          </a:rPr>
                          <m:t> </m:t>
                        </m:r>
                        <m:r>
                          <a:rPr lang="en-US" altLang="zh-TW" i="1">
                            <a:latin typeface="Cambria Math" panose="02040503050406030204" pitchFamily="18" charset="0"/>
                          </a:rPr>
                          <m:t>(</m:t>
                        </m:r>
                        <m:r>
                          <a:rPr lang="zh-TW" altLang="en-US"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 </m:t>
                        </m:r>
                      </m:oMath>
                    </m:oMathPara>
                  </a14:m>
                  <a:endParaRPr lang="zh-TW" altLang="en-US" dirty="0"/>
                </a:p>
              </p:txBody>
            </p:sp>
          </mc:Choice>
          <mc:Fallback xmlns="">
            <p:sp>
              <p:nvSpPr>
                <p:cNvPr id="64" name="文字方塊 63">
                  <a:extLst>
                    <a:ext uri="{FF2B5EF4-FFF2-40B4-BE49-F238E27FC236}">
                      <a16:creationId xmlns:a16="http://schemas.microsoft.com/office/drawing/2014/main" id="{CB157074-4DF6-4AE1-B92B-0580BCAFF6C9}"/>
                    </a:ext>
                  </a:extLst>
                </p:cNvPr>
                <p:cNvSpPr txBox="1">
                  <a:spLocks noRot="1" noChangeAspect="1" noMove="1" noResize="1" noEditPoints="1" noAdjustHandles="1" noChangeArrowheads="1" noChangeShapeType="1" noTextEdit="1"/>
                </p:cNvSpPr>
                <p:nvPr/>
              </p:nvSpPr>
              <p:spPr>
                <a:xfrm rot="16200000">
                  <a:off x="6447645" y="3662386"/>
                  <a:ext cx="792652" cy="291234"/>
                </a:xfrm>
                <a:prstGeom prst="rect">
                  <a:avLst/>
                </a:prstGeom>
                <a:blipFill>
                  <a:blip r:embed="rId14"/>
                  <a:stretch>
                    <a:fillRect l="-19048" t="-8264" r="-52381" b="-115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a:extLst>
                    <a:ext uri="{FF2B5EF4-FFF2-40B4-BE49-F238E27FC236}">
                      <a16:creationId xmlns:a16="http://schemas.microsoft.com/office/drawing/2014/main" id="{CC8B2638-3579-4E49-B3F5-87634F3FDD12}"/>
                    </a:ext>
                  </a:extLst>
                </p:cNvPr>
                <p:cNvSpPr txBox="1"/>
                <p:nvPr/>
              </p:nvSpPr>
              <p:spPr>
                <a:xfrm rot="16200000">
                  <a:off x="6255446" y="5216803"/>
                  <a:ext cx="1288173" cy="3053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m:oMathPara>
                  </a14:m>
                  <a:endParaRPr lang="zh-TW" altLang="en-US" dirty="0"/>
                </a:p>
              </p:txBody>
            </p:sp>
          </mc:Choice>
          <mc:Fallback xmlns="">
            <p:sp>
              <p:nvSpPr>
                <p:cNvPr id="65" name="文字方塊 64">
                  <a:extLst>
                    <a:ext uri="{FF2B5EF4-FFF2-40B4-BE49-F238E27FC236}">
                      <a16:creationId xmlns:a16="http://schemas.microsoft.com/office/drawing/2014/main" id="{CC8B2638-3579-4E49-B3F5-87634F3FDD12}"/>
                    </a:ext>
                  </a:extLst>
                </p:cNvPr>
                <p:cNvSpPr txBox="1">
                  <a:spLocks noRot="1" noChangeAspect="1" noMove="1" noResize="1" noEditPoints="1" noAdjustHandles="1" noChangeArrowheads="1" noChangeShapeType="1" noTextEdit="1"/>
                </p:cNvSpPr>
                <p:nvPr/>
              </p:nvSpPr>
              <p:spPr>
                <a:xfrm rot="16200000">
                  <a:off x="6255446" y="5216803"/>
                  <a:ext cx="1288173" cy="305340"/>
                </a:xfrm>
                <a:prstGeom prst="rect">
                  <a:avLst/>
                </a:prstGeom>
                <a:blipFill>
                  <a:blip r:embed="rId15"/>
                  <a:stretch>
                    <a:fillRect l="-168182" t="-44388" r="-275000" b="-51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66396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333587" y="743604"/>
            <a:ext cx="11155680" cy="698888"/>
          </a:xfrm>
          <a:prstGeom prst="rect">
            <a:avLst/>
          </a:prstGeom>
          <a:noFill/>
        </p:spPr>
        <p:txBody>
          <a:bodyPr wrap="square" rtlCol="0">
            <a:noAutofit/>
          </a:bodyPr>
          <a:lstStyle/>
          <a:p>
            <a:pPr marL="285750" indent="-285750">
              <a:buFont typeface="Arial" panose="020B0604020202020204" pitchFamily="34" charset="0"/>
              <a:buChar char="•"/>
            </a:pPr>
            <a:endParaRPr lang="en-US" altLang="zh-TW" sz="1600" dirty="0"/>
          </a:p>
        </p:txBody>
      </p:sp>
      <p:sp>
        <p:nvSpPr>
          <p:cNvPr id="25" name="文字方塊 24">
            <a:extLst>
              <a:ext uri="{FF2B5EF4-FFF2-40B4-BE49-F238E27FC236}">
                <a16:creationId xmlns:a16="http://schemas.microsoft.com/office/drawing/2014/main" id="{8A1506DC-3DFA-49FB-A652-CF9232BDCE5B}"/>
              </a:ext>
            </a:extLst>
          </p:cNvPr>
          <p:cNvSpPr txBox="1"/>
          <p:nvPr/>
        </p:nvSpPr>
        <p:spPr>
          <a:xfrm>
            <a:off x="25147" y="2997684"/>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26" name="文字方塊 25">
            <a:extLst>
              <a:ext uri="{FF2B5EF4-FFF2-40B4-BE49-F238E27FC236}">
                <a16:creationId xmlns:a16="http://schemas.microsoft.com/office/drawing/2014/main" id="{B1117A74-E07B-4040-B287-EBE1D09422F7}"/>
              </a:ext>
            </a:extLst>
          </p:cNvPr>
          <p:cNvSpPr txBox="1"/>
          <p:nvPr/>
        </p:nvSpPr>
        <p:spPr>
          <a:xfrm>
            <a:off x="6477478" y="3036463"/>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23E26645-A797-45A1-89D7-B0FACB3171ED}"/>
                  </a:ext>
                </a:extLst>
              </p:cNvPr>
              <p:cNvSpPr txBox="1"/>
              <p:nvPr/>
            </p:nvSpPr>
            <p:spPr>
              <a:xfrm>
                <a:off x="-68217" y="586008"/>
                <a:ext cx="11765280" cy="2585323"/>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 Both panels fit the point-charge model within R ≤ 150 µm. Sampling is the actuator-axis shell ladder — six pole axes  Nr shells plus the </a:t>
                </a:r>
                <a:r>
                  <a:rPr lang="en-US" altLang="zh-TW" dirty="0" err="1"/>
                  <a:t>centre</a:t>
                </a:r>
                <a:r>
                  <a:rPr lang="en-US" altLang="zh-TW" dirty="0"/>
                  <a:t> , so Number of points = 6Nr+1, spanning 7 to 49. </a:t>
                </a:r>
                <a:r>
                  <a:rPr lang="en-US" altLang="zh-TW" dirty="0" err="1"/>
                  <a:t>Frobenius</a:t>
                </a:r>
                <a:r>
                  <a:rPr lang="en-US" altLang="zh-TW" dirty="0"/>
                  <a:t> error (%) is the relative error of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against the full-grid fit, shown for the single- and eighteen-parameter models.</a:t>
                </a:r>
              </a:p>
              <a:p>
                <a:pPr marL="285750" indent="-285750">
                  <a:buFont typeface="Wingdings" panose="05000000000000000000" pitchFamily="2" charset="2"/>
                  <a:buChar char="Ø"/>
                </a:pPr>
                <a:r>
                  <a:rPr lang="en-US" altLang="zh-TW" dirty="0"/>
                  <a:t>At their convergence points the reduced designs already reproduce the all-node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r>
                      <a:rPr lang="en-US" altLang="zh-TW" b="0" i="1" smtClean="0">
                        <a:latin typeface="Cambria Math" panose="02040503050406030204" pitchFamily="18" charset="0"/>
                      </a:rPr>
                      <m:t> </m:t>
                    </m:r>
                  </m:oMath>
                </a14:m>
                <a:r>
                  <a:rPr lang="en-US" altLang="zh-TW" dirty="0"/>
                  <a:t>closely: Long gives 2.66 % with the single parameter (25 points) and 1.71 % with eighteen (13 points); </a:t>
                </a:r>
                <a:r>
                  <a:rPr lang="en-US" altLang="zh-TW" dirty="0" err="1"/>
                  <a:t>Zhi</a:t>
                </a:r>
                <a:r>
                  <a:rPr lang="en-US" altLang="zh-TW" dirty="0"/>
                  <a:t>-Peng converges at 7 points for both, at 2.10 % and 0.39 %. The eighteen-parameter fit is consistently closer to the all-node solution (≈1.8× for Long, ≈5× for </a:t>
                </a:r>
                <a:r>
                  <a:rPr lang="en-US" altLang="zh-TW" dirty="0" err="1"/>
                  <a:t>Zhi</a:t>
                </a:r>
                <a:r>
                  <a:rPr lang="en-US" altLang="zh-TW" dirty="0"/>
                  <a:t>-Peng), with the planar design benefiting far more. Extending to 49 points improves every curve by under one percentage point, so the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𝐾</m:t>
                            </m:r>
                          </m:e>
                        </m:acc>
                      </m:e>
                      <m:sub>
                        <m:r>
                          <a:rPr lang="en-US" altLang="zh-TW" i="1">
                            <a:latin typeface="Cambria Math" panose="02040503050406030204" pitchFamily="18" charset="0"/>
                          </a:rPr>
                          <m:t>𝐼</m:t>
                        </m:r>
                      </m:sub>
                    </m:sSub>
                  </m:oMath>
                </a14:m>
                <a:r>
                  <a:rPr lang="en-US" altLang="zh-TW" dirty="0"/>
                  <a:t> obtained at the convergence point already represents what the design can achieve and can replace the all-node calibration.</a:t>
                </a:r>
                <a:endParaRPr lang="zh-TW" altLang="en-US" dirty="0"/>
              </a:p>
            </p:txBody>
          </p:sp>
        </mc:Choice>
        <mc:Fallback xmlns="">
          <p:sp>
            <p:nvSpPr>
              <p:cNvPr id="4" name="文字方塊 3">
                <a:extLst>
                  <a:ext uri="{FF2B5EF4-FFF2-40B4-BE49-F238E27FC236}">
                    <a16:creationId xmlns:a16="http://schemas.microsoft.com/office/drawing/2014/main" id="{23E26645-A797-45A1-89D7-B0FACB3171ED}"/>
                  </a:ext>
                </a:extLst>
              </p:cNvPr>
              <p:cNvSpPr txBox="1">
                <a:spLocks noRot="1" noChangeAspect="1" noMove="1" noResize="1" noEditPoints="1" noAdjustHandles="1" noChangeArrowheads="1" noChangeShapeType="1" noTextEdit="1"/>
              </p:cNvSpPr>
              <p:nvPr/>
            </p:nvSpPr>
            <p:spPr>
              <a:xfrm>
                <a:off x="-68217" y="586008"/>
                <a:ext cx="11765280" cy="2585323"/>
              </a:xfrm>
              <a:prstGeom prst="rect">
                <a:avLst/>
              </a:prstGeom>
              <a:blipFill>
                <a:blip r:embed="rId14"/>
                <a:stretch>
                  <a:fillRect l="-363" t="-1179" r="-52" b="-2830"/>
                </a:stretch>
              </a:blipFill>
            </p:spPr>
            <p:txBody>
              <a:bodyPr/>
              <a:lstStyle/>
              <a:p>
                <a:r>
                  <a:rPr lang="zh-TW" altLang="en-US">
                    <a:noFill/>
                  </a:rPr>
                  <a:t> </a:t>
                </a:r>
              </a:p>
            </p:txBody>
          </p:sp>
        </mc:Fallback>
      </mc:AlternateContent>
      <p:cxnSp>
        <p:nvCxnSpPr>
          <p:cNvPr id="27" name="直線接點 26">
            <a:extLst>
              <a:ext uri="{FF2B5EF4-FFF2-40B4-BE49-F238E27FC236}">
                <a16:creationId xmlns:a16="http://schemas.microsoft.com/office/drawing/2014/main" id="{7488C10E-2238-4FC8-AE27-8EBADA3EB4CC}"/>
              </a:ext>
            </a:extLst>
          </p:cNvPr>
          <p:cNvCxnSpPr/>
          <p:nvPr/>
        </p:nvCxnSpPr>
        <p:spPr>
          <a:xfrm>
            <a:off x="6104466" y="3088178"/>
            <a:ext cx="0" cy="2531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群組 32">
            <a:extLst>
              <a:ext uri="{FF2B5EF4-FFF2-40B4-BE49-F238E27FC236}">
                <a16:creationId xmlns:a16="http://schemas.microsoft.com/office/drawing/2014/main" id="{093FDC5F-46B6-4DE5-8302-B6E8AB9E9C77}"/>
              </a:ext>
            </a:extLst>
          </p:cNvPr>
          <p:cNvGrpSpPr/>
          <p:nvPr/>
        </p:nvGrpSpPr>
        <p:grpSpPr>
          <a:xfrm>
            <a:off x="165111" y="3367016"/>
            <a:ext cx="2630027" cy="2718942"/>
            <a:chOff x="139519" y="3448383"/>
            <a:chExt cx="2630027" cy="2454332"/>
          </a:xfrm>
        </p:grpSpPr>
        <p:pic>
          <p:nvPicPr>
            <p:cNvPr id="17" name="圖片 16">
              <a:extLst>
                <a:ext uri="{FF2B5EF4-FFF2-40B4-BE49-F238E27FC236}">
                  <a16:creationId xmlns:a16="http://schemas.microsoft.com/office/drawing/2014/main" id="{FD4482EE-80DA-46F0-804E-7AEB519F587E}"/>
                </a:ext>
              </a:extLst>
            </p:cNvPr>
            <p:cNvPicPr>
              <a:picLocks noChangeAspect="1"/>
            </p:cNvPicPr>
            <p:nvPr/>
          </p:nvPicPr>
          <p:blipFill rotWithShape="1">
            <a:blip r:embed="rId15">
              <a:extLst>
                <a:ext uri="{28A0092B-C50C-407E-A947-70E740481C1C}">
                  <a14:useLocalDpi xmlns:a14="http://schemas.microsoft.com/office/drawing/2010/main" val="0"/>
                </a:ext>
              </a:extLst>
            </a:blip>
            <a:srcRect l="7790" b="3577"/>
            <a:stretch/>
          </p:blipFill>
          <p:spPr>
            <a:xfrm>
              <a:off x="406400" y="3448383"/>
              <a:ext cx="2363146" cy="2254752"/>
            </a:xfrm>
            <a:prstGeom prst="rect">
              <a:avLst/>
            </a:prstGeom>
          </p:spPr>
        </p:pic>
        <mc:AlternateContent xmlns:mc="http://schemas.openxmlformats.org/markup-compatibility/2006" xmlns:a14="http://schemas.microsoft.com/office/drawing/2010/main">
          <mc:Choice Requires="a14">
            <p:sp>
              <p:nvSpPr>
                <p:cNvPr id="57" name="文字方塊 56">
                  <a:extLst>
                    <a:ext uri="{FF2B5EF4-FFF2-40B4-BE49-F238E27FC236}">
                      <a16:creationId xmlns:a16="http://schemas.microsoft.com/office/drawing/2014/main" id="{273D9DAC-8598-409D-8BB1-1F101C07CC4B}"/>
                    </a:ext>
                  </a:extLst>
                </p:cNvPr>
                <p:cNvSpPr txBox="1"/>
                <p:nvPr/>
              </p:nvSpPr>
              <p:spPr>
                <a:xfrm>
                  <a:off x="714779" y="5666107"/>
                  <a:ext cx="1746388" cy="236608"/>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57" name="文字方塊 56">
                  <a:extLst>
                    <a:ext uri="{FF2B5EF4-FFF2-40B4-BE49-F238E27FC236}">
                      <a16:creationId xmlns:a16="http://schemas.microsoft.com/office/drawing/2014/main" id="{273D9DAC-8598-409D-8BB1-1F101C07CC4B}"/>
                    </a:ext>
                  </a:extLst>
                </p:cNvPr>
                <p:cNvSpPr txBox="1">
                  <a:spLocks noRot="1" noChangeAspect="1" noMove="1" noResize="1" noEditPoints="1" noAdjustHandles="1" noChangeArrowheads="1" noChangeShapeType="1" noTextEdit="1"/>
                </p:cNvSpPr>
                <p:nvPr/>
              </p:nvSpPr>
              <p:spPr>
                <a:xfrm>
                  <a:off x="714779" y="5666107"/>
                  <a:ext cx="1746388" cy="236608"/>
                </a:xfrm>
                <a:prstGeom prst="rect">
                  <a:avLst/>
                </a:prstGeom>
                <a:blipFill>
                  <a:blip r:embed="rId16"/>
                  <a:stretch>
                    <a:fillRect l="-6969" t="-23256" r="-9059" b="-4186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6" name="文字方塊 65">
                  <a:extLst>
                    <a:ext uri="{FF2B5EF4-FFF2-40B4-BE49-F238E27FC236}">
                      <a16:creationId xmlns:a16="http://schemas.microsoft.com/office/drawing/2014/main" id="{3155A306-7022-41F7-9EF2-991296B9EF00}"/>
                    </a:ext>
                  </a:extLst>
                </p:cNvPr>
                <p:cNvSpPr txBox="1"/>
                <p:nvPr/>
              </p:nvSpPr>
              <p:spPr>
                <a:xfrm rot="16200000">
                  <a:off x="-602191" y="4434134"/>
                  <a:ext cx="1729641" cy="24622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Frobenius error </a:t>
                  </a:r>
                  <a14:m>
                    <m:oMath xmlns:m="http://schemas.openxmlformats.org/officeDocument/2006/math">
                      <m:r>
                        <a:rPr lang="en-US" altLang="zh-TW" sz="1600" b="0" i="1" smtClean="0">
                          <a:latin typeface="Cambria Math" panose="02040503050406030204" pitchFamily="18" charset="0"/>
                        </a:rPr>
                        <m:t>(%)</m:t>
                      </m:r>
                    </m:oMath>
                  </a14:m>
                  <a:endParaRPr lang="zh-TW" altLang="en-US" sz="1600" dirty="0"/>
                </a:p>
              </p:txBody>
            </p:sp>
          </mc:Choice>
          <mc:Fallback xmlns="">
            <p:sp>
              <p:nvSpPr>
                <p:cNvPr id="66" name="文字方塊 65">
                  <a:extLst>
                    <a:ext uri="{FF2B5EF4-FFF2-40B4-BE49-F238E27FC236}">
                      <a16:creationId xmlns:a16="http://schemas.microsoft.com/office/drawing/2014/main" id="{3155A306-7022-41F7-9EF2-991296B9EF00}"/>
                    </a:ext>
                  </a:extLst>
                </p:cNvPr>
                <p:cNvSpPr txBox="1">
                  <a:spLocks noRot="1" noChangeAspect="1" noMove="1" noResize="1" noEditPoints="1" noAdjustHandles="1" noChangeArrowheads="1" noChangeShapeType="1" noTextEdit="1"/>
                </p:cNvSpPr>
                <p:nvPr/>
              </p:nvSpPr>
              <p:spPr>
                <a:xfrm rot="16200000">
                  <a:off x="-602191" y="4434134"/>
                  <a:ext cx="1729641" cy="246221"/>
                </a:xfrm>
                <a:prstGeom prst="rect">
                  <a:avLst/>
                </a:prstGeom>
                <a:blipFill>
                  <a:blip r:embed="rId17"/>
                  <a:stretch>
                    <a:fillRect l="-27500" r="-50000" b="-6688"/>
                  </a:stretch>
                </a:blipFill>
              </p:spPr>
              <p:txBody>
                <a:bodyPr/>
                <a:lstStyle/>
                <a:p>
                  <a:r>
                    <a:rPr lang="zh-TW" altLang="en-US">
                      <a:noFill/>
                    </a:rPr>
                    <a:t> </a:t>
                  </a:r>
                </a:p>
              </p:txBody>
            </p:sp>
          </mc:Fallback>
        </mc:AlternateContent>
      </p:grpSp>
      <p:grpSp>
        <p:nvGrpSpPr>
          <p:cNvPr id="44" name="群組 43">
            <a:extLst>
              <a:ext uri="{FF2B5EF4-FFF2-40B4-BE49-F238E27FC236}">
                <a16:creationId xmlns:a16="http://schemas.microsoft.com/office/drawing/2014/main" id="{885FB82C-7EA5-478A-A5F9-C1389D1BC398}"/>
              </a:ext>
            </a:extLst>
          </p:cNvPr>
          <p:cNvGrpSpPr/>
          <p:nvPr/>
        </p:nvGrpSpPr>
        <p:grpSpPr>
          <a:xfrm>
            <a:off x="2968827" y="3367016"/>
            <a:ext cx="2904567" cy="2779367"/>
            <a:chOff x="2968827" y="3367016"/>
            <a:chExt cx="2904567" cy="2779367"/>
          </a:xfrm>
        </p:grpSpPr>
        <p:pic>
          <p:nvPicPr>
            <p:cNvPr id="39" name="圖片 38">
              <a:extLst>
                <a:ext uri="{FF2B5EF4-FFF2-40B4-BE49-F238E27FC236}">
                  <a16:creationId xmlns:a16="http://schemas.microsoft.com/office/drawing/2014/main" id="{BA2E9F48-261A-4110-8E16-6F170468A8F8}"/>
                </a:ext>
              </a:extLst>
            </p:cNvPr>
            <p:cNvPicPr>
              <a:picLocks noChangeAspect="1"/>
            </p:cNvPicPr>
            <p:nvPr/>
          </p:nvPicPr>
          <p:blipFill rotWithShape="1">
            <a:blip r:embed="rId18">
              <a:extLst>
                <a:ext uri="{28A0092B-C50C-407E-A947-70E740481C1C}">
                  <a14:useLocalDpi xmlns:a14="http://schemas.microsoft.com/office/drawing/2010/main" val="0"/>
                </a:ext>
              </a:extLst>
            </a:blip>
            <a:srcRect l="7539" b="4220"/>
            <a:stretch/>
          </p:blipFill>
          <p:spPr>
            <a:xfrm>
              <a:off x="3238705" y="3367016"/>
              <a:ext cx="2634689" cy="2542760"/>
            </a:xfrm>
            <a:prstGeom prst="rect">
              <a:avLst/>
            </a:prstGeom>
          </p:spPr>
        </p:pic>
        <mc:AlternateContent xmlns:mc="http://schemas.openxmlformats.org/markup-compatibility/2006" xmlns:a14="http://schemas.microsoft.com/office/drawing/2010/main">
          <mc:Choice Requires="a14">
            <p:sp>
              <p:nvSpPr>
                <p:cNvPr id="73" name="文字方塊 72">
                  <a:extLst>
                    <a:ext uri="{FF2B5EF4-FFF2-40B4-BE49-F238E27FC236}">
                      <a16:creationId xmlns:a16="http://schemas.microsoft.com/office/drawing/2014/main" id="{436DFD7F-7688-4720-87F1-A282F103CE5A}"/>
                    </a:ext>
                  </a:extLst>
                </p:cNvPr>
                <p:cNvSpPr txBox="1"/>
                <p:nvPr/>
              </p:nvSpPr>
              <p:spPr>
                <a:xfrm>
                  <a:off x="3719208" y="5909775"/>
                  <a:ext cx="1746388" cy="236608"/>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73" name="文字方塊 72">
                  <a:extLst>
                    <a:ext uri="{FF2B5EF4-FFF2-40B4-BE49-F238E27FC236}">
                      <a16:creationId xmlns:a16="http://schemas.microsoft.com/office/drawing/2014/main" id="{436DFD7F-7688-4720-87F1-A282F103CE5A}"/>
                    </a:ext>
                  </a:extLst>
                </p:cNvPr>
                <p:cNvSpPr txBox="1">
                  <a:spLocks noRot="1" noChangeAspect="1" noMove="1" noResize="1" noEditPoints="1" noAdjustHandles="1" noChangeArrowheads="1" noChangeShapeType="1" noTextEdit="1"/>
                </p:cNvSpPr>
                <p:nvPr/>
              </p:nvSpPr>
              <p:spPr>
                <a:xfrm>
                  <a:off x="3719208" y="5909775"/>
                  <a:ext cx="1746388" cy="236608"/>
                </a:xfrm>
                <a:prstGeom prst="rect">
                  <a:avLst/>
                </a:prstGeom>
                <a:blipFill>
                  <a:blip r:embed="rId19"/>
                  <a:stretch>
                    <a:fillRect l="-6969" t="-25641" r="-9059" b="-56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a:extLst>
                    <a:ext uri="{FF2B5EF4-FFF2-40B4-BE49-F238E27FC236}">
                      <a16:creationId xmlns:a16="http://schemas.microsoft.com/office/drawing/2014/main" id="{31078F1A-E8C3-48E6-8C31-F10864D2F9C8}"/>
                    </a:ext>
                  </a:extLst>
                </p:cNvPr>
                <p:cNvSpPr txBox="1"/>
                <p:nvPr/>
              </p:nvSpPr>
              <p:spPr>
                <a:xfrm rot="16200000">
                  <a:off x="2227117" y="4452647"/>
                  <a:ext cx="1729641" cy="24622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Frobenius error </a:t>
                  </a:r>
                  <a14:m>
                    <m:oMath xmlns:m="http://schemas.openxmlformats.org/officeDocument/2006/math">
                      <m:r>
                        <a:rPr lang="en-US" altLang="zh-TW" sz="1600" b="0" i="1" smtClean="0">
                          <a:latin typeface="Cambria Math" panose="02040503050406030204" pitchFamily="18" charset="0"/>
                        </a:rPr>
                        <m:t>(%)</m:t>
                      </m:r>
                    </m:oMath>
                  </a14:m>
                  <a:endParaRPr lang="zh-TW" altLang="en-US" sz="1600" dirty="0"/>
                </a:p>
              </p:txBody>
            </p:sp>
          </mc:Choice>
          <mc:Fallback xmlns="">
            <p:sp>
              <p:nvSpPr>
                <p:cNvPr id="74" name="文字方塊 73">
                  <a:extLst>
                    <a:ext uri="{FF2B5EF4-FFF2-40B4-BE49-F238E27FC236}">
                      <a16:creationId xmlns:a16="http://schemas.microsoft.com/office/drawing/2014/main" id="{31078F1A-E8C3-48E6-8C31-F10864D2F9C8}"/>
                    </a:ext>
                  </a:extLst>
                </p:cNvPr>
                <p:cNvSpPr txBox="1">
                  <a:spLocks noRot="1" noChangeAspect="1" noMove="1" noResize="1" noEditPoints="1" noAdjustHandles="1" noChangeArrowheads="1" noChangeShapeType="1" noTextEdit="1"/>
                </p:cNvSpPr>
                <p:nvPr/>
              </p:nvSpPr>
              <p:spPr>
                <a:xfrm rot="16200000">
                  <a:off x="2227117" y="4452647"/>
                  <a:ext cx="1729641" cy="246221"/>
                </a:xfrm>
                <a:prstGeom prst="rect">
                  <a:avLst/>
                </a:prstGeom>
                <a:blipFill>
                  <a:blip r:embed="rId20"/>
                  <a:stretch>
                    <a:fillRect l="-27500" t="-1767" r="-50000" b="-7420"/>
                  </a:stretch>
                </a:blipFill>
              </p:spPr>
              <p:txBody>
                <a:bodyPr/>
                <a:lstStyle/>
                <a:p>
                  <a:r>
                    <a:rPr lang="zh-TW" altLang="en-US">
                      <a:noFill/>
                    </a:rPr>
                    <a:t> </a:t>
                  </a:r>
                </a:p>
              </p:txBody>
            </p:sp>
          </mc:Fallback>
        </mc:AlternateContent>
      </p:grpSp>
      <p:grpSp>
        <p:nvGrpSpPr>
          <p:cNvPr id="45" name="群組 44">
            <a:extLst>
              <a:ext uri="{FF2B5EF4-FFF2-40B4-BE49-F238E27FC236}">
                <a16:creationId xmlns:a16="http://schemas.microsoft.com/office/drawing/2014/main" id="{54B60659-C5E6-433E-BAE5-97D133E0FF5A}"/>
              </a:ext>
            </a:extLst>
          </p:cNvPr>
          <p:cNvGrpSpPr/>
          <p:nvPr/>
        </p:nvGrpSpPr>
        <p:grpSpPr>
          <a:xfrm>
            <a:off x="9100062" y="3405795"/>
            <a:ext cx="2874549" cy="2800272"/>
            <a:chOff x="9100062" y="3405795"/>
            <a:chExt cx="2874549" cy="2740588"/>
          </a:xfrm>
        </p:grpSpPr>
        <p:pic>
          <p:nvPicPr>
            <p:cNvPr id="43" name="圖片 42">
              <a:extLst>
                <a:ext uri="{FF2B5EF4-FFF2-40B4-BE49-F238E27FC236}">
                  <a16:creationId xmlns:a16="http://schemas.microsoft.com/office/drawing/2014/main" id="{C3CCE135-B4EF-4F9C-834D-11E6A5B78E0A}"/>
                </a:ext>
              </a:extLst>
            </p:cNvPr>
            <p:cNvPicPr>
              <a:picLocks noChangeAspect="1"/>
            </p:cNvPicPr>
            <p:nvPr/>
          </p:nvPicPr>
          <p:blipFill rotWithShape="1">
            <a:blip r:embed="rId21">
              <a:extLst>
                <a:ext uri="{28A0092B-C50C-407E-A947-70E740481C1C}">
                  <a14:useLocalDpi xmlns:a14="http://schemas.microsoft.com/office/drawing/2010/main" val="0"/>
                </a:ext>
              </a:extLst>
            </a:blip>
            <a:srcRect l="4308" t="1" b="3548"/>
            <a:stretch/>
          </p:blipFill>
          <p:spPr>
            <a:xfrm>
              <a:off x="9340411" y="3405795"/>
              <a:ext cx="2634200" cy="2496919"/>
            </a:xfrm>
            <a:prstGeom prst="rect">
              <a:avLst/>
            </a:prstGeom>
          </p:spPr>
        </p:pic>
        <mc:AlternateContent xmlns:mc="http://schemas.openxmlformats.org/markup-compatibility/2006" xmlns:a14="http://schemas.microsoft.com/office/drawing/2010/main">
          <mc:Choice Requires="a14">
            <p:sp>
              <p:nvSpPr>
                <p:cNvPr id="72" name="文字方塊 71">
                  <a:extLst>
                    <a:ext uri="{FF2B5EF4-FFF2-40B4-BE49-F238E27FC236}">
                      <a16:creationId xmlns:a16="http://schemas.microsoft.com/office/drawing/2014/main" id="{CBCB20C5-7E96-481D-B0B9-288861DAE1ED}"/>
                    </a:ext>
                  </a:extLst>
                </p:cNvPr>
                <p:cNvSpPr txBox="1"/>
                <p:nvPr/>
              </p:nvSpPr>
              <p:spPr>
                <a:xfrm>
                  <a:off x="9809179" y="5909775"/>
                  <a:ext cx="1746388" cy="236608"/>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72" name="文字方塊 71">
                  <a:extLst>
                    <a:ext uri="{FF2B5EF4-FFF2-40B4-BE49-F238E27FC236}">
                      <a16:creationId xmlns:a16="http://schemas.microsoft.com/office/drawing/2014/main" id="{CBCB20C5-7E96-481D-B0B9-288861DAE1ED}"/>
                    </a:ext>
                  </a:extLst>
                </p:cNvPr>
                <p:cNvSpPr txBox="1">
                  <a:spLocks noRot="1" noChangeAspect="1" noMove="1" noResize="1" noEditPoints="1" noAdjustHandles="1" noChangeArrowheads="1" noChangeShapeType="1" noTextEdit="1"/>
                </p:cNvSpPr>
                <p:nvPr/>
              </p:nvSpPr>
              <p:spPr>
                <a:xfrm>
                  <a:off x="9809179" y="5909775"/>
                  <a:ext cx="1746388" cy="236608"/>
                </a:xfrm>
                <a:prstGeom prst="rect">
                  <a:avLst/>
                </a:prstGeom>
                <a:blipFill>
                  <a:blip r:embed="rId22"/>
                  <a:stretch>
                    <a:fillRect l="-6969" t="-25000" r="-9059" b="-5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文字方塊 74">
                  <a:extLst>
                    <a:ext uri="{FF2B5EF4-FFF2-40B4-BE49-F238E27FC236}">
                      <a16:creationId xmlns:a16="http://schemas.microsoft.com/office/drawing/2014/main" id="{DBA3562F-BF66-4FB3-B38F-1E28AC4C0390}"/>
                    </a:ext>
                  </a:extLst>
                </p:cNvPr>
                <p:cNvSpPr txBox="1"/>
                <p:nvPr/>
              </p:nvSpPr>
              <p:spPr>
                <a:xfrm rot="16200000">
                  <a:off x="8379460" y="4494176"/>
                  <a:ext cx="1687425" cy="246221"/>
                </a:xfrm>
                <a:prstGeom prst="rect">
                  <a:avLst/>
                </a:prstGeom>
                <a:noFill/>
              </p:spPr>
              <p:txBody>
                <a:bodyPr wrap="square" lIns="0" tIns="0" rIns="0" bIns="0" rtlCol="0">
                  <a:spAutoFit/>
                </a:bodyPr>
                <a:lstStyle/>
                <a:p>
                  <a:r>
                    <a:rPr lang="en-US" altLang="zh-TW" sz="1600" dirty="0">
                      <a:latin typeface="Times New Roman" panose="02020603050405020304" pitchFamily="18" charset="0"/>
                      <a:cs typeface="Times New Roman" panose="02020603050405020304" pitchFamily="18" charset="0"/>
                    </a:rPr>
                    <a:t>Frobenius error </a:t>
                  </a:r>
                  <a14:m>
                    <m:oMath xmlns:m="http://schemas.openxmlformats.org/officeDocument/2006/math">
                      <m:r>
                        <a:rPr lang="en-US" altLang="zh-TW" sz="1600" b="0" i="1" smtClean="0">
                          <a:latin typeface="Cambria Math" panose="02040503050406030204" pitchFamily="18" charset="0"/>
                        </a:rPr>
                        <m:t>(%)</m:t>
                      </m:r>
                    </m:oMath>
                  </a14:m>
                  <a:endParaRPr lang="zh-TW" altLang="en-US" sz="1600" dirty="0"/>
                </a:p>
              </p:txBody>
            </p:sp>
          </mc:Choice>
          <mc:Fallback xmlns="">
            <p:sp>
              <p:nvSpPr>
                <p:cNvPr id="75" name="文字方塊 74">
                  <a:extLst>
                    <a:ext uri="{FF2B5EF4-FFF2-40B4-BE49-F238E27FC236}">
                      <a16:creationId xmlns:a16="http://schemas.microsoft.com/office/drawing/2014/main" id="{DBA3562F-BF66-4FB3-B38F-1E28AC4C0390}"/>
                    </a:ext>
                  </a:extLst>
                </p:cNvPr>
                <p:cNvSpPr txBox="1">
                  <a:spLocks noRot="1" noChangeAspect="1" noMove="1" noResize="1" noEditPoints="1" noAdjustHandles="1" noChangeArrowheads="1" noChangeShapeType="1" noTextEdit="1"/>
                </p:cNvSpPr>
                <p:nvPr/>
              </p:nvSpPr>
              <p:spPr>
                <a:xfrm rot="16200000">
                  <a:off x="8379460" y="4494176"/>
                  <a:ext cx="1687425" cy="246221"/>
                </a:xfrm>
                <a:prstGeom prst="rect">
                  <a:avLst/>
                </a:prstGeom>
                <a:blipFill>
                  <a:blip r:embed="rId23"/>
                  <a:stretch>
                    <a:fillRect l="-30000" t="-1767" r="-47500" b="-7420"/>
                  </a:stretch>
                </a:blipFill>
              </p:spPr>
              <p:txBody>
                <a:bodyPr/>
                <a:lstStyle/>
                <a:p>
                  <a:r>
                    <a:rPr lang="zh-TW" altLang="en-US">
                      <a:noFill/>
                    </a:rPr>
                    <a:t> </a:t>
                  </a:r>
                </a:p>
              </p:txBody>
            </p:sp>
          </mc:Fallback>
        </mc:AlternateContent>
      </p:grpSp>
      <p:grpSp>
        <p:nvGrpSpPr>
          <p:cNvPr id="46" name="群組 45">
            <a:extLst>
              <a:ext uri="{FF2B5EF4-FFF2-40B4-BE49-F238E27FC236}">
                <a16:creationId xmlns:a16="http://schemas.microsoft.com/office/drawing/2014/main" id="{52B69934-FC61-4EB9-B117-5D8C33B1345D}"/>
              </a:ext>
            </a:extLst>
          </p:cNvPr>
          <p:cNvGrpSpPr/>
          <p:nvPr/>
        </p:nvGrpSpPr>
        <p:grpSpPr>
          <a:xfrm>
            <a:off x="6204773" y="3429000"/>
            <a:ext cx="2821435" cy="2717383"/>
            <a:chOff x="6204773" y="3429000"/>
            <a:chExt cx="2821435" cy="2599079"/>
          </a:xfrm>
        </p:grpSpPr>
        <p:grpSp>
          <p:nvGrpSpPr>
            <p:cNvPr id="28" name="群組 27">
              <a:extLst>
                <a:ext uri="{FF2B5EF4-FFF2-40B4-BE49-F238E27FC236}">
                  <a16:creationId xmlns:a16="http://schemas.microsoft.com/office/drawing/2014/main" id="{E4654F1E-C133-4B46-84B1-1D38EEA0286D}"/>
                </a:ext>
              </a:extLst>
            </p:cNvPr>
            <p:cNvGrpSpPr/>
            <p:nvPr/>
          </p:nvGrpSpPr>
          <p:grpSpPr>
            <a:xfrm>
              <a:off x="6281943" y="3429000"/>
              <a:ext cx="2744265" cy="2541286"/>
              <a:chOff x="6281943" y="3429000"/>
              <a:chExt cx="2744265" cy="2541286"/>
            </a:xfrm>
          </p:grpSpPr>
          <p:pic>
            <p:nvPicPr>
              <p:cNvPr id="21" name="圖片 20">
                <a:extLst>
                  <a:ext uri="{FF2B5EF4-FFF2-40B4-BE49-F238E27FC236}">
                    <a16:creationId xmlns:a16="http://schemas.microsoft.com/office/drawing/2014/main" id="{A9F6998F-6FF1-4369-BE18-946C221975A6}"/>
                  </a:ext>
                </a:extLst>
              </p:cNvPr>
              <p:cNvPicPr>
                <a:picLocks noChangeAspect="1"/>
              </p:cNvPicPr>
              <p:nvPr/>
            </p:nvPicPr>
            <p:blipFill rotWithShape="1">
              <a:blip r:embed="rId24">
                <a:extLst>
                  <a:ext uri="{28A0092B-C50C-407E-A947-70E740481C1C}">
                    <a14:useLocalDpi xmlns:a14="http://schemas.microsoft.com/office/drawing/2010/main" val="0"/>
                  </a:ext>
                </a:extLst>
              </a:blip>
              <a:srcRect l="3809" b="2969"/>
              <a:stretch/>
            </p:blipFill>
            <p:spPr>
              <a:xfrm>
                <a:off x="6392008" y="3429000"/>
                <a:ext cx="2634200" cy="2419017"/>
              </a:xfrm>
              <a:prstGeom prst="rect">
                <a:avLst/>
              </a:prstGeom>
            </p:spPr>
          </p:pic>
          <p:sp>
            <p:nvSpPr>
              <p:cNvPr id="24" name="矩形 23">
                <a:extLst>
                  <a:ext uri="{FF2B5EF4-FFF2-40B4-BE49-F238E27FC236}">
                    <a16:creationId xmlns:a16="http://schemas.microsoft.com/office/drawing/2014/main" id="{E8F44762-177D-47C5-8372-B3A7E1D48834}"/>
                  </a:ext>
                </a:extLst>
              </p:cNvPr>
              <p:cNvSpPr/>
              <p:nvPr/>
            </p:nvSpPr>
            <p:spPr>
              <a:xfrm>
                <a:off x="6281943" y="4008492"/>
                <a:ext cx="135140" cy="1134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FF8DBA14-D5FD-4DAE-8B92-8FC609263A7D}"/>
                  </a:ext>
                </a:extLst>
              </p:cNvPr>
              <p:cNvSpPr/>
              <p:nvPr/>
            </p:nvSpPr>
            <p:spPr>
              <a:xfrm rot="16200000">
                <a:off x="7641538" y="5335449"/>
                <a:ext cx="135140" cy="1134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8" name="文字方塊 57">
                  <a:extLst>
                    <a:ext uri="{FF2B5EF4-FFF2-40B4-BE49-F238E27FC236}">
                      <a16:creationId xmlns:a16="http://schemas.microsoft.com/office/drawing/2014/main" id="{D3DBC255-5AEF-48E3-AA72-B0CFFC9492E7}"/>
                    </a:ext>
                  </a:extLst>
                </p:cNvPr>
                <p:cNvSpPr txBox="1"/>
                <p:nvPr/>
              </p:nvSpPr>
              <p:spPr>
                <a:xfrm>
                  <a:off x="6946246" y="5791471"/>
                  <a:ext cx="1746388" cy="236608"/>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Number of point</a:t>
                  </a:r>
                  <a:r>
                    <a:rPr lang="en-US" altLang="zh-TW" sz="1600" dirty="0"/>
                    <a:t> </a:t>
                  </a:r>
                  <a14:m>
                    <m:oMath xmlns:m="http://schemas.openxmlformats.org/officeDocument/2006/math">
                      <m:r>
                        <a:rPr lang="en-US" altLang="zh-TW" sz="1600" b="0" i="1" smtClean="0">
                          <a:latin typeface="Cambria Math" panose="02040503050406030204" pitchFamily="18" charset="0"/>
                        </a:rPr>
                        <m:t>(</m:t>
                      </m:r>
                      <m:sSub>
                        <m:sSubPr>
                          <m:ctrlPr>
                            <a:rPr lang="en-US" altLang="zh-TW" sz="1600" b="0" i="1" smtClean="0">
                              <a:latin typeface="Cambria Math" panose="02040503050406030204" pitchFamily="18" charset="0"/>
                            </a:rPr>
                          </m:ctrlPr>
                        </m:sSubPr>
                        <m:e>
                          <m:r>
                            <a:rPr lang="en-US" altLang="zh-TW" sz="1600" b="0" i="1" smtClean="0">
                              <a:latin typeface="Cambria Math" panose="02040503050406030204" pitchFamily="18" charset="0"/>
                            </a:rPr>
                            <m:t>𝑁</m:t>
                          </m:r>
                        </m:e>
                        <m:sub>
                          <m:r>
                            <a:rPr lang="en-US" altLang="zh-TW" sz="1600" b="0" i="1" smtClean="0">
                              <a:latin typeface="Cambria Math" panose="02040503050406030204" pitchFamily="18" charset="0"/>
                            </a:rPr>
                            <m:t>𝑝</m:t>
                          </m:r>
                        </m:sub>
                      </m:sSub>
                      <m:r>
                        <a:rPr lang="en-US" altLang="zh-TW" sz="1600" b="0" i="1" smtClean="0">
                          <a:latin typeface="Cambria Math" panose="02040503050406030204" pitchFamily="18" charset="0"/>
                        </a:rPr>
                        <m:t>)</m:t>
                      </m:r>
                    </m:oMath>
                  </a14:m>
                  <a:endParaRPr lang="zh-TW" altLang="en-US" sz="1600" dirty="0"/>
                </a:p>
              </p:txBody>
            </p:sp>
          </mc:Choice>
          <mc:Fallback xmlns="">
            <p:sp>
              <p:nvSpPr>
                <p:cNvPr id="58" name="文字方塊 57">
                  <a:extLst>
                    <a:ext uri="{FF2B5EF4-FFF2-40B4-BE49-F238E27FC236}">
                      <a16:creationId xmlns:a16="http://schemas.microsoft.com/office/drawing/2014/main" id="{D3DBC255-5AEF-48E3-AA72-B0CFFC9492E7}"/>
                    </a:ext>
                  </a:extLst>
                </p:cNvPr>
                <p:cNvSpPr txBox="1">
                  <a:spLocks noRot="1" noChangeAspect="1" noMove="1" noResize="1" noEditPoints="1" noAdjustHandles="1" noChangeArrowheads="1" noChangeShapeType="1" noTextEdit="1"/>
                </p:cNvSpPr>
                <p:nvPr/>
              </p:nvSpPr>
              <p:spPr>
                <a:xfrm>
                  <a:off x="6946246" y="5791471"/>
                  <a:ext cx="1746388" cy="236608"/>
                </a:xfrm>
                <a:prstGeom prst="rect">
                  <a:avLst/>
                </a:prstGeom>
                <a:blipFill>
                  <a:blip r:embed="rId25"/>
                  <a:stretch>
                    <a:fillRect l="-6969" t="-27500" r="-9059" b="-5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6" name="文字方塊 75">
                  <a:extLst>
                    <a:ext uri="{FF2B5EF4-FFF2-40B4-BE49-F238E27FC236}">
                      <a16:creationId xmlns:a16="http://schemas.microsoft.com/office/drawing/2014/main" id="{6F1BF0D4-3ED1-4B8C-89F2-2F9B983B2B1A}"/>
                    </a:ext>
                  </a:extLst>
                </p:cNvPr>
                <p:cNvSpPr txBox="1"/>
                <p:nvPr/>
              </p:nvSpPr>
              <p:spPr>
                <a:xfrm rot="16200000">
                  <a:off x="5463063" y="4402721"/>
                  <a:ext cx="1729641" cy="246221"/>
                </a:xfrm>
                <a:prstGeom prst="rect">
                  <a:avLst/>
                </a:prstGeom>
                <a:noFill/>
              </p:spPr>
              <p:txBody>
                <a:bodyPr wrap="none" lIns="0" tIns="0" rIns="0" bIns="0" rtlCol="0">
                  <a:spAutoFit/>
                </a:bodyPr>
                <a:lstStyle/>
                <a:p>
                  <a:r>
                    <a:rPr lang="en-US" altLang="zh-TW" sz="1600" dirty="0">
                      <a:latin typeface="Times New Roman" panose="02020603050405020304" pitchFamily="18" charset="0"/>
                      <a:cs typeface="Times New Roman" panose="02020603050405020304" pitchFamily="18" charset="0"/>
                    </a:rPr>
                    <a:t>Frobenius error </a:t>
                  </a:r>
                  <a14:m>
                    <m:oMath xmlns:m="http://schemas.openxmlformats.org/officeDocument/2006/math">
                      <m:r>
                        <a:rPr lang="en-US" altLang="zh-TW" sz="1600" b="0" i="1" smtClean="0">
                          <a:latin typeface="Cambria Math" panose="02040503050406030204" pitchFamily="18" charset="0"/>
                        </a:rPr>
                        <m:t>(%)</m:t>
                      </m:r>
                    </m:oMath>
                  </a14:m>
                  <a:endParaRPr lang="zh-TW" altLang="en-US" sz="1600" dirty="0"/>
                </a:p>
              </p:txBody>
            </p:sp>
          </mc:Choice>
          <mc:Fallback xmlns="">
            <p:sp>
              <p:nvSpPr>
                <p:cNvPr id="76" name="文字方塊 75">
                  <a:extLst>
                    <a:ext uri="{FF2B5EF4-FFF2-40B4-BE49-F238E27FC236}">
                      <a16:creationId xmlns:a16="http://schemas.microsoft.com/office/drawing/2014/main" id="{6F1BF0D4-3ED1-4B8C-89F2-2F9B983B2B1A}"/>
                    </a:ext>
                  </a:extLst>
                </p:cNvPr>
                <p:cNvSpPr txBox="1">
                  <a:spLocks noRot="1" noChangeAspect="1" noMove="1" noResize="1" noEditPoints="1" noAdjustHandles="1" noChangeArrowheads="1" noChangeShapeType="1" noTextEdit="1"/>
                </p:cNvSpPr>
                <p:nvPr/>
              </p:nvSpPr>
              <p:spPr>
                <a:xfrm rot="16200000">
                  <a:off x="5463063" y="4402721"/>
                  <a:ext cx="1729641" cy="246221"/>
                </a:xfrm>
                <a:prstGeom prst="rect">
                  <a:avLst/>
                </a:prstGeom>
                <a:blipFill>
                  <a:blip r:embed="rId26"/>
                  <a:stretch>
                    <a:fillRect l="-30000" r="-47500" b="-673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530656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173567" y="587052"/>
            <a:ext cx="11844866" cy="2206948"/>
          </a:xfrm>
          <a:prstGeom prst="rect">
            <a:avLst/>
          </a:prstGeom>
          <a:noFill/>
        </p:spPr>
        <p:txBody>
          <a:bodyPr wrap="square" rtlCol="0">
            <a:normAutofit fontScale="92500"/>
          </a:bodyPr>
          <a:lstStyle/>
          <a:p>
            <a:pPr marL="285750" indent="-285750">
              <a:buFont typeface="Wingdings" panose="05000000000000000000" pitchFamily="2" charset="2"/>
              <a:buChar char="Ø"/>
            </a:pPr>
            <a:r>
              <a:rPr lang="en-US" altLang="zh-TW" dirty="0"/>
              <a:t>Setup: The calibration side is identical to the previous slide: the same R sweep, the same converged reduced design at each R. What changes is the evaluation: the predict is computed on every real FEM node inside R.</a:t>
            </a:r>
          </a:p>
          <a:p>
            <a:pPr marL="285750" indent="-285750">
              <a:buFont typeface="Wingdings" panose="05000000000000000000" pitchFamily="2" charset="2"/>
              <a:buChar char="Ø"/>
            </a:pPr>
            <a:r>
              <a:rPr lang="en-US" altLang="zh-TW" dirty="0"/>
              <a:t>Predict error rises monotonically with workspace radius for both designs and degrades sharply beyond the 150 µm calibration radius: Long grows from 0.20 </a:t>
            </a:r>
            <a:r>
              <a:rPr lang="en-US" altLang="zh-TW" dirty="0" err="1"/>
              <a:t>mT</a:t>
            </a:r>
            <a:r>
              <a:rPr lang="en-US" altLang="zh-TW" dirty="0"/>
              <a:t> at R = 160 µm to 0.92 </a:t>
            </a:r>
            <a:r>
              <a:rPr lang="en-US" altLang="zh-TW" dirty="0" err="1"/>
              <a:t>mT</a:t>
            </a:r>
            <a:r>
              <a:rPr lang="en-US" altLang="zh-TW" dirty="0"/>
              <a:t> at 400 µm and 4.12 </a:t>
            </a:r>
            <a:r>
              <a:rPr lang="en-US" altLang="zh-TW" dirty="0" err="1"/>
              <a:t>mT</a:t>
            </a:r>
            <a:r>
              <a:rPr lang="en-US" altLang="zh-TW" dirty="0"/>
              <a:t> at 500 µm, while </a:t>
            </a:r>
            <a:r>
              <a:rPr lang="en-US" altLang="zh-TW" dirty="0" err="1"/>
              <a:t>Zhi</a:t>
            </a:r>
            <a:r>
              <a:rPr lang="en-US" altLang="zh-TW" dirty="0"/>
              <a:t>-Peng grows from 2.11 </a:t>
            </a:r>
            <a:r>
              <a:rPr lang="en-US" altLang="zh-TW" dirty="0" err="1"/>
              <a:t>mT</a:t>
            </a:r>
            <a:r>
              <a:rPr lang="en-US" altLang="zh-TW" dirty="0"/>
              <a:t> to 10.39 </a:t>
            </a:r>
            <a:r>
              <a:rPr lang="en-US" altLang="zh-TW" dirty="0" err="1"/>
              <a:t>mT</a:t>
            </a:r>
            <a:r>
              <a:rPr lang="en-US" altLang="zh-TW" dirty="0"/>
              <a:t> and 18.91 </a:t>
            </a:r>
            <a:r>
              <a:rPr lang="en-US" altLang="zh-TW" dirty="0" err="1"/>
              <a:t>mT.</a:t>
            </a:r>
            <a:r>
              <a:rPr lang="en-US" altLang="zh-TW" dirty="0"/>
              <a:t> The eighteen-parameter fit is lower at every radius, but its advantage collapses with R — from 7.6× to 1.07× for Long and from 13.2× to 1.8× for </a:t>
            </a:r>
            <a:r>
              <a:rPr lang="en-US" altLang="zh-TW" dirty="0" err="1"/>
              <a:t>Zhi</a:t>
            </a:r>
            <a:r>
              <a:rPr lang="en-US" altLang="zh-TW" dirty="0"/>
              <a:t>-Peng — showing that charge offsets correct near-field structure only and cannot compensate the far-field model error. Long remains about an order of magnitude more accurate than </a:t>
            </a:r>
            <a:r>
              <a:rPr lang="en-US" altLang="zh-TW" dirty="0" err="1"/>
              <a:t>Zhi</a:t>
            </a:r>
            <a:r>
              <a:rPr lang="en-US" altLang="zh-TW" dirty="0"/>
              <a:t>-Peng, so the conical hexapole extrapolates markedly better; for both, the model is trustworthy only near the calibration radius.</a:t>
            </a:r>
          </a:p>
          <a:p>
            <a:endParaRPr lang="en-US" altLang="zh-TW" dirty="0"/>
          </a:p>
        </p:txBody>
      </p:sp>
      <p:sp>
        <p:nvSpPr>
          <p:cNvPr id="6" name="文字方塊 5">
            <a:extLst>
              <a:ext uri="{FF2B5EF4-FFF2-40B4-BE49-F238E27FC236}">
                <a16:creationId xmlns:a16="http://schemas.microsoft.com/office/drawing/2014/main" id="{12652E72-3406-4432-8BF0-0119B9DB77DB}"/>
              </a:ext>
            </a:extLst>
          </p:cNvPr>
          <p:cNvSpPr txBox="1"/>
          <p:nvPr/>
        </p:nvSpPr>
        <p:spPr>
          <a:xfrm>
            <a:off x="693207" y="2758066"/>
            <a:ext cx="30395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17" name="文字方塊 16">
            <a:extLst>
              <a:ext uri="{FF2B5EF4-FFF2-40B4-BE49-F238E27FC236}">
                <a16:creationId xmlns:a16="http://schemas.microsoft.com/office/drawing/2014/main" id="{E7AB5F81-21C3-48CC-BC07-150DF9DA0D59}"/>
              </a:ext>
            </a:extLst>
          </p:cNvPr>
          <p:cNvSpPr txBox="1"/>
          <p:nvPr/>
        </p:nvSpPr>
        <p:spPr>
          <a:xfrm>
            <a:off x="6585859" y="2722131"/>
            <a:ext cx="292601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grpSp>
        <p:nvGrpSpPr>
          <p:cNvPr id="16" name="群組 15">
            <a:extLst>
              <a:ext uri="{FF2B5EF4-FFF2-40B4-BE49-F238E27FC236}">
                <a16:creationId xmlns:a16="http://schemas.microsoft.com/office/drawing/2014/main" id="{F8E27487-DF9C-46E4-9404-5AED5E3B199D}"/>
              </a:ext>
            </a:extLst>
          </p:cNvPr>
          <p:cNvGrpSpPr/>
          <p:nvPr/>
        </p:nvGrpSpPr>
        <p:grpSpPr>
          <a:xfrm>
            <a:off x="1218030" y="3322750"/>
            <a:ext cx="3165553" cy="2712530"/>
            <a:chOff x="1218030" y="3322750"/>
            <a:chExt cx="3165553" cy="2712530"/>
          </a:xfrm>
        </p:grpSpPr>
        <p:pic>
          <p:nvPicPr>
            <p:cNvPr id="7" name="圖片 6">
              <a:extLst>
                <a:ext uri="{FF2B5EF4-FFF2-40B4-BE49-F238E27FC236}">
                  <a16:creationId xmlns:a16="http://schemas.microsoft.com/office/drawing/2014/main" id="{EFD798C7-5899-413F-BDDB-88BC6D88C5F3}"/>
                </a:ext>
              </a:extLst>
            </p:cNvPr>
            <p:cNvPicPr>
              <a:picLocks noChangeAspect="1"/>
            </p:cNvPicPr>
            <p:nvPr/>
          </p:nvPicPr>
          <p:blipFill rotWithShape="1">
            <a:blip r:embed="rId2">
              <a:extLst>
                <a:ext uri="{28A0092B-C50C-407E-A947-70E740481C1C}">
                  <a14:useLocalDpi xmlns:a14="http://schemas.microsoft.com/office/drawing/2010/main" val="0"/>
                </a:ext>
              </a:extLst>
            </a:blip>
            <a:srcRect l="5928" b="3441"/>
            <a:stretch/>
          </p:blipFill>
          <p:spPr>
            <a:xfrm>
              <a:off x="1583267" y="3322750"/>
              <a:ext cx="2800316" cy="2435531"/>
            </a:xfrm>
            <a:prstGeom prst="rect">
              <a:avLst/>
            </a:prstGeom>
          </p:spPr>
        </p:pic>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7128B0E9-B372-4C28-8A97-3B2A1DF80F02}"/>
                    </a:ext>
                  </a:extLst>
                </p:cNvPr>
                <p:cNvSpPr txBox="1"/>
                <p:nvPr/>
              </p:nvSpPr>
              <p:spPr>
                <a:xfrm>
                  <a:off x="1874980" y="5758281"/>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29" name="文字方塊 28">
                  <a:extLst>
                    <a:ext uri="{FF2B5EF4-FFF2-40B4-BE49-F238E27FC236}">
                      <a16:creationId xmlns:a16="http://schemas.microsoft.com/office/drawing/2014/main" id="{7128B0E9-B372-4C28-8A97-3B2A1DF80F02}"/>
                    </a:ext>
                  </a:extLst>
                </p:cNvPr>
                <p:cNvSpPr txBox="1">
                  <a:spLocks noRot="1" noChangeAspect="1" noMove="1" noResize="1" noEditPoints="1" noAdjustHandles="1" noChangeArrowheads="1" noChangeShapeType="1" noTextEdit="1"/>
                </p:cNvSpPr>
                <p:nvPr/>
              </p:nvSpPr>
              <p:spPr>
                <a:xfrm>
                  <a:off x="1874980" y="5758281"/>
                  <a:ext cx="2216889" cy="276999"/>
                </a:xfrm>
                <a:prstGeom prst="rect">
                  <a:avLst/>
                </a:prstGeom>
                <a:blipFill>
                  <a:blip r:embed="rId3"/>
                  <a:stretch>
                    <a:fillRect l="-6612" t="-31111" r="-4408" b="-48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DDE06893-DD59-426B-8E60-4DA4F7BDDD64}"/>
                    </a:ext>
                  </a:extLst>
                </p:cNvPr>
                <p:cNvSpPr txBox="1"/>
                <p:nvPr/>
              </p:nvSpPr>
              <p:spPr>
                <a:xfrm rot="16200000">
                  <a:off x="397934" y="4402015"/>
                  <a:ext cx="1917192"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Modeling error</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en-US" altLang="zh-TW" b="0" i="1" smtClean="0">
                          <a:latin typeface="Cambria Math" panose="02040503050406030204" pitchFamily="18" charset="0"/>
                        </a:rPr>
                        <m:t>(%)</m:t>
                      </m:r>
                    </m:oMath>
                  </a14:m>
                  <a:endParaRPr lang="zh-TW" altLang="en-US" dirty="0"/>
                </a:p>
              </p:txBody>
            </p:sp>
          </mc:Choice>
          <mc:Fallback xmlns="">
            <p:sp>
              <p:nvSpPr>
                <p:cNvPr id="30" name="文字方塊 29">
                  <a:extLst>
                    <a:ext uri="{FF2B5EF4-FFF2-40B4-BE49-F238E27FC236}">
                      <a16:creationId xmlns:a16="http://schemas.microsoft.com/office/drawing/2014/main" id="{DDE06893-DD59-426B-8E60-4DA4F7BDDD64}"/>
                    </a:ext>
                  </a:extLst>
                </p:cNvPr>
                <p:cNvSpPr txBox="1">
                  <a:spLocks noRot="1" noChangeAspect="1" noMove="1" noResize="1" noEditPoints="1" noAdjustHandles="1" noChangeArrowheads="1" noChangeShapeType="1" noTextEdit="1"/>
                </p:cNvSpPr>
                <p:nvPr/>
              </p:nvSpPr>
              <p:spPr>
                <a:xfrm rot="16200000">
                  <a:off x="397934" y="4402015"/>
                  <a:ext cx="1917192" cy="276999"/>
                </a:xfrm>
                <a:prstGeom prst="rect">
                  <a:avLst/>
                </a:prstGeom>
                <a:blipFill>
                  <a:blip r:embed="rId4"/>
                  <a:stretch>
                    <a:fillRect l="-31111" t="-5096" r="-48889" b="-4777"/>
                  </a:stretch>
                </a:blipFill>
              </p:spPr>
              <p:txBody>
                <a:bodyPr/>
                <a:lstStyle/>
                <a:p>
                  <a:r>
                    <a:rPr lang="zh-TW" altLang="en-US">
                      <a:noFill/>
                    </a:rPr>
                    <a:t> </a:t>
                  </a:r>
                </a:p>
              </p:txBody>
            </p:sp>
          </mc:Fallback>
        </mc:AlternateContent>
      </p:grpSp>
      <p:grpSp>
        <p:nvGrpSpPr>
          <p:cNvPr id="18" name="群組 17">
            <a:extLst>
              <a:ext uri="{FF2B5EF4-FFF2-40B4-BE49-F238E27FC236}">
                <a16:creationId xmlns:a16="http://schemas.microsoft.com/office/drawing/2014/main" id="{0E5E7B8A-0B96-4DC9-8F9E-1CF2A3A4A8F4}"/>
              </a:ext>
            </a:extLst>
          </p:cNvPr>
          <p:cNvGrpSpPr/>
          <p:nvPr/>
        </p:nvGrpSpPr>
        <p:grpSpPr>
          <a:xfrm>
            <a:off x="6824133" y="3295325"/>
            <a:ext cx="3361266" cy="2739955"/>
            <a:chOff x="6878593" y="3295325"/>
            <a:chExt cx="3306806" cy="2792869"/>
          </a:xfrm>
        </p:grpSpPr>
        <p:pic>
          <p:nvPicPr>
            <p:cNvPr id="4" name="圖片 3">
              <a:extLst>
                <a:ext uri="{FF2B5EF4-FFF2-40B4-BE49-F238E27FC236}">
                  <a16:creationId xmlns:a16="http://schemas.microsoft.com/office/drawing/2014/main" id="{F648C858-6027-4E41-9456-9522F70E9C65}"/>
                </a:ext>
              </a:extLst>
            </p:cNvPr>
            <p:cNvPicPr>
              <a:picLocks noChangeAspect="1"/>
            </p:cNvPicPr>
            <p:nvPr/>
          </p:nvPicPr>
          <p:blipFill rotWithShape="1">
            <a:blip r:embed="rId5">
              <a:extLst>
                <a:ext uri="{28A0092B-C50C-407E-A947-70E740481C1C}">
                  <a14:useLocalDpi xmlns:a14="http://schemas.microsoft.com/office/drawing/2010/main" val="0"/>
                </a:ext>
              </a:extLst>
            </a:blip>
            <a:srcRect l="5689" b="3715"/>
            <a:stretch/>
          </p:blipFill>
          <p:spPr>
            <a:xfrm>
              <a:off x="7155592" y="3295325"/>
              <a:ext cx="3029807" cy="2589007"/>
            </a:xfrm>
            <a:prstGeom prst="rect">
              <a:avLst/>
            </a:prstGeom>
          </p:spPr>
        </p:pic>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0F66DBE2-5949-4DD0-91EC-D96760E7DAE2}"/>
                    </a:ext>
                  </a:extLst>
                </p:cNvPr>
                <p:cNvSpPr txBox="1"/>
                <p:nvPr/>
              </p:nvSpPr>
              <p:spPr>
                <a:xfrm>
                  <a:off x="7674647" y="5811195"/>
                  <a:ext cx="2216889" cy="276999"/>
                </a:xfrm>
                <a:prstGeom prst="rect">
                  <a:avLst/>
                </a:prstGeom>
                <a:noFill/>
              </p:spPr>
              <p:txBody>
                <a:bodyPr wrap="none" lIns="0" tIns="0" rIns="0" bIns="0" rtlCol="0">
                  <a:spAutoFit/>
                </a:bodyPr>
                <a:lstStyle/>
                <a:p>
                  <a:r>
                    <a:rPr lang="en-US" altLang="zh-TW" dirty="0">
                      <a:latin typeface="Times New Roman" panose="02020603050405020304" pitchFamily="18" charset="0"/>
                      <a:cs typeface="Times New Roman" panose="02020603050405020304" pitchFamily="18" charset="0"/>
                    </a:rPr>
                    <a:t>Workspace radius </a:t>
                  </a:r>
                  <a14:m>
                    <m:oMath xmlns:m="http://schemas.openxmlformats.org/officeDocument/2006/math">
                      <m:r>
                        <a:rPr lang="en-US" altLang="zh-TW" b="0" i="1" smtClean="0">
                          <a:latin typeface="Cambria Math" panose="02040503050406030204" pitchFamily="18" charset="0"/>
                        </a:rPr>
                        <m:t>(</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1" smtClean="0">
                          <a:latin typeface="Cambria Math" panose="02040503050406030204" pitchFamily="18" charset="0"/>
                        </a:rPr>
                        <m:t>)</m:t>
                      </m:r>
                    </m:oMath>
                  </a14:m>
                  <a:endParaRPr lang="zh-TW" altLang="en-US" dirty="0"/>
                </a:p>
              </p:txBody>
            </p:sp>
          </mc:Choice>
          <mc:Fallback xmlns="">
            <p:sp>
              <p:nvSpPr>
                <p:cNvPr id="31" name="文字方塊 30">
                  <a:extLst>
                    <a:ext uri="{FF2B5EF4-FFF2-40B4-BE49-F238E27FC236}">
                      <a16:creationId xmlns:a16="http://schemas.microsoft.com/office/drawing/2014/main" id="{0F66DBE2-5949-4DD0-91EC-D96760E7DAE2}"/>
                    </a:ext>
                  </a:extLst>
                </p:cNvPr>
                <p:cNvSpPr txBox="1">
                  <a:spLocks noRot="1" noChangeAspect="1" noMove="1" noResize="1" noEditPoints="1" noAdjustHandles="1" noChangeArrowheads="1" noChangeShapeType="1" noTextEdit="1"/>
                </p:cNvSpPr>
                <p:nvPr/>
              </p:nvSpPr>
              <p:spPr>
                <a:xfrm>
                  <a:off x="7674647" y="5811195"/>
                  <a:ext cx="2216889" cy="276999"/>
                </a:xfrm>
                <a:prstGeom prst="rect">
                  <a:avLst/>
                </a:prstGeom>
                <a:blipFill>
                  <a:blip r:embed="rId6"/>
                  <a:stretch>
                    <a:fillRect l="-6216" t="-31111" r="-2432" b="-5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BAA27109-27EC-4A03-A649-49B974D3719C}"/>
                    </a:ext>
                  </a:extLst>
                </p:cNvPr>
                <p:cNvSpPr txBox="1"/>
                <p:nvPr/>
              </p:nvSpPr>
              <p:spPr>
                <a:xfrm rot="16200000">
                  <a:off x="6058497" y="4402015"/>
                  <a:ext cx="1917192"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Modeling error</a:t>
                  </a:r>
                  <a:r>
                    <a:rPr lang="zh-TW" altLang="en-US" dirty="0">
                      <a:latin typeface="Times New Roman" panose="02020603050405020304" pitchFamily="18" charset="0"/>
                      <a:cs typeface="Times New Roman" panose="02020603050405020304" pitchFamily="18" charset="0"/>
                    </a:rPr>
                    <a:t> </a:t>
                  </a:r>
                  <a14:m>
                    <m:oMath xmlns:m="http://schemas.openxmlformats.org/officeDocument/2006/math">
                      <m:r>
                        <a:rPr lang="en-US" altLang="zh-TW" b="0" i="1" smtClean="0">
                          <a:latin typeface="Cambria Math" panose="02040503050406030204" pitchFamily="18" charset="0"/>
                        </a:rPr>
                        <m:t>(%)</m:t>
                      </m:r>
                    </m:oMath>
                  </a14:m>
                  <a:endParaRPr lang="zh-TW" altLang="en-US" dirty="0"/>
                </a:p>
              </p:txBody>
            </p:sp>
          </mc:Choice>
          <mc:Fallback xmlns="">
            <p:sp>
              <p:nvSpPr>
                <p:cNvPr id="32" name="文字方塊 31">
                  <a:extLst>
                    <a:ext uri="{FF2B5EF4-FFF2-40B4-BE49-F238E27FC236}">
                      <a16:creationId xmlns:a16="http://schemas.microsoft.com/office/drawing/2014/main" id="{BAA27109-27EC-4A03-A649-49B974D3719C}"/>
                    </a:ext>
                  </a:extLst>
                </p:cNvPr>
                <p:cNvSpPr txBox="1">
                  <a:spLocks noRot="1" noChangeAspect="1" noMove="1" noResize="1" noEditPoints="1" noAdjustHandles="1" noChangeArrowheads="1" noChangeShapeType="1" noTextEdit="1"/>
                </p:cNvSpPr>
                <p:nvPr/>
              </p:nvSpPr>
              <p:spPr>
                <a:xfrm rot="16200000">
                  <a:off x="6058497" y="4402015"/>
                  <a:ext cx="1917192" cy="276999"/>
                </a:xfrm>
                <a:prstGeom prst="rect">
                  <a:avLst/>
                </a:prstGeom>
                <a:blipFill>
                  <a:blip r:embed="rId7"/>
                  <a:stretch>
                    <a:fillRect l="-29787" t="-7143" r="-44681" b="-487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386442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A04F82FF-0B8B-4E95-8FAB-A227397D7D07}"/>
              </a:ext>
            </a:extLst>
          </p:cNvPr>
          <p:cNvPicPr>
            <a:picLocks noChangeAspect="1"/>
          </p:cNvPicPr>
          <p:nvPr/>
        </p:nvPicPr>
        <p:blipFill rotWithShape="1">
          <a:blip r:embed="rId2">
            <a:extLst>
              <a:ext uri="{28A0092B-C50C-407E-A947-70E740481C1C}">
                <a14:useLocalDpi xmlns:a14="http://schemas.microsoft.com/office/drawing/2010/main" val="0"/>
              </a:ext>
            </a:extLst>
          </a:blip>
          <a:srcRect l="4019" b="3300"/>
          <a:stretch/>
        </p:blipFill>
        <p:spPr>
          <a:xfrm>
            <a:off x="711597" y="2352514"/>
            <a:ext cx="2861336" cy="2586616"/>
          </a:xfrm>
          <a:prstGeom prst="rect">
            <a:avLst/>
          </a:prstGeom>
        </p:spPr>
      </p:pic>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3"/>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2" y="595362"/>
                <a:ext cx="12081933" cy="1351011"/>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en-US" altLang="zh-TW" sz="1400" b="1" dirty="0"/>
                  <a:t>This figure shows the fitting results for the FEM nodes within R≤150μm after both models were calibrated over the same region using their respective convergence </a:t>
                </a:r>
                <a:r>
                  <a:rPr lang="en-US" altLang="zh-TW" sz="1400" b="1" dirty="0" err="1"/>
                  <a:t>points</a:t>
                </a:r>
                <a:r>
                  <a:rPr lang="en-US" altLang="zh-TW" sz="1400" dirty="0" err="1"/>
                  <a:t>.This</a:t>
                </a:r>
                <a:r>
                  <a:rPr lang="en-US" altLang="zh-TW" sz="1400" dirty="0"/>
                  <a:t>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Wingdings" panose="05000000000000000000" pitchFamily="2" charset="2"/>
                  <a:buChar char="l"/>
                </a:pPr>
                <a:r>
                  <a:rPr lang="en-US" altLang="zh-TW" sz="1400" dirty="0"/>
                  <a:t>Workspace radius:</a:t>
                </a:r>
                <a14:m>
                  <m:oMath xmlns:m="http://schemas.openxmlformats.org/officeDocument/2006/math">
                    <m:r>
                      <a:rPr lang="en-US" altLang="zh-TW" sz="1400" b="0" i="1" smtClean="0">
                        <a:latin typeface="Cambria Math" panose="02040503050406030204" pitchFamily="18" charset="0"/>
                      </a:rPr>
                      <m:t>𝑅</m:t>
                    </m:r>
                    <m:r>
                      <a:rPr lang="en-US" altLang="zh-TW" sz="1400" b="0" i="1" smtClean="0">
                        <a:latin typeface="Cambria Math" panose="02040503050406030204" pitchFamily="18" charset="0"/>
                        <a:ea typeface="Cambria Math" panose="02040503050406030204" pitchFamily="18" charset="0"/>
                      </a:rPr>
                      <m:t>≤150</m:t>
                    </m:r>
                    <m:r>
                      <a:rPr lang="zh-TW" altLang="en-US" sz="1400" b="0" i="1" smtClean="0">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oMath>
                </a14:m>
                <a:endParaRPr lang="zh-TW" altLang="en-US" sz="1400"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2" y="595362"/>
                <a:ext cx="12081933" cy="1351011"/>
              </a:xfrm>
              <a:prstGeom prst="rect">
                <a:avLst/>
              </a:prstGeom>
              <a:blipFill>
                <a:blip r:embed="rId4"/>
                <a:stretch>
                  <a:fillRect l="-50" b="-4072"/>
                </a:stretch>
              </a:blipFill>
            </p:spPr>
            <p:txBody>
              <a:bodyPr/>
              <a:lstStyle/>
              <a:p>
                <a:r>
                  <a:rPr lang="zh-TW" altLang="en-US">
                    <a:noFill/>
                  </a:rPr>
                  <a:t> </a:t>
                </a:r>
              </a:p>
            </p:txBody>
          </p:sp>
        </mc:Fallback>
      </mc:AlternateContent>
      <p:graphicFrame>
        <p:nvGraphicFramePr>
          <p:cNvPr id="14" name="表格 14">
            <a:extLst>
              <a:ext uri="{FF2B5EF4-FFF2-40B4-BE49-F238E27FC236}">
                <a16:creationId xmlns:a16="http://schemas.microsoft.com/office/drawing/2014/main" id="{669D49AD-E8AD-4123-BA4B-4C406F1D844B}"/>
              </a:ext>
            </a:extLst>
          </p:cNvPr>
          <p:cNvGraphicFramePr>
            <a:graphicFrameLocks noGrp="1"/>
          </p:cNvGraphicFramePr>
          <p:nvPr>
            <p:extLst>
              <p:ext uri="{D42A27DB-BD31-4B8C-83A1-F6EECF244321}">
                <p14:modId xmlns:p14="http://schemas.microsoft.com/office/powerpoint/2010/main" val="3439610242"/>
              </p:ext>
            </p:extLst>
          </p:nvPr>
        </p:nvGraphicFramePr>
        <p:xfrm>
          <a:off x="59267" y="5557074"/>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0.2878mT</a:t>
                      </a:r>
                      <a:endParaRPr lang="zh-TW" altLang="en-US" dirty="0"/>
                    </a:p>
                  </a:txBody>
                  <a:tcPr/>
                </a:tc>
                <a:tc>
                  <a:txBody>
                    <a:bodyPr/>
                    <a:lstStyle/>
                    <a:p>
                      <a:pPr algn="ctr"/>
                      <a:r>
                        <a:rPr lang="en-US" altLang="zh-TW" dirty="0"/>
                        <a:t>0.0340mT</a:t>
                      </a:r>
                      <a:endParaRPr lang="zh-TW" altLang="en-US" dirty="0"/>
                    </a:p>
                  </a:txBody>
                  <a:tcPr/>
                </a:tc>
                <a:extLst>
                  <a:ext uri="{0D108BD9-81ED-4DB2-BD59-A6C34878D82A}">
                    <a16:rowId xmlns:a16="http://schemas.microsoft.com/office/drawing/2014/main" val="2702200097"/>
                  </a:ext>
                </a:extLst>
              </a:tr>
            </a:tbl>
          </a:graphicData>
        </a:graphic>
      </p:graphicFrame>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1142553D-29A4-4C0B-9077-BB416D4C17BA}"/>
                  </a:ext>
                </a:extLst>
              </p:cNvPr>
              <p:cNvSpPr txBox="1"/>
              <p:nvPr/>
            </p:nvSpPr>
            <p:spPr>
              <a:xfrm>
                <a:off x="-4" y="1928331"/>
                <a:ext cx="4182535"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:1771)</a:t>
                </a:r>
                <a:endParaRPr lang="zh-TW" altLang="en-US" dirty="0"/>
              </a:p>
            </p:txBody>
          </p:sp>
        </mc:Choice>
        <mc:Fallback xmlns="">
          <p:sp>
            <p:nvSpPr>
              <p:cNvPr id="4" name="文字方塊 3">
                <a:extLst>
                  <a:ext uri="{FF2B5EF4-FFF2-40B4-BE49-F238E27FC236}">
                    <a16:creationId xmlns:a16="http://schemas.microsoft.com/office/drawing/2014/main" id="{1142553D-29A4-4C0B-9077-BB416D4C17BA}"/>
                  </a:ext>
                </a:extLst>
              </p:cNvPr>
              <p:cNvSpPr txBox="1">
                <a:spLocks noRot="1" noChangeAspect="1" noMove="1" noResize="1" noEditPoints="1" noAdjustHandles="1" noChangeArrowheads="1" noChangeShapeType="1" noTextEdit="1"/>
              </p:cNvSpPr>
              <p:nvPr/>
            </p:nvSpPr>
            <p:spPr>
              <a:xfrm>
                <a:off x="-4" y="1928331"/>
                <a:ext cx="4182535" cy="390748"/>
              </a:xfrm>
              <a:prstGeom prst="rect">
                <a:avLst/>
              </a:prstGeom>
              <a:blipFill>
                <a:blip r:embed="rId5"/>
                <a:stretch>
                  <a:fillRect l="-875" t="-6250" b="-203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032F8A4F-A6DD-425A-957D-E730D45A7FFC}"/>
                  </a:ext>
                </a:extLst>
              </p:cNvPr>
              <p:cNvSpPr txBox="1"/>
              <p:nvPr/>
            </p:nvSpPr>
            <p:spPr>
              <a:xfrm>
                <a:off x="5564031" y="1895212"/>
                <a:ext cx="4748367" cy="390748"/>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r>
                  <a:rPr lang="en-US" altLang="zh-TW"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a14:m>
                <a:r>
                  <a:rPr lang="en-US" altLang="zh-TW" dirty="0"/>
                  <a:t>:1791)</a:t>
                </a:r>
                <a:endParaRPr lang="zh-TW" altLang="en-US" dirty="0"/>
              </a:p>
            </p:txBody>
          </p:sp>
        </mc:Choice>
        <mc:Fallback xmlns="">
          <p:sp>
            <p:nvSpPr>
              <p:cNvPr id="20" name="文字方塊 19">
                <a:extLst>
                  <a:ext uri="{FF2B5EF4-FFF2-40B4-BE49-F238E27FC236}">
                    <a16:creationId xmlns:a16="http://schemas.microsoft.com/office/drawing/2014/main" id="{032F8A4F-A6DD-425A-957D-E730D45A7FFC}"/>
                  </a:ext>
                </a:extLst>
              </p:cNvPr>
              <p:cNvSpPr txBox="1">
                <a:spLocks noRot="1" noChangeAspect="1" noMove="1" noResize="1" noEditPoints="1" noAdjustHandles="1" noChangeArrowheads="1" noChangeShapeType="1" noTextEdit="1"/>
              </p:cNvSpPr>
              <p:nvPr/>
            </p:nvSpPr>
            <p:spPr>
              <a:xfrm>
                <a:off x="5564031" y="1895212"/>
                <a:ext cx="4748367" cy="390748"/>
              </a:xfrm>
              <a:prstGeom prst="rect">
                <a:avLst/>
              </a:prstGeom>
              <a:blipFill>
                <a:blip r:embed="rId6"/>
                <a:stretch>
                  <a:fillRect l="-899" t="-7813" b="-20313"/>
                </a:stretch>
              </a:blipFill>
            </p:spPr>
            <p:txBody>
              <a:bodyPr/>
              <a:lstStyle/>
              <a:p>
                <a:r>
                  <a:rPr lang="zh-TW" altLang="en-US">
                    <a:noFill/>
                  </a:rPr>
                  <a:t> </a:t>
                </a:r>
              </a:p>
            </p:txBody>
          </p:sp>
        </mc:Fallback>
      </mc:AlternateContent>
      <p:sp>
        <p:nvSpPr>
          <p:cNvPr id="8" name="文字方塊 7">
            <a:extLst>
              <a:ext uri="{FF2B5EF4-FFF2-40B4-BE49-F238E27FC236}">
                <a16:creationId xmlns:a16="http://schemas.microsoft.com/office/drawing/2014/main" id="{83C46DA0-26FB-4386-B4A4-2257E4A89D3A}"/>
              </a:ext>
            </a:extLst>
          </p:cNvPr>
          <p:cNvSpPr txBox="1"/>
          <p:nvPr/>
        </p:nvSpPr>
        <p:spPr>
          <a:xfrm>
            <a:off x="-93133" y="5185273"/>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sp>
        <p:nvSpPr>
          <p:cNvPr id="27" name="文字方塊 26">
            <a:extLst>
              <a:ext uri="{FF2B5EF4-FFF2-40B4-BE49-F238E27FC236}">
                <a16:creationId xmlns:a16="http://schemas.microsoft.com/office/drawing/2014/main" id="{04338258-6120-45D6-A40D-58A718F65647}"/>
              </a:ext>
            </a:extLst>
          </p:cNvPr>
          <p:cNvSpPr txBox="1"/>
          <p:nvPr/>
        </p:nvSpPr>
        <p:spPr>
          <a:xfrm>
            <a:off x="5664200" y="5139537"/>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p:graphicFrame>
        <p:nvGraphicFramePr>
          <p:cNvPr id="28" name="表格 14">
            <a:extLst>
              <a:ext uri="{FF2B5EF4-FFF2-40B4-BE49-F238E27FC236}">
                <a16:creationId xmlns:a16="http://schemas.microsoft.com/office/drawing/2014/main" id="{9BC0D067-8E63-4387-9F47-6B1D924C32A7}"/>
              </a:ext>
            </a:extLst>
          </p:cNvPr>
          <p:cNvGraphicFramePr>
            <a:graphicFrameLocks noGrp="1"/>
          </p:cNvGraphicFramePr>
          <p:nvPr>
            <p:extLst>
              <p:ext uri="{D42A27DB-BD31-4B8C-83A1-F6EECF244321}">
                <p14:modId xmlns:p14="http://schemas.microsoft.com/office/powerpoint/2010/main" val="1589385345"/>
              </p:ext>
            </p:extLst>
          </p:nvPr>
        </p:nvGraphicFramePr>
        <p:xfrm>
          <a:off x="5728415" y="5549159"/>
          <a:ext cx="4419600" cy="1204364"/>
        </p:xfrm>
        <a:graphic>
          <a:graphicData uri="http://schemas.openxmlformats.org/drawingml/2006/table">
            <a:tbl>
              <a:tblPr firstRow="1" bandRow="1">
                <a:tableStyleId>{5940675A-B579-460E-94D1-54222C63F5DA}</a:tableStyleId>
              </a:tblPr>
              <a:tblGrid>
                <a:gridCol w="948265">
                  <a:extLst>
                    <a:ext uri="{9D8B030D-6E8A-4147-A177-3AD203B41FA5}">
                      <a16:colId xmlns:a16="http://schemas.microsoft.com/office/drawing/2014/main" val="2949357934"/>
                    </a:ext>
                  </a:extLst>
                </a:gridCol>
                <a:gridCol w="1998135">
                  <a:extLst>
                    <a:ext uri="{9D8B030D-6E8A-4147-A177-3AD203B41FA5}">
                      <a16:colId xmlns:a16="http://schemas.microsoft.com/office/drawing/2014/main" val="3764907268"/>
                    </a:ext>
                  </a:extLst>
                </a:gridCol>
                <a:gridCol w="1473200">
                  <a:extLst>
                    <a:ext uri="{9D8B030D-6E8A-4147-A177-3AD203B41FA5}">
                      <a16:colId xmlns:a16="http://schemas.microsoft.com/office/drawing/2014/main" val="855758062"/>
                    </a:ext>
                  </a:extLst>
                </a:gridCol>
              </a:tblGrid>
              <a:tr h="423929">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r>
                        <a:rPr lang="en-US" altLang="zh-TW" dirty="0"/>
                        <a:t>Single</a:t>
                      </a:r>
                      <a:endParaRPr lang="zh-TW" altLang="en-US" dirty="0"/>
                    </a:p>
                  </a:txBody>
                  <a:tcPr/>
                </a:tc>
                <a:tc>
                  <a:txBody>
                    <a:bodyPr/>
                    <a:lstStyle/>
                    <a:p>
                      <a:pPr algn="ctr"/>
                      <a:r>
                        <a:rPr lang="en-US" altLang="zh-TW" dirty="0"/>
                        <a:t>Eighteen</a:t>
                      </a:r>
                      <a:endParaRPr lang="zh-TW" altLang="en-US" dirty="0"/>
                    </a:p>
                  </a:txBody>
                  <a:tcPr/>
                </a:tc>
                <a:extLst>
                  <a:ext uri="{0D108BD9-81ED-4DB2-BD59-A6C34878D82A}">
                    <a16:rowId xmlns:a16="http://schemas.microsoft.com/office/drawing/2014/main" val="2420780242"/>
                  </a:ext>
                </a:extLst>
              </a:tr>
              <a:tr h="780435">
                <a:tc>
                  <a:txBody>
                    <a:bodyPr/>
                    <a:lstStyle/>
                    <a:p>
                      <a:pPr algn="ctr"/>
                      <a:r>
                        <a:rPr lang="en-US" altLang="zh-TW" dirty="0"/>
                        <a:t>Mean</a:t>
                      </a:r>
                      <a:endParaRPr lang="zh-TW" altLang="en-US" dirty="0"/>
                    </a:p>
                  </a:txBody>
                  <a:tcPr/>
                </a:tc>
                <a:tc>
                  <a:txBody>
                    <a:bodyPr/>
                    <a:lstStyle/>
                    <a:p>
                      <a:pPr algn="ctr"/>
                      <a:r>
                        <a:rPr lang="en-US" altLang="zh-TW" dirty="0"/>
                        <a:t>3.0658mT</a:t>
                      </a:r>
                      <a:endParaRPr lang="zh-TW" altLang="en-US" dirty="0"/>
                    </a:p>
                  </a:txBody>
                  <a:tcPr/>
                </a:tc>
                <a:tc>
                  <a:txBody>
                    <a:bodyPr/>
                    <a:lstStyle/>
                    <a:p>
                      <a:pPr algn="ctr"/>
                      <a:r>
                        <a:rPr lang="en-US" altLang="zh-TW" dirty="0"/>
                        <a:t>0.2190mT</a:t>
                      </a:r>
                      <a:endParaRPr lang="zh-TW" altLang="en-US" dirty="0"/>
                    </a:p>
                  </a:txBody>
                  <a:tcPr/>
                </a:tc>
                <a:extLst>
                  <a:ext uri="{0D108BD9-81ED-4DB2-BD59-A6C34878D82A}">
                    <a16:rowId xmlns:a16="http://schemas.microsoft.com/office/drawing/2014/main" val="2702200097"/>
                  </a:ext>
                </a:extLst>
              </a:tr>
            </a:tbl>
          </a:graphicData>
        </a:graphic>
      </p:graphicFrame>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95FA9D37-EDD1-4667-9002-6BB9421C9AE8}"/>
                  </a:ext>
                </a:extLst>
              </p:cNvPr>
              <p:cNvSpPr txBox="1"/>
              <p:nvPr/>
            </p:nvSpPr>
            <p:spPr>
              <a:xfrm>
                <a:off x="1176910" y="4857572"/>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2" name="文字方塊 31">
                <a:extLst>
                  <a:ext uri="{FF2B5EF4-FFF2-40B4-BE49-F238E27FC236}">
                    <a16:creationId xmlns:a16="http://schemas.microsoft.com/office/drawing/2014/main" id="{95FA9D37-EDD1-4667-9002-6BB9421C9AE8}"/>
                  </a:ext>
                </a:extLst>
              </p:cNvPr>
              <p:cNvSpPr txBox="1">
                <a:spLocks noRot="1" noChangeAspect="1" noMove="1" noResize="1" noEditPoints="1" noAdjustHandles="1" noChangeArrowheads="1" noChangeShapeType="1" noTextEdit="1"/>
              </p:cNvSpPr>
              <p:nvPr/>
            </p:nvSpPr>
            <p:spPr>
              <a:xfrm>
                <a:off x="1176910" y="4857572"/>
                <a:ext cx="1828706" cy="276999"/>
              </a:xfrm>
              <a:prstGeom prst="rect">
                <a:avLst/>
              </a:prstGeom>
              <a:blipFill>
                <a:blip r:embed="rId7"/>
                <a:stretch>
                  <a:fillRect l="-3667" t="-15556" r="-4333" b="-42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D993BD9D-7CA7-4ED6-9131-2EAC28EC146B}"/>
                  </a:ext>
                </a:extLst>
              </p:cNvPr>
              <p:cNvSpPr txBox="1"/>
              <p:nvPr/>
            </p:nvSpPr>
            <p:spPr>
              <a:xfrm rot="16200000">
                <a:off x="-360213" y="3426870"/>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3" name="文字方塊 32">
                <a:extLst>
                  <a:ext uri="{FF2B5EF4-FFF2-40B4-BE49-F238E27FC236}">
                    <a16:creationId xmlns:a16="http://schemas.microsoft.com/office/drawing/2014/main" id="{D993BD9D-7CA7-4ED6-9131-2EAC28EC146B}"/>
                  </a:ext>
                </a:extLst>
              </p:cNvPr>
              <p:cNvSpPr txBox="1">
                <a:spLocks noRot="1" noChangeAspect="1" noMove="1" noResize="1" noEditPoints="1" noAdjustHandles="1" noChangeArrowheads="1" noChangeShapeType="1" noTextEdit="1"/>
              </p:cNvSpPr>
              <p:nvPr/>
            </p:nvSpPr>
            <p:spPr>
              <a:xfrm rot="16200000">
                <a:off x="-360213" y="3426870"/>
                <a:ext cx="1865895" cy="276999"/>
              </a:xfrm>
              <a:prstGeom prst="rect">
                <a:avLst/>
              </a:prstGeom>
              <a:blipFill>
                <a:blip r:embed="rId8"/>
                <a:stretch>
                  <a:fillRect l="-13043" t="-3268" r="-41304" b="-3595"/>
                </a:stretch>
              </a:blipFill>
            </p:spPr>
            <p:txBody>
              <a:bodyPr/>
              <a:lstStyle/>
              <a:p>
                <a:r>
                  <a:rPr lang="zh-TW" altLang="en-US">
                    <a:noFill/>
                  </a:rPr>
                  <a:t> </a:t>
                </a:r>
              </a:p>
            </p:txBody>
          </p:sp>
        </mc:Fallback>
      </mc:AlternateContent>
      <p:pic>
        <p:nvPicPr>
          <p:cNvPr id="12" name="圖片 11">
            <a:extLst>
              <a:ext uri="{FF2B5EF4-FFF2-40B4-BE49-F238E27FC236}">
                <a16:creationId xmlns:a16="http://schemas.microsoft.com/office/drawing/2014/main" id="{6464513A-DFF0-4945-8631-A373EA61889A}"/>
              </a:ext>
            </a:extLst>
          </p:cNvPr>
          <p:cNvPicPr>
            <a:picLocks noChangeAspect="1"/>
          </p:cNvPicPr>
          <p:nvPr/>
        </p:nvPicPr>
        <p:blipFill rotWithShape="1">
          <a:blip r:embed="rId9">
            <a:extLst>
              <a:ext uri="{28A0092B-C50C-407E-A947-70E740481C1C}">
                <a14:useLocalDpi xmlns:a14="http://schemas.microsoft.com/office/drawing/2010/main" val="0"/>
              </a:ext>
            </a:extLst>
          </a:blip>
          <a:srcRect l="3850" t="2935" b="4523"/>
          <a:stretch/>
        </p:blipFill>
        <p:spPr>
          <a:xfrm>
            <a:off x="6815667" y="2359597"/>
            <a:ext cx="3048000" cy="2489828"/>
          </a:xfrm>
          <a:prstGeom prst="rect">
            <a:avLst/>
          </a:prstGeom>
        </p:spPr>
      </p:pic>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2AC9D34B-ED70-4CEA-914A-54291398DBEB}"/>
                  </a:ext>
                </a:extLst>
              </p:cNvPr>
              <p:cNvSpPr txBox="1"/>
              <p:nvPr/>
            </p:nvSpPr>
            <p:spPr>
              <a:xfrm>
                <a:off x="7526910" y="4799950"/>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4" name="文字方塊 33">
                <a:extLst>
                  <a:ext uri="{FF2B5EF4-FFF2-40B4-BE49-F238E27FC236}">
                    <a16:creationId xmlns:a16="http://schemas.microsoft.com/office/drawing/2014/main" id="{2AC9D34B-ED70-4CEA-914A-54291398DBEB}"/>
                  </a:ext>
                </a:extLst>
              </p:cNvPr>
              <p:cNvSpPr txBox="1">
                <a:spLocks noRot="1" noChangeAspect="1" noMove="1" noResize="1" noEditPoints="1" noAdjustHandles="1" noChangeArrowheads="1" noChangeShapeType="1" noTextEdit="1"/>
              </p:cNvSpPr>
              <p:nvPr/>
            </p:nvSpPr>
            <p:spPr>
              <a:xfrm>
                <a:off x="7526910" y="4799950"/>
                <a:ext cx="1828706" cy="276999"/>
              </a:xfrm>
              <a:prstGeom prst="rect">
                <a:avLst/>
              </a:prstGeom>
              <a:blipFill>
                <a:blip r:embed="rId10"/>
                <a:stretch>
                  <a:fillRect l="-4000" t="-13043" r="-4000" b="-413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FDA76004-E646-4551-85A3-16241ECD43BF}"/>
                  </a:ext>
                </a:extLst>
              </p:cNvPr>
              <p:cNvSpPr txBox="1"/>
              <p:nvPr/>
            </p:nvSpPr>
            <p:spPr>
              <a:xfrm rot="16200000">
                <a:off x="5744220" y="3426869"/>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5" name="文字方塊 34">
                <a:extLst>
                  <a:ext uri="{FF2B5EF4-FFF2-40B4-BE49-F238E27FC236}">
                    <a16:creationId xmlns:a16="http://schemas.microsoft.com/office/drawing/2014/main" id="{FDA76004-E646-4551-85A3-16241ECD43BF}"/>
                  </a:ext>
                </a:extLst>
              </p:cNvPr>
              <p:cNvSpPr txBox="1">
                <a:spLocks noRot="1" noChangeAspect="1" noMove="1" noResize="1" noEditPoints="1" noAdjustHandles="1" noChangeArrowheads="1" noChangeShapeType="1" noTextEdit="1"/>
              </p:cNvSpPr>
              <p:nvPr/>
            </p:nvSpPr>
            <p:spPr>
              <a:xfrm rot="16200000">
                <a:off x="5744220" y="3426869"/>
                <a:ext cx="1865895" cy="276999"/>
              </a:xfrm>
              <a:prstGeom prst="rect">
                <a:avLst/>
              </a:prstGeom>
              <a:blipFill>
                <a:blip r:embed="rId11"/>
                <a:stretch>
                  <a:fillRect l="-15556" t="-3268" r="-42222" b="-359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63438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p>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m:oMathPara>
                          </a14:m>
                          <a:endParaRPr lang="en-US" altLang="zh-TW" b="0" dirty="0">
                            <a:ea typeface="Cambria Math" panose="020405030504060302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7.237%</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0.0340mT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0.3491%</a:t>
                          </a:r>
                          <a:endParaRPr lang="zh-TW" altLang="en-US" dirty="0"/>
                        </a:p>
                      </a:txBody>
                      <a:tcPr/>
                    </a:tc>
                    <a:tc>
                      <a:txBody>
                        <a:bodyPr/>
                        <a:lstStyle/>
                        <a:p>
                          <a:pPr algn="ctr"/>
                          <a:r>
                            <a:rPr lang="en-US" altLang="zh-TW" dirty="0"/>
                            <a:t>10.4684mT</a:t>
                          </a:r>
                          <a:endParaRPr lang="zh-TW" altLang="en-US" dirty="0"/>
                        </a:p>
                      </a:txBody>
                      <a:tcPr/>
                    </a:tc>
                    <a:tc>
                      <a:txBody>
                        <a:bodyPr/>
                        <a:lstStyle/>
                        <a:p>
                          <a:pPr algn="ctr"/>
                          <a:r>
                            <a:rPr lang="en-US" altLang="zh-TW" dirty="0"/>
                            <a:t>0.1271mT</a:t>
                          </a:r>
                        </a:p>
                        <a:p>
                          <a:pPr algn="ctr"/>
                          <a:r>
                            <a:rPr lang="en-US" altLang="zh-TW" sz="1600" dirty="0"/>
                            <a:t>(</a:t>
                          </a:r>
                          <a14:m>
                            <m:oMath xmlns:m="http://schemas.openxmlformats.org/officeDocument/2006/math">
                              <m:r>
                                <a:rPr lang="en-US" altLang="zh-TW" sz="1600" b="0" i="1" smtClean="0">
                                  <a:latin typeface="Cambria Math" panose="02040503050406030204" pitchFamily="18" charset="0"/>
                                </a:rPr>
                                <m:t>𝑅</m:t>
                              </m:r>
                              <m:r>
                                <a:rPr lang="en-US" altLang="zh-TW" sz="1600" b="0" i="1" smtClean="0">
                                  <a:latin typeface="Cambria Math" panose="02040503050406030204" pitchFamily="18" charset="0"/>
                                </a:rPr>
                                <m:t>≤150</m:t>
                              </m:r>
                              <m:r>
                                <a:rPr lang="en-US" altLang="zh-TW" sz="1600" b="0" i="1" smtClean="0">
                                  <a:latin typeface="Cambria Math" panose="02040503050406030204" pitchFamily="18" charset="0"/>
                                </a:rPr>
                                <m:t>𝑢𝑚</m:t>
                              </m:r>
                              <m:r>
                                <a:rPr lang="en-US" altLang="zh-TW" sz="1600" b="0" i="1" smtClean="0">
                                  <a:latin typeface="Cambria Math" panose="02040503050406030204" pitchFamily="18" charset="0"/>
                                </a:rPr>
                                <m:t>)</m:t>
                              </m:r>
                            </m:oMath>
                          </a14:m>
                          <a:endParaRPr lang="zh-TW" altLang="en-US" dirty="0"/>
                        </a:p>
                      </a:txBody>
                      <a:tcPr/>
                    </a:tc>
                    <a:tc>
                      <a:txBody>
                        <a:bodyPr/>
                        <a:lstStyle/>
                        <a:p>
                          <a:pPr algn="ctr"/>
                          <a:r>
                            <a:rPr lang="en-US" altLang="zh-TW" dirty="0"/>
                            <a:t>0.3019mT</a:t>
                          </a:r>
                        </a:p>
                        <a:p>
                          <a:pPr algn="ctr"/>
                          <a:r>
                            <a:rPr lang="en-US" altLang="zh-TW" dirty="0"/>
                            <a:t>(</a:t>
                          </a:r>
                          <a14:m>
                            <m:oMath xmlns:m="http://schemas.openxmlformats.org/officeDocument/2006/math">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rPr>
                                <m:t>≤300</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a14:m>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280516775"/>
                  </p:ext>
                </p:extLst>
              </p:nvPr>
            </p:nvGraphicFramePr>
            <p:xfrm>
              <a:off x="94809" y="4284540"/>
              <a:ext cx="11910925" cy="1962506"/>
            </p:xfrm>
            <a:graphic>
              <a:graphicData uri="http://schemas.openxmlformats.org/drawingml/2006/table">
                <a:tbl>
                  <a:tblPr firstRow="1" bandRow="1">
                    <a:tableStyleId>{5940675A-B579-460E-94D1-54222C63F5DA}</a:tableStyleId>
                  </a:tblPr>
                  <a:tblGrid>
                    <a:gridCol w="1261335">
                      <a:extLst>
                        <a:ext uri="{9D8B030D-6E8A-4147-A177-3AD203B41FA5}">
                          <a16:colId xmlns:a16="http://schemas.microsoft.com/office/drawing/2014/main" val="2220848039"/>
                        </a:ext>
                      </a:extLst>
                    </a:gridCol>
                    <a:gridCol w="1213305">
                      <a:extLst>
                        <a:ext uri="{9D8B030D-6E8A-4147-A177-3AD203B41FA5}">
                          <a16:colId xmlns:a16="http://schemas.microsoft.com/office/drawing/2014/main" val="2517592409"/>
                        </a:ext>
                      </a:extLst>
                    </a:gridCol>
                    <a:gridCol w="3506714">
                      <a:extLst>
                        <a:ext uri="{9D8B030D-6E8A-4147-A177-3AD203B41FA5}">
                          <a16:colId xmlns:a16="http://schemas.microsoft.com/office/drawing/2014/main" val="1542711824"/>
                        </a:ext>
                      </a:extLst>
                    </a:gridCol>
                    <a:gridCol w="1552305">
                      <a:extLst>
                        <a:ext uri="{9D8B030D-6E8A-4147-A177-3AD203B41FA5}">
                          <a16:colId xmlns:a16="http://schemas.microsoft.com/office/drawing/2014/main" val="1951294256"/>
                        </a:ext>
                      </a:extLst>
                    </a:gridCol>
                    <a:gridCol w="1744133">
                      <a:extLst>
                        <a:ext uri="{9D8B030D-6E8A-4147-A177-3AD203B41FA5}">
                          <a16:colId xmlns:a16="http://schemas.microsoft.com/office/drawing/2014/main" val="2486765925"/>
                        </a:ext>
                      </a:extLst>
                    </a:gridCol>
                    <a:gridCol w="2633133">
                      <a:extLst>
                        <a:ext uri="{9D8B030D-6E8A-4147-A177-3AD203B41FA5}">
                          <a16:colId xmlns:a16="http://schemas.microsoft.com/office/drawing/2014/main" val="2482236599"/>
                        </a:ext>
                      </a:extLst>
                    </a:gridCol>
                  </a:tblGrid>
                  <a:tr h="64008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9"/>
                          <a:stretch>
                            <a:fillRect l="-104523" t="-4762" r="-779397" b="-219048"/>
                          </a:stretch>
                        </a:blipFill>
                      </a:tcPr>
                    </a:tc>
                    <a:tc>
                      <a:txBody>
                        <a:bodyPr/>
                        <a:lstStyle/>
                        <a:p>
                          <a:endParaRPr lang="zh-TW"/>
                        </a:p>
                      </a:txBody>
                      <a:tcPr>
                        <a:blipFill>
                          <a:blip r:embed="rId9"/>
                          <a:stretch>
                            <a:fillRect l="-70660" t="-4762" r="-169271" b="-219048"/>
                          </a:stretch>
                        </a:blipFill>
                      </a:tcPr>
                    </a:tc>
                    <a:tc>
                      <a:txBody>
                        <a:bodyPr/>
                        <a:lstStyle/>
                        <a:p>
                          <a:endParaRPr lang="zh-TW"/>
                        </a:p>
                      </a:txBody>
                      <a:tcPr>
                        <a:blipFill>
                          <a:blip r:embed="rId9"/>
                          <a:stretch>
                            <a:fillRect l="-385490" t="-4762" r="-282353" b="-219048"/>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1771</a:t>
                          </a:r>
                          <a:endParaRPr lang="zh-TW" altLang="en-US" dirty="0"/>
                        </a:p>
                      </a:txBody>
                      <a:tcPr/>
                    </a:tc>
                    <a:tc>
                      <a:txBody>
                        <a:bodyPr/>
                        <a:lstStyle/>
                        <a:p>
                          <a:pPr algn="ctr"/>
                          <a:r>
                            <a:rPr lang="en-US" altLang="zh-TW" dirty="0"/>
                            <a:t>7.237%</a:t>
                          </a:r>
                          <a:endParaRPr lang="zh-TW" altLang="en-US" dirty="0"/>
                        </a:p>
                      </a:txBody>
                      <a:tcPr/>
                    </a:tc>
                    <a:tc>
                      <a:txBody>
                        <a:bodyPr/>
                        <a:lstStyle/>
                        <a:p>
                          <a:pPr algn="ctr"/>
                          <a:r>
                            <a:rPr lang="en-US" altLang="zh-TW" dirty="0"/>
                            <a:t>10.2452mT</a:t>
                          </a:r>
                          <a:endParaRPr lang="zh-TW" altLang="en-US" dirty="0"/>
                        </a:p>
                      </a:txBody>
                      <a:tcPr/>
                    </a:tc>
                    <a:tc gridSpan="2">
                      <a:txBody>
                        <a:bodyPr/>
                        <a:lstStyle/>
                        <a:p>
                          <a:pPr algn="ctr"/>
                          <a:r>
                            <a:rPr lang="en-US" altLang="zh-TW" dirty="0"/>
                            <a:t>0.0340mT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14082</a:t>
                          </a:r>
                          <a:endParaRPr lang="zh-TW" altLang="en-US" dirty="0"/>
                        </a:p>
                      </a:txBody>
                      <a:tcPr/>
                    </a:tc>
                    <a:tc>
                      <a:txBody>
                        <a:bodyPr/>
                        <a:lstStyle/>
                        <a:p>
                          <a:pPr algn="ctr"/>
                          <a:r>
                            <a:rPr lang="en-US" altLang="zh-TW" dirty="0"/>
                            <a:t>0.3491%</a:t>
                          </a:r>
                          <a:endParaRPr lang="zh-TW" altLang="en-US" dirty="0"/>
                        </a:p>
                      </a:txBody>
                      <a:tcPr/>
                    </a:tc>
                    <a:tc>
                      <a:txBody>
                        <a:bodyPr/>
                        <a:lstStyle/>
                        <a:p>
                          <a:pPr algn="ctr"/>
                          <a:r>
                            <a:rPr lang="en-US" altLang="zh-TW" dirty="0"/>
                            <a:t>10.4684mT</a:t>
                          </a:r>
                          <a:endParaRPr lang="zh-TW" altLang="en-US" dirty="0"/>
                        </a:p>
                      </a:txBody>
                      <a:tcPr/>
                    </a:tc>
                    <a:tc>
                      <a:txBody>
                        <a:bodyPr/>
                        <a:lstStyle/>
                        <a:p>
                          <a:endParaRPr lang="zh-TW"/>
                        </a:p>
                      </a:txBody>
                      <a:tcPr>
                        <a:blipFill>
                          <a:blip r:embed="rId9"/>
                          <a:stretch>
                            <a:fillRect l="-432867" t="-200917" r="-151748" b="-11009"/>
                          </a:stretch>
                        </a:blipFill>
                      </a:tcPr>
                    </a:tc>
                    <a:tc>
                      <a:txBody>
                        <a:bodyPr/>
                        <a:lstStyle/>
                        <a:p>
                          <a:endParaRPr lang="zh-TW"/>
                        </a:p>
                      </a:txBody>
                      <a:tcPr>
                        <a:blipFill>
                          <a:blip r:embed="rId9"/>
                          <a:stretch>
                            <a:fillRect l="-352778" t="-200917" r="-463" b="-11009"/>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Long</a:t>
            </a:r>
            <a:endParaRPr lang="zh-TW" altLang="en-US" dirty="0"/>
          </a:p>
        </p:txBody>
      </p:sp>
      <p:sp>
        <p:nvSpPr>
          <p:cNvPr id="35" name="文字方塊 34">
            <a:extLst>
              <a:ext uri="{FF2B5EF4-FFF2-40B4-BE49-F238E27FC236}">
                <a16:creationId xmlns:a16="http://schemas.microsoft.com/office/drawing/2014/main" id="{92E6675A-32D5-438E-ABBA-19CCC6EFA221}"/>
              </a:ext>
            </a:extLst>
          </p:cNvPr>
          <p:cNvSpPr txBox="1"/>
          <p:nvPr/>
        </p:nvSpPr>
        <p:spPr>
          <a:xfrm>
            <a:off x="-33943" y="6359094"/>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Resolution:2.8uT</a:t>
            </a:r>
            <a:endParaRPr lang="zh-TW" altLang="en-US" dirty="0"/>
          </a:p>
        </p:txBody>
      </p:sp>
      <p:grpSp>
        <p:nvGrpSpPr>
          <p:cNvPr id="11" name="群組 10">
            <a:extLst>
              <a:ext uri="{FF2B5EF4-FFF2-40B4-BE49-F238E27FC236}">
                <a16:creationId xmlns:a16="http://schemas.microsoft.com/office/drawing/2014/main" id="{B995D707-0133-4F2B-93CE-19E6CD9EB345}"/>
              </a:ext>
            </a:extLst>
          </p:cNvPr>
          <p:cNvGrpSpPr/>
          <p:nvPr/>
        </p:nvGrpSpPr>
        <p:grpSpPr>
          <a:xfrm>
            <a:off x="1331991" y="1247855"/>
            <a:ext cx="2991527" cy="2807881"/>
            <a:chOff x="1398068" y="1432522"/>
            <a:chExt cx="2852199" cy="2623214"/>
          </a:xfrm>
        </p:grpSpPr>
        <p:pic>
          <p:nvPicPr>
            <p:cNvPr id="6" name="圖片 5">
              <a:extLst>
                <a:ext uri="{FF2B5EF4-FFF2-40B4-BE49-F238E27FC236}">
                  <a16:creationId xmlns:a16="http://schemas.microsoft.com/office/drawing/2014/main" id="{7F0FED8C-D868-42BF-ABF3-E0861096F068}"/>
                </a:ext>
              </a:extLst>
            </p:cNvPr>
            <p:cNvPicPr>
              <a:picLocks noChangeAspect="1"/>
            </p:cNvPicPr>
            <p:nvPr/>
          </p:nvPicPr>
          <p:blipFill rotWithShape="1">
            <a:blip r:embed="rId10">
              <a:extLst>
                <a:ext uri="{28A0092B-C50C-407E-A947-70E740481C1C}">
                  <a14:useLocalDpi xmlns:a14="http://schemas.microsoft.com/office/drawing/2010/main" val="0"/>
                </a:ext>
              </a:extLst>
            </a:blip>
            <a:srcRect l="6763" b="4458"/>
            <a:stretch/>
          </p:blipFill>
          <p:spPr>
            <a:xfrm>
              <a:off x="1693333" y="1432522"/>
              <a:ext cx="2556934" cy="2394412"/>
            </a:xfrm>
            <a:prstGeom prst="rect">
              <a:avLst/>
            </a:prstGeom>
          </p:spPr>
        </p:pic>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B400B834-5C8A-47B9-BD8D-7FF96AE4D0B5}"/>
                    </a:ext>
                  </a:extLst>
                </p:cNvPr>
                <p:cNvSpPr txBox="1"/>
                <p:nvPr/>
              </p:nvSpPr>
              <p:spPr>
                <a:xfrm>
                  <a:off x="2057447" y="3778737"/>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29" name="文字方塊 28">
                  <a:extLst>
                    <a:ext uri="{FF2B5EF4-FFF2-40B4-BE49-F238E27FC236}">
                      <a16:creationId xmlns:a16="http://schemas.microsoft.com/office/drawing/2014/main" id="{B400B834-5C8A-47B9-BD8D-7FF96AE4D0B5}"/>
                    </a:ext>
                  </a:extLst>
                </p:cNvPr>
                <p:cNvSpPr txBox="1">
                  <a:spLocks noRot="1" noChangeAspect="1" noMove="1" noResize="1" noEditPoints="1" noAdjustHandles="1" noChangeArrowheads="1" noChangeShapeType="1" noTextEdit="1"/>
                </p:cNvSpPr>
                <p:nvPr/>
              </p:nvSpPr>
              <p:spPr>
                <a:xfrm>
                  <a:off x="2057447" y="3778737"/>
                  <a:ext cx="1828706" cy="276999"/>
                </a:xfrm>
                <a:prstGeom prst="rect">
                  <a:avLst/>
                </a:prstGeom>
                <a:blipFill>
                  <a:blip r:embed="rId11"/>
                  <a:stretch>
                    <a:fillRect l="-4013" t="-15556" r="-4348" b="-42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D9A17FF5-9CA8-4805-ADBD-BF6BE9073CF3}"/>
                    </a:ext>
                  </a:extLst>
                </p:cNvPr>
                <p:cNvSpPr txBox="1"/>
                <p:nvPr/>
              </p:nvSpPr>
              <p:spPr>
                <a:xfrm rot="16200000">
                  <a:off x="603620" y="2346366"/>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0" name="文字方塊 29">
                  <a:extLst>
                    <a:ext uri="{FF2B5EF4-FFF2-40B4-BE49-F238E27FC236}">
                      <a16:creationId xmlns:a16="http://schemas.microsoft.com/office/drawing/2014/main" id="{D9A17FF5-9CA8-4805-ADBD-BF6BE9073CF3}"/>
                    </a:ext>
                  </a:extLst>
                </p:cNvPr>
                <p:cNvSpPr txBox="1">
                  <a:spLocks noRot="1" noChangeAspect="1" noMove="1" noResize="1" noEditPoints="1" noAdjustHandles="1" noChangeArrowheads="1" noChangeShapeType="1" noTextEdit="1"/>
                </p:cNvSpPr>
                <p:nvPr/>
              </p:nvSpPr>
              <p:spPr>
                <a:xfrm rot="16200000">
                  <a:off x="603620" y="2346366"/>
                  <a:ext cx="1865895" cy="276999"/>
                </a:xfrm>
                <a:prstGeom prst="rect">
                  <a:avLst/>
                </a:prstGeom>
                <a:blipFill>
                  <a:blip r:embed="rId12"/>
                  <a:stretch>
                    <a:fillRect l="-14894" r="-36170" b="-3670"/>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3EA4E118-74D6-4E85-8372-D5D25A79ACAC}"/>
              </a:ext>
            </a:extLst>
          </p:cNvPr>
          <p:cNvGrpSpPr/>
          <p:nvPr/>
        </p:nvGrpSpPr>
        <p:grpSpPr>
          <a:xfrm>
            <a:off x="6681450" y="1247855"/>
            <a:ext cx="3248797" cy="2914096"/>
            <a:chOff x="6657201" y="1243647"/>
            <a:chExt cx="3248797" cy="2914096"/>
          </a:xfrm>
        </p:grpSpPr>
        <p:pic>
          <p:nvPicPr>
            <p:cNvPr id="9" name="圖片 8">
              <a:extLst>
                <a:ext uri="{FF2B5EF4-FFF2-40B4-BE49-F238E27FC236}">
                  <a16:creationId xmlns:a16="http://schemas.microsoft.com/office/drawing/2014/main" id="{BA87D416-2704-4CAC-87B7-E81CC5A00DA9}"/>
                </a:ext>
              </a:extLst>
            </p:cNvPr>
            <p:cNvPicPr>
              <a:picLocks noChangeAspect="1"/>
            </p:cNvPicPr>
            <p:nvPr/>
          </p:nvPicPr>
          <p:blipFill rotWithShape="1">
            <a:blip r:embed="rId13">
              <a:extLst>
                <a:ext uri="{28A0092B-C50C-407E-A947-70E740481C1C}">
                  <a14:useLocalDpi xmlns:a14="http://schemas.microsoft.com/office/drawing/2010/main" val="0"/>
                </a:ext>
              </a:extLst>
            </a:blip>
            <a:srcRect l="4359" b="4059"/>
            <a:stretch/>
          </p:blipFill>
          <p:spPr>
            <a:xfrm>
              <a:off x="6934200" y="1243647"/>
              <a:ext cx="2971798" cy="2710695"/>
            </a:xfrm>
            <a:prstGeom prst="rect">
              <a:avLst/>
            </a:prstGeom>
          </p:spPr>
        </p:pic>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F3E790CE-0B28-4606-829D-70BC3220D8B4}"/>
                    </a:ext>
                  </a:extLst>
                </p:cNvPr>
                <p:cNvSpPr txBox="1"/>
                <p:nvPr/>
              </p:nvSpPr>
              <p:spPr>
                <a:xfrm>
                  <a:off x="7560733" y="3880744"/>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4" name="文字方塊 33">
                  <a:extLst>
                    <a:ext uri="{FF2B5EF4-FFF2-40B4-BE49-F238E27FC236}">
                      <a16:creationId xmlns:a16="http://schemas.microsoft.com/office/drawing/2014/main" id="{F3E790CE-0B28-4606-829D-70BC3220D8B4}"/>
                    </a:ext>
                  </a:extLst>
                </p:cNvPr>
                <p:cNvSpPr txBox="1">
                  <a:spLocks noRot="1" noChangeAspect="1" noMove="1" noResize="1" noEditPoints="1" noAdjustHandles="1" noChangeArrowheads="1" noChangeShapeType="1" noTextEdit="1"/>
                </p:cNvSpPr>
                <p:nvPr/>
              </p:nvSpPr>
              <p:spPr>
                <a:xfrm>
                  <a:off x="7560733" y="3880744"/>
                  <a:ext cx="1828706" cy="276999"/>
                </a:xfrm>
                <a:prstGeom prst="rect">
                  <a:avLst/>
                </a:prstGeom>
                <a:blipFill>
                  <a:blip r:embed="rId14"/>
                  <a:stretch>
                    <a:fillRect l="-3667" t="-13043" r="-4333" b="-413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EA59072A-2C19-4D72-8EE2-E80BE33295FD}"/>
                    </a:ext>
                  </a:extLst>
                </p:cNvPr>
                <p:cNvSpPr txBox="1"/>
                <p:nvPr/>
              </p:nvSpPr>
              <p:spPr>
                <a:xfrm rot="16200000">
                  <a:off x="5862753" y="2418776"/>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7" name="文字方塊 36">
                  <a:extLst>
                    <a:ext uri="{FF2B5EF4-FFF2-40B4-BE49-F238E27FC236}">
                      <a16:creationId xmlns:a16="http://schemas.microsoft.com/office/drawing/2014/main" id="{EA59072A-2C19-4D72-8EE2-E80BE33295FD}"/>
                    </a:ext>
                  </a:extLst>
                </p:cNvPr>
                <p:cNvSpPr txBox="1">
                  <a:spLocks noRot="1" noChangeAspect="1" noMove="1" noResize="1" noEditPoints="1" noAdjustHandles="1" noChangeArrowheads="1" noChangeShapeType="1" noTextEdit="1"/>
                </p:cNvSpPr>
                <p:nvPr/>
              </p:nvSpPr>
              <p:spPr>
                <a:xfrm rot="16200000">
                  <a:off x="5862753" y="2418776"/>
                  <a:ext cx="1865895" cy="276999"/>
                </a:xfrm>
                <a:prstGeom prst="rect">
                  <a:avLst/>
                </a:prstGeom>
                <a:blipFill>
                  <a:blip r:embed="rId15"/>
                  <a:stretch>
                    <a:fillRect l="-13333" t="-2941" r="-44444" b="-392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056572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6" name="auto caption"/>
          <p:cNvSpPr txBox="1"/>
          <p:nvPr/>
        </p:nvSpPr>
        <p:spPr>
          <a:xfrm>
            <a:off x="-33943" y="586474"/>
            <a:ext cx="12115876" cy="666593"/>
          </a:xfrm>
          <a:prstGeom prst="rect">
            <a:avLst/>
          </a:prstGeom>
          <a:noFill/>
        </p:spPr>
        <p:txBody>
          <a:bodyPr wrap="square" rtlCol="0">
            <a:normAutofit/>
          </a:bodyPr>
          <a:lstStyle/>
          <a:p>
            <a:pPr marL="285750" indent="-285750">
              <a:buFont typeface="Wingdings" panose="05000000000000000000" pitchFamily="2" charset="2"/>
              <a:buChar char="l"/>
            </a:pPr>
            <a:r>
              <a:rPr lang="en-US" altLang="zh-TW" dirty="0"/>
              <a:t>Setup: </a:t>
            </a:r>
            <a:r>
              <a:rPr lang="en-US" altLang="zh-TW" b="1" dirty="0"/>
              <a:t>Calibration is performed using the eighteen-parameter calibration points, followed by fitting to the FEM nodes within the workspace</a:t>
            </a:r>
            <a:r>
              <a:rPr lang="en-US" altLang="zh-TW" dirty="0"/>
              <a:t>. </a:t>
            </a:r>
          </a:p>
        </p:txBody>
      </p:sp>
      <mc:AlternateContent xmlns:mc="http://schemas.openxmlformats.org/markup-compatibility/2006" xmlns:a14="http://schemas.microsoft.com/office/drawing/2010/main">
        <mc:Choice Requires="a14">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3780944156"/>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oMath>
                            </m:oMathPara>
                          </a14:m>
                          <a:endParaRPr lang="zh-TW" altLang="en-US" dirty="0"/>
                        </a:p>
                      </a:txBody>
                      <a:tcPr/>
                    </a:tc>
                    <a:tc>
                      <a:txBody>
                        <a:bodyPr/>
                        <a:lstStyle/>
                        <a:p>
                          <a:pPr algn="ctr"/>
                          <a:r>
                            <a:rPr lang="en-US" altLang="zh-TW" dirty="0"/>
                            <a:t>Peak value</a:t>
                          </a:r>
                          <a14:m>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zh-TW" altLang="en-US" b="0" i="1" smtClean="0">
                                  <a:latin typeface="Cambria Math" panose="02040503050406030204" pitchFamily="18" charset="0"/>
                                  <a:ea typeface="Cambria Math" panose="02040503050406030204" pitchFamily="18" charset="0"/>
                                </a:rPr>
                                <m:t>𝜇</m:t>
                              </m:r>
                              <m:r>
                                <a:rPr lang="en-US" altLang="zh-TW" b="0" i="1" smtClean="0">
                                  <a:latin typeface="Cambria Math" panose="02040503050406030204" pitchFamily="18" charset="0"/>
                                  <a:ea typeface="Cambria Math" panose="02040503050406030204" pitchFamily="18" charset="0"/>
                                </a:rPr>
                                <m:t>𝑚</m:t>
                              </m:r>
                              <m:r>
                                <a:rPr lang="en-US" altLang="zh-TW" b="0" i="1" smtClean="0">
                                  <a:latin typeface="Cambria Math" panose="02040503050406030204" pitchFamily="18" charset="0"/>
                                  <a:ea typeface="Cambria Math" panose="02040503050406030204" pitchFamily="18" charset="0"/>
                                </a:rPr>
                                <m:t>)</m:t>
                              </m:r>
                            </m:oMath>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altLang="zh-TW" sz="1800" b="0" i="0" smtClean="0">
                                    <a:latin typeface="Cambria Math" panose="02040503050406030204" pitchFamily="18" charset="0"/>
                                    <a:ea typeface="Cambria Math" panose="02040503050406030204" pitchFamily="18" charset="0"/>
                                  </a:rPr>
                                  <m:t>Average</m:t>
                                </m:r>
                                <m:r>
                                  <a:rPr lang="en-US" altLang="zh-TW" sz="1800" b="0" i="0" smtClean="0">
                                    <a:latin typeface="Cambria Math" panose="02040503050406030204" pitchFamily="18" charset="0"/>
                                    <a:ea typeface="Cambria Math" panose="02040503050406030204" pitchFamily="18" charset="0"/>
                                  </a:rPr>
                                  <m:t> </m:t>
                                </m:r>
                                <m:r>
                                  <m:rPr>
                                    <m:sty m:val="p"/>
                                  </m:rPr>
                                  <a:rPr lang="en-US" altLang="zh-TW" sz="1800" b="0" i="0" smtClean="0">
                                    <a:latin typeface="Cambria Math" panose="02040503050406030204" pitchFamily="18" charset="0"/>
                                    <a:ea typeface="Cambria Math" panose="02040503050406030204" pitchFamily="18" charset="0"/>
                                  </a:rPr>
                                  <m:t>field</m:t>
                                </m:r>
                              </m:oMath>
                            </m:oMathPara>
                          </a14:m>
                          <a:endParaRPr lang="zh-TW" altLang="en-US" i="0" dirty="0"/>
                        </a:p>
                      </a:txBody>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6.4954%</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0.2190mT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661213">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0.4751%</a:t>
                          </a:r>
                          <a:endParaRPr lang="zh-TW" altLang="en-US" dirty="0"/>
                        </a:p>
                      </a:txBody>
                      <a:tcPr/>
                    </a:tc>
                    <a:tc>
                      <a:txBody>
                        <a:bodyPr/>
                        <a:lstStyle/>
                        <a:p>
                          <a:pPr algn="ctr"/>
                          <a:r>
                            <a:rPr lang="en-US" altLang="zh-TW" dirty="0"/>
                            <a:t>30.7330mT</a:t>
                          </a:r>
                          <a:endParaRPr lang="zh-TW" altLang="en-US" dirty="0"/>
                        </a:p>
                      </a:txBody>
                      <a:tcPr/>
                    </a:tc>
                    <a:tc>
                      <a:txBody>
                        <a:bodyPr/>
                        <a:lstStyle/>
                        <a:p>
                          <a:pPr algn="ctr"/>
                          <a:r>
                            <a:rPr lang="en-US" altLang="zh-TW" dirty="0"/>
                            <a:t>0.4294mT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≤150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tc>
                      <a:txBody>
                        <a:bodyPr/>
                        <a:lstStyle/>
                        <a:p>
                          <a:pPr algn="ctr"/>
                          <a:r>
                            <a:rPr lang="en-US" altLang="zh-TW" dirty="0"/>
                            <a:t>1.2666mT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a:t>
                          </a:r>
                          <a14:m>
                            <m:oMath xmlns:m="http://schemas.openxmlformats.org/officeDocument/2006/math">
                              <m:r>
                                <a:rPr lang="en-US" altLang="zh-TW" sz="1200" b="0" i="0" smtClean="0">
                                  <a:latin typeface="Cambria Math" panose="02040503050406030204" pitchFamily="18" charset="0"/>
                                </a:rPr>
                                <m:t>150</m:t>
                              </m:r>
                              <m:r>
                                <m:rPr>
                                  <m:sty m:val="p"/>
                                </m:rPr>
                                <a:rPr lang="en-US" altLang="zh-TW" sz="1200" b="0" i="0" smtClean="0">
                                  <a:latin typeface="Cambria Math" panose="02040503050406030204" pitchFamily="18" charset="0"/>
                                </a:rPr>
                                <m:t>um</m:t>
                              </m:r>
                              <m:r>
                                <a:rPr lang="en-US" altLang="zh-TW" sz="1200" b="0" i="0" smtClean="0">
                                  <a:latin typeface="Cambria Math" panose="02040503050406030204" pitchFamily="18" charset="0"/>
                                </a:rPr>
                                <m:t>≤</m:t>
                              </m:r>
                              <m:r>
                                <a:rPr lang="en-US" altLang="zh-TW" sz="1200" b="0" i="1" smtClean="0">
                                  <a:latin typeface="Cambria Math" panose="02040503050406030204" pitchFamily="18" charset="0"/>
                                </a:rPr>
                                <m:t>𝑅</m:t>
                              </m:r>
                              <m:r>
                                <a:rPr lang="en-US" altLang="zh-TW" sz="1200" b="0" i="1" smtClean="0">
                                  <a:latin typeface="Cambria Math" panose="02040503050406030204" pitchFamily="18" charset="0"/>
                                </a:rPr>
                                <m:t>≤300</m:t>
                              </m:r>
                              <m:r>
                                <a:rPr lang="en-US" altLang="zh-TW" sz="1200" b="0" i="1" smtClean="0">
                                  <a:latin typeface="Cambria Math" panose="02040503050406030204" pitchFamily="18" charset="0"/>
                                </a:rPr>
                                <m:t>𝑢𝑚</m:t>
                              </m:r>
                              <m:r>
                                <a:rPr lang="en-US" altLang="zh-TW" sz="1200" b="0" i="1" smtClean="0">
                                  <a:latin typeface="Cambria Math" panose="02040503050406030204" pitchFamily="18" charset="0"/>
                                </a:rPr>
                                <m:t>)</m:t>
                              </m:r>
                            </m:oMath>
                          </a14:m>
                          <a:endParaRPr lang="zh-TW" altLang="en-US" sz="1200" dirty="0"/>
                        </a:p>
                        <a:p>
                          <a:pPr algn="ctr"/>
                          <a:endParaRPr lang="zh-TW" altLang="en-US" dirty="0"/>
                        </a:p>
                      </a:txBody>
                      <a:tcPr/>
                    </a:tc>
                    <a:extLst>
                      <a:ext uri="{0D108BD9-81ED-4DB2-BD59-A6C34878D82A}">
                        <a16:rowId xmlns:a16="http://schemas.microsoft.com/office/drawing/2014/main" val="1327120116"/>
                      </a:ext>
                    </a:extLst>
                  </a:tr>
                </a:tbl>
              </a:graphicData>
            </a:graphic>
          </p:graphicFrame>
        </mc:Choice>
        <mc:Fallback xmlns="">
          <p:graphicFrame>
            <p:nvGraphicFramePr>
              <p:cNvPr id="21" name="表格 21">
                <a:extLst>
                  <a:ext uri="{FF2B5EF4-FFF2-40B4-BE49-F238E27FC236}">
                    <a16:creationId xmlns:a16="http://schemas.microsoft.com/office/drawing/2014/main" id="{8650AF4A-7868-4FE8-AAFF-ECABEEB37AD3}"/>
                  </a:ext>
                </a:extLst>
              </p:cNvPr>
              <p:cNvGraphicFramePr>
                <a:graphicFrameLocks noGrp="1"/>
              </p:cNvGraphicFramePr>
              <p:nvPr>
                <p:extLst>
                  <p:ext uri="{D42A27DB-BD31-4B8C-83A1-F6EECF244321}">
                    <p14:modId xmlns:p14="http://schemas.microsoft.com/office/powerpoint/2010/main" val="3780944156"/>
                  </p:ext>
                </p:extLst>
              </p:nvPr>
            </p:nvGraphicFramePr>
            <p:xfrm>
              <a:off x="287865" y="4540405"/>
              <a:ext cx="11506201" cy="1936577"/>
            </p:xfrm>
            <a:graphic>
              <a:graphicData uri="http://schemas.openxmlformats.org/drawingml/2006/table">
                <a:tbl>
                  <a:tblPr firstRow="1" bandRow="1">
                    <a:tableStyleId>{5940675A-B579-460E-94D1-54222C63F5DA}</a:tableStyleId>
                  </a:tblPr>
                  <a:tblGrid>
                    <a:gridCol w="1286934">
                      <a:extLst>
                        <a:ext uri="{9D8B030D-6E8A-4147-A177-3AD203B41FA5}">
                          <a16:colId xmlns:a16="http://schemas.microsoft.com/office/drawing/2014/main" val="2220848039"/>
                        </a:ext>
                      </a:extLst>
                    </a:gridCol>
                    <a:gridCol w="1041400">
                      <a:extLst>
                        <a:ext uri="{9D8B030D-6E8A-4147-A177-3AD203B41FA5}">
                          <a16:colId xmlns:a16="http://schemas.microsoft.com/office/drawing/2014/main" val="2517592409"/>
                        </a:ext>
                      </a:extLst>
                    </a:gridCol>
                    <a:gridCol w="2794000">
                      <a:extLst>
                        <a:ext uri="{9D8B030D-6E8A-4147-A177-3AD203B41FA5}">
                          <a16:colId xmlns:a16="http://schemas.microsoft.com/office/drawing/2014/main" val="1542711824"/>
                        </a:ext>
                      </a:extLst>
                    </a:gridCol>
                    <a:gridCol w="2700866">
                      <a:extLst>
                        <a:ext uri="{9D8B030D-6E8A-4147-A177-3AD203B41FA5}">
                          <a16:colId xmlns:a16="http://schemas.microsoft.com/office/drawing/2014/main" val="1951294256"/>
                        </a:ext>
                      </a:extLst>
                    </a:gridCol>
                    <a:gridCol w="1871134">
                      <a:extLst>
                        <a:ext uri="{9D8B030D-6E8A-4147-A177-3AD203B41FA5}">
                          <a16:colId xmlns:a16="http://schemas.microsoft.com/office/drawing/2014/main" val="2486765925"/>
                        </a:ext>
                      </a:extLst>
                    </a:gridCol>
                    <a:gridCol w="1811867">
                      <a:extLst>
                        <a:ext uri="{9D8B030D-6E8A-4147-A177-3AD203B41FA5}">
                          <a16:colId xmlns:a16="http://schemas.microsoft.com/office/drawing/2014/main" val="2727676957"/>
                        </a:ext>
                      </a:extLst>
                    </a:gridCol>
                  </a:tblGrid>
                  <a:tr h="452404">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8"/>
                          <a:stretch>
                            <a:fillRect l="-123977" t="-6667" r="-881871" b="-328000"/>
                          </a:stretch>
                        </a:blipFill>
                      </a:tcPr>
                    </a:tc>
                    <a:tc>
                      <a:txBody>
                        <a:bodyPr/>
                        <a:lstStyle/>
                        <a:p>
                          <a:endParaRPr lang="zh-TW"/>
                        </a:p>
                      </a:txBody>
                      <a:tcPr>
                        <a:blipFill>
                          <a:blip r:embed="rId8"/>
                          <a:stretch>
                            <a:fillRect l="-83442" t="-6667" r="-228540" b="-328000"/>
                          </a:stretch>
                        </a:blipFill>
                      </a:tcPr>
                    </a:tc>
                    <a:tc>
                      <a:txBody>
                        <a:bodyPr/>
                        <a:lstStyle/>
                        <a:p>
                          <a:endParaRPr lang="zh-TW"/>
                        </a:p>
                      </a:txBody>
                      <a:tcPr>
                        <a:blipFill>
                          <a:blip r:embed="rId8"/>
                          <a:stretch>
                            <a:fillRect l="-190068" t="-6667" r="-136795" b="-328000"/>
                          </a:stretch>
                        </a:blipFill>
                      </a:tcPr>
                    </a:tc>
                    <a:tc gridSpan="2">
                      <a:txBody>
                        <a:bodyPr/>
                        <a:lstStyle/>
                        <a:p>
                          <a:pPr algn="ctr"/>
                          <a:r>
                            <a:rPr lang="en-US" altLang="zh-TW" i="0" dirty="0"/>
                            <a:t>Mean error</a:t>
                          </a:r>
                          <a:endParaRPr lang="zh-TW" altLang="en-US" i="0" dirty="0"/>
                        </a:p>
                      </a:txBody>
                      <a:tcPr/>
                    </a:tc>
                    <a:tc hMerge="1">
                      <a:txBody>
                        <a:bodyPr/>
                        <a:lstStyle/>
                        <a:p>
                          <a:endParaRPr lang="zh-TW" altLang="en-US"/>
                        </a:p>
                      </a:txBody>
                      <a:tcPr/>
                    </a:tc>
                    <a:extLst>
                      <a:ext uri="{0D108BD9-81ED-4DB2-BD59-A6C34878D82A}">
                        <a16:rowId xmlns:a16="http://schemas.microsoft.com/office/drawing/2014/main" val="3860471253"/>
                      </a:ext>
                    </a:extLst>
                  </a:tr>
                  <a:tr h="661213">
                    <a:tc>
                      <a:txBody>
                        <a:bodyPr/>
                        <a:lstStyle/>
                        <a:p>
                          <a:r>
                            <a:rPr lang="en-US" altLang="zh-TW" dirty="0"/>
                            <a:t>Left figure</a:t>
                          </a:r>
                          <a:endParaRPr lang="zh-TW" altLang="en-US" dirty="0"/>
                        </a:p>
                      </a:txBody>
                      <a:tcPr/>
                    </a:tc>
                    <a:tc>
                      <a:txBody>
                        <a:bodyPr/>
                        <a:lstStyle/>
                        <a:p>
                          <a:pPr algn="ctr"/>
                          <a:r>
                            <a:rPr lang="en-US" altLang="zh-TW" dirty="0"/>
                            <a:t>1791</a:t>
                          </a:r>
                          <a:endParaRPr lang="zh-TW" altLang="en-US" dirty="0"/>
                        </a:p>
                      </a:txBody>
                      <a:tcPr/>
                    </a:tc>
                    <a:tc>
                      <a:txBody>
                        <a:bodyPr/>
                        <a:lstStyle/>
                        <a:p>
                          <a:pPr algn="ctr"/>
                          <a:r>
                            <a:rPr lang="en-US" altLang="zh-TW" dirty="0"/>
                            <a:t>6.4954%</a:t>
                          </a:r>
                          <a:endParaRPr lang="zh-TW" altLang="en-US" dirty="0"/>
                        </a:p>
                      </a:txBody>
                      <a:tcPr/>
                    </a:tc>
                    <a:tc>
                      <a:txBody>
                        <a:bodyPr/>
                        <a:lstStyle/>
                        <a:p>
                          <a:pPr algn="ctr"/>
                          <a:r>
                            <a:rPr lang="en-US" altLang="zh-TW" dirty="0"/>
                            <a:t>29.1094mT</a:t>
                          </a:r>
                          <a:endParaRPr lang="zh-TW" altLang="en-US" dirty="0"/>
                        </a:p>
                      </a:txBody>
                      <a:tcPr/>
                    </a:tc>
                    <a:tc gridSpan="2">
                      <a:txBody>
                        <a:bodyPr/>
                        <a:lstStyle/>
                        <a:p>
                          <a:pPr algn="ctr"/>
                          <a:r>
                            <a:rPr lang="en-US" altLang="zh-TW" dirty="0"/>
                            <a:t>0.2190mT</a:t>
                          </a:r>
                          <a:endParaRPr lang="zh-TW" altLang="en-US" dirty="0"/>
                        </a:p>
                      </a:txBody>
                      <a:tcPr/>
                    </a:tc>
                    <a:tc hMerge="1">
                      <a:txBody>
                        <a:bodyPr/>
                        <a:lstStyle/>
                        <a:p>
                          <a:endParaRPr lang="zh-TW" altLang="en-US"/>
                        </a:p>
                      </a:txBody>
                      <a:tcPr/>
                    </a:tc>
                    <a:extLst>
                      <a:ext uri="{0D108BD9-81ED-4DB2-BD59-A6C34878D82A}">
                        <a16:rowId xmlns:a16="http://schemas.microsoft.com/office/drawing/2014/main" val="142448062"/>
                      </a:ext>
                    </a:extLst>
                  </a:tr>
                  <a:tr h="822960">
                    <a:tc>
                      <a:txBody>
                        <a:bodyPr/>
                        <a:lstStyle/>
                        <a:p>
                          <a:r>
                            <a:rPr lang="en-US" altLang="zh-TW" dirty="0"/>
                            <a:t>Right figure</a:t>
                          </a:r>
                          <a:endParaRPr lang="zh-TW" altLang="en-US" dirty="0"/>
                        </a:p>
                      </a:txBody>
                      <a:tcPr/>
                    </a:tc>
                    <a:tc>
                      <a:txBody>
                        <a:bodyPr/>
                        <a:lstStyle/>
                        <a:p>
                          <a:pPr algn="ctr"/>
                          <a:r>
                            <a:rPr lang="en-US" altLang="zh-TW" dirty="0"/>
                            <a:t>14066</a:t>
                          </a:r>
                          <a:endParaRPr lang="zh-TW" altLang="en-US" dirty="0"/>
                        </a:p>
                      </a:txBody>
                      <a:tcPr/>
                    </a:tc>
                    <a:tc>
                      <a:txBody>
                        <a:bodyPr/>
                        <a:lstStyle/>
                        <a:p>
                          <a:pPr algn="ctr"/>
                          <a:r>
                            <a:rPr lang="en-US" altLang="zh-TW" dirty="0"/>
                            <a:t>0.4751%</a:t>
                          </a:r>
                          <a:endParaRPr lang="zh-TW" altLang="en-US" dirty="0"/>
                        </a:p>
                      </a:txBody>
                      <a:tcPr/>
                    </a:tc>
                    <a:tc>
                      <a:txBody>
                        <a:bodyPr/>
                        <a:lstStyle/>
                        <a:p>
                          <a:pPr algn="ctr"/>
                          <a:r>
                            <a:rPr lang="en-US" altLang="zh-TW" dirty="0"/>
                            <a:t>30.7330mT</a:t>
                          </a:r>
                          <a:endParaRPr lang="zh-TW" altLang="en-US" dirty="0"/>
                        </a:p>
                      </a:txBody>
                      <a:tcPr/>
                    </a:tc>
                    <a:tc>
                      <a:txBody>
                        <a:bodyPr/>
                        <a:lstStyle/>
                        <a:p>
                          <a:endParaRPr lang="zh-TW"/>
                        </a:p>
                      </a:txBody>
                      <a:tcPr>
                        <a:blipFill>
                          <a:blip r:embed="rId8"/>
                          <a:stretch>
                            <a:fillRect l="-418567" t="-138235" r="-97394" b="-1471"/>
                          </a:stretch>
                        </a:blipFill>
                      </a:tcPr>
                    </a:tc>
                    <a:tc>
                      <a:txBody>
                        <a:bodyPr/>
                        <a:lstStyle/>
                        <a:p>
                          <a:endParaRPr lang="zh-TW"/>
                        </a:p>
                      </a:txBody>
                      <a:tcPr>
                        <a:blipFill>
                          <a:blip r:embed="rId8"/>
                          <a:stretch>
                            <a:fillRect l="-536027" t="-138235" r="-673" b="-1471"/>
                          </a:stretch>
                        </a:blipFill>
                      </a:tcPr>
                    </a:tc>
                    <a:extLst>
                      <a:ext uri="{0D108BD9-81ED-4DB2-BD59-A6C34878D82A}">
                        <a16:rowId xmlns:a16="http://schemas.microsoft.com/office/drawing/2014/main" val="1327120116"/>
                      </a:ext>
                    </a:extLst>
                  </a:tr>
                </a:tbl>
              </a:graphicData>
            </a:graphic>
          </p:graphicFrame>
        </mc:Fallback>
      </mc:AlternateContent>
      <p:sp>
        <p:nvSpPr>
          <p:cNvPr id="3" name="文字方塊 2">
            <a:extLst>
              <a:ext uri="{FF2B5EF4-FFF2-40B4-BE49-F238E27FC236}">
                <a16:creationId xmlns:a16="http://schemas.microsoft.com/office/drawing/2014/main" id="{7DA54126-8AD3-42B9-BDF5-6524E0886B14}"/>
              </a:ext>
            </a:extLst>
          </p:cNvPr>
          <p:cNvSpPr txBox="1"/>
          <p:nvPr/>
        </p:nvSpPr>
        <p:spPr>
          <a:xfrm>
            <a:off x="0" y="1247855"/>
            <a:ext cx="2345267"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Zhi</a:t>
            </a:r>
            <a:r>
              <a:rPr lang="en-US" altLang="zh-TW" dirty="0"/>
              <a:t> </a:t>
            </a:r>
            <a:r>
              <a:rPr lang="en-US" altLang="zh-TW" dirty="0" err="1"/>
              <a:t>peng</a:t>
            </a:r>
            <a:endParaRPr lang="zh-TW" altLang="en-US" dirty="0"/>
          </a:p>
        </p:txBody>
      </p:sp>
      <p:sp>
        <p:nvSpPr>
          <p:cNvPr id="35" name="文字方塊 34">
            <a:extLst>
              <a:ext uri="{FF2B5EF4-FFF2-40B4-BE49-F238E27FC236}">
                <a16:creationId xmlns:a16="http://schemas.microsoft.com/office/drawing/2014/main" id="{ABCA9A95-3FE0-4A15-B1F8-0C4668E5E092}"/>
              </a:ext>
            </a:extLst>
          </p:cNvPr>
          <p:cNvSpPr txBox="1"/>
          <p:nvPr/>
        </p:nvSpPr>
        <p:spPr>
          <a:xfrm>
            <a:off x="0" y="6488668"/>
            <a:ext cx="2675466" cy="369332"/>
          </a:xfrm>
          <a:prstGeom prst="rect">
            <a:avLst/>
          </a:prstGeom>
          <a:noFill/>
        </p:spPr>
        <p:txBody>
          <a:bodyPr wrap="square" rtlCol="0">
            <a:spAutoFit/>
          </a:bodyPr>
          <a:lstStyle/>
          <a:p>
            <a:pPr marL="285750" indent="-285750">
              <a:buFont typeface="Wingdings" panose="05000000000000000000" pitchFamily="2" charset="2"/>
              <a:buChar char="u"/>
            </a:pPr>
            <a:r>
              <a:rPr lang="en-US" altLang="zh-TW" dirty="0"/>
              <a:t>Resolution:17uT</a:t>
            </a:r>
            <a:endParaRPr lang="zh-TW" altLang="en-US" dirty="0"/>
          </a:p>
        </p:txBody>
      </p:sp>
      <p:grpSp>
        <p:nvGrpSpPr>
          <p:cNvPr id="16" name="群組 15">
            <a:extLst>
              <a:ext uri="{FF2B5EF4-FFF2-40B4-BE49-F238E27FC236}">
                <a16:creationId xmlns:a16="http://schemas.microsoft.com/office/drawing/2014/main" id="{18358A9E-5BDC-435F-AB2D-500D0D1C0434}"/>
              </a:ext>
            </a:extLst>
          </p:cNvPr>
          <p:cNvGrpSpPr/>
          <p:nvPr/>
        </p:nvGrpSpPr>
        <p:grpSpPr>
          <a:xfrm>
            <a:off x="1661869" y="1407538"/>
            <a:ext cx="3206465" cy="3029944"/>
            <a:chOff x="1661869" y="1407538"/>
            <a:chExt cx="3206465" cy="3029944"/>
          </a:xfrm>
        </p:grpSpPr>
        <p:pic>
          <p:nvPicPr>
            <p:cNvPr id="6" name="圖片 5">
              <a:extLst>
                <a:ext uri="{FF2B5EF4-FFF2-40B4-BE49-F238E27FC236}">
                  <a16:creationId xmlns:a16="http://schemas.microsoft.com/office/drawing/2014/main" id="{46FB8E2E-9FCE-4521-8430-BCDAEF6BC5FD}"/>
                </a:ext>
              </a:extLst>
            </p:cNvPr>
            <p:cNvPicPr>
              <a:picLocks noChangeAspect="1"/>
            </p:cNvPicPr>
            <p:nvPr/>
          </p:nvPicPr>
          <p:blipFill rotWithShape="1">
            <a:blip r:embed="rId9">
              <a:extLst>
                <a:ext uri="{28A0092B-C50C-407E-A947-70E740481C1C}">
                  <a14:useLocalDpi xmlns:a14="http://schemas.microsoft.com/office/drawing/2010/main" val="0"/>
                </a:ext>
              </a:extLst>
            </a:blip>
            <a:srcRect l="3875" b="5132"/>
            <a:stretch/>
          </p:blipFill>
          <p:spPr>
            <a:xfrm>
              <a:off x="1938868" y="1407538"/>
              <a:ext cx="2929466" cy="2741259"/>
            </a:xfrm>
            <a:prstGeom prst="rect">
              <a:avLst/>
            </a:prstGeom>
          </p:spPr>
        </p:pic>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A788D79A-C30E-4CDC-9844-30BDFA6C64D3}"/>
                    </a:ext>
                  </a:extLst>
                </p:cNvPr>
                <p:cNvSpPr txBox="1"/>
                <p:nvPr/>
              </p:nvSpPr>
              <p:spPr>
                <a:xfrm>
                  <a:off x="2489248" y="4160483"/>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0" name="文字方塊 29">
                  <a:extLst>
                    <a:ext uri="{FF2B5EF4-FFF2-40B4-BE49-F238E27FC236}">
                      <a16:creationId xmlns:a16="http://schemas.microsoft.com/office/drawing/2014/main" id="{A788D79A-C30E-4CDC-9844-30BDFA6C64D3}"/>
                    </a:ext>
                  </a:extLst>
                </p:cNvPr>
                <p:cNvSpPr txBox="1">
                  <a:spLocks noRot="1" noChangeAspect="1" noMove="1" noResize="1" noEditPoints="1" noAdjustHandles="1" noChangeArrowheads="1" noChangeShapeType="1" noTextEdit="1"/>
                </p:cNvSpPr>
                <p:nvPr/>
              </p:nvSpPr>
              <p:spPr>
                <a:xfrm>
                  <a:off x="2489248" y="4160483"/>
                  <a:ext cx="1828706" cy="276999"/>
                </a:xfrm>
                <a:prstGeom prst="rect">
                  <a:avLst/>
                </a:prstGeom>
                <a:blipFill>
                  <a:blip r:embed="rId10"/>
                  <a:stretch>
                    <a:fillRect l="-3667" t="-13043" r="-4333" b="-4130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48E090A4-0B3F-43E4-A818-4F995B012AD3}"/>
                    </a:ext>
                  </a:extLst>
                </p:cNvPr>
                <p:cNvSpPr txBox="1"/>
                <p:nvPr/>
              </p:nvSpPr>
              <p:spPr>
                <a:xfrm rot="16200000">
                  <a:off x="867421" y="2639667"/>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4" name="文字方塊 33">
                  <a:extLst>
                    <a:ext uri="{FF2B5EF4-FFF2-40B4-BE49-F238E27FC236}">
                      <a16:creationId xmlns:a16="http://schemas.microsoft.com/office/drawing/2014/main" id="{48E090A4-0B3F-43E4-A818-4F995B012AD3}"/>
                    </a:ext>
                  </a:extLst>
                </p:cNvPr>
                <p:cNvSpPr txBox="1">
                  <a:spLocks noRot="1" noChangeAspect="1" noMove="1" noResize="1" noEditPoints="1" noAdjustHandles="1" noChangeArrowheads="1" noChangeShapeType="1" noTextEdit="1"/>
                </p:cNvSpPr>
                <p:nvPr/>
              </p:nvSpPr>
              <p:spPr>
                <a:xfrm rot="16200000">
                  <a:off x="867421" y="2639667"/>
                  <a:ext cx="1865895" cy="276999"/>
                </a:xfrm>
                <a:prstGeom prst="rect">
                  <a:avLst/>
                </a:prstGeom>
                <a:blipFill>
                  <a:blip r:embed="rId11"/>
                  <a:stretch>
                    <a:fillRect l="-15556" t="-3268" r="-42222" b="-3595"/>
                  </a:stretch>
                </a:blipFill>
              </p:spPr>
              <p:txBody>
                <a:bodyPr/>
                <a:lstStyle/>
                <a:p>
                  <a:r>
                    <a:rPr lang="zh-TW" altLang="en-US">
                      <a:noFill/>
                    </a:rPr>
                    <a:t> </a:t>
                  </a:r>
                </a:p>
              </p:txBody>
            </p:sp>
          </mc:Fallback>
        </mc:AlternateContent>
      </p:grpSp>
      <p:grpSp>
        <p:nvGrpSpPr>
          <p:cNvPr id="11" name="群組 10">
            <a:extLst>
              <a:ext uri="{FF2B5EF4-FFF2-40B4-BE49-F238E27FC236}">
                <a16:creationId xmlns:a16="http://schemas.microsoft.com/office/drawing/2014/main" id="{906183C1-31DE-40DC-9DA9-51FD38C05DB3}"/>
              </a:ext>
            </a:extLst>
          </p:cNvPr>
          <p:cNvGrpSpPr/>
          <p:nvPr/>
        </p:nvGrpSpPr>
        <p:grpSpPr>
          <a:xfrm>
            <a:off x="6801134" y="1309563"/>
            <a:ext cx="3299601" cy="3116233"/>
            <a:chOff x="6801134" y="1309563"/>
            <a:chExt cx="3299601" cy="3116233"/>
          </a:xfrm>
        </p:grpSpPr>
        <p:pic>
          <p:nvPicPr>
            <p:cNvPr id="8" name="圖片 7">
              <a:extLst>
                <a:ext uri="{FF2B5EF4-FFF2-40B4-BE49-F238E27FC236}">
                  <a16:creationId xmlns:a16="http://schemas.microsoft.com/office/drawing/2014/main" id="{45CD6BF0-BBCA-4D8F-9C6F-82718F7AC6A5}"/>
                </a:ext>
              </a:extLst>
            </p:cNvPr>
            <p:cNvPicPr>
              <a:picLocks noChangeAspect="1"/>
            </p:cNvPicPr>
            <p:nvPr/>
          </p:nvPicPr>
          <p:blipFill rotWithShape="1">
            <a:blip r:embed="rId12">
              <a:extLst>
                <a:ext uri="{28A0092B-C50C-407E-A947-70E740481C1C}">
                  <a14:useLocalDpi xmlns:a14="http://schemas.microsoft.com/office/drawing/2010/main" val="0"/>
                </a:ext>
              </a:extLst>
            </a:blip>
            <a:srcRect l="4033" b="3460"/>
            <a:stretch/>
          </p:blipFill>
          <p:spPr>
            <a:xfrm>
              <a:off x="7078133" y="1309563"/>
              <a:ext cx="3022602" cy="2937205"/>
            </a:xfrm>
            <a:prstGeom prst="rect">
              <a:avLst/>
            </a:prstGeom>
          </p:spPr>
        </p:pic>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CA3684A6-7E5B-4441-98D0-AF2A2D30EE85}"/>
                    </a:ext>
                  </a:extLst>
                </p:cNvPr>
                <p:cNvSpPr txBox="1"/>
                <p:nvPr/>
              </p:nvSpPr>
              <p:spPr>
                <a:xfrm>
                  <a:off x="7675081" y="4148797"/>
                  <a:ext cx="182870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Modeling error</a:t>
                  </a:r>
                  <a:r>
                    <a:rPr lang="zh-TW" altLang="en-US"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600" b="0"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0" i="1" smtClean="0">
                          <a:latin typeface="Cambria Math" panose="02040503050406030204" pitchFamily="18" charset="0"/>
                        </a:rPr>
                        <m:t>)</m:t>
                      </m:r>
                    </m:oMath>
                  </a14:m>
                  <a:endParaRPr lang="zh-TW" altLang="en-US" dirty="0"/>
                </a:p>
              </p:txBody>
            </p:sp>
          </mc:Choice>
          <mc:Fallback xmlns="">
            <p:sp>
              <p:nvSpPr>
                <p:cNvPr id="36" name="文字方塊 35">
                  <a:extLst>
                    <a:ext uri="{FF2B5EF4-FFF2-40B4-BE49-F238E27FC236}">
                      <a16:creationId xmlns:a16="http://schemas.microsoft.com/office/drawing/2014/main" id="{CA3684A6-7E5B-4441-98D0-AF2A2D30EE85}"/>
                    </a:ext>
                  </a:extLst>
                </p:cNvPr>
                <p:cNvSpPr txBox="1">
                  <a:spLocks noRot="1" noChangeAspect="1" noMove="1" noResize="1" noEditPoints="1" noAdjustHandles="1" noChangeArrowheads="1" noChangeShapeType="1" noTextEdit="1"/>
                </p:cNvSpPr>
                <p:nvPr/>
              </p:nvSpPr>
              <p:spPr>
                <a:xfrm>
                  <a:off x="7675081" y="4148797"/>
                  <a:ext cx="1828706" cy="276999"/>
                </a:xfrm>
                <a:prstGeom prst="rect">
                  <a:avLst/>
                </a:prstGeom>
                <a:blipFill>
                  <a:blip r:embed="rId13"/>
                  <a:stretch>
                    <a:fillRect l="-3667" t="-15556" r="-4333" b="-422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991F4D44-75FC-438F-B163-97AF18E9E75E}"/>
                    </a:ext>
                  </a:extLst>
                </p:cNvPr>
                <p:cNvSpPr txBox="1"/>
                <p:nvPr/>
              </p:nvSpPr>
              <p:spPr>
                <a:xfrm rot="16200000">
                  <a:off x="6006686" y="2639665"/>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7" name="文字方塊 36">
                  <a:extLst>
                    <a:ext uri="{FF2B5EF4-FFF2-40B4-BE49-F238E27FC236}">
                      <a16:creationId xmlns:a16="http://schemas.microsoft.com/office/drawing/2014/main" id="{991F4D44-75FC-438F-B163-97AF18E9E75E}"/>
                    </a:ext>
                  </a:extLst>
                </p:cNvPr>
                <p:cNvSpPr txBox="1">
                  <a:spLocks noRot="1" noChangeAspect="1" noMove="1" noResize="1" noEditPoints="1" noAdjustHandles="1" noChangeArrowheads="1" noChangeShapeType="1" noTextEdit="1"/>
                </p:cNvSpPr>
                <p:nvPr/>
              </p:nvSpPr>
              <p:spPr>
                <a:xfrm rot="16200000">
                  <a:off x="6006686" y="2639665"/>
                  <a:ext cx="1865895" cy="276999"/>
                </a:xfrm>
                <a:prstGeom prst="rect">
                  <a:avLst/>
                </a:prstGeom>
                <a:blipFill>
                  <a:blip r:embed="rId14"/>
                  <a:stretch>
                    <a:fillRect l="-15556" t="-3268" r="-42222" b="-359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049432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
        <p:nvSpPr>
          <p:cNvPr id="17" name="文字方塊 16">
            <a:extLst>
              <a:ext uri="{FF2B5EF4-FFF2-40B4-BE49-F238E27FC236}">
                <a16:creationId xmlns:a16="http://schemas.microsoft.com/office/drawing/2014/main" id="{A91C0FFE-50F0-4AB7-A5F1-BC95E437E53F}"/>
              </a:ext>
            </a:extLst>
          </p:cNvPr>
          <p:cNvSpPr txBox="1"/>
          <p:nvPr/>
        </p:nvSpPr>
        <p:spPr>
          <a:xfrm>
            <a:off x="57068" y="762337"/>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808899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D868545B-64CC-4F78-B8E9-53886256D97A}"/>
              </a:ext>
            </a:extLst>
          </p:cNvPr>
          <p:cNvGrpSpPr/>
          <p:nvPr/>
        </p:nvGrpSpPr>
        <p:grpSpPr>
          <a:xfrm>
            <a:off x="162640" y="1229063"/>
            <a:ext cx="6936518" cy="3144376"/>
            <a:chOff x="67661" y="1246667"/>
            <a:chExt cx="6936518" cy="3144376"/>
          </a:xfrm>
        </p:grpSpPr>
        <p:pic>
          <p:nvPicPr>
            <p:cNvPr id="4" name="圖片 3">
              <a:extLst>
                <a:ext uri="{FF2B5EF4-FFF2-40B4-BE49-F238E27FC236}">
                  <a16:creationId xmlns:a16="http://schemas.microsoft.com/office/drawing/2014/main" id="{3702AF3F-C54E-419D-9B02-186AC2F8B1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278" y="1246667"/>
              <a:ext cx="6454344" cy="2834267"/>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67661" y="1785349"/>
              <a:ext cx="6936518" cy="2605694"/>
              <a:chOff x="1625800" y="2222537"/>
              <a:chExt cx="9002034" cy="2615479"/>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55553" y="4561017"/>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55553" y="4561017"/>
                    <a:ext cx="1436034" cy="276999"/>
                  </a:xfrm>
                  <a:prstGeom prst="rect">
                    <a:avLst/>
                  </a:prstGeom>
                  <a:blipFill>
                    <a:blip r:embed="rId5"/>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559615"/>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559615"/>
                    <a:ext cx="1436034" cy="276999"/>
                  </a:xfrm>
                  <a:prstGeom prst="rect">
                    <a:avLst/>
                  </a:prstGeom>
                  <a:blipFill>
                    <a:blip r:embed="rId6"/>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871304" y="2716370"/>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871304" y="2716370"/>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8690920" y="369897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8690920" y="369897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40757" y="2245553"/>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40757" y="2245553"/>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7194070" y="2974322"/>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7194070" y="2974322"/>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39568" y="2704716"/>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39568" y="2704716"/>
                    <a:ext cx="1068754" cy="307778"/>
                  </a:xfrm>
                  <a:prstGeom prst="rect">
                    <a:avLst/>
                  </a:prstGeom>
                  <a:blipFill>
                    <a:blip r:embed="rId11"/>
                    <a:stretch>
                      <a:fillRect l="-5128" t="-8621" r="-74359"/>
                    </a:stretch>
                  </a:blipFill>
                </p:spPr>
                <p:txBody>
                  <a:bodyPr/>
                  <a:lstStyle/>
                  <a:p>
                    <a:r>
                      <a:rPr lang="zh-TW" altLang="en-US">
                        <a:noFill/>
                      </a:rPr>
                      <a:t> </a:t>
                    </a:r>
                  </a:p>
                </p:txBody>
              </p:sp>
            </mc:Fallback>
          </mc:AlternateContent>
        </p:grpSp>
      </p:grpSp>
      <p:sp>
        <p:nvSpPr>
          <p:cNvPr id="17" name="文字方塊 16">
            <a:extLst>
              <a:ext uri="{FF2B5EF4-FFF2-40B4-BE49-F238E27FC236}">
                <a16:creationId xmlns:a16="http://schemas.microsoft.com/office/drawing/2014/main" id="{A91C0FFE-50F0-4AB7-A5F1-BC95E437E53F}"/>
              </a:ext>
            </a:extLst>
          </p:cNvPr>
          <p:cNvSpPr txBox="1"/>
          <p:nvPr/>
        </p:nvSpPr>
        <p:spPr>
          <a:xfrm>
            <a:off x="57068" y="762337"/>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p:spTree>
    <p:extLst>
      <p:ext uri="{BB962C8B-B14F-4D97-AF65-F5344CB8AC3E}">
        <p14:creationId xmlns:p14="http://schemas.microsoft.com/office/powerpoint/2010/main" val="2846713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2" name="文字方塊 11">
            <a:extLst>
              <a:ext uri="{FF2B5EF4-FFF2-40B4-BE49-F238E27FC236}">
                <a16:creationId xmlns:a16="http://schemas.microsoft.com/office/drawing/2014/main" id="{A6270A5D-701A-4351-8D05-13126AF56E37}"/>
              </a:ext>
            </a:extLst>
          </p:cNvPr>
          <p:cNvSpPr txBox="1"/>
          <p:nvPr/>
        </p:nvSpPr>
        <p:spPr>
          <a:xfrm>
            <a:off x="103717" y="617796"/>
            <a:ext cx="5632407" cy="2862322"/>
          </a:xfrm>
          <a:prstGeom prst="rect">
            <a:avLst/>
          </a:prstGeom>
          <a:noFill/>
        </p:spPr>
        <p:txBody>
          <a:bodyPr wrap="square">
            <a:spAutoFit/>
          </a:bodyPr>
          <a:lstStyle/>
          <a:p>
            <a:pPr marL="285750" indent="-285750">
              <a:buFont typeface="Arial" panose="020B0604020202020204" pitchFamily="34" charset="0"/>
              <a:buChar char="•"/>
            </a:pPr>
            <a:r>
              <a:rPr lang="en-US" altLang="zh-TW" dirty="0"/>
              <a:t>This figure conveys the sensing concept: the Hall sensor measures the pole's leakage flux. The </a:t>
            </a:r>
            <a:r>
              <a:rPr lang="en-US" altLang="zh-TW" dirty="0" err="1"/>
              <a:t>colour</a:t>
            </a:r>
            <a:r>
              <a:rPr lang="en-US" altLang="zh-TW" dirty="0"/>
              <a:t>-coded arrows show the flux </a:t>
            </a:r>
            <a:r>
              <a:rPr lang="en-US" altLang="zh-TW" dirty="0" err="1"/>
              <a:t>channelled</a:t>
            </a:r>
            <a:r>
              <a:rPr lang="en-US" altLang="zh-TW" dirty="0"/>
              <a:t> inside the cone toward the tip, while the dashed arrows around the pole are the part that escapes through the lateral surface and returns through the air. The sensor (green patch) is mounted on that surface, so it sits in the leakage field rather than in the field between the tips, and the red arrow n⁺ marks the positive sense of what it reads (</a:t>
            </a:r>
            <a:r>
              <a:rPr lang="en-US" altLang="zh-TW" dirty="0" err="1"/>
              <a:t>b·n</a:t>
            </a:r>
            <a:r>
              <a:rPr lang="en-US" altLang="zh-TW" dirty="0"/>
              <a:t>⁺).</a:t>
            </a:r>
            <a:endParaRPr lang="zh-TW" altLang="en-US" dirty="0"/>
          </a:p>
        </p:txBody>
      </p:sp>
    </p:spTree>
    <p:extLst>
      <p:ext uri="{BB962C8B-B14F-4D97-AF65-F5344CB8AC3E}">
        <p14:creationId xmlns:p14="http://schemas.microsoft.com/office/powerpoint/2010/main" val="3724064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10416" y="80401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10416" y="2449101"/>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65731" y="869520"/>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15649" y="3580795"/>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900" name="CalibV_s_mat"/>
              <p:cNvSpPr txBox="1"/>
              <p:nvPr/>
            </p:nvSpPr>
            <p:spPr>
              <a:xfrm>
                <a:off x="3509544" y="1158219"/>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050" b="0" i="1">
                              <a:latin typeface="Cambria Math" panose="02040503050406030204" pitchFamily="18" charset="0"/>
                            </a:rPr>
                          </m:ctrlPr>
                        </m:accPr>
                        <m:e>
                          <m:r>
                            <a:rPr lang="en-US" sz="1050" b="0" i="1">
                              <a:latin typeface="Cambria Math" panose="02040503050406030204" pitchFamily="18" charset="0"/>
                            </a:rPr>
                            <m:t>𝐷</m:t>
                          </m:r>
                        </m:e>
                      </m:acc>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0.8333</m:t>
                                </m:r>
                              </m:e>
                              <m:e>
                                <m:r>
                                  <a:rPr lang="en-US" sz="1050" b="0" i="0">
                                    <a:latin typeface="Cambria Math" panose="02040503050406030204" pitchFamily="18" charset="0"/>
                                  </a:rPr>
                                  <m:t>−0.4701</m:t>
                                </m:r>
                              </m:e>
                              <m:e>
                                <m:r>
                                  <a:rPr lang="en-US" sz="1050" b="0" i="0">
                                    <a:latin typeface="Cambria Math" panose="02040503050406030204" pitchFamily="18" charset="0"/>
                                  </a:rPr>
                                  <m:t>−0.3324</m:t>
                                </m:r>
                              </m:e>
                              <m:e>
                                <m:r>
                                  <a:rPr lang="en-US" sz="1050" b="0" i="0">
                                    <a:latin typeface="Cambria Math" panose="02040503050406030204" pitchFamily="18" charset="0"/>
                                  </a:rPr>
                                  <m:t>−0.4255</m:t>
                                </m:r>
                              </m:e>
                              <m:e>
                                <m:r>
                                  <a:rPr lang="en-US" sz="1050" b="0" i="0">
                                    <a:latin typeface="Cambria Math" panose="02040503050406030204" pitchFamily="18" charset="0"/>
                                  </a:rPr>
                                  <m:t>−0.4318</m:t>
                                </m:r>
                              </m:e>
                              <m:e>
                                <m:r>
                                  <a:rPr lang="en-US" sz="1050" b="0" i="0">
                                    <a:latin typeface="Cambria Math" panose="02040503050406030204" pitchFamily="18" charset="0"/>
                                  </a:rPr>
                                  <m:t>−0.3290</m:t>
                                </m:r>
                              </m:e>
                            </m:mr>
                            <m:mr>
                              <m:e>
                                <m:r>
                                  <a:rPr lang="en-US" sz="1050" b="0" i="0">
                                    <a:latin typeface="Cambria Math" panose="02040503050406030204" pitchFamily="18" charset="0"/>
                                  </a:rPr>
                                  <m:t>−0.1459</m:t>
                                </m:r>
                              </m:e>
                              <m:e>
                                <m:r>
                                  <a:rPr lang="en-US" sz="1050" b="0" i="0">
                                    <a:latin typeface="Cambria Math" panose="02040503050406030204" pitchFamily="18" charset="0"/>
                                  </a:rPr>
                                  <m:t>1.3478</m:t>
                                </m:r>
                              </m:e>
                              <m:e>
                                <m:r>
                                  <a:rPr lang="en-US" sz="1050" b="0" i="0">
                                    <a:latin typeface="Cambria Math" panose="02040503050406030204" pitchFamily="18" charset="0"/>
                                  </a:rPr>
                                  <m:t>−0.0419</m:t>
                                </m:r>
                              </m:e>
                              <m:e>
                                <m:r>
                                  <a:rPr lang="en-US" sz="1050" b="0" i="0">
                                    <a:latin typeface="Cambria Math" panose="02040503050406030204" pitchFamily="18" charset="0"/>
                                  </a:rPr>
                                  <m:t>0.3311</m:t>
                                </m:r>
                              </m:e>
                              <m:e>
                                <m:r>
                                  <a:rPr lang="en-US" sz="1050" b="0" i="0">
                                    <a:latin typeface="Cambria Math" panose="02040503050406030204" pitchFamily="18" charset="0"/>
                                  </a:rPr>
                                  <m:t>0.3307</m:t>
                                </m:r>
                              </m:e>
                              <m:e>
                                <m:r>
                                  <a:rPr lang="en-US" sz="1050" b="0" i="0">
                                    <a:latin typeface="Cambria Math" panose="02040503050406030204" pitchFamily="18" charset="0"/>
                                  </a:rPr>
                                  <m:t>−0.0370</m:t>
                                </m:r>
                              </m:e>
                            </m:mr>
                            <m:mr>
                              <m:e>
                                <m:r>
                                  <a:rPr lang="en-US" sz="1050" b="0" i="0">
                                    <a:latin typeface="Cambria Math" panose="02040503050406030204" pitchFamily="18" charset="0"/>
                                  </a:rPr>
                                  <m:t>−0.3403</m:t>
                                </m:r>
                              </m:e>
                              <m:e>
                                <m:r>
                                  <a:rPr lang="en-US" sz="1050" b="0" i="0">
                                    <a:latin typeface="Cambria Math" panose="02040503050406030204" pitchFamily="18" charset="0"/>
                                  </a:rPr>
                                  <m:t>−0.4571</m:t>
                                </m:r>
                              </m:e>
                              <m:e>
                                <m:r>
                                  <a:rPr lang="en-US" sz="1050" b="0" i="0">
                                    <a:latin typeface="Cambria Math" panose="02040503050406030204" pitchFamily="18" charset="0"/>
                                  </a:rPr>
                                  <m:t>0.8096</m:t>
                                </m:r>
                              </m:e>
                              <m:e>
                                <m:r>
                                  <a:rPr lang="en-US" sz="1050" b="0" i="0">
                                    <a:latin typeface="Cambria Math" panose="02040503050406030204" pitchFamily="18" charset="0"/>
                                  </a:rPr>
                                  <m:t>−0.4931</m:t>
                                </m:r>
                              </m:e>
                              <m:e>
                                <m:r>
                                  <a:rPr lang="en-US" sz="1050" b="0" i="0">
                                    <a:latin typeface="Cambria Math" panose="02040503050406030204" pitchFamily="18" charset="0"/>
                                  </a:rPr>
                                  <m:t>−0.4613</m:t>
                                </m:r>
                              </m:e>
                              <m:e>
                                <m:r>
                                  <a:rPr lang="en-US" sz="1050" b="0" i="0">
                                    <a:latin typeface="Cambria Math" panose="02040503050406030204" pitchFamily="18" charset="0"/>
                                  </a:rPr>
                                  <m:t>−0.3456</m:t>
                                </m:r>
                              </m:e>
                            </m:mr>
                            <m:mr>
                              <m:e>
                                <m:r>
                                  <a:rPr lang="en-US" sz="1050" b="0" i="0">
                                    <a:latin typeface="Cambria Math" panose="02040503050406030204" pitchFamily="18" charset="0"/>
                                  </a:rPr>
                                  <m:t>0.0127</m:t>
                                </m:r>
                              </m:e>
                              <m:e>
                                <m:r>
                                  <a:rPr lang="en-US" sz="1050" b="0" i="0">
                                    <a:latin typeface="Cambria Math" panose="02040503050406030204" pitchFamily="18" charset="0"/>
                                  </a:rPr>
                                  <m:t>0.4012</m:t>
                                </m:r>
                              </m:e>
                              <m:e>
                                <m:r>
                                  <a:rPr lang="en-US" sz="1050" b="0" i="0">
                                    <a:latin typeface="Cambria Math" panose="02040503050406030204" pitchFamily="18" charset="0"/>
                                  </a:rPr>
                                  <m:t>−0.1179</m:t>
                                </m:r>
                              </m:e>
                              <m:e>
                                <m:r>
                                  <a:rPr lang="en-US" sz="1050" b="0" i="0">
                                    <a:latin typeface="Cambria Math" panose="02040503050406030204" pitchFamily="18" charset="0"/>
                                  </a:rPr>
                                  <m:t>1.4071</m:t>
                                </m:r>
                              </m:e>
                              <m:e>
                                <m:r>
                                  <a:rPr lang="en-US" sz="1050" b="0" i="0">
                                    <a:latin typeface="Cambria Math" panose="02040503050406030204" pitchFamily="18" charset="0"/>
                                  </a:rPr>
                                  <m:t>0.3973</m:t>
                                </m:r>
                              </m:e>
                              <m:e>
                                <m:r>
                                  <a:rPr lang="en-US" sz="1050" b="0" i="0">
                                    <a:latin typeface="Cambria Math" panose="02040503050406030204" pitchFamily="18" charset="0"/>
                                  </a:rPr>
                                  <m:t>−0.0031</m:t>
                                </m:r>
                              </m:e>
                            </m:mr>
                            <m:mr>
                              <m:e>
                                <m:r>
                                  <a:rPr lang="en-US" sz="1050" b="0" i="0">
                                    <a:latin typeface="Cambria Math" panose="02040503050406030204" pitchFamily="18" charset="0"/>
                                  </a:rPr>
                                  <m:t>0.0076</m:t>
                                </m:r>
                              </m:e>
                              <m:e>
                                <m:r>
                                  <a:rPr lang="en-US" sz="1050" b="0" i="0">
                                    <a:latin typeface="Cambria Math" panose="02040503050406030204" pitchFamily="18" charset="0"/>
                                  </a:rPr>
                                  <m:t>0.3819</m:t>
                                </m:r>
                              </m:e>
                              <m:e>
                                <m:r>
                                  <a:rPr lang="en-US" sz="1050" b="0" i="0">
                                    <a:latin typeface="Cambria Math" panose="02040503050406030204" pitchFamily="18" charset="0"/>
                                  </a:rPr>
                                  <m:t>−0.0139</m:t>
                                </m:r>
                              </m:e>
                              <m:e>
                                <m:r>
                                  <a:rPr lang="en-US" sz="1050" b="0" i="0">
                                    <a:latin typeface="Cambria Math" panose="02040503050406030204" pitchFamily="18" charset="0"/>
                                  </a:rPr>
                                  <m:t>0.3817</m:t>
                                </m:r>
                              </m:e>
                              <m:e>
                                <m:r>
                                  <a:rPr lang="en-US" sz="1050" b="0" i="0">
                                    <a:latin typeface="Cambria Math" panose="02040503050406030204" pitchFamily="18" charset="0"/>
                                  </a:rPr>
                                  <m:t>1.3975</m:t>
                                </m:r>
                              </m:e>
                              <m:e>
                                <m:r>
                                  <a:rPr lang="en-US" sz="1050" b="0" i="0">
                                    <a:latin typeface="Cambria Math" panose="02040503050406030204" pitchFamily="18" charset="0"/>
                                  </a:rPr>
                                  <m:t>−0.1289</m:t>
                                </m:r>
                              </m:e>
                            </m:mr>
                            <m:mr>
                              <m:e>
                                <m:r>
                                  <a:rPr lang="en-US" sz="1050" b="0" i="0">
                                    <a:latin typeface="Cambria Math" panose="02040503050406030204" pitchFamily="18" charset="0"/>
                                  </a:rPr>
                                  <m:t>−0.3337</m:t>
                                </m:r>
                              </m:e>
                              <m:e>
                                <m:r>
                                  <a:rPr lang="en-US" sz="1050" b="0" i="0">
                                    <a:latin typeface="Cambria Math" panose="02040503050406030204" pitchFamily="18" charset="0"/>
                                  </a:rPr>
                                  <m:t>−0.4360</m:t>
                                </m:r>
                              </m:e>
                              <m:e>
                                <m:r>
                                  <a:rPr lang="en-US" sz="1050" b="0" i="0">
                                    <a:latin typeface="Cambria Math" panose="02040503050406030204" pitchFamily="18" charset="0"/>
                                  </a:rPr>
                                  <m:t>−0.3366</m:t>
                                </m:r>
                              </m:e>
                              <m:e>
                                <m:r>
                                  <a:rPr lang="en-US" sz="1050" b="0" i="0">
                                    <a:latin typeface="Cambria Math" panose="02040503050406030204" pitchFamily="18" charset="0"/>
                                  </a:rPr>
                                  <m:t>−0.4378</m:t>
                                </m:r>
                              </m:e>
                              <m:e>
                                <m:r>
                                  <a:rPr lang="en-US" sz="1050" b="0" i="0">
                                    <a:latin typeface="Cambria Math" panose="02040503050406030204" pitchFamily="18" charset="0"/>
                                  </a:rPr>
                                  <m:t>−0.4911</m:t>
                                </m:r>
                              </m:e>
                              <m:e>
                                <m:r>
                                  <a:rPr lang="en-US" sz="1050" b="0" i="0">
                                    <a:latin typeface="Cambria Math" panose="02040503050406030204" pitchFamily="18" charset="0"/>
                                  </a:rPr>
                                  <m:t>0.8320</m:t>
                                </m:r>
                              </m:e>
                            </m:mr>
                          </m:m>
                        </m:e>
                      </m:d>
                      <m:r>
                        <a:rPr lang="en-US" sz="105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509544" y="1158219"/>
                <a:ext cx="3911600" cy="868680"/>
              </a:xfrm>
              <a:prstGeom prst="rect">
                <a:avLst/>
              </a:prstGeom>
              <a:blipFill>
                <a:blip r:embed="rId21"/>
                <a:stretch>
                  <a:fillRect l="-6084" b="-35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241649" y="2189453"/>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870.6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5.0826×</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r>
                        <a:rPr lang="en-US" sz="1200" b="0" i="0">
                          <a:latin typeface="Cambria Math" panose="02040503050406030204" pitchFamily="18" charset="0"/>
                        </a:rPr>
                        <m:t> </m:t>
                      </m:r>
                    </m:oMath>
                  </m:oMathPara>
                </a14:m>
                <a:endParaRPr lang="en-US" sz="12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241649" y="2189453"/>
                <a:ext cx="3556000" cy="256032"/>
              </a:xfrm>
              <a:prstGeom prst="rect">
                <a:avLst/>
              </a:prstGeom>
              <a:blipFill>
                <a:blip r:embed="rId22"/>
                <a:stretch>
                  <a:fillRect l="-858" t="-11905" r="-858" b="-19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685606" y="2770616"/>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𝐷</m:t>
                          </m:r>
                        </m:e>
                      </m:acc>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−0.4506</m:t>
                                </m:r>
                              </m:e>
                              <m:e>
                                <m:r>
                                  <a:rPr lang="en-US" sz="1200" b="0" i="0">
                                    <a:latin typeface="Cambria Math" panose="02040503050406030204" pitchFamily="18" charset="0"/>
                                  </a:rPr>
                                  <m:t>−0.1912</m:t>
                                </m:r>
                              </m:e>
                              <m:e>
                                <m:r>
                                  <a:rPr lang="en-US" sz="1200" b="0" i="0">
                                    <a:latin typeface="Cambria Math" panose="02040503050406030204" pitchFamily="18" charset="0"/>
                                  </a:rPr>
                                  <m:t>−0.3974</m:t>
                                </m:r>
                              </m:e>
                              <m:e>
                                <m:r>
                                  <a:rPr lang="en-US" sz="1200" b="0" i="0">
                                    <a:latin typeface="Cambria Math" panose="02040503050406030204" pitchFamily="18" charset="0"/>
                                  </a:rPr>
                                  <m:t>−0.4005</m:t>
                                </m:r>
                              </m:e>
                              <m:e>
                                <m:r>
                                  <a:rPr lang="en-US" sz="1200" b="0" i="0">
                                    <a:latin typeface="Cambria Math" panose="02040503050406030204" pitchFamily="18" charset="0"/>
                                  </a:rPr>
                                  <m:t>−0.1902</m:t>
                                </m:r>
                              </m:e>
                            </m:mr>
                            <m:mr>
                              <m:e>
                                <m:r>
                                  <a:rPr lang="en-US" sz="1200" b="0" i="0">
                                    <a:latin typeface="Cambria Math" panose="02040503050406030204" pitchFamily="18" charset="0"/>
                                  </a:rPr>
                                  <m:t>−0.0121</m:t>
                                </m:r>
                              </m:e>
                              <m:e>
                                <m:r>
                                  <a:rPr lang="en-US" sz="1200" b="0" i="0">
                                    <a:latin typeface="Cambria Math" panose="02040503050406030204" pitchFamily="18" charset="0"/>
                                  </a:rPr>
                                  <m:t>1.1706</m:t>
                                </m:r>
                              </m:e>
                              <m:e>
                                <m:r>
                                  <a:rPr lang="en-US" sz="1200" b="0" i="0">
                                    <a:latin typeface="Cambria Math" panose="02040503050406030204" pitchFamily="18" charset="0"/>
                                  </a:rPr>
                                  <m:t>0.0025</m:t>
                                </m:r>
                              </m:e>
                              <m:e>
                                <m:r>
                                  <a:rPr lang="en-US" sz="1200" b="0" i="0">
                                    <a:latin typeface="Cambria Math" panose="02040503050406030204" pitchFamily="18" charset="0"/>
                                  </a:rPr>
                                  <m:t>0.3536</m:t>
                                </m:r>
                              </m:e>
                              <m:e>
                                <m:r>
                                  <a:rPr lang="en-US" sz="1200" b="0" i="0">
                                    <a:latin typeface="Cambria Math" panose="02040503050406030204" pitchFamily="18" charset="0"/>
                                  </a:rPr>
                                  <m:t>0.3563</m:t>
                                </m:r>
                              </m:e>
                              <m:e>
                                <m:r>
                                  <a:rPr lang="en-US" sz="1200" b="0" i="0">
                                    <a:latin typeface="Cambria Math" panose="02040503050406030204" pitchFamily="18" charset="0"/>
                                  </a:rPr>
                                  <m:t>0.0030</m:t>
                                </m:r>
                              </m:e>
                            </m:mr>
                            <m:mr>
                              <m:e>
                                <m:r>
                                  <a:rPr lang="en-US" sz="1200" b="0" i="0">
                                    <a:latin typeface="Cambria Math" panose="02040503050406030204" pitchFamily="18" charset="0"/>
                                  </a:rPr>
                                  <m:t>−0.2078</m:t>
                                </m:r>
                              </m:e>
                              <m:e>
                                <m:r>
                                  <a:rPr lang="en-US" sz="1200" b="0" i="0">
                                    <a:latin typeface="Cambria Math" panose="02040503050406030204" pitchFamily="18" charset="0"/>
                                  </a:rPr>
                                  <m:t>−0.4366</m:t>
                                </m:r>
                              </m:e>
                              <m:e>
                                <m:r>
                                  <a:rPr lang="en-US" sz="1200" b="0" i="0">
                                    <a:latin typeface="Cambria Math" panose="02040503050406030204" pitchFamily="18" charset="0"/>
                                  </a:rPr>
                                  <m:t>0.8323</m:t>
                                </m:r>
                              </m:e>
                              <m:e>
                                <m:r>
                                  <a:rPr lang="en-US" sz="1200" b="0" i="0">
                                    <a:latin typeface="Cambria Math" panose="02040503050406030204" pitchFamily="18" charset="0"/>
                                  </a:rPr>
                                  <m:t>−0.4739</m:t>
                                </m:r>
                              </m:e>
                              <m:e>
                                <m:r>
                                  <a:rPr lang="en-US" sz="1200" b="0" i="0">
                                    <a:latin typeface="Cambria Math" panose="02040503050406030204" pitchFamily="18" charset="0"/>
                                  </a:rPr>
                                  <m:t>−0.4337</m:t>
                                </m:r>
                              </m:e>
                              <m:e>
                                <m:r>
                                  <a:rPr lang="en-US" sz="1200" b="0" i="0">
                                    <a:latin typeface="Cambria Math" panose="02040503050406030204" pitchFamily="18" charset="0"/>
                                  </a:rPr>
                                  <m:t>−0.2084</m:t>
                                </m:r>
                              </m:e>
                            </m:mr>
                            <m:mr>
                              <m:e>
                                <m:r>
                                  <a:rPr lang="en-US" sz="1200" b="0" i="0">
                                    <a:latin typeface="Cambria Math" panose="02040503050406030204" pitchFamily="18" charset="0"/>
                                  </a:rPr>
                                  <m:t>0.0423</m:t>
                                </m:r>
                              </m:e>
                              <m:e>
                                <m:r>
                                  <a:rPr lang="en-US" sz="1200" b="0" i="0">
                                    <a:latin typeface="Cambria Math" panose="02040503050406030204" pitchFamily="18" charset="0"/>
                                  </a:rPr>
                                  <m:t>0.4092</m:t>
                                </m:r>
                              </m:e>
                              <m:e>
                                <m:r>
                                  <a:rPr lang="en-US" sz="1200" b="0" i="0">
                                    <a:latin typeface="Cambria Math" panose="02040503050406030204" pitchFamily="18" charset="0"/>
                                  </a:rPr>
                                  <m:t>0.0182</m:t>
                                </m:r>
                              </m:e>
                              <m:e>
                                <m:r>
                                  <a:rPr lang="en-US" sz="1200" b="0" i="0">
                                    <a:latin typeface="Cambria Math" panose="02040503050406030204" pitchFamily="18" charset="0"/>
                                  </a:rPr>
                                  <m:t>1.2265</m:t>
                                </m:r>
                              </m:e>
                              <m:e>
                                <m:r>
                                  <a:rPr lang="en-US" sz="1200" b="0" i="0">
                                    <a:latin typeface="Cambria Math" panose="02040503050406030204" pitchFamily="18" charset="0"/>
                                  </a:rPr>
                                  <m:t>0.4108</m:t>
                                </m:r>
                              </m:e>
                              <m:e>
                                <m:r>
                                  <a:rPr lang="en-US" sz="1200" b="0" i="0">
                                    <a:latin typeface="Cambria Math" panose="02040503050406030204" pitchFamily="18" charset="0"/>
                                  </a:rPr>
                                  <m:t>0.0303</m:t>
                                </m:r>
                              </m:e>
                            </m:mr>
                            <m:mr>
                              <m:e>
                                <m:r>
                                  <a:rPr lang="en-US" sz="1200" b="0" i="0">
                                    <a:latin typeface="Cambria Math" panose="02040503050406030204" pitchFamily="18" charset="0"/>
                                  </a:rPr>
                                  <m:t>0.0370</m:t>
                                </m:r>
                              </m:e>
                              <m:e>
                                <m:r>
                                  <a:rPr lang="en-US" sz="1200" b="0" i="0">
                                    <a:latin typeface="Cambria Math" panose="02040503050406030204" pitchFamily="18" charset="0"/>
                                  </a:rPr>
                                  <m:t>0.4017</m:t>
                                </m:r>
                              </m:e>
                              <m:e>
                                <m:r>
                                  <a:rPr lang="en-US" sz="1200" b="0" i="0">
                                    <a:latin typeface="Cambria Math" panose="02040503050406030204" pitchFamily="18" charset="0"/>
                                  </a:rPr>
                                  <m:t>0.0246</m:t>
                                </m:r>
                              </m:e>
                              <m:e>
                                <m:r>
                                  <a:rPr lang="en-US" sz="1200" b="0" i="0">
                                    <a:latin typeface="Cambria Math" panose="02040503050406030204" pitchFamily="18" charset="0"/>
                                  </a:rPr>
                                  <m:t>0.4026</m:t>
                                </m:r>
                              </m:e>
                              <m:e>
                                <m:r>
                                  <a:rPr lang="en-US" sz="1200" b="0" i="0">
                                    <a:latin typeface="Cambria Math" panose="02040503050406030204" pitchFamily="18" charset="0"/>
                                  </a:rPr>
                                  <m:t>1.2439</m:t>
                                </m:r>
                              </m:e>
                              <m:e>
                                <m:r>
                                  <a:rPr lang="en-US" sz="1200" b="0" i="0">
                                    <a:latin typeface="Cambria Math" panose="02040503050406030204" pitchFamily="18" charset="0"/>
                                  </a:rPr>
                                  <m:t>0.0051</m:t>
                                </m:r>
                              </m:e>
                            </m:mr>
                            <m:mr>
                              <m:e>
                                <m:r>
                                  <a:rPr lang="en-US" sz="1200" b="0" i="0">
                                    <a:latin typeface="Cambria Math" panose="02040503050406030204" pitchFamily="18" charset="0"/>
                                  </a:rPr>
                                  <m:t>−0.2009</m:t>
                                </m:r>
                              </m:e>
                              <m:e>
                                <m:r>
                                  <a:rPr lang="en-US" sz="1200" b="0" i="0">
                                    <a:latin typeface="Cambria Math" panose="02040503050406030204" pitchFamily="18" charset="0"/>
                                  </a:rPr>
                                  <m:t>−0.4141</m:t>
                                </m:r>
                              </m:e>
                              <m:e>
                                <m:r>
                                  <a:rPr lang="en-US" sz="1200" b="0" i="0">
                                    <a:latin typeface="Cambria Math" panose="02040503050406030204" pitchFamily="18" charset="0"/>
                                  </a:rPr>
                                  <m:t>−0.1971</m:t>
                                </m:r>
                              </m:e>
                              <m:e>
                                <m:r>
                                  <a:rPr lang="en-US" sz="1200" b="0" i="0">
                                    <a:latin typeface="Cambria Math" panose="02040503050406030204" pitchFamily="18" charset="0"/>
                                  </a:rPr>
                                  <m:t>−0.4117</m:t>
                                </m:r>
                              </m:e>
                              <m:e>
                                <m:r>
                                  <a:rPr lang="en-US" sz="1200" b="0" i="0">
                                    <a:latin typeface="Cambria Math" panose="02040503050406030204" pitchFamily="18" charset="0"/>
                                  </a:rPr>
                                  <m:t>−0.4634</m:t>
                                </m:r>
                              </m:e>
                              <m:e>
                                <m:r>
                                  <a:rPr lang="en-US" sz="1200" b="0" i="0">
                                    <a:latin typeface="Cambria Math" panose="02040503050406030204" pitchFamily="18" charset="0"/>
                                  </a:rPr>
                                  <m:t>0.8462</m:t>
                                </m:r>
                              </m:e>
                            </m:mr>
                          </m:m>
                        </m:e>
                      </m:d>
                      <m:r>
                        <a:rPr lang="en-US" sz="1200" b="0" i="0">
                          <a:latin typeface="Cambria Math" panose="02040503050406030204" pitchFamily="18" charset="0"/>
                        </a:rPr>
                        <m:t> </m:t>
                      </m:r>
                    </m:oMath>
                  </m:oMathPara>
                </a14:m>
                <a:endParaRPr lang="en-US" sz="12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685606" y="2770616"/>
                <a:ext cx="3793066" cy="868680"/>
              </a:xfrm>
              <a:prstGeom prst="rect">
                <a:avLst/>
              </a:prstGeom>
              <a:blipFill>
                <a:blip r:embed="rId23"/>
                <a:stretch>
                  <a:fillRect l="-13666" r="-8842" b="-1748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342803" y="3991344"/>
                <a:ext cx="3793065" cy="53906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050" b="0" i="1" smtClean="0">
                              <a:latin typeface="Cambria Math" panose="02040503050406030204" pitchFamily="18" charset="0"/>
                            </a:rPr>
                          </m:ctrlPr>
                        </m:accPr>
                        <m:e>
                          <m:r>
                            <a:rPr lang="en-US" altLang="zh-TW" sz="1050" b="0" i="1" smtClean="0">
                              <a:latin typeface="Cambria Math" panose="02040503050406030204" pitchFamily="18" charset="0"/>
                            </a:rPr>
                            <m:t>𝑒</m:t>
                          </m:r>
                        </m:e>
                      </m:acc>
                      <m:r>
                        <a:rPr lang="en-US" sz="1050" b="0" i="0">
                          <a:latin typeface="Cambria Math" panose="02040503050406030204" pitchFamily="18" charset="0"/>
                        </a:rPr>
                        <m:t>=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0.0136</m:t>
                                </m:r>
                              </m:e>
                              <m:e>
                                <m:r>
                                  <a:rPr lang="en-US" sz="1050" b="0" i="0">
                                    <a:latin typeface="Cambria Math" panose="02040503050406030204" pitchFamily="18" charset="0"/>
                                  </a:rPr>
                                  <m:t>0.0213</m:t>
                                </m:r>
                              </m:e>
                              <m:e>
                                <m:r>
                                  <a:rPr lang="en-US" sz="1050" b="0" i="0">
                                    <a:latin typeface="Cambria Math" panose="02040503050406030204" pitchFamily="18" charset="0"/>
                                  </a:rPr>
                                  <m:t>−0.1165</m:t>
                                </m:r>
                              </m:e>
                              <m:e>
                                <m:r>
                                  <a:rPr lang="en-US" sz="1050" b="0" i="0">
                                    <a:latin typeface="Cambria Math" panose="02040503050406030204" pitchFamily="18" charset="0"/>
                                  </a:rPr>
                                  <m:t>0.0005</m:t>
                                </m:r>
                              </m:e>
                              <m:e>
                                <m:r>
                                  <a:rPr lang="en-US" sz="1050" b="0" i="0">
                                    <a:latin typeface="Cambria Math" panose="02040503050406030204" pitchFamily="18" charset="0"/>
                                  </a:rPr>
                                  <m:t>−0.0002</m:t>
                                </m:r>
                              </m:e>
                              <m:e>
                                <m:r>
                                  <a:rPr lang="en-US" sz="1050" b="0" i="0">
                                    <a:latin typeface="Cambria Math" panose="02040503050406030204" pitchFamily="18" charset="0"/>
                                  </a:rPr>
                                  <m:t>−0.1175</m:t>
                                </m:r>
                              </m:e>
                            </m:mr>
                            <m:mr>
                              <m:e>
                                <m:r>
                                  <a:rPr lang="en-US" sz="1050" b="0" i="0">
                                    <a:latin typeface="Cambria Math" panose="02040503050406030204" pitchFamily="18" charset="0"/>
                                  </a:rPr>
                                  <m:t>−0.1142</m:t>
                                </m:r>
                              </m:e>
                              <m:e>
                                <m:r>
                                  <a:rPr lang="en-US" sz="1050" b="0" i="0">
                                    <a:latin typeface="Cambria Math" panose="02040503050406030204" pitchFamily="18" charset="0"/>
                                  </a:rPr>
                                  <m:t>0.0019</m:t>
                                </m:r>
                              </m:e>
                              <m:e>
                                <m:r>
                                  <a:rPr lang="en-US" sz="1050" b="0" i="0">
                                    <a:latin typeface="Cambria Math" panose="02040503050406030204" pitchFamily="18" charset="0"/>
                                  </a:rPr>
                                  <m:t>0.0199</m:t>
                                </m:r>
                              </m:e>
                              <m:e>
                                <m:r>
                                  <a:rPr lang="en-US" sz="1050" b="0" i="0">
                                    <a:latin typeface="Cambria Math" panose="02040503050406030204" pitchFamily="18" charset="0"/>
                                  </a:rPr>
                                  <m:t>0.0187</m:t>
                                </m:r>
                              </m:e>
                              <m:e>
                                <m:r>
                                  <a:rPr lang="en-US" sz="1050" b="0" i="0">
                                    <a:latin typeface="Cambria Math" panose="02040503050406030204" pitchFamily="18" charset="0"/>
                                  </a:rPr>
                                  <m:t>0.0002</m:t>
                                </m:r>
                              </m:e>
                              <m:e>
                                <m:r>
                                  <a:rPr lang="en-US" sz="1050" b="0" i="0">
                                    <a:latin typeface="Cambria Math" panose="02040503050406030204" pitchFamily="18" charset="0"/>
                                  </a:rPr>
                                  <m:t>−0.1162</m:t>
                                </m:r>
                              </m:e>
                            </m:mr>
                            <m:mr>
                              <m:e>
                                <m:r>
                                  <a:rPr lang="en-US" sz="1050" b="0" i="0">
                                    <a:latin typeface="Cambria Math" panose="02040503050406030204" pitchFamily="18" charset="0"/>
                                  </a:rPr>
                                  <m:t>0.1150</m:t>
                                </m:r>
                              </m:e>
                              <m:e>
                                <m:r>
                                  <a:rPr lang="en-US" sz="1050" b="0" i="0">
                                    <a:latin typeface="Cambria Math" panose="02040503050406030204" pitchFamily="18" charset="0"/>
                                  </a:rPr>
                                  <m:t>−0.0025</m:t>
                                </m:r>
                              </m:e>
                              <m:e>
                                <m:r>
                                  <a:rPr lang="en-US" sz="1050" b="0" i="0">
                                    <a:latin typeface="Cambria Math" panose="02040503050406030204" pitchFamily="18" charset="0"/>
                                  </a:rPr>
                                  <m:t>0.1157</m:t>
                                </m:r>
                              </m:e>
                              <m:e>
                                <m:r>
                                  <a:rPr lang="en-US" sz="1050" b="0" i="0">
                                    <a:latin typeface="Cambria Math" panose="02040503050406030204" pitchFamily="18" charset="0"/>
                                  </a:rPr>
                                  <m:t>−0.0012</m:t>
                                </m:r>
                              </m:e>
                              <m:e>
                                <m:r>
                                  <a:rPr lang="en-US" sz="1050" b="0" i="0">
                                    <a:latin typeface="Cambria Math" panose="02040503050406030204" pitchFamily="18" charset="0"/>
                                  </a:rPr>
                                  <m:t>−0.0112</m:t>
                                </m:r>
                              </m:e>
                              <m:e>
                                <m:r>
                                  <a:rPr lang="en-US" sz="1050" b="0" i="0">
                                    <a:latin typeface="Cambria Math" panose="02040503050406030204" pitchFamily="18" charset="0"/>
                                  </a:rPr>
                                  <m:t>−0.0178</m:t>
                                </m:r>
                              </m:e>
                            </m:mr>
                          </m:m>
                        </m:e>
                      </m:d>
                    </m:oMath>
                  </m:oMathPara>
                </a14:m>
                <a:endParaRPr lang="en-US" sz="105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342803" y="3991344"/>
                <a:ext cx="3793065" cy="539062"/>
              </a:xfrm>
              <a:prstGeom prst="rect">
                <a:avLst/>
              </a:prstGeom>
              <a:blipFill>
                <a:blip r:embed="rId24"/>
                <a:stretch>
                  <a:fillRect l="-4494" t="-2273" r="-28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342803" y="4692808"/>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200" b="0" i="1">
                              <a:latin typeface="Cambria Math" panose="02040503050406030204" pitchFamily="18" charset="0"/>
                            </a:rPr>
                          </m:ctrlPr>
                        </m:accPr>
                        <m:e>
                          <m:r>
                            <a:rPr lang="en-US" sz="1200" b="0" i="1">
                              <a:latin typeface="Cambria Math" panose="02040503050406030204" pitchFamily="18" charset="0"/>
                            </a:rPr>
                            <m:t>ℓ</m:t>
                          </m:r>
                        </m:e>
                      </m:acc>
                      <m:r>
                        <a:rPr lang="en-US" sz="1200" b="0" i="0">
                          <a:latin typeface="Cambria Math" panose="02040503050406030204" pitchFamily="18" charset="0"/>
                        </a:rPr>
                        <m:t> = 867.2 </m:t>
                      </m:r>
                      <m:r>
                        <m:rPr>
                          <m:sty m:val="p"/>
                        </m:rPr>
                        <a:rPr lang="en-US" sz="1200" b="0" i="0">
                          <a:latin typeface="Cambria Math" panose="02040503050406030204" pitchFamily="18" charset="0"/>
                        </a:rPr>
                        <m:t>μm</m:t>
                      </m:r>
                      <m:r>
                        <a:rPr lang="en-US" sz="1200" b="0" i="0">
                          <a:latin typeface="Cambria Math" panose="02040503050406030204" pitchFamily="18" charset="0"/>
                        </a:rPr>
                        <m:t>  </m:t>
                      </m:r>
                      <m:sPre>
                        <m:sPrePr>
                          <m:ctrlPr>
                            <a:rPr lang="en-US" sz="1200" b="0" i="1">
                              <a:latin typeface="Cambria Math" panose="02040503050406030204" pitchFamily="18" charset="0"/>
                            </a:rPr>
                          </m:ctrlPr>
                        </m:sPrePr>
                        <m:sub/>
                        <m:sup>
                          <m:r>
                            <a:rPr lang="en-US" sz="1200" b="0" i="1">
                              <a:latin typeface="Cambria Math" panose="02040503050406030204" pitchFamily="18" charset="0"/>
                            </a:rPr>
                            <m:t>𝐵</m:t>
                          </m:r>
                        </m:sup>
                        <m:e>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𝑔</m:t>
                                  </m:r>
                                </m:e>
                              </m:acc>
                            </m:e>
                            <m:sub>
                              <m:r>
                                <a:rPr lang="en-US" sz="1200" b="0" i="1">
                                  <a:latin typeface="Cambria Math" panose="02040503050406030204" pitchFamily="18" charset="0"/>
                                </a:rPr>
                                <m:t>𝑉</m:t>
                              </m:r>
                            </m:sub>
                          </m:sSub>
                        </m:e>
                      </m:sPre>
                      <m:r>
                        <a:rPr lang="en-US" sz="1200" b="0" i="0">
                          <a:latin typeface="Cambria Math" panose="02040503050406030204" pitchFamily="18" charset="0"/>
                        </a:rPr>
                        <m:t> = 5.9476×</m:t>
                      </m:r>
                      <m:sSup>
                        <m:sSupPr>
                          <m:ctrlPr>
                            <a:rPr lang="en-US" sz="1200" b="0" i="1">
                              <a:latin typeface="Cambria Math" panose="02040503050406030204" pitchFamily="18" charset="0"/>
                            </a:rPr>
                          </m:ctrlPr>
                        </m:sSupPr>
                        <m:e>
                          <m:r>
                            <a:rPr lang="en-US" sz="1200" b="0" i="0">
                              <a:latin typeface="Cambria Math" panose="02040503050406030204" pitchFamily="18" charset="0"/>
                            </a:rPr>
                            <m:t>10</m:t>
                          </m:r>
                        </m:e>
                        <m:sup>
                          <m:r>
                            <a:rPr lang="en-US" sz="1200" b="0" i="0">
                              <a:latin typeface="Cambria Math" panose="02040503050406030204" pitchFamily="18" charset="0"/>
                            </a:rPr>
                            <m:t>−3</m:t>
                          </m:r>
                        </m:sup>
                      </m:sSup>
                      <m:r>
                        <a:rPr lang="en-US" sz="1200" b="0" i="0">
                          <a:latin typeface="Cambria Math" panose="02040503050406030204" pitchFamily="18" charset="0"/>
                        </a:rPr>
                        <m:t> </m:t>
                      </m:r>
                      <m:r>
                        <m:rPr>
                          <m:sty m:val="p"/>
                        </m:rPr>
                        <a:rPr lang="en-US" sz="1200" b="0" i="0">
                          <a:latin typeface="Cambria Math" panose="02040503050406030204" pitchFamily="18" charset="0"/>
                        </a:rPr>
                        <m:t>mT</m:t>
                      </m:r>
                      <m:r>
                        <a:rPr lang="en-US" sz="1200" b="0" i="0">
                          <a:latin typeface="Cambria Math" panose="02040503050406030204" pitchFamily="18" charset="0"/>
                        </a:rPr>
                        <m:t>/</m:t>
                      </m:r>
                      <m:r>
                        <m:rPr>
                          <m:sty m:val="p"/>
                        </m:rPr>
                        <a:rPr lang="en-US" sz="1200" b="0" i="0">
                          <a:latin typeface="Cambria Math" panose="02040503050406030204" pitchFamily="18" charset="0"/>
                        </a:rPr>
                        <m:t>mV</m:t>
                      </m:r>
                    </m:oMath>
                  </m:oMathPara>
                </a14:m>
                <a:endParaRPr lang="en-US" sz="12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342803" y="4692808"/>
                <a:ext cx="3208867" cy="256032"/>
              </a:xfrm>
              <a:prstGeom prst="rect">
                <a:avLst/>
              </a:prstGeom>
              <a:blipFill>
                <a:blip r:embed="rId25"/>
                <a:stretch>
                  <a:fillRect l="-3795" t="-14286" r="-2657" b="-1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05D4D494-842A-47CF-AA77-F7674C9C2B84}"/>
                  </a:ext>
                </a:extLst>
              </p:cNvPr>
              <p:cNvSpPr txBox="1"/>
              <p:nvPr/>
            </p:nvSpPr>
            <p:spPr>
              <a:xfrm>
                <a:off x="7794871" y="1202365"/>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7794871" y="1202365"/>
                <a:ext cx="4191000" cy="549509"/>
              </a:xfrm>
              <a:prstGeom prst="rect">
                <a:avLst/>
              </a:prstGeom>
              <a:blipFill>
                <a:blip r:embed="rId26"/>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C685C6EE-EA50-4331-ADBB-49A0A8EDD3B1}"/>
                  </a:ext>
                </a:extLst>
              </p:cNvPr>
              <p:cNvSpPr txBox="1"/>
              <p:nvPr/>
            </p:nvSpPr>
            <p:spPr>
              <a:xfrm>
                <a:off x="7794871" y="27706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7794871" y="2770616"/>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2957124" y="5292768"/>
                <a:ext cx="6215426" cy="1527623"/>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100" b="0" i="1" smtClean="0">
                          <a:latin typeface="Cambria Math" panose="02040503050406030204" pitchFamily="18" charset="0"/>
                        </a:rPr>
                        <m:t>𝑉</m:t>
                      </m:r>
                      <m:r>
                        <a:rPr lang="en-US" sz="1100" b="0" i="0">
                          <a:latin typeface="Cambria Math" panose="02040503050406030204" pitchFamily="18" charset="0"/>
                        </a:rPr>
                        <m:t> = </m:t>
                      </m:r>
                      <m:d>
                        <m:dPr>
                          <m:begChr m:val="["/>
                          <m:endChr m:val="]"/>
                          <m:ctrlPr>
                            <a:rPr lang="en-US" sz="1100" b="0" i="1">
                              <a:latin typeface="Cambria Math" panose="02040503050406030204" pitchFamily="18" charset="0"/>
                            </a:rPr>
                          </m:ctrlPr>
                        </m:dPr>
                        <m:e>
                          <m:m>
                            <m:mPr>
                              <m:mcs>
                                <m:mc>
                                  <m:mcPr>
                                    <m:count m:val="6"/>
                                    <m:mcJc m:val="center"/>
                                  </m:mcPr>
                                </m:mc>
                              </m:mcs>
                              <m:ctrlPr>
                                <a:rPr lang="en-US" sz="1100" b="0" i="1">
                                  <a:latin typeface="Cambria Math" panose="02040503050406030204" pitchFamily="18" charset="0"/>
                                </a:rPr>
                              </m:ctrlPr>
                            </m:mPr>
                            <m:mr>
                              <m:e>
                                <m:r>
                                  <a:rPr lang="en-US" sz="1100" b="0" i="0">
                                    <a:latin typeface="Cambria Math" panose="02040503050406030204" pitchFamily="18" charset="0"/>
                                  </a:rPr>
                                  <m:t>1396.4955</m:t>
                                </m:r>
                              </m:e>
                              <m:e>
                                <m:r>
                                  <a:rPr lang="en-US" sz="1100" b="0" i="0">
                                    <a:latin typeface="Cambria Math" panose="02040503050406030204" pitchFamily="18" charset="0"/>
                                  </a:rPr>
                                  <m:t>−44.8823</m:t>
                                </m:r>
                              </m:e>
                              <m:e>
                                <m:r>
                                  <a:rPr lang="en-US" sz="1100" b="0" i="0">
                                    <a:latin typeface="Cambria Math" panose="02040503050406030204" pitchFamily="18" charset="0"/>
                                  </a:rPr>
                                  <m:t>−296.1572</m:t>
                                </m:r>
                              </m:e>
                              <m:e>
                                <m:r>
                                  <a:rPr lang="en-US" sz="1100" b="0" i="0">
                                    <a:latin typeface="Cambria Math" panose="02040503050406030204" pitchFamily="18" charset="0"/>
                                  </a:rPr>
                                  <m:t>−238.4907</m:t>
                                </m:r>
                              </m:e>
                              <m:e>
                                <m:r>
                                  <a:rPr lang="en-US" sz="1100" b="0" i="0">
                                    <a:latin typeface="Cambria Math" panose="02040503050406030204" pitchFamily="18" charset="0"/>
                                  </a:rPr>
                                  <m:t>−248.9936</m:t>
                                </m:r>
                              </m:e>
                              <m:e>
                                <m:r>
                                  <a:rPr lang="en-US" sz="1100" b="0" i="0">
                                    <a:latin typeface="Cambria Math" panose="02040503050406030204" pitchFamily="18" charset="0"/>
                                  </a:rPr>
                                  <m:t>−294.5077</m:t>
                                </m:r>
                              </m:e>
                            </m:mr>
                            <m:mr>
                              <m:e>
                                <m:r>
                                  <a:rPr lang="en-US" sz="1100" b="0" i="0">
                                    <a:latin typeface="Cambria Math" panose="02040503050406030204" pitchFamily="18" charset="0"/>
                                  </a:rPr>
                                  <m:t>−52.4055</m:t>
                                </m:r>
                              </m:e>
                              <m:e>
                                <m:r>
                                  <a:rPr lang="en-US" sz="1100" b="0" i="0">
                                    <a:latin typeface="Cambria Math" panose="02040503050406030204" pitchFamily="18" charset="0"/>
                                  </a:rPr>
                                  <m:t>1598.7819</m:t>
                                </m:r>
                              </m:e>
                              <m:e>
                                <m:r>
                                  <a:rPr lang="en-US" sz="1100" b="0" i="0">
                                    <a:latin typeface="Cambria Math" panose="02040503050406030204" pitchFamily="18" charset="0"/>
                                  </a:rPr>
                                  <m:t>−235.7957</m:t>
                                </m:r>
                              </m:e>
                              <m:e>
                                <m:r>
                                  <a:rPr lang="en-US" sz="1100" b="0" i="0">
                                    <a:latin typeface="Cambria Math" panose="02040503050406030204" pitchFamily="18" charset="0"/>
                                  </a:rPr>
                                  <m:t>−507.9923</m:t>
                                </m:r>
                              </m:e>
                              <m:e>
                                <m:r>
                                  <a:rPr lang="en-US" sz="1100" b="0" i="0">
                                    <a:latin typeface="Cambria Math" panose="02040503050406030204" pitchFamily="18" charset="0"/>
                                  </a:rPr>
                                  <m:t>−515.0264</m:t>
                                </m:r>
                              </m:e>
                              <m:e>
                                <m:r>
                                  <a:rPr lang="en-US" sz="1100" b="0" i="0">
                                    <a:latin typeface="Cambria Math" panose="02040503050406030204" pitchFamily="18" charset="0"/>
                                  </a:rPr>
                                  <m:t>−237.7885</m:t>
                                </m:r>
                              </m:e>
                            </m:mr>
                            <m:mr>
                              <m:e>
                                <m:r>
                                  <a:rPr lang="en-US" sz="1100" b="0" i="0">
                                    <a:latin typeface="Cambria Math" panose="02040503050406030204" pitchFamily="18" charset="0"/>
                                  </a:rPr>
                                  <m:t>−294.0025</m:t>
                                </m:r>
                              </m:e>
                              <m:e>
                                <m:r>
                                  <a:rPr lang="en-US" sz="1100" b="0" i="0">
                                    <a:latin typeface="Cambria Math" panose="02040503050406030204" pitchFamily="18" charset="0"/>
                                  </a:rPr>
                                  <m:t>−233.7070</m:t>
                                </m:r>
                              </m:e>
                              <m:e>
                                <m:r>
                                  <a:rPr lang="en-US" sz="1100" b="0" i="0">
                                    <a:latin typeface="Cambria Math" panose="02040503050406030204" pitchFamily="18" charset="0"/>
                                  </a:rPr>
                                  <m:t>1395.0998</m:t>
                                </m:r>
                              </m:e>
                              <m:e>
                                <m:r>
                                  <a:rPr lang="en-US" sz="1100" b="0" i="0">
                                    <a:latin typeface="Cambria Math" panose="02040503050406030204" pitchFamily="18" charset="0"/>
                                  </a:rPr>
                                  <m:t>−46.3229</m:t>
                                </m:r>
                              </m:e>
                              <m:e>
                                <m:r>
                                  <a:rPr lang="en-US" sz="1100" b="0" i="0">
                                    <a:latin typeface="Cambria Math" panose="02040503050406030204" pitchFamily="18" charset="0"/>
                                  </a:rPr>
                                  <m:t>−240.9496</m:t>
                                </m:r>
                              </m:e>
                              <m:e>
                                <m:r>
                                  <a:rPr lang="en-US" sz="1100" b="0" i="0">
                                    <a:latin typeface="Cambria Math" panose="02040503050406030204" pitchFamily="18" charset="0"/>
                                  </a:rPr>
                                  <m:t>−294.4712</m:t>
                                </m:r>
                              </m:e>
                            </m:mr>
                            <m:mr>
                              <m:e>
                                <m:r>
                                  <a:rPr lang="en-US" sz="1100" b="0" i="0">
                                    <a:latin typeface="Cambria Math" panose="02040503050406030204" pitchFamily="18" charset="0"/>
                                  </a:rPr>
                                  <m:t>−235.1370</m:t>
                                </m:r>
                              </m:e>
                              <m:e>
                                <m:r>
                                  <a:rPr lang="en-US" sz="1100" b="0" i="0">
                                    <a:latin typeface="Cambria Math" panose="02040503050406030204" pitchFamily="18" charset="0"/>
                                  </a:rPr>
                                  <m:t>−531.8974</m:t>
                                </m:r>
                              </m:e>
                              <m:e>
                                <m:r>
                                  <a:rPr lang="en-US" sz="1100" b="0" i="0">
                                    <a:latin typeface="Cambria Math" panose="02040503050406030204" pitchFamily="18" charset="0"/>
                                  </a:rPr>
                                  <m:t>−51.5603</m:t>
                                </m:r>
                              </m:e>
                              <m:e>
                                <m:r>
                                  <a:rPr lang="en-US" sz="1100" b="0" i="0">
                                    <a:latin typeface="Cambria Math" panose="02040503050406030204" pitchFamily="18" charset="0"/>
                                  </a:rPr>
                                  <m:t>1584.0452</m:t>
                                </m:r>
                              </m:e>
                              <m:e>
                                <m:r>
                                  <a:rPr lang="en-US" sz="1100" b="0" i="0">
                                    <a:latin typeface="Cambria Math" panose="02040503050406030204" pitchFamily="18" charset="0"/>
                                  </a:rPr>
                                  <m:t>−527.8226</m:t>
                                </m:r>
                              </m:e>
                              <m:e>
                                <m:r>
                                  <a:rPr lang="en-US" sz="1100" b="0" i="0">
                                    <a:latin typeface="Cambria Math" panose="02040503050406030204" pitchFamily="18" charset="0"/>
                                  </a:rPr>
                                  <m:t>−225.8168</m:t>
                                </m:r>
                              </m:e>
                            </m:mr>
                            <m:mr>
                              <m:e>
                                <m:r>
                                  <a:rPr lang="en-US" sz="1100" b="0" i="0">
                                    <a:latin typeface="Cambria Math" panose="02040503050406030204" pitchFamily="18" charset="0"/>
                                  </a:rPr>
                                  <m:t>−241.7433</m:t>
                                </m:r>
                              </m:e>
                              <m:e>
                                <m:r>
                                  <a:rPr lang="en-US" sz="1100" b="0" i="0">
                                    <a:latin typeface="Cambria Math" panose="02040503050406030204" pitchFamily="18" charset="0"/>
                                  </a:rPr>
                                  <m:t>−521.2460</m:t>
                                </m:r>
                              </m:e>
                              <m:e>
                                <m:r>
                                  <a:rPr lang="en-US" sz="1100" b="0" i="0">
                                    <a:latin typeface="Cambria Math" panose="02040503050406030204" pitchFamily="18" charset="0"/>
                                  </a:rPr>
                                  <m:t>−229.5170</m:t>
                                </m:r>
                              </m:e>
                              <m:e>
                                <m:r>
                                  <a:rPr lang="en-US" sz="1100" b="0" i="0">
                                    <a:latin typeface="Cambria Math" panose="02040503050406030204" pitchFamily="18" charset="0"/>
                                  </a:rPr>
                                  <m:t>−520.2282</m:t>
                                </m:r>
                              </m:e>
                              <m:e>
                                <m:r>
                                  <a:rPr lang="en-US" sz="1100" b="0" i="0">
                                    <a:latin typeface="Cambria Math" panose="02040503050406030204" pitchFamily="18" charset="0"/>
                                  </a:rPr>
                                  <m:t>1580.6986</m:t>
                                </m:r>
                              </m:e>
                              <m:e>
                                <m:r>
                                  <a:rPr lang="en-US" sz="1100" b="0" i="0">
                                    <a:latin typeface="Cambria Math" panose="02040503050406030204" pitchFamily="18" charset="0"/>
                                  </a:rPr>
                                  <m:t>−48.3530</m:t>
                                </m:r>
                              </m:e>
                            </m:mr>
                            <m:mr>
                              <m:e>
                                <m:r>
                                  <a:rPr lang="en-US" sz="1100" b="0" i="0">
                                    <a:latin typeface="Cambria Math" panose="02040503050406030204" pitchFamily="18" charset="0"/>
                                  </a:rPr>
                                  <m:t>−287.8722</m:t>
                                </m:r>
                              </m:e>
                              <m:e>
                                <m:r>
                                  <a:rPr lang="en-US" sz="1100" b="0" i="0">
                                    <a:latin typeface="Cambria Math" panose="02040503050406030204" pitchFamily="18" charset="0"/>
                                  </a:rPr>
                                  <m:t>−243.2083</m:t>
                                </m:r>
                              </m:e>
                              <m:e>
                                <m:r>
                                  <a:rPr lang="en-US" sz="1100" b="0" i="0">
                                    <a:latin typeface="Cambria Math" panose="02040503050406030204" pitchFamily="18" charset="0"/>
                                  </a:rPr>
                                  <m:t>−296.8820</m:t>
                                </m:r>
                              </m:e>
                              <m:e>
                                <m:r>
                                  <a:rPr lang="en-US" sz="1100" b="0" i="0">
                                    <a:latin typeface="Cambria Math" panose="02040503050406030204" pitchFamily="18" charset="0"/>
                                  </a:rPr>
                                  <m:t>−235.1671</m:t>
                                </m:r>
                              </m:e>
                              <m:e>
                                <m:r>
                                  <a:rPr lang="en-US" sz="1100" b="0" i="0">
                                    <a:latin typeface="Cambria Math" panose="02040503050406030204" pitchFamily="18" charset="0"/>
                                  </a:rPr>
                                  <m:t>−44.7058</m:t>
                                </m:r>
                              </m:e>
                              <m:e>
                                <m:r>
                                  <a:rPr lang="en-US" sz="1100" b="0" i="0">
                                    <a:latin typeface="Cambria Math" panose="02040503050406030204" pitchFamily="18" charset="0"/>
                                  </a:rPr>
                                  <m:t>1382.8494</m:t>
                                </m:r>
                              </m:e>
                            </m:mr>
                          </m:m>
                        </m:e>
                      </m:d>
                      <m:r>
                        <a:rPr lang="zh-TW" altLang="en-US" sz="1100" i="1">
                          <a:latin typeface="Cambria Math" panose="02040503050406030204" pitchFamily="18" charset="0"/>
                        </a:rPr>
                        <m:t> </m:t>
                      </m:r>
                      <m:r>
                        <a:rPr lang="en-US" altLang="zh-TW" sz="1100" b="0" i="1" smtClean="0">
                          <a:latin typeface="Cambria Math" panose="02040503050406030204" pitchFamily="18" charset="0"/>
                        </a:rPr>
                        <m:t> (</m:t>
                      </m:r>
                      <m:r>
                        <a:rPr lang="en-US" altLang="zh-TW" sz="1100" b="0" i="1" smtClean="0">
                          <a:latin typeface="Cambria Math" panose="02040503050406030204" pitchFamily="18" charset="0"/>
                        </a:rPr>
                        <m:t>𝑚𝑉</m:t>
                      </m:r>
                      <m:r>
                        <a:rPr lang="en-US" altLang="zh-TW" sz="1100" b="0" i="1" smtClean="0">
                          <a:latin typeface="Cambria Math" panose="02040503050406030204" pitchFamily="18" charset="0"/>
                        </a:rPr>
                        <m:t>)</m:t>
                      </m:r>
                    </m:oMath>
                  </m:oMathPara>
                </a14:m>
                <a:endParaRPr lang="en-US" sz="90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2957124" y="5292768"/>
                <a:ext cx="6215426" cy="1527623"/>
              </a:xfrm>
              <a:prstGeom prst="rect">
                <a:avLst/>
              </a:prstGeom>
              <a:blipFill>
                <a:blip r:embed="rId2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41DBDD30-8739-417A-9ECC-F38CA06CA214}"/>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41DBDD30-8739-417A-9ECC-F38CA06CA214}"/>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9"/>
                <a:stretch>
                  <a:fillRect t="-15385" r="-3802" b="-25000"/>
                </a:stretch>
              </a:blipFill>
            </p:spPr>
            <p:txBody>
              <a:bodyPr/>
              <a:lstStyle/>
              <a:p>
                <a:r>
                  <a:rPr lang="zh-TW" altLang="en-US">
                    <a:noFill/>
                  </a:rPr>
                  <a:t> </a:t>
                </a:r>
              </a:p>
            </p:txBody>
          </p:sp>
        </mc:Fallback>
      </mc:AlternateContent>
      <p:sp>
        <p:nvSpPr>
          <p:cNvPr id="31" name="文字方塊 30">
            <a:extLst>
              <a:ext uri="{FF2B5EF4-FFF2-40B4-BE49-F238E27FC236}">
                <a16:creationId xmlns:a16="http://schemas.microsoft.com/office/drawing/2014/main" id="{24BF59E0-D28B-4DAD-91DA-4902102B7AE6}"/>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367279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27895" y="866752"/>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27895" y="2511839"/>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48385" y="914330"/>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49033" y="3388951"/>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900" name="CalibV_s_mat"/>
              <p:cNvSpPr txBox="1"/>
              <p:nvPr/>
            </p:nvSpPr>
            <p:spPr>
              <a:xfrm>
                <a:off x="3186716" y="1245903"/>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−0.3799</m:t>
                                </m:r>
                              </m:e>
                              <m:e>
                                <m:r>
                                  <a:rPr lang="en-US" sz="900" b="0" i="0">
                                    <a:latin typeface="Cambria Math" panose="02040503050406030204" pitchFamily="18" charset="0"/>
                                  </a:rPr>
                                  <m:t>−0.2739</m:t>
                                </m:r>
                              </m:e>
                              <m:e>
                                <m:r>
                                  <a:rPr lang="en-US" sz="900" b="0" i="0">
                                    <a:latin typeface="Cambria Math" panose="02040503050406030204" pitchFamily="18" charset="0"/>
                                  </a:rPr>
                                  <m:t>−0.3177</m:t>
                                </m:r>
                              </m:e>
                              <m:e>
                                <m:r>
                                  <a:rPr lang="en-US" sz="900" b="0" i="0">
                                    <a:latin typeface="Cambria Math" panose="02040503050406030204" pitchFamily="18" charset="0"/>
                                  </a:rPr>
                                  <m:t>−0.3330</m:t>
                                </m:r>
                              </m:e>
                              <m:e>
                                <m:r>
                                  <a:rPr lang="en-US" sz="900" b="0" i="0">
                                    <a:latin typeface="Cambria Math" panose="02040503050406030204" pitchFamily="18" charset="0"/>
                                  </a:rPr>
                                  <m:t>−0.2670</m:t>
                                </m:r>
                              </m:e>
                            </m:mr>
                            <m:mr>
                              <m:e>
                                <m:r>
                                  <a:rPr lang="en-US" sz="900" b="0" i="0">
                                    <a:latin typeface="Cambria Math" panose="02040503050406030204" pitchFamily="18" charset="0"/>
                                  </a:rPr>
                                  <m:t>−0.2051</m:t>
                                </m:r>
                              </m:e>
                              <m:e>
                                <m:r>
                                  <a:rPr lang="en-US" sz="900" b="0" i="0">
                                    <a:latin typeface="Cambria Math" panose="02040503050406030204" pitchFamily="18" charset="0"/>
                                  </a:rPr>
                                  <m:t>1.2055</m:t>
                                </m:r>
                              </m:e>
                              <m:e>
                                <m:r>
                                  <a:rPr lang="en-US" sz="900" b="0" i="0">
                                    <a:latin typeface="Cambria Math" panose="02040503050406030204" pitchFamily="18" charset="0"/>
                                  </a:rPr>
                                  <m:t>−0.0861</m:t>
                                </m:r>
                              </m:e>
                              <m:e>
                                <m:r>
                                  <a:rPr lang="en-US" sz="900" b="0" i="0">
                                    <a:latin typeface="Cambria Math" panose="02040503050406030204" pitchFamily="18" charset="0"/>
                                  </a:rPr>
                                  <m:t>0.2062</m:t>
                                </m:r>
                              </m:e>
                              <m:e>
                                <m:r>
                                  <a:rPr lang="en-US" sz="900" b="0" i="0">
                                    <a:latin typeface="Cambria Math" panose="02040503050406030204" pitchFamily="18" charset="0"/>
                                  </a:rPr>
                                  <m:t>0.2116</m:t>
                                </m:r>
                              </m:e>
                              <m:e>
                                <m:r>
                                  <a:rPr lang="en-US" sz="900" b="0" i="0">
                                    <a:latin typeface="Cambria Math" panose="02040503050406030204" pitchFamily="18" charset="0"/>
                                  </a:rPr>
                                  <m:t>−0.0796</m:t>
                                </m:r>
                              </m:e>
                            </m:mr>
                            <m:mr>
                              <m:e>
                                <m:r>
                                  <a:rPr lang="en-US" sz="900" b="0" i="0">
                                    <a:latin typeface="Cambria Math" panose="02040503050406030204" pitchFamily="18" charset="0"/>
                                  </a:rPr>
                                  <m:t>−0.2707</m:t>
                                </m:r>
                              </m:e>
                              <m:e>
                                <m:r>
                                  <a:rPr lang="en-US" sz="900" b="0" i="0">
                                    <a:latin typeface="Cambria Math" panose="02040503050406030204" pitchFamily="18" charset="0"/>
                                  </a:rPr>
                                  <m:t>−0.3315</m:t>
                                </m:r>
                              </m:e>
                              <m:e>
                                <m:r>
                                  <a:rPr lang="en-US" sz="900" b="0" i="0">
                                    <a:latin typeface="Cambria Math" panose="02040503050406030204" pitchFamily="18" charset="0"/>
                                  </a:rPr>
                                  <m:t>0.8164</m:t>
                                </m:r>
                              </m:e>
                              <m:e>
                                <m:r>
                                  <a:rPr lang="en-US" sz="900" b="0" i="0">
                                    <a:latin typeface="Cambria Math" panose="02040503050406030204" pitchFamily="18" charset="0"/>
                                  </a:rPr>
                                  <m:t>−0.3881</m:t>
                                </m:r>
                              </m:e>
                              <m:e>
                                <m:r>
                                  <a:rPr lang="en-US" sz="900" b="0" i="0">
                                    <a:latin typeface="Cambria Math" panose="02040503050406030204" pitchFamily="18" charset="0"/>
                                  </a:rPr>
                                  <m:t>−0.3414</m:t>
                                </m:r>
                              </m:e>
                              <m:e>
                                <m:r>
                                  <a:rPr lang="en-US" sz="900" b="0" i="0">
                                    <a:latin typeface="Cambria Math" panose="02040503050406030204" pitchFamily="18" charset="0"/>
                                  </a:rPr>
                                  <m:t>−0.2777</m:t>
                                </m:r>
                              </m:e>
                            </m:mr>
                            <m:mr>
                              <m:e>
                                <m:r>
                                  <a:rPr lang="en-US" sz="900" b="0" i="0">
                                    <a:latin typeface="Cambria Math" panose="02040503050406030204" pitchFamily="18" charset="0"/>
                                  </a:rPr>
                                  <m:t>−0.0803</m:t>
                                </m:r>
                              </m:e>
                              <m:e>
                                <m:r>
                                  <a:rPr lang="en-US" sz="900" b="0" i="0">
                                    <a:latin typeface="Cambria Math" panose="02040503050406030204" pitchFamily="18" charset="0"/>
                                  </a:rPr>
                                  <m:t>0.2014</m:t>
                                </m:r>
                              </m:e>
                              <m:e>
                                <m:r>
                                  <a:rPr lang="en-US" sz="900" b="0" i="0">
                                    <a:latin typeface="Cambria Math" panose="02040503050406030204" pitchFamily="18" charset="0"/>
                                  </a:rPr>
                                  <m:t>−0.2186</m:t>
                                </m:r>
                              </m:e>
                              <m:e>
                                <m:r>
                                  <a:rPr lang="en-US" sz="900" b="0" i="0">
                                    <a:latin typeface="Cambria Math" panose="02040503050406030204" pitchFamily="18" charset="0"/>
                                  </a:rPr>
                                  <m:t>1.1850</m:t>
                                </m:r>
                              </m:e>
                              <m:e>
                                <m:r>
                                  <a:rPr lang="en-US" sz="900" b="0" i="0">
                                    <a:latin typeface="Cambria Math" panose="02040503050406030204" pitchFamily="18" charset="0"/>
                                  </a:rPr>
                                  <m:t>0.1981</m:t>
                                </m:r>
                              </m:e>
                              <m:e>
                                <m:r>
                                  <a:rPr lang="en-US" sz="900" b="0" i="0">
                                    <a:latin typeface="Cambria Math" panose="02040503050406030204" pitchFamily="18" charset="0"/>
                                  </a:rPr>
                                  <m:t>−0.0806</m:t>
                                </m:r>
                              </m:e>
                            </m:mr>
                            <m:mr>
                              <m:e>
                                <m:r>
                                  <a:rPr lang="en-US" sz="900" b="0" i="0">
                                    <a:latin typeface="Cambria Math" panose="02040503050406030204" pitchFamily="18" charset="0"/>
                                  </a:rPr>
                                  <m:t>−0.0859</m:t>
                                </m:r>
                              </m:e>
                              <m:e>
                                <m:r>
                                  <a:rPr lang="en-US" sz="900" b="0" i="0">
                                    <a:latin typeface="Cambria Math" panose="02040503050406030204" pitchFamily="18" charset="0"/>
                                  </a:rPr>
                                  <m:t>0.1907</m:t>
                                </m:r>
                              </m:e>
                              <m:e>
                                <m:r>
                                  <a:rPr lang="en-US" sz="900" b="0" i="0">
                                    <a:latin typeface="Cambria Math" panose="02040503050406030204" pitchFamily="18" charset="0"/>
                                  </a:rPr>
                                  <m:t>−0.0988</m:t>
                                </m:r>
                              </m:e>
                              <m:e>
                                <m:r>
                                  <a:rPr lang="en-US" sz="900" b="0" i="0">
                                    <a:latin typeface="Cambria Math" panose="02040503050406030204" pitchFamily="18" charset="0"/>
                                  </a:rPr>
                                  <m:t>0.1876</m:t>
                                </m:r>
                              </m:e>
                              <m:e>
                                <m:r>
                                  <a:rPr lang="en-US" sz="900" b="0" i="0">
                                    <a:latin typeface="Cambria Math" panose="02040503050406030204" pitchFamily="18" charset="0"/>
                                  </a:rPr>
                                  <m:t>1.1941</m:t>
                                </m:r>
                              </m:e>
                              <m:e>
                                <m:r>
                                  <a:rPr lang="en-US" sz="900" b="0" i="0">
                                    <a:latin typeface="Cambria Math" panose="02040503050406030204" pitchFamily="18" charset="0"/>
                                  </a:rPr>
                                  <m:t>−0.2218</m:t>
                                </m:r>
                              </m:e>
                            </m:mr>
                            <m:mr>
                              <m:e>
                                <m:r>
                                  <a:rPr lang="en-US" sz="900" b="0" i="0">
                                    <a:latin typeface="Cambria Math" panose="02040503050406030204" pitchFamily="18" charset="0"/>
                                  </a:rPr>
                                  <m:t>−0.2585</m:t>
                                </m:r>
                              </m:e>
                              <m:e>
                                <m:r>
                                  <a:rPr lang="en-US" sz="900" b="0" i="0">
                                    <a:latin typeface="Cambria Math" panose="02040503050406030204" pitchFamily="18" charset="0"/>
                                  </a:rPr>
                                  <m:t>−0.3162</m:t>
                                </m:r>
                              </m:e>
                              <m:e>
                                <m:r>
                                  <a:rPr lang="en-US" sz="900" b="0" i="0">
                                    <a:latin typeface="Cambria Math" panose="02040503050406030204" pitchFamily="18" charset="0"/>
                                  </a:rPr>
                                  <m:t>−0.2651</m:t>
                                </m:r>
                              </m:e>
                              <m:e>
                                <m:r>
                                  <a:rPr lang="en-US" sz="900" b="0" i="0">
                                    <a:latin typeface="Cambria Math" panose="02040503050406030204" pitchFamily="18" charset="0"/>
                                  </a:rPr>
                                  <m:t>−0.3089</m:t>
                                </m:r>
                              </m:e>
                              <m:e>
                                <m:r>
                                  <a:rPr lang="en-US" sz="900" b="0" i="0">
                                    <a:latin typeface="Cambria Math" panose="02040503050406030204" pitchFamily="18" charset="0"/>
                                  </a:rPr>
                                  <m:t>−0.3816</m:t>
                                </m:r>
                              </m:e>
                              <m:e>
                                <m:r>
                                  <a:rPr lang="en-US" sz="900" b="0" i="0">
                                    <a:latin typeface="Cambria Math" panose="02040503050406030204" pitchFamily="18" charset="0"/>
                                  </a:rPr>
                                  <m:t>0.8273</m:t>
                                </m:r>
                              </m:e>
                            </m:mr>
                          </m:m>
                        </m:e>
                      </m:d>
                      <m:r>
                        <a:rPr lang="en-US" sz="900" b="0" i="0">
                          <a:latin typeface="Cambria Math" panose="02040503050406030204" pitchFamily="18" charset="0"/>
                        </a:rPr>
                        <m:t> </m:t>
                      </m:r>
                    </m:oMath>
                  </m:oMathPara>
                </a14:m>
                <a:endParaRPr lang="en-US" sz="900" dirty="0"/>
              </a:p>
            </p:txBody>
          </p:sp>
        </mc:Choice>
        <mc:Fallback xmlns="">
          <p:sp>
            <p:nvSpPr>
              <p:cNvPr id="900" name="CalibV_s_mat"/>
              <p:cNvSpPr txBox="1">
                <a:spLocks noRot="1" noChangeAspect="1" noMove="1" noResize="1" noEditPoints="1" noAdjustHandles="1" noChangeArrowheads="1" noChangeShapeType="1" noTextEdit="1"/>
              </p:cNvSpPr>
              <p:nvPr/>
            </p:nvSpPr>
            <p:spPr>
              <a:xfrm>
                <a:off x="3186716" y="1245903"/>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1" name="CalibV_s_sc"/>
              <p:cNvSpPr txBox="1"/>
              <p:nvPr/>
            </p:nvSpPr>
            <p:spPr>
              <a:xfrm>
                <a:off x="3407405" y="2182655"/>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870.6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6.6137×</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901" name="CalibV_s_sc"/>
              <p:cNvSpPr txBox="1">
                <a:spLocks noRot="1" noChangeAspect="1" noMove="1" noResize="1" noEditPoints="1" noAdjustHandles="1" noChangeArrowheads="1" noChangeShapeType="1" noTextEdit="1"/>
              </p:cNvSpPr>
              <p:nvPr/>
            </p:nvSpPr>
            <p:spPr>
              <a:xfrm>
                <a:off x="3407405" y="2182655"/>
                <a:ext cx="3233712" cy="256032"/>
              </a:xfrm>
              <a:prstGeom prst="rect">
                <a:avLst/>
              </a:prstGeom>
              <a:blipFill>
                <a:blip r:embed="rId22"/>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2" name="CalibV_e_mat"/>
              <p:cNvSpPr txBox="1"/>
              <p:nvPr/>
            </p:nvSpPr>
            <p:spPr>
              <a:xfrm>
                <a:off x="3186716" y="2928399"/>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−0.3880</m:t>
                                </m:r>
                              </m:e>
                              <m:e>
                                <m:r>
                                  <a:rPr lang="en-US" sz="900" b="0" i="0">
                                    <a:latin typeface="Cambria Math" panose="02040503050406030204" pitchFamily="18" charset="0"/>
                                  </a:rPr>
                                  <m:t>−0.1645</m:t>
                                </m:r>
                              </m:e>
                              <m:e>
                                <m:r>
                                  <a:rPr lang="en-US" sz="900" b="0" i="0">
                                    <a:latin typeface="Cambria Math" panose="02040503050406030204" pitchFamily="18" charset="0"/>
                                  </a:rPr>
                                  <m:t>−0.3171</m:t>
                                </m:r>
                              </m:e>
                              <m:e>
                                <m:r>
                                  <a:rPr lang="en-US" sz="900" b="0" i="0">
                                    <a:latin typeface="Cambria Math" panose="02040503050406030204" pitchFamily="18" charset="0"/>
                                  </a:rPr>
                                  <m:t>−0.3304</m:t>
                                </m:r>
                              </m:e>
                              <m:e>
                                <m:r>
                                  <a:rPr lang="en-US" sz="900" b="0" i="0">
                                    <a:latin typeface="Cambria Math" panose="02040503050406030204" pitchFamily="18" charset="0"/>
                                  </a:rPr>
                                  <m:t>−0.1609</m:t>
                                </m:r>
                              </m:e>
                            </m:mr>
                            <m:mr>
                              <m:e>
                                <m:r>
                                  <a:rPr lang="en-US" sz="900" b="0" i="0">
                                    <a:latin typeface="Cambria Math" panose="02040503050406030204" pitchFamily="18" charset="0"/>
                                  </a:rPr>
                                  <m:t>−0.0895</m:t>
                                </m:r>
                              </m:e>
                              <m:e>
                                <m:r>
                                  <a:rPr lang="en-US" sz="900" b="0" i="0">
                                    <a:latin typeface="Cambria Math" panose="02040503050406030204" pitchFamily="18" charset="0"/>
                                  </a:rPr>
                                  <m:t>1.0485</m:t>
                                </m:r>
                              </m:e>
                              <m:e>
                                <m:r>
                                  <a:rPr lang="en-US" sz="900" b="0" i="0">
                                    <a:latin typeface="Cambria Math" panose="02040503050406030204" pitchFamily="18" charset="0"/>
                                  </a:rPr>
                                  <m:t>−0.0584</m:t>
                                </m:r>
                              </m:e>
                              <m:e>
                                <m:r>
                                  <a:rPr lang="en-US" sz="900" b="0" i="0">
                                    <a:latin typeface="Cambria Math" panose="02040503050406030204" pitchFamily="18" charset="0"/>
                                  </a:rPr>
                                  <m:t>0.2272</m:t>
                                </m:r>
                              </m:e>
                              <m:e>
                                <m:r>
                                  <a:rPr lang="en-US" sz="900" b="0" i="0">
                                    <a:latin typeface="Cambria Math" panose="02040503050406030204" pitchFamily="18" charset="0"/>
                                  </a:rPr>
                                  <m:t>0.2342</m:t>
                                </m:r>
                              </m:e>
                              <m:e>
                                <m:r>
                                  <a:rPr lang="en-US" sz="900" b="0" i="0">
                                    <a:latin typeface="Cambria Math" panose="02040503050406030204" pitchFamily="18" charset="0"/>
                                  </a:rPr>
                                  <m:t>−0.0556</m:t>
                                </m:r>
                              </m:e>
                            </m:mr>
                            <m:mr>
                              <m:e>
                                <m:r>
                                  <a:rPr lang="en-US" sz="900" b="0" i="0">
                                    <a:latin typeface="Cambria Math" panose="02040503050406030204" pitchFamily="18" charset="0"/>
                                  </a:rPr>
                                  <m:t>−0.1691</m:t>
                                </m:r>
                              </m:e>
                              <m:e>
                                <m:r>
                                  <a:rPr lang="en-US" sz="900" b="0" i="0">
                                    <a:latin typeface="Cambria Math" panose="02040503050406030204" pitchFamily="18" charset="0"/>
                                  </a:rPr>
                                  <m:t>−0.3395</m:t>
                                </m:r>
                              </m:e>
                              <m:e>
                                <m:r>
                                  <a:rPr lang="en-US" sz="900" b="0" i="0">
                                    <a:latin typeface="Cambria Math" panose="02040503050406030204" pitchFamily="18" charset="0"/>
                                  </a:rPr>
                                  <m:t>0.8369</m:t>
                                </m:r>
                              </m:e>
                              <m:e>
                                <m:r>
                                  <a:rPr lang="en-US" sz="900" b="0" i="0">
                                    <a:latin typeface="Cambria Math" panose="02040503050406030204" pitchFamily="18" charset="0"/>
                                  </a:rPr>
                                  <m:t>−0.3959</m:t>
                                </m:r>
                              </m:e>
                              <m:e>
                                <m:r>
                                  <a:rPr lang="en-US" sz="900" b="0" i="0">
                                    <a:latin typeface="Cambria Math" panose="02040503050406030204" pitchFamily="18" charset="0"/>
                                  </a:rPr>
                                  <m:t>−0.3432</m:t>
                                </m:r>
                              </m:e>
                              <m:e>
                                <m:r>
                                  <a:rPr lang="en-US" sz="900" b="0" i="0">
                                    <a:latin typeface="Cambria Math" panose="02040503050406030204" pitchFamily="18" charset="0"/>
                                  </a:rPr>
                                  <m:t>−0.1734</m:t>
                                </m:r>
                              </m:e>
                            </m:mr>
                            <m:mr>
                              <m:e>
                                <m:r>
                                  <a:rPr lang="en-US" sz="900" b="0" i="0">
                                    <a:latin typeface="Cambria Math" panose="02040503050406030204" pitchFamily="18" charset="0"/>
                                  </a:rPr>
                                  <m:t>−0.0583</m:t>
                                </m:r>
                              </m:e>
                              <m:e>
                                <m:r>
                                  <a:rPr lang="en-US" sz="900" b="0" i="0">
                                    <a:latin typeface="Cambria Math" panose="02040503050406030204" pitchFamily="18" charset="0"/>
                                  </a:rPr>
                                  <m:t>0.2220</m:t>
                                </m:r>
                              </m:e>
                              <m:e>
                                <m:r>
                                  <a:rPr lang="en-US" sz="900" b="0" i="0">
                                    <a:latin typeface="Cambria Math" panose="02040503050406030204" pitchFamily="18" charset="0"/>
                                  </a:rPr>
                                  <m:t>−0.0938</m:t>
                                </m:r>
                              </m:e>
                              <m:e>
                                <m:r>
                                  <a:rPr lang="en-US" sz="900" b="0" i="0">
                                    <a:latin typeface="Cambria Math" panose="02040503050406030204" pitchFamily="18" charset="0"/>
                                  </a:rPr>
                                  <m:t>1.0389</m:t>
                                </m:r>
                              </m:e>
                              <m:e>
                                <m:r>
                                  <a:rPr lang="en-US" sz="900" b="0" i="0">
                                    <a:latin typeface="Cambria Math" panose="02040503050406030204" pitchFamily="18" charset="0"/>
                                  </a:rPr>
                                  <m:t>0.2236</m:t>
                                </m:r>
                              </m:e>
                              <m:e>
                                <m:r>
                                  <a:rPr lang="en-US" sz="900" b="0" i="0">
                                    <a:latin typeface="Cambria Math" panose="02040503050406030204" pitchFamily="18" charset="0"/>
                                  </a:rPr>
                                  <m:t>−0.0571</m:t>
                                </m:r>
                              </m:e>
                            </m:mr>
                            <m:mr>
                              <m:e>
                                <m:r>
                                  <a:rPr lang="en-US" sz="900" b="0" i="0">
                                    <a:latin typeface="Cambria Math" panose="02040503050406030204" pitchFamily="18" charset="0"/>
                                  </a:rPr>
                                  <m:t>−0.0651</m:t>
                                </m:r>
                              </m:e>
                              <m:e>
                                <m:r>
                                  <a:rPr lang="en-US" sz="900" b="0" i="0">
                                    <a:latin typeface="Cambria Math" panose="02040503050406030204" pitchFamily="18" charset="0"/>
                                  </a:rPr>
                                  <m:t>0.2181</m:t>
                                </m:r>
                              </m:e>
                              <m:e>
                                <m:r>
                                  <a:rPr lang="en-US" sz="900" b="0" i="0">
                                    <a:latin typeface="Cambria Math" panose="02040503050406030204" pitchFamily="18" charset="0"/>
                                  </a:rPr>
                                  <m:t>−0.0708</m:t>
                                </m:r>
                              </m:e>
                              <m:e>
                                <m:r>
                                  <a:rPr lang="en-US" sz="900" b="0" i="0">
                                    <a:latin typeface="Cambria Math" panose="02040503050406030204" pitchFamily="18" charset="0"/>
                                  </a:rPr>
                                  <m:t>0.2171</m:t>
                                </m:r>
                              </m:e>
                              <m:e>
                                <m:r>
                                  <a:rPr lang="en-US" sz="900" b="0" i="0">
                                    <a:latin typeface="Cambria Math" panose="02040503050406030204" pitchFamily="18" charset="0"/>
                                  </a:rPr>
                                  <m:t>1.0694</m:t>
                                </m:r>
                              </m:e>
                              <m:e>
                                <m:r>
                                  <a:rPr lang="en-US" sz="900" b="0" i="0">
                                    <a:latin typeface="Cambria Math" panose="02040503050406030204" pitchFamily="18" charset="0"/>
                                  </a:rPr>
                                  <m:t>−0.1021</m:t>
                                </m:r>
                              </m:e>
                            </m:mr>
                            <m:mr>
                              <m:e>
                                <m:r>
                                  <a:rPr lang="en-US" sz="900" b="0" i="0">
                                    <a:latin typeface="Cambria Math" panose="02040503050406030204" pitchFamily="18" charset="0"/>
                                  </a:rPr>
                                  <m:t>−0.1574</m:t>
                                </m:r>
                              </m:e>
                              <m:e>
                                <m:r>
                                  <a:rPr lang="en-US" sz="900" b="0" i="0">
                                    <a:latin typeface="Cambria Math" panose="02040503050406030204" pitchFamily="18" charset="0"/>
                                  </a:rPr>
                                  <m:t>−0.3229</m:t>
                                </m:r>
                              </m:e>
                              <m:e>
                                <m:r>
                                  <a:rPr lang="en-US" sz="900" b="0" i="0">
                                    <a:latin typeface="Cambria Math" panose="02040503050406030204" pitchFamily="18" charset="0"/>
                                  </a:rPr>
                                  <m:t>−0.1583</m:t>
                                </m:r>
                              </m:e>
                              <m:e>
                                <m:r>
                                  <a:rPr lang="en-US" sz="900" b="0" i="0">
                                    <a:latin typeface="Cambria Math" panose="02040503050406030204" pitchFamily="18" charset="0"/>
                                  </a:rPr>
                                  <m:t>−0.3115</m:t>
                                </m:r>
                              </m:e>
                              <m:e>
                                <m:r>
                                  <a:rPr lang="en-US" sz="900" b="0" i="0">
                                    <a:latin typeface="Cambria Math" panose="02040503050406030204" pitchFamily="18" charset="0"/>
                                  </a:rPr>
                                  <m:t>−0.3841</m:t>
                                </m:r>
                              </m:e>
                              <m:e>
                                <m:r>
                                  <a:rPr lang="en-US" sz="900" b="0" i="0">
                                    <a:latin typeface="Cambria Math" panose="02040503050406030204" pitchFamily="18" charset="0"/>
                                  </a:rPr>
                                  <m:t>0.8398</m:t>
                                </m:r>
                              </m:e>
                            </m:mr>
                          </m:m>
                        </m:e>
                      </m:d>
                    </m:oMath>
                  </m:oMathPara>
                </a14:m>
                <a:endParaRPr lang="en-US" sz="900" dirty="0"/>
              </a:p>
            </p:txBody>
          </p:sp>
        </mc:Choice>
        <mc:Fallback xmlns="">
          <p:sp>
            <p:nvSpPr>
              <p:cNvPr id="902" name="CalibV_e_mat"/>
              <p:cNvSpPr txBox="1">
                <a:spLocks noRot="1" noChangeAspect="1" noMove="1" noResize="1" noEditPoints="1" noAdjustHandles="1" noChangeArrowheads="1" noChangeShapeType="1" noTextEdit="1"/>
              </p:cNvSpPr>
              <p:nvPr/>
            </p:nvSpPr>
            <p:spPr>
              <a:xfrm>
                <a:off x="3186716" y="2928399"/>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3" name="CalibV_e_bias"/>
              <p:cNvSpPr txBox="1"/>
              <p:nvPr/>
            </p:nvSpPr>
            <p:spPr>
              <a:xfrm>
                <a:off x="3186716" y="3897663"/>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0.0136</m:t>
                                </m:r>
                              </m:e>
                              <m:e>
                                <m:r>
                                  <a:rPr lang="en-US" sz="900" b="0" i="0">
                                    <a:latin typeface="Cambria Math" panose="02040503050406030204" pitchFamily="18" charset="0"/>
                                  </a:rPr>
                                  <m:t>0.0213</m:t>
                                </m:r>
                              </m:e>
                              <m:e>
                                <m:r>
                                  <a:rPr lang="en-US" sz="900" b="0" i="0">
                                    <a:latin typeface="Cambria Math" panose="02040503050406030204" pitchFamily="18" charset="0"/>
                                  </a:rPr>
                                  <m:t>−0.1165</m:t>
                                </m:r>
                              </m:e>
                              <m:e>
                                <m:r>
                                  <a:rPr lang="en-US" sz="900" b="0" i="0">
                                    <a:latin typeface="Cambria Math" panose="02040503050406030204" pitchFamily="18" charset="0"/>
                                  </a:rPr>
                                  <m:t>0.0005</m:t>
                                </m:r>
                              </m:e>
                              <m:e>
                                <m:r>
                                  <a:rPr lang="en-US" sz="900" b="0" i="0">
                                    <a:latin typeface="Cambria Math" panose="02040503050406030204" pitchFamily="18" charset="0"/>
                                  </a:rPr>
                                  <m:t>−0.0002</m:t>
                                </m:r>
                              </m:e>
                              <m:e>
                                <m:r>
                                  <a:rPr lang="en-US" sz="900" b="0" i="0">
                                    <a:latin typeface="Cambria Math" panose="02040503050406030204" pitchFamily="18" charset="0"/>
                                  </a:rPr>
                                  <m:t>−0.1175</m:t>
                                </m:r>
                              </m:e>
                            </m:mr>
                            <m:mr>
                              <m:e>
                                <m:r>
                                  <a:rPr lang="en-US" sz="900" b="0" i="0">
                                    <a:latin typeface="Cambria Math" panose="02040503050406030204" pitchFamily="18" charset="0"/>
                                  </a:rPr>
                                  <m:t>−0.1142</m:t>
                                </m:r>
                              </m:e>
                              <m:e>
                                <m:r>
                                  <a:rPr lang="en-US" sz="900" b="0" i="0">
                                    <a:latin typeface="Cambria Math" panose="02040503050406030204" pitchFamily="18" charset="0"/>
                                  </a:rPr>
                                  <m:t>0.0019</m:t>
                                </m:r>
                              </m:e>
                              <m:e>
                                <m:r>
                                  <a:rPr lang="en-US" sz="900" b="0" i="0">
                                    <a:latin typeface="Cambria Math" panose="02040503050406030204" pitchFamily="18" charset="0"/>
                                  </a:rPr>
                                  <m:t>0.0199</m:t>
                                </m:r>
                              </m:e>
                              <m:e>
                                <m:r>
                                  <a:rPr lang="en-US" sz="900" b="0" i="0">
                                    <a:latin typeface="Cambria Math" panose="02040503050406030204" pitchFamily="18" charset="0"/>
                                  </a:rPr>
                                  <m:t>0.0187</m:t>
                                </m:r>
                              </m:e>
                              <m:e>
                                <m:r>
                                  <a:rPr lang="en-US" sz="900" b="0" i="0">
                                    <a:latin typeface="Cambria Math" panose="02040503050406030204" pitchFamily="18" charset="0"/>
                                  </a:rPr>
                                  <m:t>0.0002</m:t>
                                </m:r>
                              </m:e>
                              <m:e>
                                <m:r>
                                  <a:rPr lang="en-US" sz="900" b="0" i="0">
                                    <a:latin typeface="Cambria Math" panose="02040503050406030204" pitchFamily="18" charset="0"/>
                                  </a:rPr>
                                  <m:t>−0.1162</m:t>
                                </m:r>
                              </m:e>
                            </m:mr>
                            <m:mr>
                              <m:e>
                                <m:r>
                                  <a:rPr lang="en-US" sz="900" b="0" i="0">
                                    <a:latin typeface="Cambria Math" panose="02040503050406030204" pitchFamily="18" charset="0"/>
                                  </a:rPr>
                                  <m:t>0.1150</m:t>
                                </m:r>
                              </m:e>
                              <m:e>
                                <m:r>
                                  <a:rPr lang="en-US" sz="900" b="0" i="0">
                                    <a:latin typeface="Cambria Math" panose="02040503050406030204" pitchFamily="18" charset="0"/>
                                  </a:rPr>
                                  <m:t>−0.0025</m:t>
                                </m:r>
                              </m:e>
                              <m:e>
                                <m:r>
                                  <a:rPr lang="en-US" sz="900" b="0" i="0">
                                    <a:latin typeface="Cambria Math" panose="02040503050406030204" pitchFamily="18" charset="0"/>
                                  </a:rPr>
                                  <m:t>0.1157</m:t>
                                </m:r>
                              </m:e>
                              <m:e>
                                <m:r>
                                  <a:rPr lang="en-US" sz="900" b="0" i="0">
                                    <a:latin typeface="Cambria Math" panose="02040503050406030204" pitchFamily="18" charset="0"/>
                                  </a:rPr>
                                  <m:t>−0.0012</m:t>
                                </m:r>
                              </m:e>
                              <m:e>
                                <m:r>
                                  <a:rPr lang="en-US" sz="900" b="0" i="0">
                                    <a:latin typeface="Cambria Math" panose="02040503050406030204" pitchFamily="18" charset="0"/>
                                  </a:rPr>
                                  <m:t>−0.0112</m:t>
                                </m:r>
                              </m:e>
                              <m:e>
                                <m:r>
                                  <a:rPr lang="en-US" sz="900" b="0" i="0">
                                    <a:latin typeface="Cambria Math" panose="02040503050406030204" pitchFamily="18" charset="0"/>
                                  </a:rPr>
                                  <m:t>−0.0178</m:t>
                                </m:r>
                              </m:e>
                            </m:mr>
                          </m:m>
                        </m:e>
                      </m:d>
                    </m:oMath>
                  </m:oMathPara>
                </a14:m>
                <a:endParaRPr lang="en-US" sz="900" dirty="0"/>
              </a:p>
            </p:txBody>
          </p:sp>
        </mc:Choice>
        <mc:Fallback xmlns="">
          <p:sp>
            <p:nvSpPr>
              <p:cNvPr id="903" name="CalibV_e_bias"/>
              <p:cNvSpPr txBox="1">
                <a:spLocks noRot="1" noChangeAspect="1" noMove="1" noResize="1" noEditPoints="1" noAdjustHandles="1" noChangeArrowheads="1" noChangeShapeType="1" noTextEdit="1"/>
              </p:cNvSpPr>
              <p:nvPr/>
            </p:nvSpPr>
            <p:spPr>
              <a:xfrm>
                <a:off x="3186716" y="3897663"/>
                <a:ext cx="3632200" cy="457200"/>
              </a:xfrm>
              <a:prstGeom prst="rect">
                <a:avLst/>
              </a:prstGeom>
              <a:blipFill>
                <a:blip r:embed="rId24"/>
                <a:stretch>
                  <a:fillRect t="-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04" name="CalibV_e_sc"/>
              <p:cNvSpPr txBox="1"/>
              <p:nvPr/>
            </p:nvSpPr>
            <p:spPr>
              <a:xfrm>
                <a:off x="3186717" y="4428015"/>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867.2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7.5570×</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904" name="CalibV_e_sc"/>
              <p:cNvSpPr txBox="1">
                <a:spLocks noRot="1" noChangeAspect="1" noMove="1" noResize="1" noEditPoints="1" noAdjustHandles="1" noChangeArrowheads="1" noChangeShapeType="1" noTextEdit="1"/>
              </p:cNvSpPr>
              <p:nvPr/>
            </p:nvSpPr>
            <p:spPr>
              <a:xfrm>
                <a:off x="3186717" y="4428015"/>
                <a:ext cx="3556000" cy="256032"/>
              </a:xfrm>
              <a:prstGeom prst="rect">
                <a:avLst/>
              </a:prstGeom>
              <a:blipFill>
                <a:blip r:embed="rId25"/>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0E47CCE1-4504-404E-836B-C65D993B87CC}"/>
                  </a:ext>
                </a:extLst>
              </p:cNvPr>
              <p:cNvSpPr txBox="1"/>
              <p:nvPr/>
            </p:nvSpPr>
            <p:spPr>
              <a:xfrm>
                <a:off x="6742716" y="114531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42716" y="1145319"/>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EBA49798-FF6E-40E0-BBA9-161C19277A44}"/>
                  </a:ext>
                </a:extLst>
              </p:cNvPr>
              <p:cNvSpPr txBox="1"/>
              <p:nvPr/>
            </p:nvSpPr>
            <p:spPr>
              <a:xfrm>
                <a:off x="6818916" y="289639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%=0.35%</m:t>
                      </m:r>
                    </m:oMath>
                  </m:oMathPara>
                </a14:m>
                <a:endParaRPr lang="zh-TW" altLang="en-US" sz="1400" dirty="0"/>
              </a:p>
            </p:txBody>
          </p:sp>
        </mc:Choice>
        <mc:Fallback xmlns="">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18916" y="2896394"/>
                <a:ext cx="4191000" cy="549509"/>
              </a:xfrm>
              <a:prstGeom prst="rect">
                <a:avLst/>
              </a:prstGeom>
              <a:blipFill>
                <a:blip r:embed="rId28"/>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50" name="CalibV_Vmat"/>
              <p:cNvSpPr txBox="1"/>
              <p:nvPr/>
            </p:nvSpPr>
            <p:spPr>
              <a:xfrm>
                <a:off x="3204098" y="4684047"/>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1158.8422</m:t>
                                </m:r>
                              </m:e>
                              <m:e>
                                <m:r>
                                  <a:rPr lang="en-US" sz="1050" b="0" i="0">
                                    <a:latin typeface="Cambria Math" panose="02040503050406030204" pitchFamily="18" charset="0"/>
                                  </a:rPr>
                                  <m:t>−23.5073</m:t>
                                </m:r>
                              </m:e>
                              <m:e>
                                <m:r>
                                  <a:rPr lang="en-US" sz="1050" b="0" i="0">
                                    <a:latin typeface="Cambria Math" panose="02040503050406030204" pitchFamily="18" charset="0"/>
                                  </a:rPr>
                                  <m:t>−213.6363</m:t>
                                </m:r>
                              </m:e>
                              <m:e>
                                <m:r>
                                  <a:rPr lang="en-US" sz="1050" b="0" i="0">
                                    <a:latin typeface="Cambria Math" panose="02040503050406030204" pitchFamily="18" charset="0"/>
                                  </a:rPr>
                                  <m:t>−208.6553</m:t>
                                </m:r>
                              </m:e>
                              <m:e>
                                <m:r>
                                  <a:rPr lang="en-US" sz="1050" b="0" i="0">
                                    <a:latin typeface="Cambria Math" panose="02040503050406030204" pitchFamily="18" charset="0"/>
                                  </a:rPr>
                                  <m:t>−201.9790</m:t>
                                </m:r>
                              </m:e>
                              <m:e>
                                <m:r>
                                  <a:rPr lang="en-US" sz="1050" b="0" i="0">
                                    <a:latin typeface="Cambria Math" panose="02040503050406030204" pitchFamily="18" charset="0"/>
                                  </a:rPr>
                                  <m:t>−217.6300</m:t>
                                </m:r>
                              </m:e>
                            </m:mr>
                            <m:mr>
                              <m:e>
                                <m:r>
                                  <a:rPr lang="en-US" sz="1050" b="0" i="0">
                                    <a:latin typeface="Cambria Math" panose="02040503050406030204" pitchFamily="18" charset="0"/>
                                  </a:rPr>
                                  <m:t>−25.8717</m:t>
                                </m:r>
                              </m:e>
                              <m:e>
                                <m:r>
                                  <a:rPr lang="en-US" sz="1050" b="0" i="0">
                                    <a:latin typeface="Cambria Math" panose="02040503050406030204" pitchFamily="18" charset="0"/>
                                  </a:rPr>
                                  <m:t>1269.5482</m:t>
                                </m:r>
                              </m:e>
                              <m:e>
                                <m:r>
                                  <a:rPr lang="en-US" sz="1050" b="0" i="0">
                                    <a:latin typeface="Cambria Math" panose="02040503050406030204" pitchFamily="18" charset="0"/>
                                  </a:rPr>
                                  <m:t>−194.3486</m:t>
                                </m:r>
                              </m:e>
                              <m:e>
                                <m:r>
                                  <a:rPr lang="en-US" sz="1050" b="0" i="0">
                                    <a:latin typeface="Cambria Math" panose="02040503050406030204" pitchFamily="18" charset="0"/>
                                  </a:rPr>
                                  <m:t>−385.8222</m:t>
                                </m:r>
                              </m:e>
                              <m:e>
                                <m:r>
                                  <a:rPr lang="en-US" sz="1050" b="0" i="0">
                                    <a:latin typeface="Cambria Math" panose="02040503050406030204" pitchFamily="18" charset="0"/>
                                  </a:rPr>
                                  <m:t>−394.9106</m:t>
                                </m:r>
                              </m:e>
                              <m:e>
                                <m:r>
                                  <a:rPr lang="en-US" sz="1050" b="0" i="0">
                                    <a:latin typeface="Cambria Math" panose="02040503050406030204" pitchFamily="18" charset="0"/>
                                  </a:rPr>
                                  <m:t>−196.2115</m:t>
                                </m:r>
                              </m:e>
                            </m:mr>
                            <m:mr>
                              <m:e>
                                <m:r>
                                  <a:rPr lang="en-US" sz="1050" b="0" i="0">
                                    <a:latin typeface="Cambria Math" panose="02040503050406030204" pitchFamily="18" charset="0"/>
                                  </a:rPr>
                                  <m:t>−214.4212</m:t>
                                </m:r>
                              </m:e>
                              <m:e>
                                <m:r>
                                  <a:rPr lang="en-US" sz="1050" b="0" i="0">
                                    <a:latin typeface="Cambria Math" panose="02040503050406030204" pitchFamily="18" charset="0"/>
                                  </a:rPr>
                                  <m:t>−207.6976</m:t>
                                </m:r>
                              </m:e>
                              <m:e>
                                <m:r>
                                  <a:rPr lang="en-US" sz="1050" b="0" i="0">
                                    <a:latin typeface="Cambria Math" panose="02040503050406030204" pitchFamily="18" charset="0"/>
                                  </a:rPr>
                                  <m:t>1163.4965</m:t>
                                </m:r>
                              </m:e>
                              <m:e>
                                <m:r>
                                  <a:rPr lang="en-US" sz="1050" b="0" i="0">
                                    <a:latin typeface="Cambria Math" panose="02040503050406030204" pitchFamily="18" charset="0"/>
                                  </a:rPr>
                                  <m:t>−23.2256</m:t>
                                </m:r>
                              </m:e>
                              <m:e>
                                <m:r>
                                  <a:rPr lang="en-US" sz="1050" b="0" i="0">
                                    <a:latin typeface="Cambria Math" panose="02040503050406030204" pitchFamily="18" charset="0"/>
                                  </a:rPr>
                                  <m:t>−202.4599</m:t>
                                </m:r>
                              </m:e>
                              <m:e>
                                <m:r>
                                  <a:rPr lang="en-US" sz="1050" b="0" i="0">
                                    <a:latin typeface="Cambria Math" panose="02040503050406030204" pitchFamily="18" charset="0"/>
                                  </a:rPr>
                                  <m:t>−213.3231</m:t>
                                </m:r>
                              </m:e>
                            </m:mr>
                            <m:mr>
                              <m:e>
                                <m:r>
                                  <a:rPr lang="en-US" sz="1050" b="0" i="0">
                                    <a:latin typeface="Cambria Math" panose="02040503050406030204" pitchFamily="18" charset="0"/>
                                  </a:rPr>
                                  <m:t>−194.6719</m:t>
                                </m:r>
                              </m:e>
                              <m:e>
                                <m:r>
                                  <a:rPr lang="en-US" sz="1050" b="0" i="0">
                                    <a:latin typeface="Cambria Math" panose="02040503050406030204" pitchFamily="18" charset="0"/>
                                  </a:rPr>
                                  <m:t>−391.3692</m:t>
                                </m:r>
                              </m:e>
                              <m:e>
                                <m:r>
                                  <a:rPr lang="en-US" sz="1050" b="0" i="0">
                                    <a:latin typeface="Cambria Math" panose="02040503050406030204" pitchFamily="18" charset="0"/>
                                  </a:rPr>
                                  <m:t>−25.8484</m:t>
                                </m:r>
                              </m:e>
                              <m:e>
                                <m:r>
                                  <a:rPr lang="en-US" sz="1050" b="0" i="0">
                                    <a:latin typeface="Cambria Math" panose="02040503050406030204" pitchFamily="18" charset="0"/>
                                  </a:rPr>
                                  <m:t>1277.5597</m:t>
                                </m:r>
                              </m:e>
                              <m:e>
                                <m:r>
                                  <a:rPr lang="en-US" sz="1050" b="0" i="0">
                                    <a:latin typeface="Cambria Math" panose="02040503050406030204" pitchFamily="18" charset="0"/>
                                  </a:rPr>
                                  <m:t>−387.7583</m:t>
                                </m:r>
                              </m:e>
                              <m:e>
                                <m:r>
                                  <a:rPr lang="en-US" sz="1050" b="0" i="0">
                                    <a:latin typeface="Cambria Math" panose="02040503050406030204" pitchFamily="18" charset="0"/>
                                  </a:rPr>
                                  <m:t>−200.4564</m:t>
                                </m:r>
                              </m:e>
                            </m:mr>
                            <m:mr>
                              <m:e>
                                <m:r>
                                  <a:rPr lang="en-US" sz="1050" b="0" i="0">
                                    <a:latin typeface="Cambria Math" panose="02040503050406030204" pitchFamily="18" charset="0"/>
                                  </a:rPr>
                                  <m:t>−194.2987</m:t>
                                </m:r>
                              </m:e>
                              <m:e>
                                <m:r>
                                  <a:rPr lang="en-US" sz="1050" b="0" i="0">
                                    <a:latin typeface="Cambria Math" panose="02040503050406030204" pitchFamily="18" charset="0"/>
                                  </a:rPr>
                                  <m:t>−382.7499</m:t>
                                </m:r>
                              </m:e>
                              <m:e>
                                <m:r>
                                  <a:rPr lang="en-US" sz="1050" b="0" i="0">
                                    <a:latin typeface="Cambria Math" panose="02040503050406030204" pitchFamily="18" charset="0"/>
                                  </a:rPr>
                                  <m:t>−190.9859</m:t>
                                </m:r>
                              </m:e>
                              <m:e>
                                <m:r>
                                  <a:rPr lang="en-US" sz="1050" b="0" i="0">
                                    <a:latin typeface="Cambria Math" panose="02040503050406030204" pitchFamily="18" charset="0"/>
                                  </a:rPr>
                                  <m:t>−380.5163</m:t>
                                </m:r>
                              </m:e>
                              <m:e>
                                <m:r>
                                  <a:rPr lang="en-US" sz="1050" b="0" i="0">
                                    <a:latin typeface="Cambria Math" panose="02040503050406030204" pitchFamily="18" charset="0"/>
                                  </a:rPr>
                                  <m:t>1258.5714</m:t>
                                </m:r>
                              </m:e>
                              <m:e>
                                <m:r>
                                  <a:rPr lang="en-US" sz="1050" b="0" i="0">
                                    <a:latin typeface="Cambria Math" panose="02040503050406030204" pitchFamily="18" charset="0"/>
                                  </a:rPr>
                                  <m:t>−25.1339</m:t>
                                </m:r>
                              </m:e>
                            </m:mr>
                            <m:mr>
                              <m:e>
                                <m:r>
                                  <a:rPr lang="en-US" sz="1050" b="0" i="0">
                                    <a:latin typeface="Cambria Math" panose="02040503050406030204" pitchFamily="18" charset="0"/>
                                  </a:rPr>
                                  <m:t>−215.1903</m:t>
                                </m:r>
                              </m:e>
                              <m:e>
                                <m:r>
                                  <a:rPr lang="en-US" sz="1050" b="0" i="0">
                                    <a:latin typeface="Cambria Math" panose="02040503050406030204" pitchFamily="18" charset="0"/>
                                  </a:rPr>
                                  <m:t>−205.8141</m:t>
                                </m:r>
                              </m:e>
                              <m:e>
                                <m:r>
                                  <a:rPr lang="en-US" sz="1050" b="0" i="0">
                                    <a:latin typeface="Cambria Math" panose="02040503050406030204" pitchFamily="18" charset="0"/>
                                  </a:rPr>
                                  <m:t>−218.6640</m:t>
                                </m:r>
                              </m:e>
                              <m:e>
                                <m:r>
                                  <a:rPr lang="en-US" sz="1050" b="0" i="0">
                                    <a:latin typeface="Cambria Math" panose="02040503050406030204" pitchFamily="18" charset="0"/>
                                  </a:rPr>
                                  <m:t>−213.0299</m:t>
                                </m:r>
                              </m:e>
                              <m:e>
                                <m:r>
                                  <a:rPr lang="en-US" sz="1050" b="0" i="0">
                                    <a:latin typeface="Cambria Math" panose="02040503050406030204" pitchFamily="18" charset="0"/>
                                  </a:rPr>
                                  <m:t>−23.0738</m:t>
                                </m:r>
                              </m:e>
                              <m:e>
                                <m:r>
                                  <a:rPr lang="en-US" sz="1050" b="0" i="0">
                                    <a:latin typeface="Cambria Math" panose="02040503050406030204" pitchFamily="18" charset="0"/>
                                  </a:rPr>
                                  <m:t>1164.5397</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950" name="CalibV_Vmat"/>
              <p:cNvSpPr txBox="1">
                <a:spLocks noRot="1" noChangeAspect="1" noMove="1" noResize="1" noEditPoints="1" noAdjustHandles="1" noChangeArrowheads="1" noChangeShapeType="1" noTextEdit="1"/>
              </p:cNvSpPr>
              <p:nvPr/>
            </p:nvSpPr>
            <p:spPr>
              <a:xfrm>
                <a:off x="3204098" y="4684047"/>
                <a:ext cx="5192875" cy="947907"/>
              </a:xfrm>
              <a:prstGeom prst="rect">
                <a:avLst/>
              </a:prstGeom>
              <a:blipFill>
                <a:blip r:embed="rId29"/>
                <a:stretch>
                  <a:fillRect l="-1293" r="-588"/>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8E4086C3-AC1E-40E1-9FA6-2AABEBDB7262}"/>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Long</a:t>
            </a:r>
            <a:endParaRPr lang="zh-TW" altLang="en-US" dirty="0"/>
          </a:p>
        </p:txBody>
      </p:sp>
    </p:spTree>
    <p:extLst>
      <p:ext uri="{BB962C8B-B14F-4D97-AF65-F5344CB8AC3E}">
        <p14:creationId xmlns:p14="http://schemas.microsoft.com/office/powerpoint/2010/main" val="14870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886200" y="6096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886200" y="24638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6" name="群組 5">
            <a:extLst>
              <a:ext uri="{FF2B5EF4-FFF2-40B4-BE49-F238E27FC236}">
                <a16:creationId xmlns:a16="http://schemas.microsoft.com/office/drawing/2014/main" id="{BB931071-4CD8-492B-A6C4-8AB829E81679}"/>
              </a:ext>
            </a:extLst>
          </p:cNvPr>
          <p:cNvGrpSpPr/>
          <p:nvPr/>
        </p:nvGrpSpPr>
        <p:grpSpPr>
          <a:xfrm>
            <a:off x="215634" y="721409"/>
            <a:ext cx="3456881" cy="2455335"/>
            <a:chOff x="72610" y="815578"/>
            <a:chExt cx="3456881" cy="2455335"/>
          </a:xfrm>
        </p:grpSpPr>
        <p:pic>
          <p:nvPicPr>
            <p:cNvPr id="4" name="圖片 3">
              <a:extLst>
                <a:ext uri="{FF2B5EF4-FFF2-40B4-BE49-F238E27FC236}">
                  <a16:creationId xmlns:a16="http://schemas.microsoft.com/office/drawing/2014/main" id="{9E3BB951-8FB0-4AAF-843C-137421C023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659" y="815578"/>
              <a:ext cx="3170832" cy="2183945"/>
            </a:xfrm>
            <a:prstGeom prst="rect">
              <a:avLst/>
            </a:prstGeom>
          </p:spPr>
        </p:pic>
        <p:grpSp>
          <p:nvGrpSpPr>
            <p:cNvPr id="11" name="群組 10">
              <a:extLst>
                <a:ext uri="{FF2B5EF4-FFF2-40B4-BE49-F238E27FC236}">
                  <a16:creationId xmlns:a16="http://schemas.microsoft.com/office/drawing/2014/main" id="{F8B1ABB2-778A-49C9-AFA2-90D17FFE48E7}"/>
                </a:ext>
              </a:extLst>
            </p:cNvPr>
            <p:cNvGrpSpPr/>
            <p:nvPr/>
          </p:nvGrpSpPr>
          <p:grpSpPr>
            <a:xfrm>
              <a:off x="72610" y="998367"/>
              <a:ext cx="2794563" cy="2272546"/>
              <a:chOff x="86294" y="685152"/>
              <a:chExt cx="2794563" cy="2272546"/>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430416" y="2681735"/>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430416" y="2681735"/>
                    <a:ext cx="1106536" cy="275963"/>
                  </a:xfrm>
                  <a:prstGeom prst="rect">
                    <a:avLst/>
                  </a:prstGeom>
                  <a:blipFill>
                    <a:blip r:embed="rId3"/>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509253" y="1280699"/>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509253" y="1280699"/>
                    <a:ext cx="1404535" cy="213442"/>
                  </a:xfrm>
                  <a:prstGeom prst="rect">
                    <a:avLst/>
                  </a:prstGeom>
                  <a:blipFill>
                    <a:blip r:embed="rId4"/>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200000">
                    <a:off x="2336201" y="1264309"/>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200000">
                    <a:off x="2336201" y="1264309"/>
                    <a:ext cx="843092" cy="246221"/>
                  </a:xfrm>
                  <a:prstGeom prst="rect">
                    <a:avLst/>
                  </a:prstGeom>
                  <a:blipFill>
                    <a:blip r:embed="rId5"/>
                    <a:stretch>
                      <a:fillRect t="-4317" r="-4878" b="-71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a:off x="1732012" y="1969933"/>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a:off x="1732012" y="1969933"/>
                    <a:ext cx="503343" cy="246221"/>
                  </a:xfrm>
                  <a:prstGeom prst="rect">
                    <a:avLst/>
                  </a:prstGeom>
                  <a:blipFill>
                    <a:blip r:embed="rId6"/>
                    <a:stretch>
                      <a:fillRect l="-8434" r="-3614" b="-7500"/>
                    </a:stretch>
                  </a:blipFill>
                </p:spPr>
                <p:txBody>
                  <a:bodyPr/>
                  <a:lstStyle/>
                  <a:p>
                    <a:r>
                      <a:rPr lang="zh-TW" altLang="en-US">
                        <a:noFill/>
                      </a:rPr>
                      <a:t> </a:t>
                    </a:r>
                  </a:p>
                </p:txBody>
              </p:sp>
            </mc:Fallback>
          </mc:AlternateContent>
        </p:grpSp>
      </p:grpSp>
      <p:grpSp>
        <p:nvGrpSpPr>
          <p:cNvPr id="14" name="群組 13">
            <a:extLst>
              <a:ext uri="{FF2B5EF4-FFF2-40B4-BE49-F238E27FC236}">
                <a16:creationId xmlns:a16="http://schemas.microsoft.com/office/drawing/2014/main" id="{F3352201-F7DD-435B-B6B5-13B2FF498A8C}"/>
              </a:ext>
            </a:extLst>
          </p:cNvPr>
          <p:cNvGrpSpPr/>
          <p:nvPr/>
        </p:nvGrpSpPr>
        <p:grpSpPr>
          <a:xfrm>
            <a:off x="313179" y="3348934"/>
            <a:ext cx="3436202" cy="2400666"/>
            <a:chOff x="252753" y="3557168"/>
            <a:chExt cx="3436202" cy="2400666"/>
          </a:xfrm>
        </p:grpSpPr>
        <p:pic>
          <p:nvPicPr>
            <p:cNvPr id="13" name="圖片 12">
              <a:extLst>
                <a:ext uri="{FF2B5EF4-FFF2-40B4-BE49-F238E27FC236}">
                  <a16:creationId xmlns:a16="http://schemas.microsoft.com/office/drawing/2014/main" id="{259AF4D5-3FEE-44D1-AC03-CC90A67B71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7090" y="3557168"/>
              <a:ext cx="3151865" cy="2133982"/>
            </a:xfrm>
            <a:prstGeom prst="rect">
              <a:avLst/>
            </a:prstGeom>
          </p:spPr>
        </p:pic>
        <p:grpSp>
          <p:nvGrpSpPr>
            <p:cNvPr id="12" name="群組 11">
              <a:extLst>
                <a:ext uri="{FF2B5EF4-FFF2-40B4-BE49-F238E27FC236}">
                  <a16:creationId xmlns:a16="http://schemas.microsoft.com/office/drawing/2014/main" id="{079819BA-2246-4E2F-8920-F8581BF37279}"/>
                </a:ext>
              </a:extLst>
            </p:cNvPr>
            <p:cNvGrpSpPr/>
            <p:nvPr/>
          </p:nvGrpSpPr>
          <p:grpSpPr>
            <a:xfrm>
              <a:off x="252753" y="3786069"/>
              <a:ext cx="2387614" cy="2171765"/>
              <a:chOff x="266437" y="3472854"/>
              <a:chExt cx="2387614" cy="2171765"/>
            </a:xfrm>
          </p:grpSpPr>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547515" y="5368656"/>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547515" y="5368656"/>
                    <a:ext cx="1106536" cy="275963"/>
                  </a:xfrm>
                  <a:prstGeom prst="rect">
                    <a:avLst/>
                  </a:prstGeom>
                  <a:blipFill>
                    <a:blip r:embed="rId8"/>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329110" y="4126309"/>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329110" y="4126309"/>
                    <a:ext cx="1404535" cy="213442"/>
                  </a:xfrm>
                  <a:prstGeom prst="rect">
                    <a:avLst/>
                  </a:prstGeom>
                  <a:blipFill>
                    <a:blip r:embed="rId9"/>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a:off x="1597440" y="3472854"/>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a:off x="1597440" y="3472854"/>
                    <a:ext cx="503343" cy="246221"/>
                  </a:xfrm>
                  <a:prstGeom prst="rect">
                    <a:avLst/>
                  </a:prstGeom>
                  <a:blipFill>
                    <a:blip r:embed="rId10"/>
                    <a:stretch>
                      <a:fillRect l="-9756" r="-3659" b="-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6200000">
                    <a:off x="969899" y="4120741"/>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6200000">
                    <a:off x="969899" y="4120741"/>
                    <a:ext cx="843092" cy="246221"/>
                  </a:xfrm>
                  <a:prstGeom prst="rect">
                    <a:avLst/>
                  </a:prstGeom>
                  <a:blipFill>
                    <a:blip r:embed="rId11"/>
                    <a:stretch>
                      <a:fillRect t="-4317" r="-7500" b="-7194"/>
                    </a:stretch>
                  </a:blipFill>
                </p:spPr>
                <p:txBody>
                  <a:bodyPr/>
                  <a:lstStyle/>
                  <a:p>
                    <a:r>
                      <a:rPr lang="zh-TW" altLang="en-US">
                        <a:noFill/>
                      </a:rPr>
                      <a:t> </a:t>
                    </a:r>
                  </a:p>
                </p:txBody>
              </p:sp>
            </mc:Fallback>
          </mc:AlternateContent>
        </p:grpSp>
      </p:gr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p:sp>
        <p:nvSpPr>
          <p:cNvPr id="35" name="文字方塊 34">
            <a:extLst>
              <a:ext uri="{FF2B5EF4-FFF2-40B4-BE49-F238E27FC236}">
                <a16:creationId xmlns:a16="http://schemas.microsoft.com/office/drawing/2014/main" id="{8E4086C3-AC1E-40E1-9FA6-2AABEBDB7262}"/>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mc:AlternateContent xmlns:mc="http://schemas.openxmlformats.org/markup-compatibility/2006" xmlns:a14="http://schemas.microsoft.com/office/drawing/2010/main">
        <mc:Choice Requires="a14">
          <p:sp>
            <p:nvSpPr>
              <p:cNvPr id="36" name="ZhiV_s_mat"/>
              <p:cNvSpPr txBox="1"/>
              <p:nvPr/>
            </p:nvSpPr>
            <p:spPr>
              <a:xfrm>
                <a:off x="3810000" y="1041400"/>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−0.1582</m:t>
                                </m:r>
                              </m:e>
                              <m:e>
                                <m:r>
                                  <a:rPr lang="en-US" sz="900" b="0" i="0">
                                    <a:latin typeface="Cambria Math" panose="02040503050406030204" pitchFamily="18" charset="0"/>
                                  </a:rPr>
                                  <m:t>−0.2582</m:t>
                                </m:r>
                              </m:e>
                              <m:e>
                                <m:r>
                                  <a:rPr lang="en-US" sz="900" b="0" i="0">
                                    <a:latin typeface="Cambria Math" panose="02040503050406030204" pitchFamily="18" charset="0"/>
                                  </a:rPr>
                                  <m:t>0.0255</m:t>
                                </m:r>
                              </m:e>
                              <m:e>
                                <m:r>
                                  <a:rPr lang="en-US" sz="900" b="0" i="0">
                                    <a:latin typeface="Cambria Math" panose="02040503050406030204" pitchFamily="18" charset="0"/>
                                  </a:rPr>
                                  <m:t>0.0261</m:t>
                                </m:r>
                              </m:e>
                              <m:e>
                                <m:r>
                                  <a:rPr lang="en-US" sz="900" b="0" i="0">
                                    <a:latin typeface="Cambria Math" panose="02040503050406030204" pitchFamily="18" charset="0"/>
                                  </a:rPr>
                                  <m:t>−0.2560</m:t>
                                </m:r>
                              </m:e>
                            </m:mr>
                            <m:mr>
                              <m:e>
                                <m:r>
                                  <a:rPr lang="en-US" sz="900" b="0" i="0">
                                    <a:latin typeface="Cambria Math" panose="02040503050406030204" pitchFamily="18" charset="0"/>
                                  </a:rPr>
                                  <m:t>−0.1499</m:t>
                                </m:r>
                              </m:e>
                              <m:e>
                                <m:r>
                                  <a:rPr lang="en-US" sz="900" b="0" i="0">
                                    <a:latin typeface="Cambria Math" panose="02040503050406030204" pitchFamily="18" charset="0"/>
                                  </a:rPr>
                                  <m:t>0.8431</m:t>
                                </m:r>
                              </m:e>
                              <m:e>
                                <m:r>
                                  <a:rPr lang="en-US" sz="900" b="0" i="0">
                                    <a:latin typeface="Cambria Math" panose="02040503050406030204" pitchFamily="18" charset="0"/>
                                  </a:rPr>
                                  <m:t>0.0379</m:t>
                                </m:r>
                              </m:e>
                              <m:e>
                                <m:r>
                                  <a:rPr lang="en-US" sz="900" b="0" i="0">
                                    <a:latin typeface="Cambria Math" panose="02040503050406030204" pitchFamily="18" charset="0"/>
                                  </a:rPr>
                                  <m:t>−0.2501</m:t>
                                </m:r>
                              </m:e>
                              <m:e>
                                <m:r>
                                  <a:rPr lang="en-US" sz="900" b="0" i="0">
                                    <a:latin typeface="Cambria Math" panose="02040503050406030204" pitchFamily="18" charset="0"/>
                                  </a:rPr>
                                  <m:t>−0.2509</m:t>
                                </m:r>
                              </m:e>
                              <m:e>
                                <m:r>
                                  <a:rPr lang="en-US" sz="900" b="0" i="0">
                                    <a:latin typeface="Cambria Math" panose="02040503050406030204" pitchFamily="18" charset="0"/>
                                  </a:rPr>
                                  <m:t>0.0403</m:t>
                                </m:r>
                              </m:e>
                            </m:mr>
                            <m:mr>
                              <m:e>
                                <m:r>
                                  <a:rPr lang="en-US" sz="900" b="0" i="0">
                                    <a:latin typeface="Cambria Math" panose="02040503050406030204" pitchFamily="18" charset="0"/>
                                  </a:rPr>
                                  <m:t>−0.2577</m:t>
                                </m:r>
                              </m:e>
                              <m:e>
                                <m:r>
                                  <a:rPr lang="en-US" sz="900" b="0" i="0">
                                    <a:latin typeface="Cambria Math" panose="02040503050406030204" pitchFamily="18" charset="0"/>
                                  </a:rPr>
                                  <m:t>0.0249</m:t>
                                </m:r>
                              </m:e>
                              <m:e>
                                <m:r>
                                  <a:rPr lang="en-US" sz="900" b="0" i="0">
                                    <a:latin typeface="Cambria Math" panose="02040503050406030204" pitchFamily="18" charset="0"/>
                                  </a:rPr>
                                  <m:t>0.8309</m:t>
                                </m:r>
                              </m:e>
                              <m:e>
                                <m:r>
                                  <a:rPr lang="en-US" sz="900" b="0" i="0">
                                    <a:latin typeface="Cambria Math" panose="02040503050406030204" pitchFamily="18" charset="0"/>
                                  </a:rPr>
                                  <m:t>−0.1615</m:t>
                                </m:r>
                              </m:e>
                              <m:e>
                                <m:r>
                                  <a:rPr lang="en-US" sz="900" b="0" i="0">
                                    <a:latin typeface="Cambria Math" panose="02040503050406030204" pitchFamily="18" charset="0"/>
                                  </a:rPr>
                                  <m:t>0.0235</m:t>
                                </m:r>
                              </m:e>
                              <m:e>
                                <m:r>
                                  <a:rPr lang="en-US" sz="900" b="0" i="0">
                                    <a:latin typeface="Cambria Math" panose="02040503050406030204" pitchFamily="18" charset="0"/>
                                  </a:rPr>
                                  <m:t>−0.2590</m:t>
                                </m:r>
                              </m:e>
                            </m:mr>
                            <m:mr>
                              <m:e>
                                <m:r>
                                  <a:rPr lang="en-US" sz="900" b="0" i="0">
                                    <a:latin typeface="Cambria Math" panose="02040503050406030204" pitchFamily="18" charset="0"/>
                                  </a:rPr>
                                  <m:t>0.0407</m:t>
                                </m:r>
                              </m:e>
                              <m:e>
                                <m:r>
                                  <a:rPr lang="en-US" sz="900" b="0" i="0">
                                    <a:latin typeface="Cambria Math" panose="02040503050406030204" pitchFamily="18" charset="0"/>
                                  </a:rPr>
                                  <m:t>−0.2494</m:t>
                                </m:r>
                              </m:e>
                              <m:e>
                                <m:r>
                                  <a:rPr lang="en-US" sz="900" b="0" i="0">
                                    <a:latin typeface="Cambria Math" panose="02040503050406030204" pitchFamily="18" charset="0"/>
                                  </a:rPr>
                                  <m:t>−0.1523</m:t>
                                </m:r>
                              </m:e>
                              <m:e>
                                <m:r>
                                  <a:rPr lang="en-US" sz="900" b="0" i="0">
                                    <a:latin typeface="Cambria Math" panose="02040503050406030204" pitchFamily="18" charset="0"/>
                                  </a:rPr>
                                  <m:t>0.8432</m:t>
                                </m:r>
                              </m:e>
                              <m:e>
                                <m:r>
                                  <a:rPr lang="en-US" sz="900" b="0" i="0">
                                    <a:latin typeface="Cambria Math" panose="02040503050406030204" pitchFamily="18" charset="0"/>
                                  </a:rPr>
                                  <m:t>−0.2503</m:t>
                                </m:r>
                              </m:e>
                              <m:e>
                                <m:r>
                                  <a:rPr lang="en-US" sz="900" b="0" i="0">
                                    <a:latin typeface="Cambria Math" panose="02040503050406030204" pitchFamily="18" charset="0"/>
                                  </a:rPr>
                                  <m:t>0.0395</m:t>
                                </m:r>
                              </m:e>
                            </m:mr>
                            <m:mr>
                              <m:e>
                                <m:r>
                                  <a:rPr lang="en-US" sz="900" b="0" i="0">
                                    <a:latin typeface="Cambria Math" panose="02040503050406030204" pitchFamily="18" charset="0"/>
                                  </a:rPr>
                                  <m:t>0.0396</m:t>
                                </m:r>
                              </m:e>
                              <m:e>
                                <m:r>
                                  <a:rPr lang="en-US" sz="900" b="0" i="0">
                                    <a:latin typeface="Cambria Math" panose="02040503050406030204" pitchFamily="18" charset="0"/>
                                  </a:rPr>
                                  <m:t>−0.2493</m:t>
                                </m:r>
                              </m:e>
                              <m:e>
                                <m:r>
                                  <a:rPr lang="en-US" sz="900" b="0" i="0">
                                    <a:latin typeface="Cambria Math" panose="02040503050406030204" pitchFamily="18" charset="0"/>
                                  </a:rPr>
                                  <m:t>0.0383</m:t>
                                </m:r>
                              </m:e>
                              <m:e>
                                <m:r>
                                  <a:rPr lang="en-US" sz="900" b="0" i="0">
                                    <a:latin typeface="Cambria Math" panose="02040503050406030204" pitchFamily="18" charset="0"/>
                                  </a:rPr>
                                  <m:t>−0.2502</m:t>
                                </m:r>
                              </m:e>
                              <m:e>
                                <m:r>
                                  <a:rPr lang="en-US" sz="900" b="0" i="0">
                                    <a:latin typeface="Cambria Math" panose="02040503050406030204" pitchFamily="18" charset="0"/>
                                  </a:rPr>
                                  <m:t>0.8435</m:t>
                                </m:r>
                              </m:e>
                              <m:e>
                                <m:r>
                                  <a:rPr lang="en-US" sz="900" b="0" i="0">
                                    <a:latin typeface="Cambria Math" panose="02040503050406030204" pitchFamily="18" charset="0"/>
                                  </a:rPr>
                                  <m:t>−0.1504</m:t>
                                </m:r>
                              </m:e>
                            </m:mr>
                            <m:mr>
                              <m:e>
                                <m:r>
                                  <a:rPr lang="en-US" sz="900" b="0" i="0">
                                    <a:latin typeface="Cambria Math" panose="02040503050406030204" pitchFamily="18" charset="0"/>
                                  </a:rPr>
                                  <m:t>−0.2566</m:t>
                                </m:r>
                              </m:e>
                              <m:e>
                                <m:r>
                                  <a:rPr lang="en-US" sz="900" b="0" i="0">
                                    <a:latin typeface="Cambria Math" panose="02040503050406030204" pitchFamily="18" charset="0"/>
                                  </a:rPr>
                                  <m:t>0.0251</m:t>
                                </m:r>
                              </m:e>
                              <m:e>
                                <m:r>
                                  <a:rPr lang="en-US" sz="900" b="0" i="0">
                                    <a:latin typeface="Cambria Math" panose="02040503050406030204" pitchFamily="18" charset="0"/>
                                  </a:rPr>
                                  <m:t>−0.2605</m:t>
                                </m:r>
                              </m:e>
                              <m:e>
                                <m:r>
                                  <a:rPr lang="en-US" sz="900" b="0" i="0">
                                    <a:latin typeface="Cambria Math" panose="02040503050406030204" pitchFamily="18" charset="0"/>
                                  </a:rPr>
                                  <m:t>0.0245</m:t>
                                </m:r>
                              </m:e>
                              <m:e>
                                <m:r>
                                  <a:rPr lang="en-US" sz="900" b="0" i="0">
                                    <a:latin typeface="Cambria Math" panose="02040503050406030204" pitchFamily="18" charset="0"/>
                                  </a:rPr>
                                  <m:t>−0.1614</m:t>
                                </m:r>
                              </m:e>
                              <m:e>
                                <m:r>
                                  <a:rPr lang="en-US" sz="900" b="0" i="0">
                                    <a:latin typeface="Cambria Math" panose="02040503050406030204" pitchFamily="18" charset="0"/>
                                  </a:rPr>
                                  <m:t>0.8317</m:t>
                                </m:r>
                              </m:e>
                            </m:mr>
                          </m:m>
                        </m:e>
                      </m:d>
                      <m:r>
                        <a:rPr lang="en-US" sz="900" b="0" i="0">
                          <a:latin typeface="Cambria Math" panose="02040503050406030204" pitchFamily="18" charset="0"/>
                        </a:rPr>
                        <m:t> </m:t>
                      </m:r>
                    </m:oMath>
                  </m:oMathPara>
                </a14:m>
                <a:endParaRPr lang="en-US" sz="900" dirty="0"/>
              </a:p>
            </p:txBody>
          </p:sp>
        </mc:Choice>
        <mc:Fallback xmlns="">
          <p:sp>
            <p:nvSpPr>
              <p:cNvPr id="36" name="ZhiV_s_mat"/>
              <p:cNvSpPr txBox="1">
                <a:spLocks noRot="1" noChangeAspect="1" noMove="1" noResize="1" noEditPoints="1" noAdjustHandles="1" noChangeArrowheads="1" noChangeShapeType="1" noTextEdit="1"/>
              </p:cNvSpPr>
              <p:nvPr/>
            </p:nvSpPr>
            <p:spPr>
              <a:xfrm>
                <a:off x="3810000" y="1041400"/>
                <a:ext cx="3793066" cy="868680"/>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ZhiV_s_sc"/>
              <p:cNvSpPr txBox="1"/>
              <p:nvPr/>
            </p:nvSpPr>
            <p:spPr>
              <a:xfrm>
                <a:off x="3886200" y="2077245"/>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744.5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8.0294×</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37" name="ZhiV_s_sc"/>
              <p:cNvSpPr txBox="1">
                <a:spLocks noRot="1" noChangeAspect="1" noMove="1" noResize="1" noEditPoints="1" noAdjustHandles="1" noChangeArrowheads="1" noChangeShapeType="1" noTextEdit="1"/>
              </p:cNvSpPr>
              <p:nvPr/>
            </p:nvSpPr>
            <p:spPr>
              <a:xfrm>
                <a:off x="3886200" y="2077245"/>
                <a:ext cx="3233712" cy="256032"/>
              </a:xfrm>
              <a:prstGeom prst="rect">
                <a:avLst/>
              </a:prstGeom>
              <a:blipFill>
                <a:blip r:embed="rId28"/>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ZhiV_s_nmae">
                <a:extLst>
                  <a:ext uri="{FF2B5EF4-FFF2-40B4-BE49-F238E27FC236}">
                    <a16:creationId xmlns:a16="http://schemas.microsoft.com/office/drawing/2014/main" id="{0E47CCE1-4504-404E-836B-C65D993B87CC}"/>
                  </a:ext>
                </a:extLst>
              </p:cNvPr>
              <p:cNvSpPr txBox="1"/>
              <p:nvPr/>
            </p:nvSpPr>
            <p:spPr>
              <a:xfrm>
                <a:off x="7874000" y="889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38" name="ZhiV_s_nmae">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7874000" y="889000"/>
                <a:ext cx="4191000" cy="549509"/>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ZhiV_e_mat"/>
              <p:cNvSpPr txBox="1"/>
              <p:nvPr/>
            </p:nvSpPr>
            <p:spPr>
              <a:xfrm>
                <a:off x="3810000" y="2895600"/>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−0.1783</m:t>
                                </m:r>
                              </m:e>
                              <m:e>
                                <m:r>
                                  <a:rPr lang="en-US" sz="900" b="0" i="0">
                                    <a:latin typeface="Cambria Math" panose="02040503050406030204" pitchFamily="18" charset="0"/>
                                  </a:rPr>
                                  <m:t>−0.1746</m:t>
                                </m:r>
                              </m:e>
                              <m:e>
                                <m:r>
                                  <a:rPr lang="en-US" sz="900" b="0" i="0">
                                    <a:latin typeface="Cambria Math" panose="02040503050406030204" pitchFamily="18" charset="0"/>
                                  </a:rPr>
                                  <m:t>−0.0627</m:t>
                                </m:r>
                              </m:e>
                              <m:e>
                                <m:r>
                                  <a:rPr lang="en-US" sz="900" b="0" i="0">
                                    <a:latin typeface="Cambria Math" panose="02040503050406030204" pitchFamily="18" charset="0"/>
                                  </a:rPr>
                                  <m:t>−0.0627</m:t>
                                </m:r>
                              </m:e>
                              <m:e>
                                <m:r>
                                  <a:rPr lang="en-US" sz="900" b="0" i="0">
                                    <a:latin typeface="Cambria Math" panose="02040503050406030204" pitchFamily="18" charset="0"/>
                                  </a:rPr>
                                  <m:t>−0.1743</m:t>
                                </m:r>
                              </m:e>
                            </m:mr>
                            <m:mr>
                              <m:e>
                                <m:r>
                                  <a:rPr lang="en-US" sz="900" b="0" i="0">
                                    <a:latin typeface="Cambria Math" panose="02040503050406030204" pitchFamily="18" charset="0"/>
                                  </a:rPr>
                                  <m:t>−0.1608</m:t>
                                </m:r>
                              </m:e>
                              <m:e>
                                <m:r>
                                  <a:rPr lang="en-US" sz="900" b="0" i="0">
                                    <a:latin typeface="Cambria Math" panose="02040503050406030204" pitchFamily="18" charset="0"/>
                                  </a:rPr>
                                  <m:t>0.8553</m:t>
                                </m:r>
                              </m:e>
                              <m:e>
                                <m:r>
                                  <a:rPr lang="en-US" sz="900" b="0" i="0">
                                    <a:latin typeface="Cambria Math" panose="02040503050406030204" pitchFamily="18" charset="0"/>
                                  </a:rPr>
                                  <m:t>−0.0403</m:t>
                                </m:r>
                              </m:e>
                              <m:e>
                                <m:r>
                                  <a:rPr lang="en-US" sz="900" b="0" i="0">
                                    <a:latin typeface="Cambria Math" panose="02040503050406030204" pitchFamily="18" charset="0"/>
                                  </a:rPr>
                                  <m:t>−0.1553</m:t>
                                </m:r>
                              </m:e>
                              <m:e>
                                <m:r>
                                  <a:rPr lang="en-US" sz="900" b="0" i="0">
                                    <a:latin typeface="Cambria Math" panose="02040503050406030204" pitchFamily="18" charset="0"/>
                                  </a:rPr>
                                  <m:t>−0.1557</m:t>
                                </m:r>
                              </m:e>
                              <m:e>
                                <m:r>
                                  <a:rPr lang="en-US" sz="900" b="0" i="0">
                                    <a:latin typeface="Cambria Math" panose="02040503050406030204" pitchFamily="18" charset="0"/>
                                  </a:rPr>
                                  <m:t>−0.0386</m:t>
                                </m:r>
                              </m:e>
                            </m:mr>
                            <m:mr>
                              <m:e>
                                <m:r>
                                  <a:rPr lang="en-US" sz="900" b="0" i="0">
                                    <a:latin typeface="Cambria Math" panose="02040503050406030204" pitchFamily="18" charset="0"/>
                                  </a:rPr>
                                  <m:t>−0.1770</m:t>
                                </m:r>
                              </m:e>
                              <m:e>
                                <m:r>
                                  <a:rPr lang="en-US" sz="900" b="0" i="0">
                                    <a:latin typeface="Cambria Math" panose="02040503050406030204" pitchFamily="18" charset="0"/>
                                  </a:rPr>
                                  <m:t>−0.0639</m:t>
                                </m:r>
                              </m:e>
                              <m:e>
                                <m:r>
                                  <a:rPr lang="en-US" sz="900" b="0" i="0">
                                    <a:latin typeface="Cambria Math" panose="02040503050406030204" pitchFamily="18" charset="0"/>
                                  </a:rPr>
                                  <m:t>0.8376</m:t>
                                </m:r>
                              </m:e>
                              <m:e>
                                <m:r>
                                  <a:rPr lang="en-US" sz="900" b="0" i="0">
                                    <a:latin typeface="Cambria Math" panose="02040503050406030204" pitchFamily="18" charset="0"/>
                                  </a:rPr>
                                  <m:t>−0.1817</m:t>
                                </m:r>
                              </m:e>
                              <m:e>
                                <m:r>
                                  <a:rPr lang="en-US" sz="900" b="0" i="0">
                                    <a:latin typeface="Cambria Math" panose="02040503050406030204" pitchFamily="18" charset="0"/>
                                  </a:rPr>
                                  <m:t>−0.0660</m:t>
                                </m:r>
                              </m:e>
                              <m:e>
                                <m:r>
                                  <a:rPr lang="en-US" sz="900" b="0" i="0">
                                    <a:latin typeface="Cambria Math" panose="02040503050406030204" pitchFamily="18" charset="0"/>
                                  </a:rPr>
                                  <m:t>−0.1781</m:t>
                                </m:r>
                              </m:e>
                            </m:mr>
                            <m:mr>
                              <m:e>
                                <m:r>
                                  <a:rPr lang="en-US" sz="900" b="0" i="0">
                                    <a:latin typeface="Cambria Math" panose="02040503050406030204" pitchFamily="18" charset="0"/>
                                  </a:rPr>
                                  <m:t>−0.0393</m:t>
                                </m:r>
                              </m:e>
                              <m:e>
                                <m:r>
                                  <a:rPr lang="en-US" sz="900" b="0" i="0">
                                    <a:latin typeface="Cambria Math" panose="02040503050406030204" pitchFamily="18" charset="0"/>
                                  </a:rPr>
                                  <m:t>−0.1562</m:t>
                                </m:r>
                              </m:e>
                              <m:e>
                                <m:r>
                                  <a:rPr lang="en-US" sz="900" b="0" i="0">
                                    <a:latin typeface="Cambria Math" panose="02040503050406030204" pitchFamily="18" charset="0"/>
                                  </a:rPr>
                                  <m:t>−0.1611</m:t>
                                </m:r>
                              </m:e>
                              <m:e>
                                <m:r>
                                  <a:rPr lang="en-US" sz="900" b="0" i="0">
                                    <a:latin typeface="Cambria Math" panose="02040503050406030204" pitchFamily="18" charset="0"/>
                                  </a:rPr>
                                  <m:t>0.8583</m:t>
                                </m:r>
                              </m:e>
                              <m:e>
                                <m:r>
                                  <a:rPr lang="en-US" sz="900" b="0" i="0">
                                    <a:latin typeface="Cambria Math" panose="02040503050406030204" pitchFamily="18" charset="0"/>
                                  </a:rPr>
                                  <m:t>−0.1558</m:t>
                                </m:r>
                              </m:e>
                              <m:e>
                                <m:r>
                                  <a:rPr lang="en-US" sz="900" b="0" i="0">
                                    <a:latin typeface="Cambria Math" panose="02040503050406030204" pitchFamily="18" charset="0"/>
                                  </a:rPr>
                                  <m:t>−0.0398</m:t>
                                </m:r>
                              </m:e>
                            </m:mr>
                            <m:mr>
                              <m:e>
                                <m:r>
                                  <a:rPr lang="en-US" sz="900" b="0" i="0">
                                    <a:latin typeface="Cambria Math" panose="02040503050406030204" pitchFamily="18" charset="0"/>
                                  </a:rPr>
                                  <m:t>−0.0403</m:t>
                                </m:r>
                              </m:e>
                              <m:e>
                                <m:r>
                                  <a:rPr lang="en-US" sz="900" b="0" i="0">
                                    <a:latin typeface="Cambria Math" panose="02040503050406030204" pitchFamily="18" charset="0"/>
                                  </a:rPr>
                                  <m:t>−0.1564</m:t>
                                </m:r>
                              </m:e>
                              <m:e>
                                <m:r>
                                  <a:rPr lang="en-US" sz="900" b="0" i="0">
                                    <a:latin typeface="Cambria Math" panose="02040503050406030204" pitchFamily="18" charset="0"/>
                                  </a:rPr>
                                  <m:t>−0.0402</m:t>
                                </m:r>
                              </m:e>
                              <m:e>
                                <m:r>
                                  <a:rPr lang="en-US" sz="900" b="0" i="0">
                                    <a:latin typeface="Cambria Math" panose="02040503050406030204" pitchFamily="18" charset="0"/>
                                  </a:rPr>
                                  <m:t>−0.1564</m:t>
                                </m:r>
                              </m:e>
                              <m:e>
                                <m:r>
                                  <a:rPr lang="en-US" sz="900" b="0" i="0">
                                    <a:latin typeface="Cambria Math" panose="02040503050406030204" pitchFamily="18" charset="0"/>
                                  </a:rPr>
                                  <m:t>0.8619</m:t>
                                </m:r>
                              </m:e>
                              <m:e>
                                <m:r>
                                  <a:rPr lang="en-US" sz="900" b="0" i="0">
                                    <a:latin typeface="Cambria Math" panose="02040503050406030204" pitchFamily="18" charset="0"/>
                                  </a:rPr>
                                  <m:t>−0.1614</m:t>
                                </m:r>
                              </m:e>
                            </m:mr>
                            <m:mr>
                              <m:e>
                                <m:r>
                                  <a:rPr lang="en-US" sz="900" b="0" i="0">
                                    <a:latin typeface="Cambria Math" panose="02040503050406030204" pitchFamily="18" charset="0"/>
                                  </a:rPr>
                                  <m:t>−0.1757</m:t>
                                </m:r>
                              </m:e>
                              <m:e>
                                <m:r>
                                  <a:rPr lang="en-US" sz="900" b="0" i="0">
                                    <a:latin typeface="Cambria Math" panose="02040503050406030204" pitchFamily="18" charset="0"/>
                                  </a:rPr>
                                  <m:t>−0.0638</m:t>
                                </m:r>
                              </m:e>
                              <m:e>
                                <m:r>
                                  <a:rPr lang="en-US" sz="900" b="0" i="0">
                                    <a:latin typeface="Cambria Math" panose="02040503050406030204" pitchFamily="18" charset="0"/>
                                  </a:rPr>
                                  <m:t>−0.1773</m:t>
                                </m:r>
                              </m:e>
                              <m:e>
                                <m:r>
                                  <a:rPr lang="en-US" sz="900" b="0" i="0">
                                    <a:latin typeface="Cambria Math" panose="02040503050406030204" pitchFamily="18" charset="0"/>
                                  </a:rPr>
                                  <m:t>−0.0646</m:t>
                                </m:r>
                              </m:e>
                              <m:e>
                                <m:r>
                                  <a:rPr lang="en-US" sz="900" b="0" i="0">
                                    <a:latin typeface="Cambria Math" panose="02040503050406030204" pitchFamily="18" charset="0"/>
                                  </a:rPr>
                                  <m:t>−0.1805</m:t>
                                </m:r>
                              </m:e>
                              <m:e>
                                <m:r>
                                  <a:rPr lang="en-US" sz="900" b="0" i="0">
                                    <a:latin typeface="Cambria Math" panose="02040503050406030204" pitchFamily="18" charset="0"/>
                                  </a:rPr>
                                  <m:t>0.8342</m:t>
                                </m:r>
                              </m:e>
                            </m:mr>
                          </m:m>
                        </m:e>
                      </m:d>
                    </m:oMath>
                  </m:oMathPara>
                </a14:m>
                <a:endParaRPr lang="en-US" sz="900" dirty="0"/>
              </a:p>
            </p:txBody>
          </p:sp>
        </mc:Choice>
        <mc:Fallback xmlns="">
          <p:sp>
            <p:nvSpPr>
              <p:cNvPr id="39" name="ZhiV_e_mat"/>
              <p:cNvSpPr txBox="1">
                <a:spLocks noRot="1" noChangeAspect="1" noMove="1" noResize="1" noEditPoints="1" noAdjustHandles="1" noChangeArrowheads="1" noChangeShapeType="1" noTextEdit="1"/>
              </p:cNvSpPr>
              <p:nvPr/>
            </p:nvSpPr>
            <p:spPr>
              <a:xfrm>
                <a:off x="3810000" y="2895600"/>
                <a:ext cx="3556000" cy="868680"/>
              </a:xfrm>
              <a:prstGeom prst="rect">
                <a:avLst/>
              </a:prstGeom>
              <a:blipFill>
                <a:blip r:embed="rId3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hiV_e_bias"/>
              <p:cNvSpPr txBox="1"/>
              <p:nvPr/>
            </p:nvSpPr>
            <p:spPr>
              <a:xfrm>
                <a:off x="3810000" y="3822700"/>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−0.0008</m:t>
                                </m:r>
                              </m:e>
                              <m:e>
                                <m:r>
                                  <a:rPr lang="en-US" sz="900" b="0" i="0">
                                    <a:latin typeface="Cambria Math" panose="02040503050406030204" pitchFamily="18" charset="0"/>
                                  </a:rPr>
                                  <m:t>0.0013</m:t>
                                </m:r>
                              </m:e>
                              <m:e>
                                <m:r>
                                  <a:rPr lang="en-US" sz="900" b="0" i="0">
                                    <a:latin typeface="Cambria Math" panose="02040503050406030204" pitchFamily="18" charset="0"/>
                                  </a:rPr>
                                  <m:t>−0.2149</m:t>
                                </m:r>
                              </m:e>
                              <m:e>
                                <m:r>
                                  <a:rPr lang="en-US" sz="900" b="0" i="0">
                                    <a:latin typeface="Cambria Math" panose="02040503050406030204" pitchFamily="18" charset="0"/>
                                  </a:rPr>
                                  <m:t>0.2140</m:t>
                                </m:r>
                              </m:e>
                              <m:e>
                                <m:r>
                                  <a:rPr lang="en-US" sz="900" b="0" i="0">
                                    <a:latin typeface="Cambria Math" panose="02040503050406030204" pitchFamily="18" charset="0"/>
                                  </a:rPr>
                                  <m:t>0.2148</m:t>
                                </m:r>
                              </m:e>
                              <m:e>
                                <m:r>
                                  <a:rPr lang="en-US" sz="900" b="0" i="0">
                                    <a:latin typeface="Cambria Math" panose="02040503050406030204" pitchFamily="18" charset="0"/>
                                  </a:rPr>
                                  <m:t>−0.2140</m:t>
                                </m:r>
                              </m:e>
                            </m:mr>
                            <m:mr>
                              <m:e>
                                <m:r>
                                  <a:rPr lang="en-US" sz="900" b="0" i="0">
                                    <a:latin typeface="Cambria Math" panose="02040503050406030204" pitchFamily="18" charset="0"/>
                                  </a:rPr>
                                  <m:t>−0.2137</m:t>
                                </m:r>
                              </m:e>
                              <m:e>
                                <m:r>
                                  <a:rPr lang="en-US" sz="900" b="0" i="0">
                                    <a:latin typeface="Cambria Math" panose="02040503050406030204" pitchFamily="18" charset="0"/>
                                  </a:rPr>
                                  <m:t>0.2139</m:t>
                                </m:r>
                              </m:e>
                              <m:e>
                                <m:r>
                                  <a:rPr lang="en-US" sz="900" b="0" i="0">
                                    <a:latin typeface="Cambria Math" panose="02040503050406030204" pitchFamily="18" charset="0"/>
                                  </a:rPr>
                                  <m:t>0.0011</m:t>
                                </m:r>
                              </m:e>
                              <m:e>
                                <m:r>
                                  <a:rPr lang="en-US" sz="900" b="0" i="0">
                                    <a:latin typeface="Cambria Math" panose="02040503050406030204" pitchFamily="18" charset="0"/>
                                  </a:rPr>
                                  <m:t>0.0002</m:t>
                                </m:r>
                              </m:e>
                              <m:e>
                                <m:r>
                                  <a:rPr lang="en-US" sz="900" b="0" i="0">
                                    <a:latin typeface="Cambria Math" panose="02040503050406030204" pitchFamily="18" charset="0"/>
                                  </a:rPr>
                                  <m:t>0.2156</m:t>
                                </m:r>
                              </m:e>
                              <m:e>
                                <m:r>
                                  <a:rPr lang="en-US" sz="900" b="0" i="0">
                                    <a:latin typeface="Cambria Math" panose="02040503050406030204" pitchFamily="18" charset="0"/>
                                  </a:rPr>
                                  <m:t>−0.2138</m:t>
                                </m:r>
                              </m:e>
                            </m:mr>
                            <m:mr>
                              <m:e>
                                <m:r>
                                  <a:rPr lang="en-US" sz="900" b="0" i="0">
                                    <a:latin typeface="Cambria Math" panose="02040503050406030204" pitchFamily="18" charset="0"/>
                                  </a:rPr>
                                  <m:t>0.2136</m:t>
                                </m:r>
                              </m:e>
                              <m:e>
                                <m:r>
                                  <a:rPr lang="en-US" sz="900" b="0" i="0">
                                    <a:latin typeface="Cambria Math" panose="02040503050406030204" pitchFamily="18" charset="0"/>
                                  </a:rPr>
                                  <m:t>−0.2143</m:t>
                                </m:r>
                              </m:e>
                              <m:e>
                                <m:r>
                                  <a:rPr lang="en-US" sz="900" b="0" i="0">
                                    <a:latin typeface="Cambria Math" panose="02040503050406030204" pitchFamily="18" charset="0"/>
                                  </a:rPr>
                                  <m:t>0.2143</m:t>
                                </m:r>
                              </m:e>
                              <m:e>
                                <m:r>
                                  <a:rPr lang="en-US" sz="900" b="0" i="0">
                                    <a:latin typeface="Cambria Math" panose="02040503050406030204" pitchFamily="18" charset="0"/>
                                  </a:rPr>
                                  <m:t>−0.2150</m:t>
                                </m:r>
                              </m:e>
                              <m:e>
                                <m:r>
                                  <a:rPr lang="en-US" sz="900" b="0" i="0">
                                    <a:latin typeface="Cambria Math" panose="02040503050406030204" pitchFamily="18" charset="0"/>
                                  </a:rPr>
                                  <m:t>0.0009</m:t>
                                </m:r>
                              </m:e>
                              <m:e>
                                <m:r>
                                  <a:rPr lang="en-US" sz="900" b="0" i="0">
                                    <a:latin typeface="Cambria Math" panose="02040503050406030204" pitchFamily="18" charset="0"/>
                                  </a:rPr>
                                  <m:t>−0.0003</m:t>
                                </m:r>
                              </m:e>
                            </m:mr>
                          </m:m>
                        </m:e>
                      </m:d>
                    </m:oMath>
                  </m:oMathPara>
                </a14:m>
                <a:endParaRPr lang="en-US" sz="900" dirty="0"/>
              </a:p>
            </p:txBody>
          </p:sp>
        </mc:Choice>
        <mc:Fallback xmlns="">
          <p:sp>
            <p:nvSpPr>
              <p:cNvPr id="40" name="ZhiV_e_bias"/>
              <p:cNvSpPr txBox="1">
                <a:spLocks noRot="1" noChangeAspect="1" noMove="1" noResize="1" noEditPoints="1" noAdjustHandles="1" noChangeArrowheads="1" noChangeShapeType="1" noTextEdit="1"/>
              </p:cNvSpPr>
              <p:nvPr/>
            </p:nvSpPr>
            <p:spPr>
              <a:xfrm>
                <a:off x="3810000" y="3822700"/>
                <a:ext cx="3632200" cy="457200"/>
              </a:xfrm>
              <a:prstGeom prst="rect">
                <a:avLst/>
              </a:prstGeom>
              <a:blipFill>
                <a:blip r:embed="rId31"/>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hiV_e_sc"/>
              <p:cNvSpPr txBox="1"/>
              <p:nvPr/>
            </p:nvSpPr>
            <p:spPr>
              <a:xfrm>
                <a:off x="3810000" y="43307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597.6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8.5290×</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41" name="ZhiV_e_sc"/>
              <p:cNvSpPr txBox="1">
                <a:spLocks noRot="1" noChangeAspect="1" noMove="1" noResize="1" noEditPoints="1" noAdjustHandles="1" noChangeArrowheads="1" noChangeShapeType="1" noTextEdit="1"/>
              </p:cNvSpPr>
              <p:nvPr/>
            </p:nvSpPr>
            <p:spPr>
              <a:xfrm>
                <a:off x="3810000" y="4330700"/>
                <a:ext cx="3556000" cy="256032"/>
              </a:xfrm>
              <a:prstGeom prst="rect">
                <a:avLst/>
              </a:prstGeom>
              <a:blipFill>
                <a:blip r:embed="rId32"/>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hiV_e_nmae">
                <a:extLst>
                  <a:ext uri="{FF2B5EF4-FFF2-40B4-BE49-F238E27FC236}">
                    <a16:creationId xmlns:a16="http://schemas.microsoft.com/office/drawing/2014/main" id="{EBA49798-FF6E-40E0-BBA9-161C19277A44}"/>
                  </a:ext>
                </a:extLst>
              </p:cNvPr>
              <p:cNvSpPr txBox="1"/>
              <p:nvPr/>
            </p:nvSpPr>
            <p:spPr>
              <a:xfrm>
                <a:off x="7874000" y="28956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42" name="ZhiV_e_nmae">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7874000" y="2895600"/>
                <a:ext cx="4191000" cy="549509"/>
              </a:xfrm>
              <a:prstGeom prst="rect">
                <a:avLst/>
              </a:prstGeom>
              <a:blipFill>
                <a:blip r:embed="rId33"/>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hiV_V"/>
              <p:cNvSpPr txBox="1"/>
              <p:nvPr/>
            </p:nvSpPr>
            <p:spPr>
              <a:xfrm>
                <a:off x="4267200" y="4707408"/>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4057.0198</m:t>
                                </m:r>
                              </m:e>
                              <m:e>
                                <m:r>
                                  <a:rPr lang="en-US" sz="1050" b="0" i="0">
                                    <a:latin typeface="Cambria Math" panose="02040503050406030204" pitchFamily="18" charset="0"/>
                                  </a:rPr>
                                  <m:t>−203.7635</m:t>
                                </m:r>
                              </m:e>
                              <m:e>
                                <m:r>
                                  <a:rPr lang="en-US" sz="1050" b="0" i="0">
                                    <a:latin typeface="Cambria Math" panose="02040503050406030204" pitchFamily="18" charset="0"/>
                                  </a:rPr>
                                  <m:t>−230.3685</m:t>
                                </m:r>
                              </m:e>
                              <m:e>
                                <m:r>
                                  <a:rPr lang="en-US" sz="1050" b="0" i="0">
                                    <a:latin typeface="Cambria Math" panose="02040503050406030204" pitchFamily="18" charset="0"/>
                                  </a:rPr>
                                  <m:t>−1019.0765</m:t>
                                </m:r>
                              </m:e>
                              <m:e>
                                <m:r>
                                  <a:rPr lang="en-US" sz="1050" b="0" i="0">
                                    <a:latin typeface="Cambria Math" panose="02040503050406030204" pitchFamily="18" charset="0"/>
                                  </a:rPr>
                                  <m:t>−1019.5890</m:t>
                                </m:r>
                              </m:e>
                              <m:e>
                                <m:r>
                                  <a:rPr lang="en-US" sz="1050" b="0" i="0">
                                    <a:latin typeface="Cambria Math" panose="02040503050406030204" pitchFamily="18" charset="0"/>
                                  </a:rPr>
                                  <m:t>−230.5135</m:t>
                                </m:r>
                              </m:e>
                            </m:mr>
                            <m:mr>
                              <m:e>
                                <m:r>
                                  <a:rPr lang="en-US" sz="1050" b="0" i="0">
                                    <a:latin typeface="Cambria Math" panose="02040503050406030204" pitchFamily="18" charset="0"/>
                                  </a:rPr>
                                  <m:t>−236.4145</m:t>
                                </m:r>
                              </m:e>
                              <m:e>
                                <m:r>
                                  <a:rPr lang="en-US" sz="1050" b="0" i="0">
                                    <a:latin typeface="Cambria Math" panose="02040503050406030204" pitchFamily="18" charset="0"/>
                                  </a:rPr>
                                  <m:t>3989.6282</m:t>
                                </m:r>
                              </m:e>
                              <m:e>
                                <m:r>
                                  <a:rPr lang="en-US" sz="1050" b="0" i="0">
                                    <a:latin typeface="Cambria Math" panose="02040503050406030204" pitchFamily="18" charset="0"/>
                                  </a:rPr>
                                  <m:t>−1076.6144</m:t>
                                </m:r>
                              </m:e>
                              <m:e>
                                <m:r>
                                  <a:rPr lang="en-US" sz="1050" b="0" i="0">
                                    <a:latin typeface="Cambria Math" panose="02040503050406030204" pitchFamily="18" charset="0"/>
                                  </a:rPr>
                                  <m:t>−268.5929</m:t>
                                </m:r>
                              </m:e>
                              <m:e>
                                <m:r>
                                  <a:rPr lang="en-US" sz="1050" b="0" i="0">
                                    <a:latin typeface="Cambria Math" panose="02040503050406030204" pitchFamily="18" charset="0"/>
                                  </a:rPr>
                                  <m:t>−268.2199</m:t>
                                </m:r>
                              </m:e>
                              <m:e>
                                <m:r>
                                  <a:rPr lang="en-US" sz="1050" b="0" i="0">
                                    <a:latin typeface="Cambria Math" panose="02040503050406030204" pitchFamily="18" charset="0"/>
                                  </a:rPr>
                                  <m:t>−1080.4810</m:t>
                                </m:r>
                              </m:e>
                            </m:mr>
                            <m:mr>
                              <m:e>
                                <m:r>
                                  <a:rPr lang="en-US" sz="1050" b="0" i="0">
                                    <a:latin typeface="Cambria Math" panose="02040503050406030204" pitchFamily="18" charset="0"/>
                                  </a:rPr>
                                  <m:t>−251.1851</m:t>
                                </m:r>
                              </m:e>
                              <m:e>
                                <m:r>
                                  <a:rPr lang="en-US" sz="1050" b="0" i="0">
                                    <a:latin typeface="Cambria Math" panose="02040503050406030204" pitchFamily="18" charset="0"/>
                                  </a:rPr>
                                  <m:t>−1066.3534</m:t>
                                </m:r>
                              </m:e>
                              <m:e>
                                <m:r>
                                  <a:rPr lang="en-US" sz="1050" b="0" i="0">
                                    <a:latin typeface="Cambria Math" panose="02040503050406030204" pitchFamily="18" charset="0"/>
                                  </a:rPr>
                                  <m:t>3605.6212</m:t>
                                </m:r>
                              </m:e>
                              <m:e>
                                <m:r>
                                  <a:rPr lang="en-US" sz="1050" b="0" i="0">
                                    <a:latin typeface="Cambria Math" panose="02040503050406030204" pitchFamily="18" charset="0"/>
                                  </a:rPr>
                                  <m:t>−169.1917</m:t>
                                </m:r>
                              </m:e>
                              <m:e>
                                <m:r>
                                  <a:rPr lang="en-US" sz="1050" b="0" i="0">
                                    <a:latin typeface="Cambria Math" panose="02040503050406030204" pitchFamily="18" charset="0"/>
                                  </a:rPr>
                                  <m:t>−884.8638</m:t>
                                </m:r>
                              </m:e>
                              <m:e>
                                <m:r>
                                  <a:rPr lang="en-US" sz="1050" b="0" i="0">
                                    <a:latin typeface="Cambria Math" panose="02040503050406030204" pitchFamily="18" charset="0"/>
                                  </a:rPr>
                                  <m:t>−272.1343</m:t>
                                </m:r>
                              </m:e>
                            </m:mr>
                            <m:mr>
                              <m:e>
                                <m:r>
                                  <a:rPr lang="en-US" sz="1050" b="0" i="0">
                                    <a:latin typeface="Cambria Math" panose="02040503050406030204" pitchFamily="18" charset="0"/>
                                  </a:rPr>
                                  <m:t>−1126.6398</m:t>
                                </m:r>
                              </m:e>
                              <m:e>
                                <m:r>
                                  <a:rPr lang="en-US" sz="1050" b="0" i="0">
                                    <a:latin typeface="Cambria Math" panose="02040503050406030204" pitchFamily="18" charset="0"/>
                                  </a:rPr>
                                  <m:t>−292.2599</m:t>
                                </m:r>
                              </m:e>
                              <m:e>
                                <m:r>
                                  <a:rPr lang="en-US" sz="1050" b="0" i="0">
                                    <a:latin typeface="Cambria Math" panose="02040503050406030204" pitchFamily="18" charset="0"/>
                                  </a:rPr>
                                  <m:t>−209.1224</m:t>
                                </m:r>
                              </m:e>
                              <m:e>
                                <m:r>
                                  <a:rPr lang="en-US" sz="1050" b="0" i="0">
                                    <a:latin typeface="Cambria Math" panose="02040503050406030204" pitchFamily="18" charset="0"/>
                                  </a:rPr>
                                  <m:t>3546.9067</m:t>
                                </m:r>
                              </m:e>
                              <m:e>
                                <m:r>
                                  <a:rPr lang="en-US" sz="1050" b="0" i="0">
                                    <a:latin typeface="Cambria Math" panose="02040503050406030204" pitchFamily="18" charset="0"/>
                                  </a:rPr>
                                  <m:t>−315.8605</m:t>
                                </m:r>
                              </m:e>
                              <m:e>
                                <m:r>
                                  <a:rPr lang="en-US" sz="1050" b="0" i="0">
                                    <a:latin typeface="Cambria Math" panose="02040503050406030204" pitchFamily="18" charset="0"/>
                                  </a:rPr>
                                  <m:t>−949.8581</m:t>
                                </m:r>
                              </m:e>
                            </m:mr>
                            <m:mr>
                              <m:e>
                                <m:r>
                                  <a:rPr lang="en-US" sz="1050" b="0" i="0">
                                    <a:latin typeface="Cambria Math" panose="02040503050406030204" pitchFamily="18" charset="0"/>
                                  </a:rPr>
                                  <m:t>−1122.0742</m:t>
                                </m:r>
                              </m:e>
                              <m:e>
                                <m:r>
                                  <a:rPr lang="en-US" sz="1050" b="0" i="0">
                                    <a:latin typeface="Cambria Math" panose="02040503050406030204" pitchFamily="18" charset="0"/>
                                  </a:rPr>
                                  <m:t>−292.3009</m:t>
                                </m:r>
                              </m:e>
                              <m:e>
                                <m:r>
                                  <a:rPr lang="en-US" sz="1050" b="0" i="0">
                                    <a:latin typeface="Cambria Math" panose="02040503050406030204" pitchFamily="18" charset="0"/>
                                  </a:rPr>
                                  <m:t>−946.5692</m:t>
                                </m:r>
                              </m:e>
                              <m:e>
                                <m:r>
                                  <a:rPr lang="en-US" sz="1050" b="0" i="0">
                                    <a:latin typeface="Cambria Math" panose="02040503050406030204" pitchFamily="18" charset="0"/>
                                  </a:rPr>
                                  <m:t>−314.8956</m:t>
                                </m:r>
                              </m:e>
                              <m:e>
                                <m:r>
                                  <a:rPr lang="en-US" sz="1050" b="0" i="0">
                                    <a:latin typeface="Cambria Math" panose="02040503050406030204" pitchFamily="18" charset="0"/>
                                  </a:rPr>
                                  <m:t>3537.2584</m:t>
                                </m:r>
                              </m:e>
                              <m:e>
                                <m:r>
                                  <a:rPr lang="en-US" sz="1050" b="0" i="0">
                                    <a:latin typeface="Cambria Math" panose="02040503050406030204" pitchFamily="18" charset="0"/>
                                  </a:rPr>
                                  <m:t>−208.6201</m:t>
                                </m:r>
                              </m:e>
                            </m:mr>
                            <m:mr>
                              <m:e>
                                <m:r>
                                  <a:rPr lang="en-US" sz="1050" b="0" i="0">
                                    <a:latin typeface="Cambria Math" panose="02040503050406030204" pitchFamily="18" charset="0"/>
                                  </a:rPr>
                                  <m:t>−253.8340</m:t>
                                </m:r>
                              </m:e>
                              <m:e>
                                <m:r>
                                  <a:rPr lang="en-US" sz="1050" b="0" i="0">
                                    <a:latin typeface="Cambria Math" panose="02040503050406030204" pitchFamily="18" charset="0"/>
                                  </a:rPr>
                                  <m:t>−1067.5789</m:t>
                                </m:r>
                              </m:e>
                              <m:e>
                                <m:r>
                                  <a:rPr lang="en-US" sz="1050" b="0" i="0">
                                    <a:latin typeface="Cambria Math" panose="02040503050406030204" pitchFamily="18" charset="0"/>
                                  </a:rPr>
                                  <m:t>−272.8701</m:t>
                                </m:r>
                              </m:e>
                              <m:e>
                                <m:r>
                                  <a:rPr lang="en-US" sz="1050" b="0" i="0">
                                    <a:latin typeface="Cambria Math" panose="02040503050406030204" pitchFamily="18" charset="0"/>
                                  </a:rPr>
                                  <m:t>−888.6158</m:t>
                                </m:r>
                              </m:e>
                              <m:e>
                                <m:r>
                                  <a:rPr lang="en-US" sz="1050" b="0" i="0">
                                    <a:latin typeface="Cambria Math" panose="02040503050406030204" pitchFamily="18" charset="0"/>
                                  </a:rPr>
                                  <m:t>−171.4135</m:t>
                                </m:r>
                              </m:e>
                              <m:e>
                                <m:r>
                                  <a:rPr lang="en-US" sz="1050" b="0" i="0">
                                    <a:latin typeface="Cambria Math" panose="02040503050406030204" pitchFamily="18" charset="0"/>
                                  </a:rPr>
                                  <m:t>3614.5865</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43" name="ZhiV_V"/>
              <p:cNvSpPr txBox="1">
                <a:spLocks noRot="1" noChangeAspect="1" noMove="1" noResize="1" noEditPoints="1" noAdjustHandles="1" noChangeArrowheads="1" noChangeShapeType="1" noTextEdit="1"/>
              </p:cNvSpPr>
              <p:nvPr/>
            </p:nvSpPr>
            <p:spPr>
              <a:xfrm>
                <a:off x="4267200" y="4707408"/>
                <a:ext cx="5192875" cy="947907"/>
              </a:xfrm>
              <a:prstGeom prst="rect">
                <a:avLst/>
              </a:prstGeom>
              <a:blipFill>
                <a:blip r:embed="rId34"/>
                <a:stretch>
                  <a:fillRect l="-5634" r="-493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2277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886200" y="6096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886200" y="2463800"/>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sp>
        <p:nvSpPr>
          <p:cNvPr id="34" name="auto caption"/>
          <p:cNvSpPr txBox="1"/>
          <p:nvPr/>
        </p:nvSpPr>
        <p:spPr>
          <a:xfrm>
            <a:off x="2886867" y="5711378"/>
            <a:ext cx="9353518" cy="1463040"/>
          </a:xfrm>
          <a:prstGeom prst="rect">
            <a:avLst/>
          </a:prstGeom>
          <a:noFill/>
        </p:spPr>
        <p:txBody>
          <a:bodyPr wrap="square" rtlCol="0">
            <a:normAutofit/>
          </a:bodyPr>
          <a:lstStyle/>
          <a:p>
            <a:pPr marL="285750" indent="-285750"/>
            <a:r>
              <a:rPr lang="en-US" altLang="zh-TW" sz="1100" dirty="0"/>
              <a:t>Moving the sensors further out along the pole flank leaves the field model completely untouched: the effective length, the charge-offset matrix and the fit error are identical to the closer mounting — and identical to the current-based results as well, since both reduce to the same transfer matrix. Only the voltage scale changes: further from the tip the leakage field is weaker, so the measured voltages drop and the voltage gain rises to compensate. This is structural rather than coincidental — the field model is fitted from the workspace field alone, and the sensor geometry enters only afterwards, when the excitation is re-expressed in volts. The predictive accuracy of the model is therefore independent of where the sensor is mounted, and the mounting position becomes a free design choice, bounded in practice only by keeping the sensor voltage within its linear range.</a:t>
            </a:r>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688638"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𝐷</m:t>
                          </m:r>
                        </m:e>
                      </m:acc>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688638" cy="321563"/>
              </a:xfrm>
              <a:prstGeom prst="rect">
                <a:avLst/>
              </a:prstGeom>
              <a:blipFill>
                <a:blip r:embed="rId26"/>
                <a:stretch>
                  <a:fillRect t="-15385" r="-3802" b="-25000"/>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AFA08EE3-1494-4C76-807D-ED76B51B21EA}"/>
              </a:ext>
            </a:extLst>
          </p:cNvPr>
          <p:cNvSpPr txBox="1"/>
          <p:nvPr/>
        </p:nvSpPr>
        <p:spPr>
          <a:xfrm>
            <a:off x="115648" y="381812"/>
            <a:ext cx="7042090"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Zhi</a:t>
            </a:r>
            <a:r>
              <a:rPr lang="en-US" altLang="zh-TW" dirty="0"/>
              <a:t> </a:t>
            </a:r>
            <a:r>
              <a:rPr lang="en-US" altLang="zh-TW" dirty="0" err="1"/>
              <a:t>peng</a:t>
            </a:r>
            <a:endParaRPr lang="zh-TW" altLang="en-US" dirty="0"/>
          </a:p>
        </p:txBody>
      </p:sp>
      <p:grpSp>
        <p:nvGrpSpPr>
          <p:cNvPr id="6" name="群組 5">
            <a:extLst>
              <a:ext uri="{FF2B5EF4-FFF2-40B4-BE49-F238E27FC236}">
                <a16:creationId xmlns:a16="http://schemas.microsoft.com/office/drawing/2014/main" id="{EDBE8CAF-3231-485B-8086-7E1780F80E56}"/>
              </a:ext>
            </a:extLst>
          </p:cNvPr>
          <p:cNvGrpSpPr/>
          <p:nvPr/>
        </p:nvGrpSpPr>
        <p:grpSpPr>
          <a:xfrm>
            <a:off x="49033" y="1071374"/>
            <a:ext cx="3404415" cy="1940352"/>
            <a:chOff x="49033" y="1071374"/>
            <a:chExt cx="3404415" cy="1940352"/>
          </a:xfrm>
        </p:grpSpPr>
        <p:pic>
          <p:nvPicPr>
            <p:cNvPr id="4" name="圖片 3">
              <a:extLst>
                <a:ext uri="{FF2B5EF4-FFF2-40B4-BE49-F238E27FC236}">
                  <a16:creationId xmlns:a16="http://schemas.microsoft.com/office/drawing/2014/main" id="{4B650DDA-5CE0-48BD-B87F-9C833F2B52C3}"/>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48301" y="1165691"/>
              <a:ext cx="3105147" cy="1619687"/>
            </a:xfrm>
            <a:prstGeom prst="rect">
              <a:avLst/>
            </a:prstGeom>
          </p:spPr>
        </p:pic>
        <p:grpSp>
          <p:nvGrpSpPr>
            <p:cNvPr id="11" name="群組 10">
              <a:extLst>
                <a:ext uri="{FF2B5EF4-FFF2-40B4-BE49-F238E27FC236}">
                  <a16:creationId xmlns:a16="http://schemas.microsoft.com/office/drawing/2014/main" id="{F8B1ABB2-778A-49C9-AFA2-90D17FFE48E7}"/>
                </a:ext>
              </a:extLst>
            </p:cNvPr>
            <p:cNvGrpSpPr/>
            <p:nvPr/>
          </p:nvGrpSpPr>
          <p:grpSpPr>
            <a:xfrm>
              <a:off x="49033" y="1071374"/>
              <a:ext cx="2470711" cy="1940352"/>
              <a:chOff x="62717" y="758159"/>
              <a:chExt cx="2470711" cy="1940352"/>
            </a:xfrm>
          </p:grpSpPr>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426892" y="2422548"/>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426892" y="2422548"/>
                    <a:ext cx="1106536" cy="275963"/>
                  </a:xfrm>
                  <a:prstGeom prst="rect">
                    <a:avLst/>
                  </a:prstGeom>
                  <a:blipFill>
                    <a:blip r:embed="rId28"/>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532830" y="1353706"/>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532830" y="1353706"/>
                    <a:ext cx="1404535" cy="213442"/>
                  </a:xfrm>
                  <a:prstGeom prst="rect">
                    <a:avLst/>
                  </a:prstGeom>
                  <a:blipFill>
                    <a:blip r:embed="rId29"/>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a:off x="1711596" y="1916474"/>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a:off x="1711596" y="1916474"/>
                    <a:ext cx="503343" cy="246221"/>
                  </a:xfrm>
                  <a:prstGeom prst="rect">
                    <a:avLst/>
                  </a:prstGeom>
                  <a:blipFill>
                    <a:blip r:embed="rId30"/>
                    <a:stretch>
                      <a:fillRect l="-9756" r="-3659" b="-75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9516816-DB2F-4319-AF93-6ACA9E9B3324}"/>
                    </a:ext>
                  </a:extLst>
                </p:cNvPr>
                <p:cNvSpPr txBox="1"/>
                <p:nvPr/>
              </p:nvSpPr>
              <p:spPr>
                <a:xfrm rot="16200000">
                  <a:off x="2473788" y="1590900"/>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7" name="文字方塊 36">
                  <a:extLst>
                    <a:ext uri="{FF2B5EF4-FFF2-40B4-BE49-F238E27FC236}">
                      <a16:creationId xmlns:a16="http://schemas.microsoft.com/office/drawing/2014/main" id="{C9516816-DB2F-4319-AF93-6ACA9E9B3324}"/>
                    </a:ext>
                  </a:extLst>
                </p:cNvPr>
                <p:cNvSpPr txBox="1">
                  <a:spLocks noRot="1" noChangeAspect="1" noMove="1" noResize="1" noEditPoints="1" noAdjustHandles="1" noChangeArrowheads="1" noChangeShapeType="1" noTextEdit="1"/>
                </p:cNvSpPr>
                <p:nvPr/>
              </p:nvSpPr>
              <p:spPr>
                <a:xfrm rot="16200000">
                  <a:off x="2473788" y="1590900"/>
                  <a:ext cx="843092" cy="246221"/>
                </a:xfrm>
                <a:prstGeom prst="rect">
                  <a:avLst/>
                </a:prstGeom>
                <a:blipFill>
                  <a:blip r:embed="rId31"/>
                  <a:stretch>
                    <a:fillRect t="-4348" r="-7500" b="-7971"/>
                  </a:stretch>
                </a:blipFill>
              </p:spPr>
              <p:txBody>
                <a:bodyPr/>
                <a:lstStyle/>
                <a:p>
                  <a:r>
                    <a:rPr lang="zh-TW" altLang="en-US">
                      <a:noFill/>
                    </a:rPr>
                    <a:t> </a:t>
                  </a:r>
                </a:p>
              </p:txBody>
            </p:sp>
          </mc:Fallback>
        </mc:AlternateContent>
      </p:grpSp>
      <p:grpSp>
        <p:nvGrpSpPr>
          <p:cNvPr id="14" name="群組 13">
            <a:extLst>
              <a:ext uri="{FF2B5EF4-FFF2-40B4-BE49-F238E27FC236}">
                <a16:creationId xmlns:a16="http://schemas.microsoft.com/office/drawing/2014/main" id="{1AE0B706-6C1F-457D-828A-F070ADDA6F0A}"/>
              </a:ext>
            </a:extLst>
          </p:cNvPr>
          <p:cNvGrpSpPr/>
          <p:nvPr/>
        </p:nvGrpSpPr>
        <p:grpSpPr>
          <a:xfrm>
            <a:off x="1" y="3623201"/>
            <a:ext cx="3470381" cy="1862509"/>
            <a:chOff x="1" y="3623201"/>
            <a:chExt cx="3470381" cy="1862509"/>
          </a:xfrm>
        </p:grpSpPr>
        <p:pic>
          <p:nvPicPr>
            <p:cNvPr id="13" name="圖片 12">
              <a:extLst>
                <a:ext uri="{FF2B5EF4-FFF2-40B4-BE49-F238E27FC236}">
                  <a16:creationId xmlns:a16="http://schemas.microsoft.com/office/drawing/2014/main" id="{CC66E620-1E4C-4BAD-BF35-30FADDFC9A9D}"/>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311547" y="3623201"/>
              <a:ext cx="3158835" cy="1619686"/>
            </a:xfrm>
            <a:prstGeom prst="rect">
              <a:avLst/>
            </a:prstGeom>
          </p:spPr>
        </p:pic>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1A506A8A-1B51-4340-AC1F-0EE3486CD03D}"/>
                    </a:ext>
                  </a:extLst>
                </p:cNvPr>
                <p:cNvSpPr txBox="1"/>
                <p:nvPr/>
              </p:nvSpPr>
              <p:spPr>
                <a:xfrm>
                  <a:off x="1237176" y="520974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8" name="文字方塊 37">
                  <a:extLst>
                    <a:ext uri="{FF2B5EF4-FFF2-40B4-BE49-F238E27FC236}">
                      <a16:creationId xmlns:a16="http://schemas.microsoft.com/office/drawing/2014/main" id="{1A506A8A-1B51-4340-AC1F-0EE3486CD03D}"/>
                    </a:ext>
                  </a:extLst>
                </p:cNvPr>
                <p:cNvSpPr txBox="1">
                  <a:spLocks noRot="1" noChangeAspect="1" noMove="1" noResize="1" noEditPoints="1" noAdjustHandles="1" noChangeArrowheads="1" noChangeShapeType="1" noTextEdit="1"/>
                </p:cNvSpPr>
                <p:nvPr/>
              </p:nvSpPr>
              <p:spPr>
                <a:xfrm>
                  <a:off x="1237176" y="5209747"/>
                  <a:ext cx="1106536" cy="275963"/>
                </a:xfrm>
                <a:prstGeom prst="rect">
                  <a:avLst/>
                </a:prstGeom>
                <a:blipFill>
                  <a:blip r:embed="rId33"/>
                  <a:stretch>
                    <a:fillRect l="-5525" t="-2222"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E2B51E95-4C70-4D26-829F-B9F266D0C225}"/>
                    </a:ext>
                  </a:extLst>
                </p:cNvPr>
                <p:cNvSpPr txBox="1"/>
                <p:nvPr/>
              </p:nvSpPr>
              <p:spPr>
                <a:xfrm rot="16200000">
                  <a:off x="-595546" y="4314752"/>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9" name="文字方塊 38">
                  <a:extLst>
                    <a:ext uri="{FF2B5EF4-FFF2-40B4-BE49-F238E27FC236}">
                      <a16:creationId xmlns:a16="http://schemas.microsoft.com/office/drawing/2014/main" id="{E2B51E95-4C70-4D26-829F-B9F266D0C225}"/>
                    </a:ext>
                  </a:extLst>
                </p:cNvPr>
                <p:cNvSpPr txBox="1">
                  <a:spLocks noRot="1" noChangeAspect="1" noMove="1" noResize="1" noEditPoints="1" noAdjustHandles="1" noChangeArrowheads="1" noChangeShapeType="1" noTextEdit="1"/>
                </p:cNvSpPr>
                <p:nvPr/>
              </p:nvSpPr>
              <p:spPr>
                <a:xfrm rot="16200000">
                  <a:off x="-595546" y="4314752"/>
                  <a:ext cx="1404535" cy="213442"/>
                </a:xfrm>
                <a:prstGeom prst="rect">
                  <a:avLst/>
                </a:prstGeom>
                <a:blipFill>
                  <a:blip r:embed="rId34"/>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781B6EC5-6E0B-46B4-9B65-F12EB61AE203}"/>
                    </a:ext>
                  </a:extLst>
                </p:cNvPr>
                <p:cNvSpPr txBox="1"/>
                <p:nvPr/>
              </p:nvSpPr>
              <p:spPr>
                <a:xfrm>
                  <a:off x="1463133" y="373647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40" name="文字方塊 39">
                  <a:extLst>
                    <a:ext uri="{FF2B5EF4-FFF2-40B4-BE49-F238E27FC236}">
                      <a16:creationId xmlns:a16="http://schemas.microsoft.com/office/drawing/2014/main" id="{781B6EC5-6E0B-46B4-9B65-F12EB61AE203}"/>
                    </a:ext>
                  </a:extLst>
                </p:cNvPr>
                <p:cNvSpPr txBox="1">
                  <a:spLocks noRot="1" noChangeAspect="1" noMove="1" noResize="1" noEditPoints="1" noAdjustHandles="1" noChangeArrowheads="1" noChangeShapeType="1" noTextEdit="1"/>
                </p:cNvSpPr>
                <p:nvPr/>
              </p:nvSpPr>
              <p:spPr>
                <a:xfrm>
                  <a:off x="1463133" y="3736471"/>
                  <a:ext cx="503343" cy="246221"/>
                </a:xfrm>
                <a:prstGeom prst="rect">
                  <a:avLst/>
                </a:prstGeom>
                <a:blipFill>
                  <a:blip r:embed="rId35"/>
                  <a:stretch>
                    <a:fillRect l="-9639" r="-3614" b="-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CD5D392E-832D-4B27-8118-09316308AB80}"/>
                    </a:ext>
                  </a:extLst>
                </p:cNvPr>
                <p:cNvSpPr txBox="1"/>
                <p:nvPr/>
              </p:nvSpPr>
              <p:spPr>
                <a:xfrm rot="16200000">
                  <a:off x="604424" y="43980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.588</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41" name="文字方塊 40">
                  <a:extLst>
                    <a:ext uri="{FF2B5EF4-FFF2-40B4-BE49-F238E27FC236}">
                      <a16:creationId xmlns:a16="http://schemas.microsoft.com/office/drawing/2014/main" id="{CD5D392E-832D-4B27-8118-09316308AB80}"/>
                    </a:ext>
                  </a:extLst>
                </p:cNvPr>
                <p:cNvSpPr txBox="1">
                  <a:spLocks noRot="1" noChangeAspect="1" noMove="1" noResize="1" noEditPoints="1" noAdjustHandles="1" noChangeArrowheads="1" noChangeShapeType="1" noTextEdit="1"/>
                </p:cNvSpPr>
                <p:nvPr/>
              </p:nvSpPr>
              <p:spPr>
                <a:xfrm rot="16200000">
                  <a:off x="604424" y="4398096"/>
                  <a:ext cx="843092" cy="246221"/>
                </a:xfrm>
                <a:prstGeom prst="rect">
                  <a:avLst/>
                </a:prstGeom>
                <a:blipFill>
                  <a:blip r:embed="rId36"/>
                  <a:stretch>
                    <a:fillRect t="-5072" r="-7500" b="-724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2" name="ZhiV_s_mat"/>
              <p:cNvSpPr txBox="1"/>
              <p:nvPr/>
            </p:nvSpPr>
            <p:spPr>
              <a:xfrm>
                <a:off x="3810000" y="1041400"/>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−0.1619</m:t>
                                </m:r>
                              </m:e>
                              <m:e>
                                <m:r>
                                  <a:rPr lang="en-US" sz="900" b="0" i="0">
                                    <a:latin typeface="Cambria Math" panose="02040503050406030204" pitchFamily="18" charset="0"/>
                                  </a:rPr>
                                  <m:t>−0.2723</m:t>
                                </m:r>
                              </m:e>
                              <m:e>
                                <m:r>
                                  <a:rPr lang="en-US" sz="900" b="0" i="0">
                                    <a:latin typeface="Cambria Math" panose="02040503050406030204" pitchFamily="18" charset="0"/>
                                  </a:rPr>
                                  <m:t>−0.0000</m:t>
                                </m:r>
                              </m:e>
                              <m:e>
                                <m:r>
                                  <a:rPr lang="en-US" sz="900" b="0" i="0">
                                    <a:latin typeface="Cambria Math" panose="02040503050406030204" pitchFamily="18" charset="0"/>
                                  </a:rPr>
                                  <m:t>0.0012</m:t>
                                </m:r>
                              </m:e>
                              <m:e>
                                <m:r>
                                  <a:rPr lang="en-US" sz="900" b="0" i="0">
                                    <a:latin typeface="Cambria Math" panose="02040503050406030204" pitchFamily="18" charset="0"/>
                                  </a:rPr>
                                  <m:t>−0.2707</m:t>
                                </m:r>
                              </m:e>
                            </m:mr>
                            <m:mr>
                              <m:e>
                                <m:r>
                                  <a:rPr lang="en-US" sz="900" b="0" i="0">
                                    <a:latin typeface="Cambria Math" panose="02040503050406030204" pitchFamily="18" charset="0"/>
                                  </a:rPr>
                                  <m:t>−0.1525</m:t>
                                </m:r>
                              </m:e>
                              <m:e>
                                <m:r>
                                  <a:rPr lang="en-US" sz="900" b="0" i="0">
                                    <a:latin typeface="Cambria Math" panose="02040503050406030204" pitchFamily="18" charset="0"/>
                                  </a:rPr>
                                  <m:t>0.8523</m:t>
                                </m:r>
                              </m:e>
                              <m:e>
                                <m:r>
                                  <a:rPr lang="en-US" sz="900" b="0" i="0">
                                    <a:latin typeface="Cambria Math" panose="02040503050406030204" pitchFamily="18" charset="0"/>
                                  </a:rPr>
                                  <m:t>0.0218</m:t>
                                </m:r>
                              </m:e>
                              <m:e>
                                <m:r>
                                  <a:rPr lang="en-US" sz="900" b="0" i="0">
                                    <a:latin typeface="Cambria Math" panose="02040503050406030204" pitchFamily="18" charset="0"/>
                                  </a:rPr>
                                  <m:t>−0.2631</m:t>
                                </m:r>
                              </m:e>
                              <m:e>
                                <m:r>
                                  <a:rPr lang="en-US" sz="900" b="0" i="0">
                                    <a:latin typeface="Cambria Math" panose="02040503050406030204" pitchFamily="18" charset="0"/>
                                  </a:rPr>
                                  <m:t>−0.2631</m:t>
                                </m:r>
                              </m:e>
                              <m:e>
                                <m:r>
                                  <a:rPr lang="en-US" sz="900" b="0" i="0">
                                    <a:latin typeface="Cambria Math" panose="02040503050406030204" pitchFamily="18" charset="0"/>
                                  </a:rPr>
                                  <m:t>0.0229</m:t>
                                </m:r>
                              </m:e>
                            </m:mr>
                            <m:mr>
                              <m:e>
                                <m:r>
                                  <a:rPr lang="en-US" sz="900" b="0" i="0">
                                    <a:latin typeface="Cambria Math" panose="02040503050406030204" pitchFamily="18" charset="0"/>
                                  </a:rPr>
                                  <m:t>−0.2704</m:t>
                                </m:r>
                              </m:e>
                              <m:e>
                                <m:r>
                                  <a:rPr lang="en-US" sz="900" b="0" i="0">
                                    <a:latin typeface="Cambria Math" panose="02040503050406030204" pitchFamily="18" charset="0"/>
                                  </a:rPr>
                                  <m:t>0.0018</m:t>
                                </m:r>
                              </m:e>
                              <m:e>
                                <m:r>
                                  <a:rPr lang="en-US" sz="900" b="0" i="0">
                                    <a:latin typeface="Cambria Math" panose="02040503050406030204" pitchFamily="18" charset="0"/>
                                  </a:rPr>
                                  <m:t>0.8306</m:t>
                                </m:r>
                              </m:e>
                              <m:e>
                                <m:r>
                                  <a:rPr lang="en-US" sz="900" b="0" i="0">
                                    <a:latin typeface="Cambria Math" panose="02040503050406030204" pitchFamily="18" charset="0"/>
                                  </a:rPr>
                                  <m:t>−0.1644</m:t>
                                </m:r>
                              </m:e>
                              <m:e>
                                <m:r>
                                  <a:rPr lang="en-US" sz="900" b="0" i="0">
                                    <a:latin typeface="Cambria Math" panose="02040503050406030204" pitchFamily="18" charset="0"/>
                                  </a:rPr>
                                  <m:t>0.0012</m:t>
                                </m:r>
                              </m:e>
                              <m:e>
                                <m:r>
                                  <a:rPr lang="en-US" sz="900" b="0" i="0">
                                    <a:latin typeface="Cambria Math" panose="02040503050406030204" pitchFamily="18" charset="0"/>
                                  </a:rPr>
                                  <m:t>−0.2734</m:t>
                                </m:r>
                              </m:e>
                            </m:mr>
                            <m:mr>
                              <m:e>
                                <m:r>
                                  <a:rPr lang="en-US" sz="900" b="0" i="0">
                                    <a:latin typeface="Cambria Math" panose="02040503050406030204" pitchFamily="18" charset="0"/>
                                  </a:rPr>
                                  <m:t>0.0215</m:t>
                                </m:r>
                              </m:e>
                              <m:e>
                                <m:r>
                                  <a:rPr lang="en-US" sz="900" b="0" i="0">
                                    <a:latin typeface="Cambria Math" panose="02040503050406030204" pitchFamily="18" charset="0"/>
                                  </a:rPr>
                                  <m:t>−0.2629</m:t>
                                </m:r>
                              </m:e>
                              <m:e>
                                <m:r>
                                  <a:rPr lang="en-US" sz="900" b="0" i="0">
                                    <a:latin typeface="Cambria Math" panose="02040503050406030204" pitchFamily="18" charset="0"/>
                                  </a:rPr>
                                  <m:t>−0.1567</m:t>
                                </m:r>
                              </m:e>
                              <m:e>
                                <m:r>
                                  <a:rPr lang="en-US" sz="900" b="0" i="0">
                                    <a:latin typeface="Cambria Math" panose="02040503050406030204" pitchFamily="18" charset="0"/>
                                  </a:rPr>
                                  <m:t>0.8546</m:t>
                                </m:r>
                              </m:e>
                              <m:e>
                                <m:r>
                                  <a:rPr lang="en-US" sz="900" b="0" i="0">
                                    <a:latin typeface="Cambria Math" panose="02040503050406030204" pitchFamily="18" charset="0"/>
                                  </a:rPr>
                                  <m:t>−0.2649</m:t>
                                </m:r>
                              </m:e>
                              <m:e>
                                <m:r>
                                  <a:rPr lang="en-US" sz="900" b="0" i="0">
                                    <a:latin typeface="Cambria Math" panose="02040503050406030204" pitchFamily="18" charset="0"/>
                                  </a:rPr>
                                  <m:t>0.0213</m:t>
                                </m:r>
                              </m:e>
                            </m:mr>
                            <m:mr>
                              <m:e>
                                <m:r>
                                  <a:rPr lang="en-US" sz="900" b="0" i="0">
                                    <a:latin typeface="Cambria Math" panose="02040503050406030204" pitchFamily="18" charset="0"/>
                                  </a:rPr>
                                  <m:t>0.0214</m:t>
                                </m:r>
                              </m:e>
                              <m:e>
                                <m:r>
                                  <a:rPr lang="en-US" sz="900" b="0" i="0">
                                    <a:latin typeface="Cambria Math" panose="02040503050406030204" pitchFamily="18" charset="0"/>
                                  </a:rPr>
                                  <m:t>−0.2626</m:t>
                                </m:r>
                              </m:e>
                              <m:e>
                                <m:r>
                                  <a:rPr lang="en-US" sz="900" b="0" i="0">
                                    <a:latin typeface="Cambria Math" panose="02040503050406030204" pitchFamily="18" charset="0"/>
                                  </a:rPr>
                                  <m:t>0.0201</m:t>
                                </m:r>
                              </m:e>
                              <m:e>
                                <m:r>
                                  <a:rPr lang="en-US" sz="900" b="0" i="0">
                                    <a:latin typeface="Cambria Math" panose="02040503050406030204" pitchFamily="18" charset="0"/>
                                  </a:rPr>
                                  <m:t>−0.2647</m:t>
                                </m:r>
                              </m:e>
                              <m:e>
                                <m:r>
                                  <a:rPr lang="en-US" sz="900" b="0" i="0">
                                    <a:latin typeface="Cambria Math" panose="02040503050406030204" pitchFamily="18" charset="0"/>
                                  </a:rPr>
                                  <m:t>0.8535</m:t>
                                </m:r>
                              </m:e>
                              <m:e>
                                <m:r>
                                  <a:rPr lang="en-US" sz="900" b="0" i="0">
                                    <a:latin typeface="Cambria Math" panose="02040503050406030204" pitchFamily="18" charset="0"/>
                                  </a:rPr>
                                  <m:t>−0.1543</m:t>
                                </m:r>
                              </m:e>
                            </m:mr>
                            <m:mr>
                              <m:e>
                                <m:r>
                                  <a:rPr lang="en-US" sz="900" b="0" i="0">
                                    <a:latin typeface="Cambria Math" panose="02040503050406030204" pitchFamily="18" charset="0"/>
                                  </a:rPr>
                                  <m:t>−0.2710</m:t>
                                </m:r>
                              </m:e>
                              <m:e>
                                <m:r>
                                  <a:rPr lang="en-US" sz="900" b="0" i="0">
                                    <a:latin typeface="Cambria Math" panose="02040503050406030204" pitchFamily="18" charset="0"/>
                                  </a:rPr>
                                  <m:t>0.0020</m:t>
                                </m:r>
                              </m:e>
                              <m:e>
                                <m:r>
                                  <a:rPr lang="en-US" sz="900" b="0" i="0">
                                    <a:latin typeface="Cambria Math" panose="02040503050406030204" pitchFamily="18" charset="0"/>
                                  </a:rPr>
                                  <m:t>−0.2752</m:t>
                                </m:r>
                              </m:e>
                              <m:e>
                                <m:r>
                                  <a:rPr lang="en-US" sz="900" b="0" i="0">
                                    <a:latin typeface="Cambria Math" panose="02040503050406030204" pitchFamily="18" charset="0"/>
                                  </a:rPr>
                                  <m:t>0.0011</m:t>
                                </m:r>
                              </m:e>
                              <m:e>
                                <m:r>
                                  <a:rPr lang="en-US" sz="900" b="0" i="0">
                                    <a:latin typeface="Cambria Math" panose="02040503050406030204" pitchFamily="18" charset="0"/>
                                  </a:rPr>
                                  <m:t>−0.1657</m:t>
                                </m:r>
                              </m:e>
                              <m:e>
                                <m:r>
                                  <a:rPr lang="en-US" sz="900" b="0" i="0">
                                    <a:latin typeface="Cambria Math" panose="02040503050406030204" pitchFamily="18" charset="0"/>
                                  </a:rPr>
                                  <m:t>0.8324</m:t>
                                </m:r>
                              </m:e>
                            </m:mr>
                          </m:m>
                        </m:e>
                      </m:d>
                      <m:r>
                        <a:rPr lang="en-US" sz="900" b="0" i="0">
                          <a:latin typeface="Cambria Math" panose="02040503050406030204" pitchFamily="18" charset="0"/>
                        </a:rPr>
                        <m:t> </m:t>
                      </m:r>
                    </m:oMath>
                  </m:oMathPara>
                </a14:m>
                <a:endParaRPr lang="en-US" sz="900" dirty="0"/>
              </a:p>
            </p:txBody>
          </p:sp>
        </mc:Choice>
        <mc:Fallback xmlns="">
          <p:sp>
            <p:nvSpPr>
              <p:cNvPr id="42" name="ZhiV_s_mat"/>
              <p:cNvSpPr txBox="1">
                <a:spLocks noRot="1" noChangeAspect="1" noMove="1" noResize="1" noEditPoints="1" noAdjustHandles="1" noChangeArrowheads="1" noChangeShapeType="1" noTextEdit="1"/>
              </p:cNvSpPr>
              <p:nvPr/>
            </p:nvSpPr>
            <p:spPr>
              <a:xfrm>
                <a:off x="3810000" y="1041400"/>
                <a:ext cx="3793066" cy="868680"/>
              </a:xfrm>
              <a:prstGeom prst="rect">
                <a:avLst/>
              </a:prstGeom>
              <a:blipFill>
                <a:blip r:embed="rId3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hiV_s_sc"/>
              <p:cNvSpPr txBox="1"/>
              <p:nvPr/>
            </p:nvSpPr>
            <p:spPr>
              <a:xfrm>
                <a:off x="3810000" y="196850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744.5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1.0115×</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−2</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xmlns="">
          <p:sp>
            <p:nvSpPr>
              <p:cNvPr id="43" name="ZhiV_s_sc"/>
              <p:cNvSpPr txBox="1">
                <a:spLocks noRot="1" noChangeAspect="1" noMove="1" noResize="1" noEditPoints="1" noAdjustHandles="1" noChangeArrowheads="1" noChangeShapeType="1" noTextEdit="1"/>
              </p:cNvSpPr>
              <p:nvPr/>
            </p:nvSpPr>
            <p:spPr>
              <a:xfrm>
                <a:off x="3810000" y="1968500"/>
                <a:ext cx="3233712" cy="256032"/>
              </a:xfrm>
              <a:prstGeom prst="rect">
                <a:avLst/>
              </a:prstGeom>
              <a:blipFill>
                <a:blip r:embed="rId38"/>
                <a:stretch>
                  <a:fillRect t="-11905" b="-71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hiV_s_nmae">
                <a:extLst>
                  <a:ext uri="{FF2B5EF4-FFF2-40B4-BE49-F238E27FC236}">
                    <a16:creationId xmlns:a16="http://schemas.microsoft.com/office/drawing/2014/main" id="{0E47CCE1-4504-404E-836B-C65D993B87CC}"/>
                  </a:ext>
                </a:extLst>
              </p:cNvPr>
              <p:cNvSpPr txBox="1"/>
              <p:nvPr/>
            </p:nvSpPr>
            <p:spPr>
              <a:xfrm>
                <a:off x="7874000" y="889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%=10.53%</m:t>
                      </m:r>
                    </m:oMath>
                  </m:oMathPara>
                </a14:m>
                <a:endParaRPr lang="zh-TW" altLang="en-US" sz="1400" dirty="0"/>
              </a:p>
            </p:txBody>
          </p:sp>
        </mc:Choice>
        <mc:Fallback xmlns="">
          <p:sp>
            <p:nvSpPr>
              <p:cNvPr id="44" name="ZhiV_s_nmae">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7874000" y="889000"/>
                <a:ext cx="4191000" cy="549509"/>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hiV_e_mat"/>
              <p:cNvSpPr txBox="1"/>
              <p:nvPr/>
            </p:nvSpPr>
            <p:spPr>
              <a:xfrm>
                <a:off x="3810000" y="2895600"/>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−0.1862</m:t>
                                </m:r>
                              </m:e>
                              <m:e>
                                <m:r>
                                  <a:rPr lang="en-US" sz="900" b="0" i="0">
                                    <a:latin typeface="Cambria Math" panose="02040503050406030204" pitchFamily="18" charset="0"/>
                                  </a:rPr>
                                  <m:t>−0.1867</m:t>
                                </m:r>
                              </m:e>
                              <m:e>
                                <m:r>
                                  <a:rPr lang="en-US" sz="900" b="0" i="0">
                                    <a:latin typeface="Cambria Math" panose="02040503050406030204" pitchFamily="18" charset="0"/>
                                  </a:rPr>
                                  <m:t>−0.0929</m:t>
                                </m:r>
                              </m:e>
                              <m:e>
                                <m:r>
                                  <a:rPr lang="en-US" sz="900" b="0" i="0">
                                    <a:latin typeface="Cambria Math" panose="02040503050406030204" pitchFamily="18" charset="0"/>
                                  </a:rPr>
                                  <m:t>−0.0920</m:t>
                                </m:r>
                              </m:e>
                              <m:e>
                                <m:r>
                                  <a:rPr lang="en-US" sz="900" b="0" i="0">
                                    <a:latin typeface="Cambria Math" panose="02040503050406030204" pitchFamily="18" charset="0"/>
                                  </a:rPr>
                                  <m:t>−0.1867</m:t>
                                </m:r>
                              </m:e>
                            </m:mr>
                            <m:mr>
                              <m:e>
                                <m:r>
                                  <a:rPr lang="en-US" sz="900" b="0" i="0">
                                    <a:latin typeface="Cambria Math" panose="02040503050406030204" pitchFamily="18" charset="0"/>
                                  </a:rPr>
                                  <m:t>−0.1654</m:t>
                                </m:r>
                              </m:e>
                              <m:e>
                                <m:r>
                                  <a:rPr lang="en-US" sz="900" b="0" i="0">
                                    <a:latin typeface="Cambria Math" panose="02040503050406030204" pitchFamily="18" charset="0"/>
                                  </a:rPr>
                                  <m:t>0.8667</m:t>
                                </m:r>
                              </m:e>
                              <m:e>
                                <m:r>
                                  <a:rPr lang="en-US" sz="900" b="0" i="0">
                                    <a:latin typeface="Cambria Math" panose="02040503050406030204" pitchFamily="18" charset="0"/>
                                  </a:rPr>
                                  <m:t>−0.0579</m:t>
                                </m:r>
                              </m:e>
                              <m:e>
                                <m:r>
                                  <a:rPr lang="en-US" sz="900" b="0" i="0">
                                    <a:latin typeface="Cambria Math" panose="02040503050406030204" pitchFamily="18" charset="0"/>
                                  </a:rPr>
                                  <m:t>−0.1628</m:t>
                                </m:r>
                              </m:e>
                              <m:e>
                                <m:r>
                                  <a:rPr lang="en-US" sz="900" b="0" i="0">
                                    <a:latin typeface="Cambria Math" panose="02040503050406030204" pitchFamily="18" charset="0"/>
                                  </a:rPr>
                                  <m:t>−0.1627</m:t>
                                </m:r>
                              </m:e>
                              <m:e>
                                <m:r>
                                  <a:rPr lang="en-US" sz="900" b="0" i="0">
                                    <a:latin typeface="Cambria Math" panose="02040503050406030204" pitchFamily="18" charset="0"/>
                                  </a:rPr>
                                  <m:t>−0.0577</m:t>
                                </m:r>
                              </m:e>
                            </m:mr>
                            <m:mr>
                              <m:e>
                                <m:r>
                                  <a:rPr lang="en-US" sz="900" b="0" i="0">
                                    <a:latin typeface="Cambria Math" panose="02040503050406030204" pitchFamily="18" charset="0"/>
                                  </a:rPr>
                                  <m:t>−0.1874</m:t>
                                </m:r>
                              </m:e>
                              <m:e>
                                <m:r>
                                  <a:rPr lang="en-US" sz="900" b="0" i="0">
                                    <a:latin typeface="Cambria Math" panose="02040503050406030204" pitchFamily="18" charset="0"/>
                                  </a:rPr>
                                  <m:t>−0.0914</m:t>
                                </m:r>
                              </m:e>
                              <m:e>
                                <m:r>
                                  <a:rPr lang="en-US" sz="900" b="0" i="0">
                                    <a:latin typeface="Cambria Math" panose="02040503050406030204" pitchFamily="18" charset="0"/>
                                  </a:rPr>
                                  <m:t>0.8366</m:t>
                                </m:r>
                              </m:e>
                              <m:e>
                                <m:r>
                                  <a:rPr lang="en-US" sz="900" b="0" i="0">
                                    <a:latin typeface="Cambria Math" panose="02040503050406030204" pitchFamily="18" charset="0"/>
                                  </a:rPr>
                                  <m:t>−0.1892</m:t>
                                </m:r>
                              </m:e>
                              <m:e>
                                <m:r>
                                  <a:rPr lang="en-US" sz="900" b="0" i="0">
                                    <a:latin typeface="Cambria Math" panose="02040503050406030204" pitchFamily="18" charset="0"/>
                                  </a:rPr>
                                  <m:t>−0.0931</m:t>
                                </m:r>
                              </m:e>
                              <m:e>
                                <m:r>
                                  <a:rPr lang="en-US" sz="900" b="0" i="0">
                                    <a:latin typeface="Cambria Math" panose="02040503050406030204" pitchFamily="18" charset="0"/>
                                  </a:rPr>
                                  <m:t>−0.1903</m:t>
                                </m:r>
                              </m:e>
                            </m:mr>
                            <m:mr>
                              <m:e>
                                <m:r>
                                  <a:rPr lang="en-US" sz="900" b="0" i="0">
                                    <a:latin typeface="Cambria Math" panose="02040503050406030204" pitchFamily="18" charset="0"/>
                                  </a:rPr>
                                  <m:t>−0.0604</m:t>
                                </m:r>
                              </m:e>
                              <m:e>
                                <m:r>
                                  <a:rPr lang="en-US" sz="900" b="0" i="0">
                                    <a:latin typeface="Cambria Math" panose="02040503050406030204" pitchFamily="18" charset="0"/>
                                  </a:rPr>
                                  <m:t>−0.1647</m:t>
                                </m:r>
                              </m:e>
                              <m:e>
                                <m:r>
                                  <a:rPr lang="en-US" sz="900" b="0" i="0">
                                    <a:latin typeface="Cambria Math" panose="02040503050406030204" pitchFamily="18" charset="0"/>
                                  </a:rPr>
                                  <m:t>−0.1669</m:t>
                                </m:r>
                              </m:e>
                              <m:e>
                                <m:r>
                                  <a:rPr lang="en-US" sz="900" b="0" i="0">
                                    <a:latin typeface="Cambria Math" panose="02040503050406030204" pitchFamily="18" charset="0"/>
                                  </a:rPr>
                                  <m:t>0.8723</m:t>
                                </m:r>
                              </m:e>
                              <m:e>
                                <m:r>
                                  <a:rPr lang="en-US" sz="900" b="0" i="0">
                                    <a:latin typeface="Cambria Math" panose="02040503050406030204" pitchFamily="18" charset="0"/>
                                  </a:rPr>
                                  <m:t>−0.1649</m:t>
                                </m:r>
                              </m:e>
                              <m:e>
                                <m:r>
                                  <a:rPr lang="en-US" sz="900" b="0" i="0">
                                    <a:latin typeface="Cambria Math" panose="02040503050406030204" pitchFamily="18" charset="0"/>
                                  </a:rPr>
                                  <m:t>−0.0598</m:t>
                                </m:r>
                              </m:e>
                            </m:mr>
                            <m:mr>
                              <m:e>
                                <m:r>
                                  <a:rPr lang="en-US" sz="900" b="0" i="0">
                                    <a:latin typeface="Cambria Math" panose="02040503050406030204" pitchFamily="18" charset="0"/>
                                  </a:rPr>
                                  <m:t>−0.0605</m:t>
                                </m:r>
                              </m:e>
                              <m:e>
                                <m:r>
                                  <a:rPr lang="en-US" sz="900" b="0" i="0">
                                    <a:latin typeface="Cambria Math" panose="02040503050406030204" pitchFamily="18" charset="0"/>
                                  </a:rPr>
                                  <m:t>−0.1648</m:t>
                                </m:r>
                              </m:e>
                              <m:e>
                                <m:r>
                                  <a:rPr lang="en-US" sz="900" b="0" i="0">
                                    <a:latin typeface="Cambria Math" panose="02040503050406030204" pitchFamily="18" charset="0"/>
                                  </a:rPr>
                                  <m:t>−0.0599</m:t>
                                </m:r>
                              </m:e>
                              <m:e>
                                <m:r>
                                  <a:rPr lang="en-US" sz="900" b="0" i="0">
                                    <a:latin typeface="Cambria Math" panose="02040503050406030204" pitchFamily="18" charset="0"/>
                                  </a:rPr>
                                  <m:t>−0.1653</m:t>
                                </m:r>
                              </m:e>
                              <m:e>
                                <m:r>
                                  <a:rPr lang="en-US" sz="900" b="0" i="0">
                                    <a:latin typeface="Cambria Math" panose="02040503050406030204" pitchFamily="18" charset="0"/>
                                  </a:rPr>
                                  <m:t>0.8744</m:t>
                                </m:r>
                              </m:e>
                              <m:e>
                                <m:r>
                                  <a:rPr lang="en-US" sz="900" b="0" i="0">
                                    <a:latin typeface="Cambria Math" panose="02040503050406030204" pitchFamily="18" charset="0"/>
                                  </a:rPr>
                                  <m:t>−0.1669</m:t>
                                </m:r>
                              </m:e>
                            </m:mr>
                            <m:mr>
                              <m:e>
                                <m:r>
                                  <a:rPr lang="en-US" sz="900" b="0" i="0">
                                    <a:latin typeface="Cambria Math" panose="02040503050406030204" pitchFamily="18" charset="0"/>
                                  </a:rPr>
                                  <m:t>−0.1876</m:t>
                                </m:r>
                              </m:e>
                              <m:e>
                                <m:r>
                                  <a:rPr lang="en-US" sz="900" b="0" i="0">
                                    <a:latin typeface="Cambria Math" panose="02040503050406030204" pitchFamily="18" charset="0"/>
                                  </a:rPr>
                                  <m:t>−0.0913</m:t>
                                </m:r>
                              </m:e>
                              <m:e>
                                <m:r>
                                  <a:rPr lang="en-US" sz="900" b="0" i="0">
                                    <a:latin typeface="Cambria Math" panose="02040503050406030204" pitchFamily="18" charset="0"/>
                                  </a:rPr>
                                  <m:t>−0.1900</m:t>
                                </m:r>
                              </m:e>
                              <m:e>
                                <m:r>
                                  <a:rPr lang="en-US" sz="900" b="0" i="0">
                                    <a:latin typeface="Cambria Math" panose="02040503050406030204" pitchFamily="18" charset="0"/>
                                  </a:rPr>
                                  <m:t>−0.0929</m:t>
                                </m:r>
                              </m:e>
                              <m:e>
                                <m:r>
                                  <a:rPr lang="en-US" sz="900" b="0" i="0">
                                    <a:latin typeface="Cambria Math" panose="02040503050406030204" pitchFamily="18" charset="0"/>
                                  </a:rPr>
                                  <m:t>−0.1892</m:t>
                                </m:r>
                              </m:e>
                              <m:e>
                                <m:r>
                                  <a:rPr lang="en-US" sz="900" b="0" i="0">
                                    <a:latin typeface="Cambria Math" panose="02040503050406030204" pitchFamily="18" charset="0"/>
                                  </a:rPr>
                                  <m:t>0.8345</m:t>
                                </m:r>
                              </m:e>
                            </m:mr>
                          </m:m>
                        </m:e>
                      </m:d>
                    </m:oMath>
                  </m:oMathPara>
                </a14:m>
                <a:endParaRPr lang="en-US" sz="900" dirty="0"/>
              </a:p>
            </p:txBody>
          </p:sp>
        </mc:Choice>
        <mc:Fallback xmlns="">
          <p:sp>
            <p:nvSpPr>
              <p:cNvPr id="45" name="ZhiV_e_mat"/>
              <p:cNvSpPr txBox="1">
                <a:spLocks noRot="1" noChangeAspect="1" noMove="1" noResize="1" noEditPoints="1" noAdjustHandles="1" noChangeArrowheads="1" noChangeShapeType="1" noTextEdit="1"/>
              </p:cNvSpPr>
              <p:nvPr/>
            </p:nvSpPr>
            <p:spPr>
              <a:xfrm>
                <a:off x="3810000" y="2895600"/>
                <a:ext cx="3556000" cy="868680"/>
              </a:xfrm>
              <a:prstGeom prst="rect">
                <a:avLst/>
              </a:prstGeom>
              <a:blipFill>
                <a:blip r:embed="rId3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hiV_e_bias"/>
              <p:cNvSpPr txBox="1"/>
              <p:nvPr/>
            </p:nvSpPr>
            <p:spPr>
              <a:xfrm>
                <a:off x="3810000" y="3822700"/>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−0.0008</m:t>
                                </m:r>
                              </m:e>
                              <m:e>
                                <m:r>
                                  <a:rPr lang="en-US" sz="900" b="0" i="0">
                                    <a:latin typeface="Cambria Math" panose="02040503050406030204" pitchFamily="18" charset="0"/>
                                  </a:rPr>
                                  <m:t>0.0013</m:t>
                                </m:r>
                              </m:e>
                              <m:e>
                                <m:r>
                                  <a:rPr lang="en-US" sz="900" b="0" i="0">
                                    <a:latin typeface="Cambria Math" panose="02040503050406030204" pitchFamily="18" charset="0"/>
                                  </a:rPr>
                                  <m:t>−0.2149</m:t>
                                </m:r>
                              </m:e>
                              <m:e>
                                <m:r>
                                  <a:rPr lang="en-US" sz="900" b="0" i="0">
                                    <a:latin typeface="Cambria Math" panose="02040503050406030204" pitchFamily="18" charset="0"/>
                                  </a:rPr>
                                  <m:t>0.2140</m:t>
                                </m:r>
                              </m:e>
                              <m:e>
                                <m:r>
                                  <a:rPr lang="en-US" sz="900" b="0" i="0">
                                    <a:latin typeface="Cambria Math" panose="02040503050406030204" pitchFamily="18" charset="0"/>
                                  </a:rPr>
                                  <m:t>0.2148</m:t>
                                </m:r>
                              </m:e>
                              <m:e>
                                <m:r>
                                  <a:rPr lang="en-US" sz="900" b="0" i="0">
                                    <a:latin typeface="Cambria Math" panose="02040503050406030204" pitchFamily="18" charset="0"/>
                                  </a:rPr>
                                  <m:t>−0.2140</m:t>
                                </m:r>
                              </m:e>
                            </m:mr>
                            <m:mr>
                              <m:e>
                                <m:r>
                                  <a:rPr lang="en-US" sz="900" b="0" i="0">
                                    <a:latin typeface="Cambria Math" panose="02040503050406030204" pitchFamily="18" charset="0"/>
                                  </a:rPr>
                                  <m:t>−0.2137</m:t>
                                </m:r>
                              </m:e>
                              <m:e>
                                <m:r>
                                  <a:rPr lang="en-US" sz="900" b="0" i="0">
                                    <a:latin typeface="Cambria Math" panose="02040503050406030204" pitchFamily="18" charset="0"/>
                                  </a:rPr>
                                  <m:t>0.2139</m:t>
                                </m:r>
                              </m:e>
                              <m:e>
                                <m:r>
                                  <a:rPr lang="en-US" sz="900" b="0" i="0">
                                    <a:latin typeface="Cambria Math" panose="02040503050406030204" pitchFamily="18" charset="0"/>
                                  </a:rPr>
                                  <m:t>0.0011</m:t>
                                </m:r>
                              </m:e>
                              <m:e>
                                <m:r>
                                  <a:rPr lang="en-US" sz="900" b="0" i="0">
                                    <a:latin typeface="Cambria Math" panose="02040503050406030204" pitchFamily="18" charset="0"/>
                                  </a:rPr>
                                  <m:t>0.0002</m:t>
                                </m:r>
                              </m:e>
                              <m:e>
                                <m:r>
                                  <a:rPr lang="en-US" sz="900" b="0" i="0">
                                    <a:latin typeface="Cambria Math" panose="02040503050406030204" pitchFamily="18" charset="0"/>
                                  </a:rPr>
                                  <m:t>0.2156</m:t>
                                </m:r>
                              </m:e>
                              <m:e>
                                <m:r>
                                  <a:rPr lang="en-US" sz="900" b="0" i="0">
                                    <a:latin typeface="Cambria Math" panose="02040503050406030204" pitchFamily="18" charset="0"/>
                                  </a:rPr>
                                  <m:t>−0.2138</m:t>
                                </m:r>
                              </m:e>
                            </m:mr>
                            <m:mr>
                              <m:e>
                                <m:r>
                                  <a:rPr lang="en-US" sz="900" b="0" i="0">
                                    <a:latin typeface="Cambria Math" panose="02040503050406030204" pitchFamily="18" charset="0"/>
                                  </a:rPr>
                                  <m:t>0.2136</m:t>
                                </m:r>
                              </m:e>
                              <m:e>
                                <m:r>
                                  <a:rPr lang="en-US" sz="900" b="0" i="0">
                                    <a:latin typeface="Cambria Math" panose="02040503050406030204" pitchFamily="18" charset="0"/>
                                  </a:rPr>
                                  <m:t>−0.2143</m:t>
                                </m:r>
                              </m:e>
                              <m:e>
                                <m:r>
                                  <a:rPr lang="en-US" sz="900" b="0" i="0">
                                    <a:latin typeface="Cambria Math" panose="02040503050406030204" pitchFamily="18" charset="0"/>
                                  </a:rPr>
                                  <m:t>0.2143</m:t>
                                </m:r>
                              </m:e>
                              <m:e>
                                <m:r>
                                  <a:rPr lang="en-US" sz="900" b="0" i="0">
                                    <a:latin typeface="Cambria Math" panose="02040503050406030204" pitchFamily="18" charset="0"/>
                                  </a:rPr>
                                  <m:t>−0.2150</m:t>
                                </m:r>
                              </m:e>
                              <m:e>
                                <m:r>
                                  <a:rPr lang="en-US" sz="900" b="0" i="0">
                                    <a:latin typeface="Cambria Math" panose="02040503050406030204" pitchFamily="18" charset="0"/>
                                  </a:rPr>
                                  <m:t>0.0009</m:t>
                                </m:r>
                              </m:e>
                              <m:e>
                                <m:r>
                                  <a:rPr lang="en-US" sz="900" b="0" i="0">
                                    <a:latin typeface="Cambria Math" panose="02040503050406030204" pitchFamily="18" charset="0"/>
                                  </a:rPr>
                                  <m:t>−0.0003</m:t>
                                </m:r>
                              </m:e>
                            </m:mr>
                          </m:m>
                        </m:e>
                      </m:d>
                    </m:oMath>
                  </m:oMathPara>
                </a14:m>
                <a:endParaRPr lang="en-US" sz="900" dirty="0"/>
              </a:p>
            </p:txBody>
          </p:sp>
        </mc:Choice>
        <mc:Fallback xmlns="">
          <p:sp>
            <p:nvSpPr>
              <p:cNvPr id="46" name="ZhiV_e_bias"/>
              <p:cNvSpPr txBox="1">
                <a:spLocks noRot="1" noChangeAspect="1" noMove="1" noResize="1" noEditPoints="1" noAdjustHandles="1" noChangeArrowheads="1" noChangeShapeType="1" noTextEdit="1"/>
              </p:cNvSpPr>
              <p:nvPr/>
            </p:nvSpPr>
            <p:spPr>
              <a:xfrm>
                <a:off x="3810000" y="3822700"/>
                <a:ext cx="3632200" cy="457200"/>
              </a:xfrm>
              <a:prstGeom prst="rect">
                <a:avLst/>
              </a:prstGeom>
              <a:blipFill>
                <a:blip r:embed="rId31"/>
                <a:stretch>
                  <a:fillRect t="-2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7" name="ZhiV_e_sc"/>
              <p:cNvSpPr txBox="1"/>
              <p:nvPr/>
            </p:nvSpPr>
            <p:spPr>
              <a:xfrm>
                <a:off x="3810000" y="43307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597.6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1.0769×</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−2</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xmlns="">
          <p:sp>
            <p:nvSpPr>
              <p:cNvPr id="47" name="ZhiV_e_sc"/>
              <p:cNvSpPr txBox="1">
                <a:spLocks noRot="1" noChangeAspect="1" noMove="1" noResize="1" noEditPoints="1" noAdjustHandles="1" noChangeArrowheads="1" noChangeShapeType="1" noTextEdit="1"/>
              </p:cNvSpPr>
              <p:nvPr/>
            </p:nvSpPr>
            <p:spPr>
              <a:xfrm>
                <a:off x="3810000" y="4330700"/>
                <a:ext cx="3556000" cy="256032"/>
              </a:xfrm>
              <a:prstGeom prst="rect">
                <a:avLst/>
              </a:prstGeom>
              <a:blipFill>
                <a:blip r:embed="rId40"/>
                <a:stretch>
                  <a:fillRect t="-9524" b="-95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ZhiV_e_nmae">
                <a:extLst>
                  <a:ext uri="{FF2B5EF4-FFF2-40B4-BE49-F238E27FC236}">
                    <a16:creationId xmlns:a16="http://schemas.microsoft.com/office/drawing/2014/main" id="{EBA49798-FF6E-40E0-BBA9-161C19277A44}"/>
                  </a:ext>
                </a:extLst>
              </p:cNvPr>
              <p:cNvSpPr txBox="1"/>
              <p:nvPr/>
            </p:nvSpPr>
            <p:spPr>
              <a:xfrm>
                <a:off x="7874000" y="28956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%=0.75%</m:t>
                      </m:r>
                    </m:oMath>
                  </m:oMathPara>
                </a14:m>
                <a:endParaRPr lang="zh-TW" altLang="en-US" sz="1400" dirty="0"/>
              </a:p>
            </p:txBody>
          </p:sp>
        </mc:Choice>
        <mc:Fallback xmlns="">
          <p:sp>
            <p:nvSpPr>
              <p:cNvPr id="48" name="ZhiV_e_nmae">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7874000" y="2895600"/>
                <a:ext cx="4191000" cy="549509"/>
              </a:xfrm>
              <a:prstGeom prst="rect">
                <a:avLst/>
              </a:prstGeom>
              <a:blipFill>
                <a:blip r:embed="rId33"/>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ZhiV_V"/>
              <p:cNvSpPr txBox="1"/>
              <p:nvPr/>
            </p:nvSpPr>
            <p:spPr>
              <a:xfrm>
                <a:off x="3810000" y="4673600"/>
                <a:ext cx="5192875" cy="947907"/>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r>
                        <a:rPr lang="en-US" sz="1050" b="0" i="0">
                          <a:latin typeface="Cambria Math" panose="02040503050406030204" pitchFamily="18" charset="0"/>
                        </a:rPr>
                        <m:t> = </m:t>
                      </m:r>
                      <m:d>
                        <m:dPr>
                          <m:begChr m:val="["/>
                          <m:endChr m:val="]"/>
                          <m:ctrlPr>
                            <a:rPr lang="en-US" sz="1050" b="0" i="1">
                              <a:latin typeface="Cambria Math" panose="02040503050406030204" pitchFamily="18" charset="0"/>
                            </a:rPr>
                          </m:ctrlPr>
                        </m:dPr>
                        <m:e>
                          <m:m>
                            <m:mPr>
                              <m:mcs>
                                <m:mc>
                                  <m:mcPr>
                                    <m:count m:val="6"/>
                                    <m:mcJc m:val="center"/>
                                  </m:mcPr>
                                </m:mc>
                              </m:mcs>
                              <m:ctrlPr>
                                <a:rPr lang="en-US" sz="1050" b="0" i="1">
                                  <a:latin typeface="Cambria Math" panose="02040503050406030204" pitchFamily="18" charset="0"/>
                                </a:rPr>
                              </m:ctrlPr>
                            </m:mPr>
                            <m:mr>
                              <m:e>
                                <m:r>
                                  <a:rPr lang="en-US" sz="1050" b="0" i="0">
                                    <a:latin typeface="Cambria Math" panose="02040503050406030204" pitchFamily="18" charset="0"/>
                                  </a:rPr>
                                  <m:t>3194.8553</m:t>
                                </m:r>
                              </m:e>
                              <m:e>
                                <m:r>
                                  <a:rPr lang="en-US" sz="1050" b="0" i="0">
                                    <a:latin typeface="Cambria Math" panose="02040503050406030204" pitchFamily="18" charset="0"/>
                                  </a:rPr>
                                  <m:t>−117.3275</m:t>
                                </m:r>
                              </m:e>
                              <m:e>
                                <m:r>
                                  <a:rPr lang="en-US" sz="1050" b="0" i="0">
                                    <a:latin typeface="Cambria Math" panose="02040503050406030204" pitchFamily="18" charset="0"/>
                                  </a:rPr>
                                  <m:t>−144.4692</m:t>
                                </m:r>
                              </m:e>
                              <m:e>
                                <m:r>
                                  <a:rPr lang="en-US" sz="1050" b="0" i="0">
                                    <a:latin typeface="Cambria Math" panose="02040503050406030204" pitchFamily="18" charset="0"/>
                                  </a:rPr>
                                  <m:t>−690.6945</m:t>
                                </m:r>
                              </m:e>
                              <m:e>
                                <m:r>
                                  <a:rPr lang="en-US" sz="1050" b="0" i="0">
                                    <a:latin typeface="Cambria Math" panose="02040503050406030204" pitchFamily="18" charset="0"/>
                                  </a:rPr>
                                  <m:t>−693.8828</m:t>
                                </m:r>
                              </m:e>
                              <m:e>
                                <m:r>
                                  <a:rPr lang="en-US" sz="1050" b="0" i="0">
                                    <a:latin typeface="Cambria Math" panose="02040503050406030204" pitchFamily="18" charset="0"/>
                                  </a:rPr>
                                  <m:t>−143.8277</m:t>
                                </m:r>
                              </m:e>
                            </m:mr>
                            <m:mr>
                              <m:e>
                                <m:r>
                                  <a:rPr lang="en-US" sz="1050" b="0" i="0">
                                    <a:latin typeface="Cambria Math" panose="02040503050406030204" pitchFamily="18" charset="0"/>
                                  </a:rPr>
                                  <m:t>−147.1312</m:t>
                                </m:r>
                              </m:e>
                              <m:e>
                                <m:r>
                                  <a:rPr lang="en-US" sz="1050" b="0" i="0">
                                    <a:latin typeface="Cambria Math" panose="02040503050406030204" pitchFamily="18" charset="0"/>
                                  </a:rPr>
                                  <m:t>3117.2840</m:t>
                                </m:r>
                              </m:e>
                              <m:e>
                                <m:r>
                                  <a:rPr lang="en-US" sz="1050" b="0" i="0">
                                    <a:latin typeface="Cambria Math" panose="02040503050406030204" pitchFamily="18" charset="0"/>
                                  </a:rPr>
                                  <m:t>−763.8698</m:t>
                                </m:r>
                              </m:e>
                              <m:e>
                                <m:r>
                                  <a:rPr lang="en-US" sz="1050" b="0" i="0">
                                    <a:latin typeface="Cambria Math" panose="02040503050406030204" pitchFamily="18" charset="0"/>
                                  </a:rPr>
                                  <m:t>−181.5529</m:t>
                                </m:r>
                              </m:e>
                              <m:e>
                                <m:r>
                                  <a:rPr lang="en-US" sz="1050" b="0" i="0">
                                    <a:latin typeface="Cambria Math" panose="02040503050406030204" pitchFamily="18" charset="0"/>
                                  </a:rPr>
                                  <m:t>−181.7863</m:t>
                                </m:r>
                              </m:e>
                              <m:e>
                                <m:r>
                                  <a:rPr lang="en-US" sz="1050" b="0" i="0">
                                    <a:latin typeface="Cambria Math" panose="02040503050406030204" pitchFamily="18" charset="0"/>
                                  </a:rPr>
                                  <m:t>−761.7138</m:t>
                                </m:r>
                              </m:e>
                            </m:mr>
                            <m:mr>
                              <m:e>
                                <m:r>
                                  <a:rPr lang="en-US" sz="1050" b="0" i="0">
                                    <a:latin typeface="Cambria Math" panose="02040503050406030204" pitchFamily="18" charset="0"/>
                                  </a:rPr>
                                  <m:t>−157.0378</m:t>
                                </m:r>
                              </m:e>
                              <m:e>
                                <m:r>
                                  <a:rPr lang="en-US" sz="1050" b="0" i="0">
                                    <a:latin typeface="Cambria Math" panose="02040503050406030204" pitchFamily="18" charset="0"/>
                                  </a:rPr>
                                  <m:t>−718.4597</m:t>
                                </m:r>
                              </m:e>
                              <m:e>
                                <m:r>
                                  <a:rPr lang="en-US" sz="1050" b="0" i="0">
                                    <a:latin typeface="Cambria Math" panose="02040503050406030204" pitchFamily="18" charset="0"/>
                                  </a:rPr>
                                  <m:t>2844.4753</m:t>
                                </m:r>
                              </m:e>
                              <m:e>
                                <m:r>
                                  <a:rPr lang="en-US" sz="1050" b="0" i="0">
                                    <a:latin typeface="Cambria Math" panose="02040503050406030204" pitchFamily="18" charset="0"/>
                                  </a:rPr>
                                  <m:t>−97.5260</m:t>
                                </m:r>
                              </m:e>
                              <m:e>
                                <m:r>
                                  <a:rPr lang="en-US" sz="1050" b="0" i="0">
                                    <a:latin typeface="Cambria Math" panose="02040503050406030204" pitchFamily="18" charset="0"/>
                                  </a:rPr>
                                  <m:t>−592.0820</m:t>
                                </m:r>
                              </m:e>
                              <m:e>
                                <m:r>
                                  <a:rPr lang="en-US" sz="1050" b="0" i="0">
                                    <a:latin typeface="Cambria Math" panose="02040503050406030204" pitchFamily="18" charset="0"/>
                                  </a:rPr>
                                  <m:t>−176.2582</m:t>
                                </m:r>
                              </m:e>
                            </m:mr>
                            <m:mr>
                              <m:e>
                                <m:r>
                                  <a:rPr lang="en-US" sz="1050" b="0" i="0">
                                    <a:latin typeface="Cambria Math" panose="02040503050406030204" pitchFamily="18" charset="0"/>
                                  </a:rPr>
                                  <m:t>−779.4693</m:t>
                                </m:r>
                              </m:e>
                              <m:e>
                                <m:r>
                                  <a:rPr lang="en-US" sz="1050" b="0" i="0">
                                    <a:latin typeface="Cambria Math" panose="02040503050406030204" pitchFamily="18" charset="0"/>
                                  </a:rPr>
                                  <m:t>−193.0518</m:t>
                                </m:r>
                              </m:e>
                              <m:e>
                                <m:r>
                                  <a:rPr lang="en-US" sz="1050" b="0" i="0">
                                    <a:latin typeface="Cambria Math" panose="02040503050406030204" pitchFamily="18" charset="0"/>
                                  </a:rPr>
                                  <m:t>−132.2696</m:t>
                                </m:r>
                              </m:e>
                              <m:e>
                                <m:r>
                                  <a:rPr lang="en-US" sz="1050" b="0" i="0">
                                    <a:latin typeface="Cambria Math" panose="02040503050406030204" pitchFamily="18" charset="0"/>
                                  </a:rPr>
                                  <m:t>2757.4837</m:t>
                                </m:r>
                              </m:e>
                              <m:e>
                                <m:r>
                                  <a:rPr lang="en-US" sz="1050" b="0" i="0">
                                    <a:latin typeface="Cambria Math" panose="02040503050406030204" pitchFamily="18" charset="0"/>
                                  </a:rPr>
                                  <m:t>−217.5690</m:t>
                                </m:r>
                              </m:e>
                              <m:e>
                                <m:r>
                                  <a:rPr lang="en-US" sz="1050" b="0" i="0">
                                    <a:latin typeface="Cambria Math" panose="02040503050406030204" pitchFamily="18" charset="0"/>
                                  </a:rPr>
                                  <m:t>−657.5762</m:t>
                                </m:r>
                              </m:e>
                            </m:mr>
                            <m:mr>
                              <m:e>
                                <m:r>
                                  <a:rPr lang="en-US" sz="1050" b="0" i="0">
                                    <a:latin typeface="Cambria Math" panose="02040503050406030204" pitchFamily="18" charset="0"/>
                                  </a:rPr>
                                  <m:t>−779.3156</m:t>
                                </m:r>
                              </m:e>
                              <m:e>
                                <m:r>
                                  <a:rPr lang="en-US" sz="1050" b="0" i="0">
                                    <a:latin typeface="Cambria Math" panose="02040503050406030204" pitchFamily="18" charset="0"/>
                                  </a:rPr>
                                  <m:t>−193.1855</m:t>
                                </m:r>
                              </m:e>
                              <m:e>
                                <m:r>
                                  <a:rPr lang="en-US" sz="1050" b="0" i="0">
                                    <a:latin typeface="Cambria Math" panose="02040503050406030204" pitchFamily="18" charset="0"/>
                                  </a:rPr>
                                  <m:t>−657.5229</m:t>
                                </m:r>
                              </m:e>
                              <m:e>
                                <m:r>
                                  <a:rPr lang="en-US" sz="1050" b="0" i="0">
                                    <a:latin typeface="Cambria Math" panose="02040503050406030204" pitchFamily="18" charset="0"/>
                                  </a:rPr>
                                  <m:t>−217.3208</m:t>
                                </m:r>
                              </m:e>
                              <m:e>
                                <m:r>
                                  <a:rPr lang="en-US" sz="1050" b="0" i="0">
                                    <a:latin typeface="Cambria Math" panose="02040503050406030204" pitchFamily="18" charset="0"/>
                                  </a:rPr>
                                  <m:t>2755.9319</m:t>
                                </m:r>
                              </m:e>
                              <m:e>
                                <m:r>
                                  <a:rPr lang="en-US" sz="1050" b="0" i="0">
                                    <a:latin typeface="Cambria Math" panose="02040503050406030204" pitchFamily="18" charset="0"/>
                                  </a:rPr>
                                  <m:t>−132.1218</m:t>
                                </m:r>
                              </m:e>
                            </m:mr>
                            <m:mr>
                              <m:e>
                                <m:r>
                                  <a:rPr lang="en-US" sz="1050" b="0" i="0">
                                    <a:latin typeface="Cambria Math" panose="02040503050406030204" pitchFamily="18" charset="0"/>
                                  </a:rPr>
                                  <m:t>−156.5529</m:t>
                                </m:r>
                              </m:e>
                              <m:e>
                                <m:r>
                                  <a:rPr lang="en-US" sz="1050" b="0" i="0">
                                    <a:latin typeface="Cambria Math" panose="02040503050406030204" pitchFamily="18" charset="0"/>
                                  </a:rPr>
                                  <m:t>−719.4387</m:t>
                                </m:r>
                              </m:e>
                              <m:e>
                                <m:r>
                                  <a:rPr lang="en-US" sz="1050" b="0" i="0">
                                    <a:latin typeface="Cambria Math" panose="02040503050406030204" pitchFamily="18" charset="0"/>
                                  </a:rPr>
                                  <m:t>−176.2635</m:t>
                                </m:r>
                              </m:e>
                              <m:e>
                                <m:r>
                                  <a:rPr lang="en-US" sz="1050" b="0" i="0">
                                    <a:latin typeface="Cambria Math" panose="02040503050406030204" pitchFamily="18" charset="0"/>
                                  </a:rPr>
                                  <m:t>−591.9505</m:t>
                                </m:r>
                              </m:e>
                              <m:e>
                                <m:r>
                                  <a:rPr lang="en-US" sz="1050" b="0" i="0">
                                    <a:latin typeface="Cambria Math" panose="02040503050406030204" pitchFamily="18" charset="0"/>
                                  </a:rPr>
                                  <m:t>−97.4567</m:t>
                                </m:r>
                              </m:e>
                              <m:e>
                                <m:r>
                                  <a:rPr lang="en-US" sz="1050" b="0" i="0">
                                    <a:latin typeface="Cambria Math" panose="02040503050406030204" pitchFamily="18" charset="0"/>
                                  </a:rPr>
                                  <m:t>2846.2025</m:t>
                                </m:r>
                              </m:e>
                            </m:mr>
                          </m:m>
                        </m:e>
                      </m:d>
                      <m:r>
                        <a:rPr lang="en-US" sz="1050" b="0" i="0" smtClean="0">
                          <a:latin typeface="Cambria Math" panose="02040503050406030204" pitchFamily="18" charset="0"/>
                        </a:rPr>
                        <m:t>(</m:t>
                      </m:r>
                      <m:r>
                        <m:rPr>
                          <m:sty m:val="p"/>
                        </m:rPr>
                        <a:rPr lang="en-US" sz="1050" b="0" i="0" smtClean="0">
                          <a:latin typeface="Cambria Math" panose="02040503050406030204" pitchFamily="18" charset="0"/>
                        </a:rPr>
                        <m:t>mV</m:t>
                      </m:r>
                      <m:r>
                        <a:rPr lang="en-US" sz="1050" b="0" i="0" smtClean="0">
                          <a:latin typeface="Cambria Math" panose="02040503050406030204" pitchFamily="18" charset="0"/>
                        </a:rPr>
                        <m:t>)</m:t>
                      </m:r>
                    </m:oMath>
                  </m:oMathPara>
                </a14:m>
                <a:endParaRPr lang="en-US" sz="1050" dirty="0"/>
              </a:p>
            </p:txBody>
          </p:sp>
        </mc:Choice>
        <mc:Fallback xmlns="">
          <p:sp>
            <p:nvSpPr>
              <p:cNvPr id="49" name="ZhiV_V"/>
              <p:cNvSpPr txBox="1">
                <a:spLocks noRot="1" noChangeAspect="1" noMove="1" noResize="1" noEditPoints="1" noAdjustHandles="1" noChangeArrowheads="1" noChangeShapeType="1" noTextEdit="1"/>
              </p:cNvSpPr>
              <p:nvPr/>
            </p:nvSpPr>
            <p:spPr>
              <a:xfrm>
                <a:off x="3810000" y="4673600"/>
                <a:ext cx="5192875" cy="947907"/>
              </a:xfrm>
              <a:prstGeom prst="rect">
                <a:avLst/>
              </a:prstGeom>
              <a:blipFill>
                <a:blip r:embed="rId41"/>
                <a:stretch>
                  <a:fillRect l="-1291" r="-46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94432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409671" y="2626733"/>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418127" y="2649838"/>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804867" y="3222729"/>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91261" y="3253470"/>
              <a:ext cx="1228561" cy="1176562"/>
              <a:chOff x="2701406" y="2893183"/>
              <a:chExt cx="1228561" cy="1176562"/>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75874" y="3278260"/>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72497" y="4791315"/>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48976" y="4369251"/>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2080822" y="4023193"/>
              <a:ext cx="56534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202260" y="5009637"/>
              <a:ext cx="70684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1722778" y="4920250"/>
              <a:ext cx="716087"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646170" y="4218252"/>
              <a:ext cx="50005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26821"/>
            <a:ext cx="12192000" cy="3901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DesignA</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089400" y="2305645"/>
            <a:ext cx="154270" cy="249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309968"/>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2" y="3763636"/>
            <a:ext cx="2973497" cy="2082167"/>
            <a:chOff x="6051068" y="3773292"/>
            <a:chExt cx="3462496"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295009" y="419782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9" name="群組 8">
            <a:extLst>
              <a:ext uri="{FF2B5EF4-FFF2-40B4-BE49-F238E27FC236}">
                <a16:creationId xmlns:a16="http://schemas.microsoft.com/office/drawing/2014/main" id="{E31C501E-2BE5-49EF-B9EA-E57A5D7EB061}"/>
              </a:ext>
            </a:extLst>
          </p:cNvPr>
          <p:cNvGrpSpPr/>
          <p:nvPr/>
        </p:nvGrpSpPr>
        <p:grpSpPr>
          <a:xfrm>
            <a:off x="7047939" y="760013"/>
            <a:ext cx="3853449" cy="1926930"/>
            <a:chOff x="7047939" y="760013"/>
            <a:chExt cx="3853449" cy="1926930"/>
          </a:xfrm>
        </p:grpSpPr>
        <p:pic>
          <p:nvPicPr>
            <p:cNvPr id="7" name="圖片 6">
              <a:extLst>
                <a:ext uri="{FF2B5EF4-FFF2-40B4-BE49-F238E27FC236}">
                  <a16:creationId xmlns:a16="http://schemas.microsoft.com/office/drawing/2014/main" id="{CFD883F9-DD2C-400F-8467-52A57C3680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6006" y="910421"/>
              <a:ext cx="3507394" cy="1631975"/>
            </a:xfrm>
            <a:prstGeom prst="rect">
              <a:avLst/>
            </a:prstGeom>
          </p:spPr>
        </p:pic>
        <p:grpSp>
          <p:nvGrpSpPr>
            <p:cNvPr id="126" name="群組 125">
              <a:extLst>
                <a:ext uri="{FF2B5EF4-FFF2-40B4-BE49-F238E27FC236}">
                  <a16:creationId xmlns:a16="http://schemas.microsoft.com/office/drawing/2014/main" id="{D2C34612-FE87-41C5-9E68-80C0F016BEEF}"/>
                </a:ext>
              </a:extLst>
            </p:cNvPr>
            <p:cNvGrpSpPr/>
            <p:nvPr/>
          </p:nvGrpSpPr>
          <p:grpSpPr>
            <a:xfrm>
              <a:off x="7047939" y="760013"/>
              <a:ext cx="3853449" cy="1926930"/>
              <a:chOff x="5954489" y="996129"/>
              <a:chExt cx="3853449" cy="1926930"/>
            </a:xfrm>
          </p:grpSpPr>
          <p:grpSp>
            <p:nvGrpSpPr>
              <p:cNvPr id="104" name="群組 103">
                <a:extLst>
                  <a:ext uri="{FF2B5EF4-FFF2-40B4-BE49-F238E27FC236}">
                    <a16:creationId xmlns:a16="http://schemas.microsoft.com/office/drawing/2014/main" id="{A6B76983-543C-42CB-9656-7C72DACBE64A}"/>
                  </a:ext>
                </a:extLst>
              </p:cNvPr>
              <p:cNvGrpSpPr/>
              <p:nvPr/>
            </p:nvGrpSpPr>
            <p:grpSpPr>
              <a:xfrm>
                <a:off x="6048612" y="1067895"/>
                <a:ext cx="3759326" cy="1778680"/>
                <a:chOff x="6031779" y="1096626"/>
                <a:chExt cx="3759326" cy="1743525"/>
              </a:xfrm>
            </p:grpSpPr>
            <p:grpSp>
              <p:nvGrpSpPr>
                <p:cNvPr id="103" name="群組 102">
                  <a:extLst>
                    <a:ext uri="{FF2B5EF4-FFF2-40B4-BE49-F238E27FC236}">
                      <a16:creationId xmlns:a16="http://schemas.microsoft.com/office/drawing/2014/main" id="{B312056C-7B99-454C-9849-1B693289290F}"/>
                    </a:ext>
                  </a:extLst>
                </p:cNvPr>
                <p:cNvGrpSpPr/>
                <p:nvPr/>
              </p:nvGrpSpPr>
              <p:grpSpPr>
                <a:xfrm>
                  <a:off x="6031779" y="1100186"/>
                  <a:ext cx="3684885" cy="1719070"/>
                  <a:chOff x="6031779" y="1100186"/>
                  <a:chExt cx="3684885" cy="1719070"/>
                </a:xfrm>
              </p:grpSpPr>
              <p:sp>
                <p:nvSpPr>
                  <p:cNvPr id="93" name="矩形 92">
                    <a:extLst>
                      <a:ext uri="{FF2B5EF4-FFF2-40B4-BE49-F238E27FC236}">
                        <a16:creationId xmlns:a16="http://schemas.microsoft.com/office/drawing/2014/main" id="{525AE447-9ED2-4513-9B43-301DCA1B05D1}"/>
                      </a:ext>
                    </a:extLst>
                  </p:cNvPr>
                  <p:cNvSpPr/>
                  <p:nvPr/>
                </p:nvSpPr>
                <p:spPr>
                  <a:xfrm>
                    <a:off x="6857852" y="1100186"/>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a:extLst>
                      <a:ext uri="{FF2B5EF4-FFF2-40B4-BE49-F238E27FC236}">
                        <a16:creationId xmlns:a16="http://schemas.microsoft.com/office/drawing/2014/main" id="{D65C1B0B-E03C-4C86-8C56-4B5AF5A3BD39}"/>
                      </a:ext>
                    </a:extLst>
                  </p:cNvPr>
                  <p:cNvSpPr/>
                  <p:nvPr/>
                </p:nvSpPr>
                <p:spPr>
                  <a:xfrm>
                    <a:off x="8407636" y="1100186"/>
                    <a:ext cx="308314" cy="199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a:extLst>
                      <a:ext uri="{FF2B5EF4-FFF2-40B4-BE49-F238E27FC236}">
                        <a16:creationId xmlns:a16="http://schemas.microsoft.com/office/drawing/2014/main" id="{97A0856B-15B2-45BC-9274-DEE2C95991E2}"/>
                      </a:ext>
                    </a:extLst>
                  </p:cNvPr>
                  <p:cNvSpPr/>
                  <p:nvPr/>
                </p:nvSpPr>
                <p:spPr>
                  <a:xfrm>
                    <a:off x="7576681" y="1865243"/>
                    <a:ext cx="336141" cy="216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a:extLst>
                      <a:ext uri="{FF2B5EF4-FFF2-40B4-BE49-F238E27FC236}">
                        <a16:creationId xmlns:a16="http://schemas.microsoft.com/office/drawing/2014/main" id="{EAF62A92-51E9-40BA-860A-15EE3CC9F38C}"/>
                      </a:ext>
                    </a:extLst>
                  </p:cNvPr>
                  <p:cNvSpPr/>
                  <p:nvPr/>
                </p:nvSpPr>
                <p:spPr>
                  <a:xfrm>
                    <a:off x="6031779" y="183977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7" name="矩形 96">
                    <a:extLst>
                      <a:ext uri="{FF2B5EF4-FFF2-40B4-BE49-F238E27FC236}">
                        <a16:creationId xmlns:a16="http://schemas.microsoft.com/office/drawing/2014/main" id="{428B6E4B-BA92-4351-AF44-9EDCF9387C43}"/>
                      </a:ext>
                    </a:extLst>
                  </p:cNvPr>
                  <p:cNvSpPr/>
                  <p:nvPr/>
                </p:nvSpPr>
                <p:spPr>
                  <a:xfrm>
                    <a:off x="6805183" y="2629113"/>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a:extLst>
                      <a:ext uri="{FF2B5EF4-FFF2-40B4-BE49-F238E27FC236}">
                        <a16:creationId xmlns:a16="http://schemas.microsoft.com/office/drawing/2014/main" id="{10C9BAEF-BFCC-48D3-98B8-BA829C8B86D9}"/>
                      </a:ext>
                    </a:extLst>
                  </p:cNvPr>
                  <p:cNvSpPr/>
                  <p:nvPr/>
                </p:nvSpPr>
                <p:spPr>
                  <a:xfrm>
                    <a:off x="8387231" y="2614434"/>
                    <a:ext cx="245534" cy="1901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a:extLst>
                      <a:ext uri="{FF2B5EF4-FFF2-40B4-BE49-F238E27FC236}">
                        <a16:creationId xmlns:a16="http://schemas.microsoft.com/office/drawing/2014/main" id="{A6345865-5CDE-4A43-810D-D8AAECD35F25}"/>
                      </a:ext>
                    </a:extLst>
                  </p:cNvPr>
                  <p:cNvSpPr/>
                  <p:nvPr/>
                </p:nvSpPr>
                <p:spPr>
                  <a:xfrm>
                    <a:off x="9574045" y="1663714"/>
                    <a:ext cx="142619" cy="6361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a:extLst>
                      <a:ext uri="{FF2B5EF4-FFF2-40B4-BE49-F238E27FC236}">
                        <a16:creationId xmlns:a16="http://schemas.microsoft.com/office/drawing/2014/main" id="{AD847CB7-AB23-4174-880D-8148114705A1}"/>
                      </a:ext>
                    </a:extLst>
                  </p:cNvPr>
                  <p:cNvSpPr/>
                  <p:nvPr/>
                </p:nvSpPr>
                <p:spPr>
                  <a:xfrm>
                    <a:off x="9221158" y="1806141"/>
                    <a:ext cx="175304" cy="2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59" name="文字方塊 58">
                      <a:extLst>
                        <a:ext uri="{FF2B5EF4-FFF2-40B4-BE49-F238E27FC236}">
                          <a16:creationId xmlns:a16="http://schemas.microsoft.com/office/drawing/2014/main" id="{786A494C-BAF4-4D1F-BA9A-4460EFDB47C1}"/>
                        </a:ext>
                      </a:extLst>
                    </p:cNvPr>
                    <p:cNvSpPr txBox="1"/>
                    <p:nvPr/>
                  </p:nvSpPr>
                  <p:spPr>
                    <a:xfrm rot="16200000">
                      <a:off x="8788537" y="1837584"/>
                      <a:ext cx="1743525" cy="261610"/>
                    </a:xfrm>
                    <a:prstGeom prst="rect">
                      <a:avLst/>
                    </a:prstGeom>
                    <a:noFill/>
                  </p:spPr>
                  <p:txBody>
                    <a:bodyPr wrap="square">
                      <a:spAutoFit/>
                    </a:bodyPr>
                    <a:lstStyle/>
                    <a:p>
                      <a:r>
                        <a:rPr lang="en-US" altLang="zh-TW" sz="11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100" b="0" i="0" smtClean="0">
                              <a:latin typeface="Cambria Math" panose="02040503050406030204" pitchFamily="18" charset="0"/>
                            </a:rPr>
                            <m:t>(</m:t>
                          </m:r>
                          <m:f>
                            <m:fPr>
                              <m:type m:val="lin"/>
                              <m:ctrlPr>
                                <a:rPr lang="en-US" altLang="zh-TW" sz="1100" i="1" smtClean="0">
                                  <a:latin typeface="Cambria Math" panose="02040503050406030204" pitchFamily="18" charset="0"/>
                                </a:rPr>
                              </m:ctrlPr>
                            </m:fPr>
                            <m:num>
                              <m:r>
                                <a:rPr lang="en-US" altLang="zh-TW" sz="1100" b="0" i="1" smtClean="0">
                                  <a:latin typeface="Cambria Math" panose="02040503050406030204" pitchFamily="18" charset="0"/>
                                </a:rPr>
                                <m:t>𝑚𝑇</m:t>
                              </m:r>
                            </m:num>
                            <m:den>
                              <m:r>
                                <a:rPr lang="en-US" altLang="zh-TW" sz="1100" b="0" i="1" smtClean="0">
                                  <a:latin typeface="Cambria Math" panose="02040503050406030204" pitchFamily="18" charset="0"/>
                                </a:rPr>
                                <m:t>𝐴</m:t>
                              </m:r>
                            </m:den>
                          </m:f>
                          <m:r>
                            <a:rPr lang="en-US" altLang="zh-TW" sz="1100" b="0" i="1" smtClean="0">
                              <a:latin typeface="Cambria Math" panose="02040503050406030204" pitchFamily="18" charset="0"/>
                            </a:rPr>
                            <m:t>)</m:t>
                          </m:r>
                        </m:oMath>
                      </a14:m>
                      <a:endParaRPr lang="zh-TW" altLang="en-US" sz="1100" dirty="0">
                        <a:latin typeface="Times New Roman" panose="02020603050405020304" pitchFamily="18" charset="0"/>
                        <a:cs typeface="Times New Roman" panose="02020603050405020304" pitchFamily="18" charset="0"/>
                      </a:endParaRPr>
                    </a:p>
                  </p:txBody>
                </p:sp>
              </mc:Choice>
              <mc:Fallback xmlns="">
                <p:sp>
                  <p:nvSpPr>
                    <p:cNvPr id="59" name="文字方塊 58">
                      <a:extLst>
                        <a:ext uri="{FF2B5EF4-FFF2-40B4-BE49-F238E27FC236}">
                          <a16:creationId xmlns:a16="http://schemas.microsoft.com/office/drawing/2014/main" id="{786A494C-BAF4-4D1F-BA9A-4460EFDB47C1}"/>
                        </a:ext>
                      </a:extLst>
                    </p:cNvPr>
                    <p:cNvSpPr txBox="1">
                      <a:spLocks noRot="1" noChangeAspect="1" noMove="1" noResize="1" noEditPoints="1" noAdjustHandles="1" noChangeArrowheads="1" noChangeShapeType="1" noTextEdit="1"/>
                    </p:cNvSpPr>
                    <p:nvPr/>
                  </p:nvSpPr>
                  <p:spPr>
                    <a:xfrm rot="16200000">
                      <a:off x="8788537" y="1837584"/>
                      <a:ext cx="1743525" cy="261610"/>
                    </a:xfrm>
                    <a:prstGeom prst="rect">
                      <a:avLst/>
                    </a:prstGeom>
                    <a:blipFill>
                      <a:blip r:embed="rId3"/>
                      <a:stretch>
                        <a:fillRect l="-88372" t="-7877" r="-139535"/>
                      </a:stretch>
                    </a:blipFill>
                  </p:spPr>
                  <p:txBody>
                    <a:bodyPr/>
                    <a:lstStyle/>
                    <a:p>
                      <a:r>
                        <a:rPr lang="zh-TW" altLang="en-US">
                          <a:noFill/>
                        </a:rPr>
                        <a:t> </a:t>
                      </a:r>
                    </a:p>
                  </p:txBody>
                </p:sp>
              </mc:Fallback>
            </mc:AlternateContent>
          </p:grpSp>
          <p:sp>
            <p:nvSpPr>
              <p:cNvPr id="114" name="文字方塊 113">
                <a:extLst>
                  <a:ext uri="{FF2B5EF4-FFF2-40B4-BE49-F238E27FC236}">
                    <a16:creationId xmlns:a16="http://schemas.microsoft.com/office/drawing/2014/main" id="{E622866F-97AA-4705-A2C2-49B20B60A011}"/>
                  </a:ext>
                </a:extLst>
              </p:cNvPr>
              <p:cNvSpPr txBox="1"/>
              <p:nvPr/>
            </p:nvSpPr>
            <p:spPr>
              <a:xfrm>
                <a:off x="7549967" y="200589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5" name="文字方塊 114">
                <a:extLst>
                  <a:ext uri="{FF2B5EF4-FFF2-40B4-BE49-F238E27FC236}">
                    <a16:creationId xmlns:a16="http://schemas.microsoft.com/office/drawing/2014/main" id="{BF354481-1145-4CE9-A8D7-E3EB0E045610}"/>
                  </a:ext>
                </a:extLst>
              </p:cNvPr>
              <p:cNvSpPr txBox="1"/>
              <p:nvPr/>
            </p:nvSpPr>
            <p:spPr>
              <a:xfrm>
                <a:off x="7618085" y="166868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6" name="文字方塊 115">
                <a:extLst>
                  <a:ext uri="{FF2B5EF4-FFF2-40B4-BE49-F238E27FC236}">
                    <a16:creationId xmlns:a16="http://schemas.microsoft.com/office/drawing/2014/main" id="{36C778ED-A77C-4E31-B310-802AEAED8562}"/>
                  </a:ext>
                </a:extLst>
              </p:cNvPr>
              <p:cNvSpPr txBox="1"/>
              <p:nvPr/>
            </p:nvSpPr>
            <p:spPr>
              <a:xfrm>
                <a:off x="6749644" y="996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7" name="文字方塊 116">
                <a:extLst>
                  <a:ext uri="{FF2B5EF4-FFF2-40B4-BE49-F238E27FC236}">
                    <a16:creationId xmlns:a16="http://schemas.microsoft.com/office/drawing/2014/main" id="{FC4BE724-CC8A-4AAD-AE24-C6703DBE7809}"/>
                  </a:ext>
                </a:extLst>
              </p:cNvPr>
              <p:cNvSpPr txBox="1"/>
              <p:nvPr/>
            </p:nvSpPr>
            <p:spPr>
              <a:xfrm>
                <a:off x="5954489" y="17440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8" name="文字方塊 117">
                <a:extLst>
                  <a:ext uri="{FF2B5EF4-FFF2-40B4-BE49-F238E27FC236}">
                    <a16:creationId xmlns:a16="http://schemas.microsoft.com/office/drawing/2014/main" id="{872148E4-1375-478B-B410-534E4E752F65}"/>
                  </a:ext>
                </a:extLst>
              </p:cNvPr>
              <p:cNvSpPr txBox="1"/>
              <p:nvPr/>
            </p:nvSpPr>
            <p:spPr>
              <a:xfrm>
                <a:off x="6784179" y="26152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19" name="文字方塊 118">
                <a:extLst>
                  <a:ext uri="{FF2B5EF4-FFF2-40B4-BE49-F238E27FC236}">
                    <a16:creationId xmlns:a16="http://schemas.microsoft.com/office/drawing/2014/main" id="{92DFC208-7E33-4AFA-9692-4CE531AC23A6}"/>
                  </a:ext>
                </a:extLst>
              </p:cNvPr>
              <p:cNvSpPr txBox="1"/>
              <p:nvPr/>
            </p:nvSpPr>
            <p:spPr>
              <a:xfrm>
                <a:off x="8375762" y="1019647"/>
                <a:ext cx="38009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0" name="文字方塊 119">
                <a:extLst>
                  <a:ext uri="{FF2B5EF4-FFF2-40B4-BE49-F238E27FC236}">
                    <a16:creationId xmlns:a16="http://schemas.microsoft.com/office/drawing/2014/main" id="{0C02D05A-19CA-4649-8B73-FF2BACB0F342}"/>
                  </a:ext>
                </a:extLst>
              </p:cNvPr>
              <p:cNvSpPr txBox="1"/>
              <p:nvPr/>
            </p:nvSpPr>
            <p:spPr>
              <a:xfrm>
                <a:off x="8427913" y="2608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1" name="文字方塊 120">
                <a:extLst>
                  <a:ext uri="{FF2B5EF4-FFF2-40B4-BE49-F238E27FC236}">
                    <a16:creationId xmlns:a16="http://schemas.microsoft.com/office/drawing/2014/main" id="{F88C7781-126C-4732-B416-731CA551DC04}"/>
                  </a:ext>
                </a:extLst>
              </p:cNvPr>
              <p:cNvSpPr txBox="1"/>
              <p:nvPr/>
            </p:nvSpPr>
            <p:spPr>
              <a:xfrm>
                <a:off x="9146551" y="19404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2" name="文字方塊 121">
                    <a:extLst>
                      <a:ext uri="{FF2B5EF4-FFF2-40B4-BE49-F238E27FC236}">
                        <a16:creationId xmlns:a16="http://schemas.microsoft.com/office/drawing/2014/main" id="{E4ABD7FA-40B3-4FE8-BC0D-584449707A8F}"/>
                      </a:ext>
                    </a:extLst>
                  </p:cNvPr>
                  <p:cNvSpPr txBox="1"/>
                  <p:nvPr/>
                </p:nvSpPr>
                <p:spPr>
                  <a:xfrm>
                    <a:off x="7089658" y="1894180"/>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2" name="文字方塊 121">
                    <a:extLst>
                      <a:ext uri="{FF2B5EF4-FFF2-40B4-BE49-F238E27FC236}">
                        <a16:creationId xmlns:a16="http://schemas.microsoft.com/office/drawing/2014/main" id="{E4ABD7FA-40B3-4FE8-BC0D-584449707A8F}"/>
                      </a:ext>
                    </a:extLst>
                  </p:cNvPr>
                  <p:cNvSpPr txBox="1">
                    <a:spLocks noRot="1" noChangeAspect="1" noMove="1" noResize="1" noEditPoints="1" noAdjustHandles="1" noChangeArrowheads="1" noChangeShapeType="1" noTextEdit="1"/>
                  </p:cNvSpPr>
                  <p:nvPr/>
                </p:nvSpPr>
                <p:spPr>
                  <a:xfrm>
                    <a:off x="7089658" y="1894180"/>
                    <a:ext cx="332369" cy="307777"/>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3" name="文字方塊 122">
                    <a:extLst>
                      <a:ext uri="{FF2B5EF4-FFF2-40B4-BE49-F238E27FC236}">
                        <a16:creationId xmlns:a16="http://schemas.microsoft.com/office/drawing/2014/main" id="{EC2CC104-96C8-4CFE-8762-71B98E94DB61}"/>
                      </a:ext>
                    </a:extLst>
                  </p:cNvPr>
                  <p:cNvSpPr txBox="1"/>
                  <p:nvPr/>
                </p:nvSpPr>
                <p:spPr>
                  <a:xfrm>
                    <a:off x="6654418" y="140498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3" name="文字方塊 122">
                    <a:extLst>
                      <a:ext uri="{FF2B5EF4-FFF2-40B4-BE49-F238E27FC236}">
                        <a16:creationId xmlns:a16="http://schemas.microsoft.com/office/drawing/2014/main" id="{EC2CC104-96C8-4CFE-8762-71B98E94DB61}"/>
                      </a:ext>
                    </a:extLst>
                  </p:cNvPr>
                  <p:cNvSpPr txBox="1">
                    <a:spLocks noRot="1" noChangeAspect="1" noMove="1" noResize="1" noEditPoints="1" noAdjustHandles="1" noChangeArrowheads="1" noChangeShapeType="1" noTextEdit="1"/>
                  </p:cNvSpPr>
                  <p:nvPr/>
                </p:nvSpPr>
                <p:spPr>
                  <a:xfrm>
                    <a:off x="6654418" y="1404983"/>
                    <a:ext cx="332369" cy="307777"/>
                  </a:xfrm>
                  <a:prstGeom prst="rect">
                    <a:avLst/>
                  </a:prstGeom>
                  <a:blipFill>
                    <a:blip r:embed="rId5"/>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4" name="文字方塊 123">
                    <a:extLst>
                      <a:ext uri="{FF2B5EF4-FFF2-40B4-BE49-F238E27FC236}">
                        <a16:creationId xmlns:a16="http://schemas.microsoft.com/office/drawing/2014/main" id="{22776C41-A1CC-4F49-B102-F5A60EC60753}"/>
                      </a:ext>
                    </a:extLst>
                  </p:cNvPr>
                  <p:cNvSpPr txBox="1"/>
                  <p:nvPr/>
                </p:nvSpPr>
                <p:spPr>
                  <a:xfrm>
                    <a:off x="8638499" y="188607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4" name="文字方塊 123">
                    <a:extLst>
                      <a:ext uri="{FF2B5EF4-FFF2-40B4-BE49-F238E27FC236}">
                        <a16:creationId xmlns:a16="http://schemas.microsoft.com/office/drawing/2014/main" id="{22776C41-A1CC-4F49-B102-F5A60EC60753}"/>
                      </a:ext>
                    </a:extLst>
                  </p:cNvPr>
                  <p:cNvSpPr txBox="1">
                    <a:spLocks noRot="1" noChangeAspect="1" noMove="1" noResize="1" noEditPoints="1" noAdjustHandles="1" noChangeArrowheads="1" noChangeShapeType="1" noTextEdit="1"/>
                  </p:cNvSpPr>
                  <p:nvPr/>
                </p:nvSpPr>
                <p:spPr>
                  <a:xfrm>
                    <a:off x="8638499" y="1886078"/>
                    <a:ext cx="332369" cy="30777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5" name="文字方塊 124">
                    <a:extLst>
                      <a:ext uri="{FF2B5EF4-FFF2-40B4-BE49-F238E27FC236}">
                        <a16:creationId xmlns:a16="http://schemas.microsoft.com/office/drawing/2014/main" id="{8B69D8F6-84BA-4CE6-9868-BCC4F0E7F1D4}"/>
                      </a:ext>
                    </a:extLst>
                  </p:cNvPr>
                  <p:cNvSpPr txBox="1"/>
                  <p:nvPr/>
                </p:nvSpPr>
                <p:spPr>
                  <a:xfrm>
                    <a:off x="8276856" y="148689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25" name="文字方塊 124">
                    <a:extLst>
                      <a:ext uri="{FF2B5EF4-FFF2-40B4-BE49-F238E27FC236}">
                        <a16:creationId xmlns:a16="http://schemas.microsoft.com/office/drawing/2014/main" id="{8B69D8F6-84BA-4CE6-9868-BCC4F0E7F1D4}"/>
                      </a:ext>
                    </a:extLst>
                  </p:cNvPr>
                  <p:cNvSpPr txBox="1">
                    <a:spLocks noRot="1" noChangeAspect="1" noMove="1" noResize="1" noEditPoints="1" noAdjustHandles="1" noChangeArrowheads="1" noChangeShapeType="1" noTextEdit="1"/>
                  </p:cNvSpPr>
                  <p:nvPr/>
                </p:nvSpPr>
                <p:spPr>
                  <a:xfrm>
                    <a:off x="8276856" y="1486891"/>
                    <a:ext cx="332369" cy="307777"/>
                  </a:xfrm>
                  <a:prstGeom prst="rect">
                    <a:avLst/>
                  </a:prstGeom>
                  <a:blipFill>
                    <a:blip r:embed="rId7"/>
                    <a:stretch>
                      <a:fillRect/>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F076E878-AEC7-4745-A52A-8D018051BE1B}"/>
              </a:ext>
            </a:extLst>
          </p:cNvPr>
          <p:cNvGrpSpPr/>
          <p:nvPr/>
        </p:nvGrpSpPr>
        <p:grpSpPr>
          <a:xfrm>
            <a:off x="7945169" y="2954874"/>
            <a:ext cx="2497120" cy="2026779"/>
            <a:chOff x="7945169" y="2954874"/>
            <a:chExt cx="2497120" cy="2026779"/>
          </a:xfrm>
        </p:grpSpPr>
        <p:pic>
          <p:nvPicPr>
            <p:cNvPr id="4" name="圖片 3">
              <a:extLst>
                <a:ext uri="{FF2B5EF4-FFF2-40B4-BE49-F238E27FC236}">
                  <a16:creationId xmlns:a16="http://schemas.microsoft.com/office/drawing/2014/main" id="{8068726C-9194-4471-A02B-4DED5BAA94E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30410" y="3090294"/>
              <a:ext cx="2172905" cy="1769696"/>
            </a:xfrm>
            <a:prstGeom prst="rect">
              <a:avLst/>
            </a:prstGeom>
          </p:spPr>
        </p:pic>
        <p:grpSp>
          <p:nvGrpSpPr>
            <p:cNvPr id="133" name="群組 132">
              <a:extLst>
                <a:ext uri="{FF2B5EF4-FFF2-40B4-BE49-F238E27FC236}">
                  <a16:creationId xmlns:a16="http://schemas.microsoft.com/office/drawing/2014/main" id="{05AB593D-3DDE-47C0-93D0-1FF33E1F6E12}"/>
                </a:ext>
              </a:extLst>
            </p:cNvPr>
            <p:cNvGrpSpPr/>
            <p:nvPr/>
          </p:nvGrpSpPr>
          <p:grpSpPr>
            <a:xfrm>
              <a:off x="7945169" y="2954874"/>
              <a:ext cx="2497120" cy="2026779"/>
              <a:chOff x="8018969" y="3442605"/>
              <a:chExt cx="2497120" cy="2026779"/>
            </a:xfrm>
          </p:grpSpPr>
          <p:grpSp>
            <p:nvGrpSpPr>
              <p:cNvPr id="111" name="群組 110">
                <a:extLst>
                  <a:ext uri="{FF2B5EF4-FFF2-40B4-BE49-F238E27FC236}">
                    <a16:creationId xmlns:a16="http://schemas.microsoft.com/office/drawing/2014/main" id="{B429A72B-68DB-41E5-9A77-601937261BE5}"/>
                  </a:ext>
                </a:extLst>
              </p:cNvPr>
              <p:cNvGrpSpPr/>
              <p:nvPr/>
            </p:nvGrpSpPr>
            <p:grpSpPr>
              <a:xfrm>
                <a:off x="8061395" y="3442605"/>
                <a:ext cx="2454694" cy="1972039"/>
                <a:chOff x="7393095" y="3875212"/>
                <a:chExt cx="2454694" cy="1972039"/>
              </a:xfrm>
            </p:grpSpPr>
            <p:grpSp>
              <p:nvGrpSpPr>
                <p:cNvPr id="110" name="群組 109">
                  <a:extLst>
                    <a:ext uri="{FF2B5EF4-FFF2-40B4-BE49-F238E27FC236}">
                      <a16:creationId xmlns:a16="http://schemas.microsoft.com/office/drawing/2014/main" id="{185FE1CC-FA74-495A-8F4C-C27BFA14E0E5}"/>
                    </a:ext>
                  </a:extLst>
                </p:cNvPr>
                <p:cNvGrpSpPr/>
                <p:nvPr/>
              </p:nvGrpSpPr>
              <p:grpSpPr>
                <a:xfrm>
                  <a:off x="7393095" y="3875212"/>
                  <a:ext cx="2388559" cy="1971389"/>
                  <a:chOff x="7393095" y="3875212"/>
                  <a:chExt cx="2388559" cy="1971389"/>
                </a:xfrm>
              </p:grpSpPr>
              <p:sp>
                <p:nvSpPr>
                  <p:cNvPr id="105" name="矩形 104">
                    <a:extLst>
                      <a:ext uri="{FF2B5EF4-FFF2-40B4-BE49-F238E27FC236}">
                        <a16:creationId xmlns:a16="http://schemas.microsoft.com/office/drawing/2014/main" id="{CEDE6DB8-73CE-4D0B-83CA-F007F7A25032}"/>
                      </a:ext>
                    </a:extLst>
                  </p:cNvPr>
                  <p:cNvSpPr/>
                  <p:nvPr/>
                </p:nvSpPr>
                <p:spPr>
                  <a:xfrm>
                    <a:off x="8253479" y="3875212"/>
                    <a:ext cx="277776" cy="2558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矩形 105">
                    <a:extLst>
                      <a:ext uri="{FF2B5EF4-FFF2-40B4-BE49-F238E27FC236}">
                        <a16:creationId xmlns:a16="http://schemas.microsoft.com/office/drawing/2014/main" id="{DCD55C8F-296C-4E3C-984F-6EDF4B36539C}"/>
                      </a:ext>
                    </a:extLst>
                  </p:cNvPr>
                  <p:cNvSpPr/>
                  <p:nvPr/>
                </p:nvSpPr>
                <p:spPr>
                  <a:xfrm>
                    <a:off x="7393095" y="4788351"/>
                    <a:ext cx="277776" cy="2108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矩形 106">
                    <a:extLst>
                      <a:ext uri="{FF2B5EF4-FFF2-40B4-BE49-F238E27FC236}">
                        <a16:creationId xmlns:a16="http://schemas.microsoft.com/office/drawing/2014/main" id="{CEA50DE1-0099-4B8E-B054-E2A2A728394C}"/>
                      </a:ext>
                    </a:extLst>
                  </p:cNvPr>
                  <p:cNvSpPr/>
                  <p:nvPr/>
                </p:nvSpPr>
                <p:spPr>
                  <a:xfrm>
                    <a:off x="8248334" y="5635762"/>
                    <a:ext cx="277776"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8" name="矩形 107">
                    <a:extLst>
                      <a:ext uri="{FF2B5EF4-FFF2-40B4-BE49-F238E27FC236}">
                        <a16:creationId xmlns:a16="http://schemas.microsoft.com/office/drawing/2014/main" id="{88D8E9D5-10C5-46A7-B1DD-C0FE37EAF05E}"/>
                      </a:ext>
                    </a:extLst>
                  </p:cNvPr>
                  <p:cNvSpPr/>
                  <p:nvPr/>
                </p:nvSpPr>
                <p:spPr>
                  <a:xfrm>
                    <a:off x="9147877" y="4788350"/>
                    <a:ext cx="221795" cy="21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9" name="矩形 108">
                    <a:extLst>
                      <a:ext uri="{FF2B5EF4-FFF2-40B4-BE49-F238E27FC236}">
                        <a16:creationId xmlns:a16="http://schemas.microsoft.com/office/drawing/2014/main" id="{2C626AEB-C80F-423D-A1AB-96EACC0012E6}"/>
                      </a:ext>
                    </a:extLst>
                  </p:cNvPr>
                  <p:cNvSpPr/>
                  <p:nvPr/>
                </p:nvSpPr>
                <p:spPr>
                  <a:xfrm>
                    <a:off x="9599653" y="4576159"/>
                    <a:ext cx="182001" cy="575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1" name="文字方塊 100">
                      <a:extLst>
                        <a:ext uri="{FF2B5EF4-FFF2-40B4-BE49-F238E27FC236}">
                          <a16:creationId xmlns:a16="http://schemas.microsoft.com/office/drawing/2014/main" id="{D20AA81C-7F37-4628-A13A-25DB08A1B0F2}"/>
                        </a:ext>
                      </a:extLst>
                    </p:cNvPr>
                    <p:cNvSpPr txBox="1"/>
                    <p:nvPr/>
                  </p:nvSpPr>
                  <p:spPr>
                    <a:xfrm rot="16200000">
                      <a:off x="8753022" y="4752483"/>
                      <a:ext cx="1912536" cy="276999"/>
                    </a:xfrm>
                    <a:prstGeom prst="rect">
                      <a:avLst/>
                    </a:prstGeom>
                    <a:noFill/>
                  </p:spPr>
                  <p:txBody>
                    <a:bodyPr wrap="square">
                      <a:spAutoFit/>
                    </a:bodyPr>
                    <a:lstStyle/>
                    <a:p>
                      <a:r>
                        <a:rPr lang="en-US" altLang="zh-TW" sz="1200" dirty="0">
                          <a:latin typeface="Times New Roman" panose="02020603050405020304" pitchFamily="18" charset="0"/>
                          <a:cs typeface="Times New Roman" panose="02020603050405020304" pitchFamily="18" charset="0"/>
                        </a:rPr>
                        <a:t>Capacity measure</a:t>
                      </a:r>
                      <a:r>
                        <a:rPr lang="zh-TW" altLang="en-US" sz="1200" dirty="0">
                          <a:latin typeface="Times New Roman" panose="02020603050405020304" pitchFamily="18" charset="0"/>
                          <a:cs typeface="Times New Roman" panose="02020603050405020304" pitchFamily="18" charset="0"/>
                        </a:rPr>
                        <a:t> </a:t>
                      </a:r>
                      <a14:m>
                        <m:oMath xmlns:m="http://schemas.openxmlformats.org/officeDocument/2006/math">
                          <m:r>
                            <a:rPr lang="en-US" altLang="zh-TW" sz="1200" b="0" i="0" smtClean="0">
                              <a:latin typeface="Cambria Math" panose="02040503050406030204" pitchFamily="18" charset="0"/>
                            </a:rPr>
                            <m:t>(</m:t>
                          </m:r>
                          <m:f>
                            <m:fPr>
                              <m:type m:val="lin"/>
                              <m:ctrlPr>
                                <a:rPr lang="en-US" altLang="zh-TW" sz="1200" i="1" smtClean="0">
                                  <a:latin typeface="Cambria Math" panose="02040503050406030204" pitchFamily="18" charset="0"/>
                                </a:rPr>
                              </m:ctrlPr>
                            </m:fPr>
                            <m:num>
                              <m:r>
                                <a:rPr lang="en-US" altLang="zh-TW" sz="1200" b="0" i="1" smtClean="0">
                                  <a:latin typeface="Cambria Math" panose="02040503050406030204" pitchFamily="18" charset="0"/>
                                </a:rPr>
                                <m:t>𝑚𝑇</m:t>
                              </m:r>
                            </m:num>
                            <m:den>
                              <m:r>
                                <a:rPr lang="en-US" altLang="zh-TW" sz="1200" b="0" i="1" smtClean="0">
                                  <a:latin typeface="Cambria Math" panose="02040503050406030204" pitchFamily="18" charset="0"/>
                                </a:rPr>
                                <m:t>𝐴</m:t>
                              </m:r>
                            </m:den>
                          </m:f>
                          <m:r>
                            <a:rPr lang="en-US" altLang="zh-TW" sz="1200" b="0" i="1" smtClean="0">
                              <a:latin typeface="Cambria Math" panose="02040503050406030204" pitchFamily="18" charset="0"/>
                            </a:rPr>
                            <m:t>)</m:t>
                          </m:r>
                        </m:oMath>
                      </a14:m>
                      <a:r>
                        <a:rPr lang="zh-TW" altLang="en-US" sz="1200" dirty="0">
                          <a:latin typeface="Times New Roman" panose="02020603050405020304" pitchFamily="18" charset="0"/>
                          <a:cs typeface="Times New Roman" panose="02020603050405020304" pitchFamily="18" charset="0"/>
                        </a:rPr>
                        <a:t>  </a:t>
                      </a:r>
                    </a:p>
                  </p:txBody>
                </p:sp>
              </mc:Choice>
              <mc:Fallback xmlns="">
                <p:sp>
                  <p:nvSpPr>
                    <p:cNvPr id="101" name="文字方塊 100">
                      <a:extLst>
                        <a:ext uri="{FF2B5EF4-FFF2-40B4-BE49-F238E27FC236}">
                          <a16:creationId xmlns:a16="http://schemas.microsoft.com/office/drawing/2014/main" id="{D20AA81C-7F37-4628-A13A-25DB08A1B0F2}"/>
                        </a:ext>
                      </a:extLst>
                    </p:cNvPr>
                    <p:cNvSpPr txBox="1">
                      <a:spLocks noRot="1" noChangeAspect="1" noMove="1" noResize="1" noEditPoints="1" noAdjustHandles="1" noChangeArrowheads="1" noChangeShapeType="1" noTextEdit="1"/>
                    </p:cNvSpPr>
                    <p:nvPr/>
                  </p:nvSpPr>
                  <p:spPr>
                    <a:xfrm rot="16200000">
                      <a:off x="8753022" y="4752483"/>
                      <a:ext cx="1912536" cy="276999"/>
                    </a:xfrm>
                    <a:prstGeom prst="rect">
                      <a:avLst/>
                    </a:prstGeom>
                    <a:blipFill>
                      <a:blip r:embed="rId9"/>
                      <a:stretch>
                        <a:fillRect l="-93333" t="-7962" r="-151111" b="-318"/>
                      </a:stretch>
                    </a:blipFill>
                  </p:spPr>
                  <p:txBody>
                    <a:bodyPr/>
                    <a:lstStyle/>
                    <a:p>
                      <a:r>
                        <a:rPr lang="zh-TW" altLang="en-US">
                          <a:noFill/>
                        </a:rPr>
                        <a:t> </a:t>
                      </a:r>
                    </a:p>
                  </p:txBody>
                </p:sp>
              </mc:Fallback>
            </mc:AlternateContent>
          </p:grpSp>
          <p:sp>
            <p:nvSpPr>
              <p:cNvPr id="127" name="文字方塊 126">
                <a:extLst>
                  <a:ext uri="{FF2B5EF4-FFF2-40B4-BE49-F238E27FC236}">
                    <a16:creationId xmlns:a16="http://schemas.microsoft.com/office/drawing/2014/main" id="{CDEC9209-7690-47D1-8032-24B7836DC655}"/>
                  </a:ext>
                </a:extLst>
              </p:cNvPr>
              <p:cNvSpPr txBox="1"/>
              <p:nvPr/>
            </p:nvSpPr>
            <p:spPr>
              <a:xfrm>
                <a:off x="8018969" y="42549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8" name="文字方塊 127">
                <a:extLst>
                  <a:ext uri="{FF2B5EF4-FFF2-40B4-BE49-F238E27FC236}">
                    <a16:creationId xmlns:a16="http://schemas.microsoft.com/office/drawing/2014/main" id="{D74981A4-1E26-4DB7-83C6-33379484CDF8}"/>
                  </a:ext>
                </a:extLst>
              </p:cNvPr>
              <p:cNvSpPr txBox="1"/>
              <p:nvPr/>
            </p:nvSpPr>
            <p:spPr>
              <a:xfrm>
                <a:off x="8906027" y="347660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29" name="文字方塊 128">
                <a:extLst>
                  <a:ext uri="{FF2B5EF4-FFF2-40B4-BE49-F238E27FC236}">
                    <a16:creationId xmlns:a16="http://schemas.microsoft.com/office/drawing/2014/main" id="{8962DFBE-B504-4F5F-A4F2-59323633F711}"/>
                  </a:ext>
                </a:extLst>
              </p:cNvPr>
              <p:cNvSpPr txBox="1"/>
              <p:nvPr/>
            </p:nvSpPr>
            <p:spPr>
              <a:xfrm>
                <a:off x="8906027" y="516160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0" name="文字方塊 129">
                <a:extLst>
                  <a:ext uri="{FF2B5EF4-FFF2-40B4-BE49-F238E27FC236}">
                    <a16:creationId xmlns:a16="http://schemas.microsoft.com/office/drawing/2014/main" id="{DA7B902F-473B-42D1-B8E1-2790BCFA74C8}"/>
                  </a:ext>
                </a:extLst>
              </p:cNvPr>
              <p:cNvSpPr txBox="1"/>
              <p:nvPr/>
            </p:nvSpPr>
            <p:spPr>
              <a:xfrm>
                <a:off x="9745876" y="440885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1" name="文字方塊 130">
                    <a:extLst>
                      <a:ext uri="{FF2B5EF4-FFF2-40B4-BE49-F238E27FC236}">
                        <a16:creationId xmlns:a16="http://schemas.microsoft.com/office/drawing/2014/main" id="{A1426993-665E-4AF4-BC9A-4D892A836CB1}"/>
                      </a:ext>
                    </a:extLst>
                  </p:cNvPr>
                  <p:cNvSpPr txBox="1"/>
                  <p:nvPr/>
                </p:nvSpPr>
                <p:spPr>
                  <a:xfrm>
                    <a:off x="9205841" y="43778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1" name="文字方塊 130">
                    <a:extLst>
                      <a:ext uri="{FF2B5EF4-FFF2-40B4-BE49-F238E27FC236}">
                        <a16:creationId xmlns:a16="http://schemas.microsoft.com/office/drawing/2014/main" id="{A1426993-665E-4AF4-BC9A-4D892A836CB1}"/>
                      </a:ext>
                    </a:extLst>
                  </p:cNvPr>
                  <p:cNvSpPr txBox="1">
                    <a:spLocks noRot="1" noChangeAspect="1" noMove="1" noResize="1" noEditPoints="1" noAdjustHandles="1" noChangeArrowheads="1" noChangeShapeType="1" noTextEdit="1"/>
                  </p:cNvSpPr>
                  <p:nvPr/>
                </p:nvSpPr>
                <p:spPr>
                  <a:xfrm>
                    <a:off x="9205841" y="4377825"/>
                    <a:ext cx="332369" cy="307777"/>
                  </a:xfrm>
                  <a:prstGeom prst="rect">
                    <a:avLst/>
                  </a:prstGeom>
                  <a:blipFill>
                    <a:blip r:embed="rId14"/>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2" name="文字方塊 131">
                    <a:extLst>
                      <a:ext uri="{FF2B5EF4-FFF2-40B4-BE49-F238E27FC236}">
                        <a16:creationId xmlns:a16="http://schemas.microsoft.com/office/drawing/2014/main" id="{06B8C82E-92F7-445B-99DE-A74AF1C2956D}"/>
                      </a:ext>
                    </a:extLst>
                  </p:cNvPr>
                  <p:cNvSpPr txBox="1"/>
                  <p:nvPr/>
                </p:nvSpPr>
                <p:spPr>
                  <a:xfrm>
                    <a:off x="8829736" y="3889488"/>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2" name="文字方塊 131">
                    <a:extLst>
                      <a:ext uri="{FF2B5EF4-FFF2-40B4-BE49-F238E27FC236}">
                        <a16:creationId xmlns:a16="http://schemas.microsoft.com/office/drawing/2014/main" id="{06B8C82E-92F7-445B-99DE-A74AF1C2956D}"/>
                      </a:ext>
                    </a:extLst>
                  </p:cNvPr>
                  <p:cNvSpPr txBox="1">
                    <a:spLocks noRot="1" noChangeAspect="1" noMove="1" noResize="1" noEditPoints="1" noAdjustHandles="1" noChangeArrowheads="1" noChangeShapeType="1" noTextEdit="1"/>
                  </p:cNvSpPr>
                  <p:nvPr/>
                </p:nvSpPr>
                <p:spPr>
                  <a:xfrm>
                    <a:off x="8829736" y="3889488"/>
                    <a:ext cx="332369" cy="307777"/>
                  </a:xfrm>
                  <a:prstGeom prst="rect">
                    <a:avLst/>
                  </a:prstGeom>
                  <a:blipFill>
                    <a:blip r:embed="rId7"/>
                    <a:stretch>
                      <a:fillRect/>
                    </a:stretch>
                  </a:blipFill>
                </p:spPr>
                <p:txBody>
                  <a:bodyPr/>
                  <a:lstStyle/>
                  <a:p>
                    <a:r>
                      <a:rPr lang="zh-TW" altLang="en-US">
                        <a:noFill/>
                      </a:rPr>
                      <a:t> </a:t>
                    </a:r>
                  </a:p>
                </p:txBody>
              </p:sp>
            </mc:Fallback>
          </mc:AlternateContent>
        </p:grpSp>
      </p:gr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Wingdings" panose="05000000000000000000" pitchFamily="2" charset="2"/>
              <a:buChar char="l"/>
            </a:pPr>
            <a:endParaRPr lang="en-US" altLang="zh-TW" sz="1600" dirty="0"/>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F6E37D5-9B05-4154-8B17-473DC3D8C9E7}"/>
                  </a:ext>
                </a:extLst>
              </p:cNvPr>
              <p:cNvSpPr txBox="1"/>
              <p:nvPr/>
            </p:nvSpPr>
            <p:spPr>
              <a:xfrm>
                <a:off x="153910" y="940322"/>
                <a:ext cx="6656431" cy="5078313"/>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t>The capacity measure </a:t>
                </a:r>
                <a:r>
                  <a:rPr lang="zh-TW" altLang="en-US" dirty="0"/>
                  <a:t>𝒞 </a:t>
                </a:r>
                <a:r>
                  <a:rPr lang="en-US" altLang="zh-TW" dirty="0"/>
                  <a:t>for Design A is mapped on three mutually orthogonal actuator planes through the origin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b="0" i="1" smtClean="0">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𝑥</m:t>
                            </m:r>
                          </m:e>
                        </m:acc>
                      </m:e>
                      <m:sub>
                        <m:r>
                          <a:rPr lang="en-US" altLang="zh-TW" i="1">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𝑧</m:t>
                            </m:r>
                          </m:e>
                        </m:acc>
                      </m:e>
                      <m:sub>
                        <m:r>
                          <a:rPr lang="en-US" altLang="zh-TW" i="1">
                            <a:latin typeface="Cambria Math" panose="02040503050406030204" pitchFamily="18" charset="0"/>
                          </a:rPr>
                          <m:t>𝑎</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𝑧</m:t>
                            </m:r>
                          </m:e>
                        </m:acc>
                      </m:e>
                      <m:sub>
                        <m:r>
                          <a:rPr lang="en-US" altLang="zh-TW" i="1">
                            <a:latin typeface="Cambria Math" panose="02040503050406030204" pitchFamily="18" charset="0"/>
                          </a:rPr>
                          <m:t>𝑎</m:t>
                        </m:r>
                      </m:sub>
                    </m:sSub>
                  </m:oMath>
                </a14:m>
                <a:r>
                  <a:rPr lang="en-US" altLang="zh-TW" dirty="0"/>
                  <a:t>). The model is calibrated on the converged design within R ≤ 150 µm, then evaluated point by point out to the pole-tip sphere at R = 500 µm; the two pole pairs lying in each plane are marked on the rim.</a:t>
                </a:r>
              </a:p>
              <a:p>
                <a:pPr marL="285750" indent="-285750">
                  <a:buFont typeface="Wingdings" panose="05000000000000000000" pitchFamily="2" charset="2"/>
                  <a:buChar char="l"/>
                </a:pPr>
                <a:r>
                  <a:rPr lang="zh-TW" altLang="en-US" dirty="0"/>
                  <a:t>𝒞 </a:t>
                </a:r>
                <a:r>
                  <a:rPr lang="en-US" altLang="zh-TW" dirty="0"/>
                  <a:t>peaks on the rim along the pole directions (16.7–17.3 </a:t>
                </a:r>
                <a:r>
                  <a:rPr lang="en-US" altLang="zh-TW" dirty="0" err="1"/>
                  <a:t>mT</a:t>
                </a:r>
                <a:r>
                  <a:rPr lang="en-US" altLang="zh-TW" dirty="0"/>
                  <a:t>/A) and bottoms out on the rim between poles (13.2–13.3), while the </a:t>
                </a:r>
                <a:r>
                  <a:rPr lang="en-US" altLang="zh-TW" dirty="0" err="1"/>
                  <a:t>centre</a:t>
                </a:r>
                <a:r>
                  <a:rPr lang="en-US" altLang="zh-TW" dirty="0"/>
                  <a:t> sits at 14.39 </a:t>
                </a:r>
                <a:r>
                  <a:rPr lang="en-US" altLang="zh-TW" dirty="0" err="1"/>
                  <a:t>mT</a:t>
                </a:r>
                <a:r>
                  <a:rPr lang="en-US" altLang="zh-TW" dirty="0"/>
                  <a:t>/A and is identical on all three planes. Along a pole axis </a:t>
                </a:r>
                <a:r>
                  <a:rPr lang="zh-TW" altLang="en-US" dirty="0"/>
                  <a:t>𝒞 </a:t>
                </a:r>
                <a:r>
                  <a:rPr lang="en-US" altLang="zh-TW" dirty="0"/>
                  <a:t>therefore rises monotonically with radius, but between poles it rises then falls, so the weakest actuation in the workspace lies on the rim between poles rather than at the </a:t>
                </a:r>
                <a:r>
                  <a:rPr lang="en-US" altLang="zh-TW" dirty="0" err="1"/>
                  <a:t>centre</a:t>
                </a:r>
                <a:r>
                  <a:rPr lang="en-US" altLang="zh-TW" dirty="0"/>
                  <a:t> — the </a:t>
                </a:r>
                <a:r>
                  <a:rPr lang="en-US" altLang="zh-TW" dirty="0" err="1"/>
                  <a:t>centre</a:t>
                </a:r>
                <a:r>
                  <a:rPr lang="en-US" altLang="zh-TW" dirty="0"/>
                  <a:t> is the most uniform point, not the weakest. The four lobes are not equal in strength: the lower poles P1/P3/P6 reach ≈16.69 and the upper poles P2/P4/P5 ≈17.32, a 3.8 % difference, and the arrangement of strong lobes differs on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𝑥</m:t>
                            </m:r>
                          </m:e>
                        </m:acc>
                      </m:e>
                      <m:sub>
                        <m:r>
                          <a:rPr lang="en-US" altLang="zh-TW" b="0" i="1" smtClean="0">
                            <a:latin typeface="Cambria Math" panose="02040503050406030204" pitchFamily="18" charset="0"/>
                          </a:rPr>
                          <m:t>𝑎</m:t>
                        </m:r>
                      </m:sub>
                    </m:sSub>
                  </m:oMath>
                </a14:m>
                <a:r>
                  <a:rPr lang="en-US" altLang="zh-TW" dirty="0"/>
                  <a:t>–</a:t>
                </a:r>
                <a14:m>
                  <m:oMath xmlns:m="http://schemas.openxmlformats.org/officeDocument/2006/math">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𝑦</m:t>
                            </m:r>
                          </m:e>
                        </m:acc>
                      </m:e>
                      <m:sub>
                        <m:r>
                          <a:rPr lang="en-US" altLang="zh-TW" i="1">
                            <a:latin typeface="Cambria Math" panose="02040503050406030204" pitchFamily="18" charset="0"/>
                          </a:rPr>
                          <m:t>𝑎</m:t>
                        </m:r>
                      </m:sub>
                    </m:sSub>
                  </m:oMath>
                </a14:m>
                <a:r>
                  <a:rPr lang="en-US" altLang="zh-TW" dirty="0"/>
                  <a:t> from the other two planes — a direct signature of the upper/lower asymmetry of Long's half-cut geometry.</a:t>
                </a:r>
                <a:endParaRPr lang="zh-TW" altLang="en-US" dirty="0"/>
              </a:p>
            </p:txBody>
          </p:sp>
        </mc:Choice>
        <mc:Fallback xmlns="">
          <p:sp>
            <p:nvSpPr>
              <p:cNvPr id="3" name="文字方塊 2">
                <a:extLst>
                  <a:ext uri="{FF2B5EF4-FFF2-40B4-BE49-F238E27FC236}">
                    <a16:creationId xmlns:a16="http://schemas.microsoft.com/office/drawing/2014/main" id="{FF6E37D5-9B05-4154-8B17-473DC3D8C9E7}"/>
                  </a:ext>
                </a:extLst>
              </p:cNvPr>
              <p:cNvSpPr txBox="1">
                <a:spLocks noRot="1" noChangeAspect="1" noMove="1" noResize="1" noEditPoints="1" noAdjustHandles="1" noChangeArrowheads="1" noChangeShapeType="1" noTextEdit="1"/>
              </p:cNvSpPr>
              <p:nvPr/>
            </p:nvSpPr>
            <p:spPr>
              <a:xfrm>
                <a:off x="153910" y="940322"/>
                <a:ext cx="6656431" cy="5078313"/>
              </a:xfrm>
              <a:prstGeom prst="rect">
                <a:avLst/>
              </a:prstGeom>
              <a:blipFill>
                <a:blip r:embed="rId15"/>
                <a:stretch>
                  <a:fillRect l="-549" t="-840" r="-1374" b="-96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208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DesignA</a:t>
            </a:r>
            <a:endParaRPr lang="zh-TW" altLang="en-US" dirty="0"/>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5B421D71-8641-46AC-AFEE-B118C73A4CD4}"/>
                  </a:ext>
                </a:extLst>
              </p:cNvPr>
              <p:cNvSpPr txBox="1"/>
              <p:nvPr/>
            </p:nvSpPr>
            <p:spPr>
              <a:xfrm>
                <a:off x="186061" y="950588"/>
                <a:ext cx="6176432" cy="4801314"/>
              </a:xfrm>
              <a:prstGeom prst="rect">
                <a:avLst/>
              </a:prstGeom>
              <a:noFill/>
            </p:spPr>
            <p:txBody>
              <a:bodyPr wrap="square">
                <a:spAutoFit/>
              </a:bodyPr>
              <a:lstStyle/>
              <a:p>
                <a:pPr marL="285750" indent="-285750">
                  <a:buFont typeface="Arial" panose="020B0604020202020204" pitchFamily="34" charset="0"/>
                  <a:buChar char="•"/>
                </a:pPr>
                <a:r>
                  <a:rPr lang="en-US" altLang="zh-TW" dirty="0"/>
                  <a:t>Same three actuator planes and the same calibrated model as the previous slide, now mapping isotropy </a:t>
                </a:r>
                <a14:m>
                  <m:oMath xmlns:m="http://schemas.openxmlformats.org/officeDocument/2006/math">
                    <m:r>
                      <a:rPr lang="zh-TW" altLang="en-US" i="1" smtClean="0">
                        <a:latin typeface="Cambria Math" panose="02040503050406030204" pitchFamily="18" charset="0"/>
                      </a:rPr>
                      <m:t>𝜅</m:t>
                    </m:r>
                  </m:oMath>
                </a14:m>
                <a:r>
                  <a:rPr lang="en-US" altLang="zh-TW" dirty="0"/>
                  <a:t> = σ₃/σ₁ (dimensionless, </a:t>
                </a:r>
                <a:r>
                  <a:rPr lang="en-US" altLang="zh-TW" dirty="0" err="1"/>
                  <a:t>colour</a:t>
                </a:r>
                <a:r>
                  <a:rPr lang="en-US" altLang="zh-TW" dirty="0"/>
                  <a:t> scale 0–1). It is again evaluated point by point out to the pole-tip sphere at R = 500 µm, with the in-plane pole pairs marked on the rim.</a:t>
                </a:r>
              </a:p>
              <a:p>
                <a:pPr marL="285750" indent="-285750">
                  <a:buFont typeface="Arial" panose="020B0604020202020204" pitchFamily="34" charset="0"/>
                  <a:buChar char="•"/>
                </a:pPr>
                <a14:m>
                  <m:oMath xmlns:m="http://schemas.openxmlformats.org/officeDocument/2006/math">
                    <m:r>
                      <a:rPr lang="zh-TW" altLang="en-US" i="1" smtClean="0">
                        <a:latin typeface="Cambria Math" panose="02040503050406030204" pitchFamily="18" charset="0"/>
                      </a:rPr>
                      <m:t>𝜅</m:t>
                    </m:r>
                  </m:oMath>
                </a14:m>
                <a:r>
                  <a:rPr lang="en-US" altLang="zh-TW" dirty="0"/>
                  <a:t> is close to 1 at the </a:t>
                </a:r>
                <a:r>
                  <a:rPr lang="en-US" altLang="zh-TW" dirty="0" err="1"/>
                  <a:t>centre</a:t>
                </a:r>
                <a:r>
                  <a:rPr lang="en-US" altLang="zh-TW" dirty="0"/>
                  <a:t> and decays outwards, staying above 0.8 roughly within the calibration radius of 150 µm before degrading quickly. The decay is not circularly symmetric: at the rim, isotropy is worst along the pole directions and best between poles, differing by about a factor of two. Isotropy is therefore the exact complement of capacity — the rim along a pole axis, where the gain is largest, is where the isotropy is worst. The upper poles reach a slightly lower minimum than the lower poles, consistent with the half-cut asymmetry seen on the previous slide. All three planes look essentially the same, showing that the isotropy inherits the overall symmetry of the six-pole layout.</a:t>
                </a:r>
                <a:endParaRPr lang="zh-TW" altLang="en-US" dirty="0"/>
              </a:p>
            </p:txBody>
          </p:sp>
        </mc:Choice>
        <mc:Fallback xmlns="">
          <p:sp>
            <p:nvSpPr>
              <p:cNvPr id="64" name="文字方塊 63">
                <a:extLst>
                  <a:ext uri="{FF2B5EF4-FFF2-40B4-BE49-F238E27FC236}">
                    <a16:creationId xmlns:a16="http://schemas.microsoft.com/office/drawing/2014/main" id="{5B421D71-8641-46AC-AFEE-B118C73A4CD4}"/>
                  </a:ext>
                </a:extLst>
              </p:cNvPr>
              <p:cNvSpPr txBox="1">
                <a:spLocks noRot="1" noChangeAspect="1" noMove="1" noResize="1" noEditPoints="1" noAdjustHandles="1" noChangeArrowheads="1" noChangeShapeType="1" noTextEdit="1"/>
              </p:cNvSpPr>
              <p:nvPr/>
            </p:nvSpPr>
            <p:spPr>
              <a:xfrm>
                <a:off x="186061" y="950588"/>
                <a:ext cx="6176432" cy="4801314"/>
              </a:xfrm>
              <a:prstGeom prst="rect">
                <a:avLst/>
              </a:prstGeom>
              <a:blipFill>
                <a:blip r:embed="rId2"/>
                <a:stretch>
                  <a:fillRect l="-691" t="-761" r="-2468" b="-1015"/>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CA0CB9F4-235A-4616-BC61-7AFFCEE4ABAB}"/>
              </a:ext>
            </a:extLst>
          </p:cNvPr>
          <p:cNvGrpSpPr/>
          <p:nvPr/>
        </p:nvGrpSpPr>
        <p:grpSpPr>
          <a:xfrm>
            <a:off x="7156700" y="696453"/>
            <a:ext cx="4116568" cy="1894811"/>
            <a:chOff x="7156700" y="696453"/>
            <a:chExt cx="4116568" cy="1894811"/>
          </a:xfrm>
        </p:grpSpPr>
        <p:pic>
          <p:nvPicPr>
            <p:cNvPr id="5" name="圖片 4">
              <a:extLst>
                <a:ext uri="{FF2B5EF4-FFF2-40B4-BE49-F238E27FC236}">
                  <a16:creationId xmlns:a16="http://schemas.microsoft.com/office/drawing/2014/main" id="{22E3FC60-916B-4B6C-9BAE-8363C5CCFB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1264" y="815524"/>
              <a:ext cx="3793335" cy="1651300"/>
            </a:xfrm>
            <a:prstGeom prst="rect">
              <a:avLst/>
            </a:prstGeom>
          </p:spPr>
        </p:pic>
        <p:grpSp>
          <p:nvGrpSpPr>
            <p:cNvPr id="17" name="群組 16">
              <a:extLst>
                <a:ext uri="{FF2B5EF4-FFF2-40B4-BE49-F238E27FC236}">
                  <a16:creationId xmlns:a16="http://schemas.microsoft.com/office/drawing/2014/main" id="{8BE4C305-B690-4A6A-AB62-66C15A5C438C}"/>
                </a:ext>
              </a:extLst>
            </p:cNvPr>
            <p:cNvGrpSpPr/>
            <p:nvPr/>
          </p:nvGrpSpPr>
          <p:grpSpPr>
            <a:xfrm>
              <a:off x="7156700" y="696453"/>
              <a:ext cx="4116568" cy="1894811"/>
              <a:chOff x="6923595" y="822679"/>
              <a:chExt cx="4116568" cy="1894811"/>
            </a:xfrm>
          </p:grpSpPr>
          <p:grpSp>
            <p:nvGrpSpPr>
              <p:cNvPr id="15" name="群組 14">
                <a:extLst>
                  <a:ext uri="{FF2B5EF4-FFF2-40B4-BE49-F238E27FC236}">
                    <a16:creationId xmlns:a16="http://schemas.microsoft.com/office/drawing/2014/main" id="{612F600C-B391-4D02-BE5B-9A6D0B54E62C}"/>
                  </a:ext>
                </a:extLst>
              </p:cNvPr>
              <p:cNvGrpSpPr/>
              <p:nvPr/>
            </p:nvGrpSpPr>
            <p:grpSpPr>
              <a:xfrm>
                <a:off x="6923595" y="822679"/>
                <a:ext cx="4116568" cy="1894811"/>
                <a:chOff x="6923595" y="822679"/>
                <a:chExt cx="4116568" cy="1894811"/>
              </a:xfrm>
            </p:grpSpPr>
            <p:grpSp>
              <p:nvGrpSpPr>
                <p:cNvPr id="11" name="群組 10">
                  <a:extLst>
                    <a:ext uri="{FF2B5EF4-FFF2-40B4-BE49-F238E27FC236}">
                      <a16:creationId xmlns:a16="http://schemas.microsoft.com/office/drawing/2014/main" id="{D2C9EE08-81D0-4C2D-B956-F0B60EAB80F7}"/>
                    </a:ext>
                  </a:extLst>
                </p:cNvPr>
                <p:cNvGrpSpPr/>
                <p:nvPr/>
              </p:nvGrpSpPr>
              <p:grpSpPr>
                <a:xfrm>
                  <a:off x="7007767" y="885799"/>
                  <a:ext cx="3987845" cy="1773589"/>
                  <a:chOff x="7007767" y="885799"/>
                  <a:chExt cx="3987845" cy="1773589"/>
                </a:xfrm>
              </p:grpSpPr>
              <p:sp>
                <p:nvSpPr>
                  <p:cNvPr id="10" name="矩形 9">
                    <a:extLst>
                      <a:ext uri="{FF2B5EF4-FFF2-40B4-BE49-F238E27FC236}">
                        <a16:creationId xmlns:a16="http://schemas.microsoft.com/office/drawing/2014/main" id="{F5F07B25-EAB2-4083-9FAC-EFC85D2120CD}"/>
                      </a:ext>
                    </a:extLst>
                  </p:cNvPr>
                  <p:cNvSpPr/>
                  <p:nvPr/>
                </p:nvSpPr>
                <p:spPr>
                  <a:xfrm>
                    <a:off x="7831667" y="885799"/>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a:extLst>
                      <a:ext uri="{FF2B5EF4-FFF2-40B4-BE49-F238E27FC236}">
                        <a16:creationId xmlns:a16="http://schemas.microsoft.com/office/drawing/2014/main" id="{FC3083EF-83C7-450B-8ADE-A99B46B37053}"/>
                      </a:ext>
                    </a:extLst>
                  </p:cNvPr>
                  <p:cNvSpPr/>
                  <p:nvPr/>
                </p:nvSpPr>
                <p:spPr>
                  <a:xfrm>
                    <a:off x="7007767" y="166310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a:extLst>
                      <a:ext uri="{FF2B5EF4-FFF2-40B4-BE49-F238E27FC236}">
                        <a16:creationId xmlns:a16="http://schemas.microsoft.com/office/drawing/2014/main" id="{3722C7AD-6A4A-4007-AF36-5CCD4C5E8597}"/>
                      </a:ext>
                    </a:extLst>
                  </p:cNvPr>
                  <p:cNvSpPr/>
                  <p:nvPr/>
                </p:nvSpPr>
                <p:spPr>
                  <a:xfrm>
                    <a:off x="7827456" y="2465882"/>
                    <a:ext cx="218554" cy="1935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8C041678-A44A-4B2F-A86A-6D773426879F}"/>
                      </a:ext>
                    </a:extLst>
                  </p:cNvPr>
                  <p:cNvSpPr/>
                  <p:nvPr/>
                </p:nvSpPr>
                <p:spPr>
                  <a:xfrm>
                    <a:off x="8639145" y="1664810"/>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a:extLst>
                      <a:ext uri="{FF2B5EF4-FFF2-40B4-BE49-F238E27FC236}">
                        <a16:creationId xmlns:a16="http://schemas.microsoft.com/office/drawing/2014/main" id="{0AB71390-058C-48DB-8F99-4472D1421CE3}"/>
                      </a:ext>
                    </a:extLst>
                  </p:cNvPr>
                  <p:cNvSpPr/>
                  <p:nvPr/>
                </p:nvSpPr>
                <p:spPr>
                  <a:xfrm>
                    <a:off x="9586634" y="904164"/>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a:extLst>
                      <a:ext uri="{FF2B5EF4-FFF2-40B4-BE49-F238E27FC236}">
                        <a16:creationId xmlns:a16="http://schemas.microsoft.com/office/drawing/2014/main" id="{276E6E7F-1958-4F14-9108-30888D35FA5F}"/>
                      </a:ext>
                    </a:extLst>
                  </p:cNvPr>
                  <p:cNvSpPr/>
                  <p:nvPr/>
                </p:nvSpPr>
                <p:spPr>
                  <a:xfrm>
                    <a:off x="9481831" y="2454945"/>
                    <a:ext cx="338637" cy="191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a:extLst>
                      <a:ext uri="{FF2B5EF4-FFF2-40B4-BE49-F238E27FC236}">
                        <a16:creationId xmlns:a16="http://schemas.microsoft.com/office/drawing/2014/main" id="{4FA014DA-9FFB-44C8-BC87-9425A4C49C84}"/>
                      </a:ext>
                    </a:extLst>
                  </p:cNvPr>
                  <p:cNvSpPr/>
                  <p:nvPr/>
                </p:nvSpPr>
                <p:spPr>
                  <a:xfrm>
                    <a:off x="10374310" y="1574534"/>
                    <a:ext cx="190544" cy="349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a:extLst>
                      <a:ext uri="{FF2B5EF4-FFF2-40B4-BE49-F238E27FC236}">
                        <a16:creationId xmlns:a16="http://schemas.microsoft.com/office/drawing/2014/main" id="{D3E9EE23-9AC3-43BC-BF47-30C82E12B2A2}"/>
                      </a:ext>
                    </a:extLst>
                  </p:cNvPr>
                  <p:cNvSpPr/>
                  <p:nvPr/>
                </p:nvSpPr>
                <p:spPr>
                  <a:xfrm>
                    <a:off x="10805068" y="1701472"/>
                    <a:ext cx="190544" cy="162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8" name="文字方塊 77">
                  <a:extLst>
                    <a:ext uri="{FF2B5EF4-FFF2-40B4-BE49-F238E27FC236}">
                      <a16:creationId xmlns:a16="http://schemas.microsoft.com/office/drawing/2014/main" id="{6E093EB9-B763-4483-A907-3DD06211420D}"/>
                    </a:ext>
                  </a:extLst>
                </p:cNvPr>
                <p:cNvSpPr txBox="1"/>
                <p:nvPr/>
              </p:nvSpPr>
              <p:spPr>
                <a:xfrm rot="16200000">
                  <a:off x="10458485" y="1509213"/>
                  <a:ext cx="855579"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sp>
              <p:nvSpPr>
                <p:cNvPr id="80" name="文字方塊 79">
                  <a:extLst>
                    <a:ext uri="{FF2B5EF4-FFF2-40B4-BE49-F238E27FC236}">
                      <a16:creationId xmlns:a16="http://schemas.microsoft.com/office/drawing/2014/main" id="{9B8EB1CD-A79B-47D9-AB70-E74BF30A65B7}"/>
                    </a:ext>
                  </a:extLst>
                </p:cNvPr>
                <p:cNvSpPr txBox="1"/>
                <p:nvPr/>
              </p:nvSpPr>
              <p:spPr>
                <a:xfrm>
                  <a:off x="8547048" y="17163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0" name="文字方塊 89">
                  <a:extLst>
                    <a:ext uri="{FF2B5EF4-FFF2-40B4-BE49-F238E27FC236}">
                      <a16:creationId xmlns:a16="http://schemas.microsoft.com/office/drawing/2014/main" id="{92D55786-83DD-4F8D-8DFD-BE3DCCAD1169}"/>
                    </a:ext>
                  </a:extLst>
                </p:cNvPr>
                <p:cNvSpPr txBox="1"/>
                <p:nvPr/>
              </p:nvSpPr>
              <p:spPr>
                <a:xfrm>
                  <a:off x="7726146" y="8320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1" name="文字方塊 90">
                  <a:extLst>
                    <a:ext uri="{FF2B5EF4-FFF2-40B4-BE49-F238E27FC236}">
                      <a16:creationId xmlns:a16="http://schemas.microsoft.com/office/drawing/2014/main" id="{481EAFC4-8465-4D04-8689-9DA473F00F16}"/>
                    </a:ext>
                  </a:extLst>
                </p:cNvPr>
                <p:cNvSpPr txBox="1"/>
                <p:nvPr/>
              </p:nvSpPr>
              <p:spPr>
                <a:xfrm>
                  <a:off x="6923595" y="15009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2" name="文字方塊 91">
                  <a:extLst>
                    <a:ext uri="{FF2B5EF4-FFF2-40B4-BE49-F238E27FC236}">
                      <a16:creationId xmlns:a16="http://schemas.microsoft.com/office/drawing/2014/main" id="{58303001-9243-4CE3-AB16-9F0D7C0BAA8D}"/>
                    </a:ext>
                  </a:extLst>
                </p:cNvPr>
                <p:cNvSpPr txBox="1"/>
                <p:nvPr/>
              </p:nvSpPr>
              <p:spPr>
                <a:xfrm>
                  <a:off x="7728906" y="2375986"/>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3" name="文字方塊 92">
                  <a:extLst>
                    <a:ext uri="{FF2B5EF4-FFF2-40B4-BE49-F238E27FC236}">
                      <a16:creationId xmlns:a16="http://schemas.microsoft.com/office/drawing/2014/main" id="{B50C7079-CAA8-4007-9D2F-2B2CD971FFD6}"/>
                    </a:ext>
                  </a:extLst>
                </p:cNvPr>
                <p:cNvSpPr txBox="1"/>
                <p:nvPr/>
              </p:nvSpPr>
              <p:spPr>
                <a:xfrm>
                  <a:off x="8674497" y="147509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99" name="文字方塊 98">
                  <a:extLst>
                    <a:ext uri="{FF2B5EF4-FFF2-40B4-BE49-F238E27FC236}">
                      <a16:creationId xmlns:a16="http://schemas.microsoft.com/office/drawing/2014/main" id="{523FB46B-214B-4674-A0BB-F7A2E5B66450}"/>
                    </a:ext>
                  </a:extLst>
                </p:cNvPr>
                <p:cNvSpPr txBox="1"/>
                <p:nvPr/>
              </p:nvSpPr>
              <p:spPr>
                <a:xfrm>
                  <a:off x="9489536" y="8226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0" name="文字方塊 99">
                  <a:extLst>
                    <a:ext uri="{FF2B5EF4-FFF2-40B4-BE49-F238E27FC236}">
                      <a16:creationId xmlns:a16="http://schemas.microsoft.com/office/drawing/2014/main" id="{6D0655F7-DECE-4E33-B8DB-34EAEA9FBCCD}"/>
                    </a:ext>
                  </a:extLst>
                </p:cNvPr>
                <p:cNvSpPr txBox="1"/>
                <p:nvPr/>
              </p:nvSpPr>
              <p:spPr>
                <a:xfrm>
                  <a:off x="9489535" y="24097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01" name="文字方塊 100">
                  <a:extLst>
                    <a:ext uri="{FF2B5EF4-FFF2-40B4-BE49-F238E27FC236}">
                      <a16:creationId xmlns:a16="http://schemas.microsoft.com/office/drawing/2014/main" id="{15C241B5-3C9B-4E25-96F6-629915F58BB4}"/>
                    </a:ext>
                  </a:extLst>
                </p:cNvPr>
                <p:cNvSpPr txBox="1"/>
                <p:nvPr/>
              </p:nvSpPr>
              <p:spPr>
                <a:xfrm>
                  <a:off x="10275561" y="172229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7" name="文字方塊 136">
                      <a:extLst>
                        <a:ext uri="{FF2B5EF4-FFF2-40B4-BE49-F238E27FC236}">
                          <a16:creationId xmlns:a16="http://schemas.microsoft.com/office/drawing/2014/main" id="{D255ABDE-FE08-4D92-985E-D28FA82E5F65}"/>
                        </a:ext>
                      </a:extLst>
                    </p:cNvPr>
                    <p:cNvSpPr txBox="1"/>
                    <p:nvPr/>
                  </p:nvSpPr>
                  <p:spPr>
                    <a:xfrm>
                      <a:off x="8077108" y="174807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7" name="文字方塊 136">
                      <a:extLst>
                        <a:ext uri="{FF2B5EF4-FFF2-40B4-BE49-F238E27FC236}">
                          <a16:creationId xmlns:a16="http://schemas.microsoft.com/office/drawing/2014/main" id="{D255ABDE-FE08-4D92-985E-D28FA82E5F65}"/>
                        </a:ext>
                      </a:extLst>
                    </p:cNvPr>
                    <p:cNvSpPr txBox="1">
                      <a:spLocks noRot="1" noChangeAspect="1" noMove="1" noResize="1" noEditPoints="1" noAdjustHandles="1" noChangeArrowheads="1" noChangeShapeType="1" noTextEdit="1"/>
                    </p:cNvSpPr>
                    <p:nvPr/>
                  </p:nvSpPr>
                  <p:spPr>
                    <a:xfrm>
                      <a:off x="8077108" y="1748079"/>
                      <a:ext cx="332369" cy="30777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8" name="文字方塊 137">
                      <a:extLst>
                        <a:ext uri="{FF2B5EF4-FFF2-40B4-BE49-F238E27FC236}">
                          <a16:creationId xmlns:a16="http://schemas.microsoft.com/office/drawing/2014/main" id="{04DB010C-9BAE-4354-BDBC-05D6FEB0ED55}"/>
                        </a:ext>
                      </a:extLst>
                    </p:cNvPr>
                    <p:cNvSpPr txBox="1"/>
                    <p:nvPr/>
                  </p:nvSpPr>
                  <p:spPr>
                    <a:xfrm>
                      <a:off x="7609788" y="128613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8" name="文字方塊 137">
                      <a:extLst>
                        <a:ext uri="{FF2B5EF4-FFF2-40B4-BE49-F238E27FC236}">
                          <a16:creationId xmlns:a16="http://schemas.microsoft.com/office/drawing/2014/main" id="{04DB010C-9BAE-4354-BDBC-05D6FEB0ED55}"/>
                        </a:ext>
                      </a:extLst>
                    </p:cNvPr>
                    <p:cNvSpPr txBox="1">
                      <a:spLocks noRot="1" noChangeAspect="1" noMove="1" noResize="1" noEditPoints="1" noAdjustHandles="1" noChangeArrowheads="1" noChangeShapeType="1" noTextEdit="1"/>
                    </p:cNvSpPr>
                    <p:nvPr/>
                  </p:nvSpPr>
                  <p:spPr>
                    <a:xfrm>
                      <a:off x="7609788" y="1286136"/>
                      <a:ext cx="332369" cy="307777"/>
                    </a:xfrm>
                    <a:prstGeom prst="rect">
                      <a:avLst/>
                    </a:prstGeom>
                    <a:blipFill>
                      <a:blip r:embed="rId6"/>
                      <a:stretch>
                        <a:fillRect b="-1961"/>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39" name="文字方塊 138">
                    <a:extLst>
                      <a:ext uri="{FF2B5EF4-FFF2-40B4-BE49-F238E27FC236}">
                        <a16:creationId xmlns:a16="http://schemas.microsoft.com/office/drawing/2014/main" id="{74515AE3-A20F-4F0C-AD65-88EE10FC7A5A}"/>
                      </a:ext>
                    </a:extLst>
                  </p:cNvPr>
                  <p:cNvSpPr txBox="1"/>
                  <p:nvPr/>
                </p:nvSpPr>
                <p:spPr>
                  <a:xfrm>
                    <a:off x="9804337" y="16706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39" name="文字方塊 138">
                    <a:extLst>
                      <a:ext uri="{FF2B5EF4-FFF2-40B4-BE49-F238E27FC236}">
                        <a16:creationId xmlns:a16="http://schemas.microsoft.com/office/drawing/2014/main" id="{74515AE3-A20F-4F0C-AD65-88EE10FC7A5A}"/>
                      </a:ext>
                    </a:extLst>
                  </p:cNvPr>
                  <p:cNvSpPr txBox="1">
                    <a:spLocks noRot="1" noChangeAspect="1" noMove="1" noResize="1" noEditPoints="1" noAdjustHandles="1" noChangeArrowheads="1" noChangeShapeType="1" noTextEdit="1"/>
                  </p:cNvSpPr>
                  <p:nvPr/>
                </p:nvSpPr>
                <p:spPr>
                  <a:xfrm>
                    <a:off x="9804337" y="1670625"/>
                    <a:ext cx="332369" cy="30777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0" name="文字方塊 139">
                    <a:extLst>
                      <a:ext uri="{FF2B5EF4-FFF2-40B4-BE49-F238E27FC236}">
                        <a16:creationId xmlns:a16="http://schemas.microsoft.com/office/drawing/2014/main" id="{62CB1572-73EF-459D-972D-CB9A0157F7EF}"/>
                      </a:ext>
                    </a:extLst>
                  </p:cNvPr>
                  <p:cNvSpPr txBox="1"/>
                  <p:nvPr/>
                </p:nvSpPr>
                <p:spPr>
                  <a:xfrm>
                    <a:off x="9353246" y="1293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0" name="文字方塊 139">
                    <a:extLst>
                      <a:ext uri="{FF2B5EF4-FFF2-40B4-BE49-F238E27FC236}">
                        <a16:creationId xmlns:a16="http://schemas.microsoft.com/office/drawing/2014/main" id="{62CB1572-73EF-459D-972D-CB9A0157F7EF}"/>
                      </a:ext>
                    </a:extLst>
                  </p:cNvPr>
                  <p:cNvSpPr txBox="1">
                    <a:spLocks noRot="1" noChangeAspect="1" noMove="1" noResize="1" noEditPoints="1" noAdjustHandles="1" noChangeArrowheads="1" noChangeShapeType="1" noTextEdit="1"/>
                  </p:cNvSpPr>
                  <p:nvPr/>
                </p:nvSpPr>
                <p:spPr>
                  <a:xfrm>
                    <a:off x="9353246" y="1293503"/>
                    <a:ext cx="332369" cy="307777"/>
                  </a:xfrm>
                  <a:prstGeom prst="rect">
                    <a:avLst/>
                  </a:prstGeom>
                  <a:blipFill>
                    <a:blip r:embed="rId8"/>
                    <a:stretch>
                      <a:fillRect/>
                    </a:stretch>
                  </a:blipFill>
                </p:spPr>
                <p:txBody>
                  <a:bodyPr/>
                  <a:lstStyle/>
                  <a:p>
                    <a:r>
                      <a:rPr lang="zh-TW" altLang="en-US">
                        <a:noFill/>
                      </a:rPr>
                      <a:t> </a:t>
                    </a:r>
                  </a:p>
                </p:txBody>
              </p:sp>
            </mc:Fallback>
          </mc:AlternateContent>
        </p:grpSp>
      </p:grpSp>
      <p:grpSp>
        <p:nvGrpSpPr>
          <p:cNvPr id="18" name="群組 17">
            <a:extLst>
              <a:ext uri="{FF2B5EF4-FFF2-40B4-BE49-F238E27FC236}">
                <a16:creationId xmlns:a16="http://schemas.microsoft.com/office/drawing/2014/main" id="{A415CD8F-9E0E-4E5E-B0A8-D95470451723}"/>
              </a:ext>
            </a:extLst>
          </p:cNvPr>
          <p:cNvGrpSpPr/>
          <p:nvPr/>
        </p:nvGrpSpPr>
        <p:grpSpPr>
          <a:xfrm>
            <a:off x="7920556" y="2783295"/>
            <a:ext cx="2562926" cy="2127726"/>
            <a:chOff x="7885930" y="3644615"/>
            <a:chExt cx="3030173" cy="2400473"/>
          </a:xfrm>
        </p:grpSpPr>
        <p:pic>
          <p:nvPicPr>
            <p:cNvPr id="9" name="圖片 8">
              <a:extLst>
                <a:ext uri="{FF2B5EF4-FFF2-40B4-BE49-F238E27FC236}">
                  <a16:creationId xmlns:a16="http://schemas.microsoft.com/office/drawing/2014/main" id="{C971302C-428C-4B5C-AABD-8E8B866D6DC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10053" y="3724539"/>
              <a:ext cx="2737424" cy="2214093"/>
            </a:xfrm>
            <a:prstGeom prst="rect">
              <a:avLst/>
            </a:prstGeom>
          </p:spPr>
        </p:pic>
        <p:grpSp>
          <p:nvGrpSpPr>
            <p:cNvPr id="14" name="群組 13">
              <a:extLst>
                <a:ext uri="{FF2B5EF4-FFF2-40B4-BE49-F238E27FC236}">
                  <a16:creationId xmlns:a16="http://schemas.microsoft.com/office/drawing/2014/main" id="{04A1EDD4-6ABC-4799-BBCC-2AA9A741A982}"/>
                </a:ext>
              </a:extLst>
            </p:cNvPr>
            <p:cNvGrpSpPr/>
            <p:nvPr/>
          </p:nvGrpSpPr>
          <p:grpSpPr>
            <a:xfrm>
              <a:off x="7885930" y="3644615"/>
              <a:ext cx="3030173" cy="2400473"/>
              <a:chOff x="7885930" y="3644615"/>
              <a:chExt cx="3030173" cy="2400473"/>
            </a:xfrm>
          </p:grpSpPr>
          <p:grpSp>
            <p:nvGrpSpPr>
              <p:cNvPr id="13" name="群組 12">
                <a:extLst>
                  <a:ext uri="{FF2B5EF4-FFF2-40B4-BE49-F238E27FC236}">
                    <a16:creationId xmlns:a16="http://schemas.microsoft.com/office/drawing/2014/main" id="{92E71AB5-F95C-4C50-942F-461AE8C8E21F}"/>
                  </a:ext>
                </a:extLst>
              </p:cNvPr>
              <p:cNvGrpSpPr/>
              <p:nvPr/>
            </p:nvGrpSpPr>
            <p:grpSpPr>
              <a:xfrm>
                <a:off x="7983958" y="3667301"/>
                <a:ext cx="2862761" cy="2338334"/>
                <a:chOff x="7983958" y="3667301"/>
                <a:chExt cx="2862761" cy="2338334"/>
              </a:xfrm>
            </p:grpSpPr>
            <p:sp>
              <p:nvSpPr>
                <p:cNvPr id="12" name="矩形 11">
                  <a:extLst>
                    <a:ext uri="{FF2B5EF4-FFF2-40B4-BE49-F238E27FC236}">
                      <a16:creationId xmlns:a16="http://schemas.microsoft.com/office/drawing/2014/main" id="{88E7A9EA-9DAB-451E-9FA8-F7163EE33F2E}"/>
                    </a:ext>
                  </a:extLst>
                </p:cNvPr>
                <p:cNvSpPr/>
                <p:nvPr/>
              </p:nvSpPr>
              <p:spPr>
                <a:xfrm>
                  <a:off x="10044950" y="4669308"/>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a:extLst>
                    <a:ext uri="{FF2B5EF4-FFF2-40B4-BE49-F238E27FC236}">
                      <a16:creationId xmlns:a16="http://schemas.microsoft.com/office/drawing/2014/main" id="{697C6A31-1322-4648-82CE-4C68B357ADE9}"/>
                    </a:ext>
                  </a:extLst>
                </p:cNvPr>
                <p:cNvSpPr/>
                <p:nvPr/>
              </p:nvSpPr>
              <p:spPr>
                <a:xfrm>
                  <a:off x="9022607" y="3667301"/>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a:extLst>
                    <a:ext uri="{FF2B5EF4-FFF2-40B4-BE49-F238E27FC236}">
                      <a16:creationId xmlns:a16="http://schemas.microsoft.com/office/drawing/2014/main" id="{252EA268-F4BF-4F6E-BC68-B74D1AB21EDC}"/>
                    </a:ext>
                  </a:extLst>
                </p:cNvPr>
                <p:cNvSpPr/>
                <p:nvPr/>
              </p:nvSpPr>
              <p:spPr>
                <a:xfrm>
                  <a:off x="7983958" y="468615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0" name="矩形 129">
                  <a:extLst>
                    <a:ext uri="{FF2B5EF4-FFF2-40B4-BE49-F238E27FC236}">
                      <a16:creationId xmlns:a16="http://schemas.microsoft.com/office/drawing/2014/main" id="{FD58DA12-398D-4D81-A4DB-E7FFB2E04049}"/>
                    </a:ext>
                  </a:extLst>
                </p:cNvPr>
                <p:cNvSpPr/>
                <p:nvPr/>
              </p:nvSpPr>
              <p:spPr>
                <a:xfrm>
                  <a:off x="9009363" y="5738875"/>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1" name="矩形 130">
                  <a:extLst>
                    <a:ext uri="{FF2B5EF4-FFF2-40B4-BE49-F238E27FC236}">
                      <a16:creationId xmlns:a16="http://schemas.microsoft.com/office/drawing/2014/main" id="{AAD8F26C-0C60-4BB4-A028-E7D8A910AD0D}"/>
                    </a:ext>
                  </a:extLst>
                </p:cNvPr>
                <p:cNvSpPr/>
                <p:nvPr/>
              </p:nvSpPr>
              <p:spPr>
                <a:xfrm>
                  <a:off x="10621601" y="4624884"/>
                  <a:ext cx="225118" cy="266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32" name="文字方塊 131">
                <a:extLst>
                  <a:ext uri="{FF2B5EF4-FFF2-40B4-BE49-F238E27FC236}">
                    <a16:creationId xmlns:a16="http://schemas.microsoft.com/office/drawing/2014/main" id="{59C8220B-BA68-40B1-A2D1-60274F35F105}"/>
                  </a:ext>
                </a:extLst>
              </p:cNvPr>
              <p:cNvSpPr txBox="1"/>
              <p:nvPr/>
            </p:nvSpPr>
            <p:spPr>
              <a:xfrm rot="16200000">
                <a:off x="10187055" y="4420869"/>
                <a:ext cx="1094208" cy="363888"/>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sp>
            <p:nvSpPr>
              <p:cNvPr id="133" name="文字方塊 132">
                <a:extLst>
                  <a:ext uri="{FF2B5EF4-FFF2-40B4-BE49-F238E27FC236}">
                    <a16:creationId xmlns:a16="http://schemas.microsoft.com/office/drawing/2014/main" id="{6AB274B3-0995-4EEB-9013-E9FCFC70773D}"/>
                  </a:ext>
                </a:extLst>
              </p:cNvPr>
              <p:cNvSpPr txBox="1"/>
              <p:nvPr/>
            </p:nvSpPr>
            <p:spPr>
              <a:xfrm>
                <a:off x="7885930" y="4548241"/>
                <a:ext cx="497957"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4" name="文字方塊 133">
                <a:extLst>
                  <a:ext uri="{FF2B5EF4-FFF2-40B4-BE49-F238E27FC236}">
                    <a16:creationId xmlns:a16="http://schemas.microsoft.com/office/drawing/2014/main" id="{860FFD41-4F96-4780-8E19-D375CBC57F46}"/>
                  </a:ext>
                </a:extLst>
              </p:cNvPr>
              <p:cNvSpPr txBox="1"/>
              <p:nvPr/>
            </p:nvSpPr>
            <p:spPr>
              <a:xfrm>
                <a:off x="8923420" y="3644615"/>
                <a:ext cx="508069"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5" name="文字方塊 134">
                <a:extLst>
                  <a:ext uri="{FF2B5EF4-FFF2-40B4-BE49-F238E27FC236}">
                    <a16:creationId xmlns:a16="http://schemas.microsoft.com/office/drawing/2014/main" id="{18CB05BB-851D-48E2-B2C0-383926E2DC69}"/>
                  </a:ext>
                </a:extLst>
              </p:cNvPr>
              <p:cNvSpPr txBox="1"/>
              <p:nvPr/>
            </p:nvSpPr>
            <p:spPr>
              <a:xfrm>
                <a:off x="8906756" y="5697858"/>
                <a:ext cx="524733"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136" name="文字方塊 135">
                <a:extLst>
                  <a:ext uri="{FF2B5EF4-FFF2-40B4-BE49-F238E27FC236}">
                    <a16:creationId xmlns:a16="http://schemas.microsoft.com/office/drawing/2014/main" id="{268A4645-B4C9-4C93-9DD7-258346092438}"/>
                  </a:ext>
                </a:extLst>
              </p:cNvPr>
              <p:cNvSpPr txBox="1"/>
              <p:nvPr/>
            </p:nvSpPr>
            <p:spPr>
              <a:xfrm>
                <a:off x="9978086" y="4802688"/>
                <a:ext cx="519506" cy="347230"/>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1" name="文字方塊 140">
                    <a:extLst>
                      <a:ext uri="{FF2B5EF4-FFF2-40B4-BE49-F238E27FC236}">
                        <a16:creationId xmlns:a16="http://schemas.microsoft.com/office/drawing/2014/main" id="{881B35F0-DFFE-4DE0-A1B4-E40D2CB808D8}"/>
                      </a:ext>
                    </a:extLst>
                  </p:cNvPr>
                  <p:cNvSpPr txBox="1"/>
                  <p:nvPr/>
                </p:nvSpPr>
                <p:spPr>
                  <a:xfrm>
                    <a:off x="9274555" y="475538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1" name="文字方塊 140">
                    <a:extLst>
                      <a:ext uri="{FF2B5EF4-FFF2-40B4-BE49-F238E27FC236}">
                        <a16:creationId xmlns:a16="http://schemas.microsoft.com/office/drawing/2014/main" id="{881B35F0-DFFE-4DE0-A1B4-E40D2CB808D8}"/>
                      </a:ext>
                    </a:extLst>
                  </p:cNvPr>
                  <p:cNvSpPr txBox="1">
                    <a:spLocks noRot="1" noChangeAspect="1" noMove="1" noResize="1" noEditPoints="1" noAdjustHandles="1" noChangeArrowheads="1" noChangeShapeType="1" noTextEdit="1"/>
                  </p:cNvSpPr>
                  <p:nvPr/>
                </p:nvSpPr>
                <p:spPr>
                  <a:xfrm>
                    <a:off x="9274555" y="4755386"/>
                    <a:ext cx="332369" cy="307777"/>
                  </a:xfrm>
                  <a:prstGeom prst="rect">
                    <a:avLst/>
                  </a:prstGeom>
                  <a:blipFill>
                    <a:blip r:embed="rId11"/>
                    <a:stretch>
                      <a:fillRect r="-2174" b="-1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2" name="文字方塊 141">
                    <a:extLst>
                      <a:ext uri="{FF2B5EF4-FFF2-40B4-BE49-F238E27FC236}">
                        <a16:creationId xmlns:a16="http://schemas.microsoft.com/office/drawing/2014/main" id="{82249A39-0601-4737-8A03-EA956AB6FF5A}"/>
                      </a:ext>
                    </a:extLst>
                  </p:cNvPr>
                  <p:cNvSpPr txBox="1"/>
                  <p:nvPr/>
                </p:nvSpPr>
                <p:spPr>
                  <a:xfrm>
                    <a:off x="8841152" y="422522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42" name="文字方塊 141">
                    <a:extLst>
                      <a:ext uri="{FF2B5EF4-FFF2-40B4-BE49-F238E27FC236}">
                        <a16:creationId xmlns:a16="http://schemas.microsoft.com/office/drawing/2014/main" id="{82249A39-0601-4737-8A03-EA956AB6FF5A}"/>
                      </a:ext>
                    </a:extLst>
                  </p:cNvPr>
                  <p:cNvSpPr txBox="1">
                    <a:spLocks noRot="1" noChangeAspect="1" noMove="1" noResize="1" noEditPoints="1" noAdjustHandles="1" noChangeArrowheads="1" noChangeShapeType="1" noTextEdit="1"/>
                  </p:cNvSpPr>
                  <p:nvPr/>
                </p:nvSpPr>
                <p:spPr>
                  <a:xfrm>
                    <a:off x="8841152" y="4225225"/>
                    <a:ext cx="332369" cy="307777"/>
                  </a:xfrm>
                  <a:prstGeom prst="rect">
                    <a:avLst/>
                  </a:prstGeom>
                  <a:blipFill>
                    <a:blip r:embed="rId12"/>
                    <a:stretch>
                      <a:fillRect b="-4444"/>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4130841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文字方塊 35">
            <a:extLst>
              <a:ext uri="{FF2B5EF4-FFF2-40B4-BE49-F238E27FC236}">
                <a16:creationId xmlns:a16="http://schemas.microsoft.com/office/drawing/2014/main" id="{BC8D4A16-5CCA-40C5-9964-FFF5383065ED}"/>
              </a:ext>
            </a:extLst>
          </p:cNvPr>
          <p:cNvSpPr txBox="1"/>
          <p:nvPr/>
        </p:nvSpPr>
        <p:spPr>
          <a:xfrm>
            <a:off x="76852" y="703212"/>
            <a:ext cx="6176432" cy="6186309"/>
          </a:xfrm>
          <a:prstGeom prst="rect">
            <a:avLst/>
          </a:prstGeom>
          <a:noFill/>
        </p:spPr>
        <p:txBody>
          <a:bodyPr wrap="square">
            <a:spAutoFit/>
          </a:bodyPr>
          <a:lstStyle/>
          <a:p>
            <a:pPr marL="285750" indent="-285750">
              <a:buFont typeface="Arial" panose="020B0604020202020204" pitchFamily="34" charset="0"/>
              <a:buChar char="•"/>
            </a:pPr>
            <a:r>
              <a:rPr lang="en-US" altLang="zh-TW" dirty="0"/>
              <a:t>Using the same calibrated model, the three singular values σ₁ ≥ σ₂ ≥ σ₃ at every real FEM node in the workspace are </a:t>
            </a:r>
            <a:r>
              <a:rPr lang="en-US" altLang="zh-TW" dirty="0" err="1"/>
              <a:t>histogrammed</a:t>
            </a:r>
            <a:r>
              <a:rPr lang="en-US" altLang="zh-TW" dirty="0"/>
              <a:t> separately All three share one set of bins and are each </a:t>
            </a:r>
            <a:r>
              <a:rPr lang="en-US" altLang="zh-TW" dirty="0" err="1"/>
              <a:t>normalised</a:t>
            </a:r>
            <a:r>
              <a:rPr lang="en-US" altLang="zh-TW" dirty="0"/>
              <a:t> to a percentage, so the bar heights are directly </a:t>
            </a:r>
            <a:r>
              <a:rPr lang="en-US" altLang="zh-TW" dirty="0" err="1"/>
              <a:t>comparable.Both</a:t>
            </a:r>
            <a:r>
              <a:rPr lang="en-US" altLang="zh-TW" dirty="0"/>
              <a:t> histograms have the same resolution (0.02mT/A).</a:t>
            </a:r>
          </a:p>
          <a:p>
            <a:pPr marL="285750" indent="-285750">
              <a:buFont typeface="Arial" panose="020B0604020202020204" pitchFamily="34" charset="0"/>
              <a:buChar char="•"/>
            </a:pPr>
            <a:r>
              <a:rPr lang="en-US" altLang="zh-TW" dirty="0"/>
              <a:t>Within the calibration radius Design A behaves as an essentially direction-independent three-degree-of-freedom actuator: the three principal gains differ by only 13.5 %, no direction is weak enough to be unusable, and the controller needs no extra margin for any particular axis. What sets the usable authority is the weakest axis σ₃, whose mean is 13.85 </a:t>
            </a:r>
            <a:r>
              <a:rPr lang="en-US" altLang="zh-TW" dirty="0" err="1"/>
              <a:t>mT</a:t>
            </a:r>
            <a:r>
              <a:rPr lang="en-US" altLang="zh-TW" dirty="0"/>
              <a:t>/A with only 1.5 % variation — the worst-case actuation capability is therefore very nearly a constant across the whole workspace and can be taken directly as a design value. Almost all of the spread comes from the strongest axis σ₁ (3.7 % variation), but since performance is governed by the weakest axis this fluctuation does not affect the guaranteed capability. The three peaks are clearly separated yet all fall within the narrow band of 13.4–17.3 </a:t>
            </a:r>
            <a:r>
              <a:rPr lang="en-US" altLang="zh-TW" dirty="0" err="1"/>
              <a:t>mT</a:t>
            </a:r>
            <a:r>
              <a:rPr lang="en-US" altLang="zh-TW" dirty="0"/>
              <a:t>/A, overlapping only on their adjacent flanks — direct evidence that the hexapole remains well-conditioned at this radius.</a:t>
            </a:r>
            <a:endParaRPr lang="zh-TW" altLang="en-US" dirty="0"/>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481364289"/>
                  </p:ext>
                </p:extLst>
              </p:nvPr>
            </p:nvGraphicFramePr>
            <p:xfrm>
              <a:off x="6389119" y="4763249"/>
              <a:ext cx="5465600" cy="1010920"/>
            </p:xfrm>
            <a:graphic>
              <a:graphicData uri="http://schemas.openxmlformats.org/drawingml/2006/table">
                <a:tbl>
                  <a:tblPr firstRow="1" bandRow="1">
                    <a:tableStyleId>{5940675A-B579-460E-94D1-54222C63F5DA}</a:tableStyleId>
                  </a:tblPr>
                  <a:tblGrid>
                    <a:gridCol w="1366400">
                      <a:extLst>
                        <a:ext uri="{9D8B030D-6E8A-4147-A177-3AD203B41FA5}">
                          <a16:colId xmlns:a16="http://schemas.microsoft.com/office/drawing/2014/main" val="1576531335"/>
                        </a:ext>
                      </a:extLst>
                    </a:gridCol>
                    <a:gridCol w="1366400">
                      <a:extLst>
                        <a:ext uri="{9D8B030D-6E8A-4147-A177-3AD203B41FA5}">
                          <a16:colId xmlns:a16="http://schemas.microsoft.com/office/drawing/2014/main" val="3507019064"/>
                        </a:ext>
                      </a:extLst>
                    </a:gridCol>
                    <a:gridCol w="1366400">
                      <a:extLst>
                        <a:ext uri="{9D8B030D-6E8A-4147-A177-3AD203B41FA5}">
                          <a16:colId xmlns:a16="http://schemas.microsoft.com/office/drawing/2014/main" val="1921430209"/>
                        </a:ext>
                      </a:extLst>
                    </a:gridCol>
                    <a:gridCol w="13664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15.722</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481364289"/>
                  </p:ext>
                </p:extLst>
              </p:nvPr>
            </p:nvGraphicFramePr>
            <p:xfrm>
              <a:off x="6389119" y="4763249"/>
              <a:ext cx="5465600" cy="1010920"/>
            </p:xfrm>
            <a:graphic>
              <a:graphicData uri="http://schemas.openxmlformats.org/drawingml/2006/table">
                <a:tbl>
                  <a:tblPr firstRow="1" bandRow="1">
                    <a:tableStyleId>{5940675A-B579-460E-94D1-54222C63F5DA}</a:tableStyleId>
                  </a:tblPr>
                  <a:tblGrid>
                    <a:gridCol w="1366400">
                      <a:extLst>
                        <a:ext uri="{9D8B030D-6E8A-4147-A177-3AD203B41FA5}">
                          <a16:colId xmlns:a16="http://schemas.microsoft.com/office/drawing/2014/main" val="1576531335"/>
                        </a:ext>
                      </a:extLst>
                    </a:gridCol>
                    <a:gridCol w="1366400">
                      <a:extLst>
                        <a:ext uri="{9D8B030D-6E8A-4147-A177-3AD203B41FA5}">
                          <a16:colId xmlns:a16="http://schemas.microsoft.com/office/drawing/2014/main" val="3507019064"/>
                        </a:ext>
                      </a:extLst>
                    </a:gridCol>
                    <a:gridCol w="1366400">
                      <a:extLst>
                        <a:ext uri="{9D8B030D-6E8A-4147-A177-3AD203B41FA5}">
                          <a16:colId xmlns:a16="http://schemas.microsoft.com/office/drawing/2014/main" val="1921430209"/>
                        </a:ext>
                      </a:extLst>
                    </a:gridCol>
                    <a:gridCol w="13664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000" t="-1639" r="-200000" b="-349180"/>
                          </a:stretch>
                        </a:blipFill>
                      </a:tcPr>
                    </a:tc>
                    <a:tc>
                      <a:txBody>
                        <a:bodyPr/>
                        <a:lstStyle/>
                        <a:p>
                          <a:endParaRPr lang="zh-TW"/>
                        </a:p>
                      </a:txBody>
                      <a:tcPr>
                        <a:blipFill>
                          <a:blip r:embed="rId2"/>
                          <a:stretch>
                            <a:fillRect l="-200893" t="-1639" r="-100893" b="-349180"/>
                          </a:stretch>
                        </a:blipFill>
                      </a:tcPr>
                    </a:tc>
                    <a:tc>
                      <a:txBody>
                        <a:bodyPr/>
                        <a:lstStyle/>
                        <a:p>
                          <a:endParaRPr lang="zh-TW"/>
                        </a:p>
                      </a:txBody>
                      <a:tcPr>
                        <a:blipFill>
                          <a:blip r:embed="rId2"/>
                          <a:stretch>
                            <a:fillRect l="-300893" t="-1639" r="-893" b="-349180"/>
                          </a:stretch>
                        </a:blipFill>
                      </a:tcPr>
                    </a:tc>
                    <a:extLst>
                      <a:ext uri="{0D108BD9-81ED-4DB2-BD59-A6C34878D82A}">
                        <a16:rowId xmlns:a16="http://schemas.microsoft.com/office/drawing/2014/main" val="168208475"/>
                      </a:ext>
                    </a:extLst>
                  </a:tr>
                  <a:tr h="640080">
                    <a:tc>
                      <a:txBody>
                        <a:bodyPr/>
                        <a:lstStyle/>
                        <a:p>
                          <a:endParaRPr lang="zh-TW"/>
                        </a:p>
                      </a:txBody>
                      <a:tcPr>
                        <a:blipFill>
                          <a:blip r:embed="rId2"/>
                          <a:stretch>
                            <a:fillRect l="-446" t="-58491" r="-301339" b="-100943"/>
                          </a:stretch>
                        </a:blipFill>
                      </a:tcPr>
                    </a:tc>
                    <a:tc>
                      <a:txBody>
                        <a:bodyPr/>
                        <a:lstStyle/>
                        <a:p>
                          <a:pPr algn="ctr"/>
                          <a:r>
                            <a:rPr lang="en-US" altLang="zh-TW" dirty="0"/>
                            <a:t>15.722</a:t>
                          </a:r>
                          <a:endParaRPr lang="zh-TW" altLang="en-US" dirty="0"/>
                        </a:p>
                      </a:txBody>
                      <a:tcPr/>
                    </a:tc>
                    <a:tc>
                      <a:txBody>
                        <a:bodyPr/>
                        <a:lstStyle/>
                        <a:p>
                          <a:pPr algn="ctr"/>
                          <a:r>
                            <a:rPr lang="en-US" altLang="zh-TW" dirty="0"/>
                            <a:t>14.403</a:t>
                          </a:r>
                          <a:endParaRPr lang="zh-TW" altLang="en-US" dirty="0"/>
                        </a:p>
                      </a:txBody>
                      <a:tcPr/>
                    </a:tc>
                    <a:tc>
                      <a:txBody>
                        <a:bodyPr/>
                        <a:lstStyle/>
                        <a:p>
                          <a:pPr algn="ctr"/>
                          <a:r>
                            <a:rPr lang="en-US" altLang="zh-TW" dirty="0"/>
                            <a:t>13.852</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7" name="群組 16">
            <a:extLst>
              <a:ext uri="{FF2B5EF4-FFF2-40B4-BE49-F238E27FC236}">
                <a16:creationId xmlns:a16="http://schemas.microsoft.com/office/drawing/2014/main" id="{992EFE15-F508-4AD8-86F1-386C54E47BD7}"/>
              </a:ext>
            </a:extLst>
          </p:cNvPr>
          <p:cNvGrpSpPr/>
          <p:nvPr/>
        </p:nvGrpSpPr>
        <p:grpSpPr>
          <a:xfrm>
            <a:off x="7329042" y="1253971"/>
            <a:ext cx="3415318" cy="2999811"/>
            <a:chOff x="7180484" y="1371330"/>
            <a:chExt cx="3415318" cy="2999811"/>
          </a:xfrm>
        </p:grpSpPr>
        <p:pic>
          <p:nvPicPr>
            <p:cNvPr id="13" name="圖片 12">
              <a:extLst>
                <a:ext uri="{FF2B5EF4-FFF2-40B4-BE49-F238E27FC236}">
                  <a16:creationId xmlns:a16="http://schemas.microsoft.com/office/drawing/2014/main" id="{C983E29E-A97A-4397-B896-F9216C0D7178}"/>
                </a:ext>
              </a:extLst>
            </p:cNvPr>
            <p:cNvPicPr>
              <a:picLocks noChangeAspect="1"/>
            </p:cNvPicPr>
            <p:nvPr/>
          </p:nvPicPr>
          <p:blipFill rotWithShape="1">
            <a:blip r:embed="rId3">
              <a:extLst>
                <a:ext uri="{28A0092B-C50C-407E-A947-70E740481C1C}">
                  <a14:useLocalDpi xmlns:a14="http://schemas.microsoft.com/office/drawing/2010/main" val="0"/>
                </a:ext>
              </a:extLst>
            </a:blip>
            <a:srcRect l="3951" t="5588" b="5588"/>
            <a:stretch/>
          </p:blipFill>
          <p:spPr>
            <a:xfrm>
              <a:off x="7510324" y="1371330"/>
              <a:ext cx="3085478" cy="2661257"/>
            </a:xfrm>
            <a:prstGeom prst="rect">
              <a:avLst/>
            </a:prstGeom>
          </p:spPr>
        </p:pic>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51D18F12-379B-41DB-BF57-1AEA3635026E}"/>
                    </a:ext>
                  </a:extLst>
                </p:cNvPr>
                <p:cNvSpPr txBox="1"/>
                <p:nvPr/>
              </p:nvSpPr>
              <p:spPr>
                <a:xfrm>
                  <a:off x="7847695" y="4032587"/>
                  <a:ext cx="2596566"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600" b="0" i="0" smtClean="0">
                          <a:latin typeface="Cambria Math" panose="02040503050406030204" pitchFamily="18" charset="0"/>
                        </a:rPr>
                        <m:t>(</m:t>
                      </m:r>
                      <m:f>
                        <m:fPr>
                          <m:type m:val="lin"/>
                          <m:ctrlPr>
                            <a:rPr lang="en-US" altLang="zh-TW" sz="160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41" name="文字方塊 40">
                  <a:extLst>
                    <a:ext uri="{FF2B5EF4-FFF2-40B4-BE49-F238E27FC236}">
                      <a16:creationId xmlns:a16="http://schemas.microsoft.com/office/drawing/2014/main" id="{51D18F12-379B-41DB-BF57-1AEA3635026E}"/>
                    </a:ext>
                  </a:extLst>
                </p:cNvPr>
                <p:cNvSpPr txBox="1">
                  <a:spLocks noRot="1" noChangeAspect="1" noMove="1" noResize="1" noEditPoints="1" noAdjustHandles="1" noChangeArrowheads="1" noChangeShapeType="1" noTextEdit="1"/>
                </p:cNvSpPr>
                <p:nvPr/>
              </p:nvSpPr>
              <p:spPr>
                <a:xfrm>
                  <a:off x="7847695" y="4032587"/>
                  <a:ext cx="2596566" cy="338554"/>
                </a:xfrm>
                <a:prstGeom prst="rect">
                  <a:avLst/>
                </a:prstGeom>
                <a:blipFill>
                  <a:blip r:embed="rId4"/>
                  <a:stretch>
                    <a:fillRect l="-1408" t="-100000" r="-4695" b="-16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35DA66F6-824F-4035-B87B-02930C45CF94}"/>
                    </a:ext>
                  </a:extLst>
                </p:cNvPr>
                <p:cNvSpPr txBox="1"/>
                <p:nvPr/>
              </p:nvSpPr>
              <p:spPr>
                <a:xfrm rot="16200000">
                  <a:off x="6386036" y="2447320"/>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42" name="文字方塊 41">
                  <a:extLst>
                    <a:ext uri="{FF2B5EF4-FFF2-40B4-BE49-F238E27FC236}">
                      <a16:creationId xmlns:a16="http://schemas.microsoft.com/office/drawing/2014/main" id="{35DA66F6-824F-4035-B87B-02930C45CF94}"/>
                    </a:ext>
                  </a:extLst>
                </p:cNvPr>
                <p:cNvSpPr txBox="1">
                  <a:spLocks noRot="1" noChangeAspect="1" noMove="1" noResize="1" noEditPoints="1" noAdjustHandles="1" noChangeArrowheads="1" noChangeShapeType="1" noTextEdit="1"/>
                </p:cNvSpPr>
                <p:nvPr/>
              </p:nvSpPr>
              <p:spPr>
                <a:xfrm rot="16200000">
                  <a:off x="6386036" y="2447320"/>
                  <a:ext cx="1865895" cy="276999"/>
                </a:xfrm>
                <a:prstGeom prst="rect">
                  <a:avLst/>
                </a:prstGeom>
                <a:blipFill>
                  <a:blip r:embed="rId5"/>
                  <a:stretch>
                    <a:fillRect l="-13043" t="-3268" r="-41304" b="-359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1740148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47262638"/>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14.6246</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47262638"/>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2"/>
                          <a:stretch>
                            <a:fillRect l="-297" t="-56911" r="-100593" b="-37398"/>
                          </a:stretch>
                        </a:blipFill>
                      </a:tcPr>
                    </a:tc>
                    <a:tc>
                      <a:txBody>
                        <a:bodyPr/>
                        <a:lstStyle/>
                        <a:p>
                          <a:pPr algn="ctr"/>
                          <a:r>
                            <a:rPr lang="zh-TW" altLang="en-US" dirty="0"/>
                            <a:t> </a:t>
                          </a:r>
                          <a:r>
                            <a:rPr lang="en-US" altLang="zh-TW" dirty="0"/>
                            <a:t>14.6246</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grpSp>
        <p:nvGrpSpPr>
          <p:cNvPr id="14" name="群組 13">
            <a:extLst>
              <a:ext uri="{FF2B5EF4-FFF2-40B4-BE49-F238E27FC236}">
                <a16:creationId xmlns:a16="http://schemas.microsoft.com/office/drawing/2014/main" id="{C299C441-BCF8-4475-BFF9-35587BD5D694}"/>
              </a:ext>
            </a:extLst>
          </p:cNvPr>
          <p:cNvGrpSpPr/>
          <p:nvPr/>
        </p:nvGrpSpPr>
        <p:grpSpPr>
          <a:xfrm>
            <a:off x="532216" y="1820150"/>
            <a:ext cx="3068396" cy="2276433"/>
            <a:chOff x="7145625" y="2109855"/>
            <a:chExt cx="3068396" cy="2276433"/>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6595311" y="2660169"/>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28825721"/>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0.8836</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28825721"/>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3"/>
                          <a:stretch>
                            <a:fillRect l="-297" t="-57724" r="-100297" b="-36585"/>
                          </a:stretch>
                        </a:blipFill>
                      </a:tcPr>
                    </a:tc>
                    <a:tc>
                      <a:txBody>
                        <a:bodyPr/>
                        <a:lstStyle/>
                        <a:p>
                          <a:pPr algn="ctr"/>
                          <a:r>
                            <a:rPr lang="zh-TW" altLang="en-US" dirty="0"/>
                            <a:t> </a:t>
                          </a:r>
                          <a:r>
                            <a:rPr lang="en-US" altLang="zh-TW" dirty="0"/>
                            <a:t>0.8836</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grpSp>
        <p:nvGrpSpPr>
          <p:cNvPr id="7" name="群組 6">
            <a:extLst>
              <a:ext uri="{FF2B5EF4-FFF2-40B4-BE49-F238E27FC236}">
                <a16:creationId xmlns:a16="http://schemas.microsoft.com/office/drawing/2014/main" id="{5C5594DC-3EFD-4C1C-8ECE-7FF6BBBDADC3}"/>
              </a:ext>
            </a:extLst>
          </p:cNvPr>
          <p:cNvGrpSpPr/>
          <p:nvPr/>
        </p:nvGrpSpPr>
        <p:grpSpPr>
          <a:xfrm>
            <a:off x="618655" y="1318178"/>
            <a:ext cx="3228508" cy="2887767"/>
            <a:chOff x="621677" y="879336"/>
            <a:chExt cx="4086310" cy="3533459"/>
          </a:xfrm>
        </p:grpSpPr>
        <p:pic>
          <p:nvPicPr>
            <p:cNvPr id="6" name="圖片 5">
              <a:extLst>
                <a:ext uri="{FF2B5EF4-FFF2-40B4-BE49-F238E27FC236}">
                  <a16:creationId xmlns:a16="http://schemas.microsoft.com/office/drawing/2014/main" id="{C888683B-4034-4E91-9C20-5D643AA660EC}"/>
                </a:ext>
              </a:extLst>
            </p:cNvPr>
            <p:cNvPicPr>
              <a:picLocks noChangeAspect="1"/>
            </p:cNvPicPr>
            <p:nvPr/>
          </p:nvPicPr>
          <p:blipFill rotWithShape="1">
            <a:blip r:embed="rId4">
              <a:extLst>
                <a:ext uri="{28A0092B-C50C-407E-A947-70E740481C1C}">
                  <a14:useLocalDpi xmlns:a14="http://schemas.microsoft.com/office/drawing/2010/main" val="0"/>
                </a:ext>
              </a:extLst>
            </a:blip>
            <a:srcRect l="7098" t="5139" b="5015"/>
            <a:stretch/>
          </p:blipFill>
          <p:spPr>
            <a:xfrm>
              <a:off x="1042704" y="879336"/>
              <a:ext cx="3665283" cy="3202793"/>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FEF79B47-1C29-458E-94E1-E6497CCF1948}"/>
                    </a:ext>
                  </a:extLst>
                </p:cNvPr>
                <p:cNvSpPr txBox="1"/>
                <p:nvPr/>
              </p:nvSpPr>
              <p:spPr>
                <a:xfrm>
                  <a:off x="1253420" y="3998542"/>
                  <a:ext cx="3142508" cy="414253"/>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600" b="0" i="0" smtClean="0">
                          <a:latin typeface="Cambria Math" panose="02040503050406030204" pitchFamily="18" charset="0"/>
                        </a:rPr>
                        <m:t>(</m:t>
                      </m:r>
                      <m:f>
                        <m:fPr>
                          <m:type m:val="lin"/>
                          <m:ctrlPr>
                            <a:rPr lang="en-US" altLang="zh-TW" sz="160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FEF79B47-1C29-458E-94E1-E6497CCF1948}"/>
                    </a:ext>
                  </a:extLst>
                </p:cNvPr>
                <p:cNvSpPr txBox="1">
                  <a:spLocks noRot="1" noChangeAspect="1" noMove="1" noResize="1" noEditPoints="1" noAdjustHandles="1" noChangeArrowheads="1" noChangeShapeType="1" noTextEdit="1"/>
                </p:cNvSpPr>
                <p:nvPr/>
              </p:nvSpPr>
              <p:spPr>
                <a:xfrm>
                  <a:off x="1253420" y="3998542"/>
                  <a:ext cx="3142508" cy="414253"/>
                </a:xfrm>
                <a:prstGeom prst="rect">
                  <a:avLst/>
                </a:prstGeom>
                <a:blipFill>
                  <a:blip r:embed="rId5"/>
                  <a:stretch>
                    <a:fillRect l="-1225" t="-100000" r="-9559" b="-16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1AF27334-E988-48DD-B36A-86972053722A}"/>
                    </a:ext>
                  </a:extLst>
                </p:cNvPr>
                <p:cNvSpPr txBox="1"/>
                <p:nvPr/>
              </p:nvSpPr>
              <p:spPr>
                <a:xfrm rot="16200000">
                  <a:off x="-344575" y="2259949"/>
                  <a:ext cx="2283101" cy="350597"/>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27" name="文字方塊 26">
                  <a:extLst>
                    <a:ext uri="{FF2B5EF4-FFF2-40B4-BE49-F238E27FC236}">
                      <a16:creationId xmlns:a16="http://schemas.microsoft.com/office/drawing/2014/main" id="{1AF27334-E988-48DD-B36A-86972053722A}"/>
                    </a:ext>
                  </a:extLst>
                </p:cNvPr>
                <p:cNvSpPr txBox="1">
                  <a:spLocks noRot="1" noChangeAspect="1" noMove="1" noResize="1" noEditPoints="1" noAdjustHandles="1" noChangeArrowheads="1" noChangeShapeType="1" noTextEdit="1"/>
                </p:cNvSpPr>
                <p:nvPr/>
              </p:nvSpPr>
              <p:spPr>
                <a:xfrm rot="16200000">
                  <a:off x="-344575" y="2259949"/>
                  <a:ext cx="2283101" cy="350597"/>
                </a:xfrm>
                <a:prstGeom prst="rect">
                  <a:avLst/>
                </a:prstGeom>
                <a:blipFill>
                  <a:blip r:embed="rId6"/>
                  <a:stretch>
                    <a:fillRect l="-13043" t="-3268" r="-41304" b="-3595"/>
                  </a:stretch>
                </a:blipFill>
              </p:spPr>
              <p:txBody>
                <a:bodyPr/>
                <a:lstStyle/>
                <a:p>
                  <a:r>
                    <a:rPr lang="zh-TW" altLang="en-US">
                      <a:noFill/>
                    </a:rPr>
                    <a:t> </a:t>
                  </a:r>
                </a:p>
              </p:txBody>
            </p:sp>
          </mc:Fallback>
        </mc:AlternateContent>
      </p:grpSp>
      <p:sp>
        <p:nvSpPr>
          <p:cNvPr id="8" name="文字方塊 7">
            <a:extLst>
              <a:ext uri="{FF2B5EF4-FFF2-40B4-BE49-F238E27FC236}">
                <a16:creationId xmlns:a16="http://schemas.microsoft.com/office/drawing/2014/main" id="{F4A528F8-4FA5-4DC8-ACC8-2E873A6F2490}"/>
              </a:ext>
            </a:extLst>
          </p:cNvPr>
          <p:cNvSpPr txBox="1"/>
          <p:nvPr/>
        </p:nvSpPr>
        <p:spPr>
          <a:xfrm>
            <a:off x="642559" y="4814741"/>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r>
              <a:rPr lang="en-US" altLang="zh-TW" dirty="0" err="1"/>
              <a:t>mT</a:t>
            </a:r>
            <a:r>
              <a:rPr lang="en-US" altLang="zh-TW" dirty="0"/>
              <a:t>/A</a:t>
            </a:r>
            <a:endParaRPr lang="zh-TW" altLang="en-US" dirty="0"/>
          </a:p>
        </p:txBody>
      </p:sp>
      <p:sp>
        <p:nvSpPr>
          <p:cNvPr id="31" name="文字方塊 30">
            <a:extLst>
              <a:ext uri="{FF2B5EF4-FFF2-40B4-BE49-F238E27FC236}">
                <a16:creationId xmlns:a16="http://schemas.microsoft.com/office/drawing/2014/main" id="{94B1D736-2D57-41E4-B054-55D92DE0B3C2}"/>
              </a:ext>
            </a:extLst>
          </p:cNvPr>
          <p:cNvSpPr txBox="1"/>
          <p:nvPr/>
        </p:nvSpPr>
        <p:spPr>
          <a:xfrm>
            <a:off x="6967159" y="487610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endParaRPr lang="zh-TW" altLang="en-US" dirty="0"/>
          </a:p>
        </p:txBody>
      </p:sp>
      <p:grpSp>
        <p:nvGrpSpPr>
          <p:cNvPr id="18" name="群組 17">
            <a:extLst>
              <a:ext uri="{FF2B5EF4-FFF2-40B4-BE49-F238E27FC236}">
                <a16:creationId xmlns:a16="http://schemas.microsoft.com/office/drawing/2014/main" id="{354CEE28-943A-4704-83EC-763859EE7F2A}"/>
              </a:ext>
            </a:extLst>
          </p:cNvPr>
          <p:cNvGrpSpPr/>
          <p:nvPr/>
        </p:nvGrpSpPr>
        <p:grpSpPr>
          <a:xfrm>
            <a:off x="6871649" y="1142656"/>
            <a:ext cx="3439482" cy="3302459"/>
            <a:chOff x="6603398" y="677060"/>
            <a:chExt cx="3803243" cy="3785476"/>
          </a:xfrm>
        </p:grpSpPr>
        <p:pic>
          <p:nvPicPr>
            <p:cNvPr id="17" name="圖片 16">
              <a:extLst>
                <a:ext uri="{FF2B5EF4-FFF2-40B4-BE49-F238E27FC236}">
                  <a16:creationId xmlns:a16="http://schemas.microsoft.com/office/drawing/2014/main" id="{C424775C-C795-4608-BAB9-BF168421C1F2}"/>
                </a:ext>
              </a:extLst>
            </p:cNvPr>
            <p:cNvPicPr>
              <a:picLocks noChangeAspect="1"/>
            </p:cNvPicPr>
            <p:nvPr/>
          </p:nvPicPr>
          <p:blipFill rotWithShape="1">
            <a:blip r:embed="rId7">
              <a:extLst>
                <a:ext uri="{28A0092B-C50C-407E-A947-70E740481C1C}">
                  <a14:useLocalDpi xmlns:a14="http://schemas.microsoft.com/office/drawing/2010/main" val="0"/>
                </a:ext>
              </a:extLst>
            </a:blip>
            <a:srcRect l="3793" b="3542"/>
            <a:stretch/>
          </p:blipFill>
          <p:spPr>
            <a:xfrm>
              <a:off x="6880397" y="677060"/>
              <a:ext cx="3526244" cy="3480073"/>
            </a:xfrm>
            <a:prstGeom prst="rect">
              <a:avLst/>
            </a:prstGeom>
          </p:spPr>
        </p:pic>
        <p:sp>
          <p:nvSpPr>
            <p:cNvPr id="38" name="文字方塊 37">
              <a:extLst>
                <a:ext uri="{FF2B5EF4-FFF2-40B4-BE49-F238E27FC236}">
                  <a16:creationId xmlns:a16="http://schemas.microsoft.com/office/drawing/2014/main" id="{BADF1D84-F108-4AA8-9456-CED888C4EF20}"/>
                </a:ext>
              </a:extLst>
            </p:cNvPr>
            <p:cNvSpPr txBox="1"/>
            <p:nvPr/>
          </p:nvSpPr>
          <p:spPr>
            <a:xfrm>
              <a:off x="8148963" y="4060062"/>
              <a:ext cx="1240913" cy="402474"/>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Isotropy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579A6B44-3768-4212-B9BC-A8DE7CD364F1}"/>
                    </a:ext>
                  </a:extLst>
                </p:cNvPr>
                <p:cNvSpPr txBox="1"/>
                <p:nvPr/>
              </p:nvSpPr>
              <p:spPr>
                <a:xfrm rot="16200000">
                  <a:off x="5696740" y="2217865"/>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39" name="文字方塊 38">
                  <a:extLst>
                    <a:ext uri="{FF2B5EF4-FFF2-40B4-BE49-F238E27FC236}">
                      <a16:creationId xmlns:a16="http://schemas.microsoft.com/office/drawing/2014/main" id="{579A6B44-3768-4212-B9BC-A8DE7CD364F1}"/>
                    </a:ext>
                  </a:extLst>
                </p:cNvPr>
                <p:cNvSpPr txBox="1">
                  <a:spLocks noRot="1" noChangeAspect="1" noMove="1" noResize="1" noEditPoints="1" noAdjustHandles="1" noChangeArrowheads="1" noChangeShapeType="1" noTextEdit="1"/>
                </p:cNvSpPr>
                <p:nvPr/>
              </p:nvSpPr>
              <p:spPr>
                <a:xfrm rot="16200000">
                  <a:off x="5696740" y="2217865"/>
                  <a:ext cx="2090316" cy="276999"/>
                </a:xfrm>
                <a:prstGeom prst="rect">
                  <a:avLst/>
                </a:prstGeom>
                <a:blipFill>
                  <a:blip r:embed="rId8"/>
                  <a:stretch>
                    <a:fillRect l="-33333" t="-13651" r="-59524" b="-4444"/>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998465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DesignA</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14.6246</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447262638"/>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2"/>
                          <a:stretch>
                            <a:fillRect l="-297" t="-56911" r="-100593" b="-37398"/>
                          </a:stretch>
                        </a:blipFill>
                      </a:tcPr>
                    </a:tc>
                    <a:tc>
                      <a:txBody>
                        <a:bodyPr/>
                        <a:lstStyle/>
                        <a:p>
                          <a:pPr algn="ctr"/>
                          <a:r>
                            <a:rPr lang="zh-TW" altLang="en-US" dirty="0"/>
                            <a:t> </a:t>
                          </a:r>
                          <a:r>
                            <a:rPr lang="en-US" altLang="zh-TW" dirty="0"/>
                            <a:t>14.6246</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grpSp>
        <p:nvGrpSpPr>
          <p:cNvPr id="14" name="群組 13">
            <a:extLst>
              <a:ext uri="{FF2B5EF4-FFF2-40B4-BE49-F238E27FC236}">
                <a16:creationId xmlns:a16="http://schemas.microsoft.com/office/drawing/2014/main" id="{C299C441-BCF8-4475-BFF9-35587BD5D694}"/>
              </a:ext>
            </a:extLst>
          </p:cNvPr>
          <p:cNvGrpSpPr/>
          <p:nvPr/>
        </p:nvGrpSpPr>
        <p:grpSpPr>
          <a:xfrm>
            <a:off x="532216" y="1820150"/>
            <a:ext cx="3068396" cy="2276433"/>
            <a:chOff x="7145625" y="2109855"/>
            <a:chExt cx="3068396" cy="2276433"/>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6595311" y="2660169"/>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zh-TW" altLang="en-US" dirty="0"/>
                            <a:t> </a:t>
                          </a:r>
                          <a:r>
                            <a:rPr lang="en-US" altLang="zh-TW" dirty="0"/>
                            <a:t>0.8836</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28825721"/>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3"/>
                          <a:stretch>
                            <a:fillRect l="-297" t="-57724" r="-100297" b="-36585"/>
                          </a:stretch>
                        </a:blipFill>
                      </a:tcPr>
                    </a:tc>
                    <a:tc>
                      <a:txBody>
                        <a:bodyPr/>
                        <a:lstStyle/>
                        <a:p>
                          <a:pPr algn="ctr"/>
                          <a:r>
                            <a:rPr lang="zh-TW" altLang="en-US" dirty="0"/>
                            <a:t> </a:t>
                          </a:r>
                          <a:r>
                            <a:rPr lang="en-US" altLang="zh-TW" dirty="0"/>
                            <a:t>0.8836</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sp>
        <p:nvSpPr>
          <p:cNvPr id="8" name="文字方塊 7">
            <a:extLst>
              <a:ext uri="{FF2B5EF4-FFF2-40B4-BE49-F238E27FC236}">
                <a16:creationId xmlns:a16="http://schemas.microsoft.com/office/drawing/2014/main" id="{F4A528F8-4FA5-4DC8-ACC8-2E873A6F2490}"/>
              </a:ext>
            </a:extLst>
          </p:cNvPr>
          <p:cNvSpPr txBox="1"/>
          <p:nvPr/>
        </p:nvSpPr>
        <p:spPr>
          <a:xfrm>
            <a:off x="575467" y="476517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r>
              <a:rPr lang="en-US" altLang="zh-TW" dirty="0" err="1"/>
              <a:t>mT</a:t>
            </a:r>
            <a:r>
              <a:rPr lang="en-US" altLang="zh-TW" dirty="0"/>
              <a:t>/A</a:t>
            </a:r>
            <a:endParaRPr lang="zh-TW" altLang="en-US" dirty="0"/>
          </a:p>
        </p:txBody>
      </p:sp>
      <p:sp>
        <p:nvSpPr>
          <p:cNvPr id="31" name="文字方塊 30">
            <a:extLst>
              <a:ext uri="{FF2B5EF4-FFF2-40B4-BE49-F238E27FC236}">
                <a16:creationId xmlns:a16="http://schemas.microsoft.com/office/drawing/2014/main" id="{94B1D736-2D57-41E4-B054-55D92DE0B3C2}"/>
              </a:ext>
            </a:extLst>
          </p:cNvPr>
          <p:cNvSpPr txBox="1"/>
          <p:nvPr/>
        </p:nvSpPr>
        <p:spPr>
          <a:xfrm>
            <a:off x="6967159" y="487610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endParaRPr lang="zh-TW" altLang="en-US" dirty="0"/>
          </a:p>
        </p:txBody>
      </p:sp>
      <p:grpSp>
        <p:nvGrpSpPr>
          <p:cNvPr id="23" name="群組 22">
            <a:extLst>
              <a:ext uri="{FF2B5EF4-FFF2-40B4-BE49-F238E27FC236}">
                <a16:creationId xmlns:a16="http://schemas.microsoft.com/office/drawing/2014/main" id="{CB22736B-48F8-4C62-AA29-7F17A3C3725A}"/>
              </a:ext>
            </a:extLst>
          </p:cNvPr>
          <p:cNvGrpSpPr/>
          <p:nvPr/>
        </p:nvGrpSpPr>
        <p:grpSpPr>
          <a:xfrm>
            <a:off x="938403" y="1385145"/>
            <a:ext cx="2913298" cy="2657483"/>
            <a:chOff x="938403" y="1385145"/>
            <a:chExt cx="2913298" cy="2657483"/>
          </a:xfrm>
        </p:grpSpPr>
        <p:pic>
          <p:nvPicPr>
            <p:cNvPr id="20" name="圖片 19">
              <a:extLst>
                <a:ext uri="{FF2B5EF4-FFF2-40B4-BE49-F238E27FC236}">
                  <a16:creationId xmlns:a16="http://schemas.microsoft.com/office/drawing/2014/main" id="{F522ACC4-9983-4AC1-BE73-0138EBB17D32}"/>
                </a:ext>
              </a:extLst>
            </p:cNvPr>
            <p:cNvPicPr>
              <a:picLocks noChangeAspect="1"/>
            </p:cNvPicPr>
            <p:nvPr/>
          </p:nvPicPr>
          <p:blipFill rotWithShape="1">
            <a:blip r:embed="rId4">
              <a:extLst>
                <a:ext uri="{28A0092B-C50C-407E-A947-70E740481C1C}">
                  <a14:useLocalDpi xmlns:a14="http://schemas.microsoft.com/office/drawing/2010/main" val="0"/>
                </a:ext>
              </a:extLst>
            </a:blip>
            <a:srcRect l="6696" t="5412" b="4672"/>
            <a:stretch/>
          </p:blipFill>
          <p:spPr>
            <a:xfrm>
              <a:off x="1226352" y="1385145"/>
              <a:ext cx="2482830" cy="2392688"/>
            </a:xfrm>
            <a:prstGeom prst="rect">
              <a:avLst/>
            </a:prstGeom>
          </p:spPr>
        </p:pic>
        <p:grpSp>
          <p:nvGrpSpPr>
            <p:cNvPr id="15" name="群組 14">
              <a:extLst>
                <a:ext uri="{FF2B5EF4-FFF2-40B4-BE49-F238E27FC236}">
                  <a16:creationId xmlns:a16="http://schemas.microsoft.com/office/drawing/2014/main" id="{301A2BDF-682C-4A10-9061-0157A6F623CC}"/>
                </a:ext>
              </a:extLst>
            </p:cNvPr>
            <p:cNvGrpSpPr/>
            <p:nvPr/>
          </p:nvGrpSpPr>
          <p:grpSpPr>
            <a:xfrm>
              <a:off x="938403" y="1673927"/>
              <a:ext cx="2913298" cy="2368701"/>
              <a:chOff x="938403" y="1673927"/>
              <a:chExt cx="2913298" cy="2368701"/>
            </a:xfrm>
          </p:grpSpPr>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59C7C178-52EB-44E8-AC7A-A2BE80AA2C8B}"/>
                      </a:ext>
                    </a:extLst>
                  </p:cNvPr>
                  <p:cNvSpPr txBox="1"/>
                  <p:nvPr/>
                </p:nvSpPr>
                <p:spPr>
                  <a:xfrm>
                    <a:off x="1368871" y="3734851"/>
                    <a:ext cx="2482830"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400" b="0" i="0" smtClean="0">
                            <a:latin typeface="Cambria Math" panose="02040503050406030204" pitchFamily="18" charset="0"/>
                          </a:rPr>
                          <m:t>(</m:t>
                        </m:r>
                        <m:f>
                          <m:fPr>
                            <m:type m:val="lin"/>
                            <m:ctrlPr>
                              <a:rPr lang="en-US" altLang="zh-TW" sz="140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a14:m>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32" name="文字方塊 31">
                    <a:extLst>
                      <a:ext uri="{FF2B5EF4-FFF2-40B4-BE49-F238E27FC236}">
                        <a16:creationId xmlns:a16="http://schemas.microsoft.com/office/drawing/2014/main" id="{59C7C178-52EB-44E8-AC7A-A2BE80AA2C8B}"/>
                      </a:ext>
                    </a:extLst>
                  </p:cNvPr>
                  <p:cNvSpPr txBox="1">
                    <a:spLocks noRot="1" noChangeAspect="1" noMove="1" noResize="1" noEditPoints="1" noAdjustHandles="1" noChangeArrowheads="1" noChangeShapeType="1" noTextEdit="1"/>
                  </p:cNvSpPr>
                  <p:nvPr/>
                </p:nvSpPr>
                <p:spPr>
                  <a:xfrm>
                    <a:off x="1368871" y="3734851"/>
                    <a:ext cx="2482830" cy="307777"/>
                  </a:xfrm>
                  <a:prstGeom prst="rect">
                    <a:avLst/>
                  </a:prstGeom>
                  <a:blipFill>
                    <a:blip r:embed="rId5"/>
                    <a:stretch>
                      <a:fillRect l="-737" t="-94000" b="-158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a:extLst>
                      <a:ext uri="{FF2B5EF4-FFF2-40B4-BE49-F238E27FC236}">
                        <a16:creationId xmlns:a16="http://schemas.microsoft.com/office/drawing/2014/main" id="{25BF125D-95A1-440A-AFA8-4C6978D048F4}"/>
                      </a:ext>
                    </a:extLst>
                  </p:cNvPr>
                  <p:cNvSpPr txBox="1"/>
                  <p:nvPr/>
                </p:nvSpPr>
                <p:spPr>
                  <a:xfrm rot="16200000">
                    <a:off x="257768" y="2354562"/>
                    <a:ext cx="1638269"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400">
                            <a:latin typeface="Cambria Math" panose="02040503050406030204" pitchFamily="18" charset="0"/>
                          </a:rPr>
                          <m:t> </m:t>
                        </m:r>
                        <m:r>
                          <a:rPr lang="en-US" altLang="zh-TW" sz="1400" b="0" i="1" smtClean="0">
                            <a:latin typeface="Cambria Math" panose="02040503050406030204" pitchFamily="18" charset="0"/>
                          </a:rPr>
                          <m:t>(%)</m:t>
                        </m:r>
                      </m:oMath>
                    </a14:m>
                    <a:endParaRPr lang="zh-TW" altLang="en-US" dirty="0"/>
                  </a:p>
                </p:txBody>
              </p:sp>
            </mc:Choice>
            <mc:Fallback xmlns="">
              <p:sp>
                <p:nvSpPr>
                  <p:cNvPr id="40" name="文字方塊 39">
                    <a:extLst>
                      <a:ext uri="{FF2B5EF4-FFF2-40B4-BE49-F238E27FC236}">
                        <a16:creationId xmlns:a16="http://schemas.microsoft.com/office/drawing/2014/main" id="{25BF125D-95A1-440A-AFA8-4C6978D048F4}"/>
                      </a:ext>
                    </a:extLst>
                  </p:cNvPr>
                  <p:cNvSpPr txBox="1">
                    <a:spLocks noRot="1" noChangeAspect="1" noMove="1" noResize="1" noEditPoints="1" noAdjustHandles="1" noChangeArrowheads="1" noChangeShapeType="1" noTextEdit="1"/>
                  </p:cNvSpPr>
                  <p:nvPr/>
                </p:nvSpPr>
                <p:spPr>
                  <a:xfrm rot="16200000">
                    <a:off x="257768" y="2354562"/>
                    <a:ext cx="1638269" cy="276999"/>
                  </a:xfrm>
                  <a:prstGeom prst="rect">
                    <a:avLst/>
                  </a:prstGeom>
                  <a:blipFill>
                    <a:blip r:embed="rId6"/>
                    <a:stretch>
                      <a:fillRect l="-2222" t="-2985" r="-35556" b="-3358"/>
                    </a:stretch>
                  </a:blipFill>
                </p:spPr>
                <p:txBody>
                  <a:bodyPr/>
                  <a:lstStyle/>
                  <a:p>
                    <a:r>
                      <a:rPr lang="zh-TW" altLang="en-US">
                        <a:noFill/>
                      </a:rPr>
                      <a:t> </a:t>
                    </a:r>
                  </a:p>
                </p:txBody>
              </p:sp>
            </mc:Fallback>
          </mc:AlternateContent>
        </p:grpSp>
      </p:grpSp>
      <p:grpSp>
        <p:nvGrpSpPr>
          <p:cNvPr id="24" name="群組 23">
            <a:extLst>
              <a:ext uri="{FF2B5EF4-FFF2-40B4-BE49-F238E27FC236}">
                <a16:creationId xmlns:a16="http://schemas.microsoft.com/office/drawing/2014/main" id="{19731D68-8C54-45B2-85FA-594291E26087}"/>
              </a:ext>
            </a:extLst>
          </p:cNvPr>
          <p:cNvGrpSpPr/>
          <p:nvPr/>
        </p:nvGrpSpPr>
        <p:grpSpPr>
          <a:xfrm>
            <a:off x="7125490" y="1267817"/>
            <a:ext cx="2763942" cy="2627343"/>
            <a:chOff x="7235079" y="1276785"/>
            <a:chExt cx="2763942" cy="2627343"/>
          </a:xfrm>
        </p:grpSpPr>
        <p:pic>
          <p:nvPicPr>
            <p:cNvPr id="22" name="圖片 21">
              <a:extLst>
                <a:ext uri="{FF2B5EF4-FFF2-40B4-BE49-F238E27FC236}">
                  <a16:creationId xmlns:a16="http://schemas.microsoft.com/office/drawing/2014/main" id="{392B478F-F94E-4AFC-9FF8-FA48B5257588}"/>
                </a:ext>
              </a:extLst>
            </p:cNvPr>
            <p:cNvPicPr>
              <a:picLocks noChangeAspect="1"/>
            </p:cNvPicPr>
            <p:nvPr/>
          </p:nvPicPr>
          <p:blipFill rotWithShape="1">
            <a:blip r:embed="rId7">
              <a:extLst>
                <a:ext uri="{28A0092B-C50C-407E-A947-70E740481C1C}">
                  <a14:useLocalDpi xmlns:a14="http://schemas.microsoft.com/office/drawing/2010/main" val="0"/>
                </a:ext>
              </a:extLst>
            </a:blip>
            <a:srcRect l="4921" b="4332"/>
            <a:stretch/>
          </p:blipFill>
          <p:spPr>
            <a:xfrm>
              <a:off x="7516191" y="1276785"/>
              <a:ext cx="2482830" cy="2392688"/>
            </a:xfrm>
            <a:prstGeom prst="rect">
              <a:avLst/>
            </a:prstGeom>
          </p:spPr>
        </p:pic>
        <p:sp>
          <p:nvSpPr>
            <p:cNvPr id="43" name="文字方塊 42">
              <a:extLst>
                <a:ext uri="{FF2B5EF4-FFF2-40B4-BE49-F238E27FC236}">
                  <a16:creationId xmlns:a16="http://schemas.microsoft.com/office/drawing/2014/main" id="{58BBDCE1-E709-4C35-9E6F-E67D8C238178}"/>
                </a:ext>
              </a:extLst>
            </p:cNvPr>
            <p:cNvSpPr txBox="1"/>
            <p:nvPr/>
          </p:nvSpPr>
          <p:spPr>
            <a:xfrm>
              <a:off x="8340301" y="3565574"/>
              <a:ext cx="936398"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Isotropy</a:t>
              </a:r>
              <a:endParaRPr lang="zh-TW" alt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ECAAAA42-E7B9-459C-806D-5FA781E6B487}"/>
                    </a:ext>
                  </a:extLst>
                </p:cNvPr>
                <p:cNvSpPr txBox="1"/>
                <p:nvPr/>
              </p:nvSpPr>
              <p:spPr>
                <a:xfrm rot="16200000">
                  <a:off x="6440631" y="2303400"/>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44" name="文字方塊 43">
                  <a:extLst>
                    <a:ext uri="{FF2B5EF4-FFF2-40B4-BE49-F238E27FC236}">
                      <a16:creationId xmlns:a16="http://schemas.microsoft.com/office/drawing/2014/main" id="{ECAAAA42-E7B9-459C-806D-5FA781E6B487}"/>
                    </a:ext>
                  </a:extLst>
                </p:cNvPr>
                <p:cNvSpPr txBox="1">
                  <a:spLocks noRot="1" noChangeAspect="1" noMove="1" noResize="1" noEditPoints="1" noAdjustHandles="1" noChangeArrowheads="1" noChangeShapeType="1" noTextEdit="1"/>
                </p:cNvSpPr>
                <p:nvPr/>
              </p:nvSpPr>
              <p:spPr>
                <a:xfrm rot="16200000">
                  <a:off x="6440631" y="2303400"/>
                  <a:ext cx="1865895" cy="276999"/>
                </a:xfrm>
                <a:prstGeom prst="rect">
                  <a:avLst/>
                </a:prstGeom>
                <a:blipFill>
                  <a:blip r:embed="rId8"/>
                  <a:stretch>
                    <a:fillRect l="-15556" t="-2941" r="-42222" b="-392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6079602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764014" y="1722998"/>
            <a:ext cx="159369"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5" y="3763636"/>
            <a:ext cx="3083568" cy="2082167"/>
            <a:chOff x="6051068" y="3773292"/>
            <a:chExt cx="3590668"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423181" y="415133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0084" y="870386"/>
            <a:ext cx="6176432" cy="5078313"/>
          </a:xfrm>
          <a:prstGeom prst="rect">
            <a:avLst/>
          </a:prstGeom>
          <a:noFill/>
        </p:spPr>
        <p:txBody>
          <a:bodyPr wrap="square">
            <a:spAutoFit/>
          </a:bodyPr>
          <a:lstStyle/>
          <a:p>
            <a:pPr marL="285750" indent="-285750">
              <a:buFont typeface="Arial" panose="020B0604020202020204" pitchFamily="34" charset="0"/>
              <a:buChar char="•"/>
            </a:pPr>
            <a:r>
              <a:rPr lang="en-US" altLang="zh-TW" dirty="0"/>
              <a:t>The capacity measure </a:t>
            </a:r>
            <a:r>
              <a:rPr lang="zh-TW" altLang="en-US" dirty="0"/>
              <a:t>𝒞 </a:t>
            </a:r>
            <a:r>
              <a:rPr lang="en-US" altLang="zh-TW" dirty="0"/>
              <a:t>for Design B is mapped on the same three actuator planes, with a </a:t>
            </a:r>
            <a:r>
              <a:rPr lang="en-US" altLang="zh-TW" dirty="0" err="1"/>
              <a:t>colour</a:t>
            </a:r>
            <a:r>
              <a:rPr lang="en-US" altLang="zh-TW" dirty="0"/>
              <a:t> scale of 30–55 </a:t>
            </a:r>
            <a:r>
              <a:rPr lang="en-US" altLang="zh-TW" dirty="0" err="1"/>
              <a:t>mT</a:t>
            </a:r>
            <a:r>
              <a:rPr lang="en-US" altLang="zh-TW" dirty="0"/>
              <a:t>/A. The model is calibrated on the converged design within R ≤ 150 µm and evaluated point by point out to the pole-tip sphere at R = 500 µm, with the in-plane pole pairs marked on the rim.</a:t>
            </a:r>
          </a:p>
          <a:p>
            <a:pPr marL="285750" indent="-285750">
              <a:buFont typeface="Arial" panose="020B0604020202020204" pitchFamily="34" charset="0"/>
              <a:buChar char="•"/>
            </a:pPr>
            <a:r>
              <a:rPr lang="en-US" altLang="zh-TW" dirty="0"/>
              <a:t>The spatial pattern matches Design A: the </a:t>
            </a:r>
            <a:r>
              <a:rPr lang="en-US" altLang="zh-TW" dirty="0" err="1"/>
              <a:t>centre</a:t>
            </a:r>
            <a:r>
              <a:rPr lang="en-US" altLang="zh-TW" dirty="0"/>
              <a:t> sits mid-range at about 38 </a:t>
            </a:r>
            <a:r>
              <a:rPr lang="en-US" altLang="zh-TW" dirty="0" err="1"/>
              <a:t>mT</a:t>
            </a:r>
            <a:r>
              <a:rPr lang="en-US" altLang="zh-TW" dirty="0"/>
              <a:t>/A, </a:t>
            </a:r>
            <a:r>
              <a:rPr lang="zh-TW" altLang="en-US" dirty="0"/>
              <a:t>𝒞 </a:t>
            </a:r>
            <a:r>
              <a:rPr lang="en-US" altLang="zh-TW" dirty="0"/>
              <a:t>rises monotonically along a pole axis to a maximum of about 51 on the rim, and falls to about 31 on the rim between poles, a directional variation of roughly 1.6× at the outer edge. The overall level is about 2.6× that of Design A (37.96 vs 14.39 </a:t>
            </a:r>
            <a:r>
              <a:rPr lang="en-US" altLang="zh-TW" dirty="0" err="1"/>
              <a:t>mT</a:t>
            </a:r>
            <a:r>
              <a:rPr lang="en-US" altLang="zh-TW" dirty="0"/>
              <a:t>/A at the </a:t>
            </a:r>
            <a:r>
              <a:rPr lang="en-US" altLang="zh-TW" dirty="0" err="1"/>
              <a:t>centre</a:t>
            </a:r>
            <a:r>
              <a:rPr lang="en-US" altLang="zh-TW" dirty="0"/>
              <a:t>), and this ratio holds across radii and directions, so the gain is raised as a whole rather than the field shape being altered. One difference from Design A is that the six lobes are nearly equal in strength (50.6–51.1 </a:t>
            </a:r>
            <a:r>
              <a:rPr lang="en-US" altLang="zh-TW" dirty="0" err="1"/>
              <a:t>mT</a:t>
            </a:r>
            <a:r>
              <a:rPr lang="en-US" altLang="zh-TW" dirty="0"/>
              <a:t>/A, about 1 % spread), with no splitting into upper and lower groups — a consequence of the planar hexapole's up–down symmetry.</a:t>
            </a:r>
            <a:endParaRPr lang="zh-TW" altLang="en-US" dirty="0"/>
          </a:p>
        </p:txBody>
      </p:sp>
      <p:grpSp>
        <p:nvGrpSpPr>
          <p:cNvPr id="4" name="群組 3">
            <a:extLst>
              <a:ext uri="{FF2B5EF4-FFF2-40B4-BE49-F238E27FC236}">
                <a16:creationId xmlns:a16="http://schemas.microsoft.com/office/drawing/2014/main" id="{6FCC7108-4715-45B6-9B84-D8CD4E88BBED}"/>
              </a:ext>
            </a:extLst>
          </p:cNvPr>
          <p:cNvGrpSpPr/>
          <p:nvPr/>
        </p:nvGrpSpPr>
        <p:grpSpPr>
          <a:xfrm>
            <a:off x="7540534" y="936697"/>
            <a:ext cx="4105964" cy="2029789"/>
            <a:chOff x="7540534" y="936697"/>
            <a:chExt cx="4105964" cy="2029789"/>
          </a:xfrm>
        </p:grpSpPr>
        <p:grpSp>
          <p:nvGrpSpPr>
            <p:cNvPr id="19" name="群組 18">
              <a:extLst>
                <a:ext uri="{FF2B5EF4-FFF2-40B4-BE49-F238E27FC236}">
                  <a16:creationId xmlns:a16="http://schemas.microsoft.com/office/drawing/2014/main" id="{7202CFBD-9269-4883-8211-E36862A41FFB}"/>
                </a:ext>
              </a:extLst>
            </p:cNvPr>
            <p:cNvGrpSpPr/>
            <p:nvPr/>
          </p:nvGrpSpPr>
          <p:grpSpPr>
            <a:xfrm>
              <a:off x="7540534" y="936697"/>
              <a:ext cx="4001596" cy="2029789"/>
              <a:chOff x="2455747" y="3707902"/>
              <a:chExt cx="4367353" cy="2204294"/>
            </a:xfrm>
          </p:grpSpPr>
          <p:grpSp>
            <p:nvGrpSpPr>
              <p:cNvPr id="11" name="群組 10">
                <a:extLst>
                  <a:ext uri="{FF2B5EF4-FFF2-40B4-BE49-F238E27FC236}">
                    <a16:creationId xmlns:a16="http://schemas.microsoft.com/office/drawing/2014/main" id="{88CFC4CA-1454-4D8A-9B44-947B4D19CDD9}"/>
                  </a:ext>
                </a:extLst>
              </p:cNvPr>
              <p:cNvGrpSpPr/>
              <p:nvPr/>
            </p:nvGrpSpPr>
            <p:grpSpPr>
              <a:xfrm>
                <a:off x="2455747" y="3707902"/>
                <a:ext cx="4367353" cy="2204294"/>
                <a:chOff x="6916509" y="812253"/>
                <a:chExt cx="4367353" cy="2204294"/>
              </a:xfrm>
            </p:grpSpPr>
            <p:pic>
              <p:nvPicPr>
                <p:cNvPr id="7" name="圖片 6">
                  <a:extLst>
                    <a:ext uri="{FF2B5EF4-FFF2-40B4-BE49-F238E27FC236}">
                      <a16:creationId xmlns:a16="http://schemas.microsoft.com/office/drawing/2014/main" id="{67FBDC49-9CDD-46DA-8E47-5203D9A6C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0559" y="1014669"/>
                  <a:ext cx="4056682" cy="1799788"/>
                </a:xfrm>
                <a:prstGeom prst="rect">
                  <a:avLst/>
                </a:prstGeom>
              </p:spPr>
            </p:pic>
            <p:grpSp>
              <p:nvGrpSpPr>
                <p:cNvPr id="13" name="群組 12">
                  <a:extLst>
                    <a:ext uri="{FF2B5EF4-FFF2-40B4-BE49-F238E27FC236}">
                      <a16:creationId xmlns:a16="http://schemas.microsoft.com/office/drawing/2014/main" id="{23F78EBC-70AE-46C7-8747-578090779B11}"/>
                    </a:ext>
                  </a:extLst>
                </p:cNvPr>
                <p:cNvGrpSpPr/>
                <p:nvPr/>
              </p:nvGrpSpPr>
              <p:grpSpPr>
                <a:xfrm>
                  <a:off x="6916509" y="812253"/>
                  <a:ext cx="4367353" cy="2204294"/>
                  <a:chOff x="6916509" y="812253"/>
                  <a:chExt cx="4367353" cy="2204294"/>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916509" y="812253"/>
                    <a:ext cx="4367353" cy="2204294"/>
                    <a:chOff x="6916509" y="812253"/>
                    <a:chExt cx="4367353" cy="2204294"/>
                  </a:xfrm>
                </p:grpSpPr>
                <p:sp>
                  <p:nvSpPr>
                    <p:cNvPr id="3" name="矩形 2">
                      <a:extLst>
                        <a:ext uri="{FF2B5EF4-FFF2-40B4-BE49-F238E27FC236}">
                          <a16:creationId xmlns:a16="http://schemas.microsoft.com/office/drawing/2014/main" id="{FB7DEFC0-C83A-40F7-A246-1F3C181E9589}"/>
                        </a:ext>
                      </a:extLst>
                    </p:cNvPr>
                    <p:cNvSpPr/>
                    <p:nvPr/>
                  </p:nvSpPr>
                  <p:spPr>
                    <a:xfrm>
                      <a:off x="8869295" y="1730429"/>
                      <a:ext cx="381137"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916509"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9779728" y="940322"/>
                      <a:ext cx="453262" cy="2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68543" y="1646527"/>
                      <a:ext cx="115319" cy="594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9757220"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9" name="文字方塊 38">
                    <a:extLst>
                      <a:ext uri="{FF2B5EF4-FFF2-40B4-BE49-F238E27FC236}">
                        <a16:creationId xmlns:a16="http://schemas.microsoft.com/office/drawing/2014/main" id="{6FEFB949-8C79-4170-A169-EF49AF40D4C6}"/>
                      </a:ext>
                    </a:extLst>
                  </p:cNvPr>
                  <p:cNvSpPr txBox="1"/>
                  <p:nvPr/>
                </p:nvSpPr>
                <p:spPr>
                  <a:xfrm>
                    <a:off x="7937883" y="92017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7053388" y="16465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960231" y="260772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9783364" y="8931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9803023" y="26282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798075" y="18530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8956003" y="165190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0639667" y="193362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FA5E863-69D9-4E94-9E8E-CB25CF9BA993}"/>
                      </a:ext>
                    </a:extLst>
                  </p:cNvPr>
                  <p:cNvSpPr txBox="1"/>
                  <p:nvPr/>
                </p:nvSpPr>
                <p:spPr>
                  <a:xfrm>
                    <a:off x="3343186" y="4277041"/>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3343186" y="4277041"/>
                    <a:ext cx="332369" cy="307777"/>
                  </a:xfrm>
                  <a:prstGeom prst="rect">
                    <a:avLst/>
                  </a:prstGeom>
                  <a:blipFill>
                    <a:blip r:embed="rId17"/>
                    <a:stretch>
                      <a:fillRect b="-130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466B6D5-E082-4974-BC7C-83DA50FBD643}"/>
                      </a:ext>
                    </a:extLst>
                  </p:cNvPr>
                  <p:cNvSpPr txBox="1"/>
                  <p:nvPr/>
                </p:nvSpPr>
                <p:spPr>
                  <a:xfrm>
                    <a:off x="3802864" y="474868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3802864" y="4748687"/>
                    <a:ext cx="332369" cy="307777"/>
                  </a:xfrm>
                  <a:prstGeom prst="rect">
                    <a:avLst/>
                  </a:prstGeom>
                  <a:blipFill>
                    <a:blip r:embed="rId18"/>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2D95AAF3-657B-4E85-A93E-232AFF17D1B9}"/>
                      </a:ext>
                    </a:extLst>
                  </p:cNvPr>
                  <p:cNvSpPr txBox="1"/>
                  <p:nvPr/>
                </p:nvSpPr>
                <p:spPr>
                  <a:xfrm>
                    <a:off x="5235416" y="424450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5235416" y="4244503"/>
                    <a:ext cx="332369" cy="307777"/>
                  </a:xfrm>
                  <a:prstGeom prst="rect">
                    <a:avLst/>
                  </a:prstGeom>
                  <a:blipFill>
                    <a:blip r:embed="rId19"/>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06575CDD-D32D-4C7A-A6D6-FC30A9C5669B}"/>
                      </a:ext>
                    </a:extLst>
                  </p:cNvPr>
                  <p:cNvSpPr txBox="1"/>
                  <p:nvPr/>
                </p:nvSpPr>
                <p:spPr>
                  <a:xfrm>
                    <a:off x="5646538" y="473760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5646538" y="4737606"/>
                    <a:ext cx="332369" cy="307777"/>
                  </a:xfrm>
                  <a:prstGeom prst="rect">
                    <a:avLst/>
                  </a:prstGeom>
                  <a:blipFill>
                    <a:blip r:embed="rId20"/>
                    <a:stretch>
                      <a:fillRect/>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7140F9FF-18DA-48B7-8C65-D638467A7012}"/>
                  </a:ext>
                </a:extLst>
              </p:cNvPr>
              <p:cNvSpPr/>
              <p:nvPr/>
            </p:nvSpPr>
            <p:spPr>
              <a:xfrm>
                <a:off x="6282957" y="4653664"/>
                <a:ext cx="203153" cy="223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31583E06-A84E-4BAF-B053-8633BAD0396C}"/>
                    </a:ext>
                  </a:extLst>
                </p:cNvPr>
                <p:cNvSpPr txBox="1"/>
                <p:nvPr/>
              </p:nvSpPr>
              <p:spPr>
                <a:xfrm rot="16200000">
                  <a:off x="10626353" y="1799159"/>
                  <a:ext cx="1778680" cy="261610"/>
                </a:xfrm>
                <a:prstGeom prst="rect">
                  <a:avLst/>
                </a:prstGeom>
                <a:noFill/>
              </p:spPr>
              <p:txBody>
                <a:bodyPr wrap="square">
                  <a:spAutoFit/>
                </a:bodyPr>
                <a:lstStyle/>
                <a:p>
                  <a:r>
                    <a:rPr lang="en-US" altLang="zh-TW" sz="11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100" b="0" i="0" smtClean="0">
                          <a:latin typeface="Cambria Math" panose="02040503050406030204" pitchFamily="18" charset="0"/>
                        </a:rPr>
                        <m:t>(</m:t>
                      </m:r>
                      <m:f>
                        <m:fPr>
                          <m:type m:val="lin"/>
                          <m:ctrlPr>
                            <a:rPr lang="en-US" altLang="zh-TW" sz="1100" i="1" smtClean="0">
                              <a:latin typeface="Cambria Math" panose="02040503050406030204" pitchFamily="18" charset="0"/>
                            </a:rPr>
                          </m:ctrlPr>
                        </m:fPr>
                        <m:num>
                          <m:r>
                            <a:rPr lang="en-US" altLang="zh-TW" sz="1100" b="0" i="1" smtClean="0">
                              <a:latin typeface="Cambria Math" panose="02040503050406030204" pitchFamily="18" charset="0"/>
                            </a:rPr>
                            <m:t>𝑚𝑇</m:t>
                          </m:r>
                        </m:num>
                        <m:den>
                          <m:r>
                            <a:rPr lang="en-US" altLang="zh-TW" sz="1100" b="0" i="1" smtClean="0">
                              <a:latin typeface="Cambria Math" panose="02040503050406030204" pitchFamily="18" charset="0"/>
                            </a:rPr>
                            <m:t>𝐴</m:t>
                          </m:r>
                        </m:den>
                      </m:f>
                      <m:r>
                        <a:rPr lang="en-US" altLang="zh-TW" sz="1100" b="0" i="1" smtClean="0">
                          <a:latin typeface="Cambria Math" panose="02040503050406030204" pitchFamily="18" charset="0"/>
                        </a:rPr>
                        <m:t>)</m:t>
                      </m:r>
                    </m:oMath>
                  </a14:m>
                  <a:endParaRPr lang="zh-TW" altLang="en-US" sz="1100" dirty="0">
                    <a:latin typeface="Times New Roman" panose="02020603050405020304" pitchFamily="18" charset="0"/>
                    <a:cs typeface="Times New Roman" panose="02020603050405020304" pitchFamily="18" charset="0"/>
                  </a:endParaRPr>
                </a:p>
              </p:txBody>
            </p:sp>
          </mc:Choice>
          <mc:Fallback xmlns="">
            <p:sp>
              <p:nvSpPr>
                <p:cNvPr id="68" name="文字方塊 67">
                  <a:extLst>
                    <a:ext uri="{FF2B5EF4-FFF2-40B4-BE49-F238E27FC236}">
                      <a16:creationId xmlns:a16="http://schemas.microsoft.com/office/drawing/2014/main" id="{31583E06-A84E-4BAF-B053-8633BAD0396C}"/>
                    </a:ext>
                  </a:extLst>
                </p:cNvPr>
                <p:cNvSpPr txBox="1">
                  <a:spLocks noRot="1" noChangeAspect="1" noMove="1" noResize="1" noEditPoints="1" noAdjustHandles="1" noChangeArrowheads="1" noChangeShapeType="1" noTextEdit="1"/>
                </p:cNvSpPr>
                <p:nvPr/>
              </p:nvSpPr>
              <p:spPr>
                <a:xfrm rot="16200000">
                  <a:off x="10626353" y="1799159"/>
                  <a:ext cx="1778680" cy="261610"/>
                </a:xfrm>
                <a:prstGeom prst="rect">
                  <a:avLst/>
                </a:prstGeom>
                <a:blipFill>
                  <a:blip r:embed="rId21"/>
                  <a:stretch>
                    <a:fillRect l="-88372" t="-8247" r="-139535"/>
                  </a:stretch>
                </a:blipFill>
              </p:spPr>
              <p:txBody>
                <a:bodyPr/>
                <a:lstStyle/>
                <a:p>
                  <a:r>
                    <a:rPr lang="zh-TW" altLang="en-US">
                      <a:noFill/>
                    </a:rPr>
                    <a:t> </a:t>
                  </a:r>
                </a:p>
              </p:txBody>
            </p:sp>
          </mc:Fallback>
        </mc:AlternateContent>
      </p:grpSp>
      <p:grpSp>
        <p:nvGrpSpPr>
          <p:cNvPr id="6" name="群組 5">
            <a:extLst>
              <a:ext uri="{FF2B5EF4-FFF2-40B4-BE49-F238E27FC236}">
                <a16:creationId xmlns:a16="http://schemas.microsoft.com/office/drawing/2014/main" id="{09BBCFC4-37B7-44C7-8C2D-08FA9A68D67D}"/>
              </a:ext>
            </a:extLst>
          </p:cNvPr>
          <p:cNvGrpSpPr/>
          <p:nvPr/>
        </p:nvGrpSpPr>
        <p:grpSpPr>
          <a:xfrm>
            <a:off x="8658186" y="3222831"/>
            <a:ext cx="2346653" cy="1928146"/>
            <a:chOff x="8658186" y="3222831"/>
            <a:chExt cx="2346653" cy="1928146"/>
          </a:xfrm>
        </p:grpSpPr>
        <p:grpSp>
          <p:nvGrpSpPr>
            <p:cNvPr id="72" name="群組 71">
              <a:extLst>
                <a:ext uri="{FF2B5EF4-FFF2-40B4-BE49-F238E27FC236}">
                  <a16:creationId xmlns:a16="http://schemas.microsoft.com/office/drawing/2014/main" id="{14AACBA3-DE4A-4DE2-94DD-5FA7E272AAF8}"/>
                </a:ext>
              </a:extLst>
            </p:cNvPr>
            <p:cNvGrpSpPr/>
            <p:nvPr/>
          </p:nvGrpSpPr>
          <p:grpSpPr>
            <a:xfrm>
              <a:off x="8658186" y="3222831"/>
              <a:ext cx="2338172" cy="1928146"/>
              <a:chOff x="8230185" y="3441294"/>
              <a:chExt cx="2338172" cy="1928146"/>
            </a:xfrm>
          </p:grpSpPr>
          <p:pic>
            <p:nvPicPr>
              <p:cNvPr id="32" name="圖片 31">
                <a:extLst>
                  <a:ext uri="{FF2B5EF4-FFF2-40B4-BE49-F238E27FC236}">
                    <a16:creationId xmlns:a16="http://schemas.microsoft.com/office/drawing/2014/main" id="{68410EBA-52D5-4DB1-9DAD-07090B706958}"/>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378847" y="3560318"/>
                <a:ext cx="2085617" cy="1698605"/>
              </a:xfrm>
              <a:prstGeom prst="rect">
                <a:avLst/>
              </a:prstGeom>
            </p:spPr>
          </p:pic>
          <p:grpSp>
            <p:nvGrpSpPr>
              <p:cNvPr id="18" name="群組 17">
                <a:extLst>
                  <a:ext uri="{FF2B5EF4-FFF2-40B4-BE49-F238E27FC236}">
                    <a16:creationId xmlns:a16="http://schemas.microsoft.com/office/drawing/2014/main" id="{22DEE182-220C-4694-B0E8-4F293D6F7DFF}"/>
                  </a:ext>
                </a:extLst>
              </p:cNvPr>
              <p:cNvGrpSpPr/>
              <p:nvPr/>
            </p:nvGrpSpPr>
            <p:grpSpPr>
              <a:xfrm>
                <a:off x="8230185" y="3441294"/>
                <a:ext cx="2338172" cy="1928146"/>
                <a:chOff x="8221376" y="3620073"/>
                <a:chExt cx="2338172" cy="1928146"/>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273172" y="3704853"/>
                  <a:ext cx="2286376" cy="1779937"/>
                  <a:chOff x="8273172" y="3704853"/>
                  <a:chExt cx="2286376" cy="1779937"/>
                </a:xfrm>
              </p:grpSpPr>
              <p:sp>
                <p:nvSpPr>
                  <p:cNvPr id="5" name="矩形 4">
                    <a:extLst>
                      <a:ext uri="{FF2B5EF4-FFF2-40B4-BE49-F238E27FC236}">
                        <a16:creationId xmlns:a16="http://schemas.microsoft.com/office/drawing/2014/main" id="{814C6145-C47B-4D69-AAD2-1C7FDFF05D7C}"/>
                      </a:ext>
                    </a:extLst>
                  </p:cNvPr>
                  <p:cNvSpPr/>
                  <p:nvPr/>
                </p:nvSpPr>
                <p:spPr>
                  <a:xfrm>
                    <a:off x="8979362" y="3704853"/>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273172" y="4495665"/>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951784" y="5303872"/>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24223" y="4410200"/>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1329119F-C529-4B40-91BE-B411B4240C93}"/>
                      </a:ext>
                    </a:extLst>
                  </p:cNvPr>
                  <p:cNvSpPr/>
                  <p:nvPr/>
                </p:nvSpPr>
                <p:spPr>
                  <a:xfrm>
                    <a:off x="10370107" y="4314578"/>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81" name="文字方塊 80">
                  <a:extLst>
                    <a:ext uri="{FF2B5EF4-FFF2-40B4-BE49-F238E27FC236}">
                      <a16:creationId xmlns:a16="http://schemas.microsoft.com/office/drawing/2014/main" id="{52CF3FFF-4A3A-4DF8-9571-F600210FEEA8}"/>
                    </a:ext>
                  </a:extLst>
                </p:cNvPr>
                <p:cNvSpPr txBox="1"/>
                <p:nvPr/>
              </p:nvSpPr>
              <p:spPr>
                <a:xfrm>
                  <a:off x="8221376" y="431668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9046233" y="362007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9024924" y="52404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844910" y="449546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D1DC1B8D-56D3-4D93-9A97-0A19867BCDE3}"/>
                    </a:ext>
                  </a:extLst>
                </p:cNvPr>
                <p:cNvSpPr txBox="1"/>
                <p:nvPr/>
              </p:nvSpPr>
              <p:spPr>
                <a:xfrm rot="16200000">
                  <a:off x="9984694" y="4020315"/>
                  <a:ext cx="1778680" cy="261610"/>
                </a:xfrm>
                <a:prstGeom prst="rect">
                  <a:avLst/>
                </a:prstGeom>
                <a:noFill/>
              </p:spPr>
              <p:txBody>
                <a:bodyPr wrap="square">
                  <a:spAutoFit/>
                </a:bodyPr>
                <a:lstStyle/>
                <a:p>
                  <a:r>
                    <a:rPr lang="en-US" altLang="zh-TW" sz="11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100" b="0" i="0" smtClean="0">
                          <a:latin typeface="Cambria Math" panose="02040503050406030204" pitchFamily="18" charset="0"/>
                        </a:rPr>
                        <m:t>(</m:t>
                      </m:r>
                      <m:f>
                        <m:fPr>
                          <m:type m:val="lin"/>
                          <m:ctrlPr>
                            <a:rPr lang="en-US" altLang="zh-TW" sz="1100" i="1" smtClean="0">
                              <a:latin typeface="Cambria Math" panose="02040503050406030204" pitchFamily="18" charset="0"/>
                            </a:rPr>
                          </m:ctrlPr>
                        </m:fPr>
                        <m:num>
                          <m:r>
                            <a:rPr lang="en-US" altLang="zh-TW" sz="1100" b="0" i="1" smtClean="0">
                              <a:latin typeface="Cambria Math" panose="02040503050406030204" pitchFamily="18" charset="0"/>
                            </a:rPr>
                            <m:t>𝑚𝑇</m:t>
                          </m:r>
                        </m:num>
                        <m:den>
                          <m:r>
                            <a:rPr lang="en-US" altLang="zh-TW" sz="1100" b="0" i="1" smtClean="0">
                              <a:latin typeface="Cambria Math" panose="02040503050406030204" pitchFamily="18" charset="0"/>
                            </a:rPr>
                            <m:t>𝐴</m:t>
                          </m:r>
                        </m:den>
                      </m:f>
                      <m:r>
                        <a:rPr lang="en-US" altLang="zh-TW" sz="1100" b="0" i="1" smtClean="0">
                          <a:latin typeface="Cambria Math" panose="02040503050406030204" pitchFamily="18" charset="0"/>
                        </a:rPr>
                        <m:t>)</m:t>
                      </m:r>
                    </m:oMath>
                  </a14:m>
                  <a:endParaRPr lang="zh-TW" altLang="en-US" sz="1100" dirty="0">
                    <a:latin typeface="Times New Roman" panose="020206030504050203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D1DC1B8D-56D3-4D93-9A97-0A19867BCDE3}"/>
                    </a:ext>
                  </a:extLst>
                </p:cNvPr>
                <p:cNvSpPr txBox="1">
                  <a:spLocks noRot="1" noChangeAspect="1" noMove="1" noResize="1" noEditPoints="1" noAdjustHandles="1" noChangeArrowheads="1" noChangeShapeType="1" noTextEdit="1"/>
                </p:cNvSpPr>
                <p:nvPr/>
              </p:nvSpPr>
              <p:spPr>
                <a:xfrm rot="16200000">
                  <a:off x="9984694" y="4020315"/>
                  <a:ext cx="1778680" cy="261610"/>
                </a:xfrm>
                <a:prstGeom prst="rect">
                  <a:avLst/>
                </a:prstGeom>
                <a:blipFill>
                  <a:blip r:embed="rId23"/>
                  <a:stretch>
                    <a:fillRect l="-88372" t="-8219" r="-13953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751353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5CE909AB-7F0B-4394-A735-F542BEB3695B}"/>
                  </a:ext>
                </a:extLst>
              </p:cNvPr>
              <p:cNvSpPr txBox="1"/>
              <p:nvPr/>
            </p:nvSpPr>
            <p:spPr>
              <a:xfrm>
                <a:off x="105568" y="908307"/>
                <a:ext cx="6096410" cy="5355312"/>
              </a:xfrm>
              <a:prstGeom prst="rect">
                <a:avLst/>
              </a:prstGeom>
              <a:noFill/>
            </p:spPr>
            <p:txBody>
              <a:bodyPr wrap="square">
                <a:spAutoFit/>
              </a:bodyPr>
              <a:lstStyle/>
              <a:p>
                <a:pPr marL="285750" indent="-285750">
                  <a:buFont typeface="Arial" panose="020B0604020202020204" pitchFamily="34" charset="0"/>
                  <a:buChar char="•"/>
                </a:pPr>
                <a:r>
                  <a:rPr lang="en-US" altLang="zh-TW" dirty="0"/>
                  <a:t>Isotropy </a:t>
                </a:r>
                <a14:m>
                  <m:oMath xmlns:m="http://schemas.openxmlformats.org/officeDocument/2006/math">
                    <m:r>
                      <a:rPr lang="zh-TW" altLang="en-US" i="1" smtClean="0">
                        <a:latin typeface="Cambria Math" panose="02040503050406030204" pitchFamily="18" charset="0"/>
                      </a:rPr>
                      <m:t>𝜅</m:t>
                    </m:r>
                  </m:oMath>
                </a14:m>
                <a:r>
                  <a:rPr lang="en-US" altLang="zh-TW" dirty="0"/>
                  <a:t> for Design B is mapped on the same three actuator planes, with a </a:t>
                </a:r>
                <a:r>
                  <a:rPr lang="en-US" altLang="zh-TW" dirty="0" err="1"/>
                  <a:t>colour</a:t>
                </a:r>
                <a:r>
                  <a:rPr lang="en-US" altLang="zh-TW" dirty="0"/>
                  <a:t> scale of 0–0.8. The model is calibrated on the converged design within R ≤ 150 µm and evaluated point by point out to the pole-tip sphere at R = 500 µm, with the in-plane pole pairs marked on the rim.</a:t>
                </a:r>
              </a:p>
              <a:p>
                <a:pPr marL="285750" indent="-285750">
                  <a:buFont typeface="Arial" panose="020B0604020202020204" pitchFamily="34" charset="0"/>
                  <a:buChar char="•"/>
                </a:pPr>
                <a:r>
                  <a:rPr lang="en-US" altLang="zh-TW" dirty="0"/>
                  <a:t>Design B is markedly less isotropic than Design A across the whole workspace: κ at the </a:t>
                </a:r>
                <a:r>
                  <a:rPr lang="en-US" altLang="zh-TW" dirty="0" err="1"/>
                  <a:t>centre</a:t>
                </a:r>
                <a:r>
                  <a:rPr lang="en-US" altLang="zh-TW" dirty="0"/>
                  <a:t> is only 0.54 against 0.95 for Design A. The shape of the distribution also differs — the high-</a:t>
                </a:r>
                <a14:m>
                  <m:oMath xmlns:m="http://schemas.openxmlformats.org/officeDocument/2006/math">
                    <m:r>
                      <a:rPr lang="zh-TW" altLang="en-US" i="1" smtClean="0">
                        <a:latin typeface="Cambria Math" panose="02040503050406030204" pitchFamily="18" charset="0"/>
                      </a:rPr>
                      <m:t>𝜅</m:t>
                    </m:r>
                  </m:oMath>
                </a14:m>
                <a:r>
                  <a:rPr lang="en-US" altLang="zh-TW" dirty="0"/>
                  <a:t> region is not a concentric core about the origin but two </a:t>
                </a:r>
                <a:r>
                  <a:rPr lang="en-US" altLang="zh-TW" dirty="0" err="1"/>
                  <a:t>off-centre</a:t>
                </a:r>
                <a:r>
                  <a:rPr lang="en-US" altLang="zh-TW" dirty="0"/>
                  <a:t> lobes along a diagonal, with the best values of 0.60–0.65 occurring roughly 130–175 µm from the </a:t>
                </a:r>
                <a:r>
                  <a:rPr lang="en-US" altLang="zh-TW" dirty="0" err="1"/>
                  <a:t>centre</a:t>
                </a:r>
                <a:r>
                  <a:rPr lang="en-US" altLang="zh-TW" dirty="0"/>
                  <a:t>, only slightly above the 0.54 found at the </a:t>
                </a:r>
                <a:r>
                  <a:rPr lang="en-US" altLang="zh-TW" dirty="0" err="1"/>
                  <a:t>centre</a:t>
                </a:r>
                <a:r>
                  <a:rPr lang="en-US" altLang="zh-TW" dirty="0"/>
                  <a:t> itself. The decay with radius is faster as well, reaching 0.06–0.24 at the rim, with the lowest values along the pole directions. Taken together with the previous slide, the planar hexapole trades isotropy for roughly 2.6× the gain: actuation is stronger overall, but the three principal axes are less balanced and there is no simple "stay at the </a:t>
                </a:r>
                <a:r>
                  <a:rPr lang="en-US" altLang="zh-TW" dirty="0" err="1"/>
                  <a:t>centre</a:t>
                </a:r>
                <a:r>
                  <a:rPr lang="en-US" altLang="zh-TW" dirty="0"/>
                  <a:t>" strategy for best conditioning.</a:t>
                </a:r>
                <a:endParaRPr lang="zh-TW" altLang="en-US" dirty="0"/>
              </a:p>
            </p:txBody>
          </p:sp>
        </mc:Choice>
        <mc:Fallback xmlns="">
          <p:sp>
            <p:nvSpPr>
              <p:cNvPr id="13" name="文字方塊 12">
                <a:extLst>
                  <a:ext uri="{FF2B5EF4-FFF2-40B4-BE49-F238E27FC236}">
                    <a16:creationId xmlns:a16="http://schemas.microsoft.com/office/drawing/2014/main" id="{5CE909AB-7F0B-4394-A735-F542BEB3695B}"/>
                  </a:ext>
                </a:extLst>
              </p:cNvPr>
              <p:cNvSpPr txBox="1">
                <a:spLocks noRot="1" noChangeAspect="1" noMove="1" noResize="1" noEditPoints="1" noAdjustHandles="1" noChangeArrowheads="1" noChangeShapeType="1" noTextEdit="1"/>
              </p:cNvSpPr>
              <p:nvPr/>
            </p:nvSpPr>
            <p:spPr>
              <a:xfrm>
                <a:off x="105568" y="908307"/>
                <a:ext cx="6096410" cy="5355312"/>
              </a:xfrm>
              <a:prstGeom prst="rect">
                <a:avLst/>
              </a:prstGeom>
              <a:blipFill>
                <a:blip r:embed="rId2"/>
                <a:stretch>
                  <a:fillRect l="-600" t="-569" r="-2000" b="-911"/>
                </a:stretch>
              </a:blipFill>
            </p:spPr>
            <p:txBody>
              <a:bodyPr/>
              <a:lstStyle/>
              <a:p>
                <a:r>
                  <a:rPr lang="zh-TW" altLang="en-US">
                    <a:noFill/>
                  </a:rPr>
                  <a:t> </a:t>
                </a:r>
              </a:p>
            </p:txBody>
          </p:sp>
        </mc:Fallback>
      </mc:AlternateContent>
      <p:grpSp>
        <p:nvGrpSpPr>
          <p:cNvPr id="4" name="群組 3">
            <a:extLst>
              <a:ext uri="{FF2B5EF4-FFF2-40B4-BE49-F238E27FC236}">
                <a16:creationId xmlns:a16="http://schemas.microsoft.com/office/drawing/2014/main" id="{99F30899-12C0-425A-9BFC-6E14A47CE2E2}"/>
              </a:ext>
            </a:extLst>
          </p:cNvPr>
          <p:cNvGrpSpPr/>
          <p:nvPr/>
        </p:nvGrpSpPr>
        <p:grpSpPr>
          <a:xfrm>
            <a:off x="6654559" y="754419"/>
            <a:ext cx="5094001" cy="2285308"/>
            <a:chOff x="6654559" y="754419"/>
            <a:chExt cx="5094001" cy="2285308"/>
          </a:xfrm>
        </p:grpSpPr>
        <p:grpSp>
          <p:nvGrpSpPr>
            <p:cNvPr id="12" name="群組 11">
              <a:extLst>
                <a:ext uri="{FF2B5EF4-FFF2-40B4-BE49-F238E27FC236}">
                  <a16:creationId xmlns:a16="http://schemas.microsoft.com/office/drawing/2014/main" id="{AB31ABE0-EF81-4393-B20F-8B94B513C0AB}"/>
                </a:ext>
              </a:extLst>
            </p:cNvPr>
            <p:cNvGrpSpPr/>
            <p:nvPr/>
          </p:nvGrpSpPr>
          <p:grpSpPr>
            <a:xfrm>
              <a:off x="6654559" y="754419"/>
              <a:ext cx="5092629" cy="2285308"/>
              <a:chOff x="6654559" y="754419"/>
              <a:chExt cx="5092629" cy="2285308"/>
            </a:xfrm>
          </p:grpSpPr>
          <p:pic>
            <p:nvPicPr>
              <p:cNvPr id="6" name="圖片 5">
                <a:extLst>
                  <a:ext uri="{FF2B5EF4-FFF2-40B4-BE49-F238E27FC236}">
                    <a16:creationId xmlns:a16="http://schemas.microsoft.com/office/drawing/2014/main" id="{196C02F7-00A5-4DDC-8346-D006754732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4445" y="818272"/>
                <a:ext cx="4854104" cy="2145460"/>
              </a:xfrm>
              <a:prstGeom prst="rect">
                <a:avLst/>
              </a:prstGeom>
            </p:spPr>
          </p:pic>
          <p:grpSp>
            <p:nvGrpSpPr>
              <p:cNvPr id="9" name="群組 8">
                <a:extLst>
                  <a:ext uri="{FF2B5EF4-FFF2-40B4-BE49-F238E27FC236}">
                    <a16:creationId xmlns:a16="http://schemas.microsoft.com/office/drawing/2014/main" id="{E0A4D1A0-7FA6-495C-B437-6876730F0155}"/>
                  </a:ext>
                </a:extLst>
              </p:cNvPr>
              <p:cNvGrpSpPr/>
              <p:nvPr/>
            </p:nvGrpSpPr>
            <p:grpSpPr>
              <a:xfrm>
                <a:off x="6654559" y="754419"/>
                <a:ext cx="5092629" cy="2285308"/>
                <a:chOff x="6654559" y="754419"/>
                <a:chExt cx="5092629" cy="2285308"/>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23479" y="797676"/>
                  <a:ext cx="5023709" cy="2185286"/>
                  <a:chOff x="6723479" y="797676"/>
                  <a:chExt cx="5023709" cy="2185286"/>
                </a:xfrm>
              </p:grpSpPr>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749622" y="1806034"/>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79BB90AF-E6FA-436F-A46A-20A62593B5EF}"/>
                      </a:ext>
                    </a:extLst>
                  </p:cNvPr>
                  <p:cNvSpPr/>
                  <p:nvPr/>
                </p:nvSpPr>
                <p:spPr>
                  <a:xfrm>
                    <a:off x="7638712" y="2792556"/>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23479"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9867199" y="803617"/>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912334" y="2802870"/>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0985455" y="1728448"/>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28632" y="1683507"/>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46D7EB7F-B437-4C1E-8C67-E972B568E642}"/>
                    </a:ext>
                  </a:extLst>
                </p:cNvPr>
                <p:cNvSpPr txBox="1"/>
                <p:nvPr/>
              </p:nvSpPr>
              <p:spPr>
                <a:xfrm>
                  <a:off x="7646479" y="7573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7" name="文字方塊 36">
                  <a:extLst>
                    <a:ext uri="{FF2B5EF4-FFF2-40B4-BE49-F238E27FC236}">
                      <a16:creationId xmlns:a16="http://schemas.microsoft.com/office/drawing/2014/main" id="{C6DD08B8-1F70-4D6A-B6EB-01194B3B2274}"/>
                    </a:ext>
                  </a:extLst>
                </p:cNvPr>
                <p:cNvSpPr txBox="1"/>
                <p:nvPr/>
              </p:nvSpPr>
              <p:spPr>
                <a:xfrm>
                  <a:off x="6654559" y="163015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7660264" y="27319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9882734" y="75441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882734" y="271353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632275" y="183566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8881008" y="15971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896870" y="186882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543C79D-C8D4-4070-B22B-57B5E22FB84D}"/>
                        </a:ext>
                      </a:extLst>
                    </p:cNvPr>
                    <p:cNvSpPr txBox="1"/>
                    <p:nvPr/>
                  </p:nvSpPr>
                  <p:spPr>
                    <a:xfrm>
                      <a:off x="8059884" y="1908632"/>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059884" y="1908632"/>
                      <a:ext cx="332369" cy="30777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9CD170C5-141E-4CBF-852E-6A45291E4F7A}"/>
                        </a:ext>
                      </a:extLst>
                    </p:cNvPr>
                    <p:cNvSpPr txBox="1"/>
                    <p:nvPr/>
                  </p:nvSpPr>
                  <p:spPr>
                    <a:xfrm>
                      <a:off x="7538482" y="128793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538482" y="1287935"/>
                      <a:ext cx="332369" cy="307777"/>
                    </a:xfrm>
                    <a:prstGeom prst="rect">
                      <a:avLst/>
                    </a:prstGeom>
                    <a:blipFill>
                      <a:blip r:embed="rId6"/>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20" y="191676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20" y="1916765"/>
                      <a:ext cx="332369" cy="307777"/>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586B4D8-B9B1-456E-9FA7-CFC535F32B8D}"/>
                        </a:ext>
                      </a:extLst>
                    </p:cNvPr>
                    <p:cNvSpPr txBox="1"/>
                    <p:nvPr/>
                  </p:nvSpPr>
                  <p:spPr>
                    <a:xfrm>
                      <a:off x="9791466" y="1254456"/>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791466" y="1254456"/>
                      <a:ext cx="332369" cy="307777"/>
                    </a:xfrm>
                    <a:prstGeom prst="rect">
                      <a:avLst/>
                    </a:prstGeom>
                    <a:blipFill>
                      <a:blip r:embed="rId8"/>
                      <a:stretch>
                        <a:fillRect/>
                      </a:stretch>
                    </a:blipFill>
                  </p:spPr>
                  <p:txBody>
                    <a:bodyPr/>
                    <a:lstStyle/>
                    <a:p>
                      <a:r>
                        <a:rPr lang="zh-TW" altLang="en-US">
                          <a:noFill/>
                        </a:rPr>
                        <a:t> </a:t>
                      </a:r>
                    </a:p>
                  </p:txBody>
                </p:sp>
              </mc:Fallback>
            </mc:AlternateContent>
          </p:grpSp>
        </p:grpSp>
        <p:sp>
          <p:nvSpPr>
            <p:cNvPr id="58" name="文字方塊 57">
              <a:extLst>
                <a:ext uri="{FF2B5EF4-FFF2-40B4-BE49-F238E27FC236}">
                  <a16:creationId xmlns:a16="http://schemas.microsoft.com/office/drawing/2014/main" id="{F86BA5CB-BAA6-45B9-A74C-45FEE7A964E0}"/>
                </a:ext>
              </a:extLst>
            </p:cNvPr>
            <p:cNvSpPr txBox="1"/>
            <p:nvPr/>
          </p:nvSpPr>
          <p:spPr>
            <a:xfrm rot="16200000">
              <a:off x="11166882" y="1642864"/>
              <a:ext cx="855579"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grpSp>
      <p:grpSp>
        <p:nvGrpSpPr>
          <p:cNvPr id="5" name="群組 4">
            <a:extLst>
              <a:ext uri="{FF2B5EF4-FFF2-40B4-BE49-F238E27FC236}">
                <a16:creationId xmlns:a16="http://schemas.microsoft.com/office/drawing/2014/main" id="{24E13B6F-BDE6-4DE1-B26A-64C494A9CE1E}"/>
              </a:ext>
            </a:extLst>
          </p:cNvPr>
          <p:cNvGrpSpPr/>
          <p:nvPr/>
        </p:nvGrpSpPr>
        <p:grpSpPr>
          <a:xfrm>
            <a:off x="7870850" y="3386665"/>
            <a:ext cx="2915817" cy="2289491"/>
            <a:chOff x="7870850" y="3386665"/>
            <a:chExt cx="2915817" cy="2289491"/>
          </a:xfrm>
        </p:grpSpPr>
        <p:grpSp>
          <p:nvGrpSpPr>
            <p:cNvPr id="29" name="群組 28">
              <a:extLst>
                <a:ext uri="{FF2B5EF4-FFF2-40B4-BE49-F238E27FC236}">
                  <a16:creationId xmlns:a16="http://schemas.microsoft.com/office/drawing/2014/main" id="{513145FC-D415-42EF-8F47-FD6054CE858B}"/>
                </a:ext>
              </a:extLst>
            </p:cNvPr>
            <p:cNvGrpSpPr/>
            <p:nvPr/>
          </p:nvGrpSpPr>
          <p:grpSpPr>
            <a:xfrm>
              <a:off x="7870850" y="3386665"/>
              <a:ext cx="2913575" cy="2289491"/>
              <a:chOff x="7870850" y="3386665"/>
              <a:chExt cx="2913575" cy="2289491"/>
            </a:xfrm>
          </p:grpSpPr>
          <p:pic>
            <p:nvPicPr>
              <p:cNvPr id="28" name="圖片 27">
                <a:extLst>
                  <a:ext uri="{FF2B5EF4-FFF2-40B4-BE49-F238E27FC236}">
                    <a16:creationId xmlns:a16="http://schemas.microsoft.com/office/drawing/2014/main" id="{D69B8C79-1303-4622-8C61-6B80EBE965A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08706" y="3464198"/>
                <a:ext cx="2624073" cy="2122412"/>
              </a:xfrm>
              <a:prstGeom prst="rect">
                <a:avLst/>
              </a:prstGeom>
            </p:spPr>
          </p:pic>
          <p:grpSp>
            <p:nvGrpSpPr>
              <p:cNvPr id="11" name="群組 10">
                <a:extLst>
                  <a:ext uri="{FF2B5EF4-FFF2-40B4-BE49-F238E27FC236}">
                    <a16:creationId xmlns:a16="http://schemas.microsoft.com/office/drawing/2014/main" id="{FC25E01C-03E8-4714-B671-9402B31C7C8D}"/>
                  </a:ext>
                </a:extLst>
              </p:cNvPr>
              <p:cNvGrpSpPr/>
              <p:nvPr/>
            </p:nvGrpSpPr>
            <p:grpSpPr>
              <a:xfrm>
                <a:off x="7870850" y="3386665"/>
                <a:ext cx="2913575" cy="2289491"/>
                <a:chOff x="7870850" y="3386665"/>
                <a:chExt cx="2913575" cy="2289491"/>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66144" y="3457780"/>
                  <a:ext cx="2818281" cy="2161789"/>
                  <a:chOff x="7966144" y="3457780"/>
                  <a:chExt cx="2818281" cy="2161789"/>
                </a:xfrm>
              </p:grpSpPr>
              <p:sp>
                <p:nvSpPr>
                  <p:cNvPr id="22" name="矩形 21">
                    <a:extLst>
                      <a:ext uri="{FF2B5EF4-FFF2-40B4-BE49-F238E27FC236}">
                        <a16:creationId xmlns:a16="http://schemas.microsoft.com/office/drawing/2014/main" id="{B0183DDC-6CF5-43DD-A985-8AACBD43AC2C}"/>
                      </a:ext>
                    </a:extLst>
                  </p:cNvPr>
                  <p:cNvSpPr/>
                  <p:nvPr/>
                </p:nvSpPr>
                <p:spPr>
                  <a:xfrm>
                    <a:off x="8993178" y="3457780"/>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a:extLst>
                      <a:ext uri="{FF2B5EF4-FFF2-40B4-BE49-F238E27FC236}">
                        <a16:creationId xmlns:a16="http://schemas.microsoft.com/office/drawing/2014/main" id="{DCC76607-AC9C-44A9-927A-CBCCDEFF1E7E}"/>
                      </a:ext>
                    </a:extLst>
                  </p:cNvPr>
                  <p:cNvSpPr/>
                  <p:nvPr/>
                </p:nvSpPr>
                <p:spPr>
                  <a:xfrm>
                    <a:off x="7966144" y="443298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75862"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59342" y="442193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870850" y="4249657"/>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68812" y="3386665"/>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91505" y="53683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4" y="447748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10"/>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1"/>
                      <a:stretch>
                        <a:fillRect/>
                      </a:stretch>
                    </a:blipFill>
                  </p:spPr>
                  <p:txBody>
                    <a:bodyPr/>
                    <a:lstStyle/>
                    <a:p>
                      <a:r>
                        <a:rPr lang="zh-TW" altLang="en-US">
                          <a:noFill/>
                        </a:rPr>
                        <a:t> </a:t>
                      </a:r>
                    </a:p>
                  </p:txBody>
                </p:sp>
              </mc:Fallback>
            </mc:AlternateContent>
          </p:grpSp>
        </p:grpSp>
        <p:sp>
          <p:nvSpPr>
            <p:cNvPr id="59" name="文字方塊 58">
              <a:extLst>
                <a:ext uri="{FF2B5EF4-FFF2-40B4-BE49-F238E27FC236}">
                  <a16:creationId xmlns:a16="http://schemas.microsoft.com/office/drawing/2014/main" id="{866074B9-65B1-4AAA-8718-2B3207740AA3}"/>
                </a:ext>
              </a:extLst>
            </p:cNvPr>
            <p:cNvSpPr txBox="1"/>
            <p:nvPr/>
          </p:nvSpPr>
          <p:spPr>
            <a:xfrm rot="16200000">
              <a:off x="10204989" y="4358091"/>
              <a:ext cx="855579"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088140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851094326"/>
                  </p:ext>
                </p:extLst>
              </p:nvPr>
            </p:nvGraphicFramePr>
            <p:xfrm>
              <a:off x="346594" y="5591425"/>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50.196</a:t>
                          </a:r>
                          <a:endParaRPr lang="zh-TW" altLang="en-US" dirty="0"/>
                        </a:p>
                      </a:txBody>
                      <a:tcPr/>
                    </a:tc>
                    <a:tc>
                      <a:txBody>
                        <a:bodyPr/>
                        <a:lstStyle/>
                        <a:p>
                          <a:pPr algn="ctr"/>
                          <a:r>
                            <a:rPr lang="en-US" altLang="zh-TW" dirty="0"/>
                            <a:t>45.304</a:t>
                          </a:r>
                          <a:endParaRPr lang="zh-TW" altLang="en-US" dirty="0"/>
                        </a:p>
                      </a:txBody>
                      <a:tcPr/>
                    </a:tc>
                    <a:tc>
                      <a:txBody>
                        <a:bodyPr/>
                        <a:lstStyle/>
                        <a:p>
                          <a:pPr algn="ctr"/>
                          <a:r>
                            <a:rPr lang="en-US" altLang="zh-TW" dirty="0"/>
                            <a:t>27.105</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2851094326"/>
                  </p:ext>
                </p:extLst>
              </p:nvPr>
            </p:nvGraphicFramePr>
            <p:xfrm>
              <a:off x="346594" y="5591425"/>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6393" r="-200299" b="-275410"/>
                          </a:stretch>
                        </a:blipFill>
                      </a:tcPr>
                    </a:tc>
                    <a:tc>
                      <a:txBody>
                        <a:bodyPr/>
                        <a:lstStyle/>
                        <a:p>
                          <a:endParaRPr lang="zh-TW"/>
                        </a:p>
                      </a:txBody>
                      <a:tcPr>
                        <a:blipFill>
                          <a:blip r:embed="rId2"/>
                          <a:stretch>
                            <a:fillRect l="-200901" t="-16393" r="-100901" b="-275410"/>
                          </a:stretch>
                        </a:blipFill>
                      </a:tcPr>
                    </a:tc>
                    <a:tc>
                      <a:txBody>
                        <a:bodyPr/>
                        <a:lstStyle/>
                        <a:p>
                          <a:endParaRPr lang="zh-TW"/>
                        </a:p>
                      </a:txBody>
                      <a:tcPr>
                        <a:blipFill>
                          <a:blip r:embed="rId2"/>
                          <a:stretch>
                            <a:fillRect l="-300000" t="-16393" r="-599" b="-275410"/>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50.196</a:t>
                          </a:r>
                          <a:endParaRPr lang="zh-TW" altLang="en-US" dirty="0"/>
                        </a:p>
                      </a:txBody>
                      <a:tcPr/>
                    </a:tc>
                    <a:tc>
                      <a:txBody>
                        <a:bodyPr/>
                        <a:lstStyle/>
                        <a:p>
                          <a:pPr algn="ctr"/>
                          <a:r>
                            <a:rPr lang="en-US" altLang="zh-TW" dirty="0"/>
                            <a:t>45.304</a:t>
                          </a:r>
                          <a:endParaRPr lang="zh-TW" altLang="en-US" dirty="0"/>
                        </a:p>
                      </a:txBody>
                      <a:tcPr/>
                    </a:tc>
                    <a:tc>
                      <a:txBody>
                        <a:bodyPr/>
                        <a:lstStyle/>
                        <a:p>
                          <a:pPr algn="ctr"/>
                          <a:r>
                            <a:rPr lang="en-US" altLang="zh-TW" dirty="0"/>
                            <a:t>27.105</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3" name="群組 12">
            <a:extLst>
              <a:ext uri="{FF2B5EF4-FFF2-40B4-BE49-F238E27FC236}">
                <a16:creationId xmlns:a16="http://schemas.microsoft.com/office/drawing/2014/main" id="{754FF10A-2874-44FD-BACF-660085804C6B}"/>
              </a:ext>
            </a:extLst>
          </p:cNvPr>
          <p:cNvGrpSpPr/>
          <p:nvPr/>
        </p:nvGrpSpPr>
        <p:grpSpPr>
          <a:xfrm>
            <a:off x="8007526" y="2458189"/>
            <a:ext cx="2212525" cy="2104299"/>
            <a:chOff x="8058302" y="2133601"/>
            <a:chExt cx="2212525" cy="2104299"/>
          </a:xfrm>
        </p:grpSpPr>
        <p:sp>
          <p:nvSpPr>
            <p:cNvPr id="11" name="矩形 10">
              <a:extLst>
                <a:ext uri="{FF2B5EF4-FFF2-40B4-BE49-F238E27FC236}">
                  <a16:creationId xmlns:a16="http://schemas.microsoft.com/office/drawing/2014/main" id="{869E58BC-ED95-4378-BC0D-F59778A5C307}"/>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DED10F6C-0A24-4858-8A80-9E6F4DCE2834}"/>
                </a:ext>
              </a:extLst>
            </p:cNvPr>
            <p:cNvSpPr/>
            <p:nvPr/>
          </p:nvSpPr>
          <p:spPr>
            <a:xfrm rot="16200000">
              <a:off x="7564648" y="2627255"/>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6" name="文字方塊 35">
            <a:extLst>
              <a:ext uri="{FF2B5EF4-FFF2-40B4-BE49-F238E27FC236}">
                <a16:creationId xmlns:a16="http://schemas.microsoft.com/office/drawing/2014/main" id="{BCEA6580-59CB-491D-9A56-1E4B23E7DF7D}"/>
              </a:ext>
            </a:extLst>
          </p:cNvPr>
          <p:cNvSpPr txBox="1"/>
          <p:nvPr/>
        </p:nvSpPr>
        <p:spPr>
          <a:xfrm>
            <a:off x="-80487" y="830434"/>
            <a:ext cx="7601134" cy="4524315"/>
          </a:xfrm>
          <a:prstGeom prst="rect">
            <a:avLst/>
          </a:prstGeom>
          <a:noFill/>
        </p:spPr>
        <p:txBody>
          <a:bodyPr wrap="square">
            <a:spAutoFit/>
          </a:bodyPr>
          <a:lstStyle/>
          <a:p>
            <a:pPr marL="285750" indent="-285750">
              <a:buFont typeface="Arial" panose="020B0604020202020204" pitchFamily="34" charset="0"/>
              <a:buChar char="•"/>
            </a:pPr>
            <a:r>
              <a:rPr lang="en-US" altLang="zh-TW" dirty="0"/>
              <a:t>Using the same calibrated model for Design B, the three singular values σ₁ ≥ σ₂ ≥ σ₃ at every real FEM node in the workspace are </a:t>
            </a:r>
            <a:r>
              <a:rPr lang="en-US" altLang="zh-TW" dirty="0" err="1"/>
              <a:t>histogrammed</a:t>
            </a:r>
            <a:r>
              <a:rPr lang="en-US" altLang="zh-TW" dirty="0"/>
              <a:t> separately (in </a:t>
            </a:r>
            <a:r>
              <a:rPr lang="en-US" altLang="zh-TW" dirty="0" err="1"/>
              <a:t>mT</a:t>
            </a:r>
            <a:r>
              <a:rPr lang="en-US" altLang="zh-TW" dirty="0"/>
              <a:t>/A), sharing one set of bins (0.1mT/A wide) and each </a:t>
            </a:r>
            <a:r>
              <a:rPr lang="en-US" altLang="zh-TW" dirty="0" err="1"/>
              <a:t>normalised</a:t>
            </a:r>
            <a:r>
              <a:rPr lang="en-US" altLang="zh-TW" dirty="0"/>
              <a:t> to a percentage. Note that this bin width differs from the Design A histogram, so bar heights are comparable among the three series here but not across the two slides.</a:t>
            </a:r>
          </a:p>
          <a:p>
            <a:pPr marL="285750" indent="-285750">
              <a:buFont typeface="Arial" panose="020B0604020202020204" pitchFamily="34" charset="0"/>
              <a:buChar char="•"/>
            </a:pPr>
            <a:r>
              <a:rPr lang="en-US" altLang="zh-TW" dirty="0"/>
              <a:t>The three distributions fall into two clear groups: σ₁ and σ₂ sit close together</a:t>
            </a:r>
            <a:r>
              <a:rPr lang="zh-TW" altLang="en-US" dirty="0"/>
              <a:t> </a:t>
            </a:r>
            <a:r>
              <a:rPr lang="en-US" altLang="zh-TW" dirty="0"/>
              <a:t>while σ₃ averages just 27.1 </a:t>
            </a:r>
            <a:r>
              <a:rPr lang="en-US" altLang="zh-TW" dirty="0" err="1"/>
              <a:t>mT</a:t>
            </a:r>
            <a:r>
              <a:rPr lang="en-US" altLang="zh-TW" dirty="0"/>
              <a:t>/A and is separated from the other two by a gap containing no samples at all. The controllable set is therefore an oblate ellipsoid — two comparable strong axes and one distinctly weaker axis — rather than a near-sphere, matching the imbalance of σ₁/σ₃ ≈ 1.85. The usable authority is set by the weakest axis: σ₃ ≈ 27.1 </a:t>
            </a:r>
            <a:r>
              <a:rPr lang="en-US" altLang="zh-TW" dirty="0" err="1"/>
              <a:t>mT</a:t>
            </a:r>
            <a:r>
              <a:rPr lang="en-US" altLang="zh-TW" dirty="0"/>
              <a:t>/A is still about twice the weakest axis of Design A (13.9 </a:t>
            </a:r>
            <a:r>
              <a:rPr lang="en-US" altLang="zh-TW" dirty="0" err="1"/>
              <a:t>mT</a:t>
            </a:r>
            <a:r>
              <a:rPr lang="en-US" altLang="zh-TW" dirty="0"/>
              <a:t>/A), so despite the poorer directional balance Design B remains stronger in its worst direction. The cost is slightly less positional stability, σ₃ varying by 5.6 % across the workspace against 1.5 % for Design A.</a:t>
            </a:r>
            <a:endParaRPr lang="zh-TW" altLang="en-US" dirty="0"/>
          </a:p>
        </p:txBody>
      </p:sp>
      <p:grpSp>
        <p:nvGrpSpPr>
          <p:cNvPr id="17" name="群組 16">
            <a:extLst>
              <a:ext uri="{FF2B5EF4-FFF2-40B4-BE49-F238E27FC236}">
                <a16:creationId xmlns:a16="http://schemas.microsoft.com/office/drawing/2014/main" id="{0CD2F11D-3B7E-451F-B8EA-A86AB233F909}"/>
              </a:ext>
            </a:extLst>
          </p:cNvPr>
          <p:cNvGrpSpPr/>
          <p:nvPr/>
        </p:nvGrpSpPr>
        <p:grpSpPr>
          <a:xfrm>
            <a:off x="8046852" y="1027244"/>
            <a:ext cx="3438618" cy="3420457"/>
            <a:chOff x="8046852" y="1027244"/>
            <a:chExt cx="3438618" cy="3420457"/>
          </a:xfrm>
        </p:grpSpPr>
        <p:pic>
          <p:nvPicPr>
            <p:cNvPr id="15" name="圖片 14">
              <a:extLst>
                <a:ext uri="{FF2B5EF4-FFF2-40B4-BE49-F238E27FC236}">
                  <a16:creationId xmlns:a16="http://schemas.microsoft.com/office/drawing/2014/main" id="{FA696D5D-A575-4C21-8F57-87C71A3F3892}"/>
                </a:ext>
              </a:extLst>
            </p:cNvPr>
            <p:cNvPicPr>
              <a:picLocks noChangeAspect="1"/>
            </p:cNvPicPr>
            <p:nvPr/>
          </p:nvPicPr>
          <p:blipFill rotWithShape="1">
            <a:blip r:embed="rId3">
              <a:extLst>
                <a:ext uri="{28A0092B-C50C-407E-A947-70E740481C1C}">
                  <a14:useLocalDpi xmlns:a14="http://schemas.microsoft.com/office/drawing/2010/main" val="0"/>
                </a:ext>
              </a:extLst>
            </a:blip>
            <a:srcRect l="3845" b="4807"/>
            <a:stretch/>
          </p:blipFill>
          <p:spPr>
            <a:xfrm>
              <a:off x="8312358" y="1027244"/>
              <a:ext cx="3173112" cy="3141363"/>
            </a:xfrm>
            <a:prstGeom prst="rect">
              <a:avLst/>
            </a:prstGeom>
          </p:spPr>
        </p:pic>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2C5B4891-FA03-4D26-85B8-145EC6AF64A9}"/>
                    </a:ext>
                  </a:extLst>
                </p:cNvPr>
                <p:cNvSpPr txBox="1"/>
                <p:nvPr/>
              </p:nvSpPr>
              <p:spPr>
                <a:xfrm>
                  <a:off x="8745410" y="4109147"/>
                  <a:ext cx="2596566"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600" b="0" i="0" smtClean="0">
                          <a:latin typeface="Cambria Math" panose="02040503050406030204" pitchFamily="18" charset="0"/>
                        </a:rPr>
                        <m:t>(</m:t>
                      </m:r>
                      <m:f>
                        <m:fPr>
                          <m:type m:val="lin"/>
                          <m:ctrlPr>
                            <a:rPr lang="en-US" altLang="zh-TW" sz="160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38" name="文字方塊 37">
                  <a:extLst>
                    <a:ext uri="{FF2B5EF4-FFF2-40B4-BE49-F238E27FC236}">
                      <a16:creationId xmlns:a16="http://schemas.microsoft.com/office/drawing/2014/main" id="{2C5B4891-FA03-4D26-85B8-145EC6AF64A9}"/>
                    </a:ext>
                  </a:extLst>
                </p:cNvPr>
                <p:cNvSpPr txBox="1">
                  <a:spLocks noRot="1" noChangeAspect="1" noMove="1" noResize="1" noEditPoints="1" noAdjustHandles="1" noChangeArrowheads="1" noChangeShapeType="1" noTextEdit="1"/>
                </p:cNvSpPr>
                <p:nvPr/>
              </p:nvSpPr>
              <p:spPr>
                <a:xfrm>
                  <a:off x="8745410" y="4109147"/>
                  <a:ext cx="2596566" cy="338554"/>
                </a:xfrm>
                <a:prstGeom prst="rect">
                  <a:avLst/>
                </a:prstGeom>
                <a:blipFill>
                  <a:blip r:embed="rId4"/>
                  <a:stretch>
                    <a:fillRect l="-1408" t="-100000" r="-4695" b="-16428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E6EC651D-B811-47E1-9A5F-8EF20A4BA8FA}"/>
                    </a:ext>
                  </a:extLst>
                </p:cNvPr>
                <p:cNvSpPr txBox="1"/>
                <p:nvPr/>
              </p:nvSpPr>
              <p:spPr>
                <a:xfrm rot="16200000">
                  <a:off x="7252404" y="2393317"/>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39" name="文字方塊 38">
                  <a:extLst>
                    <a:ext uri="{FF2B5EF4-FFF2-40B4-BE49-F238E27FC236}">
                      <a16:creationId xmlns:a16="http://schemas.microsoft.com/office/drawing/2014/main" id="{E6EC651D-B811-47E1-9A5F-8EF20A4BA8FA}"/>
                    </a:ext>
                  </a:extLst>
                </p:cNvPr>
                <p:cNvSpPr txBox="1">
                  <a:spLocks noRot="1" noChangeAspect="1" noMove="1" noResize="1" noEditPoints="1" noAdjustHandles="1" noChangeArrowheads="1" noChangeShapeType="1" noTextEdit="1"/>
                </p:cNvSpPr>
                <p:nvPr/>
              </p:nvSpPr>
              <p:spPr>
                <a:xfrm rot="16200000">
                  <a:off x="7252404" y="2393317"/>
                  <a:ext cx="1865895" cy="276999"/>
                </a:xfrm>
                <a:prstGeom prst="rect">
                  <a:avLst/>
                </a:prstGeom>
                <a:blipFill>
                  <a:blip r:embed="rId5"/>
                  <a:stretch>
                    <a:fillRect l="-13333" t="-2941" r="-44444" b="-392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1709554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98886" y="383190"/>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endParaRPr lang="zh-TW" altLang="en-US" dirty="0"/>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7B2555E3-898A-435A-9CA9-B6575FB7B1AA}"/>
              </a:ext>
            </a:extLst>
          </p:cNvPr>
          <p:cNvSpPr/>
          <p:nvPr/>
        </p:nvSpPr>
        <p:spPr>
          <a:xfrm>
            <a:off x="9794725" y="4840409"/>
            <a:ext cx="46779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554984870"/>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39.4683</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554984870"/>
                  </p:ext>
                </p:extLst>
              </p:nvPr>
            </p:nvGraphicFramePr>
            <p:xfrm>
              <a:off x="752904" y="5583678"/>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2"/>
                          <a:stretch>
                            <a:fillRect l="-297" t="-56911" r="-100593" b="-37398"/>
                          </a:stretch>
                        </a:blipFill>
                      </a:tcPr>
                    </a:tc>
                    <a:tc>
                      <a:txBody>
                        <a:bodyPr/>
                        <a:lstStyle/>
                        <a:p>
                          <a:pPr algn="ctr"/>
                          <a:r>
                            <a:rPr lang="en-US" altLang="zh-TW" dirty="0"/>
                            <a:t>39.4683</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grpSp>
        <p:nvGrpSpPr>
          <p:cNvPr id="14" name="群組 13">
            <a:extLst>
              <a:ext uri="{FF2B5EF4-FFF2-40B4-BE49-F238E27FC236}">
                <a16:creationId xmlns:a16="http://schemas.microsoft.com/office/drawing/2014/main" id="{C299C441-BCF8-4475-BFF9-35587BD5D694}"/>
              </a:ext>
            </a:extLst>
          </p:cNvPr>
          <p:cNvGrpSpPr/>
          <p:nvPr/>
        </p:nvGrpSpPr>
        <p:grpSpPr>
          <a:xfrm>
            <a:off x="532216" y="1820150"/>
            <a:ext cx="3068396" cy="2276433"/>
            <a:chOff x="7145625" y="2109855"/>
            <a:chExt cx="3068396" cy="2276433"/>
          </a:xfrm>
        </p:grpSpPr>
        <p:sp>
          <p:nvSpPr>
            <p:cNvPr id="11" name="矩形 10">
              <a:extLst>
                <a:ext uri="{FF2B5EF4-FFF2-40B4-BE49-F238E27FC236}">
                  <a16:creationId xmlns:a16="http://schemas.microsoft.com/office/drawing/2014/main" id="{F3FAB7FA-B1DA-4330-B83C-E622173A04E6}"/>
                </a:ext>
              </a:extLst>
            </p:cNvPr>
            <p:cNvSpPr/>
            <p:nvPr/>
          </p:nvSpPr>
          <p:spPr>
            <a:xfrm>
              <a:off x="9223695" y="4165600"/>
              <a:ext cx="990326"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583C597C-6CE1-44DE-B1A0-2232A829391D}"/>
                </a:ext>
              </a:extLst>
            </p:cNvPr>
            <p:cNvSpPr/>
            <p:nvPr/>
          </p:nvSpPr>
          <p:spPr>
            <a:xfrm rot="16200000">
              <a:off x="6595311" y="2660169"/>
              <a:ext cx="1321315" cy="220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1799895618"/>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0.5415</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36" name="表格 10">
                <a:extLst>
                  <a:ext uri="{FF2B5EF4-FFF2-40B4-BE49-F238E27FC236}">
                    <a16:creationId xmlns:a16="http://schemas.microsoft.com/office/drawing/2014/main" id="{06A81075-ED01-41B7-9DB8-42F5FE710999}"/>
                  </a:ext>
                </a:extLst>
              </p:cNvPr>
              <p:cNvGraphicFramePr>
                <a:graphicFrameLocks noGrp="1"/>
              </p:cNvGraphicFramePr>
              <p:nvPr>
                <p:extLst>
                  <p:ext uri="{D42A27DB-BD31-4B8C-83A1-F6EECF244321}">
                    <p14:modId xmlns:p14="http://schemas.microsoft.com/office/powerpoint/2010/main" val="1799895618"/>
                  </p:ext>
                </p:extLst>
              </p:nvPr>
            </p:nvGraphicFramePr>
            <p:xfrm>
              <a:off x="7096378" y="5549943"/>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3"/>
                          <a:stretch>
                            <a:fillRect l="-297" t="-57724" r="-100297" b="-36585"/>
                          </a:stretch>
                        </a:blipFill>
                      </a:tcPr>
                    </a:tc>
                    <a:tc>
                      <a:txBody>
                        <a:bodyPr/>
                        <a:lstStyle/>
                        <a:p>
                          <a:pPr algn="ctr"/>
                          <a:r>
                            <a:rPr lang="en-US" altLang="zh-TW" dirty="0"/>
                            <a:t>0.5415</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sp>
        <p:nvSpPr>
          <p:cNvPr id="8" name="文字方塊 7">
            <a:extLst>
              <a:ext uri="{FF2B5EF4-FFF2-40B4-BE49-F238E27FC236}">
                <a16:creationId xmlns:a16="http://schemas.microsoft.com/office/drawing/2014/main" id="{F4A528F8-4FA5-4DC8-ACC8-2E873A6F2490}"/>
              </a:ext>
            </a:extLst>
          </p:cNvPr>
          <p:cNvSpPr txBox="1"/>
          <p:nvPr/>
        </p:nvSpPr>
        <p:spPr>
          <a:xfrm>
            <a:off x="642559" y="4814741"/>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resolution:0.1 </a:t>
            </a:r>
            <a:r>
              <a:rPr lang="en-US" altLang="zh-TW" dirty="0" err="1"/>
              <a:t>mT</a:t>
            </a:r>
            <a:r>
              <a:rPr lang="en-US" altLang="zh-TW" dirty="0"/>
              <a:t>/A</a:t>
            </a:r>
            <a:endParaRPr lang="zh-TW" altLang="en-US" dirty="0"/>
          </a:p>
        </p:txBody>
      </p:sp>
      <p:sp>
        <p:nvSpPr>
          <p:cNvPr id="28" name="文字方塊 27">
            <a:extLst>
              <a:ext uri="{FF2B5EF4-FFF2-40B4-BE49-F238E27FC236}">
                <a16:creationId xmlns:a16="http://schemas.microsoft.com/office/drawing/2014/main" id="{51E05E1D-F3EA-4EFA-85D1-E6FF7E883704}"/>
              </a:ext>
            </a:extLst>
          </p:cNvPr>
          <p:cNvSpPr txBox="1"/>
          <p:nvPr/>
        </p:nvSpPr>
        <p:spPr>
          <a:xfrm>
            <a:off x="6933252" y="487610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endParaRPr lang="zh-TW" altLang="en-US" dirty="0"/>
          </a:p>
        </p:txBody>
      </p:sp>
      <p:grpSp>
        <p:nvGrpSpPr>
          <p:cNvPr id="19" name="群組 18">
            <a:extLst>
              <a:ext uri="{FF2B5EF4-FFF2-40B4-BE49-F238E27FC236}">
                <a16:creationId xmlns:a16="http://schemas.microsoft.com/office/drawing/2014/main" id="{9F8DA52F-4490-470F-BE7B-63FA12551D2F}"/>
              </a:ext>
            </a:extLst>
          </p:cNvPr>
          <p:cNvGrpSpPr/>
          <p:nvPr/>
        </p:nvGrpSpPr>
        <p:grpSpPr>
          <a:xfrm>
            <a:off x="911860" y="1152127"/>
            <a:ext cx="3313172" cy="3203444"/>
            <a:chOff x="911860" y="1152127"/>
            <a:chExt cx="3313172" cy="3203444"/>
          </a:xfrm>
        </p:grpSpPr>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3A298E-6E0B-4233-A71D-768F6339C194}"/>
                    </a:ext>
                  </a:extLst>
                </p:cNvPr>
                <p:cNvSpPr txBox="1"/>
                <p:nvPr/>
              </p:nvSpPr>
              <p:spPr>
                <a:xfrm>
                  <a:off x="1389782" y="3986239"/>
                  <a:ext cx="2825443"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b="0" i="0" smtClean="0">
                          <a:latin typeface="Cambria Math" panose="02040503050406030204" pitchFamily="18" charset="0"/>
                        </a:rPr>
                        <m:t>(</m:t>
                      </m:r>
                      <m:f>
                        <m:fPr>
                          <m:type m:val="lin"/>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3A298E-6E0B-4233-A71D-768F6339C194}"/>
                    </a:ext>
                  </a:extLst>
                </p:cNvPr>
                <p:cNvSpPr txBox="1">
                  <a:spLocks noRot="1" noChangeAspect="1" noMove="1" noResize="1" noEditPoints="1" noAdjustHandles="1" noChangeArrowheads="1" noChangeShapeType="1" noTextEdit="1"/>
                </p:cNvSpPr>
                <p:nvPr/>
              </p:nvSpPr>
              <p:spPr>
                <a:xfrm>
                  <a:off x="1389782" y="3986239"/>
                  <a:ext cx="2825443" cy="369332"/>
                </a:xfrm>
                <a:prstGeom prst="rect">
                  <a:avLst/>
                </a:prstGeom>
                <a:blipFill>
                  <a:blip r:embed="rId4"/>
                  <a:stretch>
                    <a:fillRect l="-1944" t="-116667" r="-8639" b="-181667"/>
                  </a:stretch>
                </a:blipFill>
              </p:spPr>
              <p:txBody>
                <a:bodyPr/>
                <a:lstStyle/>
                <a:p>
                  <a:r>
                    <a:rPr lang="zh-TW" altLang="en-US">
                      <a:noFill/>
                    </a:rPr>
                    <a:t> </a:t>
                  </a:r>
                </a:p>
              </p:txBody>
            </p:sp>
          </mc:Fallback>
        </mc:AlternateContent>
        <p:grpSp>
          <p:nvGrpSpPr>
            <p:cNvPr id="18" name="群組 17">
              <a:extLst>
                <a:ext uri="{FF2B5EF4-FFF2-40B4-BE49-F238E27FC236}">
                  <a16:creationId xmlns:a16="http://schemas.microsoft.com/office/drawing/2014/main" id="{BC4437D9-A264-420F-99C8-F8C577838D41}"/>
                </a:ext>
              </a:extLst>
            </p:cNvPr>
            <p:cNvGrpSpPr/>
            <p:nvPr/>
          </p:nvGrpSpPr>
          <p:grpSpPr>
            <a:xfrm>
              <a:off x="1041401" y="1152127"/>
              <a:ext cx="3183631" cy="2899587"/>
              <a:chOff x="1041401" y="1152127"/>
              <a:chExt cx="3183631" cy="2899587"/>
            </a:xfrm>
          </p:grpSpPr>
          <p:pic>
            <p:nvPicPr>
              <p:cNvPr id="4" name="圖片 3">
                <a:extLst>
                  <a:ext uri="{FF2B5EF4-FFF2-40B4-BE49-F238E27FC236}">
                    <a16:creationId xmlns:a16="http://schemas.microsoft.com/office/drawing/2014/main" id="{436C0431-2E5E-4C17-8A8F-F6F3C15EABC4}"/>
                  </a:ext>
                </a:extLst>
              </p:cNvPr>
              <p:cNvPicPr>
                <a:picLocks noChangeAspect="1"/>
              </p:cNvPicPr>
              <p:nvPr/>
            </p:nvPicPr>
            <p:blipFill rotWithShape="1">
              <a:blip r:embed="rId5">
                <a:extLst>
                  <a:ext uri="{28A0092B-C50C-407E-A947-70E740481C1C}">
                    <a14:useLocalDpi xmlns:a14="http://schemas.microsoft.com/office/drawing/2010/main" val="0"/>
                  </a:ext>
                </a:extLst>
              </a:blip>
              <a:srcRect l="5631" b="3842"/>
              <a:stretch/>
            </p:blipFill>
            <p:spPr>
              <a:xfrm>
                <a:off x="1188859" y="1152127"/>
                <a:ext cx="3036173" cy="2899587"/>
              </a:xfrm>
              <a:prstGeom prst="rect">
                <a:avLst/>
              </a:prstGeom>
            </p:spPr>
          </p:pic>
          <p:sp>
            <p:nvSpPr>
              <p:cNvPr id="17" name="矩形 16">
                <a:extLst>
                  <a:ext uri="{FF2B5EF4-FFF2-40B4-BE49-F238E27FC236}">
                    <a16:creationId xmlns:a16="http://schemas.microsoft.com/office/drawing/2014/main" id="{F383EBA8-7F24-4493-B667-6043FD9F4D62}"/>
                  </a:ext>
                </a:extLst>
              </p:cNvPr>
              <p:cNvSpPr/>
              <p:nvPr/>
            </p:nvSpPr>
            <p:spPr>
              <a:xfrm>
                <a:off x="1041401" y="2150533"/>
                <a:ext cx="176255" cy="7704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9D60A8AA-3B6F-4108-84D4-D28C44357A80}"/>
                    </a:ext>
                  </a:extLst>
                </p:cNvPr>
                <p:cNvSpPr txBox="1"/>
                <p:nvPr/>
              </p:nvSpPr>
              <p:spPr>
                <a:xfrm rot="16200000">
                  <a:off x="5202" y="2450590"/>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31" name="文字方塊 30">
                  <a:extLst>
                    <a:ext uri="{FF2B5EF4-FFF2-40B4-BE49-F238E27FC236}">
                      <a16:creationId xmlns:a16="http://schemas.microsoft.com/office/drawing/2014/main" id="{9D60A8AA-3B6F-4108-84D4-D28C44357A80}"/>
                    </a:ext>
                  </a:extLst>
                </p:cNvPr>
                <p:cNvSpPr txBox="1">
                  <a:spLocks noRot="1" noChangeAspect="1" noMove="1" noResize="1" noEditPoints="1" noAdjustHandles="1" noChangeArrowheads="1" noChangeShapeType="1" noTextEdit="1"/>
                </p:cNvSpPr>
                <p:nvPr/>
              </p:nvSpPr>
              <p:spPr>
                <a:xfrm rot="16200000">
                  <a:off x="5202" y="2450590"/>
                  <a:ext cx="2090316" cy="276999"/>
                </a:xfrm>
                <a:prstGeom prst="rect">
                  <a:avLst/>
                </a:prstGeom>
                <a:blipFill>
                  <a:blip r:embed="rId6"/>
                  <a:stretch>
                    <a:fillRect l="-31111" t="-4373" r="-48889" b="-4373"/>
                  </a:stretch>
                </a:blipFill>
              </p:spPr>
              <p:txBody>
                <a:bodyPr/>
                <a:lstStyle/>
                <a:p>
                  <a:r>
                    <a:rPr lang="zh-TW" altLang="en-US">
                      <a:noFill/>
                    </a:rPr>
                    <a:t> </a:t>
                  </a:r>
                </a:p>
              </p:txBody>
            </p:sp>
          </mc:Fallback>
        </mc:AlternateContent>
      </p:grpSp>
      <p:grpSp>
        <p:nvGrpSpPr>
          <p:cNvPr id="20" name="群組 19">
            <a:extLst>
              <a:ext uri="{FF2B5EF4-FFF2-40B4-BE49-F238E27FC236}">
                <a16:creationId xmlns:a16="http://schemas.microsoft.com/office/drawing/2014/main" id="{7BF0BDB8-CCEF-4C71-8F5F-DCCA2087C943}"/>
              </a:ext>
            </a:extLst>
          </p:cNvPr>
          <p:cNvGrpSpPr/>
          <p:nvPr/>
        </p:nvGrpSpPr>
        <p:grpSpPr>
          <a:xfrm>
            <a:off x="6933252" y="1071280"/>
            <a:ext cx="3470387" cy="3394635"/>
            <a:chOff x="6933252" y="1071280"/>
            <a:chExt cx="3470387" cy="3394635"/>
          </a:xfrm>
        </p:grpSpPr>
        <p:pic>
          <p:nvPicPr>
            <p:cNvPr id="12" name="圖片 11">
              <a:extLst>
                <a:ext uri="{FF2B5EF4-FFF2-40B4-BE49-F238E27FC236}">
                  <a16:creationId xmlns:a16="http://schemas.microsoft.com/office/drawing/2014/main" id="{C62864B0-7B0F-4995-850A-E16D4E51CD67}"/>
                </a:ext>
              </a:extLst>
            </p:cNvPr>
            <p:cNvPicPr>
              <a:picLocks noChangeAspect="1"/>
            </p:cNvPicPr>
            <p:nvPr/>
          </p:nvPicPr>
          <p:blipFill rotWithShape="1">
            <a:blip r:embed="rId7">
              <a:extLst>
                <a:ext uri="{28A0092B-C50C-407E-A947-70E740481C1C}">
                  <a14:useLocalDpi xmlns:a14="http://schemas.microsoft.com/office/drawing/2010/main" val="0"/>
                </a:ext>
              </a:extLst>
            </a:blip>
            <a:srcRect l="4569" b="3305"/>
            <a:stretch/>
          </p:blipFill>
          <p:spPr>
            <a:xfrm>
              <a:off x="7247466" y="1071280"/>
              <a:ext cx="3156173" cy="3153587"/>
            </a:xfrm>
            <a:prstGeom prst="rect">
              <a:avLst/>
            </a:prstGeom>
          </p:spPr>
        </p:pic>
        <p:sp>
          <p:nvSpPr>
            <p:cNvPr id="38" name="文字方塊 37">
              <a:extLst>
                <a:ext uri="{FF2B5EF4-FFF2-40B4-BE49-F238E27FC236}">
                  <a16:creationId xmlns:a16="http://schemas.microsoft.com/office/drawing/2014/main" id="{BC1A0D74-567D-4BA2-868C-1637552D807C}"/>
                </a:ext>
              </a:extLst>
            </p:cNvPr>
            <p:cNvSpPr txBox="1"/>
            <p:nvPr/>
          </p:nvSpPr>
          <p:spPr>
            <a:xfrm>
              <a:off x="8327044" y="4096583"/>
              <a:ext cx="997015"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Isotropy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948EC0EE-5281-4066-B5BD-B24DDD0B3A2B}"/>
                    </a:ext>
                  </a:extLst>
                </p:cNvPr>
                <p:cNvSpPr txBox="1"/>
                <p:nvPr/>
              </p:nvSpPr>
              <p:spPr>
                <a:xfrm rot="16200000">
                  <a:off x="6026594" y="2442194"/>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39" name="文字方塊 38">
                  <a:extLst>
                    <a:ext uri="{FF2B5EF4-FFF2-40B4-BE49-F238E27FC236}">
                      <a16:creationId xmlns:a16="http://schemas.microsoft.com/office/drawing/2014/main" id="{948EC0EE-5281-4066-B5BD-B24DDD0B3A2B}"/>
                    </a:ext>
                  </a:extLst>
                </p:cNvPr>
                <p:cNvSpPr txBox="1">
                  <a:spLocks noRot="1" noChangeAspect="1" noMove="1" noResize="1" noEditPoints="1" noAdjustHandles="1" noChangeArrowheads="1" noChangeShapeType="1" noTextEdit="1"/>
                </p:cNvSpPr>
                <p:nvPr/>
              </p:nvSpPr>
              <p:spPr>
                <a:xfrm rot="16200000">
                  <a:off x="6026594" y="2442194"/>
                  <a:ext cx="2090316" cy="276999"/>
                </a:xfrm>
                <a:prstGeom prst="rect">
                  <a:avLst/>
                </a:prstGeom>
                <a:blipFill>
                  <a:blip r:embed="rId8"/>
                  <a:stretch>
                    <a:fillRect l="-30435" t="-4373" r="-47826" b="-408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87436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r>
              <a:rPr lang="en-US" altLang="zh-TW" dirty="0"/>
              <a:t>(Have gap)</a:t>
            </a:r>
            <a:endParaRPr lang="zh-TW" altLang="en-US" dirty="0"/>
          </a:p>
        </p:txBody>
      </p:sp>
      <p:sp>
        <p:nvSpPr>
          <p:cNvPr id="34" name="矩形 33">
            <a:extLst>
              <a:ext uri="{FF2B5EF4-FFF2-40B4-BE49-F238E27FC236}">
                <a16:creationId xmlns:a16="http://schemas.microsoft.com/office/drawing/2014/main" id="{79D2E760-7634-49B3-8738-C566096C37A8}"/>
              </a:ext>
            </a:extLst>
          </p:cNvPr>
          <p:cNvSpPr/>
          <p:nvPr/>
        </p:nvSpPr>
        <p:spPr>
          <a:xfrm>
            <a:off x="5460999" y="1928550"/>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1190983A-5C39-4886-9619-EB987BA08A5A}"/>
              </a:ext>
            </a:extLst>
          </p:cNvPr>
          <p:cNvSpPr/>
          <p:nvPr/>
        </p:nvSpPr>
        <p:spPr>
          <a:xfrm>
            <a:off x="10875387" y="1723933"/>
            <a:ext cx="159369" cy="2947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3" name="矩形 42">
            <a:extLst>
              <a:ext uri="{FF2B5EF4-FFF2-40B4-BE49-F238E27FC236}">
                <a16:creationId xmlns:a16="http://schemas.microsoft.com/office/drawing/2014/main" id="{DAC22EB2-D2BB-462C-BC74-58FD2DE4BA6A}"/>
              </a:ext>
            </a:extLst>
          </p:cNvPr>
          <p:cNvSpPr/>
          <p:nvPr/>
        </p:nvSpPr>
        <p:spPr>
          <a:xfrm>
            <a:off x="6256928"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8CA65E4A-CFB2-4EA2-85BD-0D9730ADE9B3}"/>
              </a:ext>
            </a:extLst>
          </p:cNvPr>
          <p:cNvSpPr/>
          <p:nvPr/>
        </p:nvSpPr>
        <p:spPr>
          <a:xfrm>
            <a:off x="8173347" y="353856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7" name="矩形 46">
            <a:extLst>
              <a:ext uri="{FF2B5EF4-FFF2-40B4-BE49-F238E27FC236}">
                <a16:creationId xmlns:a16="http://schemas.microsoft.com/office/drawing/2014/main" id="{F8240F74-EA98-4ED3-B43E-B311F02C30DD}"/>
              </a:ext>
            </a:extLst>
          </p:cNvPr>
          <p:cNvSpPr/>
          <p:nvPr/>
        </p:nvSpPr>
        <p:spPr>
          <a:xfrm>
            <a:off x="8932275" y="770989"/>
            <a:ext cx="245534"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E3B77C83-699E-461F-B4BA-8C2FA871DCA2}"/>
              </a:ext>
            </a:extLst>
          </p:cNvPr>
          <p:cNvSpPr/>
          <p:nvPr/>
        </p:nvSpPr>
        <p:spPr>
          <a:xfrm>
            <a:off x="5351905" y="2059278"/>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3D14EEA7-B1CC-4A28-BF80-872555CF32BF}"/>
              </a:ext>
            </a:extLst>
          </p:cNvPr>
          <p:cNvSpPr/>
          <p:nvPr/>
        </p:nvSpPr>
        <p:spPr>
          <a:xfrm>
            <a:off x="6535040" y="2906549"/>
            <a:ext cx="218554" cy="1828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a:extLst>
              <a:ext uri="{FF2B5EF4-FFF2-40B4-BE49-F238E27FC236}">
                <a16:creationId xmlns:a16="http://schemas.microsoft.com/office/drawing/2014/main" id="{3FBA3E74-E0D9-4C92-89A1-FC1810D9C593}"/>
              </a:ext>
            </a:extLst>
          </p:cNvPr>
          <p:cNvSpPr/>
          <p:nvPr/>
        </p:nvSpPr>
        <p:spPr>
          <a:xfrm>
            <a:off x="10419603" y="2544525"/>
            <a:ext cx="61970" cy="410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6" name="群組 65">
            <a:extLst>
              <a:ext uri="{FF2B5EF4-FFF2-40B4-BE49-F238E27FC236}">
                <a16:creationId xmlns:a16="http://schemas.microsoft.com/office/drawing/2014/main" id="{B8B44E8A-7C69-40AF-868C-858D8E255A75}"/>
              </a:ext>
            </a:extLst>
          </p:cNvPr>
          <p:cNvGrpSpPr/>
          <p:nvPr/>
        </p:nvGrpSpPr>
        <p:grpSpPr>
          <a:xfrm>
            <a:off x="7498215" y="3763636"/>
            <a:ext cx="3083568" cy="2082167"/>
            <a:chOff x="6051068" y="3773292"/>
            <a:chExt cx="3590668" cy="2286540"/>
          </a:xfrm>
        </p:grpSpPr>
        <p:sp>
          <p:nvSpPr>
            <p:cNvPr id="61" name="矩形 60">
              <a:extLst>
                <a:ext uri="{FF2B5EF4-FFF2-40B4-BE49-F238E27FC236}">
                  <a16:creationId xmlns:a16="http://schemas.microsoft.com/office/drawing/2014/main" id="{654CDC74-E55F-4DBC-B616-357EBC5F4474}"/>
                </a:ext>
              </a:extLst>
            </p:cNvPr>
            <p:cNvSpPr/>
            <p:nvPr/>
          </p:nvSpPr>
          <p:spPr>
            <a:xfrm>
              <a:off x="8324876" y="5644809"/>
              <a:ext cx="258270"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a:extLst>
                <a:ext uri="{FF2B5EF4-FFF2-40B4-BE49-F238E27FC236}">
                  <a16:creationId xmlns:a16="http://schemas.microsoft.com/office/drawing/2014/main" id="{CD1471C2-34F2-4760-BFF2-E80C9E428DEC}"/>
                </a:ext>
              </a:extLst>
            </p:cNvPr>
            <p:cNvSpPr/>
            <p:nvPr/>
          </p:nvSpPr>
          <p:spPr>
            <a:xfrm>
              <a:off x="6446961" y="3773292"/>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3" name="矩形 62">
              <a:extLst>
                <a:ext uri="{FF2B5EF4-FFF2-40B4-BE49-F238E27FC236}">
                  <a16:creationId xmlns:a16="http://schemas.microsoft.com/office/drawing/2014/main" id="{90FF13F8-3A65-4128-BC28-CAC513B4FB57}"/>
                </a:ext>
              </a:extLst>
            </p:cNvPr>
            <p:cNvSpPr/>
            <p:nvPr/>
          </p:nvSpPr>
          <p:spPr>
            <a:xfrm>
              <a:off x="6051068" y="5067090"/>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a:extLst>
                <a:ext uri="{FF2B5EF4-FFF2-40B4-BE49-F238E27FC236}">
                  <a16:creationId xmlns:a16="http://schemas.microsoft.com/office/drawing/2014/main" id="{5BAF1E9B-9DCD-467B-B70A-E5CD30B363C2}"/>
                </a:ext>
              </a:extLst>
            </p:cNvPr>
            <p:cNvSpPr/>
            <p:nvPr/>
          </p:nvSpPr>
          <p:spPr>
            <a:xfrm>
              <a:off x="7250039" y="5828298"/>
              <a:ext cx="323457" cy="2315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5" name="矩形 64">
              <a:extLst>
                <a:ext uri="{FF2B5EF4-FFF2-40B4-BE49-F238E27FC236}">
                  <a16:creationId xmlns:a16="http://schemas.microsoft.com/office/drawing/2014/main" id="{9D7F0799-F13A-4899-9213-C4590823EDB0}"/>
                </a:ext>
              </a:extLst>
            </p:cNvPr>
            <p:cNvSpPr/>
            <p:nvPr/>
          </p:nvSpPr>
          <p:spPr>
            <a:xfrm>
              <a:off x="9423181" y="4151337"/>
              <a:ext cx="218555" cy="922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79" name="矩形 78">
            <a:extLst>
              <a:ext uri="{FF2B5EF4-FFF2-40B4-BE49-F238E27FC236}">
                <a16:creationId xmlns:a16="http://schemas.microsoft.com/office/drawing/2014/main" id="{6EE2C76E-7851-4AB6-9A3E-18664BA7EDA9}"/>
              </a:ext>
            </a:extLst>
          </p:cNvPr>
          <p:cNvSpPr/>
          <p:nvPr/>
        </p:nvSpPr>
        <p:spPr>
          <a:xfrm>
            <a:off x="5106371" y="3533630"/>
            <a:ext cx="245534" cy="266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auto caption">
            <a:extLst>
              <a:ext uri="{FF2B5EF4-FFF2-40B4-BE49-F238E27FC236}">
                <a16:creationId xmlns:a16="http://schemas.microsoft.com/office/drawing/2014/main" id="{B939D688-74BF-48DD-B637-E4F31386B5C8}"/>
              </a:ext>
            </a:extLst>
          </p:cNvPr>
          <p:cNvSpPr txBox="1"/>
          <p:nvPr/>
        </p:nvSpPr>
        <p:spPr>
          <a:xfrm>
            <a:off x="153910" y="885799"/>
            <a:ext cx="6375566" cy="5862134"/>
          </a:xfrm>
          <a:prstGeom prst="rect">
            <a:avLst/>
          </a:prstGeom>
          <a:noFill/>
        </p:spPr>
        <p:txBody>
          <a:bodyPr wrap="square" rtlCol="0">
            <a:normAutofit/>
          </a:bodyPr>
          <a:lstStyle/>
          <a:p>
            <a:pPr marL="285750" indent="-285750">
              <a:buFont typeface="Arial" panose="020B0604020202020204" pitchFamily="34" charset="0"/>
              <a:buChar char="•"/>
            </a:pPr>
            <a:endParaRPr lang="en-US" altLang="zh-TW" sz="1600" dirty="0"/>
          </a:p>
        </p:txBody>
      </p:sp>
      <p:sp>
        <p:nvSpPr>
          <p:cNvPr id="24" name="文字方塊 23">
            <a:extLst>
              <a:ext uri="{FF2B5EF4-FFF2-40B4-BE49-F238E27FC236}">
                <a16:creationId xmlns:a16="http://schemas.microsoft.com/office/drawing/2014/main" id="{8FBFCE35-671F-43E8-AFE4-D4E5FC738992}"/>
              </a:ext>
            </a:extLst>
          </p:cNvPr>
          <p:cNvSpPr txBox="1"/>
          <p:nvPr/>
        </p:nvSpPr>
        <p:spPr>
          <a:xfrm>
            <a:off x="148345" y="1041403"/>
            <a:ext cx="7161317" cy="4247317"/>
          </a:xfrm>
          <a:prstGeom prst="rect">
            <a:avLst/>
          </a:prstGeom>
          <a:noFill/>
        </p:spPr>
        <p:txBody>
          <a:bodyPr wrap="square">
            <a:spAutoFit/>
          </a:bodyPr>
          <a:lstStyle/>
          <a:p>
            <a:pPr marL="285750" indent="-285750">
              <a:buFont typeface="Arial" panose="020B0604020202020204" pitchFamily="34" charset="0"/>
              <a:buChar char="•"/>
            </a:pPr>
            <a:r>
              <a:rPr lang="en-US" altLang="zh-TW" dirty="0"/>
              <a:t>Design B with a 100 µm gap(The air gap is located at the junction between the six guide posts and the magnetic poles.): the capacity measure </a:t>
            </a:r>
            <a:r>
              <a:rPr lang="zh-TW" altLang="en-US" dirty="0"/>
              <a:t>𝒞 </a:t>
            </a:r>
            <a:r>
              <a:rPr lang="en-US" altLang="zh-TW" dirty="0"/>
              <a:t>on the same three actuator planes, </a:t>
            </a:r>
            <a:r>
              <a:rPr lang="en-US" altLang="zh-TW" dirty="0" err="1"/>
              <a:t>colour</a:t>
            </a:r>
            <a:r>
              <a:rPr lang="en-US" altLang="zh-TW" dirty="0"/>
              <a:t> scale 18–33 </a:t>
            </a:r>
            <a:r>
              <a:rPr lang="en-US" altLang="zh-TW" dirty="0" err="1"/>
              <a:t>mT</a:t>
            </a:r>
            <a:r>
              <a:rPr lang="en-US" altLang="zh-TW" dirty="0"/>
              <a:t>/A. The model is calibrated on the converged design within R ≤ 150 µm and evaluated point by point out to the pole-tip sphere at R = 500 µm.</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spatial pattern is identical to the no-gap case: the </a:t>
            </a:r>
            <a:r>
              <a:rPr lang="en-US" altLang="zh-TW" dirty="0" err="1"/>
              <a:t>centre</a:t>
            </a:r>
            <a:r>
              <a:rPr lang="en-US" altLang="zh-TW" dirty="0"/>
              <a:t> sits mid-range at 23.1 </a:t>
            </a:r>
            <a:r>
              <a:rPr lang="en-US" altLang="zh-TW" dirty="0" err="1"/>
              <a:t>mT</a:t>
            </a:r>
            <a:r>
              <a:rPr lang="en-US" altLang="zh-TW" dirty="0"/>
              <a:t>/A, </a:t>
            </a:r>
            <a:r>
              <a:rPr lang="zh-TW" altLang="en-US" dirty="0"/>
              <a:t>𝒞 </a:t>
            </a:r>
            <a:r>
              <a:rPr lang="en-US" altLang="zh-TW" dirty="0"/>
              <a:t>rises along each pole axis to 30.3–30.8 at the rim, and falls to about 19.5–20.7 on the rim between poles, with the six lobes still nearly equal. Only the overall level changes — the </a:t>
            </a:r>
            <a:r>
              <a:rPr lang="en-US" altLang="zh-TW" dirty="0" err="1"/>
              <a:t>centre</a:t>
            </a:r>
            <a:r>
              <a:rPr lang="en-US" altLang="zh-TW" dirty="0"/>
              <a:t> drops from 37.96 to 23.08 </a:t>
            </a:r>
            <a:r>
              <a:rPr lang="en-US" altLang="zh-TW" dirty="0" err="1"/>
              <a:t>mT</a:t>
            </a:r>
            <a:r>
              <a:rPr lang="en-US" altLang="zh-TW" dirty="0"/>
              <a:t>/A and the rim maximum from about 51 to about 31, roughly 0.61× the no-gap design throughout. The gap therefore reduces the gain itself while leaving the field shape and its directional character unchanged.</a:t>
            </a:r>
          </a:p>
          <a:p>
            <a:pPr marL="285750" indent="-285750">
              <a:buFont typeface="Arial" panose="020B0604020202020204" pitchFamily="34" charset="0"/>
              <a:buChar char="•"/>
            </a:pPr>
            <a:endParaRPr lang="zh-TW" altLang="en-US" dirty="0"/>
          </a:p>
        </p:txBody>
      </p:sp>
      <mc:AlternateContent xmlns:mc="http://schemas.openxmlformats.org/markup-compatibility/2006" xmlns:a14="http://schemas.microsoft.com/office/drawing/2010/main">
        <mc:Choice Requires="a14">
          <p:sp>
            <p:nvSpPr>
              <p:cNvPr id="53" name="文字方塊 52">
                <a:extLst>
                  <a:ext uri="{FF2B5EF4-FFF2-40B4-BE49-F238E27FC236}">
                    <a16:creationId xmlns:a16="http://schemas.microsoft.com/office/drawing/2014/main" id="{4FA5E863-69D9-4E94-9E8E-CB25CF9BA993}"/>
                  </a:ext>
                </a:extLst>
              </p:cNvPr>
              <p:cNvSpPr txBox="1"/>
              <p:nvPr/>
            </p:nvSpPr>
            <p:spPr>
              <a:xfrm>
                <a:off x="8156279" y="1471924"/>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3" name="文字方塊 52">
                <a:extLst>
                  <a:ext uri="{FF2B5EF4-FFF2-40B4-BE49-F238E27FC236}">
                    <a16:creationId xmlns:a16="http://schemas.microsoft.com/office/drawing/2014/main" id="{4FA5E863-69D9-4E94-9E8E-CB25CF9BA993}"/>
                  </a:ext>
                </a:extLst>
              </p:cNvPr>
              <p:cNvSpPr txBox="1">
                <a:spLocks noRot="1" noChangeAspect="1" noMove="1" noResize="1" noEditPoints="1" noAdjustHandles="1" noChangeArrowheads="1" noChangeShapeType="1" noTextEdit="1"/>
              </p:cNvSpPr>
              <p:nvPr/>
            </p:nvSpPr>
            <p:spPr>
              <a:xfrm>
                <a:off x="8156279" y="1471924"/>
                <a:ext cx="304534" cy="283412"/>
              </a:xfrm>
              <a:prstGeom prst="rect">
                <a:avLst/>
              </a:prstGeom>
              <a:blipFill>
                <a:blip r:embed="rId17"/>
                <a:stretch>
                  <a:fillRect b="-106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a:extLst>
                  <a:ext uri="{FF2B5EF4-FFF2-40B4-BE49-F238E27FC236}">
                    <a16:creationId xmlns:a16="http://schemas.microsoft.com/office/drawing/2014/main" id="{3466B6D5-E082-4974-BC7C-83DA50FBD643}"/>
                  </a:ext>
                </a:extLst>
              </p:cNvPr>
              <p:cNvSpPr txBox="1"/>
              <p:nvPr/>
            </p:nvSpPr>
            <p:spPr>
              <a:xfrm>
                <a:off x="8616141" y="1907778"/>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2" name="文字方塊 51">
                <a:extLst>
                  <a:ext uri="{FF2B5EF4-FFF2-40B4-BE49-F238E27FC236}">
                    <a16:creationId xmlns:a16="http://schemas.microsoft.com/office/drawing/2014/main" id="{3466B6D5-E082-4974-BC7C-83DA50FBD643}"/>
                  </a:ext>
                </a:extLst>
              </p:cNvPr>
              <p:cNvSpPr txBox="1">
                <a:spLocks noRot="1" noChangeAspect="1" noMove="1" noResize="1" noEditPoints="1" noAdjustHandles="1" noChangeArrowheads="1" noChangeShapeType="1" noTextEdit="1"/>
              </p:cNvSpPr>
              <p:nvPr/>
            </p:nvSpPr>
            <p:spPr>
              <a:xfrm>
                <a:off x="8616141" y="1907778"/>
                <a:ext cx="304534" cy="283412"/>
              </a:xfrm>
              <a:prstGeom prst="rect">
                <a:avLst/>
              </a:prstGeom>
              <a:blipFill>
                <a:blip r:embed="rId18"/>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2D95AAF3-657B-4E85-A93E-232AFF17D1B9}"/>
                  </a:ext>
                </a:extLst>
              </p:cNvPr>
              <p:cNvSpPr txBox="1"/>
              <p:nvPr/>
            </p:nvSpPr>
            <p:spPr>
              <a:xfrm>
                <a:off x="9887766" y="1443408"/>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2D95AAF3-657B-4E85-A93E-232AFF17D1B9}"/>
                  </a:ext>
                </a:extLst>
              </p:cNvPr>
              <p:cNvSpPr txBox="1">
                <a:spLocks noRot="1" noChangeAspect="1" noMove="1" noResize="1" noEditPoints="1" noAdjustHandles="1" noChangeArrowheads="1" noChangeShapeType="1" noTextEdit="1"/>
              </p:cNvSpPr>
              <p:nvPr/>
            </p:nvSpPr>
            <p:spPr>
              <a:xfrm>
                <a:off x="9887766" y="1443408"/>
                <a:ext cx="304534" cy="283412"/>
              </a:xfrm>
              <a:prstGeom prst="rect">
                <a:avLst/>
              </a:prstGeom>
              <a:blipFill>
                <a:blip r:embed="rId19"/>
                <a:stretch>
                  <a:fillRect b="-21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06575CDD-D32D-4C7A-A6D6-FC30A9C5669B}"/>
                  </a:ext>
                </a:extLst>
              </p:cNvPr>
              <p:cNvSpPr txBox="1"/>
              <p:nvPr/>
            </p:nvSpPr>
            <p:spPr>
              <a:xfrm>
                <a:off x="10313128" y="1923549"/>
                <a:ext cx="304534" cy="2834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4" name="文字方塊 53">
                <a:extLst>
                  <a:ext uri="{FF2B5EF4-FFF2-40B4-BE49-F238E27FC236}">
                    <a16:creationId xmlns:a16="http://schemas.microsoft.com/office/drawing/2014/main" id="{06575CDD-D32D-4C7A-A6D6-FC30A9C5669B}"/>
                  </a:ext>
                </a:extLst>
              </p:cNvPr>
              <p:cNvSpPr txBox="1">
                <a:spLocks noRot="1" noChangeAspect="1" noMove="1" noResize="1" noEditPoints="1" noAdjustHandles="1" noChangeArrowheads="1" noChangeShapeType="1" noTextEdit="1"/>
              </p:cNvSpPr>
              <p:nvPr/>
            </p:nvSpPr>
            <p:spPr>
              <a:xfrm>
                <a:off x="10313128" y="1923549"/>
                <a:ext cx="304534" cy="283412"/>
              </a:xfrm>
              <a:prstGeom prst="rect">
                <a:avLst/>
              </a:prstGeom>
              <a:blipFill>
                <a:blip r:embed="rId18"/>
                <a:stretch>
                  <a:fillRect b="-2174"/>
                </a:stretch>
              </a:blipFill>
            </p:spPr>
            <p:txBody>
              <a:bodyPr/>
              <a:lstStyle/>
              <a:p>
                <a:r>
                  <a:rPr lang="zh-TW" altLang="en-US">
                    <a:noFill/>
                  </a:rPr>
                  <a:t> </a:t>
                </a:r>
              </a:p>
            </p:txBody>
          </p:sp>
        </mc:Fallback>
      </mc:AlternateContent>
      <p:sp>
        <p:nvSpPr>
          <p:cNvPr id="15" name="矩形 14">
            <a:extLst>
              <a:ext uri="{FF2B5EF4-FFF2-40B4-BE49-F238E27FC236}">
                <a16:creationId xmlns:a16="http://schemas.microsoft.com/office/drawing/2014/main" id="{7140F9FF-18DA-48B7-8C65-D638467A7012}"/>
              </a:ext>
            </a:extLst>
          </p:cNvPr>
          <p:cNvSpPr/>
          <p:nvPr/>
        </p:nvSpPr>
        <p:spPr>
          <a:xfrm>
            <a:off x="10887603" y="1809416"/>
            <a:ext cx="186139" cy="206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4DB5AD11-9A92-49B5-9E53-34DE804AD131}"/>
              </a:ext>
            </a:extLst>
          </p:cNvPr>
          <p:cNvGrpSpPr/>
          <p:nvPr/>
        </p:nvGrpSpPr>
        <p:grpSpPr>
          <a:xfrm>
            <a:off x="8387907" y="3258670"/>
            <a:ext cx="2630671" cy="2146998"/>
            <a:chOff x="8387907" y="3258670"/>
            <a:chExt cx="2630671" cy="2146998"/>
          </a:xfrm>
        </p:grpSpPr>
        <p:grpSp>
          <p:nvGrpSpPr>
            <p:cNvPr id="20" name="群組 19">
              <a:extLst>
                <a:ext uri="{FF2B5EF4-FFF2-40B4-BE49-F238E27FC236}">
                  <a16:creationId xmlns:a16="http://schemas.microsoft.com/office/drawing/2014/main" id="{6D718F14-26ED-4D79-ACD1-36F1CE5822FC}"/>
                </a:ext>
              </a:extLst>
            </p:cNvPr>
            <p:cNvGrpSpPr/>
            <p:nvPr/>
          </p:nvGrpSpPr>
          <p:grpSpPr>
            <a:xfrm>
              <a:off x="8387907" y="3258670"/>
              <a:ext cx="2588745" cy="2146998"/>
              <a:chOff x="8407613" y="3207991"/>
              <a:chExt cx="2588745" cy="2146998"/>
            </a:xfrm>
          </p:grpSpPr>
          <p:pic>
            <p:nvPicPr>
              <p:cNvPr id="9" name="圖片 8">
                <a:extLst>
                  <a:ext uri="{FF2B5EF4-FFF2-40B4-BE49-F238E27FC236}">
                    <a16:creationId xmlns:a16="http://schemas.microsoft.com/office/drawing/2014/main" id="{2DD782EE-42A9-4C29-846F-C3C6C89E2A48}"/>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8588615" y="3317918"/>
                <a:ext cx="2342457" cy="1907786"/>
              </a:xfrm>
              <a:prstGeom prst="rect">
                <a:avLst/>
              </a:prstGeom>
            </p:spPr>
          </p:pic>
          <p:grpSp>
            <p:nvGrpSpPr>
              <p:cNvPr id="18" name="群組 17">
                <a:extLst>
                  <a:ext uri="{FF2B5EF4-FFF2-40B4-BE49-F238E27FC236}">
                    <a16:creationId xmlns:a16="http://schemas.microsoft.com/office/drawing/2014/main" id="{22DEE182-220C-4694-B0E8-4F293D6F7DFF}"/>
                  </a:ext>
                </a:extLst>
              </p:cNvPr>
              <p:cNvGrpSpPr/>
              <p:nvPr/>
            </p:nvGrpSpPr>
            <p:grpSpPr>
              <a:xfrm>
                <a:off x="8407613" y="3207991"/>
                <a:ext cx="2588745" cy="2146998"/>
                <a:chOff x="7970803" y="3605233"/>
                <a:chExt cx="2588745" cy="2146998"/>
              </a:xfrm>
            </p:grpSpPr>
            <p:grpSp>
              <p:nvGrpSpPr>
                <p:cNvPr id="17" name="群組 16">
                  <a:extLst>
                    <a:ext uri="{FF2B5EF4-FFF2-40B4-BE49-F238E27FC236}">
                      <a16:creationId xmlns:a16="http://schemas.microsoft.com/office/drawing/2014/main" id="{55BB4621-7BD9-4679-83DF-BFD7799DF865}"/>
                    </a:ext>
                  </a:extLst>
                </p:cNvPr>
                <p:cNvGrpSpPr/>
                <p:nvPr/>
              </p:nvGrpSpPr>
              <p:grpSpPr>
                <a:xfrm>
                  <a:off x="8050919" y="3704853"/>
                  <a:ext cx="2508629" cy="1961519"/>
                  <a:chOff x="8050919" y="3704853"/>
                  <a:chExt cx="2508629" cy="1961519"/>
                </a:xfrm>
              </p:grpSpPr>
              <p:sp>
                <p:nvSpPr>
                  <p:cNvPr id="5" name="矩形 4">
                    <a:extLst>
                      <a:ext uri="{FF2B5EF4-FFF2-40B4-BE49-F238E27FC236}">
                        <a16:creationId xmlns:a16="http://schemas.microsoft.com/office/drawing/2014/main" id="{814C6145-C47B-4D69-AAD2-1C7FDFF05D7C}"/>
                      </a:ext>
                    </a:extLst>
                  </p:cNvPr>
                  <p:cNvSpPr/>
                  <p:nvPr/>
                </p:nvSpPr>
                <p:spPr>
                  <a:xfrm>
                    <a:off x="8979362" y="3704853"/>
                    <a:ext cx="471534" cy="1693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0791F678-56AB-42BA-961F-31FF4CB4DF2D}"/>
                      </a:ext>
                    </a:extLst>
                  </p:cNvPr>
                  <p:cNvSpPr/>
                  <p:nvPr/>
                </p:nvSpPr>
                <p:spPr>
                  <a:xfrm>
                    <a:off x="8050919" y="4584386"/>
                    <a:ext cx="244903" cy="1693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9F216946-C27D-48B6-9FC9-3A7938C80A01}"/>
                      </a:ext>
                    </a:extLst>
                  </p:cNvPr>
                  <p:cNvSpPr/>
                  <p:nvPr/>
                </p:nvSpPr>
                <p:spPr>
                  <a:xfrm>
                    <a:off x="8807818" y="5485454"/>
                    <a:ext cx="471534" cy="18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a:extLst>
                      <a:ext uri="{FF2B5EF4-FFF2-40B4-BE49-F238E27FC236}">
                        <a16:creationId xmlns:a16="http://schemas.microsoft.com/office/drawing/2014/main" id="{D95603DB-8850-4931-9119-271118BBBC31}"/>
                      </a:ext>
                    </a:extLst>
                  </p:cNvPr>
                  <p:cNvSpPr/>
                  <p:nvPr/>
                </p:nvSpPr>
                <p:spPr>
                  <a:xfrm>
                    <a:off x="9907731" y="4512739"/>
                    <a:ext cx="244903" cy="2833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矩形 13">
                    <a:extLst>
                      <a:ext uri="{FF2B5EF4-FFF2-40B4-BE49-F238E27FC236}">
                        <a16:creationId xmlns:a16="http://schemas.microsoft.com/office/drawing/2014/main" id="{1329119F-C529-4B40-91BE-B411B4240C93}"/>
                      </a:ext>
                    </a:extLst>
                  </p:cNvPr>
                  <p:cNvSpPr/>
                  <p:nvPr/>
                </p:nvSpPr>
                <p:spPr>
                  <a:xfrm>
                    <a:off x="10370107" y="4314578"/>
                    <a:ext cx="189441" cy="584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sp>
              <p:nvSpPr>
                <p:cNvPr id="81" name="文字方塊 80">
                  <a:extLst>
                    <a:ext uri="{FF2B5EF4-FFF2-40B4-BE49-F238E27FC236}">
                      <a16:creationId xmlns:a16="http://schemas.microsoft.com/office/drawing/2014/main" id="{52CF3FFF-4A3A-4DF8-9571-F600210FEEA8}"/>
                    </a:ext>
                  </a:extLst>
                </p:cNvPr>
                <p:cNvSpPr txBox="1"/>
                <p:nvPr/>
              </p:nvSpPr>
              <p:spPr>
                <a:xfrm>
                  <a:off x="7970803" y="439798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2" name="文字方塊 81">
                  <a:extLst>
                    <a:ext uri="{FF2B5EF4-FFF2-40B4-BE49-F238E27FC236}">
                      <a16:creationId xmlns:a16="http://schemas.microsoft.com/office/drawing/2014/main" id="{853AC494-5F6E-45D3-8AB8-45F0C907BFD2}"/>
                    </a:ext>
                  </a:extLst>
                </p:cNvPr>
                <p:cNvSpPr txBox="1"/>
                <p:nvPr/>
              </p:nvSpPr>
              <p:spPr>
                <a:xfrm>
                  <a:off x="8927322" y="360523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3" name="文字方塊 82">
                  <a:extLst>
                    <a:ext uri="{FF2B5EF4-FFF2-40B4-BE49-F238E27FC236}">
                      <a16:creationId xmlns:a16="http://schemas.microsoft.com/office/drawing/2014/main" id="{8C1B137E-27CA-4FA8-BD49-47C50D6F832A}"/>
                    </a:ext>
                  </a:extLst>
                </p:cNvPr>
                <p:cNvSpPr txBox="1"/>
                <p:nvPr/>
              </p:nvSpPr>
              <p:spPr>
                <a:xfrm>
                  <a:off x="8914264" y="544445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84" name="文字方塊 83">
                  <a:extLst>
                    <a:ext uri="{FF2B5EF4-FFF2-40B4-BE49-F238E27FC236}">
                      <a16:creationId xmlns:a16="http://schemas.microsoft.com/office/drawing/2014/main" id="{7712404E-07B6-4F6E-AF69-1455B3E1A4BB}"/>
                    </a:ext>
                  </a:extLst>
                </p:cNvPr>
                <p:cNvSpPr txBox="1"/>
                <p:nvPr/>
              </p:nvSpPr>
              <p:spPr>
                <a:xfrm>
                  <a:off x="9802070" y="470384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5" name="文字方塊 84">
                      <a:extLst>
                        <a:ext uri="{FF2B5EF4-FFF2-40B4-BE49-F238E27FC236}">
                          <a16:creationId xmlns:a16="http://schemas.microsoft.com/office/drawing/2014/main" id="{540B8155-584E-4A94-B7CA-1691DEFFD750}"/>
                        </a:ext>
                      </a:extLst>
                    </p:cNvPr>
                    <p:cNvSpPr txBox="1"/>
                    <p:nvPr/>
                  </p:nvSpPr>
                  <p:spPr>
                    <a:xfrm>
                      <a:off x="9312538" y="458296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5" name="文字方塊 84">
                      <a:extLst>
                        <a:ext uri="{FF2B5EF4-FFF2-40B4-BE49-F238E27FC236}">
                          <a16:creationId xmlns:a16="http://schemas.microsoft.com/office/drawing/2014/main" id="{540B8155-584E-4A94-B7CA-1691DEFFD750}"/>
                        </a:ext>
                      </a:extLst>
                    </p:cNvPr>
                    <p:cNvSpPr txBox="1">
                      <a:spLocks noRot="1" noChangeAspect="1" noMove="1" noResize="1" noEditPoints="1" noAdjustHandles="1" noChangeArrowheads="1" noChangeShapeType="1" noTextEdit="1"/>
                    </p:cNvSpPr>
                    <p:nvPr/>
                  </p:nvSpPr>
                  <p:spPr>
                    <a:xfrm>
                      <a:off x="9312538" y="4582969"/>
                      <a:ext cx="332369" cy="307777"/>
                    </a:xfrm>
                    <a:prstGeom prst="rect">
                      <a:avLst/>
                    </a:prstGeom>
                    <a:blipFill>
                      <a:blip r:embed="rId12"/>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6" name="文字方塊 85">
                      <a:extLst>
                        <a:ext uri="{FF2B5EF4-FFF2-40B4-BE49-F238E27FC236}">
                          <a16:creationId xmlns:a16="http://schemas.microsoft.com/office/drawing/2014/main" id="{867489ED-A813-4081-8B30-C7D8958005DE}"/>
                        </a:ext>
                      </a:extLst>
                    </p:cNvPr>
                    <p:cNvSpPr txBox="1"/>
                    <p:nvPr/>
                  </p:nvSpPr>
                  <p:spPr>
                    <a:xfrm>
                      <a:off x="8845267" y="4095143"/>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6" name="文字方塊 85">
                      <a:extLst>
                        <a:ext uri="{FF2B5EF4-FFF2-40B4-BE49-F238E27FC236}">
                          <a16:creationId xmlns:a16="http://schemas.microsoft.com/office/drawing/2014/main" id="{867489ED-A813-4081-8B30-C7D8958005DE}"/>
                        </a:ext>
                      </a:extLst>
                    </p:cNvPr>
                    <p:cNvSpPr txBox="1">
                      <a:spLocks noRot="1" noChangeAspect="1" noMove="1" noResize="1" noEditPoints="1" noAdjustHandles="1" noChangeArrowheads="1" noChangeShapeType="1" noTextEdit="1"/>
                    </p:cNvSpPr>
                    <p:nvPr/>
                  </p:nvSpPr>
                  <p:spPr>
                    <a:xfrm>
                      <a:off x="8845267" y="4095143"/>
                      <a:ext cx="332369" cy="307777"/>
                    </a:xfrm>
                    <a:prstGeom prst="rect">
                      <a:avLst/>
                    </a:prstGeom>
                    <a:blipFill>
                      <a:blip r:embed="rId13"/>
                      <a:stretch>
                        <a:fillRect/>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69" name="文字方塊 68">
                  <a:extLst>
                    <a:ext uri="{FF2B5EF4-FFF2-40B4-BE49-F238E27FC236}">
                      <a16:creationId xmlns:a16="http://schemas.microsoft.com/office/drawing/2014/main" id="{F2F50CEE-6D8F-497A-AD8E-2A13A8430F42}"/>
                    </a:ext>
                  </a:extLst>
                </p:cNvPr>
                <p:cNvSpPr txBox="1"/>
                <p:nvPr/>
              </p:nvSpPr>
              <p:spPr>
                <a:xfrm rot="16200000">
                  <a:off x="9998433" y="4159787"/>
                  <a:ext cx="1778680" cy="261610"/>
                </a:xfrm>
                <a:prstGeom prst="rect">
                  <a:avLst/>
                </a:prstGeom>
                <a:noFill/>
              </p:spPr>
              <p:txBody>
                <a:bodyPr wrap="square">
                  <a:spAutoFit/>
                </a:bodyPr>
                <a:lstStyle/>
                <a:p>
                  <a:r>
                    <a:rPr lang="en-US" altLang="zh-TW" sz="11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100" b="0" i="0" smtClean="0">
                          <a:latin typeface="Cambria Math" panose="02040503050406030204" pitchFamily="18" charset="0"/>
                        </a:rPr>
                        <m:t>(</m:t>
                      </m:r>
                      <m:f>
                        <m:fPr>
                          <m:type m:val="lin"/>
                          <m:ctrlPr>
                            <a:rPr lang="en-US" altLang="zh-TW" sz="1100" i="1" smtClean="0">
                              <a:latin typeface="Cambria Math" panose="02040503050406030204" pitchFamily="18" charset="0"/>
                            </a:rPr>
                          </m:ctrlPr>
                        </m:fPr>
                        <m:num>
                          <m:r>
                            <a:rPr lang="en-US" altLang="zh-TW" sz="1100" b="0" i="1" smtClean="0">
                              <a:latin typeface="Cambria Math" panose="02040503050406030204" pitchFamily="18" charset="0"/>
                            </a:rPr>
                            <m:t>𝑚𝑇</m:t>
                          </m:r>
                        </m:num>
                        <m:den>
                          <m:r>
                            <a:rPr lang="en-US" altLang="zh-TW" sz="1100" b="0" i="1" smtClean="0">
                              <a:latin typeface="Cambria Math" panose="02040503050406030204" pitchFamily="18" charset="0"/>
                            </a:rPr>
                            <m:t>𝐴</m:t>
                          </m:r>
                        </m:den>
                      </m:f>
                      <m:r>
                        <a:rPr lang="en-US" altLang="zh-TW" sz="1100" b="0" i="1" smtClean="0">
                          <a:latin typeface="Cambria Math" panose="02040503050406030204" pitchFamily="18" charset="0"/>
                        </a:rPr>
                        <m:t>)</m:t>
                      </m:r>
                    </m:oMath>
                  </a14:m>
                  <a:endParaRPr lang="zh-TW" altLang="en-US" sz="1100" dirty="0">
                    <a:latin typeface="Times New Roman" panose="02020603050405020304" pitchFamily="18" charset="0"/>
                    <a:cs typeface="Times New Roman" panose="02020603050405020304" pitchFamily="18" charset="0"/>
                  </a:endParaRPr>
                </a:p>
              </p:txBody>
            </p:sp>
          </mc:Choice>
          <mc:Fallback xmlns="">
            <p:sp>
              <p:nvSpPr>
                <p:cNvPr id="69" name="文字方塊 68">
                  <a:extLst>
                    <a:ext uri="{FF2B5EF4-FFF2-40B4-BE49-F238E27FC236}">
                      <a16:creationId xmlns:a16="http://schemas.microsoft.com/office/drawing/2014/main" id="{F2F50CEE-6D8F-497A-AD8E-2A13A8430F42}"/>
                    </a:ext>
                  </a:extLst>
                </p:cNvPr>
                <p:cNvSpPr txBox="1">
                  <a:spLocks noRot="1" noChangeAspect="1" noMove="1" noResize="1" noEditPoints="1" noAdjustHandles="1" noChangeArrowheads="1" noChangeShapeType="1" noTextEdit="1"/>
                </p:cNvSpPr>
                <p:nvPr/>
              </p:nvSpPr>
              <p:spPr>
                <a:xfrm rot="16200000">
                  <a:off x="9998433" y="4159787"/>
                  <a:ext cx="1778680" cy="261610"/>
                </a:xfrm>
                <a:prstGeom prst="rect">
                  <a:avLst/>
                </a:prstGeom>
                <a:blipFill>
                  <a:blip r:embed="rId21"/>
                  <a:stretch>
                    <a:fillRect l="-88372" t="-8219" r="-139535"/>
                  </a:stretch>
                </a:blipFill>
              </p:spPr>
              <p:txBody>
                <a:bodyPr/>
                <a:lstStyle/>
                <a:p>
                  <a:r>
                    <a:rPr lang="zh-TW" altLang="en-US">
                      <a:noFill/>
                    </a:rPr>
                    <a:t> </a:t>
                  </a:r>
                </a:p>
              </p:txBody>
            </p:sp>
          </mc:Fallback>
        </mc:AlternateContent>
      </p:grpSp>
      <p:grpSp>
        <p:nvGrpSpPr>
          <p:cNvPr id="10" name="群組 9">
            <a:extLst>
              <a:ext uri="{FF2B5EF4-FFF2-40B4-BE49-F238E27FC236}">
                <a16:creationId xmlns:a16="http://schemas.microsoft.com/office/drawing/2014/main" id="{B81FF256-58CD-44E7-A1B0-3E5C408A3DE6}"/>
              </a:ext>
            </a:extLst>
          </p:cNvPr>
          <p:cNvGrpSpPr/>
          <p:nvPr/>
        </p:nvGrpSpPr>
        <p:grpSpPr>
          <a:xfrm>
            <a:off x="7537446" y="930778"/>
            <a:ext cx="4136759" cy="2029789"/>
            <a:chOff x="7381842" y="949388"/>
            <a:chExt cx="4136759" cy="2029789"/>
          </a:xfrm>
        </p:grpSpPr>
        <p:grpSp>
          <p:nvGrpSpPr>
            <p:cNvPr id="4" name="群組 3">
              <a:extLst>
                <a:ext uri="{FF2B5EF4-FFF2-40B4-BE49-F238E27FC236}">
                  <a16:creationId xmlns:a16="http://schemas.microsoft.com/office/drawing/2014/main" id="{13F259B7-6966-44BD-80B8-99CA80AA5C29}"/>
                </a:ext>
              </a:extLst>
            </p:cNvPr>
            <p:cNvGrpSpPr/>
            <p:nvPr/>
          </p:nvGrpSpPr>
          <p:grpSpPr>
            <a:xfrm>
              <a:off x="7381842" y="949388"/>
              <a:ext cx="4136759" cy="2029789"/>
              <a:chOff x="7381842" y="949388"/>
              <a:chExt cx="4136759" cy="2029789"/>
            </a:xfrm>
          </p:grpSpPr>
          <p:grpSp>
            <p:nvGrpSpPr>
              <p:cNvPr id="21" name="群組 20">
                <a:extLst>
                  <a:ext uri="{FF2B5EF4-FFF2-40B4-BE49-F238E27FC236}">
                    <a16:creationId xmlns:a16="http://schemas.microsoft.com/office/drawing/2014/main" id="{6715CF6A-402B-4407-8EF7-9D9DFBD64E3E}"/>
                  </a:ext>
                </a:extLst>
              </p:cNvPr>
              <p:cNvGrpSpPr/>
              <p:nvPr/>
            </p:nvGrpSpPr>
            <p:grpSpPr>
              <a:xfrm>
                <a:off x="7381842" y="949388"/>
                <a:ext cx="4001596" cy="2029789"/>
                <a:chOff x="7381842" y="949388"/>
                <a:chExt cx="4001596" cy="2029789"/>
              </a:xfrm>
            </p:grpSpPr>
            <p:pic>
              <p:nvPicPr>
                <p:cNvPr id="6" name="圖片 5">
                  <a:extLst>
                    <a:ext uri="{FF2B5EF4-FFF2-40B4-BE49-F238E27FC236}">
                      <a16:creationId xmlns:a16="http://schemas.microsoft.com/office/drawing/2014/main" id="{33CCD460-CA6E-4B47-B8F6-67AC601EC62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619688" y="1120704"/>
                  <a:ext cx="3761022" cy="1668616"/>
                </a:xfrm>
                <a:prstGeom prst="rect">
                  <a:avLst/>
                </a:prstGeom>
              </p:spPr>
            </p:pic>
            <p:grpSp>
              <p:nvGrpSpPr>
                <p:cNvPr id="13" name="群組 12">
                  <a:extLst>
                    <a:ext uri="{FF2B5EF4-FFF2-40B4-BE49-F238E27FC236}">
                      <a16:creationId xmlns:a16="http://schemas.microsoft.com/office/drawing/2014/main" id="{23F78EBC-70AE-46C7-8747-578090779B11}"/>
                    </a:ext>
                  </a:extLst>
                </p:cNvPr>
                <p:cNvGrpSpPr/>
                <p:nvPr/>
              </p:nvGrpSpPr>
              <p:grpSpPr>
                <a:xfrm>
                  <a:off x="7381842" y="949388"/>
                  <a:ext cx="4001596" cy="2029789"/>
                  <a:chOff x="6916509" y="812253"/>
                  <a:chExt cx="4367353" cy="2204294"/>
                </a:xfrm>
              </p:grpSpPr>
              <p:grpSp>
                <p:nvGrpSpPr>
                  <p:cNvPr id="12" name="群組 11">
                    <a:extLst>
                      <a:ext uri="{FF2B5EF4-FFF2-40B4-BE49-F238E27FC236}">
                        <a16:creationId xmlns:a16="http://schemas.microsoft.com/office/drawing/2014/main" id="{11A70DA8-E9B0-420E-B026-CEFC7B78C7F4}"/>
                      </a:ext>
                    </a:extLst>
                  </p:cNvPr>
                  <p:cNvGrpSpPr/>
                  <p:nvPr/>
                </p:nvGrpSpPr>
                <p:grpSpPr>
                  <a:xfrm>
                    <a:off x="6916509" y="812253"/>
                    <a:ext cx="4367353" cy="2204294"/>
                    <a:chOff x="6916509" y="812253"/>
                    <a:chExt cx="4367353" cy="2204294"/>
                  </a:xfrm>
                </p:grpSpPr>
                <p:sp>
                  <p:nvSpPr>
                    <p:cNvPr id="3" name="矩形 2">
                      <a:extLst>
                        <a:ext uri="{FF2B5EF4-FFF2-40B4-BE49-F238E27FC236}">
                          <a16:creationId xmlns:a16="http://schemas.microsoft.com/office/drawing/2014/main" id="{FB7DEFC0-C83A-40F7-A246-1F3C181E9589}"/>
                        </a:ext>
                      </a:extLst>
                    </p:cNvPr>
                    <p:cNvSpPr/>
                    <p:nvPr/>
                  </p:nvSpPr>
                  <p:spPr>
                    <a:xfrm>
                      <a:off x="8869295" y="1730429"/>
                      <a:ext cx="381137"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563B98D0-02FC-439F-AE72-8BAD0770C69D}"/>
                        </a:ext>
                      </a:extLst>
                    </p:cNvPr>
                    <p:cNvSpPr/>
                    <p:nvPr/>
                  </p:nvSpPr>
                  <p:spPr>
                    <a:xfrm>
                      <a:off x="7944187" y="812253"/>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C8494D76-B74B-4484-B710-DEA0CE05DEF5}"/>
                        </a:ext>
                      </a:extLst>
                    </p:cNvPr>
                    <p:cNvSpPr/>
                    <p:nvPr/>
                  </p:nvSpPr>
                  <p:spPr>
                    <a:xfrm>
                      <a:off x="6916509" y="1762948"/>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a:extLst>
                        <a:ext uri="{FF2B5EF4-FFF2-40B4-BE49-F238E27FC236}">
                          <a16:creationId xmlns:a16="http://schemas.microsoft.com/office/drawing/2014/main" id="{1A688309-ECAA-470D-BE33-2A7B523A5D69}"/>
                        </a:ext>
                      </a:extLst>
                    </p:cNvPr>
                    <p:cNvSpPr/>
                    <p:nvPr/>
                  </p:nvSpPr>
                  <p:spPr>
                    <a:xfrm>
                      <a:off x="7933529"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D51C8839-26B5-4A4C-881B-A322C2415EDE}"/>
                        </a:ext>
                      </a:extLst>
                    </p:cNvPr>
                    <p:cNvSpPr/>
                    <p:nvPr/>
                  </p:nvSpPr>
                  <p:spPr>
                    <a:xfrm>
                      <a:off x="9779728" y="921932"/>
                      <a:ext cx="453262" cy="2400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8F0B43A3-93E1-4BD2-B103-10B5D89BA837}"/>
                        </a:ext>
                      </a:extLst>
                    </p:cNvPr>
                    <p:cNvSpPr/>
                    <p:nvPr/>
                  </p:nvSpPr>
                  <p:spPr>
                    <a:xfrm>
                      <a:off x="11168543" y="1646527"/>
                      <a:ext cx="115319" cy="594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8FA6A81E-4DAC-4EAA-8C02-C230117F7CEF}"/>
                        </a:ext>
                      </a:extLst>
                    </p:cNvPr>
                    <p:cNvSpPr/>
                    <p:nvPr/>
                  </p:nvSpPr>
                  <p:spPr>
                    <a:xfrm>
                      <a:off x="9757220" y="2671674"/>
                      <a:ext cx="453262" cy="3448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9" name="文字方塊 38">
                    <a:extLst>
                      <a:ext uri="{FF2B5EF4-FFF2-40B4-BE49-F238E27FC236}">
                        <a16:creationId xmlns:a16="http://schemas.microsoft.com/office/drawing/2014/main" id="{6FEFB949-8C79-4170-A169-EF49AF40D4C6}"/>
                      </a:ext>
                    </a:extLst>
                  </p:cNvPr>
                  <p:cNvSpPr txBox="1"/>
                  <p:nvPr/>
                </p:nvSpPr>
                <p:spPr>
                  <a:xfrm>
                    <a:off x="7927916" y="81899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743B2967-29F8-465B-B884-7228C5279B20}"/>
                      </a:ext>
                    </a:extLst>
                  </p:cNvPr>
                  <p:cNvSpPr txBox="1"/>
                  <p:nvPr/>
                </p:nvSpPr>
                <p:spPr>
                  <a:xfrm>
                    <a:off x="6952687" y="159070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04FD0DA2-53F6-40AD-A52B-DDA949A6354B}"/>
                      </a:ext>
                    </a:extLst>
                  </p:cNvPr>
                  <p:cNvSpPr txBox="1"/>
                  <p:nvPr/>
                </p:nvSpPr>
                <p:spPr>
                  <a:xfrm>
                    <a:off x="7839757" y="265647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4" name="文字方塊 43">
                    <a:extLst>
                      <a:ext uri="{FF2B5EF4-FFF2-40B4-BE49-F238E27FC236}">
                        <a16:creationId xmlns:a16="http://schemas.microsoft.com/office/drawing/2014/main" id="{7D1CD685-DE49-4892-B90B-9A309ED5300B}"/>
                      </a:ext>
                    </a:extLst>
                  </p:cNvPr>
                  <p:cNvSpPr txBox="1"/>
                  <p:nvPr/>
                </p:nvSpPr>
                <p:spPr>
                  <a:xfrm>
                    <a:off x="9757220" y="83881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5" name="文字方塊 44">
                    <a:extLst>
                      <a:ext uri="{FF2B5EF4-FFF2-40B4-BE49-F238E27FC236}">
                        <a16:creationId xmlns:a16="http://schemas.microsoft.com/office/drawing/2014/main" id="{5F8EF116-F605-404F-A7E7-4CC8EFAD1CDA}"/>
                      </a:ext>
                    </a:extLst>
                  </p:cNvPr>
                  <p:cNvSpPr txBox="1"/>
                  <p:nvPr/>
                </p:nvSpPr>
                <p:spPr>
                  <a:xfrm>
                    <a:off x="9803023" y="262822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8" name="文字方塊 57">
                    <a:extLst>
                      <a:ext uri="{FF2B5EF4-FFF2-40B4-BE49-F238E27FC236}">
                        <a16:creationId xmlns:a16="http://schemas.microsoft.com/office/drawing/2014/main" id="{ACA22AB4-DD5C-44F2-9B94-A855DA63B72F}"/>
                      </a:ext>
                    </a:extLst>
                  </p:cNvPr>
                  <p:cNvSpPr txBox="1"/>
                  <p:nvPr/>
                </p:nvSpPr>
                <p:spPr>
                  <a:xfrm>
                    <a:off x="8798075" y="185303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9" name="文字方塊 58">
                    <a:extLst>
                      <a:ext uri="{FF2B5EF4-FFF2-40B4-BE49-F238E27FC236}">
                        <a16:creationId xmlns:a16="http://schemas.microsoft.com/office/drawing/2014/main" id="{06C8698D-9F77-4BB8-BE90-EEA0504474EC}"/>
                      </a:ext>
                    </a:extLst>
                  </p:cNvPr>
                  <p:cNvSpPr txBox="1"/>
                  <p:nvPr/>
                </p:nvSpPr>
                <p:spPr>
                  <a:xfrm>
                    <a:off x="8882307" y="158705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60" name="文字方塊 59">
                    <a:extLst>
                      <a:ext uri="{FF2B5EF4-FFF2-40B4-BE49-F238E27FC236}">
                        <a16:creationId xmlns:a16="http://schemas.microsoft.com/office/drawing/2014/main" id="{663B200D-D195-4F6F-8D2E-3E58C9C0B9EF}"/>
                      </a:ext>
                    </a:extLst>
                  </p:cNvPr>
                  <p:cNvSpPr txBox="1"/>
                  <p:nvPr/>
                </p:nvSpPr>
                <p:spPr>
                  <a:xfrm>
                    <a:off x="10650614" y="189874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68" name="文字方塊 67">
                    <a:extLst>
                      <a:ext uri="{FF2B5EF4-FFF2-40B4-BE49-F238E27FC236}">
                        <a16:creationId xmlns:a16="http://schemas.microsoft.com/office/drawing/2014/main" id="{FDCD1978-ED03-4D2E-A663-567F5C2F0DC3}"/>
                      </a:ext>
                    </a:extLst>
                  </p:cNvPr>
                  <p:cNvSpPr txBox="1"/>
                  <p:nvPr/>
                </p:nvSpPr>
                <p:spPr>
                  <a:xfrm rot="16200000">
                    <a:off x="10498456" y="1764783"/>
                    <a:ext cx="1778680" cy="261610"/>
                  </a:xfrm>
                  <a:prstGeom prst="rect">
                    <a:avLst/>
                  </a:prstGeom>
                  <a:noFill/>
                </p:spPr>
                <p:txBody>
                  <a:bodyPr wrap="square">
                    <a:spAutoFit/>
                  </a:bodyPr>
                  <a:lstStyle/>
                  <a:p>
                    <a:r>
                      <a:rPr lang="en-US" altLang="zh-TW" sz="11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100" b="0" i="0" smtClean="0">
                            <a:latin typeface="Cambria Math" panose="02040503050406030204" pitchFamily="18" charset="0"/>
                          </a:rPr>
                          <m:t>(</m:t>
                        </m:r>
                        <m:f>
                          <m:fPr>
                            <m:type m:val="lin"/>
                            <m:ctrlPr>
                              <a:rPr lang="en-US" altLang="zh-TW" sz="1100" i="1" smtClean="0">
                                <a:latin typeface="Cambria Math" panose="02040503050406030204" pitchFamily="18" charset="0"/>
                              </a:rPr>
                            </m:ctrlPr>
                          </m:fPr>
                          <m:num>
                            <m:r>
                              <a:rPr lang="en-US" altLang="zh-TW" sz="1100" b="0" i="1" smtClean="0">
                                <a:latin typeface="Cambria Math" panose="02040503050406030204" pitchFamily="18" charset="0"/>
                              </a:rPr>
                              <m:t>𝑚𝑇</m:t>
                            </m:r>
                          </m:num>
                          <m:den>
                            <m:r>
                              <a:rPr lang="en-US" altLang="zh-TW" sz="1100" b="0" i="1" smtClean="0">
                                <a:latin typeface="Cambria Math" panose="02040503050406030204" pitchFamily="18" charset="0"/>
                              </a:rPr>
                              <m:t>𝐴</m:t>
                            </m:r>
                          </m:den>
                        </m:f>
                        <m:r>
                          <a:rPr lang="en-US" altLang="zh-TW" sz="1100" b="0" i="1" smtClean="0">
                            <a:latin typeface="Cambria Math" panose="02040503050406030204" pitchFamily="18" charset="0"/>
                          </a:rPr>
                          <m:t>)</m:t>
                        </m:r>
                      </m:oMath>
                    </a14:m>
                    <a:endParaRPr lang="zh-TW" altLang="en-US" sz="1100" dirty="0">
                      <a:latin typeface="Times New Roman" panose="02020603050405020304" pitchFamily="18" charset="0"/>
                      <a:cs typeface="Times New Roman" panose="02020603050405020304" pitchFamily="18" charset="0"/>
                    </a:endParaRPr>
                  </a:p>
                </p:txBody>
              </p:sp>
            </mc:Choice>
            <mc:Fallback xmlns="">
              <p:sp>
                <p:nvSpPr>
                  <p:cNvPr id="68" name="文字方塊 67">
                    <a:extLst>
                      <a:ext uri="{FF2B5EF4-FFF2-40B4-BE49-F238E27FC236}">
                        <a16:creationId xmlns:a16="http://schemas.microsoft.com/office/drawing/2014/main" id="{FDCD1978-ED03-4D2E-A663-567F5C2F0DC3}"/>
                      </a:ext>
                    </a:extLst>
                  </p:cNvPr>
                  <p:cNvSpPr txBox="1">
                    <a:spLocks noRot="1" noChangeAspect="1" noMove="1" noResize="1" noEditPoints="1" noAdjustHandles="1" noChangeArrowheads="1" noChangeShapeType="1" noTextEdit="1"/>
                  </p:cNvSpPr>
                  <p:nvPr/>
                </p:nvSpPr>
                <p:spPr>
                  <a:xfrm rot="16200000">
                    <a:off x="10498456" y="1764783"/>
                    <a:ext cx="1778680" cy="261610"/>
                  </a:xfrm>
                  <a:prstGeom prst="rect">
                    <a:avLst/>
                  </a:prstGeom>
                  <a:blipFill>
                    <a:blip r:embed="rId23"/>
                    <a:stretch>
                      <a:fillRect l="-88372" t="-8219" r="-139535"/>
                    </a:stretch>
                  </a:blipFill>
                </p:spPr>
                <p:txBody>
                  <a:bodyPr/>
                  <a:lstStyle/>
                  <a:p>
                    <a:r>
                      <a:rPr lang="zh-TW" altLang="en-US">
                        <a:noFill/>
                      </a:rPr>
                      <a:t> </a:t>
                    </a:r>
                  </a:p>
                </p:txBody>
              </p:sp>
            </mc:Fallback>
          </mc:AlternateContent>
        </p:grpSp>
        <p:sp>
          <p:nvSpPr>
            <p:cNvPr id="8" name="矩形 7">
              <a:extLst>
                <a:ext uri="{FF2B5EF4-FFF2-40B4-BE49-F238E27FC236}">
                  <a16:creationId xmlns:a16="http://schemas.microsoft.com/office/drawing/2014/main" id="{849BAE9E-D189-4604-A92F-5D7B07DC007B}"/>
                </a:ext>
              </a:extLst>
            </p:cNvPr>
            <p:cNvSpPr/>
            <p:nvPr/>
          </p:nvSpPr>
          <p:spPr>
            <a:xfrm>
              <a:off x="10881931" y="1824820"/>
              <a:ext cx="159369" cy="1907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958255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51683" y="525777"/>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136130" y="85709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5CE909AB-7F0B-4394-A735-F542BEB3695B}"/>
                  </a:ext>
                </a:extLst>
              </p:cNvPr>
              <p:cNvSpPr txBox="1"/>
              <p:nvPr/>
            </p:nvSpPr>
            <p:spPr>
              <a:xfrm>
                <a:off x="103410" y="975445"/>
                <a:ext cx="6096410" cy="4247317"/>
              </a:xfrm>
              <a:prstGeom prst="rect">
                <a:avLst/>
              </a:prstGeom>
              <a:noFill/>
            </p:spPr>
            <p:txBody>
              <a:bodyPr wrap="square">
                <a:spAutoFit/>
              </a:bodyPr>
              <a:lstStyle/>
              <a:p>
                <a:pPr marL="285750" indent="-285750">
                  <a:buFont typeface="Arial" panose="020B0604020202020204" pitchFamily="34" charset="0"/>
                  <a:buChar char="•"/>
                </a:pPr>
                <a:r>
                  <a:rPr lang="en-US" altLang="zh-TW" dirty="0"/>
                  <a:t>The same gap calibration, now mapping isotropy κ = σ₃/σ₁ on a </a:t>
                </a:r>
                <a:r>
                  <a:rPr lang="en-US" altLang="zh-TW" dirty="0" err="1"/>
                  <a:t>colour</a:t>
                </a:r>
                <a:r>
                  <a:rPr lang="en-US" altLang="zh-TW" dirty="0"/>
                  <a:t> scale of 0–0.8, over the same evaluation range as the previous slide.</a:t>
                </a:r>
              </a:p>
              <a:p>
                <a:pPr marL="285750" indent="-285750">
                  <a:buFont typeface="Arial" panose="020B0604020202020204" pitchFamily="34" charset="0"/>
                  <a:buChar char="•"/>
                </a:pPr>
                <a:endParaRPr lang="en-US" altLang="zh-TW" dirty="0"/>
              </a:p>
              <a:p>
                <a:pPr marL="285750" indent="-285750">
                  <a:buFont typeface="Arial" panose="020B0604020202020204" pitchFamily="34" charset="0"/>
                  <a:buChar char="•"/>
                </a:pPr>
                <a:r>
                  <a:rPr lang="en-US" altLang="zh-TW" dirty="0"/>
                  <a:t>The isotropy pattern also matches the no-gap case: the high-</a:t>
                </a:r>
                <a14:m>
                  <m:oMath xmlns:m="http://schemas.openxmlformats.org/officeDocument/2006/math">
                    <m:r>
                      <a:rPr lang="zh-TW" altLang="en-US" i="1">
                        <a:latin typeface="Cambria Math" panose="02040503050406030204" pitchFamily="18" charset="0"/>
                      </a:rPr>
                      <m:t>𝜅</m:t>
                    </m:r>
                  </m:oMath>
                </a14:m>
                <a:r>
                  <a:rPr lang="en-US" altLang="zh-TW" dirty="0"/>
                  <a:t> region is again offset from the origin and split into two diagonal lobes, with best values of 0.56–0.61 at roughly 160–215 µm from the </a:t>
                </a:r>
                <a:r>
                  <a:rPr lang="en-US" altLang="zh-TW" dirty="0" err="1"/>
                  <a:t>centre</a:t>
                </a:r>
                <a:r>
                  <a:rPr lang="en-US" altLang="zh-TW" dirty="0"/>
                  <a:t>, while the </a:t>
                </a:r>
                <a:r>
                  <a:rPr lang="en-US" altLang="zh-TW" dirty="0" err="1"/>
                  <a:t>centre</a:t>
                </a:r>
                <a:r>
                  <a:rPr lang="en-US" altLang="zh-TW" dirty="0"/>
                  <a:t> itself is 0.46; the rim falls to 0.06–0.27, lowest along the pole directions. Compared with the no-gap design, </a:t>
                </a:r>
                <a14:m>
                  <m:oMath xmlns:m="http://schemas.openxmlformats.org/officeDocument/2006/math">
                    <m:r>
                      <a:rPr lang="zh-TW" altLang="en-US" i="1" smtClean="0">
                        <a:latin typeface="Cambria Math" panose="02040503050406030204" pitchFamily="18" charset="0"/>
                      </a:rPr>
                      <m:t>𝜅</m:t>
                    </m:r>
                  </m:oMath>
                </a14:m>
                <a:r>
                  <a:rPr lang="en-US" altLang="zh-TW" dirty="0"/>
                  <a:t> is slightly lower everywhere</a:t>
                </a:r>
                <a:r>
                  <a:rPr lang="zh-TW" altLang="en-US" dirty="0"/>
                  <a:t> </a:t>
                </a:r>
                <a:r>
                  <a:rPr lang="en-US" altLang="zh-TW" dirty="0"/>
                  <a:t>and the bright lobes sit a little further out. The gap's main cost therefore remains the gain, which drops to 0.61×, while isotropy degrades only modestly and the characteristic that the best-conditioned point is not the origin is unchanged.</a:t>
                </a:r>
                <a:endParaRPr lang="zh-TW" altLang="en-US" dirty="0"/>
              </a:p>
            </p:txBody>
          </p:sp>
        </mc:Choice>
        <mc:Fallback xmlns="">
          <p:sp>
            <p:nvSpPr>
              <p:cNvPr id="13" name="文字方塊 12">
                <a:extLst>
                  <a:ext uri="{FF2B5EF4-FFF2-40B4-BE49-F238E27FC236}">
                    <a16:creationId xmlns:a16="http://schemas.microsoft.com/office/drawing/2014/main" id="{5CE909AB-7F0B-4394-A735-F542BEB3695B}"/>
                  </a:ext>
                </a:extLst>
              </p:cNvPr>
              <p:cNvSpPr txBox="1">
                <a:spLocks noRot="1" noChangeAspect="1" noMove="1" noResize="1" noEditPoints="1" noAdjustHandles="1" noChangeArrowheads="1" noChangeShapeType="1" noTextEdit="1"/>
              </p:cNvSpPr>
              <p:nvPr/>
            </p:nvSpPr>
            <p:spPr>
              <a:xfrm>
                <a:off x="103410" y="975445"/>
                <a:ext cx="6096410" cy="4247317"/>
              </a:xfrm>
              <a:prstGeom prst="rect">
                <a:avLst/>
              </a:prstGeom>
              <a:blipFill>
                <a:blip r:embed="rId2"/>
                <a:stretch>
                  <a:fillRect l="-700" t="-717" r="-700" b="-1291"/>
                </a:stretch>
              </a:blipFill>
            </p:spPr>
            <p:txBody>
              <a:bodyPr/>
              <a:lstStyle/>
              <a:p>
                <a:r>
                  <a:rPr lang="zh-TW" altLang="en-US">
                    <a:noFill/>
                  </a:rPr>
                  <a:t> </a:t>
                </a:r>
              </a:p>
            </p:txBody>
          </p:sp>
        </mc:Fallback>
      </mc:AlternateContent>
      <p:sp>
        <p:nvSpPr>
          <p:cNvPr id="58" name="文字方塊 57">
            <a:extLst>
              <a:ext uri="{FF2B5EF4-FFF2-40B4-BE49-F238E27FC236}">
                <a16:creationId xmlns:a16="http://schemas.microsoft.com/office/drawing/2014/main" id="{52EAC0FC-7EF6-4007-A77D-33D382D23C97}"/>
              </a:ext>
            </a:extLst>
          </p:cNvPr>
          <p:cNvSpPr txBox="1"/>
          <p:nvPr/>
        </p:nvSpPr>
        <p:spPr>
          <a:xfrm>
            <a:off x="61294" y="517229"/>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r>
              <a:rPr lang="en-US" altLang="zh-TW" dirty="0"/>
              <a:t>(Have gap)</a:t>
            </a:r>
            <a:endParaRPr lang="zh-TW" altLang="en-US" dirty="0"/>
          </a:p>
        </p:txBody>
      </p:sp>
      <p:sp>
        <p:nvSpPr>
          <p:cNvPr id="59" name="矩形 58">
            <a:extLst>
              <a:ext uri="{FF2B5EF4-FFF2-40B4-BE49-F238E27FC236}">
                <a16:creationId xmlns:a16="http://schemas.microsoft.com/office/drawing/2014/main" id="{05CABD0C-4D83-45AC-A1FD-250739AAD28E}"/>
              </a:ext>
            </a:extLst>
          </p:cNvPr>
          <p:cNvSpPr/>
          <p:nvPr/>
        </p:nvSpPr>
        <p:spPr>
          <a:xfrm>
            <a:off x="7011272" y="1805592"/>
            <a:ext cx="420647"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p:nvGrpSpPr>
          <p:cNvPr id="6" name="群組 5">
            <a:extLst>
              <a:ext uri="{FF2B5EF4-FFF2-40B4-BE49-F238E27FC236}">
                <a16:creationId xmlns:a16="http://schemas.microsoft.com/office/drawing/2014/main" id="{D8037E4F-2ADC-4747-9330-7C2E826DFFE2}"/>
              </a:ext>
            </a:extLst>
          </p:cNvPr>
          <p:cNvGrpSpPr/>
          <p:nvPr/>
        </p:nvGrpSpPr>
        <p:grpSpPr>
          <a:xfrm>
            <a:off x="7773738" y="3337112"/>
            <a:ext cx="3023508" cy="2346299"/>
            <a:chOff x="7773738" y="3337112"/>
            <a:chExt cx="3023508" cy="2346299"/>
          </a:xfrm>
        </p:grpSpPr>
        <p:grpSp>
          <p:nvGrpSpPr>
            <p:cNvPr id="31" name="群組 30">
              <a:extLst>
                <a:ext uri="{FF2B5EF4-FFF2-40B4-BE49-F238E27FC236}">
                  <a16:creationId xmlns:a16="http://schemas.microsoft.com/office/drawing/2014/main" id="{00DD4D76-94C7-43B3-BD5A-7416B9FCBEE2}"/>
                </a:ext>
              </a:extLst>
            </p:cNvPr>
            <p:cNvGrpSpPr/>
            <p:nvPr/>
          </p:nvGrpSpPr>
          <p:grpSpPr>
            <a:xfrm>
              <a:off x="7773738" y="3337112"/>
              <a:ext cx="3010687" cy="2346299"/>
              <a:chOff x="7773738" y="3337112"/>
              <a:chExt cx="3010687" cy="2346299"/>
            </a:xfrm>
          </p:grpSpPr>
          <p:pic>
            <p:nvPicPr>
              <p:cNvPr id="5" name="圖片 4">
                <a:extLst>
                  <a:ext uri="{FF2B5EF4-FFF2-40B4-BE49-F238E27FC236}">
                    <a16:creationId xmlns:a16="http://schemas.microsoft.com/office/drawing/2014/main" id="{80B2F8DF-1196-41EE-AB30-C2989B614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71064" y="3440114"/>
                <a:ext cx="2650440" cy="2143738"/>
              </a:xfrm>
              <a:prstGeom prst="rect">
                <a:avLst/>
              </a:prstGeom>
            </p:spPr>
          </p:pic>
          <p:grpSp>
            <p:nvGrpSpPr>
              <p:cNvPr id="11" name="群組 10">
                <a:extLst>
                  <a:ext uri="{FF2B5EF4-FFF2-40B4-BE49-F238E27FC236}">
                    <a16:creationId xmlns:a16="http://schemas.microsoft.com/office/drawing/2014/main" id="{FC25E01C-03E8-4714-B671-9402B31C7C8D}"/>
                  </a:ext>
                </a:extLst>
              </p:cNvPr>
              <p:cNvGrpSpPr/>
              <p:nvPr/>
            </p:nvGrpSpPr>
            <p:grpSpPr>
              <a:xfrm>
                <a:off x="7773738" y="3337112"/>
                <a:ext cx="3010687" cy="2346299"/>
                <a:chOff x="7773738" y="3337112"/>
                <a:chExt cx="3010687" cy="2346299"/>
              </a:xfrm>
            </p:grpSpPr>
            <p:grpSp>
              <p:nvGrpSpPr>
                <p:cNvPr id="10" name="群組 9">
                  <a:extLst>
                    <a:ext uri="{FF2B5EF4-FFF2-40B4-BE49-F238E27FC236}">
                      <a16:creationId xmlns:a16="http://schemas.microsoft.com/office/drawing/2014/main" id="{5882E288-83CB-4429-9376-16291456A531}"/>
                    </a:ext>
                  </a:extLst>
                </p:cNvPr>
                <p:cNvGrpSpPr/>
                <p:nvPr/>
              </p:nvGrpSpPr>
              <p:grpSpPr>
                <a:xfrm>
                  <a:off x="7949210" y="3440846"/>
                  <a:ext cx="2835215" cy="2178723"/>
                  <a:chOff x="7949210" y="3440846"/>
                  <a:chExt cx="2835215" cy="2178723"/>
                </a:xfrm>
              </p:grpSpPr>
              <p:sp>
                <p:nvSpPr>
                  <p:cNvPr id="22" name="矩形 21">
                    <a:extLst>
                      <a:ext uri="{FF2B5EF4-FFF2-40B4-BE49-F238E27FC236}">
                        <a16:creationId xmlns:a16="http://schemas.microsoft.com/office/drawing/2014/main" id="{B0183DDC-6CF5-43DD-A985-8AACBD43AC2C}"/>
                      </a:ext>
                    </a:extLst>
                  </p:cNvPr>
                  <p:cNvSpPr/>
                  <p:nvPr/>
                </p:nvSpPr>
                <p:spPr>
                  <a:xfrm>
                    <a:off x="8967777" y="344084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DCC76607-AC9C-44A9-927A-CBCCDEFF1E7E}"/>
                      </a:ext>
                    </a:extLst>
                  </p:cNvPr>
                  <p:cNvSpPr/>
                  <p:nvPr/>
                </p:nvSpPr>
                <p:spPr>
                  <a:xfrm>
                    <a:off x="7949210" y="4432986"/>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a:extLst>
                      <a:ext uri="{FF2B5EF4-FFF2-40B4-BE49-F238E27FC236}">
                        <a16:creationId xmlns:a16="http://schemas.microsoft.com/office/drawing/2014/main" id="{FE682C27-A024-41A5-B374-05289C829835}"/>
                      </a:ext>
                    </a:extLst>
                  </p:cNvPr>
                  <p:cNvSpPr/>
                  <p:nvPr/>
                </p:nvSpPr>
                <p:spPr>
                  <a:xfrm>
                    <a:off x="8958928" y="5439477"/>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矩形 24">
                    <a:extLst>
                      <a:ext uri="{FF2B5EF4-FFF2-40B4-BE49-F238E27FC236}">
                        <a16:creationId xmlns:a16="http://schemas.microsoft.com/office/drawing/2014/main" id="{D812B3E4-3553-410A-8F8F-BF0230CBA0B0}"/>
                      </a:ext>
                    </a:extLst>
                  </p:cNvPr>
                  <p:cNvSpPr/>
                  <p:nvPr/>
                </p:nvSpPr>
                <p:spPr>
                  <a:xfrm>
                    <a:off x="9959342" y="442193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a:extLst>
                      <a:ext uri="{FF2B5EF4-FFF2-40B4-BE49-F238E27FC236}">
                        <a16:creationId xmlns:a16="http://schemas.microsoft.com/office/drawing/2014/main" id="{F98E43F1-8F14-47C9-A4BB-94768E7FEABE}"/>
                      </a:ext>
                    </a:extLst>
                  </p:cNvPr>
                  <p:cNvSpPr/>
                  <p:nvPr/>
                </p:nvSpPr>
                <p:spPr>
                  <a:xfrm>
                    <a:off x="10565871" y="4436284"/>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1" name="文字方塊 50">
                  <a:extLst>
                    <a:ext uri="{FF2B5EF4-FFF2-40B4-BE49-F238E27FC236}">
                      <a16:creationId xmlns:a16="http://schemas.microsoft.com/office/drawing/2014/main" id="{E8199158-1BBA-48A4-9C66-85A151EC58AE}"/>
                    </a:ext>
                  </a:extLst>
                </p:cNvPr>
                <p:cNvSpPr txBox="1"/>
                <p:nvPr/>
              </p:nvSpPr>
              <p:spPr>
                <a:xfrm>
                  <a:off x="7773738" y="420420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2" name="文字方塊 51">
                  <a:extLst>
                    <a:ext uri="{FF2B5EF4-FFF2-40B4-BE49-F238E27FC236}">
                      <a16:creationId xmlns:a16="http://schemas.microsoft.com/office/drawing/2014/main" id="{A54BBE8C-0244-4691-BA06-BD15DBED9F7D}"/>
                    </a:ext>
                  </a:extLst>
                </p:cNvPr>
                <p:cNvSpPr txBox="1"/>
                <p:nvPr/>
              </p:nvSpPr>
              <p:spPr>
                <a:xfrm>
                  <a:off x="8854019" y="333711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3" name="文字方塊 52">
                  <a:extLst>
                    <a:ext uri="{FF2B5EF4-FFF2-40B4-BE49-F238E27FC236}">
                      <a16:creationId xmlns:a16="http://schemas.microsoft.com/office/drawing/2014/main" id="{437E939A-A4E2-4DE4-A25F-FE73D7B4D09B}"/>
                    </a:ext>
                  </a:extLst>
                </p:cNvPr>
                <p:cNvSpPr txBox="1"/>
                <p:nvPr/>
              </p:nvSpPr>
              <p:spPr>
                <a:xfrm>
                  <a:off x="8875111" y="5375634"/>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54" name="文字方塊 53">
                  <a:extLst>
                    <a:ext uri="{FF2B5EF4-FFF2-40B4-BE49-F238E27FC236}">
                      <a16:creationId xmlns:a16="http://schemas.microsoft.com/office/drawing/2014/main" id="{AB124178-F659-4087-B362-F501C53AC314}"/>
                    </a:ext>
                  </a:extLst>
                </p:cNvPr>
                <p:cNvSpPr txBox="1"/>
                <p:nvPr/>
              </p:nvSpPr>
              <p:spPr>
                <a:xfrm>
                  <a:off x="9882734" y="4477483"/>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文字方塊 54">
                      <a:extLst>
                        <a:ext uri="{FF2B5EF4-FFF2-40B4-BE49-F238E27FC236}">
                          <a16:creationId xmlns:a16="http://schemas.microsoft.com/office/drawing/2014/main" id="{E0593648-6206-4AA7-8668-795C2DF122C3}"/>
                        </a:ext>
                      </a:extLst>
                    </p:cNvPr>
                    <p:cNvSpPr txBox="1"/>
                    <p:nvPr/>
                  </p:nvSpPr>
                  <p:spPr>
                    <a:xfrm>
                      <a:off x="9275192" y="4490514"/>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5" name="文字方塊 54">
                      <a:extLst>
                        <a:ext uri="{FF2B5EF4-FFF2-40B4-BE49-F238E27FC236}">
                          <a16:creationId xmlns:a16="http://schemas.microsoft.com/office/drawing/2014/main" id="{E0593648-6206-4AA7-8668-795C2DF122C3}"/>
                        </a:ext>
                      </a:extLst>
                    </p:cNvPr>
                    <p:cNvSpPr txBox="1">
                      <a:spLocks noRot="1" noChangeAspect="1" noMove="1" noResize="1" noEditPoints="1" noAdjustHandles="1" noChangeArrowheads="1" noChangeShapeType="1" noTextEdit="1"/>
                    </p:cNvSpPr>
                    <p:nvPr/>
                  </p:nvSpPr>
                  <p:spPr>
                    <a:xfrm>
                      <a:off x="9275192" y="4490514"/>
                      <a:ext cx="332369" cy="307777"/>
                    </a:xfrm>
                    <a:prstGeom prst="rect">
                      <a:avLst/>
                    </a:prstGeom>
                    <a:blipFill>
                      <a:blip r:embed="rId9"/>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6" name="文字方塊 55">
                      <a:extLst>
                        <a:ext uri="{FF2B5EF4-FFF2-40B4-BE49-F238E27FC236}">
                          <a16:creationId xmlns:a16="http://schemas.microsoft.com/office/drawing/2014/main" id="{2CBEC5B6-53B3-4B1C-8C10-12503C16B8D1}"/>
                        </a:ext>
                      </a:extLst>
                    </p:cNvPr>
                    <p:cNvSpPr txBox="1"/>
                    <p:nvPr/>
                  </p:nvSpPr>
                  <p:spPr>
                    <a:xfrm>
                      <a:off x="8769722" y="391303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6" name="文字方塊 55">
                      <a:extLst>
                        <a:ext uri="{FF2B5EF4-FFF2-40B4-BE49-F238E27FC236}">
                          <a16:creationId xmlns:a16="http://schemas.microsoft.com/office/drawing/2014/main" id="{2CBEC5B6-53B3-4B1C-8C10-12503C16B8D1}"/>
                        </a:ext>
                      </a:extLst>
                    </p:cNvPr>
                    <p:cNvSpPr txBox="1">
                      <a:spLocks noRot="1" noChangeAspect="1" noMove="1" noResize="1" noEditPoints="1" noAdjustHandles="1" noChangeArrowheads="1" noChangeShapeType="1" noTextEdit="1"/>
                    </p:cNvSpPr>
                    <p:nvPr/>
                  </p:nvSpPr>
                  <p:spPr>
                    <a:xfrm>
                      <a:off x="8769722" y="3913037"/>
                      <a:ext cx="332369" cy="307777"/>
                    </a:xfrm>
                    <a:prstGeom prst="rect">
                      <a:avLst/>
                    </a:prstGeom>
                    <a:blipFill>
                      <a:blip r:embed="rId10"/>
                      <a:stretch>
                        <a:fillRect/>
                      </a:stretch>
                    </a:blipFill>
                  </p:spPr>
                  <p:txBody>
                    <a:bodyPr/>
                    <a:lstStyle/>
                    <a:p>
                      <a:r>
                        <a:rPr lang="zh-TW" altLang="en-US">
                          <a:noFill/>
                        </a:rPr>
                        <a:t> </a:t>
                      </a:r>
                    </a:p>
                  </p:txBody>
                </p:sp>
              </mc:Fallback>
            </mc:AlternateContent>
          </p:grpSp>
        </p:grpSp>
        <p:sp>
          <p:nvSpPr>
            <p:cNvPr id="61" name="文字方塊 60">
              <a:extLst>
                <a:ext uri="{FF2B5EF4-FFF2-40B4-BE49-F238E27FC236}">
                  <a16:creationId xmlns:a16="http://schemas.microsoft.com/office/drawing/2014/main" id="{F271E463-A918-433C-8B14-13CC3F14F261}"/>
                </a:ext>
              </a:extLst>
            </p:cNvPr>
            <p:cNvSpPr txBox="1"/>
            <p:nvPr/>
          </p:nvSpPr>
          <p:spPr>
            <a:xfrm rot="16200000">
              <a:off x="10215568" y="4268045"/>
              <a:ext cx="855579"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grpSp>
      <p:grpSp>
        <p:nvGrpSpPr>
          <p:cNvPr id="12" name="群組 11">
            <a:extLst>
              <a:ext uri="{FF2B5EF4-FFF2-40B4-BE49-F238E27FC236}">
                <a16:creationId xmlns:a16="http://schemas.microsoft.com/office/drawing/2014/main" id="{0A8D3876-9DDF-4564-865F-8E9B862CC8DB}"/>
              </a:ext>
            </a:extLst>
          </p:cNvPr>
          <p:cNvGrpSpPr/>
          <p:nvPr/>
        </p:nvGrpSpPr>
        <p:grpSpPr>
          <a:xfrm>
            <a:off x="6723479" y="797676"/>
            <a:ext cx="5025081" cy="2191022"/>
            <a:chOff x="6723479" y="797676"/>
            <a:chExt cx="5025081" cy="2191022"/>
          </a:xfrm>
        </p:grpSpPr>
        <p:grpSp>
          <p:nvGrpSpPr>
            <p:cNvPr id="4" name="群組 3">
              <a:extLst>
                <a:ext uri="{FF2B5EF4-FFF2-40B4-BE49-F238E27FC236}">
                  <a16:creationId xmlns:a16="http://schemas.microsoft.com/office/drawing/2014/main" id="{0B77C440-6E33-42D1-9FC6-27DDC7F52C16}"/>
                </a:ext>
              </a:extLst>
            </p:cNvPr>
            <p:cNvGrpSpPr/>
            <p:nvPr/>
          </p:nvGrpSpPr>
          <p:grpSpPr>
            <a:xfrm>
              <a:off x="6723479" y="797676"/>
              <a:ext cx="5025081" cy="2191022"/>
              <a:chOff x="6723479" y="797676"/>
              <a:chExt cx="5025081" cy="2191022"/>
            </a:xfrm>
          </p:grpSpPr>
          <p:grpSp>
            <p:nvGrpSpPr>
              <p:cNvPr id="30" name="群組 29">
                <a:extLst>
                  <a:ext uri="{FF2B5EF4-FFF2-40B4-BE49-F238E27FC236}">
                    <a16:creationId xmlns:a16="http://schemas.microsoft.com/office/drawing/2014/main" id="{94941D83-44BA-4F60-9F48-81F0F57A8353}"/>
                  </a:ext>
                </a:extLst>
              </p:cNvPr>
              <p:cNvGrpSpPr/>
              <p:nvPr/>
            </p:nvGrpSpPr>
            <p:grpSpPr>
              <a:xfrm>
                <a:off x="6723479" y="797676"/>
                <a:ext cx="4998308" cy="2191022"/>
                <a:chOff x="6723479" y="797676"/>
                <a:chExt cx="4998308" cy="2191022"/>
              </a:xfrm>
            </p:grpSpPr>
            <p:pic>
              <p:nvPicPr>
                <p:cNvPr id="27" name="圖片 26">
                  <a:extLst>
                    <a:ext uri="{FF2B5EF4-FFF2-40B4-BE49-F238E27FC236}">
                      <a16:creationId xmlns:a16="http://schemas.microsoft.com/office/drawing/2014/main" id="{00E190EB-3E08-4399-813F-F99EB346768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58666" y="943595"/>
                  <a:ext cx="4321150" cy="1909900"/>
                </a:xfrm>
                <a:prstGeom prst="rect">
                  <a:avLst/>
                </a:prstGeom>
              </p:spPr>
            </p:pic>
            <p:grpSp>
              <p:nvGrpSpPr>
                <p:cNvPr id="9" name="群組 8">
                  <a:extLst>
                    <a:ext uri="{FF2B5EF4-FFF2-40B4-BE49-F238E27FC236}">
                      <a16:creationId xmlns:a16="http://schemas.microsoft.com/office/drawing/2014/main" id="{E0A4D1A0-7FA6-495C-B437-6876730F0155}"/>
                    </a:ext>
                  </a:extLst>
                </p:cNvPr>
                <p:cNvGrpSpPr/>
                <p:nvPr/>
              </p:nvGrpSpPr>
              <p:grpSpPr>
                <a:xfrm>
                  <a:off x="6723479" y="797676"/>
                  <a:ext cx="4998308" cy="2191022"/>
                  <a:chOff x="6723479" y="797676"/>
                  <a:chExt cx="4998308" cy="2191022"/>
                </a:xfrm>
              </p:grpSpPr>
              <p:grpSp>
                <p:nvGrpSpPr>
                  <p:cNvPr id="7" name="群組 6">
                    <a:extLst>
                      <a:ext uri="{FF2B5EF4-FFF2-40B4-BE49-F238E27FC236}">
                        <a16:creationId xmlns:a16="http://schemas.microsoft.com/office/drawing/2014/main" id="{69355053-8531-4B1F-BFAA-AB8A92D0B7EF}"/>
                      </a:ext>
                    </a:extLst>
                  </p:cNvPr>
                  <p:cNvGrpSpPr/>
                  <p:nvPr/>
                </p:nvGrpSpPr>
                <p:grpSpPr>
                  <a:xfrm>
                    <a:off x="6723479" y="797676"/>
                    <a:ext cx="4998308" cy="2093672"/>
                    <a:chOff x="6723479" y="797676"/>
                    <a:chExt cx="4998308" cy="2093672"/>
                  </a:xfrm>
                </p:grpSpPr>
                <p:sp>
                  <p:nvSpPr>
                    <p:cNvPr id="3" name="矩形 2">
                      <a:extLst>
                        <a:ext uri="{FF2B5EF4-FFF2-40B4-BE49-F238E27FC236}">
                          <a16:creationId xmlns:a16="http://schemas.microsoft.com/office/drawing/2014/main" id="{066663A0-2A15-4D43-A779-45D3A4D46AEC}"/>
                        </a:ext>
                      </a:extLst>
                    </p:cNvPr>
                    <p:cNvSpPr/>
                    <p:nvPr/>
                  </p:nvSpPr>
                  <p:spPr>
                    <a:xfrm>
                      <a:off x="7704667" y="797676"/>
                      <a:ext cx="304800" cy="1777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DA1EE470-B38E-431A-BBF5-EB11EA15FCDA}"/>
                        </a:ext>
                      </a:extLst>
                    </p:cNvPr>
                    <p:cNvSpPr/>
                    <p:nvPr/>
                  </p:nvSpPr>
                  <p:spPr>
                    <a:xfrm>
                      <a:off x="8992796" y="1814501"/>
                      <a:ext cx="420647"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 name="矩形 14">
                      <a:extLst>
                        <a:ext uri="{FF2B5EF4-FFF2-40B4-BE49-F238E27FC236}">
                          <a16:creationId xmlns:a16="http://schemas.microsoft.com/office/drawing/2014/main" id="{79BB90AF-E6FA-436F-A46A-20A62593B5EF}"/>
                        </a:ext>
                      </a:extLst>
                    </p:cNvPr>
                    <p:cNvSpPr/>
                    <p:nvPr/>
                  </p:nvSpPr>
                  <p:spPr>
                    <a:xfrm>
                      <a:off x="8053214" y="2701061"/>
                      <a:ext cx="436709" cy="190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B807006A-EF85-4562-98C2-1789A732EE34}"/>
                        </a:ext>
                      </a:extLst>
                    </p:cNvPr>
                    <p:cNvSpPr/>
                    <p:nvPr/>
                  </p:nvSpPr>
                  <p:spPr>
                    <a:xfrm>
                      <a:off x="6723479" y="1814501"/>
                      <a:ext cx="218554"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28576603-9475-47D3-AF98-C00BDEC45B96}"/>
                        </a:ext>
                      </a:extLst>
                    </p:cNvPr>
                    <p:cNvSpPr/>
                    <p:nvPr/>
                  </p:nvSpPr>
                  <p:spPr>
                    <a:xfrm>
                      <a:off x="10010369" y="905580"/>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A54048D2-C0DE-4C4F-9F1E-0693E33DFFB9}"/>
                        </a:ext>
                      </a:extLst>
                    </p:cNvPr>
                    <p:cNvSpPr/>
                    <p:nvPr/>
                  </p:nvSpPr>
                  <p:spPr>
                    <a:xfrm>
                      <a:off x="9986760" y="2701061"/>
                      <a:ext cx="436709" cy="1800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矩形 19">
                      <a:extLst>
                        <a:ext uri="{FF2B5EF4-FFF2-40B4-BE49-F238E27FC236}">
                          <a16:creationId xmlns:a16="http://schemas.microsoft.com/office/drawing/2014/main" id="{FFB2CBE2-454E-49C7-9237-73C780844D5C}"/>
                        </a:ext>
                      </a:extLst>
                    </p:cNvPr>
                    <p:cNvSpPr/>
                    <p:nvPr/>
                  </p:nvSpPr>
                  <p:spPr>
                    <a:xfrm>
                      <a:off x="10985455" y="1728448"/>
                      <a:ext cx="218555" cy="3415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矩形 20">
                      <a:extLst>
                        <a:ext uri="{FF2B5EF4-FFF2-40B4-BE49-F238E27FC236}">
                          <a16:creationId xmlns:a16="http://schemas.microsoft.com/office/drawing/2014/main" id="{91DA95A0-9053-4284-BB4B-6C2D36EDF2D9}"/>
                        </a:ext>
                      </a:extLst>
                    </p:cNvPr>
                    <p:cNvSpPr/>
                    <p:nvPr/>
                  </p:nvSpPr>
                  <p:spPr>
                    <a:xfrm>
                      <a:off x="11503231" y="1683507"/>
                      <a:ext cx="218556" cy="4206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7" name="文字方塊 36">
                    <a:extLst>
                      <a:ext uri="{FF2B5EF4-FFF2-40B4-BE49-F238E27FC236}">
                        <a16:creationId xmlns:a16="http://schemas.microsoft.com/office/drawing/2014/main" id="{C6DD08B8-1F70-4D6A-B6EB-01194B3B2274}"/>
                      </a:ext>
                    </a:extLst>
                  </p:cNvPr>
                  <p:cNvSpPr txBox="1"/>
                  <p:nvPr/>
                </p:nvSpPr>
                <p:spPr>
                  <a:xfrm>
                    <a:off x="7126667" y="157455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8" name="文字方塊 37">
                    <a:extLst>
                      <a:ext uri="{FF2B5EF4-FFF2-40B4-BE49-F238E27FC236}">
                        <a16:creationId xmlns:a16="http://schemas.microsoft.com/office/drawing/2014/main" id="{D60510BD-6D91-4688-AA6E-6524AE41DD60}"/>
                      </a:ext>
                    </a:extLst>
                  </p:cNvPr>
                  <p:cNvSpPr txBox="1"/>
                  <p:nvPr/>
                </p:nvSpPr>
                <p:spPr>
                  <a:xfrm>
                    <a:off x="8103804" y="2668169"/>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9" name="文字方塊 38">
                    <a:extLst>
                      <a:ext uri="{FF2B5EF4-FFF2-40B4-BE49-F238E27FC236}">
                        <a16:creationId xmlns:a16="http://schemas.microsoft.com/office/drawing/2014/main" id="{47191FA6-66B4-4CB7-95ED-5A806F8C41FD}"/>
                      </a:ext>
                    </a:extLst>
                  </p:cNvPr>
                  <p:cNvSpPr txBox="1"/>
                  <p:nvPr/>
                </p:nvSpPr>
                <p:spPr>
                  <a:xfrm>
                    <a:off x="10025905" y="81935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0" name="文字方塊 39">
                    <a:extLst>
                      <a:ext uri="{FF2B5EF4-FFF2-40B4-BE49-F238E27FC236}">
                        <a16:creationId xmlns:a16="http://schemas.microsoft.com/office/drawing/2014/main" id="{23C388AF-48D0-4F28-9422-5BAB6D9C6650}"/>
                      </a:ext>
                    </a:extLst>
                  </p:cNvPr>
                  <p:cNvSpPr txBox="1"/>
                  <p:nvPr/>
                </p:nvSpPr>
                <p:spPr>
                  <a:xfrm>
                    <a:off x="9951706" y="2680921"/>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1" name="文字方塊 40">
                    <a:extLst>
                      <a:ext uri="{FF2B5EF4-FFF2-40B4-BE49-F238E27FC236}">
                        <a16:creationId xmlns:a16="http://schemas.microsoft.com/office/drawing/2014/main" id="{32C205D9-3D4F-4577-BC5D-3EC2B2B28E7D}"/>
                      </a:ext>
                    </a:extLst>
                  </p:cNvPr>
                  <p:cNvSpPr txBox="1"/>
                  <p:nvPr/>
                </p:nvSpPr>
                <p:spPr>
                  <a:xfrm>
                    <a:off x="8938057" y="1866848"/>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2" name="文字方塊 41">
                    <a:extLst>
                      <a:ext uri="{FF2B5EF4-FFF2-40B4-BE49-F238E27FC236}">
                        <a16:creationId xmlns:a16="http://schemas.microsoft.com/office/drawing/2014/main" id="{ACEAA104-E9B9-4896-AF25-12B7240B7E87}"/>
                      </a:ext>
                    </a:extLst>
                  </p:cNvPr>
                  <p:cNvSpPr txBox="1"/>
                  <p:nvPr/>
                </p:nvSpPr>
                <p:spPr>
                  <a:xfrm>
                    <a:off x="9102091" y="162815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43" name="文字方塊 42">
                    <a:extLst>
                      <a:ext uri="{FF2B5EF4-FFF2-40B4-BE49-F238E27FC236}">
                        <a16:creationId xmlns:a16="http://schemas.microsoft.com/office/drawing/2014/main" id="{4463D846-11D2-4909-AC2A-DC12DE06EC64}"/>
                      </a:ext>
                    </a:extLst>
                  </p:cNvPr>
                  <p:cNvSpPr txBox="1"/>
                  <p:nvPr/>
                </p:nvSpPr>
                <p:spPr>
                  <a:xfrm>
                    <a:off x="10897423" y="1821830"/>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4543C79D-C8D4-4070-B22B-57B5E22FB84D}"/>
                          </a:ext>
                        </a:extLst>
                      </p:cNvPr>
                      <p:cNvSpPr txBox="1"/>
                      <p:nvPr/>
                    </p:nvSpPr>
                    <p:spPr>
                      <a:xfrm>
                        <a:off x="8398034" y="1872377"/>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4" name="文字方塊 43">
                        <a:extLst>
                          <a:ext uri="{FF2B5EF4-FFF2-40B4-BE49-F238E27FC236}">
                            <a16:creationId xmlns:a16="http://schemas.microsoft.com/office/drawing/2014/main" id="{4543C79D-C8D4-4070-B22B-57B5E22FB84D}"/>
                          </a:ext>
                        </a:extLst>
                      </p:cNvPr>
                      <p:cNvSpPr txBox="1">
                        <a:spLocks noRot="1" noChangeAspect="1" noMove="1" noResize="1" noEditPoints="1" noAdjustHandles="1" noChangeArrowheads="1" noChangeShapeType="1" noTextEdit="1"/>
                      </p:cNvSpPr>
                      <p:nvPr/>
                    </p:nvSpPr>
                    <p:spPr>
                      <a:xfrm>
                        <a:off x="8398034" y="1872377"/>
                        <a:ext cx="332369" cy="30777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文字方塊 47">
                        <a:extLst>
                          <a:ext uri="{FF2B5EF4-FFF2-40B4-BE49-F238E27FC236}">
                            <a16:creationId xmlns:a16="http://schemas.microsoft.com/office/drawing/2014/main" id="{9CD170C5-141E-4CBF-852E-6A45291E4F7A}"/>
                          </a:ext>
                        </a:extLst>
                      </p:cNvPr>
                      <p:cNvSpPr txBox="1"/>
                      <p:nvPr/>
                    </p:nvSpPr>
                    <p:spPr>
                      <a:xfrm>
                        <a:off x="7843282" y="128670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𝐲</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8" name="文字方塊 47">
                        <a:extLst>
                          <a:ext uri="{FF2B5EF4-FFF2-40B4-BE49-F238E27FC236}">
                            <a16:creationId xmlns:a16="http://schemas.microsoft.com/office/drawing/2014/main" id="{9CD170C5-141E-4CBF-852E-6A45291E4F7A}"/>
                          </a:ext>
                        </a:extLst>
                      </p:cNvPr>
                      <p:cNvSpPr txBox="1">
                        <a:spLocks noRot="1" noChangeAspect="1" noMove="1" noResize="1" noEditPoints="1" noAdjustHandles="1" noChangeArrowheads="1" noChangeShapeType="1" noTextEdit="1"/>
                      </p:cNvSpPr>
                      <p:nvPr/>
                    </p:nvSpPr>
                    <p:spPr>
                      <a:xfrm>
                        <a:off x="7843282" y="1286705"/>
                        <a:ext cx="332369" cy="307777"/>
                      </a:xfrm>
                      <a:prstGeom prst="rect">
                        <a:avLst/>
                      </a:prstGeom>
                      <a:blipFill>
                        <a:blip r:embed="rId6"/>
                        <a:stretch>
                          <a:fillRect b="-196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a:extLst>
                          <a:ext uri="{FF2B5EF4-FFF2-40B4-BE49-F238E27FC236}">
                            <a16:creationId xmlns:a16="http://schemas.microsoft.com/office/drawing/2014/main" id="{97526D06-CC63-4E20-BEDC-AE749A143D8A}"/>
                          </a:ext>
                        </a:extLst>
                      </p:cNvPr>
                      <p:cNvSpPr txBox="1"/>
                      <p:nvPr/>
                    </p:nvSpPr>
                    <p:spPr>
                      <a:xfrm>
                        <a:off x="10380419" y="1849739"/>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𝐱</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49" name="文字方塊 48">
                        <a:extLst>
                          <a:ext uri="{FF2B5EF4-FFF2-40B4-BE49-F238E27FC236}">
                            <a16:creationId xmlns:a16="http://schemas.microsoft.com/office/drawing/2014/main" id="{97526D06-CC63-4E20-BEDC-AE749A143D8A}"/>
                          </a:ext>
                        </a:extLst>
                      </p:cNvPr>
                      <p:cNvSpPr txBox="1">
                        <a:spLocks noRot="1" noChangeAspect="1" noMove="1" noResize="1" noEditPoints="1" noAdjustHandles="1" noChangeArrowheads="1" noChangeShapeType="1" noTextEdit="1"/>
                      </p:cNvSpPr>
                      <p:nvPr/>
                    </p:nvSpPr>
                    <p:spPr>
                      <a:xfrm>
                        <a:off x="10380419" y="1849739"/>
                        <a:ext cx="332369" cy="30777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a:extLst>
                          <a:ext uri="{FF2B5EF4-FFF2-40B4-BE49-F238E27FC236}">
                            <a16:creationId xmlns:a16="http://schemas.microsoft.com/office/drawing/2014/main" id="{E586B4D8-B9B1-456E-9FA7-CFC535F32B8D}"/>
                          </a:ext>
                        </a:extLst>
                      </p:cNvPr>
                      <p:cNvSpPr txBox="1"/>
                      <p:nvPr/>
                    </p:nvSpPr>
                    <p:spPr>
                      <a:xfrm>
                        <a:off x="9902434" y="1263475"/>
                        <a:ext cx="332369"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sz="1400" b="1" i="1" smtClean="0">
                                      <a:solidFill>
                                        <a:schemeClr val="tx1"/>
                                      </a:solidFill>
                                      <a:latin typeface="Cambria Math" panose="02040503050406030204" pitchFamily="18" charset="0"/>
                                      <a:cs typeface="Times New Roman" panose="02020603050405020304" pitchFamily="18" charset="0"/>
                                    </a:rPr>
                                  </m:ctrlPr>
                                </m:sSubPr>
                                <m:e>
                                  <m:r>
                                    <a:rPr lang="en-US" altLang="zh-TW" sz="1400" b="1" i="0" smtClean="0">
                                      <a:solidFill>
                                        <a:schemeClr val="tx1"/>
                                      </a:solidFill>
                                      <a:latin typeface="Cambria Math" panose="02040503050406030204" pitchFamily="18" charset="0"/>
                                      <a:cs typeface="Times New Roman" panose="02020603050405020304" pitchFamily="18" charset="0"/>
                                    </a:rPr>
                                    <m:t>𝐳</m:t>
                                  </m:r>
                                </m:e>
                                <m:sub>
                                  <m:r>
                                    <a:rPr lang="en-US" altLang="zh-TW" sz="1400" b="1" i="0" smtClean="0">
                                      <a:solidFill>
                                        <a:schemeClr val="tx1"/>
                                      </a:solidFill>
                                      <a:latin typeface="Cambria Math" panose="02040503050406030204" pitchFamily="18" charset="0"/>
                                      <a:cs typeface="Times New Roman" panose="02020603050405020304" pitchFamily="18" charset="0"/>
                                    </a:rPr>
                                    <m:t>𝐚</m:t>
                                  </m:r>
                                </m:sub>
                              </m:sSub>
                            </m:oMath>
                          </m:oMathPara>
                        </a14:m>
                        <a:endParaRPr lang="zh-TW" altLang="en-US" sz="1400"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50" name="文字方塊 49">
                        <a:extLst>
                          <a:ext uri="{FF2B5EF4-FFF2-40B4-BE49-F238E27FC236}">
                            <a16:creationId xmlns:a16="http://schemas.microsoft.com/office/drawing/2014/main" id="{E586B4D8-B9B1-456E-9FA7-CFC535F32B8D}"/>
                          </a:ext>
                        </a:extLst>
                      </p:cNvPr>
                      <p:cNvSpPr txBox="1">
                        <a:spLocks noRot="1" noChangeAspect="1" noMove="1" noResize="1" noEditPoints="1" noAdjustHandles="1" noChangeArrowheads="1" noChangeShapeType="1" noTextEdit="1"/>
                      </p:cNvSpPr>
                      <p:nvPr/>
                    </p:nvSpPr>
                    <p:spPr>
                      <a:xfrm>
                        <a:off x="9902434" y="1263475"/>
                        <a:ext cx="332369" cy="307777"/>
                      </a:xfrm>
                      <a:prstGeom prst="rect">
                        <a:avLst/>
                      </a:prstGeom>
                      <a:blipFill>
                        <a:blip r:embed="rId7"/>
                        <a:stretch>
                          <a:fillRect/>
                        </a:stretch>
                      </a:blipFill>
                    </p:spPr>
                    <p:txBody>
                      <a:bodyPr/>
                      <a:lstStyle/>
                      <a:p>
                        <a:r>
                          <a:rPr lang="zh-TW" altLang="en-US">
                            <a:noFill/>
                          </a:rPr>
                          <a:t> </a:t>
                        </a:r>
                      </a:p>
                    </p:txBody>
                  </p:sp>
                </mc:Fallback>
              </mc:AlternateContent>
              <p:sp>
                <p:nvSpPr>
                  <p:cNvPr id="36" name="文字方塊 35">
                    <a:extLst>
                      <a:ext uri="{FF2B5EF4-FFF2-40B4-BE49-F238E27FC236}">
                        <a16:creationId xmlns:a16="http://schemas.microsoft.com/office/drawing/2014/main" id="{46D7EB7F-B437-4C1E-8C67-E972B568E642}"/>
                      </a:ext>
                    </a:extLst>
                  </p:cNvPr>
                  <p:cNvSpPr txBox="1"/>
                  <p:nvPr/>
                </p:nvSpPr>
                <p:spPr>
                  <a:xfrm>
                    <a:off x="8034820" y="865202"/>
                    <a:ext cx="42117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sp>
            <p:nvSpPr>
              <p:cNvPr id="60" name="文字方塊 59">
                <a:extLst>
                  <a:ext uri="{FF2B5EF4-FFF2-40B4-BE49-F238E27FC236}">
                    <a16:creationId xmlns:a16="http://schemas.microsoft.com/office/drawing/2014/main" id="{9D14D22C-AFFC-480B-B617-A785F410E068}"/>
                  </a:ext>
                </a:extLst>
              </p:cNvPr>
              <p:cNvSpPr txBox="1"/>
              <p:nvPr/>
            </p:nvSpPr>
            <p:spPr>
              <a:xfrm rot="16200000">
                <a:off x="11166882" y="1642864"/>
                <a:ext cx="855579"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Isotropy</a:t>
                </a:r>
                <a:endParaRPr lang="zh-TW" altLang="en-US" sz="1400" dirty="0">
                  <a:latin typeface="Times New Roman" panose="02020603050405020304" pitchFamily="18" charset="0"/>
                  <a:cs typeface="Times New Roman" panose="02020603050405020304" pitchFamily="18" charset="0"/>
                </a:endParaRPr>
              </a:p>
            </p:txBody>
          </p:sp>
        </p:grpSp>
        <p:sp>
          <p:nvSpPr>
            <p:cNvPr id="8" name="矩形 7">
              <a:extLst>
                <a:ext uri="{FF2B5EF4-FFF2-40B4-BE49-F238E27FC236}">
                  <a16:creationId xmlns:a16="http://schemas.microsoft.com/office/drawing/2014/main" id="{88FECF90-2F55-4E55-AE24-9985228C9BA3}"/>
                </a:ext>
              </a:extLst>
            </p:cNvPr>
            <p:cNvSpPr/>
            <p:nvPr/>
          </p:nvSpPr>
          <p:spPr>
            <a:xfrm>
              <a:off x="7230062" y="1824338"/>
              <a:ext cx="167593" cy="173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3693383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563063190"/>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11</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22</m:t>
                                    </m:r>
                                  </m:sub>
                                </m:sSub>
                              </m:oMath>
                            </m:oMathPara>
                          </a14:m>
                          <a:endParaRPr lang="zh-TW" alt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𝜎</m:t>
                                    </m:r>
                                  </m:e>
                                  <m:sub>
                                    <m:r>
                                      <a:rPr lang="en-US" altLang="zh-TW" b="0" i="1" smtClean="0">
                                        <a:latin typeface="Cambria Math" panose="02040503050406030204" pitchFamily="18" charset="0"/>
                                      </a:rPr>
                                      <m:t>33</m:t>
                                    </m:r>
                                  </m:sub>
                                </m:sSub>
                              </m:oMath>
                            </m:oMathPara>
                          </a14:m>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32.34</a:t>
                          </a:r>
                          <a:endParaRPr lang="zh-TW" altLang="en-US" dirty="0"/>
                        </a:p>
                      </a:txBody>
                      <a:tcPr/>
                    </a:tc>
                    <a:tc>
                      <a:txBody>
                        <a:bodyPr/>
                        <a:lstStyle/>
                        <a:p>
                          <a:pPr algn="ctr"/>
                          <a:r>
                            <a:rPr lang="en-US" altLang="zh-TW" dirty="0"/>
                            <a:t>27.588</a:t>
                          </a:r>
                          <a:endParaRPr lang="zh-TW" altLang="en-US" dirty="0"/>
                        </a:p>
                      </a:txBody>
                      <a:tcPr/>
                    </a:tc>
                    <a:tc>
                      <a:txBody>
                        <a:bodyPr/>
                        <a:lstStyle/>
                        <a:p>
                          <a:pPr algn="ctr"/>
                          <a:r>
                            <a:rPr lang="en-US" altLang="zh-TW" dirty="0"/>
                            <a:t>15.54</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3563063190"/>
                  </p:ext>
                </p:extLst>
              </p:nvPr>
            </p:nvGraphicFramePr>
            <p:xfrm>
              <a:off x="316206" y="5100797"/>
              <a:ext cx="8128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gridCol w="2032000">
                      <a:extLst>
                        <a:ext uri="{9D8B030D-6E8A-4147-A177-3AD203B41FA5}">
                          <a16:colId xmlns:a16="http://schemas.microsoft.com/office/drawing/2014/main" val="2237932526"/>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299" t="-14516" r="-200299" b="-270968"/>
                          </a:stretch>
                        </a:blipFill>
                      </a:tcPr>
                    </a:tc>
                    <a:tc>
                      <a:txBody>
                        <a:bodyPr/>
                        <a:lstStyle/>
                        <a:p>
                          <a:endParaRPr lang="zh-TW"/>
                        </a:p>
                      </a:txBody>
                      <a:tcPr>
                        <a:blipFill>
                          <a:blip r:embed="rId2"/>
                          <a:stretch>
                            <a:fillRect l="-200901" t="-14516" r="-100901" b="-270968"/>
                          </a:stretch>
                        </a:blipFill>
                      </a:tcPr>
                    </a:tc>
                    <a:tc>
                      <a:txBody>
                        <a:bodyPr/>
                        <a:lstStyle/>
                        <a:p>
                          <a:endParaRPr lang="zh-TW"/>
                        </a:p>
                      </a:txBody>
                      <a:tcPr>
                        <a:blipFill>
                          <a:blip r:embed="rId2"/>
                          <a:stretch>
                            <a:fillRect l="-300000" t="-14516" r="-599" b="-270968"/>
                          </a:stretch>
                        </a:blipFill>
                      </a:tcPr>
                    </a:tc>
                    <a:extLst>
                      <a:ext uri="{0D108BD9-81ED-4DB2-BD59-A6C34878D82A}">
                        <a16:rowId xmlns:a16="http://schemas.microsoft.com/office/drawing/2014/main" val="168208475"/>
                      </a:ext>
                    </a:extLst>
                  </a:tr>
                  <a:tr h="370840">
                    <a:tc>
                      <a:txBody>
                        <a:bodyPr/>
                        <a:lstStyle/>
                        <a:p>
                          <a:endParaRPr lang="zh-TW"/>
                        </a:p>
                      </a:txBody>
                      <a:tcPr>
                        <a:blipFill>
                          <a:blip r:embed="rId2"/>
                          <a:stretch>
                            <a:fillRect l="-299" t="-116393" r="-300299" b="-175410"/>
                          </a:stretch>
                        </a:blipFill>
                      </a:tcPr>
                    </a:tc>
                    <a:tc>
                      <a:txBody>
                        <a:bodyPr/>
                        <a:lstStyle/>
                        <a:p>
                          <a:pPr algn="ctr"/>
                          <a:r>
                            <a:rPr lang="en-US" altLang="zh-TW" dirty="0"/>
                            <a:t>32.34</a:t>
                          </a:r>
                          <a:endParaRPr lang="zh-TW" altLang="en-US" dirty="0"/>
                        </a:p>
                      </a:txBody>
                      <a:tcPr/>
                    </a:tc>
                    <a:tc>
                      <a:txBody>
                        <a:bodyPr/>
                        <a:lstStyle/>
                        <a:p>
                          <a:pPr algn="ctr"/>
                          <a:r>
                            <a:rPr lang="en-US" altLang="zh-TW" dirty="0"/>
                            <a:t>27.588</a:t>
                          </a:r>
                          <a:endParaRPr lang="zh-TW" altLang="en-US" dirty="0"/>
                        </a:p>
                      </a:txBody>
                      <a:tcPr/>
                    </a:tc>
                    <a:tc>
                      <a:txBody>
                        <a:bodyPr/>
                        <a:lstStyle/>
                        <a:p>
                          <a:pPr algn="ctr"/>
                          <a:r>
                            <a:rPr lang="en-US" altLang="zh-TW" dirty="0"/>
                            <a:t>15.54</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sp>
        <p:nvSpPr>
          <p:cNvPr id="36" name="文字方塊 35">
            <a:extLst>
              <a:ext uri="{FF2B5EF4-FFF2-40B4-BE49-F238E27FC236}">
                <a16:creationId xmlns:a16="http://schemas.microsoft.com/office/drawing/2014/main" id="{BCEA6580-59CB-491D-9A56-1E4B23E7DF7D}"/>
              </a:ext>
            </a:extLst>
          </p:cNvPr>
          <p:cNvSpPr txBox="1"/>
          <p:nvPr/>
        </p:nvSpPr>
        <p:spPr>
          <a:xfrm>
            <a:off x="35901" y="709214"/>
            <a:ext cx="8274154" cy="3416320"/>
          </a:xfrm>
          <a:prstGeom prst="rect">
            <a:avLst/>
          </a:prstGeom>
          <a:noFill/>
        </p:spPr>
        <p:txBody>
          <a:bodyPr wrap="square">
            <a:spAutoFit/>
          </a:bodyPr>
          <a:lstStyle/>
          <a:p>
            <a:pPr marL="285750" indent="-285750">
              <a:buFont typeface="Arial" panose="020B0604020202020204" pitchFamily="34" charset="0"/>
              <a:buChar char="•"/>
            </a:pPr>
            <a:r>
              <a:rPr lang="en-US" altLang="zh-TW" dirty="0"/>
              <a:t>Design B with the gap: the three singular values σ₁ ≥ σ₂ ≥ σ₃ at every real FEM node in the workspace, </a:t>
            </a:r>
            <a:r>
              <a:rPr lang="en-US" altLang="zh-TW" dirty="0" err="1"/>
              <a:t>histogrammed</a:t>
            </a:r>
            <a:r>
              <a:rPr lang="en-US" altLang="zh-TW" dirty="0"/>
              <a:t> separately on one shared set of bins 0.05mT/A wide, each </a:t>
            </a:r>
            <a:r>
              <a:rPr lang="en-US" altLang="zh-TW" dirty="0" err="1"/>
              <a:t>normalised</a:t>
            </a:r>
            <a:r>
              <a:rPr lang="en-US" altLang="zh-TW" dirty="0"/>
              <a:t> to a percentage. This bin width differs from the other slides, so bar heights are comparable only among the three series here.</a:t>
            </a:r>
          </a:p>
          <a:p>
            <a:pPr marL="285750" indent="-285750">
              <a:buFont typeface="Arial" panose="020B0604020202020204" pitchFamily="34" charset="0"/>
              <a:buChar char="•"/>
            </a:pPr>
            <a:r>
              <a:rPr lang="en-US" altLang="zh-TW" dirty="0"/>
              <a:t>The structure matches the no-gap case and still falls into two groups: σ₁ and σ₂ average 32.3 and 27.6 </a:t>
            </a:r>
            <a:r>
              <a:rPr lang="en-US" altLang="zh-TW" dirty="0" err="1"/>
              <a:t>mT</a:t>
            </a:r>
            <a:r>
              <a:rPr lang="en-US" altLang="zh-TW" dirty="0"/>
              <a:t>/A while σ₃ is only 15.5 </a:t>
            </a:r>
            <a:r>
              <a:rPr lang="en-US" altLang="zh-TW" dirty="0" err="1"/>
              <a:t>mT</a:t>
            </a:r>
            <a:r>
              <a:rPr lang="en-US" altLang="zh-TW" dirty="0"/>
              <a:t>/A, separated from the other two by a gap containing no samples, so the controllable set remains an oblate ellipsoid. The imbalance is somewhat worse, however — σ₁/σ₃ rises from 1.85 without the gap to 2.08, the σ₁–σ₂ separation widens from 10.8 % to 17.2 %, and their overlap nearly vanishes. The weakest axis σ₃ drops to 0.57× its no-gap value but still exceeds Design A's 13.9 </a:t>
            </a:r>
            <a:r>
              <a:rPr lang="en-US" altLang="zh-TW" dirty="0" err="1"/>
              <a:t>mT</a:t>
            </a:r>
            <a:r>
              <a:rPr lang="en-US" altLang="zh-TW" dirty="0"/>
              <a:t>/A, so even with the gap the planar hexapole retains more authority in its worst direction than the conical one.</a:t>
            </a:r>
            <a:endParaRPr lang="zh-TW" altLang="en-US" dirty="0"/>
          </a:p>
        </p:txBody>
      </p:sp>
      <p:sp>
        <p:nvSpPr>
          <p:cNvPr id="38" name="文字方塊 37">
            <a:extLst>
              <a:ext uri="{FF2B5EF4-FFF2-40B4-BE49-F238E27FC236}">
                <a16:creationId xmlns:a16="http://schemas.microsoft.com/office/drawing/2014/main" id="{AB84E969-29EF-4675-811E-DF8EC32587D4}"/>
              </a:ext>
            </a:extLst>
          </p:cNvPr>
          <p:cNvSpPr txBox="1"/>
          <p:nvPr/>
        </p:nvSpPr>
        <p:spPr>
          <a:xfrm>
            <a:off x="84666" y="417046"/>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r>
              <a:rPr lang="en-US" altLang="zh-TW" dirty="0"/>
              <a:t>(Have gap)</a:t>
            </a:r>
            <a:endParaRPr lang="zh-TW" altLang="en-US" dirty="0"/>
          </a:p>
        </p:txBody>
      </p:sp>
      <p:grpSp>
        <p:nvGrpSpPr>
          <p:cNvPr id="3" name="群組 2">
            <a:extLst>
              <a:ext uri="{FF2B5EF4-FFF2-40B4-BE49-F238E27FC236}">
                <a16:creationId xmlns:a16="http://schemas.microsoft.com/office/drawing/2014/main" id="{02AB65CD-40E5-43EA-A3E6-40E75EA49107}"/>
              </a:ext>
            </a:extLst>
          </p:cNvPr>
          <p:cNvGrpSpPr/>
          <p:nvPr/>
        </p:nvGrpSpPr>
        <p:grpSpPr>
          <a:xfrm>
            <a:off x="8310055" y="962998"/>
            <a:ext cx="3477944" cy="3179126"/>
            <a:chOff x="8310055" y="962998"/>
            <a:chExt cx="3477944" cy="3179126"/>
          </a:xfrm>
        </p:grpSpPr>
        <p:grpSp>
          <p:nvGrpSpPr>
            <p:cNvPr id="32" name="群組 31">
              <a:extLst>
                <a:ext uri="{FF2B5EF4-FFF2-40B4-BE49-F238E27FC236}">
                  <a16:creationId xmlns:a16="http://schemas.microsoft.com/office/drawing/2014/main" id="{B42DF482-49CE-4D6E-B7D3-6976C5176029}"/>
                </a:ext>
              </a:extLst>
            </p:cNvPr>
            <p:cNvGrpSpPr/>
            <p:nvPr/>
          </p:nvGrpSpPr>
          <p:grpSpPr>
            <a:xfrm>
              <a:off x="8310055" y="962998"/>
              <a:ext cx="3477944" cy="3081496"/>
              <a:chOff x="8007526" y="1231234"/>
              <a:chExt cx="3477944" cy="3081496"/>
            </a:xfrm>
          </p:grpSpPr>
          <p:pic>
            <p:nvPicPr>
              <p:cNvPr id="39" name="圖片 38">
                <a:extLst>
                  <a:ext uri="{FF2B5EF4-FFF2-40B4-BE49-F238E27FC236}">
                    <a16:creationId xmlns:a16="http://schemas.microsoft.com/office/drawing/2014/main" id="{E1B66E1D-BBA5-403E-86B2-E6700D5B4FF2}"/>
                  </a:ext>
                </a:extLst>
              </p:cNvPr>
              <p:cNvPicPr>
                <a:picLocks noChangeAspect="1"/>
              </p:cNvPicPr>
              <p:nvPr/>
            </p:nvPicPr>
            <p:blipFill rotWithShape="1">
              <a:blip r:embed="rId3">
                <a:extLst>
                  <a:ext uri="{28A0092B-C50C-407E-A947-70E740481C1C}">
                    <a14:useLocalDpi xmlns:a14="http://schemas.microsoft.com/office/drawing/2010/main" val="0"/>
                  </a:ext>
                </a:extLst>
              </a:blip>
              <a:srcRect l="7505"/>
              <a:stretch/>
            </p:blipFill>
            <p:spPr>
              <a:xfrm>
                <a:off x="8540664" y="1231234"/>
                <a:ext cx="2944806" cy="3042308"/>
              </a:xfrm>
              <a:prstGeom prst="rect">
                <a:avLst/>
              </a:prstGeom>
            </p:spPr>
          </p:pic>
          <p:grpSp>
            <p:nvGrpSpPr>
              <p:cNvPr id="40" name="群組 39">
                <a:extLst>
                  <a:ext uri="{FF2B5EF4-FFF2-40B4-BE49-F238E27FC236}">
                    <a16:creationId xmlns:a16="http://schemas.microsoft.com/office/drawing/2014/main" id="{4A6A8298-E5CA-4C4F-9CB5-C6CF435260A5}"/>
                  </a:ext>
                </a:extLst>
              </p:cNvPr>
              <p:cNvGrpSpPr/>
              <p:nvPr/>
            </p:nvGrpSpPr>
            <p:grpSpPr>
              <a:xfrm>
                <a:off x="8007526" y="2208431"/>
                <a:ext cx="2212525" cy="2104299"/>
                <a:chOff x="8058302" y="2133601"/>
                <a:chExt cx="2212525" cy="2104299"/>
              </a:xfrm>
            </p:grpSpPr>
            <p:sp>
              <p:nvSpPr>
                <p:cNvPr id="41" name="矩形 40">
                  <a:extLst>
                    <a:ext uri="{FF2B5EF4-FFF2-40B4-BE49-F238E27FC236}">
                      <a16:creationId xmlns:a16="http://schemas.microsoft.com/office/drawing/2014/main" id="{8ED7428E-1A67-414C-818C-163A022875C2}"/>
                    </a:ext>
                  </a:extLst>
                </p:cNvPr>
                <p:cNvSpPr/>
                <p:nvPr/>
              </p:nvSpPr>
              <p:spPr>
                <a:xfrm>
                  <a:off x="9215228" y="4063653"/>
                  <a:ext cx="1055599" cy="174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矩形 41">
                  <a:extLst>
                    <a:ext uri="{FF2B5EF4-FFF2-40B4-BE49-F238E27FC236}">
                      <a16:creationId xmlns:a16="http://schemas.microsoft.com/office/drawing/2014/main" id="{CCDF9ECC-59B1-43B1-BC95-6B4D9F440790}"/>
                    </a:ext>
                  </a:extLst>
                </p:cNvPr>
                <p:cNvSpPr/>
                <p:nvPr/>
              </p:nvSpPr>
              <p:spPr>
                <a:xfrm rot="16200000">
                  <a:off x="7564648" y="2627255"/>
                  <a:ext cx="1153048" cy="1657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592238DE-06D4-46A1-B3E9-D19F8E17887F}"/>
                    </a:ext>
                  </a:extLst>
                </p:cNvPr>
                <p:cNvSpPr txBox="1"/>
                <p:nvPr/>
              </p:nvSpPr>
              <p:spPr>
                <a:xfrm>
                  <a:off x="9028819" y="3803570"/>
                  <a:ext cx="2596566"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600" b="0" i="0" smtClean="0">
                          <a:latin typeface="Cambria Math" panose="02040503050406030204" pitchFamily="18" charset="0"/>
                        </a:rPr>
                        <m:t>(</m:t>
                      </m:r>
                      <m:f>
                        <m:fPr>
                          <m:type m:val="lin"/>
                          <m:ctrlPr>
                            <a:rPr lang="en-US" altLang="zh-TW" sz="1600" i="1" smtClean="0">
                              <a:latin typeface="Cambria Math" panose="02040503050406030204" pitchFamily="18" charset="0"/>
                            </a:rPr>
                          </m:ctrlPr>
                        </m:fPr>
                        <m:num>
                          <m:r>
                            <a:rPr lang="en-US" altLang="zh-TW" sz="1600" b="0" i="1" smtClean="0">
                              <a:latin typeface="Cambria Math" panose="02040503050406030204" pitchFamily="18" charset="0"/>
                            </a:rPr>
                            <m:t>𝑚𝑇</m:t>
                          </m:r>
                        </m:num>
                        <m:den>
                          <m:r>
                            <a:rPr lang="en-US" altLang="zh-TW" sz="1600" b="0" i="1" smtClean="0">
                              <a:latin typeface="Cambria Math" panose="02040503050406030204" pitchFamily="18" charset="0"/>
                            </a:rPr>
                            <m:t>𝐴</m:t>
                          </m:r>
                        </m:den>
                      </m:f>
                      <m:r>
                        <a:rPr lang="en-US" altLang="zh-TW" sz="1600" b="0" i="1" smtClean="0">
                          <a:latin typeface="Cambria Math" panose="02040503050406030204" pitchFamily="18" charset="0"/>
                        </a:rPr>
                        <m:t>)</m:t>
                      </m:r>
                    </m:oMath>
                  </a14:m>
                  <a:endParaRPr lang="zh-TW" altLang="en-US" sz="1600" dirty="0">
                    <a:latin typeface="Times New Roman" panose="02020603050405020304" pitchFamily="18" charset="0"/>
                    <a:cs typeface="Times New Roman" panose="02020603050405020304" pitchFamily="18" charset="0"/>
                  </a:endParaRPr>
                </a:p>
              </p:txBody>
            </p:sp>
          </mc:Choice>
          <mc:Fallback xmlns="">
            <p:sp>
              <p:nvSpPr>
                <p:cNvPr id="43" name="文字方塊 42">
                  <a:extLst>
                    <a:ext uri="{FF2B5EF4-FFF2-40B4-BE49-F238E27FC236}">
                      <a16:creationId xmlns:a16="http://schemas.microsoft.com/office/drawing/2014/main" id="{592238DE-06D4-46A1-B3E9-D19F8E17887F}"/>
                    </a:ext>
                  </a:extLst>
                </p:cNvPr>
                <p:cNvSpPr txBox="1">
                  <a:spLocks noRot="1" noChangeAspect="1" noMove="1" noResize="1" noEditPoints="1" noAdjustHandles="1" noChangeArrowheads="1" noChangeShapeType="1" noTextEdit="1"/>
                </p:cNvSpPr>
                <p:nvPr/>
              </p:nvSpPr>
              <p:spPr>
                <a:xfrm>
                  <a:off x="9028819" y="3803570"/>
                  <a:ext cx="2596566" cy="338554"/>
                </a:xfrm>
                <a:prstGeom prst="rect">
                  <a:avLst/>
                </a:prstGeom>
                <a:blipFill>
                  <a:blip r:embed="rId4"/>
                  <a:stretch>
                    <a:fillRect l="-1174" t="-101818" r="-4930" b="-16909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5E253BC2-50FE-4013-BFFC-BC116273F846}"/>
                    </a:ext>
                  </a:extLst>
                </p:cNvPr>
                <p:cNvSpPr txBox="1"/>
                <p:nvPr/>
              </p:nvSpPr>
              <p:spPr>
                <a:xfrm rot="16200000">
                  <a:off x="7690023" y="2217864"/>
                  <a:ext cx="1865895"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6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600">
                          <a:latin typeface="Cambria Math" panose="02040503050406030204" pitchFamily="18" charset="0"/>
                        </a:rPr>
                        <m:t> </m:t>
                      </m:r>
                      <m:r>
                        <a:rPr lang="en-US" altLang="zh-TW" sz="1600" b="0" i="1" smtClean="0">
                          <a:latin typeface="Cambria Math" panose="02040503050406030204" pitchFamily="18" charset="0"/>
                        </a:rPr>
                        <m:t>(%)</m:t>
                      </m:r>
                    </m:oMath>
                  </a14:m>
                  <a:endParaRPr lang="zh-TW" altLang="en-US" dirty="0"/>
                </a:p>
              </p:txBody>
            </p:sp>
          </mc:Choice>
          <mc:Fallback xmlns="">
            <p:sp>
              <p:nvSpPr>
                <p:cNvPr id="44" name="文字方塊 43">
                  <a:extLst>
                    <a:ext uri="{FF2B5EF4-FFF2-40B4-BE49-F238E27FC236}">
                      <a16:creationId xmlns:a16="http://schemas.microsoft.com/office/drawing/2014/main" id="{5E253BC2-50FE-4013-BFFC-BC116273F846}"/>
                    </a:ext>
                  </a:extLst>
                </p:cNvPr>
                <p:cNvSpPr txBox="1">
                  <a:spLocks noRot="1" noChangeAspect="1" noMove="1" noResize="1" noEditPoints="1" noAdjustHandles="1" noChangeArrowheads="1" noChangeShapeType="1" noTextEdit="1"/>
                </p:cNvSpPr>
                <p:nvPr/>
              </p:nvSpPr>
              <p:spPr>
                <a:xfrm rot="16200000">
                  <a:off x="7690023" y="2217864"/>
                  <a:ext cx="1865895" cy="276999"/>
                </a:xfrm>
                <a:prstGeom prst="rect">
                  <a:avLst/>
                </a:prstGeom>
                <a:blipFill>
                  <a:blip r:embed="rId5"/>
                  <a:stretch>
                    <a:fillRect l="-15556" t="-3268" r="-42222" b="-359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407034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9525" y="1981795"/>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36" name="表格 10">
                <a:extLst>
                  <a:ext uri="{FF2B5EF4-FFF2-40B4-BE49-F238E27FC236}">
                    <a16:creationId xmlns:a16="http://schemas.microsoft.com/office/drawing/2014/main" id="{006A579D-BBDD-4E33-B45A-E2E9DF349D74}"/>
                  </a:ext>
                </a:extLst>
              </p:cNvPr>
              <p:cNvGraphicFramePr>
                <a:graphicFrameLocks noGrp="1"/>
              </p:cNvGraphicFramePr>
              <p:nvPr>
                <p:extLst>
                  <p:ext uri="{D42A27DB-BD31-4B8C-83A1-F6EECF244321}">
                    <p14:modId xmlns:p14="http://schemas.microsoft.com/office/powerpoint/2010/main" val="1849653252"/>
                  </p:ext>
                </p:extLst>
              </p:nvPr>
            </p:nvGraphicFramePr>
            <p:xfrm>
              <a:off x="556190" y="5538001"/>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23.9991</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36" name="表格 10">
                <a:extLst>
                  <a:ext uri="{FF2B5EF4-FFF2-40B4-BE49-F238E27FC236}">
                    <a16:creationId xmlns:a16="http://schemas.microsoft.com/office/drawing/2014/main" id="{006A579D-BBDD-4E33-B45A-E2E9DF349D74}"/>
                  </a:ext>
                </a:extLst>
              </p:cNvPr>
              <p:cNvGraphicFramePr>
                <a:graphicFrameLocks noGrp="1"/>
              </p:cNvGraphicFramePr>
              <p:nvPr>
                <p:extLst>
                  <p:ext uri="{D42A27DB-BD31-4B8C-83A1-F6EECF244321}">
                    <p14:modId xmlns:p14="http://schemas.microsoft.com/office/powerpoint/2010/main" val="1849653252"/>
                  </p:ext>
                </p:extLst>
              </p:nvPr>
            </p:nvGraphicFramePr>
            <p:xfrm>
              <a:off x="556190" y="5538001"/>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2"/>
                          <a:stretch>
                            <a:fillRect l="-297" t="-57724" r="-100297" b="-36585"/>
                          </a:stretch>
                        </a:blipFill>
                      </a:tcPr>
                    </a:tc>
                    <a:tc>
                      <a:txBody>
                        <a:bodyPr/>
                        <a:lstStyle/>
                        <a:p>
                          <a:pPr algn="ctr"/>
                          <a:r>
                            <a:rPr lang="en-US" altLang="zh-TW" dirty="0"/>
                            <a:t>23.9991</a:t>
                          </a:r>
                          <a:endParaRPr lang="zh-TW" altLang="en-US" dirty="0"/>
                        </a:p>
                      </a:txBody>
                      <a:tcPr/>
                    </a:tc>
                    <a:extLst>
                      <a:ext uri="{0D108BD9-81ED-4DB2-BD59-A6C34878D82A}">
                        <a16:rowId xmlns:a16="http://schemas.microsoft.com/office/drawing/2014/main" val="16820847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表格 10">
                <a:extLst>
                  <a:ext uri="{FF2B5EF4-FFF2-40B4-BE49-F238E27FC236}">
                    <a16:creationId xmlns:a16="http://schemas.microsoft.com/office/drawing/2014/main" id="{516463CD-E727-4FCA-B274-E9160694974E}"/>
                  </a:ext>
                </a:extLst>
              </p:cNvPr>
              <p:cNvGraphicFramePr>
                <a:graphicFrameLocks noGrp="1"/>
              </p:cNvGraphicFramePr>
              <p:nvPr>
                <p:extLst>
                  <p:ext uri="{D42A27DB-BD31-4B8C-83A1-F6EECF244321}">
                    <p14:modId xmlns:p14="http://schemas.microsoft.com/office/powerpoint/2010/main" val="496568468"/>
                  </p:ext>
                </p:extLst>
              </p:nvPr>
            </p:nvGraphicFramePr>
            <p:xfrm>
              <a:off x="6932083" y="5486831"/>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p>
                          <a:pPr algn="ctr"/>
                          <a:endParaRPr lang="zh-TW" altLang="en-US" dirty="0"/>
                        </a:p>
                      </a:txBody>
                      <a:tcPr>
                        <a:lnL w="12700" cap="flat" cmpd="sng" algn="ctr">
                          <a:solidFill>
                            <a:schemeClr val="tx1"/>
                          </a:solidFill>
                          <a:prstDash val="solid"/>
                          <a:round/>
                          <a:headEnd type="none" w="med" len="med"/>
                          <a:tailEnd type="none" w="med" len="med"/>
                        </a:lnL>
                      </a:tcPr>
                    </a:tc>
                    <a:tc>
                      <a:txBody>
                        <a:bodyPr/>
                        <a:lstStyle/>
                        <a:p>
                          <a:pPr algn="ctr"/>
                          <a:r>
                            <a:rPr lang="en-US" altLang="zh-TW" dirty="0"/>
                            <a:t>0.4820</a:t>
                          </a:r>
                          <a:endParaRPr lang="zh-TW" altLang="en-US" dirty="0"/>
                        </a:p>
                      </a:txBody>
                      <a:tcPr/>
                    </a:tc>
                    <a:extLst>
                      <a:ext uri="{0D108BD9-81ED-4DB2-BD59-A6C34878D82A}">
                        <a16:rowId xmlns:a16="http://schemas.microsoft.com/office/drawing/2014/main" val="168208475"/>
                      </a:ext>
                    </a:extLst>
                  </a:tr>
                </a:tbl>
              </a:graphicData>
            </a:graphic>
          </p:graphicFrame>
        </mc:Choice>
        <mc:Fallback xmlns="">
          <p:graphicFrame>
            <p:nvGraphicFramePr>
              <p:cNvPr id="38" name="表格 10">
                <a:extLst>
                  <a:ext uri="{FF2B5EF4-FFF2-40B4-BE49-F238E27FC236}">
                    <a16:creationId xmlns:a16="http://schemas.microsoft.com/office/drawing/2014/main" id="{516463CD-E727-4FCA-B274-E9160694974E}"/>
                  </a:ext>
                </a:extLst>
              </p:cNvPr>
              <p:cNvGraphicFramePr>
                <a:graphicFrameLocks noGrp="1"/>
              </p:cNvGraphicFramePr>
              <p:nvPr>
                <p:extLst>
                  <p:ext uri="{D42A27DB-BD31-4B8C-83A1-F6EECF244321}">
                    <p14:modId xmlns:p14="http://schemas.microsoft.com/office/powerpoint/2010/main" val="496568468"/>
                  </p:ext>
                </p:extLst>
              </p:nvPr>
            </p:nvGraphicFramePr>
            <p:xfrm>
              <a:off x="6932083" y="5486831"/>
              <a:ext cx="4099200" cy="741680"/>
            </p:xfrm>
            <a:graphic>
              <a:graphicData uri="http://schemas.openxmlformats.org/drawingml/2006/table">
                <a:tbl>
                  <a:tblPr firstRow="1" bandRow="1">
                    <a:tableStyleId>{5940675A-B579-460E-94D1-54222C63F5DA}</a:tableStyleId>
                  </a:tblPr>
                  <a:tblGrid>
                    <a:gridCol w="2049600">
                      <a:extLst>
                        <a:ext uri="{9D8B030D-6E8A-4147-A177-3AD203B41FA5}">
                          <a16:colId xmlns:a16="http://schemas.microsoft.com/office/drawing/2014/main" val="62779187"/>
                        </a:ext>
                      </a:extLst>
                    </a:gridCol>
                    <a:gridCol w="2049600">
                      <a:extLst>
                        <a:ext uri="{9D8B030D-6E8A-4147-A177-3AD203B41FA5}">
                          <a16:colId xmlns:a16="http://schemas.microsoft.com/office/drawing/2014/main" val="3507019064"/>
                        </a:ext>
                      </a:extLst>
                    </a:gridCol>
                  </a:tblGrid>
                  <a:tr h="741680">
                    <a:tc>
                      <a:txBody>
                        <a:bodyPr/>
                        <a:lstStyle/>
                        <a:p>
                          <a:endParaRPr lang="zh-TW"/>
                        </a:p>
                      </a:txBody>
                      <a:tcPr>
                        <a:lnL w="12700" cap="flat" cmpd="sng" algn="ctr">
                          <a:solidFill>
                            <a:schemeClr val="tx1"/>
                          </a:solidFill>
                          <a:prstDash val="solid"/>
                          <a:round/>
                          <a:headEnd type="none" w="med" len="med"/>
                          <a:tailEnd type="none" w="med" len="med"/>
                        </a:lnL>
                        <a:blipFill>
                          <a:blip r:embed="rId3"/>
                          <a:stretch>
                            <a:fillRect l="-297" t="-58197" r="-100297" b="-37705"/>
                          </a:stretch>
                        </a:blipFill>
                      </a:tcPr>
                    </a:tc>
                    <a:tc>
                      <a:txBody>
                        <a:bodyPr/>
                        <a:lstStyle/>
                        <a:p>
                          <a:pPr algn="ctr"/>
                          <a:r>
                            <a:rPr lang="en-US" altLang="zh-TW" dirty="0"/>
                            <a:t>0.4820</a:t>
                          </a:r>
                          <a:endParaRPr lang="zh-TW" altLang="en-US" dirty="0"/>
                        </a:p>
                      </a:txBody>
                      <a:tcPr/>
                    </a:tc>
                    <a:extLst>
                      <a:ext uri="{0D108BD9-81ED-4DB2-BD59-A6C34878D82A}">
                        <a16:rowId xmlns:a16="http://schemas.microsoft.com/office/drawing/2014/main" val="168208475"/>
                      </a:ext>
                    </a:extLst>
                  </a:tr>
                </a:tbl>
              </a:graphicData>
            </a:graphic>
          </p:graphicFrame>
        </mc:Fallback>
      </mc:AlternateContent>
      <p:sp>
        <p:nvSpPr>
          <p:cNvPr id="32" name="文字方塊 31">
            <a:extLst>
              <a:ext uri="{FF2B5EF4-FFF2-40B4-BE49-F238E27FC236}">
                <a16:creationId xmlns:a16="http://schemas.microsoft.com/office/drawing/2014/main" id="{C4DFBA7E-C0E8-4461-9048-19384101A4D6}"/>
              </a:ext>
            </a:extLst>
          </p:cNvPr>
          <p:cNvSpPr txBox="1"/>
          <p:nvPr/>
        </p:nvSpPr>
        <p:spPr>
          <a:xfrm>
            <a:off x="67733" y="400118"/>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r>
              <a:rPr lang="en-US" altLang="zh-TW" dirty="0"/>
              <a:t>(Have gap)</a:t>
            </a:r>
            <a:endParaRPr lang="zh-TW" altLang="en-US" dirty="0"/>
          </a:p>
        </p:txBody>
      </p:sp>
      <p:sp>
        <p:nvSpPr>
          <p:cNvPr id="39" name="文字方塊 38">
            <a:extLst>
              <a:ext uri="{FF2B5EF4-FFF2-40B4-BE49-F238E27FC236}">
                <a16:creationId xmlns:a16="http://schemas.microsoft.com/office/drawing/2014/main" id="{02E1C811-B809-435A-AED1-9F766FEEC59C}"/>
              </a:ext>
            </a:extLst>
          </p:cNvPr>
          <p:cNvSpPr txBox="1"/>
          <p:nvPr/>
        </p:nvSpPr>
        <p:spPr>
          <a:xfrm>
            <a:off x="642559" y="4814741"/>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resolution:0.05mT/A</a:t>
            </a:r>
            <a:endParaRPr lang="zh-TW" altLang="en-US" dirty="0"/>
          </a:p>
        </p:txBody>
      </p:sp>
      <p:sp>
        <p:nvSpPr>
          <p:cNvPr id="40" name="文字方塊 39">
            <a:extLst>
              <a:ext uri="{FF2B5EF4-FFF2-40B4-BE49-F238E27FC236}">
                <a16:creationId xmlns:a16="http://schemas.microsoft.com/office/drawing/2014/main" id="{5669D178-C5FB-419E-977A-B417AE163815}"/>
              </a:ext>
            </a:extLst>
          </p:cNvPr>
          <p:cNvSpPr txBox="1"/>
          <p:nvPr/>
        </p:nvSpPr>
        <p:spPr>
          <a:xfrm>
            <a:off x="6933252" y="4876102"/>
            <a:ext cx="3784600"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Histogram resolution:0.02 </a:t>
            </a:r>
            <a:endParaRPr lang="zh-TW" altLang="en-US" dirty="0"/>
          </a:p>
        </p:txBody>
      </p:sp>
      <p:grpSp>
        <p:nvGrpSpPr>
          <p:cNvPr id="12" name="群組 11">
            <a:extLst>
              <a:ext uri="{FF2B5EF4-FFF2-40B4-BE49-F238E27FC236}">
                <a16:creationId xmlns:a16="http://schemas.microsoft.com/office/drawing/2014/main" id="{F16E39C2-8DC8-4614-A5B5-857AAE3F59F6}"/>
              </a:ext>
            </a:extLst>
          </p:cNvPr>
          <p:cNvGrpSpPr/>
          <p:nvPr/>
        </p:nvGrpSpPr>
        <p:grpSpPr>
          <a:xfrm>
            <a:off x="676306" y="1040136"/>
            <a:ext cx="3395611" cy="3272218"/>
            <a:chOff x="676306" y="1040136"/>
            <a:chExt cx="3395611" cy="3272218"/>
          </a:xfrm>
        </p:grpSpPr>
        <p:pic>
          <p:nvPicPr>
            <p:cNvPr id="5" name="圖片 4">
              <a:extLst>
                <a:ext uri="{FF2B5EF4-FFF2-40B4-BE49-F238E27FC236}">
                  <a16:creationId xmlns:a16="http://schemas.microsoft.com/office/drawing/2014/main" id="{7004EB13-1A82-454D-9134-7AFBB1AFD298}"/>
                </a:ext>
              </a:extLst>
            </p:cNvPr>
            <p:cNvPicPr>
              <a:picLocks noChangeAspect="1"/>
            </p:cNvPicPr>
            <p:nvPr/>
          </p:nvPicPr>
          <p:blipFill rotWithShape="1">
            <a:blip r:embed="rId4">
              <a:extLst>
                <a:ext uri="{28A0092B-C50C-407E-A947-70E740481C1C}">
                  <a14:useLocalDpi xmlns:a14="http://schemas.microsoft.com/office/drawing/2010/main" val="0"/>
                </a:ext>
              </a:extLst>
            </a:blip>
            <a:srcRect l="3881" b="5197"/>
            <a:stretch/>
          </p:blipFill>
          <p:spPr>
            <a:xfrm>
              <a:off x="905933" y="1040136"/>
              <a:ext cx="3165984" cy="2930731"/>
            </a:xfrm>
            <a:prstGeom prst="rect">
              <a:avLst/>
            </a:prstGeom>
          </p:spPr>
        </p:pic>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4B26706F-28D8-42B9-974E-1C07B5122332}"/>
                    </a:ext>
                  </a:extLst>
                </p:cNvPr>
                <p:cNvSpPr txBox="1"/>
                <p:nvPr/>
              </p:nvSpPr>
              <p:spPr>
                <a:xfrm>
                  <a:off x="1134793" y="3943022"/>
                  <a:ext cx="2825443"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b="0" i="0" smtClean="0">
                          <a:latin typeface="Cambria Math" panose="02040503050406030204" pitchFamily="18" charset="0"/>
                        </a:rPr>
                        <m:t>(</m:t>
                      </m:r>
                      <m:f>
                        <m:fPr>
                          <m:type m:val="lin"/>
                          <m:ctrlPr>
                            <a:rPr lang="en-US" altLang="zh-TW"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den>
                      </m:f>
                      <m:r>
                        <a:rPr lang="en-US" altLang="zh-TW" b="0" i="1" smtClean="0">
                          <a:latin typeface="Cambria Math" panose="02040503050406030204" pitchFamily="18" charset="0"/>
                        </a:rPr>
                        <m:t>)</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41" name="文字方塊 40">
                  <a:extLst>
                    <a:ext uri="{FF2B5EF4-FFF2-40B4-BE49-F238E27FC236}">
                      <a16:creationId xmlns:a16="http://schemas.microsoft.com/office/drawing/2014/main" id="{4B26706F-28D8-42B9-974E-1C07B5122332}"/>
                    </a:ext>
                  </a:extLst>
                </p:cNvPr>
                <p:cNvSpPr txBox="1">
                  <a:spLocks noRot="1" noChangeAspect="1" noMove="1" noResize="1" noEditPoints="1" noAdjustHandles="1" noChangeArrowheads="1" noChangeShapeType="1" noTextEdit="1"/>
                </p:cNvSpPr>
                <p:nvPr/>
              </p:nvSpPr>
              <p:spPr>
                <a:xfrm>
                  <a:off x="1134793" y="3943022"/>
                  <a:ext cx="2825443" cy="369332"/>
                </a:xfrm>
                <a:prstGeom prst="rect">
                  <a:avLst/>
                </a:prstGeom>
                <a:blipFill>
                  <a:blip r:embed="rId5"/>
                  <a:stretch>
                    <a:fillRect l="-1724" t="-116667" r="-8621" b="-18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F7D4B16B-AF56-453C-B3AB-0A607FD1340F}"/>
                    </a:ext>
                  </a:extLst>
                </p:cNvPr>
                <p:cNvSpPr txBox="1"/>
                <p:nvPr/>
              </p:nvSpPr>
              <p:spPr>
                <a:xfrm rot="16200000">
                  <a:off x="-230352" y="2336572"/>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42" name="文字方塊 41">
                  <a:extLst>
                    <a:ext uri="{FF2B5EF4-FFF2-40B4-BE49-F238E27FC236}">
                      <a16:creationId xmlns:a16="http://schemas.microsoft.com/office/drawing/2014/main" id="{F7D4B16B-AF56-453C-B3AB-0A607FD1340F}"/>
                    </a:ext>
                  </a:extLst>
                </p:cNvPr>
                <p:cNvSpPr txBox="1">
                  <a:spLocks noRot="1" noChangeAspect="1" noMove="1" noResize="1" noEditPoints="1" noAdjustHandles="1" noChangeArrowheads="1" noChangeShapeType="1" noTextEdit="1"/>
                </p:cNvSpPr>
                <p:nvPr/>
              </p:nvSpPr>
              <p:spPr>
                <a:xfrm rot="16200000">
                  <a:off x="-230352" y="2336572"/>
                  <a:ext cx="2090316" cy="276999"/>
                </a:xfrm>
                <a:prstGeom prst="rect">
                  <a:avLst/>
                </a:prstGeom>
                <a:blipFill>
                  <a:blip r:embed="rId6"/>
                  <a:stretch>
                    <a:fillRect l="-31111" t="-4678" r="-48889" b="-4386"/>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C2C23CD7-C7AC-459E-8458-27FFC139551F}"/>
              </a:ext>
            </a:extLst>
          </p:cNvPr>
          <p:cNvGrpSpPr/>
          <p:nvPr/>
        </p:nvGrpSpPr>
        <p:grpSpPr>
          <a:xfrm>
            <a:off x="7253678" y="1033408"/>
            <a:ext cx="3263147" cy="3218150"/>
            <a:chOff x="7253678" y="1033408"/>
            <a:chExt cx="3263147" cy="3218150"/>
          </a:xfrm>
        </p:grpSpPr>
        <p:pic>
          <p:nvPicPr>
            <p:cNvPr id="10" name="圖片 9">
              <a:extLst>
                <a:ext uri="{FF2B5EF4-FFF2-40B4-BE49-F238E27FC236}">
                  <a16:creationId xmlns:a16="http://schemas.microsoft.com/office/drawing/2014/main" id="{A794AC46-E0C6-4575-8436-12EF5F7FEE2D}"/>
                </a:ext>
              </a:extLst>
            </p:cNvPr>
            <p:cNvPicPr>
              <a:picLocks noChangeAspect="1"/>
            </p:cNvPicPr>
            <p:nvPr/>
          </p:nvPicPr>
          <p:blipFill rotWithShape="1">
            <a:blip r:embed="rId7">
              <a:extLst>
                <a:ext uri="{28A0092B-C50C-407E-A947-70E740481C1C}">
                  <a14:useLocalDpi xmlns:a14="http://schemas.microsoft.com/office/drawing/2010/main" val="0"/>
                </a:ext>
              </a:extLst>
            </a:blip>
            <a:srcRect l="3365" b="4753"/>
            <a:stretch/>
          </p:blipFill>
          <p:spPr>
            <a:xfrm>
              <a:off x="7560733" y="1033408"/>
              <a:ext cx="2956092" cy="2937459"/>
            </a:xfrm>
            <a:prstGeom prst="rect">
              <a:avLst/>
            </a:prstGeom>
          </p:spPr>
        </p:pic>
        <p:sp>
          <p:nvSpPr>
            <p:cNvPr id="43" name="文字方塊 42">
              <a:extLst>
                <a:ext uri="{FF2B5EF4-FFF2-40B4-BE49-F238E27FC236}">
                  <a16:creationId xmlns:a16="http://schemas.microsoft.com/office/drawing/2014/main" id="{F3041C6F-3BD9-4F8A-A08A-28B22D91B493}"/>
                </a:ext>
              </a:extLst>
            </p:cNvPr>
            <p:cNvSpPr txBox="1"/>
            <p:nvPr/>
          </p:nvSpPr>
          <p:spPr>
            <a:xfrm>
              <a:off x="8647470" y="3882226"/>
              <a:ext cx="997015"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Isotropy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4" name="文字方塊 43">
                  <a:extLst>
                    <a:ext uri="{FF2B5EF4-FFF2-40B4-BE49-F238E27FC236}">
                      <a16:creationId xmlns:a16="http://schemas.microsoft.com/office/drawing/2014/main" id="{F0DF3AD4-4471-4EB4-B26E-D5619DFF35CA}"/>
                    </a:ext>
                  </a:extLst>
                </p:cNvPr>
                <p:cNvSpPr txBox="1"/>
                <p:nvPr/>
              </p:nvSpPr>
              <p:spPr>
                <a:xfrm rot="16200000">
                  <a:off x="6347020" y="2227837"/>
                  <a:ext cx="2090316"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a:latin typeface="Cambria Math" panose="02040503050406030204" pitchFamily="18" charset="0"/>
                        </a:rPr>
                        <m:t> </m:t>
                      </m:r>
                      <m:r>
                        <a:rPr lang="en-US" altLang="zh-TW" b="0" i="1" smtClean="0">
                          <a:latin typeface="Cambria Math" panose="02040503050406030204" pitchFamily="18" charset="0"/>
                        </a:rPr>
                        <m:t>(%)</m:t>
                      </m:r>
                    </m:oMath>
                  </a14:m>
                  <a:endParaRPr lang="zh-TW" altLang="en-US" dirty="0"/>
                </a:p>
              </p:txBody>
            </p:sp>
          </mc:Choice>
          <mc:Fallback xmlns="">
            <p:sp>
              <p:nvSpPr>
                <p:cNvPr id="44" name="文字方塊 43">
                  <a:extLst>
                    <a:ext uri="{FF2B5EF4-FFF2-40B4-BE49-F238E27FC236}">
                      <a16:creationId xmlns:a16="http://schemas.microsoft.com/office/drawing/2014/main" id="{F0DF3AD4-4471-4EB4-B26E-D5619DFF35CA}"/>
                    </a:ext>
                  </a:extLst>
                </p:cNvPr>
                <p:cNvSpPr txBox="1">
                  <a:spLocks noRot="1" noChangeAspect="1" noMove="1" noResize="1" noEditPoints="1" noAdjustHandles="1" noChangeArrowheads="1" noChangeShapeType="1" noTextEdit="1"/>
                </p:cNvSpPr>
                <p:nvPr/>
              </p:nvSpPr>
              <p:spPr>
                <a:xfrm rot="16200000">
                  <a:off x="6347020" y="2227837"/>
                  <a:ext cx="2090316" cy="276999"/>
                </a:xfrm>
                <a:prstGeom prst="rect">
                  <a:avLst/>
                </a:prstGeom>
                <a:blipFill>
                  <a:blip r:embed="rId8"/>
                  <a:stretch>
                    <a:fillRect l="-31111" t="-4373" r="-48889" b="-408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290239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488031"/>
            <a:ext cx="12192000" cy="193506"/>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矩形 33">
            <a:extLst>
              <a:ext uri="{FF2B5EF4-FFF2-40B4-BE49-F238E27FC236}">
                <a16:creationId xmlns:a16="http://schemas.microsoft.com/office/drawing/2014/main" id="{666288C7-F5CB-48E4-8D76-163CDF4E1521}"/>
              </a:ext>
            </a:extLst>
          </p:cNvPr>
          <p:cNvSpPr/>
          <p:nvPr/>
        </p:nvSpPr>
        <p:spPr>
          <a:xfrm>
            <a:off x="11485470" y="53602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a:extLst>
              <a:ext uri="{FF2B5EF4-FFF2-40B4-BE49-F238E27FC236}">
                <a16:creationId xmlns:a16="http://schemas.microsoft.com/office/drawing/2014/main" id="{22C1E112-AE50-46DC-8251-D6D5E0450AA8}"/>
              </a:ext>
            </a:extLst>
          </p:cNvPr>
          <p:cNvSpPr/>
          <p:nvPr/>
        </p:nvSpPr>
        <p:spPr>
          <a:xfrm>
            <a:off x="8927424"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矩形 44">
            <a:extLst>
              <a:ext uri="{FF2B5EF4-FFF2-40B4-BE49-F238E27FC236}">
                <a16:creationId xmlns:a16="http://schemas.microsoft.com/office/drawing/2014/main" id="{A7AC5CB5-ED89-4E3E-AD62-78E3BA5A407F}"/>
              </a:ext>
            </a:extLst>
          </p:cNvPr>
          <p:cNvSpPr/>
          <p:nvPr/>
        </p:nvSpPr>
        <p:spPr>
          <a:xfrm>
            <a:off x="6279842" y="70321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45">
            <a:extLst>
              <a:ext uri="{FF2B5EF4-FFF2-40B4-BE49-F238E27FC236}">
                <a16:creationId xmlns:a16="http://schemas.microsoft.com/office/drawing/2014/main" id="{ECFCDEC8-6D9E-4F90-9164-5AFC45503F9D}"/>
              </a:ext>
            </a:extLst>
          </p:cNvPr>
          <p:cNvSpPr/>
          <p:nvPr/>
        </p:nvSpPr>
        <p:spPr>
          <a:xfrm>
            <a:off x="5541053" y="1762316"/>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矩形 46">
            <a:extLst>
              <a:ext uri="{FF2B5EF4-FFF2-40B4-BE49-F238E27FC236}">
                <a16:creationId xmlns:a16="http://schemas.microsoft.com/office/drawing/2014/main" id="{42375863-2208-49BC-A294-DC35BC7C0E6F}"/>
              </a:ext>
            </a:extLst>
          </p:cNvPr>
          <p:cNvSpPr/>
          <p:nvPr/>
        </p:nvSpPr>
        <p:spPr>
          <a:xfrm>
            <a:off x="6592957" y="2469682"/>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a:extLst>
              <a:ext uri="{FF2B5EF4-FFF2-40B4-BE49-F238E27FC236}">
                <a16:creationId xmlns:a16="http://schemas.microsoft.com/office/drawing/2014/main" id="{4AEC54F1-2642-426E-80DB-775A61DDF044}"/>
              </a:ext>
            </a:extLst>
          </p:cNvPr>
          <p:cNvSpPr/>
          <p:nvPr/>
        </p:nvSpPr>
        <p:spPr>
          <a:xfrm>
            <a:off x="10930467" y="1596950"/>
            <a:ext cx="107305"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3" name="群組 22">
            <a:extLst>
              <a:ext uri="{FF2B5EF4-FFF2-40B4-BE49-F238E27FC236}">
                <a16:creationId xmlns:a16="http://schemas.microsoft.com/office/drawing/2014/main" id="{D872CA14-590B-4B25-8D56-51869107EFD2}"/>
              </a:ext>
            </a:extLst>
          </p:cNvPr>
          <p:cNvGrpSpPr/>
          <p:nvPr/>
        </p:nvGrpSpPr>
        <p:grpSpPr>
          <a:xfrm>
            <a:off x="6875133" y="3508868"/>
            <a:ext cx="3168560" cy="2172283"/>
            <a:chOff x="6867344" y="3740617"/>
            <a:chExt cx="3168560" cy="2172283"/>
          </a:xfrm>
        </p:grpSpPr>
        <p:sp>
          <p:nvSpPr>
            <p:cNvPr id="48" name="矩形 47">
              <a:extLst>
                <a:ext uri="{FF2B5EF4-FFF2-40B4-BE49-F238E27FC236}">
                  <a16:creationId xmlns:a16="http://schemas.microsoft.com/office/drawing/2014/main" id="{B096E37E-8AC9-44B3-8AC0-85DBA5186884}"/>
                </a:ext>
              </a:extLst>
            </p:cNvPr>
            <p:cNvSpPr/>
            <p:nvPr/>
          </p:nvSpPr>
          <p:spPr>
            <a:xfrm>
              <a:off x="8832312" y="4530195"/>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a:extLst>
                <a:ext uri="{FF2B5EF4-FFF2-40B4-BE49-F238E27FC236}">
                  <a16:creationId xmlns:a16="http://schemas.microsoft.com/office/drawing/2014/main" id="{D78A5635-6392-4A3A-8FB5-9101D27D904D}"/>
                </a:ext>
              </a:extLst>
            </p:cNvPr>
            <p:cNvSpPr/>
            <p:nvPr/>
          </p:nvSpPr>
          <p:spPr>
            <a:xfrm>
              <a:off x="7680057" y="374061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a:extLst>
                <a:ext uri="{FF2B5EF4-FFF2-40B4-BE49-F238E27FC236}">
                  <a16:creationId xmlns:a16="http://schemas.microsoft.com/office/drawing/2014/main" id="{9E623D93-181D-445B-A97C-8949FD369C96}"/>
                </a:ext>
              </a:extLst>
            </p:cNvPr>
            <p:cNvSpPr/>
            <p:nvPr/>
          </p:nvSpPr>
          <p:spPr>
            <a:xfrm>
              <a:off x="6867344" y="4901407"/>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a:extLst>
                <a:ext uri="{FF2B5EF4-FFF2-40B4-BE49-F238E27FC236}">
                  <a16:creationId xmlns:a16="http://schemas.microsoft.com/office/drawing/2014/main" id="{291D2EE2-3DA4-43C1-834D-6A683319D87B}"/>
                </a:ext>
              </a:extLst>
            </p:cNvPr>
            <p:cNvSpPr/>
            <p:nvPr/>
          </p:nvSpPr>
          <p:spPr>
            <a:xfrm>
              <a:off x="8022867" y="5680623"/>
              <a:ext cx="279399"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a:extLst>
                <a:ext uri="{FF2B5EF4-FFF2-40B4-BE49-F238E27FC236}">
                  <a16:creationId xmlns:a16="http://schemas.microsoft.com/office/drawing/2014/main" id="{62E44167-7C8B-4193-8CDE-E0AF63648A86}"/>
                </a:ext>
              </a:extLst>
            </p:cNvPr>
            <p:cNvSpPr/>
            <p:nvPr/>
          </p:nvSpPr>
          <p:spPr>
            <a:xfrm>
              <a:off x="9817350" y="4701989"/>
              <a:ext cx="218554" cy="2322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1" name="矩形 70">
            <a:extLst>
              <a:ext uri="{FF2B5EF4-FFF2-40B4-BE49-F238E27FC236}">
                <a16:creationId xmlns:a16="http://schemas.microsoft.com/office/drawing/2014/main" id="{339F7727-7052-4D90-B6A9-2AED4DBC48EF}"/>
              </a:ext>
            </a:extLst>
          </p:cNvPr>
          <p:cNvSpPr/>
          <p:nvPr/>
        </p:nvSpPr>
        <p:spPr>
          <a:xfrm>
            <a:off x="9556542" y="4654243"/>
            <a:ext cx="218554" cy="2218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8" name="群組 7">
            <a:extLst>
              <a:ext uri="{FF2B5EF4-FFF2-40B4-BE49-F238E27FC236}">
                <a16:creationId xmlns:a16="http://schemas.microsoft.com/office/drawing/2014/main" id="{54607F0B-9399-46DC-A751-46D610BD1351}"/>
              </a:ext>
            </a:extLst>
          </p:cNvPr>
          <p:cNvGrpSpPr/>
          <p:nvPr/>
        </p:nvGrpSpPr>
        <p:grpSpPr>
          <a:xfrm>
            <a:off x="7345935" y="1930440"/>
            <a:ext cx="3264315" cy="2877114"/>
            <a:chOff x="7276685" y="1998989"/>
            <a:chExt cx="3264315" cy="2877114"/>
          </a:xfrm>
        </p:grpSpPr>
        <p:sp>
          <p:nvSpPr>
            <p:cNvPr id="7" name="矩形 6">
              <a:extLst>
                <a:ext uri="{FF2B5EF4-FFF2-40B4-BE49-F238E27FC236}">
                  <a16:creationId xmlns:a16="http://schemas.microsoft.com/office/drawing/2014/main" id="{29F3120E-FFA5-49F9-B607-4539075AF0F8}"/>
                </a:ext>
              </a:extLst>
            </p:cNvPr>
            <p:cNvSpPr/>
            <p:nvPr/>
          </p:nvSpPr>
          <p:spPr>
            <a:xfrm>
              <a:off x="9145978" y="4605175"/>
              <a:ext cx="1395022"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a:extLst>
                <a:ext uri="{FF2B5EF4-FFF2-40B4-BE49-F238E27FC236}">
                  <a16:creationId xmlns:a16="http://schemas.microsoft.com/office/drawing/2014/main" id="{2F909DB8-68B5-4CC8-88B1-5CEC2797D52D}"/>
                </a:ext>
              </a:extLst>
            </p:cNvPr>
            <p:cNvSpPr/>
            <p:nvPr/>
          </p:nvSpPr>
          <p:spPr>
            <a:xfrm rot="16200000">
              <a:off x="6616710" y="2658964"/>
              <a:ext cx="1590877" cy="2709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52917676"/>
                  </p:ext>
                </p:extLst>
              </p:nvPr>
            </p:nvGraphicFramePr>
            <p:xfrm>
              <a:off x="3014857" y="4043148"/>
              <a:ext cx="2606580" cy="731520"/>
            </p:xfrm>
            <a:graphic>
              <a:graphicData uri="http://schemas.openxmlformats.org/drawingml/2006/table">
                <a:tbl>
                  <a:tblPr firstRow="1" bandRow="1">
                    <a:tableStyleId>{5940675A-B579-460E-94D1-54222C63F5DA}</a:tableStyleId>
                  </a:tblPr>
                  <a:tblGrid>
                    <a:gridCol w="868860">
                      <a:extLst>
                        <a:ext uri="{9D8B030D-6E8A-4147-A177-3AD203B41FA5}">
                          <a16:colId xmlns:a16="http://schemas.microsoft.com/office/drawing/2014/main" val="1576531335"/>
                        </a:ext>
                      </a:extLst>
                    </a:gridCol>
                    <a:gridCol w="868860">
                      <a:extLst>
                        <a:ext uri="{9D8B030D-6E8A-4147-A177-3AD203B41FA5}">
                          <a16:colId xmlns:a16="http://schemas.microsoft.com/office/drawing/2014/main" val="3507019064"/>
                        </a:ext>
                      </a:extLst>
                    </a:gridCol>
                    <a:gridCol w="868860">
                      <a:extLst>
                        <a:ext uri="{9D8B030D-6E8A-4147-A177-3AD203B41FA5}">
                          <a16:colId xmlns:a16="http://schemas.microsoft.com/office/drawing/2014/main" val="1921430209"/>
                        </a:ext>
                      </a:extLst>
                    </a:gridCol>
                  </a:tblGrid>
                  <a:tr h="237459">
                    <a:tc>
                      <a:txBody>
                        <a:bodyPr/>
                        <a:lstStyle/>
                        <a:p>
                          <a:endParaRPr lang="zh-TW" altLang="en-US" sz="1200"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zh-TW" altLang="en-US" sz="1200" i="1" smtClean="0">
                                        <a:latin typeface="Cambria Math" panose="02040503050406030204" pitchFamily="18" charset="0"/>
                                      </a:rPr>
                                      <m:t>𝜎</m:t>
                                    </m:r>
                                  </m:e>
                                  <m:sub>
                                    <m:r>
                                      <a:rPr lang="en-US" altLang="zh-TW" sz="1200" b="0" i="1" smtClean="0">
                                        <a:latin typeface="Cambria Math" panose="02040503050406030204" pitchFamily="18" charset="0"/>
                                      </a:rPr>
                                      <m:t>11</m:t>
                                    </m:r>
                                  </m:sub>
                                </m:sSub>
                              </m:oMath>
                            </m:oMathPara>
                          </a14:m>
                          <a:endParaRPr lang="zh-TW" altLang="en-US" sz="12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zh-TW" altLang="en-US" sz="1200" i="1" smtClean="0">
                                        <a:latin typeface="Cambria Math" panose="02040503050406030204" pitchFamily="18" charset="0"/>
                                      </a:rPr>
                                      <m:t>𝜎</m:t>
                                    </m:r>
                                  </m:e>
                                  <m:sub>
                                    <m:r>
                                      <a:rPr lang="en-US" altLang="zh-TW" sz="1200" b="0" i="1" smtClean="0">
                                        <a:latin typeface="Cambria Math" panose="02040503050406030204" pitchFamily="18" charset="0"/>
                                      </a:rPr>
                                      <m:t>22</m:t>
                                    </m:r>
                                  </m:sub>
                                </m:sSub>
                              </m:oMath>
                            </m:oMathPara>
                          </a14:m>
                          <a:endParaRPr lang="zh-TW" altLang="en-US" sz="1200" dirty="0"/>
                        </a:p>
                      </a:txBody>
                      <a:tcPr/>
                    </a:tc>
                    <a:extLst>
                      <a:ext uri="{0D108BD9-81ED-4DB2-BD59-A6C34878D82A}">
                        <a16:rowId xmlns:a16="http://schemas.microsoft.com/office/drawing/2014/main" val="168208475"/>
                      </a:ext>
                    </a:extLst>
                  </a:tr>
                  <a:tr h="395764">
                    <a:tc>
                      <a:txBody>
                        <a:bodyPr/>
                        <a:lstStyle/>
                        <a:p>
                          <a:pPr algn="ctr"/>
                          <a:r>
                            <a:rPr lang="en-US" altLang="zh-TW" sz="1200" dirty="0"/>
                            <a:t>Mean</a:t>
                          </a:r>
                          <a14:m>
                            <m:oMath xmlns:m="http://schemas.openxmlformats.org/officeDocument/2006/math">
                              <m:r>
                                <a:rPr lang="en-US" altLang="zh-TW" sz="1200" b="0" i="1" smtClean="0">
                                  <a:latin typeface="Cambria Math" panose="02040503050406030204" pitchFamily="18" charset="0"/>
                                </a:rPr>
                                <m:t>(</m:t>
                              </m:r>
                              <m:f>
                                <m:fPr>
                                  <m:type m:val="lin"/>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𝑚𝑇</m:t>
                                  </m:r>
                                </m:num>
                                <m:den>
                                  <m:r>
                                    <a:rPr lang="en-US" altLang="zh-TW" sz="1200" b="0" i="1" smtClean="0">
                                      <a:latin typeface="Cambria Math" panose="02040503050406030204" pitchFamily="18" charset="0"/>
                                    </a:rPr>
                                    <m:t>𝐴</m:t>
                                  </m:r>
                                  <m:r>
                                    <a:rPr lang="en-US" altLang="zh-TW" sz="1200" b="0" i="1" smtClean="0">
                                      <a:latin typeface="Cambria Math" panose="02040503050406030204" pitchFamily="18" charset="0"/>
                                    </a:rPr>
                                    <m:t>)</m:t>
                                  </m:r>
                                </m:den>
                              </m:f>
                            </m:oMath>
                          </a14:m>
                          <a:endParaRPr lang="zh-TW" altLang="en-US" sz="1200" dirty="0"/>
                        </a:p>
                      </a:txBody>
                      <a:tcPr/>
                    </a:tc>
                    <a:tc>
                      <a:txBody>
                        <a:bodyPr/>
                        <a:lstStyle/>
                        <a:p>
                          <a:pPr algn="ctr"/>
                          <a:r>
                            <a:rPr lang="en-US" altLang="zh-TW" sz="1200" dirty="0"/>
                            <a:t>24</a:t>
                          </a:r>
                          <a:endParaRPr lang="zh-TW" alt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39.468</a:t>
                          </a:r>
                          <a:endParaRPr lang="zh-TW" altLang="en-US" sz="1200" dirty="0"/>
                        </a:p>
                        <a:p>
                          <a:pPr algn="ctr"/>
                          <a:endParaRPr lang="zh-TW" altLang="en-US" sz="1200"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0" name="表格 10">
                <a:extLst>
                  <a:ext uri="{FF2B5EF4-FFF2-40B4-BE49-F238E27FC236}">
                    <a16:creationId xmlns:a16="http://schemas.microsoft.com/office/drawing/2014/main" id="{8AD94496-9899-4763-AC19-DE9E4B62DF29}"/>
                  </a:ext>
                </a:extLst>
              </p:cNvPr>
              <p:cNvGraphicFramePr>
                <a:graphicFrameLocks noGrp="1"/>
              </p:cNvGraphicFramePr>
              <p:nvPr>
                <p:extLst>
                  <p:ext uri="{D42A27DB-BD31-4B8C-83A1-F6EECF244321}">
                    <p14:modId xmlns:p14="http://schemas.microsoft.com/office/powerpoint/2010/main" val="152917676"/>
                  </p:ext>
                </p:extLst>
              </p:nvPr>
            </p:nvGraphicFramePr>
            <p:xfrm>
              <a:off x="3014857" y="4043148"/>
              <a:ext cx="2606580" cy="731520"/>
            </p:xfrm>
            <a:graphic>
              <a:graphicData uri="http://schemas.openxmlformats.org/drawingml/2006/table">
                <a:tbl>
                  <a:tblPr firstRow="1" bandRow="1">
                    <a:tableStyleId>{5940675A-B579-460E-94D1-54222C63F5DA}</a:tableStyleId>
                  </a:tblPr>
                  <a:tblGrid>
                    <a:gridCol w="868860">
                      <a:extLst>
                        <a:ext uri="{9D8B030D-6E8A-4147-A177-3AD203B41FA5}">
                          <a16:colId xmlns:a16="http://schemas.microsoft.com/office/drawing/2014/main" val="1576531335"/>
                        </a:ext>
                      </a:extLst>
                    </a:gridCol>
                    <a:gridCol w="868860">
                      <a:extLst>
                        <a:ext uri="{9D8B030D-6E8A-4147-A177-3AD203B41FA5}">
                          <a16:colId xmlns:a16="http://schemas.microsoft.com/office/drawing/2014/main" val="3507019064"/>
                        </a:ext>
                      </a:extLst>
                    </a:gridCol>
                    <a:gridCol w="868860">
                      <a:extLst>
                        <a:ext uri="{9D8B030D-6E8A-4147-A177-3AD203B41FA5}">
                          <a16:colId xmlns:a16="http://schemas.microsoft.com/office/drawing/2014/main" val="1921430209"/>
                        </a:ext>
                      </a:extLst>
                    </a:gridCol>
                  </a:tblGrid>
                  <a:tr h="274320">
                    <a:tc>
                      <a:txBody>
                        <a:bodyPr/>
                        <a:lstStyle/>
                        <a:p>
                          <a:endParaRPr lang="zh-TW" altLang="en-US" sz="1200"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2"/>
                          <a:stretch>
                            <a:fillRect l="-100699" t="-2222" r="-101399" b="-315556"/>
                          </a:stretch>
                        </a:blipFill>
                      </a:tcPr>
                    </a:tc>
                    <a:tc>
                      <a:txBody>
                        <a:bodyPr/>
                        <a:lstStyle/>
                        <a:p>
                          <a:endParaRPr lang="zh-TW"/>
                        </a:p>
                      </a:txBody>
                      <a:tcPr>
                        <a:blipFill>
                          <a:blip r:embed="rId2"/>
                          <a:stretch>
                            <a:fillRect l="-200699" t="-2222" r="-1399" b="-315556"/>
                          </a:stretch>
                        </a:blipFill>
                      </a:tcPr>
                    </a:tc>
                    <a:extLst>
                      <a:ext uri="{0D108BD9-81ED-4DB2-BD59-A6C34878D82A}">
                        <a16:rowId xmlns:a16="http://schemas.microsoft.com/office/drawing/2014/main" val="168208475"/>
                      </a:ext>
                    </a:extLst>
                  </a:tr>
                  <a:tr h="457200">
                    <a:tc>
                      <a:txBody>
                        <a:bodyPr/>
                        <a:lstStyle/>
                        <a:p>
                          <a:endParaRPr lang="zh-TW"/>
                        </a:p>
                      </a:txBody>
                      <a:tcPr>
                        <a:blipFill>
                          <a:blip r:embed="rId2"/>
                          <a:stretch>
                            <a:fillRect l="-699" t="-60526" r="-201399" b="-86842"/>
                          </a:stretch>
                        </a:blipFill>
                      </a:tcPr>
                    </a:tc>
                    <a:tc>
                      <a:txBody>
                        <a:bodyPr/>
                        <a:lstStyle/>
                        <a:p>
                          <a:pPr algn="ctr"/>
                          <a:r>
                            <a:rPr lang="en-US" altLang="zh-TW" sz="1200" dirty="0"/>
                            <a:t>24</a:t>
                          </a:r>
                          <a:endParaRPr lang="zh-TW" alt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dirty="0"/>
                            <a:t>39.468</a:t>
                          </a:r>
                          <a:endParaRPr lang="zh-TW" altLang="en-US" sz="1200" dirty="0"/>
                        </a:p>
                        <a:p>
                          <a:pPr algn="ctr"/>
                          <a:endParaRPr lang="zh-TW" altLang="en-US" sz="1200" dirty="0"/>
                        </a:p>
                      </a:txBody>
                      <a:tcPr/>
                    </a:tc>
                    <a:extLst>
                      <a:ext uri="{0D108BD9-81ED-4DB2-BD59-A6C34878D82A}">
                        <a16:rowId xmlns:a16="http://schemas.microsoft.com/office/drawing/2014/main" val="3046649366"/>
                      </a:ext>
                    </a:extLst>
                  </a:tr>
                </a:tbl>
              </a:graphicData>
            </a:graphic>
          </p:graphicFrame>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CEA6580-59CB-491D-9A56-1E4B23E7DF7D}"/>
                  </a:ext>
                </a:extLst>
              </p:cNvPr>
              <p:cNvSpPr txBox="1"/>
              <p:nvPr/>
            </p:nvSpPr>
            <p:spPr>
              <a:xfrm>
                <a:off x="-70510" y="466356"/>
                <a:ext cx="11555980" cy="3867597"/>
              </a:xfrm>
              <a:prstGeom prst="rect">
                <a:avLst/>
              </a:prstGeom>
              <a:noFill/>
            </p:spPr>
            <p:txBody>
              <a:bodyPr wrap="square">
                <a:spAutoFit/>
              </a:bodyPr>
              <a:lstStyle/>
              <a:p>
                <a:pPr marL="285750" indent="-285750">
                  <a:buFont typeface="Arial" panose="020B0604020202020204" pitchFamily="34" charset="0"/>
                  <a:buChar char="•"/>
                </a:pPr>
                <a:r>
                  <a:rPr lang="en-US" altLang="zh-TW" dirty="0"/>
                  <a:t>The capacity measure </a:t>
                </a:r>
                <a14:m>
                  <m:oMath xmlns:m="http://schemas.openxmlformats.org/officeDocument/2006/math">
                    <m:sSup>
                      <m:sSupPr>
                        <m:ctrlPr>
                          <a:rPr lang="en-US" altLang="zh-TW" i="1" smtClean="0">
                            <a:latin typeface="Cambria Math" panose="02040503050406030204" pitchFamily="18" charset="0"/>
                          </a:rPr>
                        </m:ctrlPr>
                      </m:sSupPr>
                      <m:e>
                        <m:r>
                          <a:rPr lang="zh-TW" altLang="en-US" i="1" smtClean="0">
                            <a:latin typeface="Cambria Math" panose="02040503050406030204" pitchFamily="18" charset="0"/>
                          </a:rPr>
                          <m:t>𝒞</m:t>
                        </m:r>
                      </m:e>
                      <m:sup>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3</m:t>
                            </m:r>
                          </m:den>
                        </m:f>
                      </m:sup>
                    </m:sSup>
                  </m:oMath>
                </a14:m>
                <a:r>
                  <a:rPr lang="en-US" altLang="zh-TW" dirty="0"/>
                  <a:t>and the isotropy κ of the gap and no-gap versions are overlaid for direct comparison. Each series is </a:t>
                </a:r>
                <a:r>
                  <a:rPr lang="en-US" altLang="zh-TW" dirty="0" err="1"/>
                  <a:t>normalised</a:t>
                </a:r>
                <a:r>
                  <a:rPr lang="en-US" altLang="zh-TW" dirty="0"/>
                  <a:t> to a percentage and both share one set of bins (0.05 </a:t>
                </a:r>
                <a:r>
                  <a:rPr lang="en-US" altLang="zh-TW" dirty="0" err="1"/>
                  <a:t>mT</a:t>
                </a:r>
                <a:r>
                  <a:rPr lang="en-US" altLang="zh-TW" dirty="0"/>
                  <a:t>/A for </a:t>
                </a:r>
                <a14:m>
                  <m:oMath xmlns:m="http://schemas.openxmlformats.org/officeDocument/2006/math">
                    <m:sSup>
                      <m:sSupPr>
                        <m:ctrlPr>
                          <a:rPr lang="en-US" altLang="zh-TW" i="1">
                            <a:latin typeface="Cambria Math" panose="02040503050406030204" pitchFamily="18" charset="0"/>
                          </a:rPr>
                        </m:ctrlPr>
                      </m:sSupPr>
                      <m:e>
                        <m:r>
                          <a:rPr lang="zh-TW" altLang="en-US" i="1">
                            <a:latin typeface="Cambria Math" panose="02040503050406030204" pitchFamily="18" charset="0"/>
                          </a:rPr>
                          <m:t>𝒞</m:t>
                        </m:r>
                      </m:e>
                      <m:sup>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3</m:t>
                            </m:r>
                          </m:den>
                        </m:f>
                      </m:sup>
                    </m:sSup>
                  </m:oMath>
                </a14:m>
                <a:r>
                  <a:rPr lang="en-US" altLang="zh-TW" dirty="0"/>
                  <a:t>, 0.01 for </a:t>
                </a:r>
                <a14:m>
                  <m:oMath xmlns:m="http://schemas.openxmlformats.org/officeDocument/2006/math">
                    <m:r>
                      <a:rPr lang="zh-TW" altLang="en-US" i="1" smtClean="0">
                        <a:latin typeface="Cambria Math" panose="02040503050406030204" pitchFamily="18" charset="0"/>
                      </a:rPr>
                      <m:t>𝜅</m:t>
                    </m:r>
                  </m:oMath>
                </a14:m>
                <a:r>
                  <a:rPr lang="en-US" altLang="zh-TW" dirty="0"/>
                  <a:t>), so bar heights within each panel are directly comparable.</a:t>
                </a:r>
              </a:p>
              <a:p>
                <a:pPr marL="285750" indent="-285750">
                  <a:buFont typeface="Arial" panose="020B0604020202020204" pitchFamily="34" charset="0"/>
                  <a:buChar char="•"/>
                </a:pPr>
                <a:r>
                  <a:rPr lang="en-US" altLang="zh-TW" dirty="0"/>
                  <a:t>The two metrics respond very differently to the gap, and the reason is their differing sensitivity to overall scale. </a:t>
                </a:r>
                <a14:m>
                  <m:oMath xmlns:m="http://schemas.openxmlformats.org/officeDocument/2006/math">
                    <m:sSup>
                      <m:sSupPr>
                        <m:ctrlPr>
                          <a:rPr lang="en-US" altLang="zh-TW" i="1" smtClean="0">
                            <a:latin typeface="Cambria Math" panose="02040503050406030204" pitchFamily="18" charset="0"/>
                          </a:rPr>
                        </m:ctrlPr>
                      </m:sSupPr>
                      <m:e>
                        <m:r>
                          <a:rPr lang="zh-TW" altLang="en-US" i="1">
                            <a:latin typeface="Cambria Math" panose="02040503050406030204" pitchFamily="18" charset="0"/>
                          </a:rPr>
                          <m:t>𝒞</m:t>
                        </m:r>
                      </m:e>
                      <m:sup>
                        <m:f>
                          <m:fPr>
                            <m:ctrlPr>
                              <a:rPr lang="en-US" altLang="zh-TW" i="1">
                                <a:latin typeface="Cambria Math" panose="02040503050406030204" pitchFamily="18" charset="0"/>
                              </a:rPr>
                            </m:ctrlPr>
                          </m:fPr>
                          <m:num>
                            <m:r>
                              <a:rPr lang="en-US" altLang="zh-TW" i="1">
                                <a:latin typeface="Cambria Math" panose="02040503050406030204" pitchFamily="18" charset="0"/>
                              </a:rPr>
                              <m:t>1</m:t>
                            </m:r>
                          </m:num>
                          <m:den>
                            <m:r>
                              <a:rPr lang="en-US" altLang="zh-TW" i="1">
                                <a:latin typeface="Cambria Math" panose="02040503050406030204" pitchFamily="18" charset="0"/>
                              </a:rPr>
                              <m:t>3</m:t>
                            </m:r>
                          </m:den>
                        </m:f>
                      </m:sup>
                    </m:sSup>
                    <m:r>
                      <a:rPr lang="en-US" altLang="zh-TW" i="1">
                        <a:latin typeface="Cambria Math" panose="02040503050406030204" pitchFamily="18" charset="0"/>
                      </a:rPr>
                      <m:t> </m:t>
                    </m:r>
                  </m:oMath>
                </a14:m>
                <a:r>
                  <a:rPr lang="en-US" altLang="zh-TW" dirty="0"/>
                  <a:t>is proportional to the overall gain: the gap inserts extra reluctance in each pole's magnetic circuit, so less flux reaches the tip for the same current and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r>
                  <a:rPr lang="en-US" altLang="zh-TW" dirty="0"/>
                  <a:t>falls directly to 0.658×. The two distributions are consequently fully separated, the mean dropping from 39.47 to 24.00 </a:t>
                </a:r>
                <a:r>
                  <a:rPr lang="en-US" altLang="zh-TW" dirty="0" err="1"/>
                  <a:t>mT</a:t>
                </a:r>
                <a:r>
                  <a:rPr lang="en-US" altLang="zh-TW" dirty="0"/>
                  <a:t>/A (0.61×) while the width is essentially unchanged (about 1.7 % variation in both) — a bulk shift rather than a change of shape.</a:t>
                </a:r>
                <a14:m>
                  <m:oMath xmlns:m="http://schemas.openxmlformats.org/officeDocument/2006/math">
                    <m:r>
                      <a:rPr lang="zh-TW" altLang="en-US" i="1">
                        <a:latin typeface="Cambria Math" panose="02040503050406030204" pitchFamily="18" charset="0"/>
                      </a:rPr>
                      <m:t>𝜅</m:t>
                    </m:r>
                  </m:oMath>
                </a14:m>
                <a:r>
                  <a:rPr lang="en-US" altLang="zh-TW" dirty="0"/>
                  <a:t>, being the ratio σ₃/σ₁, is insensitive to overall scale and reflects only the relative distribution among the six poles; since the gap widens the pole-strength spread from 13.3 % to 27.5 %,</a:t>
                </a:r>
                <a14:m>
                  <m:oMath xmlns:m="http://schemas.openxmlformats.org/officeDocument/2006/math">
                    <m:r>
                      <a:rPr lang="zh-TW" altLang="en-US" i="1">
                        <a:latin typeface="Cambria Math" panose="02040503050406030204" pitchFamily="18" charset="0"/>
                      </a:rPr>
                      <m:t>𝜅</m:t>
                    </m:r>
                  </m:oMath>
                </a14:m>
                <a:r>
                  <a:rPr lang="en-US" altLang="zh-TW" dirty="0"/>
                  <a:t> falls only slightly, from 0.542 to 0.482 (0.89×), and the two distributions overlap substantially. The cost of the gap therefore falls almost entirely on strength,</a:t>
                </a:r>
              </a:p>
              <a:p>
                <a:pPr marL="285750" indent="-285750">
                  <a:buFont typeface="Arial" panose="020B0604020202020204" pitchFamily="34" charset="0"/>
                  <a:buChar char="•"/>
                </a:pPr>
                <a:endParaRPr lang="zh-TW" altLang="en-US" dirty="0"/>
              </a:p>
            </p:txBody>
          </p:sp>
        </mc:Choice>
        <mc:Fallback xmlns="">
          <p:sp>
            <p:nvSpPr>
              <p:cNvPr id="36" name="文字方塊 35">
                <a:extLst>
                  <a:ext uri="{FF2B5EF4-FFF2-40B4-BE49-F238E27FC236}">
                    <a16:creationId xmlns:a16="http://schemas.microsoft.com/office/drawing/2014/main" id="{BCEA6580-59CB-491D-9A56-1E4B23E7DF7D}"/>
                  </a:ext>
                </a:extLst>
              </p:cNvPr>
              <p:cNvSpPr txBox="1">
                <a:spLocks noRot="1" noChangeAspect="1" noMove="1" noResize="1" noEditPoints="1" noAdjustHandles="1" noChangeArrowheads="1" noChangeShapeType="1" noTextEdit="1"/>
              </p:cNvSpPr>
              <p:nvPr/>
            </p:nvSpPr>
            <p:spPr>
              <a:xfrm>
                <a:off x="-70510" y="466356"/>
                <a:ext cx="11555980" cy="3867597"/>
              </a:xfrm>
              <a:prstGeom prst="rect">
                <a:avLst/>
              </a:prstGeom>
              <a:blipFill>
                <a:blip r:embed="rId3"/>
                <a:stretch>
                  <a:fillRect l="-316" r="-422"/>
                </a:stretch>
              </a:blipFill>
            </p:spPr>
            <p:txBody>
              <a:bodyPr/>
              <a:lstStyle/>
              <a:p>
                <a:r>
                  <a:rPr lang="zh-TW" altLang="en-US">
                    <a:noFill/>
                  </a:rPr>
                  <a:t> </a:t>
                </a:r>
              </a:p>
            </p:txBody>
          </p:sp>
        </mc:Fallback>
      </mc:AlternateContent>
      <p:sp>
        <p:nvSpPr>
          <p:cNvPr id="38" name="文字方塊 37">
            <a:extLst>
              <a:ext uri="{FF2B5EF4-FFF2-40B4-BE49-F238E27FC236}">
                <a16:creationId xmlns:a16="http://schemas.microsoft.com/office/drawing/2014/main" id="{AB84E969-29EF-4675-811E-DF8EC32587D4}"/>
              </a:ext>
            </a:extLst>
          </p:cNvPr>
          <p:cNvSpPr txBox="1"/>
          <p:nvPr/>
        </p:nvSpPr>
        <p:spPr>
          <a:xfrm>
            <a:off x="0" y="285358"/>
            <a:ext cx="3588625" cy="369332"/>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err="1"/>
              <a:t>DesignB</a:t>
            </a:r>
            <a:r>
              <a:rPr lang="en-US" altLang="zh-TW" dirty="0"/>
              <a:t>(Have gap &amp; No gap</a:t>
            </a:r>
            <a:r>
              <a:rPr lang="zh-TW" altLang="en-US" dirty="0"/>
              <a:t> </a:t>
            </a:r>
            <a:r>
              <a:rPr lang="en-US" altLang="zh-TW" dirty="0"/>
              <a:t>)</a:t>
            </a:r>
            <a:endParaRPr lang="zh-TW" altLang="en-US" dirty="0"/>
          </a:p>
        </p:txBody>
      </p:sp>
      <mc:AlternateContent xmlns:mc="http://schemas.openxmlformats.org/markup-compatibility/2006" xmlns:a14="http://schemas.microsoft.com/office/drawing/2010/main">
        <mc:Choice Requires="a14">
          <p:graphicFrame>
            <p:nvGraphicFramePr>
              <p:cNvPr id="31" name="表格 10">
                <a:extLst>
                  <a:ext uri="{FF2B5EF4-FFF2-40B4-BE49-F238E27FC236}">
                    <a16:creationId xmlns:a16="http://schemas.microsoft.com/office/drawing/2014/main" id="{CAF158FD-5D4F-4D95-94B5-6812F8B4A312}"/>
                  </a:ext>
                </a:extLst>
              </p:cNvPr>
              <p:cNvGraphicFramePr>
                <a:graphicFrameLocks noGrp="1"/>
              </p:cNvGraphicFramePr>
              <p:nvPr>
                <p:extLst>
                  <p:ext uri="{D42A27DB-BD31-4B8C-83A1-F6EECF244321}">
                    <p14:modId xmlns:p14="http://schemas.microsoft.com/office/powerpoint/2010/main" val="2301746861"/>
                  </p:ext>
                </p:extLst>
              </p:nvPr>
            </p:nvGraphicFramePr>
            <p:xfrm>
              <a:off x="9109402" y="4007306"/>
              <a:ext cx="2985279" cy="850064"/>
            </p:xfrm>
            <a:graphic>
              <a:graphicData uri="http://schemas.openxmlformats.org/drawingml/2006/table">
                <a:tbl>
                  <a:tblPr firstRow="1" bandRow="1">
                    <a:tableStyleId>{5940675A-B579-460E-94D1-54222C63F5DA}</a:tableStyleId>
                  </a:tblPr>
                  <a:tblGrid>
                    <a:gridCol w="995093">
                      <a:extLst>
                        <a:ext uri="{9D8B030D-6E8A-4147-A177-3AD203B41FA5}">
                          <a16:colId xmlns:a16="http://schemas.microsoft.com/office/drawing/2014/main" val="1576531335"/>
                        </a:ext>
                      </a:extLst>
                    </a:gridCol>
                    <a:gridCol w="995093">
                      <a:extLst>
                        <a:ext uri="{9D8B030D-6E8A-4147-A177-3AD203B41FA5}">
                          <a16:colId xmlns:a16="http://schemas.microsoft.com/office/drawing/2014/main" val="3507019064"/>
                        </a:ext>
                      </a:extLst>
                    </a:gridCol>
                    <a:gridCol w="995093">
                      <a:extLst>
                        <a:ext uri="{9D8B030D-6E8A-4147-A177-3AD203B41FA5}">
                          <a16:colId xmlns:a16="http://schemas.microsoft.com/office/drawing/2014/main" val="1921430209"/>
                        </a:ext>
                      </a:extLst>
                    </a:gridCol>
                  </a:tblGrid>
                  <a:tr h="392864">
                    <a:tc>
                      <a:txBody>
                        <a:bodyPr/>
                        <a:lstStyle/>
                        <a:p>
                          <a:endParaRPr lang="zh-TW" altLang="en-US" sz="1200" dirty="0"/>
                        </a:p>
                      </a:txBody>
                      <a:tcPr>
                        <a:lnTlToBr w="12700" cap="flat" cmpd="sng" algn="ctr">
                          <a:solidFill>
                            <a:schemeClr val="tx1"/>
                          </a:solidFill>
                          <a:prstDash val="solid"/>
                          <a:round/>
                          <a:headEnd type="none" w="med" len="med"/>
                          <a:tailEnd type="none" w="med" len="med"/>
                        </a:lnTlToBr>
                      </a:tcP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zh-TW" altLang="en-US" sz="1200" i="1" smtClean="0">
                                        <a:latin typeface="Cambria Math" panose="02040503050406030204" pitchFamily="18" charset="0"/>
                                      </a:rPr>
                                      <m:t>𝜎</m:t>
                                    </m:r>
                                  </m:e>
                                  <m:sub>
                                    <m:r>
                                      <a:rPr lang="en-US" altLang="zh-TW" sz="1200" b="0" i="1" smtClean="0">
                                        <a:latin typeface="Cambria Math" panose="02040503050406030204" pitchFamily="18" charset="0"/>
                                      </a:rPr>
                                      <m:t>11</m:t>
                                    </m:r>
                                  </m:sub>
                                </m:sSub>
                              </m:oMath>
                            </m:oMathPara>
                          </a14:m>
                          <a:endParaRPr lang="zh-TW" altLang="en-US" sz="1200"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altLang="zh-TW" sz="1200" i="1" smtClean="0">
                                        <a:latin typeface="Cambria Math" panose="02040503050406030204" pitchFamily="18" charset="0"/>
                                      </a:rPr>
                                    </m:ctrlPr>
                                  </m:sSubPr>
                                  <m:e>
                                    <m:r>
                                      <a:rPr lang="zh-TW" altLang="en-US" sz="1200" i="1" smtClean="0">
                                        <a:latin typeface="Cambria Math" panose="02040503050406030204" pitchFamily="18" charset="0"/>
                                      </a:rPr>
                                      <m:t>𝜎</m:t>
                                    </m:r>
                                  </m:e>
                                  <m:sub>
                                    <m:r>
                                      <a:rPr lang="en-US" altLang="zh-TW" sz="1200" b="0" i="1" smtClean="0">
                                        <a:latin typeface="Cambria Math" panose="02040503050406030204" pitchFamily="18" charset="0"/>
                                      </a:rPr>
                                      <m:t>22</m:t>
                                    </m:r>
                                  </m:sub>
                                </m:sSub>
                              </m:oMath>
                            </m:oMathPara>
                          </a14:m>
                          <a:endParaRPr lang="zh-TW" altLang="en-US" sz="1200" dirty="0"/>
                        </a:p>
                      </a:txBody>
                      <a:tcPr/>
                    </a:tc>
                    <a:extLst>
                      <a:ext uri="{0D108BD9-81ED-4DB2-BD59-A6C34878D82A}">
                        <a16:rowId xmlns:a16="http://schemas.microsoft.com/office/drawing/2014/main" val="168208475"/>
                      </a:ext>
                    </a:extLst>
                  </a:tr>
                  <a:tr h="434297">
                    <a:tc>
                      <a:txBody>
                        <a:bodyPr/>
                        <a:lstStyle/>
                        <a:p>
                          <a:pPr algn="ctr"/>
                          <a:r>
                            <a:rPr lang="en-US" altLang="zh-TW" sz="1200" dirty="0"/>
                            <a:t>Mean</a:t>
                          </a:r>
                          <a14:m>
                            <m:oMath xmlns:m="http://schemas.openxmlformats.org/officeDocument/2006/math">
                              <m:r>
                                <a:rPr lang="en-US" altLang="zh-TW" sz="1200" b="0" i="1" smtClean="0">
                                  <a:latin typeface="Cambria Math" panose="02040503050406030204" pitchFamily="18" charset="0"/>
                                </a:rPr>
                                <m:t>(</m:t>
                              </m:r>
                              <m:f>
                                <m:fPr>
                                  <m:type m:val="lin"/>
                                  <m:ctrlPr>
                                    <a:rPr lang="en-US" altLang="zh-TW" sz="1200" b="0" i="1" smtClean="0">
                                      <a:latin typeface="Cambria Math" panose="02040503050406030204" pitchFamily="18" charset="0"/>
                                    </a:rPr>
                                  </m:ctrlPr>
                                </m:fPr>
                                <m:num>
                                  <m:r>
                                    <a:rPr lang="en-US" altLang="zh-TW" sz="1200" b="0" i="1" smtClean="0">
                                      <a:latin typeface="Cambria Math" panose="02040503050406030204" pitchFamily="18" charset="0"/>
                                    </a:rPr>
                                    <m:t>𝑚𝑇</m:t>
                                  </m:r>
                                </m:num>
                                <m:den>
                                  <m:r>
                                    <a:rPr lang="en-US" altLang="zh-TW" sz="1200" b="0" i="1" smtClean="0">
                                      <a:latin typeface="Cambria Math" panose="02040503050406030204" pitchFamily="18" charset="0"/>
                                    </a:rPr>
                                    <m:t>𝐴</m:t>
                                  </m:r>
                                  <m:r>
                                    <a:rPr lang="en-US" altLang="zh-TW" sz="1200" b="0" i="1" smtClean="0">
                                      <a:latin typeface="Cambria Math" panose="02040503050406030204" pitchFamily="18" charset="0"/>
                                    </a:rPr>
                                    <m:t>)</m:t>
                                  </m:r>
                                </m:den>
                              </m:f>
                            </m:oMath>
                          </a14:m>
                          <a:endParaRPr lang="zh-TW" altLang="en-US" sz="1200" dirty="0"/>
                        </a:p>
                      </a:txBody>
                      <a:tcPr/>
                    </a:tc>
                    <a:tc>
                      <a:txBody>
                        <a:bodyPr/>
                        <a:lstStyle/>
                        <a:p>
                          <a:pPr algn="ctr"/>
                          <a:r>
                            <a:rPr lang="en-US" altLang="zh-TW" sz="1200" dirty="0"/>
                            <a:t>0.4820</a:t>
                          </a:r>
                          <a:endParaRPr lang="zh-TW" altLang="en-US" sz="1200" dirty="0"/>
                        </a:p>
                      </a:txBody>
                      <a:tcPr/>
                    </a:tc>
                    <a:tc>
                      <a:txBody>
                        <a:bodyPr/>
                        <a:lstStyle/>
                        <a:p>
                          <a:pPr algn="ctr"/>
                          <a:r>
                            <a:rPr lang="en-US" altLang="zh-TW" sz="1200" dirty="0"/>
                            <a:t>0.5415</a:t>
                          </a:r>
                          <a:endParaRPr lang="zh-TW" altLang="en-US" sz="1200" dirty="0"/>
                        </a:p>
                      </a:txBody>
                      <a:tcPr/>
                    </a:tc>
                    <a:extLst>
                      <a:ext uri="{0D108BD9-81ED-4DB2-BD59-A6C34878D82A}">
                        <a16:rowId xmlns:a16="http://schemas.microsoft.com/office/drawing/2014/main" val="3046649366"/>
                      </a:ext>
                    </a:extLst>
                  </a:tr>
                </a:tbl>
              </a:graphicData>
            </a:graphic>
          </p:graphicFrame>
        </mc:Choice>
        <mc:Fallback xmlns="">
          <p:graphicFrame>
            <p:nvGraphicFramePr>
              <p:cNvPr id="31" name="表格 10">
                <a:extLst>
                  <a:ext uri="{FF2B5EF4-FFF2-40B4-BE49-F238E27FC236}">
                    <a16:creationId xmlns:a16="http://schemas.microsoft.com/office/drawing/2014/main" id="{CAF158FD-5D4F-4D95-94B5-6812F8B4A312}"/>
                  </a:ext>
                </a:extLst>
              </p:cNvPr>
              <p:cNvGraphicFramePr>
                <a:graphicFrameLocks noGrp="1"/>
              </p:cNvGraphicFramePr>
              <p:nvPr>
                <p:extLst>
                  <p:ext uri="{D42A27DB-BD31-4B8C-83A1-F6EECF244321}">
                    <p14:modId xmlns:p14="http://schemas.microsoft.com/office/powerpoint/2010/main" val="2301746861"/>
                  </p:ext>
                </p:extLst>
              </p:nvPr>
            </p:nvGraphicFramePr>
            <p:xfrm>
              <a:off x="9109402" y="4007306"/>
              <a:ext cx="2985279" cy="850064"/>
            </p:xfrm>
            <a:graphic>
              <a:graphicData uri="http://schemas.openxmlformats.org/drawingml/2006/table">
                <a:tbl>
                  <a:tblPr firstRow="1" bandRow="1">
                    <a:tableStyleId>{5940675A-B579-460E-94D1-54222C63F5DA}</a:tableStyleId>
                  </a:tblPr>
                  <a:tblGrid>
                    <a:gridCol w="995093">
                      <a:extLst>
                        <a:ext uri="{9D8B030D-6E8A-4147-A177-3AD203B41FA5}">
                          <a16:colId xmlns:a16="http://schemas.microsoft.com/office/drawing/2014/main" val="1576531335"/>
                        </a:ext>
                      </a:extLst>
                    </a:gridCol>
                    <a:gridCol w="995093">
                      <a:extLst>
                        <a:ext uri="{9D8B030D-6E8A-4147-A177-3AD203B41FA5}">
                          <a16:colId xmlns:a16="http://schemas.microsoft.com/office/drawing/2014/main" val="3507019064"/>
                        </a:ext>
                      </a:extLst>
                    </a:gridCol>
                    <a:gridCol w="995093">
                      <a:extLst>
                        <a:ext uri="{9D8B030D-6E8A-4147-A177-3AD203B41FA5}">
                          <a16:colId xmlns:a16="http://schemas.microsoft.com/office/drawing/2014/main" val="1921430209"/>
                        </a:ext>
                      </a:extLst>
                    </a:gridCol>
                  </a:tblGrid>
                  <a:tr h="392864">
                    <a:tc>
                      <a:txBody>
                        <a:bodyPr/>
                        <a:lstStyle/>
                        <a:p>
                          <a:endParaRPr lang="zh-TW" altLang="en-US" sz="1200"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4"/>
                          <a:stretch>
                            <a:fillRect l="-101227" t="-1538" r="-101840" b="-218462"/>
                          </a:stretch>
                        </a:blipFill>
                      </a:tcPr>
                    </a:tc>
                    <a:tc>
                      <a:txBody>
                        <a:bodyPr/>
                        <a:lstStyle/>
                        <a:p>
                          <a:endParaRPr lang="zh-TW"/>
                        </a:p>
                      </a:txBody>
                      <a:tcPr>
                        <a:blipFill>
                          <a:blip r:embed="rId4"/>
                          <a:stretch>
                            <a:fillRect l="-200000" t="-1538" r="-1220" b="-218462"/>
                          </a:stretch>
                        </a:blipFill>
                      </a:tcPr>
                    </a:tc>
                    <a:extLst>
                      <a:ext uri="{0D108BD9-81ED-4DB2-BD59-A6C34878D82A}">
                        <a16:rowId xmlns:a16="http://schemas.microsoft.com/office/drawing/2014/main" val="168208475"/>
                      </a:ext>
                    </a:extLst>
                  </a:tr>
                  <a:tr h="457200">
                    <a:tc>
                      <a:txBody>
                        <a:bodyPr/>
                        <a:lstStyle/>
                        <a:p>
                          <a:endParaRPr lang="zh-TW"/>
                        </a:p>
                      </a:txBody>
                      <a:tcPr>
                        <a:blipFill>
                          <a:blip r:embed="rId4"/>
                          <a:stretch>
                            <a:fillRect l="-610" t="-88000" r="-200610" b="-89333"/>
                          </a:stretch>
                        </a:blipFill>
                      </a:tcPr>
                    </a:tc>
                    <a:tc>
                      <a:txBody>
                        <a:bodyPr/>
                        <a:lstStyle/>
                        <a:p>
                          <a:pPr algn="ctr"/>
                          <a:r>
                            <a:rPr lang="en-US" altLang="zh-TW" sz="1200" dirty="0"/>
                            <a:t>0.4820</a:t>
                          </a:r>
                          <a:endParaRPr lang="zh-TW" altLang="en-US" sz="1200" dirty="0"/>
                        </a:p>
                      </a:txBody>
                      <a:tcPr/>
                    </a:tc>
                    <a:tc>
                      <a:txBody>
                        <a:bodyPr/>
                        <a:lstStyle/>
                        <a:p>
                          <a:pPr algn="ctr"/>
                          <a:r>
                            <a:rPr lang="en-US" altLang="zh-TW" sz="1200" dirty="0"/>
                            <a:t>0.5415</a:t>
                          </a:r>
                          <a:endParaRPr lang="zh-TW" altLang="en-US" sz="1200" dirty="0"/>
                        </a:p>
                      </a:txBody>
                      <a:tcPr/>
                    </a:tc>
                    <a:extLst>
                      <a:ext uri="{0D108BD9-81ED-4DB2-BD59-A6C34878D82A}">
                        <a16:rowId xmlns:a16="http://schemas.microsoft.com/office/drawing/2014/main" val="3046649366"/>
                      </a:ext>
                    </a:extLst>
                  </a:tr>
                </a:tbl>
              </a:graphicData>
            </a:graphic>
          </p:graphicFrame>
        </mc:Fallback>
      </mc:AlternateContent>
      <p:grpSp>
        <p:nvGrpSpPr>
          <p:cNvPr id="17" name="群組 16">
            <a:extLst>
              <a:ext uri="{FF2B5EF4-FFF2-40B4-BE49-F238E27FC236}">
                <a16:creationId xmlns:a16="http://schemas.microsoft.com/office/drawing/2014/main" id="{D57F0252-0AC3-4992-9972-39C6595EF998}"/>
              </a:ext>
            </a:extLst>
          </p:cNvPr>
          <p:cNvGrpSpPr/>
          <p:nvPr/>
        </p:nvGrpSpPr>
        <p:grpSpPr>
          <a:xfrm>
            <a:off x="167026" y="4100911"/>
            <a:ext cx="2739671" cy="2518595"/>
            <a:chOff x="156707" y="3873049"/>
            <a:chExt cx="2739671" cy="2518595"/>
          </a:xfrm>
        </p:grpSpPr>
        <p:pic>
          <p:nvPicPr>
            <p:cNvPr id="5" name="圖片 4">
              <a:extLst>
                <a:ext uri="{FF2B5EF4-FFF2-40B4-BE49-F238E27FC236}">
                  <a16:creationId xmlns:a16="http://schemas.microsoft.com/office/drawing/2014/main" id="{5BB07C73-7060-4196-B158-9A631FEA675E}"/>
                </a:ext>
              </a:extLst>
            </p:cNvPr>
            <p:cNvPicPr>
              <a:picLocks noChangeAspect="1"/>
            </p:cNvPicPr>
            <p:nvPr/>
          </p:nvPicPr>
          <p:blipFill rotWithShape="1">
            <a:blip r:embed="rId5">
              <a:extLst>
                <a:ext uri="{28A0092B-C50C-407E-A947-70E740481C1C}">
                  <a14:useLocalDpi xmlns:a14="http://schemas.microsoft.com/office/drawing/2010/main" val="0"/>
                </a:ext>
              </a:extLst>
            </a:blip>
            <a:srcRect l="6790" t="4552" r="5527" b="4552"/>
            <a:stretch/>
          </p:blipFill>
          <p:spPr>
            <a:xfrm>
              <a:off x="458728" y="3873049"/>
              <a:ext cx="2319171" cy="2287111"/>
            </a:xfrm>
            <a:prstGeom prst="rect">
              <a:avLst/>
            </a:prstGeom>
          </p:spPr>
        </p:pic>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D9A1E118-2F82-4E3D-BE42-5CD702DF5FF3}"/>
                    </a:ext>
                  </a:extLst>
                </p:cNvPr>
                <p:cNvSpPr txBox="1"/>
                <p:nvPr/>
              </p:nvSpPr>
              <p:spPr>
                <a:xfrm>
                  <a:off x="607718" y="6083867"/>
                  <a:ext cx="2288660" cy="307777"/>
                </a:xfrm>
                <a:prstGeom prst="rect">
                  <a:avLst/>
                </a:prstGeom>
                <a:noFill/>
              </p:spPr>
              <p:txBody>
                <a:bodyPr wrap="square">
                  <a:spAutoFit/>
                </a:bodyPr>
                <a:lstStyle/>
                <a:p>
                  <a:r>
                    <a:rPr lang="en-US" altLang="zh-TW" sz="1400" dirty="0">
                      <a:latin typeface="Times New Roman" panose="02020603050405020304" pitchFamily="18" charset="0"/>
                      <a:cs typeface="Times New Roman" panose="02020603050405020304" pitchFamily="18" charset="0"/>
                    </a:rPr>
                    <a:t>Capacity measure </a:t>
                  </a:r>
                  <a14:m>
                    <m:oMath xmlns:m="http://schemas.openxmlformats.org/officeDocument/2006/math">
                      <m:r>
                        <a:rPr lang="en-US" altLang="zh-TW" sz="1400" b="0" i="0" smtClean="0">
                          <a:latin typeface="Cambria Math" panose="02040503050406030204" pitchFamily="18" charset="0"/>
                        </a:rPr>
                        <m:t>(</m:t>
                      </m:r>
                      <m:f>
                        <m:fPr>
                          <m:type m:val="lin"/>
                          <m:ctrlPr>
                            <a:rPr lang="en-US" altLang="zh-TW" sz="140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a14:m>
                  <a:endParaRPr lang="zh-TW" altLang="en-US" sz="1400" dirty="0">
                    <a:latin typeface="Times New Roman" panose="02020603050405020304" pitchFamily="18" charset="0"/>
                    <a:cs typeface="Times New Roman" panose="02020603050405020304" pitchFamily="18" charset="0"/>
                  </a:endParaRPr>
                </a:p>
              </p:txBody>
            </p:sp>
          </mc:Choice>
          <mc:Fallback xmlns="">
            <p:sp>
              <p:nvSpPr>
                <p:cNvPr id="42" name="文字方塊 41">
                  <a:extLst>
                    <a:ext uri="{FF2B5EF4-FFF2-40B4-BE49-F238E27FC236}">
                      <a16:creationId xmlns:a16="http://schemas.microsoft.com/office/drawing/2014/main" id="{D9A1E118-2F82-4E3D-BE42-5CD702DF5FF3}"/>
                    </a:ext>
                  </a:extLst>
                </p:cNvPr>
                <p:cNvSpPr txBox="1">
                  <a:spLocks noRot="1" noChangeAspect="1" noMove="1" noResize="1" noEditPoints="1" noAdjustHandles="1" noChangeArrowheads="1" noChangeShapeType="1" noTextEdit="1"/>
                </p:cNvSpPr>
                <p:nvPr/>
              </p:nvSpPr>
              <p:spPr>
                <a:xfrm>
                  <a:off x="607718" y="6083867"/>
                  <a:ext cx="2288660" cy="307777"/>
                </a:xfrm>
                <a:prstGeom prst="rect">
                  <a:avLst/>
                </a:prstGeom>
                <a:blipFill>
                  <a:blip r:embed="rId6"/>
                  <a:stretch>
                    <a:fillRect l="-798" t="-92157" r="-4521" b="-15294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2D78B61D-D806-498D-AC2A-0D6DC90F36DB}"/>
                    </a:ext>
                  </a:extLst>
                </p:cNvPr>
                <p:cNvSpPr txBox="1"/>
                <p:nvPr/>
              </p:nvSpPr>
              <p:spPr>
                <a:xfrm rot="16200000">
                  <a:off x="-523928" y="4819905"/>
                  <a:ext cx="1638269"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400">
                          <a:latin typeface="Cambria Math" panose="02040503050406030204" pitchFamily="18" charset="0"/>
                        </a:rPr>
                        <m:t> </m:t>
                      </m:r>
                      <m:r>
                        <a:rPr lang="en-US" altLang="zh-TW" sz="1400" b="0" i="1" smtClean="0">
                          <a:latin typeface="Cambria Math" panose="02040503050406030204" pitchFamily="18" charset="0"/>
                        </a:rPr>
                        <m:t>(%)</m:t>
                      </m:r>
                    </m:oMath>
                  </a14:m>
                  <a:endParaRPr lang="zh-TW" altLang="en-US" dirty="0"/>
                </a:p>
              </p:txBody>
            </p:sp>
          </mc:Choice>
          <mc:Fallback xmlns="">
            <p:sp>
              <p:nvSpPr>
                <p:cNvPr id="43" name="文字方塊 42">
                  <a:extLst>
                    <a:ext uri="{FF2B5EF4-FFF2-40B4-BE49-F238E27FC236}">
                      <a16:creationId xmlns:a16="http://schemas.microsoft.com/office/drawing/2014/main" id="{2D78B61D-D806-498D-AC2A-0D6DC90F36DB}"/>
                    </a:ext>
                  </a:extLst>
                </p:cNvPr>
                <p:cNvSpPr txBox="1">
                  <a:spLocks noRot="1" noChangeAspect="1" noMove="1" noResize="1" noEditPoints="1" noAdjustHandles="1" noChangeArrowheads="1" noChangeShapeType="1" noTextEdit="1"/>
                </p:cNvSpPr>
                <p:nvPr/>
              </p:nvSpPr>
              <p:spPr>
                <a:xfrm rot="16200000">
                  <a:off x="-523928" y="4819905"/>
                  <a:ext cx="1638269" cy="276999"/>
                </a:xfrm>
                <a:prstGeom prst="rect">
                  <a:avLst/>
                </a:prstGeom>
                <a:blipFill>
                  <a:blip r:embed="rId7"/>
                  <a:stretch>
                    <a:fillRect l="-2174" t="-2602" r="-32609" b="-3346"/>
                  </a:stretch>
                </a:blipFill>
              </p:spPr>
              <p:txBody>
                <a:bodyPr/>
                <a:lstStyle/>
                <a:p>
                  <a:r>
                    <a:rPr lang="zh-TW" altLang="en-US">
                      <a:noFill/>
                    </a:rPr>
                    <a:t> </a:t>
                  </a:r>
                </a:p>
              </p:txBody>
            </p:sp>
          </mc:Fallback>
        </mc:AlternateContent>
      </p:grpSp>
      <p:grpSp>
        <p:nvGrpSpPr>
          <p:cNvPr id="20" name="群組 19">
            <a:extLst>
              <a:ext uri="{FF2B5EF4-FFF2-40B4-BE49-F238E27FC236}">
                <a16:creationId xmlns:a16="http://schemas.microsoft.com/office/drawing/2014/main" id="{DFE04F10-EAFA-4DE7-8E60-D818D14F8FB7}"/>
              </a:ext>
            </a:extLst>
          </p:cNvPr>
          <p:cNvGrpSpPr/>
          <p:nvPr/>
        </p:nvGrpSpPr>
        <p:grpSpPr>
          <a:xfrm>
            <a:off x="6203997" y="3983435"/>
            <a:ext cx="2848995" cy="2755106"/>
            <a:chOff x="6203997" y="3833767"/>
            <a:chExt cx="2848995" cy="2755106"/>
          </a:xfrm>
        </p:grpSpPr>
        <p:pic>
          <p:nvPicPr>
            <p:cNvPr id="19" name="圖片 18">
              <a:extLst>
                <a:ext uri="{FF2B5EF4-FFF2-40B4-BE49-F238E27FC236}">
                  <a16:creationId xmlns:a16="http://schemas.microsoft.com/office/drawing/2014/main" id="{450E2072-9B6E-4EEA-911A-0C73D5C4CB59}"/>
                </a:ext>
              </a:extLst>
            </p:cNvPr>
            <p:cNvPicPr>
              <a:picLocks noChangeAspect="1"/>
            </p:cNvPicPr>
            <p:nvPr/>
          </p:nvPicPr>
          <p:blipFill rotWithShape="1">
            <a:blip r:embed="rId8">
              <a:extLst>
                <a:ext uri="{28A0092B-C50C-407E-A947-70E740481C1C}">
                  <a14:useLocalDpi xmlns:a14="http://schemas.microsoft.com/office/drawing/2010/main" val="0"/>
                </a:ext>
              </a:extLst>
            </a:blip>
            <a:srcRect l="4134" b="4384"/>
            <a:stretch/>
          </p:blipFill>
          <p:spPr>
            <a:xfrm>
              <a:off x="6518027" y="3833767"/>
              <a:ext cx="2534965" cy="2477962"/>
            </a:xfrm>
            <a:prstGeom prst="rect">
              <a:avLst/>
            </a:prstGeom>
          </p:spPr>
        </p:pic>
        <p:sp>
          <p:nvSpPr>
            <p:cNvPr id="53" name="文字方塊 52">
              <a:extLst>
                <a:ext uri="{FF2B5EF4-FFF2-40B4-BE49-F238E27FC236}">
                  <a16:creationId xmlns:a16="http://schemas.microsoft.com/office/drawing/2014/main" id="{B6D75D4D-EE63-48C1-8F2C-8AF9B5DC2786}"/>
                </a:ext>
              </a:extLst>
            </p:cNvPr>
            <p:cNvSpPr txBox="1"/>
            <p:nvPr/>
          </p:nvSpPr>
          <p:spPr>
            <a:xfrm>
              <a:off x="7357971" y="6250319"/>
              <a:ext cx="1096857" cy="338554"/>
            </a:xfrm>
            <a:prstGeom prst="rect">
              <a:avLst/>
            </a:prstGeom>
            <a:noFill/>
          </p:spPr>
          <p:txBody>
            <a:bodyPr wrap="square">
              <a:spAutoFit/>
            </a:bodyPr>
            <a:lstStyle/>
            <a:p>
              <a:r>
                <a:rPr lang="en-US" altLang="zh-TW" sz="1600" dirty="0">
                  <a:latin typeface="Times New Roman" panose="02020603050405020304" pitchFamily="18" charset="0"/>
                  <a:cs typeface="Times New Roman" panose="02020603050405020304" pitchFamily="18" charset="0"/>
                </a:rPr>
                <a:t>Isotropy</a:t>
              </a:r>
              <a:endParaRPr lang="zh-TW" alt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4" name="文字方塊 53">
                  <a:extLst>
                    <a:ext uri="{FF2B5EF4-FFF2-40B4-BE49-F238E27FC236}">
                      <a16:creationId xmlns:a16="http://schemas.microsoft.com/office/drawing/2014/main" id="{F462F54B-B8D6-45BC-B221-4150D4064476}"/>
                    </a:ext>
                  </a:extLst>
                </p:cNvPr>
                <p:cNvSpPr txBox="1"/>
                <p:nvPr/>
              </p:nvSpPr>
              <p:spPr>
                <a:xfrm rot="16200000">
                  <a:off x="5523362" y="4934248"/>
                  <a:ext cx="1638269" cy="276999"/>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14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1400">
                          <a:latin typeface="Cambria Math" panose="02040503050406030204" pitchFamily="18" charset="0"/>
                        </a:rPr>
                        <m:t> </m:t>
                      </m:r>
                      <m:r>
                        <a:rPr lang="en-US" altLang="zh-TW" sz="1400" b="0" i="1" smtClean="0">
                          <a:latin typeface="Cambria Math" panose="02040503050406030204" pitchFamily="18" charset="0"/>
                        </a:rPr>
                        <m:t>(%)</m:t>
                      </m:r>
                    </m:oMath>
                  </a14:m>
                  <a:endParaRPr lang="zh-TW" altLang="en-US" dirty="0"/>
                </a:p>
              </p:txBody>
            </p:sp>
          </mc:Choice>
          <mc:Fallback xmlns="">
            <p:sp>
              <p:nvSpPr>
                <p:cNvPr id="54" name="文字方塊 53">
                  <a:extLst>
                    <a:ext uri="{FF2B5EF4-FFF2-40B4-BE49-F238E27FC236}">
                      <a16:creationId xmlns:a16="http://schemas.microsoft.com/office/drawing/2014/main" id="{F462F54B-B8D6-45BC-B221-4150D4064476}"/>
                    </a:ext>
                  </a:extLst>
                </p:cNvPr>
                <p:cNvSpPr txBox="1">
                  <a:spLocks noRot="1" noChangeAspect="1" noMove="1" noResize="1" noEditPoints="1" noAdjustHandles="1" noChangeArrowheads="1" noChangeShapeType="1" noTextEdit="1"/>
                </p:cNvSpPr>
                <p:nvPr/>
              </p:nvSpPr>
              <p:spPr>
                <a:xfrm rot="16200000">
                  <a:off x="5523362" y="4934248"/>
                  <a:ext cx="1638269" cy="276999"/>
                </a:xfrm>
                <a:prstGeom prst="rect">
                  <a:avLst/>
                </a:prstGeom>
                <a:blipFill>
                  <a:blip r:embed="rId9"/>
                  <a:stretch>
                    <a:fillRect l="-4444" t="-2602" r="-35556" b="-3346"/>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854256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8585202"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𝑃𝑟𝑒𝑑𝑖𝑐𝑡</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𝐽</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e>
                    </m:rad>
                    <m:r>
                      <a:rPr lang="en-US" altLang="zh-TW" b="0" i="1" smtClean="0">
                        <a:latin typeface="Cambria Math" panose="02040503050406030204" pitchFamily="18" charset="0"/>
                        <a:ea typeface="Cambria Math" panose="02040503050406030204" pitchFamily="18" charset="0"/>
                      </a:rPr>
                      <m:t> </m:t>
                    </m:r>
                  </m:oMath>
                </a14:m>
                <a:r>
                  <a:rPr lang="en-US" altLang="zh-TW" dirty="0"/>
                  <a:t>, where </a:t>
                </a:r>
                <a14:m>
                  <m:oMath xmlns:m="http://schemas.openxmlformats.org/officeDocument/2006/math">
                    <m:r>
                      <a:rPr lang="en-US" altLang="zh-TW" b="0" i="1" smtClean="0">
                        <a:latin typeface="Cambria Math" panose="02040503050406030204" pitchFamily="18" charset="0"/>
                      </a:rPr>
                      <m:t>𝐽</m:t>
                    </m:r>
                    <m:r>
                      <a:rPr lang="en-US" altLang="zh-TW" b="0" i="1" smtClean="0">
                        <a:latin typeface="Cambria Math" panose="02040503050406030204" pitchFamily="18" charset="0"/>
                      </a:rPr>
                      <m:t>=</m:t>
                    </m:r>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𝑗</m:t>
                        </m:r>
                      </m:sub>
                      <m:sup/>
                      <m:e>
                        <m:nary>
                          <m:naryPr>
                            <m:chr m:val="∑"/>
                            <m:supHide m:val="on"/>
                            <m:ctrlPr>
                              <a:rPr lang="en-US" altLang="zh-TW" b="0" i="1" smtClean="0">
                                <a:latin typeface="Cambria Math" panose="02040503050406030204" pitchFamily="18" charset="0"/>
                              </a:rPr>
                            </m:ctrlPr>
                          </m:naryPr>
                          <m:sub>
                            <m:r>
                              <m:rPr>
                                <m:brk m:alnAt="7"/>
                              </m:rPr>
                              <a:rPr lang="en-US" altLang="zh-TW" b="0" i="1" smtClean="0">
                                <a:latin typeface="Cambria Math" panose="02040503050406030204" pitchFamily="18" charset="0"/>
                              </a:rPr>
                              <m:t>𝑖</m:t>
                            </m:r>
                          </m:sub>
                          <m:sup/>
                          <m:e>
                            <m:sSup>
                              <m:sSupPr>
                                <m:ctrlPr>
                                  <a:rPr lang="en-US" altLang="zh-TW" b="0" i="1" smtClean="0">
                                    <a:latin typeface="Cambria Math" panose="02040503050406030204" pitchFamily="18" charset="0"/>
                                  </a:rPr>
                                </m:ctrlPr>
                              </m:sSupPr>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sup>
                                <m:r>
                                  <a:rPr lang="en-US" altLang="zh-TW" b="0" i="1" smtClean="0">
                                    <a:latin typeface="Cambria Math" panose="02040503050406030204" pitchFamily="18" charset="0"/>
                                  </a:rPr>
                                  <m:t>𝑇</m:t>
                                </m:r>
                              </m:sup>
                            </m:sSup>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𝜀</m:t>
                                </m:r>
                              </m:e>
                              <m:sub>
                                <m:r>
                                  <a:rPr lang="en-US" altLang="zh-TW" b="0" i="1" smtClean="0">
                                    <a:latin typeface="Cambria Math" panose="02040503050406030204" pitchFamily="18" charset="0"/>
                                  </a:rPr>
                                  <m:t>𝑖𝑗</m:t>
                                </m:r>
                              </m:sub>
                            </m:sSub>
                          </m:e>
                        </m:nary>
                      </m:e>
                    </m:nary>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8585202"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2" y="425029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2" y="4250299"/>
                <a:ext cx="4258733" cy="369332"/>
              </a:xfrm>
              <a:prstGeom prst="rect">
                <a:avLst/>
              </a:prstGeom>
              <a:blipFill>
                <a:blip r:embed="rId8"/>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2" y="359880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𝐶</m:t>
                    </m:r>
                    <m:r>
                      <a:rPr lang="en-US" altLang="zh-TW" b="0" i="1" smtClean="0">
                        <a:latin typeface="Cambria Math" panose="02040503050406030204" pitchFamily="18" charset="0"/>
                        <a:ea typeface="Cambria Math" panose="02040503050406030204" pitchFamily="18" charset="0"/>
                      </a:rPr>
                      <m:t>𝑎𝑝𝑎𝑐𝑖𝑡𝑦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𝑚𝑒𝑎𝑠𝑢𝑟𝑒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2" y="3598807"/>
                <a:ext cx="4258733" cy="369332"/>
              </a:xfrm>
              <a:prstGeom prst="rect">
                <a:avLst/>
              </a:prstGeom>
              <a:blipFill>
                <a:blip r:embed="rId9"/>
                <a:stretch>
                  <a:fillRect l="-858" t="-116393" b="-1754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AF6FC7C5-863F-44FE-B7F6-035F92FE2774}"/>
                  </a:ext>
                </a:extLst>
              </p:cNvPr>
              <p:cNvSpPr txBox="1"/>
              <p:nvPr/>
            </p:nvSpPr>
            <p:spPr>
              <a:xfrm>
                <a:off x="110061" y="5527641"/>
                <a:ext cx="4258733" cy="621709"/>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𝐴𝑣𝑒𝑟𝑎𝑔𝑒</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𝑗</m:t>
                            </m:r>
                          </m:sub>
                          <m:sup/>
                          <m:e>
                            <m:nary>
                              <m:naryPr>
                                <m:chr m:val="∑"/>
                                <m:supHide m:val="on"/>
                                <m:ctrlPr>
                                  <a:rPr lang="en-US" altLang="zh-TW" b="0" i="1" smtClean="0">
                                    <a:latin typeface="Cambria Math" panose="02040503050406030204" pitchFamily="18" charset="0"/>
                                    <a:ea typeface="Cambria Math" panose="02040503050406030204" pitchFamily="18" charset="0"/>
                                  </a:rPr>
                                </m:ctrlPr>
                              </m:naryPr>
                              <m:sub>
                                <m:r>
                                  <m:rPr>
                                    <m:brk m:alnAt="7"/>
                                  </m:rPr>
                                  <a:rPr lang="en-US" altLang="zh-TW" b="0" i="1" smtClean="0">
                                    <a:latin typeface="Cambria Math" panose="02040503050406030204" pitchFamily="18" charset="0"/>
                                    <a:ea typeface="Cambria Math" panose="02040503050406030204" pitchFamily="18" charset="0"/>
                                  </a:rPr>
                                  <m:t>𝑖</m:t>
                                </m:r>
                              </m:sub>
                              <m:sup/>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e>
                                </m:d>
                              </m:e>
                            </m:nary>
                          </m:e>
                        </m:nary>
                      </m:num>
                      <m:den>
                        <m:r>
                          <a:rPr lang="en-US" altLang="zh-TW" b="0" i="1" smtClean="0">
                            <a:latin typeface="Cambria Math" panose="02040503050406030204" pitchFamily="18" charset="0"/>
                            <a:ea typeface="Cambria Math" panose="02040503050406030204" pitchFamily="18" charset="0"/>
                          </a:rPr>
                          <m:t>6×</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𝑝</m:t>
                            </m:r>
                          </m:sub>
                        </m:sSub>
                      </m:den>
                    </m:f>
                  </m:oMath>
                </a14:m>
                <a:endParaRPr lang="zh-TW" altLang="en-US" dirty="0"/>
              </a:p>
            </p:txBody>
          </p:sp>
        </mc:Choice>
        <mc:Fallback xmlns="">
          <p:sp>
            <p:nvSpPr>
              <p:cNvPr id="12" name="文字方塊 11">
                <a:extLst>
                  <a:ext uri="{FF2B5EF4-FFF2-40B4-BE49-F238E27FC236}">
                    <a16:creationId xmlns:a16="http://schemas.microsoft.com/office/drawing/2014/main" id="{AF6FC7C5-863F-44FE-B7F6-035F92FE2774}"/>
                  </a:ext>
                </a:extLst>
              </p:cNvPr>
              <p:cNvSpPr txBox="1">
                <a:spLocks noRot="1" noChangeAspect="1" noMove="1" noResize="1" noEditPoints="1" noAdjustHandles="1" noChangeArrowheads="1" noChangeShapeType="1" noTextEdit="1"/>
              </p:cNvSpPr>
              <p:nvPr/>
            </p:nvSpPr>
            <p:spPr>
              <a:xfrm>
                <a:off x="110061" y="5527641"/>
                <a:ext cx="4258733" cy="621709"/>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DE89842-7151-467A-86A6-2337273E03CC}"/>
                  </a:ext>
                </a:extLst>
              </p:cNvPr>
              <p:cNvSpPr txBox="1"/>
              <p:nvPr/>
            </p:nvSpPr>
            <p:spPr>
              <a:xfrm>
                <a:off x="110061" y="4760826"/>
                <a:ext cx="4258733" cy="665054"/>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𝐹𝑟𝑜𝑏𝑒𝑛𝑖𝑢𝑠</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𝑒𝑟𝑟𝑜𝑟</m:t>
                    </m:r>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sSub>
                          <m:sSubPr>
                            <m:ctrlPr>
                              <a:rPr lang="en-US" altLang="zh-TW" b="0" i="1" smtClean="0">
                                <a:latin typeface="Cambria Math" panose="02040503050406030204" pitchFamily="18" charset="0"/>
                                <a:ea typeface="Cambria Math" panose="02040503050406030204" pitchFamily="18" charset="0"/>
                              </a:rPr>
                            </m:ctrlPr>
                          </m:sSubPr>
                          <m:e>
                            <m:d>
                              <m:dPr>
                                <m:begChr m:val="‖"/>
                                <m:endChr m:val="‖"/>
                                <m:ctrlPr>
                                  <a:rPr lang="en-US" altLang="zh-TW" b="0" i="1" smtClean="0">
                                    <a:latin typeface="Cambria Math" panose="02040503050406030204" pitchFamily="18" charset="0"/>
                                    <a:ea typeface="Cambria Math" panose="02040503050406030204" pitchFamily="18" charset="0"/>
                                  </a:rPr>
                                </m:ctrlPr>
                              </m:dPr>
                              <m:e>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acc>
                                      <m:accPr>
                                        <m:chr m:val="̅"/>
                                        <m:ctrlPr>
                                          <a:rPr lang="en-US" altLang="zh-TW" b="0" i="1" smtClean="0">
                                            <a:latin typeface="Cambria Math" panose="02040503050406030204" pitchFamily="18" charset="0"/>
                                            <a:ea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𝐾</m:t>
                                        </m:r>
                                      </m:e>
                                    </m:acc>
                                  </m:e>
                                  <m:sub>
                                    <m:r>
                                      <a:rPr lang="en-US" altLang="zh-TW" b="0" i="1" smtClean="0">
                                        <a:latin typeface="Cambria Math" panose="02040503050406030204" pitchFamily="18" charset="0"/>
                                        <a:ea typeface="Cambria Math" panose="02040503050406030204" pitchFamily="18" charset="0"/>
                                      </a:rPr>
                                      <m:t>𝐼</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𝑎𝑙𝑙</m:t>
                                    </m:r>
                                    <m:r>
                                      <a:rPr lang="en-US" altLang="zh-TW" b="0" i="1" smtClean="0">
                                        <a:latin typeface="Cambria Math" panose="02040503050406030204" pitchFamily="18" charset="0"/>
                                        <a:ea typeface="Cambria Math" panose="02040503050406030204" pitchFamily="18" charset="0"/>
                                      </a:rPr>
                                      <m:t>_</m:t>
                                    </m:r>
                                    <m:r>
                                      <a:rPr lang="en-US" altLang="zh-TW" b="0" i="1" smtClean="0">
                                        <a:latin typeface="Cambria Math" panose="02040503050406030204" pitchFamily="18" charset="0"/>
                                        <a:ea typeface="Cambria Math" panose="02040503050406030204" pitchFamily="18" charset="0"/>
                                      </a:rPr>
                                      <m:t>𝑔𝑟𝑖𝑑</m:t>
                                    </m:r>
                                  </m:sub>
                                </m:sSub>
                              </m:e>
                            </m:d>
                          </m:e>
                          <m:sub>
                            <m:r>
                              <a:rPr lang="en-US" altLang="zh-TW" b="0" i="1" smtClean="0">
                                <a:latin typeface="Cambria Math" panose="02040503050406030204" pitchFamily="18" charset="0"/>
                                <a:ea typeface="Cambria Math" panose="02040503050406030204" pitchFamily="18" charset="0"/>
                              </a:rPr>
                              <m:t>𝐹</m:t>
                            </m:r>
                          </m:sub>
                        </m:sSub>
                      </m:num>
                      <m:den>
                        <m:sSub>
                          <m:sSubPr>
                            <m:ctrlPr>
                              <a:rPr lang="en-US" altLang="zh-TW" i="1">
                                <a:latin typeface="Cambria Math" panose="02040503050406030204" pitchFamily="18" charset="0"/>
                                <a:ea typeface="Cambria Math" panose="02040503050406030204" pitchFamily="18" charset="0"/>
                              </a:rPr>
                            </m:ctrlPr>
                          </m:sSubPr>
                          <m:e>
                            <m:d>
                              <m:dPr>
                                <m:begChr m:val="‖"/>
                                <m:endChr m:val="‖"/>
                                <m:ctrlPr>
                                  <a:rPr lang="en-US" altLang="zh-TW" i="1">
                                    <a:latin typeface="Cambria Math" panose="02040503050406030204" pitchFamily="18" charset="0"/>
                                    <a:ea typeface="Cambria Math" panose="02040503050406030204" pitchFamily="18" charset="0"/>
                                  </a:rPr>
                                </m:ctrlPr>
                              </m:dPr>
                              <m:e>
                                <m:sSub>
                                  <m:sSubPr>
                                    <m:ctrlPr>
                                      <a:rPr lang="en-US" altLang="zh-TW" i="1">
                                        <a:latin typeface="Cambria Math" panose="02040503050406030204" pitchFamily="18" charset="0"/>
                                        <a:ea typeface="Cambria Math" panose="02040503050406030204" pitchFamily="18" charset="0"/>
                                      </a:rPr>
                                    </m:ctrlPr>
                                  </m:sSubPr>
                                  <m:e>
                                    <m:acc>
                                      <m:accPr>
                                        <m:chr m:val="̅"/>
                                        <m:ctrlPr>
                                          <a:rPr lang="en-US" altLang="zh-TW" i="1">
                                            <a:latin typeface="Cambria Math" panose="02040503050406030204" pitchFamily="18" charset="0"/>
                                            <a:ea typeface="Cambria Math" panose="02040503050406030204" pitchFamily="18" charset="0"/>
                                          </a:rPr>
                                        </m:ctrlPr>
                                      </m:accPr>
                                      <m:e>
                                        <m:r>
                                          <a:rPr lang="en-US" altLang="zh-TW" i="1">
                                            <a:latin typeface="Cambria Math" panose="02040503050406030204" pitchFamily="18" charset="0"/>
                                            <a:ea typeface="Cambria Math" panose="02040503050406030204" pitchFamily="18" charset="0"/>
                                          </a:rPr>
                                          <m:t>𝐾</m:t>
                                        </m:r>
                                      </m:e>
                                    </m:acc>
                                  </m:e>
                                  <m:sub>
                                    <m:r>
                                      <a:rPr lang="en-US" altLang="zh-TW" i="1">
                                        <a:latin typeface="Cambria Math" panose="02040503050406030204" pitchFamily="18" charset="0"/>
                                        <a:ea typeface="Cambria Math" panose="02040503050406030204" pitchFamily="18" charset="0"/>
                                      </a:rPr>
                                      <m:t>𝐼</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𝑎𝑙𝑙</m:t>
                                    </m:r>
                                    <m:r>
                                      <a:rPr lang="en-US" altLang="zh-TW" i="1">
                                        <a:latin typeface="Cambria Math" panose="02040503050406030204" pitchFamily="18" charset="0"/>
                                        <a:ea typeface="Cambria Math" panose="02040503050406030204" pitchFamily="18" charset="0"/>
                                      </a:rPr>
                                      <m:t>_</m:t>
                                    </m:r>
                                    <m:r>
                                      <a:rPr lang="en-US" altLang="zh-TW" i="1">
                                        <a:latin typeface="Cambria Math" panose="02040503050406030204" pitchFamily="18" charset="0"/>
                                        <a:ea typeface="Cambria Math" panose="02040503050406030204" pitchFamily="18" charset="0"/>
                                      </a:rPr>
                                      <m:t>𝑔𝑟𝑖𝑑</m:t>
                                    </m:r>
                                  </m:sub>
                                </m:sSub>
                              </m:e>
                            </m:d>
                          </m:e>
                          <m:sub>
                            <m:r>
                              <a:rPr lang="en-US" altLang="zh-TW" i="1">
                                <a:latin typeface="Cambria Math" panose="02040503050406030204" pitchFamily="18" charset="0"/>
                                <a:ea typeface="Cambria Math" panose="02040503050406030204" pitchFamily="18" charset="0"/>
                              </a:rPr>
                              <m:t>𝐹</m:t>
                            </m:r>
                          </m:sub>
                        </m:sSub>
                      </m:den>
                    </m:f>
                  </m:oMath>
                </a14:m>
                <a:endParaRPr lang="zh-TW" altLang="en-US" dirty="0"/>
              </a:p>
            </p:txBody>
          </p:sp>
        </mc:Choice>
        <mc:Fallback xmlns="">
          <p:sp>
            <p:nvSpPr>
              <p:cNvPr id="13" name="文字方塊 12">
                <a:extLst>
                  <a:ext uri="{FF2B5EF4-FFF2-40B4-BE49-F238E27FC236}">
                    <a16:creationId xmlns:a16="http://schemas.microsoft.com/office/drawing/2014/main" id="{8DE89842-7151-467A-86A6-2337273E03CC}"/>
                  </a:ext>
                </a:extLst>
              </p:cNvPr>
              <p:cNvSpPr txBox="1">
                <a:spLocks noRot="1" noChangeAspect="1" noMove="1" noResize="1" noEditPoints="1" noAdjustHandles="1" noChangeArrowheads="1" noChangeShapeType="1" noTextEdit="1"/>
              </p:cNvSpPr>
              <p:nvPr/>
            </p:nvSpPr>
            <p:spPr>
              <a:xfrm>
                <a:off x="110061" y="4760826"/>
                <a:ext cx="4258733" cy="665054"/>
              </a:xfrm>
              <a:prstGeom prst="rect">
                <a:avLst/>
              </a:prstGeom>
              <a:blipFill>
                <a:blip r:embed="rId11"/>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450343"/>
                <a:ext cx="11763465" cy="1233479"/>
              </a:xfrm>
              <a:prstGeom prst="rect">
                <a:avLst/>
              </a:prstGeom>
              <a:noFill/>
            </p:spPr>
            <p:txBody>
              <a:bodyPr wrap="square">
                <a:spAutoFit/>
              </a:bodyPr>
              <a:lstStyle/>
              <a:p>
                <a:pPr marL="285750" indent="-285750">
                  <a:buFont typeface="Wingdings" panose="05000000000000000000" pitchFamily="2" charset="2"/>
                  <a:buChar char="Ø"/>
                </a:pPr>
                <a:r>
                  <a:rPr lang="en-US" altLang="zh-TW" dirty="0"/>
                  <a:t>Two layouts of the same planar hexapole, both with the workspace radius defined as</a:t>
                </a:r>
                <a:r>
                  <a:rPr lang="zh-TW" altLang="en-US" dirty="0"/>
                  <a:t>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In Design B the six poles sit inside a square yoke frame; Design C keeps the identical pole-tip geometry and pole-tip sphere radius but re-routes the return path into six separate arms in a star arrangement, each with a coil bore at its outer end. The two differ in pole length and outer return structure, not at the tips.</a:t>
                </a:r>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450343"/>
                <a:ext cx="11763465" cy="1233479"/>
              </a:xfrm>
              <a:prstGeom prst="rect">
                <a:avLst/>
              </a:prstGeom>
              <a:blipFill>
                <a:blip r:embed="rId2"/>
                <a:stretch>
                  <a:fillRect l="-311" t="-1485" r="-466" b="-5446"/>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0647D3D0-9FF6-4140-B548-39CBAA2EB1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6329" y="4088360"/>
            <a:ext cx="3210826" cy="2294515"/>
          </a:xfrm>
          <a:prstGeom prst="rect">
            <a:avLst/>
          </a:prstGeom>
        </p:spPr>
      </p:pic>
      <p:grpSp>
        <p:nvGrpSpPr>
          <p:cNvPr id="17" name="群組 16">
            <a:extLst>
              <a:ext uri="{FF2B5EF4-FFF2-40B4-BE49-F238E27FC236}">
                <a16:creationId xmlns:a16="http://schemas.microsoft.com/office/drawing/2014/main" id="{D5DCB92A-C2CC-48C2-97DE-948C909F08A7}"/>
              </a:ext>
            </a:extLst>
          </p:cNvPr>
          <p:cNvGrpSpPr/>
          <p:nvPr/>
        </p:nvGrpSpPr>
        <p:grpSpPr>
          <a:xfrm>
            <a:off x="471801" y="4018851"/>
            <a:ext cx="3410596" cy="2477943"/>
            <a:chOff x="373689" y="2613691"/>
            <a:chExt cx="3410596" cy="2477943"/>
          </a:xfrm>
        </p:grpSpPr>
        <p:pic>
          <p:nvPicPr>
            <p:cNvPr id="19" name="圖片 18">
              <a:extLst>
                <a:ext uri="{FF2B5EF4-FFF2-40B4-BE49-F238E27FC236}">
                  <a16:creationId xmlns:a16="http://schemas.microsoft.com/office/drawing/2014/main" id="{FC330E8D-6BCC-41C6-B0DB-5FE7EA37C8C1}"/>
                </a:ext>
              </a:extLst>
            </p:cNvPr>
            <p:cNvPicPr>
              <a:picLocks noChangeAspect="1"/>
            </p:cNvPicPr>
            <p:nvPr/>
          </p:nvPicPr>
          <p:blipFill rotWithShape="1">
            <a:blip r:embed="rId4">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22" name="群組 21">
              <a:extLst>
                <a:ext uri="{FF2B5EF4-FFF2-40B4-BE49-F238E27FC236}">
                  <a16:creationId xmlns:a16="http://schemas.microsoft.com/office/drawing/2014/main" id="{DB8F274B-4DAF-4AE2-BE62-D92E24C57442}"/>
                </a:ext>
              </a:extLst>
            </p:cNvPr>
            <p:cNvGrpSpPr/>
            <p:nvPr/>
          </p:nvGrpSpPr>
          <p:grpSpPr>
            <a:xfrm>
              <a:off x="1491261" y="3253470"/>
              <a:ext cx="1228561" cy="1176562"/>
              <a:chOff x="2701406" y="2893183"/>
              <a:chExt cx="1228561" cy="1176562"/>
            </a:xfrm>
          </p:grpSpPr>
          <p:sp>
            <p:nvSpPr>
              <p:cNvPr id="23" name="文字方塊 22">
                <a:extLst>
                  <a:ext uri="{FF2B5EF4-FFF2-40B4-BE49-F238E27FC236}">
                    <a16:creationId xmlns:a16="http://schemas.microsoft.com/office/drawing/2014/main" id="{6BD75219-C42D-4D54-88E5-4573E03F3677}"/>
                  </a:ext>
                </a:extLst>
              </p:cNvPr>
              <p:cNvSpPr txBox="1"/>
              <p:nvPr/>
            </p:nvSpPr>
            <p:spPr>
              <a:xfrm>
                <a:off x="3460750" y="3608079"/>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34991103-86F3-49F6-A3C3-DDE3ADEA97E2}"/>
                  </a:ext>
                </a:extLst>
              </p:cNvPr>
              <p:cNvSpPr txBox="1"/>
              <p:nvPr/>
            </p:nvSpPr>
            <p:spPr>
              <a:xfrm>
                <a:off x="2818838" y="3184598"/>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6D0543C9-5E6C-418D-A06E-680AF4C05D6D}"/>
                  </a:ext>
                </a:extLst>
              </p:cNvPr>
              <p:cNvSpPr txBox="1"/>
              <p:nvPr/>
            </p:nvSpPr>
            <p:spPr>
              <a:xfrm>
                <a:off x="3146620" y="2893183"/>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BCD00A2C-BA1F-41B9-8A73-D0F94B1F2451}"/>
                  </a:ext>
                </a:extLst>
              </p:cNvPr>
              <p:cNvSpPr txBox="1"/>
              <p:nvPr/>
            </p:nvSpPr>
            <p:spPr>
              <a:xfrm>
                <a:off x="2701406" y="3608079"/>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406168C3-D1C8-468C-8D28-7BA7E39E927D}"/>
                  </a:ext>
                </a:extLst>
              </p:cNvPr>
              <p:cNvSpPr txBox="1"/>
              <p:nvPr/>
            </p:nvSpPr>
            <p:spPr>
              <a:xfrm>
                <a:off x="3092558" y="376196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E38B544D-7295-4CAB-8C33-BB9A1C9CDC6D}"/>
                  </a:ext>
                </a:extLst>
              </p:cNvPr>
              <p:cNvSpPr txBox="1"/>
              <p:nvPr/>
            </p:nvSpPr>
            <p:spPr>
              <a:xfrm>
                <a:off x="3499145" y="3162394"/>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grpSp>
      <p:sp>
        <p:nvSpPr>
          <p:cNvPr id="29" name="文字方塊 28">
            <a:extLst>
              <a:ext uri="{FF2B5EF4-FFF2-40B4-BE49-F238E27FC236}">
                <a16:creationId xmlns:a16="http://schemas.microsoft.com/office/drawing/2014/main" id="{B459F242-878E-4EA0-B6AE-FDEFA054C93A}"/>
              </a:ext>
            </a:extLst>
          </p:cNvPr>
          <p:cNvSpPr txBox="1"/>
          <p:nvPr/>
        </p:nvSpPr>
        <p:spPr>
          <a:xfrm>
            <a:off x="349006" y="3533815"/>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sp>
        <p:nvSpPr>
          <p:cNvPr id="30" name="文字方塊 29">
            <a:extLst>
              <a:ext uri="{FF2B5EF4-FFF2-40B4-BE49-F238E27FC236}">
                <a16:creationId xmlns:a16="http://schemas.microsoft.com/office/drawing/2014/main" id="{248A8998-E88A-436B-A067-92F7F5072A47}"/>
              </a:ext>
            </a:extLst>
          </p:cNvPr>
          <p:cNvSpPr txBox="1"/>
          <p:nvPr/>
        </p:nvSpPr>
        <p:spPr>
          <a:xfrm>
            <a:off x="5056473" y="3533815"/>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DesignC</a:t>
            </a:r>
            <a:endParaRPr lang="zh-TW" altLang="en-US" dirty="0"/>
          </a:p>
        </p:txBody>
      </p:sp>
      <p:grpSp>
        <p:nvGrpSpPr>
          <p:cNvPr id="7" name="群組 6">
            <a:extLst>
              <a:ext uri="{FF2B5EF4-FFF2-40B4-BE49-F238E27FC236}">
                <a16:creationId xmlns:a16="http://schemas.microsoft.com/office/drawing/2014/main" id="{3080E505-0B6D-4B88-9EE9-98CA92D1328A}"/>
              </a:ext>
            </a:extLst>
          </p:cNvPr>
          <p:cNvGrpSpPr/>
          <p:nvPr/>
        </p:nvGrpSpPr>
        <p:grpSpPr>
          <a:xfrm>
            <a:off x="8454198" y="4045375"/>
            <a:ext cx="3597701" cy="2424894"/>
            <a:chOff x="8454198" y="4045375"/>
            <a:chExt cx="3597701" cy="2424894"/>
          </a:xfrm>
        </p:grpSpPr>
        <p:pic>
          <p:nvPicPr>
            <p:cNvPr id="6" name="圖片 5">
              <a:extLst>
                <a:ext uri="{FF2B5EF4-FFF2-40B4-BE49-F238E27FC236}">
                  <a16:creationId xmlns:a16="http://schemas.microsoft.com/office/drawing/2014/main" id="{71979FCB-0DDE-4C82-860D-B2C916C24D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4198" y="4045375"/>
              <a:ext cx="3597701" cy="2424894"/>
            </a:xfrm>
            <a:prstGeom prst="rect">
              <a:avLst/>
            </a:prstGeom>
          </p:spPr>
        </p:pic>
        <p:sp>
          <p:nvSpPr>
            <p:cNvPr id="31" name="文字方塊 30">
              <a:extLst>
                <a:ext uri="{FF2B5EF4-FFF2-40B4-BE49-F238E27FC236}">
                  <a16:creationId xmlns:a16="http://schemas.microsoft.com/office/drawing/2014/main" id="{DB9B5FEF-C4D2-4AD2-B41E-3992F91B2441}"/>
                </a:ext>
              </a:extLst>
            </p:cNvPr>
            <p:cNvSpPr txBox="1"/>
            <p:nvPr/>
          </p:nvSpPr>
          <p:spPr>
            <a:xfrm>
              <a:off x="10385549" y="5292277"/>
              <a:ext cx="43415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P1</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0F4AF7AA-2ACA-4C79-8938-4160674CC25D}"/>
                </a:ext>
              </a:extLst>
            </p:cNvPr>
            <p:cNvSpPr txBox="1"/>
            <p:nvPr/>
          </p:nvSpPr>
          <p:spPr>
            <a:xfrm>
              <a:off x="10450291" y="4899667"/>
              <a:ext cx="43082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P5</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3" name="文字方塊 32">
              <a:extLst>
                <a:ext uri="{FF2B5EF4-FFF2-40B4-BE49-F238E27FC236}">
                  <a16:creationId xmlns:a16="http://schemas.microsoft.com/office/drawing/2014/main" id="{BD51B2C1-40C9-4DB6-B965-B7973671D77D}"/>
                </a:ext>
              </a:extLst>
            </p:cNvPr>
            <p:cNvSpPr txBox="1"/>
            <p:nvPr/>
          </p:nvSpPr>
          <p:spPr>
            <a:xfrm>
              <a:off x="10071418" y="4658630"/>
              <a:ext cx="531208"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P3</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4" name="文字方塊 33">
              <a:extLst>
                <a:ext uri="{FF2B5EF4-FFF2-40B4-BE49-F238E27FC236}">
                  <a16:creationId xmlns:a16="http://schemas.microsoft.com/office/drawing/2014/main" id="{609D8DB5-A122-45F5-8E99-D00485F511C6}"/>
                </a:ext>
              </a:extLst>
            </p:cNvPr>
            <p:cNvSpPr txBox="1"/>
            <p:nvPr/>
          </p:nvSpPr>
          <p:spPr>
            <a:xfrm>
              <a:off x="9675926" y="4975453"/>
              <a:ext cx="432013"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P2</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5" name="文字方塊 34">
              <a:extLst>
                <a:ext uri="{FF2B5EF4-FFF2-40B4-BE49-F238E27FC236}">
                  <a16:creationId xmlns:a16="http://schemas.microsoft.com/office/drawing/2014/main" id="{BCB3A743-BE66-4767-9E38-52CDF5C05447}"/>
                </a:ext>
              </a:extLst>
            </p:cNvPr>
            <p:cNvSpPr txBox="1"/>
            <p:nvPr/>
          </p:nvSpPr>
          <p:spPr>
            <a:xfrm>
              <a:off x="9650064" y="5300623"/>
              <a:ext cx="442165"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P6</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sp>
          <p:nvSpPr>
            <p:cNvPr id="36" name="文字方塊 35">
              <a:extLst>
                <a:ext uri="{FF2B5EF4-FFF2-40B4-BE49-F238E27FC236}">
                  <a16:creationId xmlns:a16="http://schemas.microsoft.com/office/drawing/2014/main" id="{88D50B68-29C0-4370-A463-0A54C5E73CEE}"/>
                </a:ext>
              </a:extLst>
            </p:cNvPr>
            <p:cNvSpPr txBox="1"/>
            <p:nvPr/>
          </p:nvSpPr>
          <p:spPr>
            <a:xfrm>
              <a:off x="10093006" y="5463558"/>
              <a:ext cx="458652" cy="307777"/>
            </a:xfrm>
            <a:prstGeom prst="rect">
              <a:avLst/>
            </a:prstGeom>
            <a:noFill/>
          </p:spPr>
          <p:txBody>
            <a:bodyPr wrap="square" rtlCol="0">
              <a:spAutoFit/>
            </a:bodyPr>
            <a:lstStyle/>
            <a:p>
              <a:r>
                <a:rPr lang="en-US" altLang="zh-TW" sz="1400" b="1" dirty="0">
                  <a:solidFill>
                    <a:srgbClr val="FF0000"/>
                  </a:solidFill>
                  <a:latin typeface="Times New Roman" panose="02020603050405020304" pitchFamily="18" charset="0"/>
                  <a:cs typeface="Times New Roman" panose="02020603050405020304" pitchFamily="18" charset="0"/>
                </a:rPr>
                <a:t>P4</a:t>
              </a:r>
              <a:endParaRPr lang="zh-TW" altLang="en-US" sz="1400" b="1" dirty="0">
                <a:solidFill>
                  <a:srgbClr val="FF0000"/>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53147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0" y="492626"/>
                <a:ext cx="11763465" cy="2059666"/>
              </a:xfrm>
              <a:prstGeom prst="rect">
                <a:avLst/>
              </a:prstGeom>
              <a:noFill/>
            </p:spPr>
            <p:txBody>
              <a:bodyPr wrap="square">
                <a:spAutoFit/>
              </a:bodyPr>
              <a:lstStyle/>
              <a:p>
                <a:pPr marL="285750" indent="-285750">
                  <a:buFont typeface="Wingdings" panose="05000000000000000000" pitchFamily="2" charset="2"/>
                  <a:buChar char="Ø"/>
                </a:pPr>
                <a:r>
                  <a:rPr lang="en-US" altLang="zh-TW" dirty="0"/>
                  <a:t> Design C is calibrated on the converged design within R ≤ 150 µm, listing</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𝐼</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𝐵</m:t>
                            </m:r>
                          </m:sub>
                        </m:sSub>
                      </m:e>
                    </m:sPre>
                  </m:oMath>
                </a14:m>
                <a:r>
                  <a:rPr lang="en-US" altLang="zh-TW" dirty="0"/>
                  <a:t> and NMAE for the single-parameter (13 points) and eighteen-parameter (7 points) fits.</a:t>
                </a:r>
              </a:p>
              <a:p>
                <a:pPr marL="285750" indent="-285750">
                  <a:buFont typeface="Wingdings" panose="05000000000000000000" pitchFamily="2" charset="2"/>
                  <a:buChar char="Ø"/>
                </a:pPr>
                <a:r>
                  <a:rPr lang="en-US" altLang="zh-TW" dirty="0"/>
                  <a:t>The layout change the diagonal of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tightens from 0.7359–0.8333 in Design B (a spread of 13.25 %) to 0.8175–0.8333 (1.93 %), so the six poles are now almost equal in self-excitation, showing that re-routing the return path removes the pole-strength inequality of the earlier layout. </a:t>
                </a:r>
                <a14:m>
                  <m:oMath xmlns:m="http://schemas.openxmlformats.org/officeDocument/2006/math">
                    <m:acc>
                      <m:accPr>
                        <m:chr m:val="̂"/>
                        <m:ctrlPr>
                          <a:rPr lang="en-US" altLang="zh-TW" i="1">
                            <a:latin typeface="Cambria Math" panose="02040503050406030204" pitchFamily="18" charset="0"/>
                          </a:rPr>
                        </m:ctrlPr>
                      </m:accPr>
                      <m:e>
                        <m:r>
                          <a:rPr lang="en-US" altLang="zh-TW" i="1">
                            <a:latin typeface="Cambria Math" panose="02040503050406030204" pitchFamily="18" charset="0"/>
                            <a:ea typeface="Cambria Math" panose="02040503050406030204" pitchFamily="18" charset="0"/>
                          </a:rPr>
                          <m:t>ℓ</m:t>
                        </m:r>
                      </m:e>
                    </m:acc>
                  </m:oMath>
                </a14:m>
                <a:r>
                  <a:rPr lang="en-US" altLang="zh-TW" dirty="0"/>
                  <a:t> barely moves (744 → 768 µm) and the fit quality is comparable to Design B, with NMAE of 9.84 % for single and 0.76 % for eighteen parameters.</a:t>
                </a:r>
              </a:p>
              <a:p>
                <a:pPr marL="285750" indent="-285750">
                  <a:buFont typeface="Wingdings" panose="05000000000000000000" pitchFamily="2" charset="2"/>
                  <a:buChar char="Ø"/>
                </a:pPr>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0" y="492626"/>
                <a:ext cx="11763465" cy="2059666"/>
              </a:xfrm>
              <a:prstGeom prst="rect">
                <a:avLst/>
              </a:prstGeom>
              <a:blipFill>
                <a:blip r:embed="rId2"/>
                <a:stretch>
                  <a:fillRect l="-311" t="-5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V2_s_mat"/>
              <p:cNvSpPr txBox="1"/>
              <p:nvPr/>
            </p:nvSpPr>
            <p:spPr>
              <a:xfrm>
                <a:off x="509166" y="3385667"/>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−0.0681</m:t>
                                </m:r>
                              </m:e>
                              <m:e>
                                <m:r>
                                  <a:rPr lang="en-US" sz="1200" b="0" i="0">
                                    <a:latin typeface="Cambria Math" panose="02040503050406030204" pitchFamily="18" charset="0"/>
                                  </a:rPr>
                                  <m:t>−0.2541</m:t>
                                </m:r>
                              </m:e>
                              <m:e>
                                <m:r>
                                  <a:rPr lang="en-US" sz="1200" b="0" i="0">
                                    <a:latin typeface="Cambria Math" panose="02040503050406030204" pitchFamily="18" charset="0"/>
                                  </a:rPr>
                                  <m:t>−0.0761</m:t>
                                </m:r>
                              </m:e>
                              <m:e>
                                <m:r>
                                  <a:rPr lang="en-US" sz="1200" b="0" i="0">
                                    <a:latin typeface="Cambria Math" panose="02040503050406030204" pitchFamily="18" charset="0"/>
                                  </a:rPr>
                                  <m:t>−0.0729</m:t>
                                </m:r>
                              </m:e>
                              <m:e>
                                <m:r>
                                  <a:rPr lang="en-US" sz="1200" b="0" i="0">
                                    <a:latin typeface="Cambria Math" panose="02040503050406030204" pitchFamily="18" charset="0"/>
                                  </a:rPr>
                                  <m:t>−0.2526</m:t>
                                </m:r>
                              </m:e>
                            </m:mr>
                            <m:mr>
                              <m:e>
                                <m:r>
                                  <a:rPr lang="en-US" sz="1200" b="0" i="0">
                                    <a:latin typeface="Cambria Math" panose="02040503050406030204" pitchFamily="18" charset="0"/>
                                  </a:rPr>
                                  <m:t>−0.0693</m:t>
                                </m:r>
                              </m:e>
                              <m:e>
                                <m:r>
                                  <a:rPr lang="en-US" sz="1200" b="0" i="0">
                                    <a:latin typeface="Cambria Math" panose="02040503050406030204" pitchFamily="18" charset="0"/>
                                  </a:rPr>
                                  <m:t>0.8216</m:t>
                                </m:r>
                              </m:e>
                              <m:e>
                                <m:r>
                                  <a:rPr lang="en-US" sz="1200" b="0" i="0">
                                    <a:latin typeface="Cambria Math" panose="02040503050406030204" pitchFamily="18" charset="0"/>
                                  </a:rPr>
                                  <m:t>−0.0802</m:t>
                                </m:r>
                              </m:e>
                              <m:e>
                                <m:r>
                                  <a:rPr lang="en-US" sz="1200" b="0" i="0">
                                    <a:latin typeface="Cambria Math" panose="02040503050406030204" pitchFamily="18" charset="0"/>
                                  </a:rPr>
                                  <m:t>−0.2611</m:t>
                                </m:r>
                              </m:e>
                              <m:e>
                                <m:r>
                                  <a:rPr lang="en-US" sz="1200" b="0" i="0">
                                    <a:latin typeface="Cambria Math" panose="02040503050406030204" pitchFamily="18" charset="0"/>
                                  </a:rPr>
                                  <m:t>−0.2575</m:t>
                                </m:r>
                              </m:e>
                              <m:e>
                                <m:r>
                                  <a:rPr lang="en-US" sz="1200" b="0" i="0">
                                    <a:latin typeface="Cambria Math" panose="02040503050406030204" pitchFamily="18" charset="0"/>
                                  </a:rPr>
                                  <m:t>−0.0790</m:t>
                                </m:r>
                              </m:e>
                            </m:mr>
                            <m:mr>
                              <m:e>
                                <m:r>
                                  <a:rPr lang="en-US" sz="1200" b="0" i="0">
                                    <a:latin typeface="Cambria Math" panose="02040503050406030204" pitchFamily="18" charset="0"/>
                                  </a:rPr>
                                  <m:t>−0.2512</m:t>
                                </m:r>
                              </m:e>
                              <m:e>
                                <m:r>
                                  <a:rPr lang="en-US" sz="1200" b="0" i="0">
                                    <a:latin typeface="Cambria Math" panose="02040503050406030204" pitchFamily="18" charset="0"/>
                                  </a:rPr>
                                  <m:t>−0.0757</m:t>
                                </m:r>
                              </m:e>
                              <m:e>
                                <m:r>
                                  <a:rPr lang="en-US" sz="1200" b="0" i="0">
                                    <a:latin typeface="Cambria Math" panose="02040503050406030204" pitchFamily="18" charset="0"/>
                                  </a:rPr>
                                  <m:t>0.8284</m:t>
                                </m:r>
                              </m:e>
                              <m:e>
                                <m:r>
                                  <a:rPr lang="en-US" sz="1200" b="0" i="0">
                                    <a:latin typeface="Cambria Math" panose="02040503050406030204" pitchFamily="18" charset="0"/>
                                  </a:rPr>
                                  <m:t>−0.0698</m:t>
                                </m:r>
                              </m:e>
                              <m:e>
                                <m:r>
                                  <a:rPr lang="en-US" sz="1200" b="0" i="0">
                                    <a:latin typeface="Cambria Math" panose="02040503050406030204" pitchFamily="18" charset="0"/>
                                  </a:rPr>
                                  <m:t>−0.0749</m:t>
                                </m:r>
                              </m:e>
                              <m:e>
                                <m:r>
                                  <a:rPr lang="en-US" sz="1200" b="0" i="0">
                                    <a:latin typeface="Cambria Math" panose="02040503050406030204" pitchFamily="18" charset="0"/>
                                  </a:rPr>
                                  <m:t>−0.2522</m:t>
                                </m:r>
                              </m:e>
                            </m:mr>
                            <m:mr>
                              <m:e>
                                <m:r>
                                  <a:rPr lang="en-US" sz="1200" b="0" i="0">
                                    <a:latin typeface="Cambria Math" panose="02040503050406030204" pitchFamily="18" charset="0"/>
                                  </a:rPr>
                                  <m:t>−0.0782</m:t>
                                </m:r>
                              </m:e>
                              <m:e>
                                <m:r>
                                  <a:rPr lang="en-US" sz="1200" b="0" i="0">
                                    <a:latin typeface="Cambria Math" panose="02040503050406030204" pitchFamily="18" charset="0"/>
                                  </a:rPr>
                                  <m:t>−0.2595</m:t>
                                </m:r>
                              </m:e>
                              <m:e>
                                <m:r>
                                  <a:rPr lang="en-US" sz="1200" b="0" i="0">
                                    <a:latin typeface="Cambria Math" panose="02040503050406030204" pitchFamily="18" charset="0"/>
                                  </a:rPr>
                                  <m:t>−0.0725</m:t>
                                </m:r>
                              </m:e>
                              <m:e>
                                <m:r>
                                  <a:rPr lang="en-US" sz="1200" b="0" i="0">
                                    <a:latin typeface="Cambria Math" panose="02040503050406030204" pitchFamily="18" charset="0"/>
                                  </a:rPr>
                                  <m:t>0.8175</m:t>
                                </m:r>
                              </m:e>
                              <m:e>
                                <m:r>
                                  <a:rPr lang="en-US" sz="1200" b="0" i="0">
                                    <a:latin typeface="Cambria Math" panose="02040503050406030204" pitchFamily="18" charset="0"/>
                                  </a:rPr>
                                  <m:t>−0.2566</m:t>
                                </m:r>
                              </m:e>
                              <m:e>
                                <m:r>
                                  <a:rPr lang="en-US" sz="1200" b="0" i="0">
                                    <a:latin typeface="Cambria Math" panose="02040503050406030204" pitchFamily="18" charset="0"/>
                                  </a:rPr>
                                  <m:t>−0.0809</m:t>
                                </m:r>
                              </m:e>
                            </m:mr>
                            <m:mr>
                              <m:e>
                                <m:r>
                                  <a:rPr lang="en-US" sz="1200" b="0" i="0">
                                    <a:latin typeface="Cambria Math" panose="02040503050406030204" pitchFamily="18" charset="0"/>
                                  </a:rPr>
                                  <m:t>−0.0779</m:t>
                                </m:r>
                              </m:e>
                              <m:e>
                                <m:r>
                                  <a:rPr lang="en-US" sz="1200" b="0" i="0">
                                    <a:latin typeface="Cambria Math" panose="02040503050406030204" pitchFamily="18" charset="0"/>
                                  </a:rPr>
                                  <m:t>−0.2597</m:t>
                                </m:r>
                              </m:e>
                              <m:e>
                                <m:r>
                                  <a:rPr lang="en-US" sz="1200" b="0" i="0">
                                    <a:latin typeface="Cambria Math" panose="02040503050406030204" pitchFamily="18" charset="0"/>
                                  </a:rPr>
                                  <m:t>−0.0825</m:t>
                                </m:r>
                              </m:e>
                              <m:e>
                                <m:r>
                                  <a:rPr lang="en-US" sz="1200" b="0" i="0">
                                    <a:latin typeface="Cambria Math" panose="02040503050406030204" pitchFamily="18" charset="0"/>
                                  </a:rPr>
                                  <m:t>−0.2599</m:t>
                                </m:r>
                              </m:e>
                              <m:e>
                                <m:r>
                                  <a:rPr lang="en-US" sz="1200" b="0" i="0">
                                    <a:latin typeface="Cambria Math" panose="02040503050406030204" pitchFamily="18" charset="0"/>
                                  </a:rPr>
                                  <m:t>0.8207</m:t>
                                </m:r>
                              </m:e>
                              <m:e>
                                <m:r>
                                  <a:rPr lang="en-US" sz="1200" b="0" i="0">
                                    <a:latin typeface="Cambria Math" panose="02040503050406030204" pitchFamily="18" charset="0"/>
                                  </a:rPr>
                                  <m:t>−0.0708</m:t>
                                </m:r>
                              </m:e>
                            </m:mr>
                            <m:mr>
                              <m:e>
                                <m:r>
                                  <a:rPr lang="en-US" sz="1200" b="0" i="0">
                                    <a:latin typeface="Cambria Math" panose="02040503050406030204" pitchFamily="18" charset="0"/>
                                  </a:rPr>
                                  <m:t>−0.2516</m:t>
                                </m:r>
                              </m:e>
                              <m:e>
                                <m:r>
                                  <a:rPr lang="en-US" sz="1200" b="0" i="0">
                                    <a:latin typeface="Cambria Math" panose="02040503050406030204" pitchFamily="18" charset="0"/>
                                  </a:rPr>
                                  <m:t>−0.0760</m:t>
                                </m:r>
                              </m:e>
                              <m:e>
                                <m:r>
                                  <a:rPr lang="en-US" sz="1200" b="0" i="0">
                                    <a:latin typeface="Cambria Math" panose="02040503050406030204" pitchFamily="18" charset="0"/>
                                  </a:rPr>
                                  <m:t>−0.2539</m:t>
                                </m:r>
                              </m:e>
                              <m:e>
                                <m:r>
                                  <a:rPr lang="en-US" sz="1200" b="0" i="0">
                                    <a:latin typeface="Cambria Math" panose="02040503050406030204" pitchFamily="18" charset="0"/>
                                  </a:rPr>
                                  <m:t>−0.0782</m:t>
                                </m:r>
                              </m:e>
                              <m:e>
                                <m:r>
                                  <a:rPr lang="en-US" sz="1200" b="0" i="0">
                                    <a:latin typeface="Cambria Math" panose="02040503050406030204" pitchFamily="18" charset="0"/>
                                  </a:rPr>
                                  <m:t>−0.0659</m:t>
                                </m:r>
                              </m:e>
                              <m:e>
                                <m:r>
                                  <a:rPr lang="en-US" sz="1200" b="0" i="0">
                                    <a:latin typeface="Cambria Math" panose="02040503050406030204" pitchFamily="18" charset="0"/>
                                  </a:rPr>
                                  <m:t>0.8305</m:t>
                                </m:r>
                              </m:e>
                            </m:mr>
                          </m:m>
                        </m:e>
                      </m:d>
                      <m:r>
                        <a:rPr lang="en-US" sz="1200" b="0" i="0">
                          <a:latin typeface="Cambria Math" panose="02040503050406030204" pitchFamily="18" charset="0"/>
                        </a:rPr>
                        <m:t> </m:t>
                      </m:r>
                    </m:oMath>
                  </m:oMathPara>
                </a14:m>
                <a:endParaRPr lang="en-US" sz="1100" dirty="0"/>
              </a:p>
            </p:txBody>
          </p:sp>
        </mc:Choice>
        <mc:Fallback xmlns="">
          <p:sp>
            <p:nvSpPr>
              <p:cNvPr id="22" name="V2_s_mat"/>
              <p:cNvSpPr txBox="1">
                <a:spLocks noRot="1" noChangeAspect="1" noMove="1" noResize="1" noEditPoints="1" noAdjustHandles="1" noChangeArrowheads="1" noChangeShapeType="1" noTextEdit="1"/>
              </p:cNvSpPr>
              <p:nvPr/>
            </p:nvSpPr>
            <p:spPr>
              <a:xfrm>
                <a:off x="509166" y="3385667"/>
                <a:ext cx="4389119" cy="1115568"/>
              </a:xfrm>
              <a:prstGeom prst="rect">
                <a:avLst/>
              </a:prstGeom>
              <a:blipFill>
                <a:blip r:embed="rId3"/>
                <a:stretch>
                  <a:fillRect l="-5556" r="-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V2_s_sc"/>
              <p:cNvSpPr txBox="1"/>
              <p:nvPr/>
            </p:nvSpPr>
            <p:spPr>
              <a:xfrm>
                <a:off x="199166" y="4689267"/>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768.4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24.43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23" name="V2_s_sc"/>
              <p:cNvSpPr txBox="1">
                <a:spLocks noRot="1" noChangeAspect="1" noMove="1" noResize="1" noEditPoints="1" noAdjustHandles="1" noChangeArrowheads="1" noChangeShapeType="1" noTextEdit="1"/>
              </p:cNvSpPr>
              <p:nvPr/>
            </p:nvSpPr>
            <p:spPr>
              <a:xfrm>
                <a:off x="199166" y="4689267"/>
                <a:ext cx="3457787" cy="310896"/>
              </a:xfrm>
              <a:prstGeom prst="rect">
                <a:avLst/>
              </a:prstGeom>
              <a:blipFill>
                <a:blip r:embed="rId4"/>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V2_s_nmae"/>
              <p:cNvSpPr txBox="1"/>
              <p:nvPr/>
            </p:nvSpPr>
            <p:spPr>
              <a:xfrm>
                <a:off x="199166" y="51356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%=9.84%</m:t>
                      </m:r>
                    </m:oMath>
                  </m:oMathPara>
                </a14:m>
                <a:endParaRPr lang="zh-TW" altLang="en-US" sz="1400" dirty="0"/>
              </a:p>
            </p:txBody>
          </p:sp>
        </mc:Choice>
        <mc:Fallback xmlns="">
          <p:sp>
            <p:nvSpPr>
              <p:cNvPr id="24" name="V2_s_nmae"/>
              <p:cNvSpPr txBox="1">
                <a:spLocks noRot="1" noChangeAspect="1" noMove="1" noResize="1" noEditPoints="1" noAdjustHandles="1" noChangeArrowheads="1" noChangeShapeType="1" noTextEdit="1"/>
              </p:cNvSpPr>
              <p:nvPr/>
            </p:nvSpPr>
            <p:spPr>
              <a:xfrm>
                <a:off x="199166" y="5135667"/>
                <a:ext cx="4191000" cy="54950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V2_e_mat"/>
              <p:cNvSpPr txBox="1"/>
              <p:nvPr/>
            </p:nvSpPr>
            <p:spPr>
              <a:xfrm>
                <a:off x="6040965" y="3311587"/>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−0.1168</m:t>
                                </m:r>
                              </m:e>
                              <m:e>
                                <m:r>
                                  <a:rPr lang="en-US" sz="1200" b="0" i="0">
                                    <a:latin typeface="Cambria Math" panose="02040503050406030204" pitchFamily="18" charset="0"/>
                                  </a:rPr>
                                  <m:t>−0.1417</m:t>
                                </m:r>
                              </m:e>
                              <m:e>
                                <m:r>
                                  <a:rPr lang="en-US" sz="1200" b="0" i="0">
                                    <a:latin typeface="Cambria Math" panose="02040503050406030204" pitchFamily="18" charset="0"/>
                                  </a:rPr>
                                  <m:t>−0.1613</m:t>
                                </m:r>
                              </m:e>
                              <m:e>
                                <m:r>
                                  <a:rPr lang="en-US" sz="1200" b="0" i="0">
                                    <a:latin typeface="Cambria Math" panose="02040503050406030204" pitchFamily="18" charset="0"/>
                                  </a:rPr>
                                  <m:t>−0.1604</m:t>
                                </m:r>
                              </m:e>
                              <m:e>
                                <m:r>
                                  <a:rPr lang="en-US" sz="1200" b="0" i="0">
                                    <a:latin typeface="Cambria Math" panose="02040503050406030204" pitchFamily="18" charset="0"/>
                                  </a:rPr>
                                  <m:t>−0.1415</m:t>
                                </m:r>
                              </m:e>
                            </m:mr>
                            <m:mr>
                              <m:e>
                                <m:r>
                                  <a:rPr lang="en-US" sz="1200" b="0" i="0">
                                    <a:latin typeface="Cambria Math" panose="02040503050406030204" pitchFamily="18" charset="0"/>
                                  </a:rPr>
                                  <m:t>−0.1239</m:t>
                                </m:r>
                              </m:e>
                              <m:e>
                                <m:r>
                                  <a:rPr lang="en-US" sz="1200" b="0" i="0">
                                    <a:latin typeface="Cambria Math" panose="02040503050406030204" pitchFamily="18" charset="0"/>
                                  </a:rPr>
                                  <m:t>0.8166</m:t>
                                </m:r>
                              </m:e>
                              <m:e>
                                <m:r>
                                  <a:rPr lang="en-US" sz="1200" b="0" i="0">
                                    <a:latin typeface="Cambria Math" panose="02040503050406030204" pitchFamily="18" charset="0"/>
                                  </a:rPr>
                                  <m:t>−0.1694</m:t>
                                </m:r>
                              </m:e>
                              <m:e>
                                <m:r>
                                  <a:rPr lang="en-US" sz="1200" b="0" i="0">
                                    <a:latin typeface="Cambria Math" panose="02040503050406030204" pitchFamily="18" charset="0"/>
                                  </a:rPr>
                                  <m:t>−0.1509</m:t>
                                </m:r>
                              </m:e>
                              <m:e>
                                <m:r>
                                  <a:rPr lang="en-US" sz="1200" b="0" i="0">
                                    <a:latin typeface="Cambria Math" panose="02040503050406030204" pitchFamily="18" charset="0"/>
                                  </a:rPr>
                                  <m:t>−0.1511</m:t>
                                </m:r>
                              </m:e>
                              <m:e>
                                <m:r>
                                  <a:rPr lang="en-US" sz="1200" b="0" i="0">
                                    <a:latin typeface="Cambria Math" panose="02040503050406030204" pitchFamily="18" charset="0"/>
                                  </a:rPr>
                                  <m:t>−0.1693</m:t>
                                </m:r>
                              </m:e>
                            </m:mr>
                            <m:mr>
                              <m:e>
                                <m:r>
                                  <a:rPr lang="en-US" sz="1200" b="0" i="0">
                                    <a:latin typeface="Cambria Math" panose="02040503050406030204" pitchFamily="18" charset="0"/>
                                  </a:rPr>
                                  <m:t>−0.1430</m:t>
                                </m:r>
                              </m:e>
                              <m:e>
                                <m:r>
                                  <a:rPr lang="en-US" sz="1200" b="0" i="0">
                                    <a:latin typeface="Cambria Math" panose="02040503050406030204" pitchFamily="18" charset="0"/>
                                  </a:rPr>
                                  <m:t>−0.1627</m:t>
                                </m:r>
                              </m:e>
                              <m:e>
                                <m:r>
                                  <a:rPr lang="en-US" sz="1200" b="0" i="0">
                                    <a:latin typeface="Cambria Math" panose="02040503050406030204" pitchFamily="18" charset="0"/>
                                  </a:rPr>
                                  <m:t>0.8361</m:t>
                                </m:r>
                              </m:e>
                              <m:e>
                                <m:r>
                                  <a:rPr lang="en-US" sz="1200" b="0" i="0">
                                    <a:latin typeface="Cambria Math" panose="02040503050406030204" pitchFamily="18" charset="0"/>
                                  </a:rPr>
                                  <m:t>−0.1170</m:t>
                                </m:r>
                              </m:e>
                              <m:e>
                                <m:r>
                                  <a:rPr lang="en-US" sz="1200" b="0" i="0">
                                    <a:latin typeface="Cambria Math" panose="02040503050406030204" pitchFamily="18" charset="0"/>
                                  </a:rPr>
                                  <m:t>−0.1635</m:t>
                                </m:r>
                              </m:e>
                              <m:e>
                                <m:r>
                                  <a:rPr lang="en-US" sz="1200" b="0" i="0">
                                    <a:latin typeface="Cambria Math" panose="02040503050406030204" pitchFamily="18" charset="0"/>
                                  </a:rPr>
                                  <m:t>−0.1423</m:t>
                                </m:r>
                              </m:e>
                            </m:mr>
                            <m:mr>
                              <m:e>
                                <m:r>
                                  <a:rPr lang="en-US" sz="1200" b="0" i="0">
                                    <a:latin typeface="Cambria Math" panose="02040503050406030204" pitchFamily="18" charset="0"/>
                                  </a:rPr>
                                  <m:t>−0.1713</m:t>
                                </m:r>
                              </m:e>
                              <m:e>
                                <m:r>
                                  <a:rPr lang="en-US" sz="1200" b="0" i="0">
                                    <a:latin typeface="Cambria Math" panose="02040503050406030204" pitchFamily="18" charset="0"/>
                                  </a:rPr>
                                  <m:t>−0.1522</m:t>
                                </m:r>
                              </m:e>
                              <m:e>
                                <m:r>
                                  <a:rPr lang="en-US" sz="1200" b="0" i="0">
                                    <a:latin typeface="Cambria Math" panose="02040503050406030204" pitchFamily="18" charset="0"/>
                                  </a:rPr>
                                  <m:t>−0.1242</m:t>
                                </m:r>
                              </m:e>
                              <m:e>
                                <m:r>
                                  <a:rPr lang="en-US" sz="1200" b="0" i="0">
                                    <a:latin typeface="Cambria Math" panose="02040503050406030204" pitchFamily="18" charset="0"/>
                                  </a:rPr>
                                  <m:t>0.8199</m:t>
                                </m:r>
                              </m:e>
                              <m:e>
                                <m:r>
                                  <a:rPr lang="en-US" sz="1200" b="0" i="0">
                                    <a:latin typeface="Cambria Math" panose="02040503050406030204" pitchFamily="18" charset="0"/>
                                  </a:rPr>
                                  <m:t>−0.1516</m:t>
                                </m:r>
                              </m:e>
                              <m:e>
                                <m:r>
                                  <a:rPr lang="en-US" sz="1200" b="0" i="0">
                                    <a:latin typeface="Cambria Math" panose="02040503050406030204" pitchFamily="18" charset="0"/>
                                  </a:rPr>
                                  <m:t>−0.1722</m:t>
                                </m:r>
                              </m:e>
                            </m:mr>
                            <m:mr>
                              <m:e>
                                <m:r>
                                  <a:rPr lang="en-US" sz="1200" b="0" i="0">
                                    <a:latin typeface="Cambria Math" panose="02040503050406030204" pitchFamily="18" charset="0"/>
                                  </a:rPr>
                                  <m:t>−0.1701</m:t>
                                </m:r>
                              </m:e>
                              <m:e>
                                <m:r>
                                  <a:rPr lang="en-US" sz="1200" b="0" i="0">
                                    <a:latin typeface="Cambria Math" panose="02040503050406030204" pitchFamily="18" charset="0"/>
                                  </a:rPr>
                                  <m:t>−0.1507</m:t>
                                </m:r>
                              </m:e>
                              <m:e>
                                <m:r>
                                  <a:rPr lang="en-US" sz="1200" b="0" i="0">
                                    <a:latin typeface="Cambria Math" panose="02040503050406030204" pitchFamily="18" charset="0"/>
                                  </a:rPr>
                                  <m:t>−0.1705</m:t>
                                </m:r>
                              </m:e>
                              <m:e>
                                <m:r>
                                  <a:rPr lang="en-US" sz="1200" b="0" i="0">
                                    <a:latin typeface="Cambria Math" panose="02040503050406030204" pitchFamily="18" charset="0"/>
                                  </a:rPr>
                                  <m:t>−0.1497</m:t>
                                </m:r>
                              </m:e>
                              <m:e>
                                <m:r>
                                  <a:rPr lang="en-US" sz="1200" b="0" i="0">
                                    <a:latin typeface="Cambria Math" panose="02040503050406030204" pitchFamily="18" charset="0"/>
                                  </a:rPr>
                                  <m:t>0.8119</m:t>
                                </m:r>
                              </m:e>
                              <m:e>
                                <m:r>
                                  <a:rPr lang="en-US" sz="1200" b="0" i="0">
                                    <a:latin typeface="Cambria Math" panose="02040503050406030204" pitchFamily="18" charset="0"/>
                                  </a:rPr>
                                  <m:t>−0.1230</m:t>
                                </m:r>
                              </m:e>
                            </m:mr>
                            <m:mr>
                              <m:e>
                                <m:r>
                                  <a:rPr lang="en-US" sz="1200" b="0" i="0">
                                    <a:latin typeface="Cambria Math" panose="02040503050406030204" pitchFamily="18" charset="0"/>
                                  </a:rPr>
                                  <m:t>−0.1424</m:t>
                                </m:r>
                              </m:e>
                              <m:e>
                                <m:r>
                                  <a:rPr lang="en-US" sz="1200" b="0" i="0">
                                    <a:latin typeface="Cambria Math" panose="02040503050406030204" pitchFamily="18" charset="0"/>
                                  </a:rPr>
                                  <m:t>−0.1624</m:t>
                                </m:r>
                              </m:e>
                              <m:e>
                                <m:r>
                                  <a:rPr lang="en-US" sz="1200" b="0" i="0">
                                    <a:latin typeface="Cambria Math" panose="02040503050406030204" pitchFamily="18" charset="0"/>
                                  </a:rPr>
                                  <m:t>−0.1420</m:t>
                                </m:r>
                              </m:e>
                              <m:e>
                                <m:r>
                                  <a:rPr lang="en-US" sz="1200" b="0" i="0">
                                    <a:latin typeface="Cambria Math" panose="02040503050406030204" pitchFamily="18" charset="0"/>
                                  </a:rPr>
                                  <m:t>−0.1638</m:t>
                                </m:r>
                              </m:e>
                              <m:e>
                                <m:r>
                                  <a:rPr lang="en-US" sz="1200" b="0" i="0">
                                    <a:latin typeface="Cambria Math" panose="02040503050406030204" pitchFamily="18" charset="0"/>
                                  </a:rPr>
                                  <m:t>−0.1173</m:t>
                                </m:r>
                              </m:e>
                              <m:e>
                                <m:r>
                                  <a:rPr lang="en-US" sz="1200" b="0" i="0">
                                    <a:latin typeface="Cambria Math" panose="02040503050406030204" pitchFamily="18" charset="0"/>
                                  </a:rPr>
                                  <m:t>0.8354</m:t>
                                </m:r>
                              </m:e>
                            </m:mr>
                          </m:m>
                        </m:e>
                      </m:d>
                      <m:r>
                        <a:rPr lang="en-US" sz="1200" b="0" i="0">
                          <a:latin typeface="Cambria Math" panose="02040503050406030204" pitchFamily="18" charset="0"/>
                        </a:rPr>
                        <m:t> </m:t>
                      </m:r>
                    </m:oMath>
                  </m:oMathPara>
                </a14:m>
                <a:endParaRPr lang="en-US" sz="1100" dirty="0"/>
              </a:p>
            </p:txBody>
          </p:sp>
        </mc:Choice>
        <mc:Fallback xmlns="">
          <p:sp>
            <p:nvSpPr>
              <p:cNvPr id="25" name="V2_e_mat"/>
              <p:cNvSpPr txBox="1">
                <a:spLocks noRot="1" noChangeAspect="1" noMove="1" noResize="1" noEditPoints="1" noAdjustHandles="1" noChangeArrowheads="1" noChangeShapeType="1" noTextEdit="1"/>
              </p:cNvSpPr>
              <p:nvPr/>
            </p:nvSpPr>
            <p:spPr>
              <a:xfrm>
                <a:off x="6040965" y="3311587"/>
                <a:ext cx="4524587" cy="1115568"/>
              </a:xfrm>
              <a:prstGeom prst="rect">
                <a:avLst/>
              </a:prstGeom>
              <a:blipFill>
                <a:blip r:embed="rId6"/>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V2_e_sc"/>
              <p:cNvSpPr txBox="1"/>
              <p:nvPr/>
            </p:nvSpPr>
            <p:spPr>
              <a:xfrm>
                <a:off x="5742299" y="4712953"/>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597.8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26.57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26" name="V2_e_sc"/>
              <p:cNvSpPr txBox="1">
                <a:spLocks noRot="1" noChangeAspect="1" noMove="1" noResize="1" noEditPoints="1" noAdjustHandles="1" noChangeArrowheads="1" noChangeShapeType="1" noTextEdit="1"/>
              </p:cNvSpPr>
              <p:nvPr/>
            </p:nvSpPr>
            <p:spPr>
              <a:xfrm>
                <a:off x="5742299" y="4712953"/>
                <a:ext cx="3457787" cy="310896"/>
              </a:xfrm>
              <a:prstGeom prst="rect">
                <a:avLst/>
              </a:prstGeom>
              <a:blipFill>
                <a:blip r:embed="rId7"/>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V2_e_nmae"/>
              <p:cNvSpPr txBox="1"/>
              <p:nvPr/>
            </p:nvSpPr>
            <p:spPr>
              <a:xfrm>
                <a:off x="5566191" y="516953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%=0.76%</m:t>
                      </m:r>
                    </m:oMath>
                  </m:oMathPara>
                </a14:m>
                <a:endParaRPr lang="zh-TW" altLang="en-US" sz="1400" dirty="0"/>
              </a:p>
            </p:txBody>
          </p:sp>
        </mc:Choice>
        <mc:Fallback xmlns="">
          <p:sp>
            <p:nvSpPr>
              <p:cNvPr id="27" name="V2_e_nmae"/>
              <p:cNvSpPr txBox="1">
                <a:spLocks noRot="1" noChangeAspect="1" noMove="1" noResize="1" noEditPoints="1" noAdjustHandles="1" noChangeArrowheads="1" noChangeShapeType="1" noTextEdit="1"/>
              </p:cNvSpPr>
              <p:nvPr/>
            </p:nvSpPr>
            <p:spPr>
              <a:xfrm>
                <a:off x="5566191" y="5169534"/>
                <a:ext cx="4191000" cy="549509"/>
              </a:xfrm>
              <a:prstGeom prst="rect">
                <a:avLst/>
              </a:prstGeom>
              <a:blipFill>
                <a:blip r:embed="rId8"/>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V2_e_bias"/>
              <p:cNvSpPr txBox="1"/>
              <p:nvPr/>
            </p:nvSpPr>
            <p:spPr>
              <a:xfrm>
                <a:off x="5420566" y="6010413"/>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0.0003</m:t>
                                </m:r>
                              </m:e>
                              <m:e>
                                <m:r>
                                  <a:rPr lang="en-US" sz="1200" b="0" i="0">
                                    <a:latin typeface="Cambria Math" panose="02040503050406030204" pitchFamily="18" charset="0"/>
                                  </a:rPr>
                                  <m:t>0.0021</m:t>
                                </m:r>
                              </m:e>
                              <m:e>
                                <m:r>
                                  <a:rPr lang="en-US" sz="1200" b="0" i="0">
                                    <a:latin typeface="Cambria Math" panose="02040503050406030204" pitchFamily="18" charset="0"/>
                                  </a:rPr>
                                  <m:t>−0.2143</m:t>
                                </m:r>
                              </m:e>
                              <m:e>
                                <m:r>
                                  <a:rPr lang="en-US" sz="1200" b="0" i="0">
                                    <a:latin typeface="Cambria Math" panose="02040503050406030204" pitchFamily="18" charset="0"/>
                                  </a:rPr>
                                  <m:t>0.2149</m:t>
                                </m:r>
                              </m:e>
                              <m:e>
                                <m:r>
                                  <a:rPr lang="en-US" sz="1200" b="0" i="0">
                                    <a:latin typeface="Cambria Math" panose="02040503050406030204" pitchFamily="18" charset="0"/>
                                  </a:rPr>
                                  <m:t>0.2131</m:t>
                                </m:r>
                              </m:e>
                              <m:e>
                                <m:r>
                                  <a:rPr lang="en-US" sz="1200" b="0" i="0">
                                    <a:latin typeface="Cambria Math" panose="02040503050406030204" pitchFamily="18" charset="0"/>
                                  </a:rPr>
                                  <m:t>−0.2138</m:t>
                                </m:r>
                              </m:e>
                            </m:mr>
                            <m:mr>
                              <m:e>
                                <m:r>
                                  <a:rPr lang="en-US" sz="1200" b="0" i="0">
                                    <a:latin typeface="Cambria Math" panose="02040503050406030204" pitchFamily="18" charset="0"/>
                                  </a:rPr>
                                  <m:t>−0.2126</m:t>
                                </m:r>
                              </m:e>
                              <m:e>
                                <m:r>
                                  <a:rPr lang="en-US" sz="1200" b="0" i="0">
                                    <a:latin typeface="Cambria Math" panose="02040503050406030204" pitchFamily="18" charset="0"/>
                                  </a:rPr>
                                  <m:t>0.2136</m:t>
                                </m:r>
                              </m:e>
                              <m:e>
                                <m:r>
                                  <a:rPr lang="en-US" sz="1200" b="0" i="0">
                                    <a:latin typeface="Cambria Math" panose="02040503050406030204" pitchFamily="18" charset="0"/>
                                  </a:rPr>
                                  <m:t>0.0026</m:t>
                                </m:r>
                              </m:e>
                              <m:e>
                                <m:r>
                                  <a:rPr lang="en-US" sz="1200" b="0" i="0">
                                    <a:latin typeface="Cambria Math" panose="02040503050406030204" pitchFamily="18" charset="0"/>
                                  </a:rPr>
                                  <m:t>−0.0005</m:t>
                                </m:r>
                              </m:e>
                              <m:e>
                                <m:r>
                                  <a:rPr lang="en-US" sz="1200" b="0" i="0">
                                    <a:latin typeface="Cambria Math" panose="02040503050406030204" pitchFamily="18" charset="0"/>
                                  </a:rPr>
                                  <m:t>0.2135</m:t>
                                </m:r>
                              </m:e>
                              <m:e>
                                <m:r>
                                  <a:rPr lang="en-US" sz="1200" b="0" i="0">
                                    <a:latin typeface="Cambria Math" panose="02040503050406030204" pitchFamily="18" charset="0"/>
                                  </a:rPr>
                                  <m:t>−0.2131</m:t>
                                </m:r>
                              </m:e>
                            </m:mr>
                            <m:mr>
                              <m:e>
                                <m:r>
                                  <a:rPr lang="en-US" sz="1200" b="0" i="0">
                                    <a:latin typeface="Cambria Math" panose="02040503050406030204" pitchFamily="18" charset="0"/>
                                  </a:rPr>
                                  <m:t>0.2141</m:t>
                                </m:r>
                              </m:e>
                              <m:e>
                                <m:r>
                                  <a:rPr lang="en-US" sz="1200" b="0" i="0">
                                    <a:latin typeface="Cambria Math" panose="02040503050406030204" pitchFamily="18" charset="0"/>
                                  </a:rPr>
                                  <m:t>−0.2139</m:t>
                                </m:r>
                              </m:e>
                              <m:e>
                                <m:r>
                                  <a:rPr lang="en-US" sz="1200" b="0" i="0">
                                    <a:latin typeface="Cambria Math" panose="02040503050406030204" pitchFamily="18" charset="0"/>
                                  </a:rPr>
                                  <m:t>0.2132</m:t>
                                </m:r>
                              </m:e>
                              <m:e>
                                <m:r>
                                  <a:rPr lang="en-US" sz="1200" b="0" i="0">
                                    <a:latin typeface="Cambria Math" panose="02040503050406030204" pitchFamily="18" charset="0"/>
                                  </a:rPr>
                                  <m:t>−0.2150</m:t>
                                </m:r>
                              </m:e>
                              <m:e>
                                <m:r>
                                  <a:rPr lang="en-US" sz="1200" b="0" i="0">
                                    <a:latin typeface="Cambria Math" panose="02040503050406030204" pitchFamily="18" charset="0"/>
                                  </a:rPr>
                                  <m:t>−0.0029</m:t>
                                </m:r>
                              </m:e>
                              <m:e>
                                <m:r>
                                  <a:rPr lang="en-US" sz="1200" b="0" i="0">
                                    <a:latin typeface="Cambria Math" panose="02040503050406030204" pitchFamily="18" charset="0"/>
                                  </a:rPr>
                                  <m:t>−0.0017</m:t>
                                </m:r>
                              </m:e>
                            </m:mr>
                          </m:m>
                        </m:e>
                      </m:d>
                    </m:oMath>
                  </m:oMathPara>
                </a14:m>
                <a:endParaRPr lang="en-US" sz="1100" dirty="0"/>
              </a:p>
            </p:txBody>
          </p:sp>
        </mc:Choice>
        <mc:Fallback xmlns="">
          <p:sp>
            <p:nvSpPr>
              <p:cNvPr id="28" name="V2_e_bias"/>
              <p:cNvSpPr txBox="1">
                <a:spLocks noRot="1" noChangeAspect="1" noMove="1" noResize="1" noEditPoints="1" noAdjustHandles="1" noChangeArrowheads="1" noChangeShapeType="1" noTextEdit="1"/>
              </p:cNvSpPr>
              <p:nvPr/>
            </p:nvSpPr>
            <p:spPr>
              <a:xfrm>
                <a:off x="5420566" y="6010413"/>
                <a:ext cx="5235787" cy="566928"/>
              </a:xfrm>
              <a:prstGeom prst="rect">
                <a:avLst/>
              </a:prstGeom>
              <a:blipFill>
                <a:blip r:embed="rId9"/>
                <a:stretch>
                  <a:fillRect t="-2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V2_lbl7">
                <a:extLst>
                  <a:ext uri="{FF2B5EF4-FFF2-40B4-BE49-F238E27FC236}">
                    <a16:creationId xmlns:a16="http://schemas.microsoft.com/office/drawing/2014/main" id="{2DEABB3D-9062-4DA4-A120-2766352A3F4C}"/>
                  </a:ext>
                </a:extLst>
              </p:cNvPr>
              <p:cNvSpPr txBox="1"/>
              <p:nvPr/>
            </p:nvSpPr>
            <p:spPr>
              <a:xfrm>
                <a:off x="159233" y="28396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(13 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29" name="V2_lbl7">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59233" y="2839643"/>
                <a:ext cx="4258733" cy="369332"/>
              </a:xfrm>
              <a:prstGeom prst="rect">
                <a:avLst/>
              </a:prstGeom>
              <a:blipFill>
                <a:blip r:embed="rId10"/>
                <a:stretch>
                  <a:fillRect l="-858"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V2_lbl8">
                <a:extLst>
                  <a:ext uri="{FF2B5EF4-FFF2-40B4-BE49-F238E27FC236}">
                    <a16:creationId xmlns:a16="http://schemas.microsoft.com/office/drawing/2014/main" id="{32777E16-0C9E-41F4-89C8-D87B57A3B331}"/>
                  </a:ext>
                </a:extLst>
              </p:cNvPr>
              <p:cNvSpPr txBox="1"/>
              <p:nvPr/>
            </p:nvSpPr>
            <p:spPr>
              <a:xfrm>
                <a:off x="5566191" y="2810095"/>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(7 points)</a:t>
                </a:r>
                <a:endParaRPr lang="zh-TW" altLang="en-US" dirty="0"/>
              </a:p>
            </p:txBody>
          </p:sp>
        </mc:Choice>
        <mc:Fallback xmlns="">
          <p:sp>
            <p:nvSpPr>
              <p:cNvPr id="30" name="V2_lbl8">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66191" y="2810095"/>
                <a:ext cx="4258733" cy="369332"/>
              </a:xfrm>
              <a:prstGeom prst="rect">
                <a:avLst/>
              </a:prstGeom>
              <a:blipFill>
                <a:blip r:embed="rId11"/>
                <a:stretch>
                  <a:fillRect l="-858" t="-9836"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62506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688966"/>
                <a:ext cx="11763465" cy="3416320"/>
              </a:xfrm>
              <a:prstGeom prst="rect">
                <a:avLst/>
              </a:prstGeom>
              <a:noFill/>
            </p:spPr>
            <p:txBody>
              <a:bodyPr wrap="square">
                <a:spAutoFit/>
              </a:bodyPr>
              <a:lstStyle/>
              <a:p>
                <a:pPr marL="285750" indent="-285750">
                  <a:buFont typeface="Wingdings" panose="05000000000000000000" pitchFamily="2" charset="2"/>
                  <a:buChar char="Ø"/>
                </a:pPr>
                <a:r>
                  <a:rPr lang="en-US" altLang="zh-TW" dirty="0"/>
                  <a:t>The isotropy </a:t>
                </a:r>
                <a14:m>
                  <m:oMath xmlns:m="http://schemas.openxmlformats.org/officeDocument/2006/math">
                    <m:r>
                      <a:rPr lang="zh-TW" altLang="en-US" i="1" smtClean="0">
                        <a:latin typeface="Cambria Math" panose="02040503050406030204" pitchFamily="18" charset="0"/>
                      </a:rPr>
                      <m:t>𝜅</m:t>
                    </m:r>
                    <m:r>
                      <a:rPr lang="en-US" altLang="zh-TW" b="0" i="1" smtClean="0">
                        <a:latin typeface="Cambria Math" panose="02040503050406030204" pitchFamily="18" charset="0"/>
                      </a:rPr>
                      <m:t> </m:t>
                    </m:r>
                  </m:oMath>
                </a14:m>
                <a:r>
                  <a:rPr lang="en-US" altLang="zh-TW" dirty="0"/>
                  <a:t>of Designs B and C is overlaid on a single histogram, both series sharing one set of bins 0.01 wide and each </a:t>
                </a:r>
                <a:r>
                  <a:rPr lang="en-US" altLang="zh-TW" dirty="0" err="1"/>
                  <a:t>normalised</a:t>
                </a:r>
                <a:r>
                  <a:rPr lang="en-US" altLang="zh-TW" dirty="0"/>
                  <a:t> to a percentage.</a:t>
                </a:r>
              </a:p>
              <a:p>
                <a:pPr marL="285750" indent="-285750">
                  <a:buFont typeface="Wingdings" panose="05000000000000000000" pitchFamily="2" charset="2"/>
                  <a:buChar char="Ø"/>
                </a:pPr>
                <a:endParaRPr lang="en-US" altLang="zh-TW" dirty="0"/>
              </a:p>
              <a:p>
                <a:pPr marL="285750" indent="-285750">
                  <a:buFont typeface="Wingdings" panose="05000000000000000000" pitchFamily="2" charset="2"/>
                  <a:buChar char="Ø"/>
                </a:pPr>
                <a:r>
                  <a:rPr lang="en-US" altLang="zh-TW" dirty="0"/>
                  <a:t>Even though the diagonal of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is now almost perfectly uniform in Design C, the isotropy does not improve: the mean falls slightly from 0.542 to 0.502, the whole distribution shifting left, with the two overlapping substantially. Comparing all three designs makes the point clearer — Design A has the largest diagonal spread (16.5 %) yet by far the highest</a:t>
                </a:r>
                <a14:m>
                  <m:oMath xmlns:m="http://schemas.openxmlformats.org/officeDocument/2006/math">
                    <m:r>
                      <a:rPr lang="en-US" altLang="zh-TW" b="0" i="0" smtClean="0">
                        <a:latin typeface="Cambria Math" panose="02040503050406030204" pitchFamily="18" charset="0"/>
                      </a:rPr>
                      <m:t> </m:t>
                    </m:r>
                    <m:r>
                      <a:rPr lang="zh-TW" altLang="en-US" i="1">
                        <a:latin typeface="Cambria Math" panose="02040503050406030204" pitchFamily="18" charset="0"/>
                      </a:rPr>
                      <m:t>𝜅</m:t>
                    </m:r>
                    <m:r>
                      <a:rPr lang="en-US" altLang="zh-TW" i="1">
                        <a:latin typeface="Cambria Math" panose="02040503050406030204" pitchFamily="18" charset="0"/>
                      </a:rPr>
                      <m:t> </m:t>
                    </m:r>
                  </m:oMath>
                </a14:m>
                <a:r>
                  <a:rPr lang="en-US" altLang="zh-TW" dirty="0"/>
                  <a:t>(0.95), while Design C has the most uniform diagonal (1.9 %) and the lowest </a:t>
                </a:r>
                <a14:m>
                  <m:oMath xmlns:m="http://schemas.openxmlformats.org/officeDocument/2006/math">
                    <m:r>
                      <a:rPr lang="zh-TW" altLang="en-US" i="1">
                        <a:latin typeface="Cambria Math" panose="02040503050406030204" pitchFamily="18" charset="0"/>
                      </a:rPr>
                      <m:t>𝜅</m:t>
                    </m:r>
                    <m:r>
                      <a:rPr lang="en-US" altLang="zh-TW" i="1">
                        <a:latin typeface="Cambria Math" panose="02040503050406030204" pitchFamily="18" charset="0"/>
                      </a:rPr>
                      <m:t> </m:t>
                    </m:r>
                  </m:oMath>
                </a14:m>
                <a:r>
                  <a:rPr lang="en-US" altLang="zh-TW" dirty="0"/>
                  <a:t>. Isotropy is therefore not determined by whether the six poles are equally strong, nor by the pole length; it is set by the geometric arrangement of the poles themselves, that is, the directions and mutual angles at which they are placed. Changing the layout brought the pole strengths into line but left that angular arrangement untouched, which is why the isotropy did not follow; improving it requires acting on the pole-axis directions.</a:t>
                </a:r>
              </a:p>
              <a:p>
                <a:pPr marL="285750" indent="-285750">
                  <a:buFont typeface="Wingdings" panose="05000000000000000000" pitchFamily="2" charset="2"/>
                  <a:buChar char="Ø"/>
                </a:pPr>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688966"/>
                <a:ext cx="11763465" cy="3416320"/>
              </a:xfrm>
              <a:prstGeom prst="rect">
                <a:avLst/>
              </a:prstGeom>
              <a:blipFill>
                <a:blip r:embed="rId2"/>
                <a:stretch>
                  <a:fillRect l="-311" t="-893" r="-829"/>
                </a:stretch>
              </a:blipFill>
            </p:spPr>
            <p:txBody>
              <a:bodyPr/>
              <a:lstStyle/>
              <a:p>
                <a:r>
                  <a:rPr lang="zh-TW" altLang="en-US">
                    <a:noFill/>
                  </a:rPr>
                  <a:t> </a:t>
                </a:r>
              </a:p>
            </p:txBody>
          </p:sp>
        </mc:Fallback>
      </mc:AlternateContent>
      <p:sp>
        <p:nvSpPr>
          <p:cNvPr id="7" name="文字方塊 6">
            <a:extLst>
              <a:ext uri="{FF2B5EF4-FFF2-40B4-BE49-F238E27FC236}">
                <a16:creationId xmlns:a16="http://schemas.microsoft.com/office/drawing/2014/main" id="{06C7A4B2-E924-4184-8436-A1D1B972CE89}"/>
              </a:ext>
            </a:extLst>
          </p:cNvPr>
          <p:cNvSpPr txBox="1"/>
          <p:nvPr/>
        </p:nvSpPr>
        <p:spPr>
          <a:xfrm>
            <a:off x="110067" y="392901"/>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6" name="表格 10">
                <a:extLst>
                  <a:ext uri="{FF2B5EF4-FFF2-40B4-BE49-F238E27FC236}">
                    <a16:creationId xmlns:a16="http://schemas.microsoft.com/office/drawing/2014/main" id="{F88CC75A-A0B9-4724-ABF0-220535AE0766}"/>
                  </a:ext>
                </a:extLst>
              </p:cNvPr>
              <p:cNvGraphicFramePr>
                <a:graphicFrameLocks noGrp="1"/>
              </p:cNvGraphicFramePr>
              <p:nvPr>
                <p:extLst>
                  <p:ext uri="{D42A27DB-BD31-4B8C-83A1-F6EECF244321}">
                    <p14:modId xmlns:p14="http://schemas.microsoft.com/office/powerpoint/2010/main" val="3340151633"/>
                  </p:ext>
                </p:extLst>
              </p:nvPr>
            </p:nvGraphicFramePr>
            <p:xfrm>
              <a:off x="418418" y="5756486"/>
              <a:ext cx="6096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pPr algn="ctr"/>
                          <a14:m>
                            <m:oMath xmlns:m="http://schemas.openxmlformats.org/officeDocument/2006/math">
                              <m:r>
                                <m:rPr>
                                  <m:sty m:val="p"/>
                                </m:rPr>
                                <a:rPr lang="en-US" altLang="zh-TW" i="1" smtClean="0">
                                  <a:latin typeface="Cambria Math" panose="02040503050406030204" pitchFamily="18" charset="0"/>
                                </a:rPr>
                                <m:t>D</m:t>
                              </m:r>
                            </m:oMath>
                          </a14:m>
                          <a:r>
                            <a:rPr lang="en-US" altLang="zh-TW" dirty="0"/>
                            <a:t>esignB</a:t>
                          </a:r>
                          <a:endParaRPr lang="zh-TW" altLang="en-US" dirty="0"/>
                        </a:p>
                      </a:txBody>
                      <a:tcPr/>
                    </a:tc>
                    <a:tc>
                      <a:txBody>
                        <a:bodyPr/>
                        <a:lstStyle/>
                        <a:p>
                          <a:pPr algn="ctr"/>
                          <a:r>
                            <a:rPr lang="en-US" altLang="zh-TW" dirty="0" err="1"/>
                            <a:t>DesignC</a:t>
                          </a:r>
                          <a:endParaRPr lang="zh-TW" altLang="en-US" dirty="0"/>
                        </a:p>
                      </a:txBody>
                      <a:tcPr/>
                    </a:tc>
                    <a:extLst>
                      <a:ext uri="{0D108BD9-81ED-4DB2-BD59-A6C34878D82A}">
                        <a16:rowId xmlns:a16="http://schemas.microsoft.com/office/drawing/2014/main" val="168208475"/>
                      </a:ext>
                    </a:extLst>
                  </a:tr>
                  <a:tr h="370840">
                    <a:tc>
                      <a:txBody>
                        <a:bodyPr/>
                        <a:lstStyle/>
                        <a:p>
                          <a:pPr algn="ctr"/>
                          <a:r>
                            <a:rPr lang="en-US" altLang="zh-TW" dirty="0"/>
                            <a:t>Mean</a:t>
                          </a:r>
                          <a14:m>
                            <m:oMath xmlns:m="http://schemas.openxmlformats.org/officeDocument/2006/math">
                              <m:r>
                                <a:rPr lang="en-US" altLang="zh-TW" b="0" i="1" smtClean="0">
                                  <a:latin typeface="Cambria Math" panose="02040503050406030204" pitchFamily="18" charset="0"/>
                                </a:rPr>
                                <m:t>(</m:t>
                              </m:r>
                              <m:f>
                                <m:fPr>
                                  <m:type m:val="lin"/>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𝑚𝑇</m:t>
                                  </m:r>
                                </m:num>
                                <m:den>
                                  <m:r>
                                    <a:rPr lang="en-US" altLang="zh-TW" b="0" i="1" smtClean="0">
                                      <a:latin typeface="Cambria Math" panose="02040503050406030204" pitchFamily="18" charset="0"/>
                                    </a:rPr>
                                    <m:t>𝐴</m:t>
                                  </m:r>
                                  <m:r>
                                    <a:rPr lang="en-US" altLang="zh-TW" b="0" i="1" smtClean="0">
                                      <a:latin typeface="Cambria Math" panose="02040503050406030204" pitchFamily="18" charset="0"/>
                                    </a:rPr>
                                    <m:t>)</m:t>
                                  </m:r>
                                </m:den>
                              </m:f>
                            </m:oMath>
                          </a14:m>
                          <a:endParaRPr lang="zh-TW" altLang="en-US" dirty="0"/>
                        </a:p>
                      </a:txBody>
                      <a:tcPr/>
                    </a:tc>
                    <a:tc>
                      <a:txBody>
                        <a:bodyPr/>
                        <a:lstStyle/>
                        <a:p>
                          <a:pPr algn="ctr"/>
                          <a:r>
                            <a:rPr lang="en-US" altLang="zh-TW" dirty="0"/>
                            <a:t>0.5415</a:t>
                          </a:r>
                          <a:endParaRPr lang="zh-TW" altLang="en-US" dirty="0"/>
                        </a:p>
                      </a:txBody>
                      <a:tcPr/>
                    </a:tc>
                    <a:tc>
                      <a:txBody>
                        <a:bodyPr/>
                        <a:lstStyle/>
                        <a:p>
                          <a:pPr algn="ctr"/>
                          <a:r>
                            <a:rPr lang="en-US" altLang="zh-TW" dirty="0"/>
                            <a:t>0.5023</a:t>
                          </a:r>
                          <a:endParaRPr lang="zh-TW" altLang="en-US" dirty="0"/>
                        </a:p>
                      </a:txBody>
                      <a:tcPr/>
                    </a:tc>
                    <a:extLst>
                      <a:ext uri="{0D108BD9-81ED-4DB2-BD59-A6C34878D82A}">
                        <a16:rowId xmlns:a16="http://schemas.microsoft.com/office/drawing/2014/main" val="3046649366"/>
                      </a:ext>
                    </a:extLst>
                  </a:tr>
                </a:tbl>
              </a:graphicData>
            </a:graphic>
          </p:graphicFrame>
        </mc:Choice>
        <mc:Fallback xmlns="">
          <p:graphicFrame>
            <p:nvGraphicFramePr>
              <p:cNvPr id="16" name="表格 10">
                <a:extLst>
                  <a:ext uri="{FF2B5EF4-FFF2-40B4-BE49-F238E27FC236}">
                    <a16:creationId xmlns:a16="http://schemas.microsoft.com/office/drawing/2014/main" id="{F88CC75A-A0B9-4724-ABF0-220535AE0766}"/>
                  </a:ext>
                </a:extLst>
              </p:cNvPr>
              <p:cNvGraphicFramePr>
                <a:graphicFrameLocks noGrp="1"/>
              </p:cNvGraphicFramePr>
              <p:nvPr>
                <p:extLst>
                  <p:ext uri="{D42A27DB-BD31-4B8C-83A1-F6EECF244321}">
                    <p14:modId xmlns:p14="http://schemas.microsoft.com/office/powerpoint/2010/main" val="3340151633"/>
                  </p:ext>
                </p:extLst>
              </p:nvPr>
            </p:nvGraphicFramePr>
            <p:xfrm>
              <a:off x="418418" y="5756486"/>
              <a:ext cx="6096000" cy="7416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576531335"/>
                        </a:ext>
                      </a:extLst>
                    </a:gridCol>
                    <a:gridCol w="2032000">
                      <a:extLst>
                        <a:ext uri="{9D8B030D-6E8A-4147-A177-3AD203B41FA5}">
                          <a16:colId xmlns:a16="http://schemas.microsoft.com/office/drawing/2014/main" val="3507019064"/>
                        </a:ext>
                      </a:extLst>
                    </a:gridCol>
                    <a:gridCol w="2032000">
                      <a:extLst>
                        <a:ext uri="{9D8B030D-6E8A-4147-A177-3AD203B41FA5}">
                          <a16:colId xmlns:a16="http://schemas.microsoft.com/office/drawing/2014/main" val="1921430209"/>
                        </a:ext>
                      </a:extLst>
                    </a:gridCol>
                  </a:tblGrid>
                  <a:tr h="370840">
                    <a:tc>
                      <a:txBody>
                        <a:bodyPr/>
                        <a:lstStyle/>
                        <a:p>
                          <a:endParaRPr lang="zh-TW" altLang="en-US" dirty="0"/>
                        </a:p>
                      </a:txBody>
                      <a:tcPr>
                        <a:lnTlToBr w="12700" cap="flat" cmpd="sng" algn="ctr">
                          <a:solidFill>
                            <a:schemeClr val="tx1"/>
                          </a:solidFill>
                          <a:prstDash val="solid"/>
                          <a:round/>
                          <a:headEnd type="none" w="med" len="med"/>
                          <a:tailEnd type="none" w="med" len="med"/>
                        </a:lnTlToBr>
                      </a:tcPr>
                    </a:tc>
                    <a:tc>
                      <a:txBody>
                        <a:bodyPr/>
                        <a:lstStyle/>
                        <a:p>
                          <a:endParaRPr lang="zh-TW"/>
                        </a:p>
                      </a:txBody>
                      <a:tcPr>
                        <a:blipFill>
                          <a:blip r:embed="rId6"/>
                          <a:stretch>
                            <a:fillRect l="-100601" t="-16393" r="-100901" b="-275410"/>
                          </a:stretch>
                        </a:blipFill>
                      </a:tcPr>
                    </a:tc>
                    <a:tc>
                      <a:txBody>
                        <a:bodyPr/>
                        <a:lstStyle/>
                        <a:p>
                          <a:pPr algn="ctr"/>
                          <a:r>
                            <a:rPr lang="en-US" altLang="zh-TW" dirty="0" err="1"/>
                            <a:t>DesignC</a:t>
                          </a:r>
                          <a:endParaRPr lang="zh-TW" altLang="en-US" dirty="0"/>
                        </a:p>
                      </a:txBody>
                      <a:tcPr/>
                    </a:tc>
                    <a:extLst>
                      <a:ext uri="{0D108BD9-81ED-4DB2-BD59-A6C34878D82A}">
                        <a16:rowId xmlns:a16="http://schemas.microsoft.com/office/drawing/2014/main" val="168208475"/>
                      </a:ext>
                    </a:extLst>
                  </a:tr>
                  <a:tr h="370840">
                    <a:tc>
                      <a:txBody>
                        <a:bodyPr/>
                        <a:lstStyle/>
                        <a:p>
                          <a:endParaRPr lang="zh-TW"/>
                        </a:p>
                      </a:txBody>
                      <a:tcPr>
                        <a:blipFill>
                          <a:blip r:embed="rId6"/>
                          <a:stretch>
                            <a:fillRect l="-299" t="-116393" r="-200299" b="-175410"/>
                          </a:stretch>
                        </a:blipFill>
                      </a:tcPr>
                    </a:tc>
                    <a:tc>
                      <a:txBody>
                        <a:bodyPr/>
                        <a:lstStyle/>
                        <a:p>
                          <a:pPr algn="ctr"/>
                          <a:r>
                            <a:rPr lang="en-US" altLang="zh-TW" dirty="0"/>
                            <a:t>0.5415</a:t>
                          </a:r>
                          <a:endParaRPr lang="zh-TW" altLang="en-US" dirty="0"/>
                        </a:p>
                      </a:txBody>
                      <a:tcPr/>
                    </a:tc>
                    <a:tc>
                      <a:txBody>
                        <a:bodyPr/>
                        <a:lstStyle/>
                        <a:p>
                          <a:pPr algn="ctr"/>
                          <a:r>
                            <a:rPr lang="en-US" altLang="zh-TW" dirty="0"/>
                            <a:t>0.5023</a:t>
                          </a:r>
                          <a:endParaRPr lang="zh-TW" altLang="en-US" dirty="0"/>
                        </a:p>
                      </a:txBody>
                      <a:tcPr/>
                    </a:tc>
                    <a:extLst>
                      <a:ext uri="{0D108BD9-81ED-4DB2-BD59-A6C34878D82A}">
                        <a16:rowId xmlns:a16="http://schemas.microsoft.com/office/drawing/2014/main" val="3046649366"/>
                      </a:ext>
                    </a:extLst>
                  </a:tr>
                </a:tbl>
              </a:graphicData>
            </a:graphic>
          </p:graphicFrame>
        </mc:Fallback>
      </mc:AlternateContent>
      <p:grpSp>
        <p:nvGrpSpPr>
          <p:cNvPr id="15" name="群組 14">
            <a:extLst>
              <a:ext uri="{FF2B5EF4-FFF2-40B4-BE49-F238E27FC236}">
                <a16:creationId xmlns:a16="http://schemas.microsoft.com/office/drawing/2014/main" id="{98F2B37E-A41C-4591-AB39-DB116B6303CC}"/>
              </a:ext>
            </a:extLst>
          </p:cNvPr>
          <p:cNvGrpSpPr/>
          <p:nvPr/>
        </p:nvGrpSpPr>
        <p:grpSpPr>
          <a:xfrm>
            <a:off x="7725514" y="3620559"/>
            <a:ext cx="3386258" cy="3237441"/>
            <a:chOff x="7805742" y="3534832"/>
            <a:chExt cx="3386258" cy="3237441"/>
          </a:xfrm>
        </p:grpSpPr>
        <p:pic>
          <p:nvPicPr>
            <p:cNvPr id="12" name="圖片 11">
              <a:extLst>
                <a:ext uri="{FF2B5EF4-FFF2-40B4-BE49-F238E27FC236}">
                  <a16:creationId xmlns:a16="http://schemas.microsoft.com/office/drawing/2014/main" id="{88E15E20-FFD9-4022-AF54-27D087CB52F6}"/>
                </a:ext>
              </a:extLst>
            </p:cNvPr>
            <p:cNvPicPr>
              <a:picLocks noChangeAspect="1"/>
            </p:cNvPicPr>
            <p:nvPr/>
          </p:nvPicPr>
          <p:blipFill rotWithShape="1">
            <a:blip r:embed="rId7">
              <a:extLst>
                <a:ext uri="{28A0092B-C50C-407E-A947-70E740481C1C}">
                  <a14:useLocalDpi xmlns:a14="http://schemas.microsoft.com/office/drawing/2010/main" val="0"/>
                </a:ext>
              </a:extLst>
            </a:blip>
            <a:srcRect l="6890" t="3694" b="3958"/>
            <a:stretch/>
          </p:blipFill>
          <p:spPr>
            <a:xfrm>
              <a:off x="8204200" y="3534832"/>
              <a:ext cx="2987800" cy="2963334"/>
            </a:xfrm>
            <a:prstGeom prst="rect">
              <a:avLst/>
            </a:prstGeom>
          </p:spPr>
        </p:pic>
        <p:sp>
          <p:nvSpPr>
            <p:cNvPr id="19" name="文字方塊 18">
              <a:extLst>
                <a:ext uri="{FF2B5EF4-FFF2-40B4-BE49-F238E27FC236}">
                  <a16:creationId xmlns:a16="http://schemas.microsoft.com/office/drawing/2014/main" id="{1699EEEF-2B5C-4565-AEB7-EB38EF3A058E}"/>
                </a:ext>
              </a:extLst>
            </p:cNvPr>
            <p:cNvSpPr txBox="1"/>
            <p:nvPr/>
          </p:nvSpPr>
          <p:spPr>
            <a:xfrm>
              <a:off x="9149671" y="6372163"/>
              <a:ext cx="1096857" cy="400110"/>
            </a:xfrm>
            <a:prstGeom prst="rect">
              <a:avLst/>
            </a:prstGeom>
            <a:noFill/>
          </p:spPr>
          <p:txBody>
            <a:bodyPr wrap="square">
              <a:spAutoFit/>
            </a:bodyPr>
            <a:lstStyle/>
            <a:p>
              <a:r>
                <a:rPr lang="en-US" altLang="zh-TW" sz="2000" dirty="0">
                  <a:latin typeface="Times New Roman" panose="02020603050405020304" pitchFamily="18" charset="0"/>
                  <a:cs typeface="Times New Roman" panose="02020603050405020304" pitchFamily="18" charset="0"/>
                </a:rPr>
                <a:t>Isotropy</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60827B2B-C330-4076-B125-FD9BA5888F3A}"/>
                    </a:ext>
                  </a:extLst>
                </p:cNvPr>
                <p:cNvSpPr txBox="1"/>
                <p:nvPr/>
              </p:nvSpPr>
              <p:spPr>
                <a:xfrm rot="16200000">
                  <a:off x="6804667" y="4783463"/>
                  <a:ext cx="2309928" cy="307777"/>
                </a:xfrm>
                <a:prstGeom prst="rect">
                  <a:avLst/>
                </a:prstGeom>
                <a:noFill/>
              </p:spPr>
              <p:txBody>
                <a:bodyPr wrap="none" lIns="0" tIns="0" rIns="0" bIns="0" rtlCol="0">
                  <a:spAutoFit/>
                </a:bodyPr>
                <a:lstStyle/>
                <a:p>
                  <a:r>
                    <a:rPr lang="zh-TW" altLang="en-US"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Percentage count</a:t>
                  </a:r>
                  <a14:m>
                    <m:oMath xmlns:m="http://schemas.openxmlformats.org/officeDocument/2006/math">
                      <m:r>
                        <a:rPr lang="en-US" altLang="zh-TW" sz="2000">
                          <a:latin typeface="Cambria Math" panose="02040503050406030204" pitchFamily="18" charset="0"/>
                        </a:rPr>
                        <m:t> </m:t>
                      </m:r>
                      <m:r>
                        <a:rPr lang="en-US" altLang="zh-TW" sz="2000" b="0" i="1" smtClean="0">
                          <a:latin typeface="Cambria Math" panose="02040503050406030204" pitchFamily="18" charset="0"/>
                        </a:rPr>
                        <m:t>(%)</m:t>
                      </m:r>
                    </m:oMath>
                  </a14:m>
                  <a:endParaRPr lang="zh-TW" altLang="en-US" dirty="0"/>
                </a:p>
              </p:txBody>
            </p:sp>
          </mc:Choice>
          <mc:Fallback xmlns="">
            <p:sp>
              <p:nvSpPr>
                <p:cNvPr id="20" name="文字方塊 19">
                  <a:extLst>
                    <a:ext uri="{FF2B5EF4-FFF2-40B4-BE49-F238E27FC236}">
                      <a16:creationId xmlns:a16="http://schemas.microsoft.com/office/drawing/2014/main" id="{60827B2B-C330-4076-B125-FD9BA5888F3A}"/>
                    </a:ext>
                  </a:extLst>
                </p:cNvPr>
                <p:cNvSpPr txBox="1">
                  <a:spLocks noRot="1" noChangeAspect="1" noMove="1" noResize="1" noEditPoints="1" noAdjustHandles="1" noChangeArrowheads="1" noChangeShapeType="1" noTextEdit="1"/>
                </p:cNvSpPr>
                <p:nvPr/>
              </p:nvSpPr>
              <p:spPr>
                <a:xfrm rot="16200000">
                  <a:off x="6804667" y="4783463"/>
                  <a:ext cx="2309928" cy="307777"/>
                </a:xfrm>
                <a:prstGeom prst="rect">
                  <a:avLst/>
                </a:prstGeom>
                <a:blipFill>
                  <a:blip r:embed="rId8"/>
                  <a:stretch>
                    <a:fillRect l="-27451" t="-4497" r="-47059" b="-4497"/>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582795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90748"/>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Long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=1771,</m:t>
                    </m:r>
                    <m:r>
                      <m:rPr>
                        <m:sty m:val="p"/>
                      </m:rPr>
                      <a:rPr lang="en-US" altLang="zh-TW" b="0" i="0" smtClean="0">
                        <a:latin typeface="Cambria Math" panose="02040503050406030204" pitchFamily="18" charset="0"/>
                      </a:rPr>
                      <m:t>ideal</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model</m:t>
                    </m:r>
                    <m:r>
                      <a:rPr lang="en-US" altLang="zh-TW" b="0" i="1"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90748"/>
              </a:xfrm>
              <a:prstGeom prst="rect">
                <a:avLst/>
              </a:prstGeom>
              <a:blipFill>
                <a:blip r:embed="rId2"/>
                <a:stretch>
                  <a:fillRect l="-311" t="-3125" b="-1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(1771 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(1771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−0.1046</m:t>
                                </m:r>
                              </m:e>
                              <m:e>
                                <m:r>
                                  <a:rPr lang="en-US" sz="1200" b="0" i="0">
                                    <a:latin typeface="Cambria Math" panose="02040503050406030204" pitchFamily="18" charset="0"/>
                                  </a:rPr>
                                  <m:t>−0.1809</m:t>
                                </m:r>
                              </m:e>
                              <m:e>
                                <m:r>
                                  <a:rPr lang="en-US" sz="1200" b="0" i="0">
                                    <a:latin typeface="Cambria Math" panose="02040503050406030204" pitchFamily="18" charset="0"/>
                                  </a:rPr>
                                  <m:t>−0.1745</m:t>
                                </m:r>
                              </m:e>
                              <m:e>
                                <m:r>
                                  <a:rPr lang="en-US" sz="1200" b="0" i="0">
                                    <a:latin typeface="Cambria Math" panose="02040503050406030204" pitchFamily="18" charset="0"/>
                                  </a:rPr>
                                  <m:t>−0.1737</m:t>
                                </m:r>
                              </m:e>
                              <m:e>
                                <m:r>
                                  <a:rPr lang="en-US" sz="1200" b="0" i="0">
                                    <a:latin typeface="Cambria Math" panose="02040503050406030204" pitchFamily="18" charset="0"/>
                                  </a:rPr>
                                  <m:t>−0.1827</m:t>
                                </m:r>
                              </m:e>
                            </m:mr>
                            <m:mr>
                              <m:e>
                                <m:r>
                                  <a:rPr lang="en-US" sz="1200" b="0" i="0">
                                    <a:latin typeface="Cambria Math" panose="02040503050406030204" pitchFamily="18" charset="0"/>
                                  </a:rPr>
                                  <m:t>−0.2145</m:t>
                                </m:r>
                              </m:e>
                              <m:e>
                                <m:r>
                                  <a:rPr lang="en-US" sz="1200" b="0" i="0">
                                    <a:latin typeface="Cambria Math" panose="02040503050406030204" pitchFamily="18" charset="0"/>
                                  </a:rPr>
                                  <m:t>0.9517</m:t>
                                </m:r>
                              </m:e>
                              <m:e>
                                <m:r>
                                  <a:rPr lang="en-US" sz="1200" b="0" i="0">
                                    <a:latin typeface="Cambria Math" panose="02040503050406030204" pitchFamily="18" charset="0"/>
                                  </a:rPr>
                                  <m:t>−0.1986</m:t>
                                </m:r>
                              </m:e>
                              <m:e>
                                <m:r>
                                  <a:rPr lang="en-US" sz="1200" b="0" i="0">
                                    <a:latin typeface="Cambria Math" panose="02040503050406030204" pitchFamily="18" charset="0"/>
                                  </a:rPr>
                                  <m:t>−0.1589</m:t>
                                </m:r>
                              </m:e>
                              <m:e>
                                <m:r>
                                  <a:rPr lang="en-US" sz="1200" b="0" i="0">
                                    <a:latin typeface="Cambria Math" panose="02040503050406030204" pitchFamily="18" charset="0"/>
                                  </a:rPr>
                                  <m:t>−0.1576</m:t>
                                </m:r>
                              </m:e>
                              <m:e>
                                <m:r>
                                  <a:rPr lang="en-US" sz="1200" b="0" i="0">
                                    <a:latin typeface="Cambria Math" panose="02040503050406030204" pitchFamily="18" charset="0"/>
                                  </a:rPr>
                                  <m:t>−0.2002</m:t>
                                </m:r>
                              </m:e>
                            </m:mr>
                            <m:mr>
                              <m:e>
                                <m:r>
                                  <a:rPr lang="en-US" sz="1200" b="0" i="0">
                                    <a:latin typeface="Cambria Math" panose="02040503050406030204" pitchFamily="18" charset="0"/>
                                  </a:rPr>
                                  <m:t>−0.1870</m:t>
                                </m:r>
                              </m:e>
                              <m:e>
                                <m:r>
                                  <a:rPr lang="en-US" sz="1200" b="0" i="0">
                                    <a:latin typeface="Cambria Math" panose="02040503050406030204" pitchFamily="18" charset="0"/>
                                  </a:rPr>
                                  <m:t>−0.1737</m:t>
                                </m:r>
                              </m:e>
                              <m:e>
                                <m:r>
                                  <a:rPr lang="en-US" sz="1200" b="0" i="0">
                                    <a:latin typeface="Cambria Math" panose="02040503050406030204" pitchFamily="18" charset="0"/>
                                  </a:rPr>
                                  <m:t>0.8427</m:t>
                                </m:r>
                              </m:e>
                              <m:e>
                                <m:r>
                                  <a:rPr lang="en-US" sz="1200" b="0" i="0">
                                    <a:latin typeface="Cambria Math" panose="02040503050406030204" pitchFamily="18" charset="0"/>
                                  </a:rPr>
                                  <m:t>−0.1076</m:t>
                                </m:r>
                              </m:e>
                              <m:e>
                                <m:r>
                                  <a:rPr lang="en-US" sz="1200" b="0" i="0">
                                    <a:latin typeface="Cambria Math" panose="02040503050406030204" pitchFamily="18" charset="0"/>
                                  </a:rPr>
                                  <m:t>−0.1740</m:t>
                                </m:r>
                              </m:e>
                              <m:e>
                                <m:r>
                                  <a:rPr lang="en-US" sz="1200" b="0" i="0">
                                    <a:latin typeface="Cambria Math" panose="02040503050406030204" pitchFamily="18" charset="0"/>
                                  </a:rPr>
                                  <m:t>−0.1827</m:t>
                                </m:r>
                              </m:e>
                            </m:mr>
                            <m:mr>
                              <m:e>
                                <m:r>
                                  <a:rPr lang="en-US" sz="1200" b="0" i="0">
                                    <a:latin typeface="Cambria Math" panose="02040503050406030204" pitchFamily="18" charset="0"/>
                                  </a:rPr>
                                  <m:t>−0.2040</m:t>
                                </m:r>
                              </m:e>
                              <m:e>
                                <m:r>
                                  <a:rPr lang="en-US" sz="1200" b="0" i="0">
                                    <a:latin typeface="Cambria Math" panose="02040503050406030204" pitchFamily="18" charset="0"/>
                                  </a:rPr>
                                  <m:t>−0.1571</m:t>
                                </m:r>
                              </m:e>
                              <m:e>
                                <m:r>
                                  <a:rPr lang="en-US" sz="1200" b="0" i="0">
                                    <a:latin typeface="Cambria Math" panose="02040503050406030204" pitchFamily="18" charset="0"/>
                                  </a:rPr>
                                  <m:t>−0.2068</m:t>
                                </m:r>
                              </m:e>
                              <m:e>
                                <m:r>
                                  <a:rPr lang="en-US" sz="1200" b="0" i="0">
                                    <a:latin typeface="Cambria Math" panose="02040503050406030204" pitchFamily="18" charset="0"/>
                                  </a:rPr>
                                  <m:t>0.9456</m:t>
                                </m:r>
                              </m:e>
                              <m:e>
                                <m:r>
                                  <a:rPr lang="en-US" sz="1200" b="0" i="0">
                                    <a:latin typeface="Cambria Math" panose="02040503050406030204" pitchFamily="18" charset="0"/>
                                  </a:rPr>
                                  <m:t>−0.1569</m:t>
                                </m:r>
                              </m:e>
                              <m:e>
                                <m:r>
                                  <a:rPr lang="en-US" sz="1200" b="0" i="0">
                                    <a:latin typeface="Cambria Math" panose="02040503050406030204" pitchFamily="18" charset="0"/>
                                  </a:rPr>
                                  <m:t>−0.1994</m:t>
                                </m:r>
                              </m:e>
                            </m:mr>
                            <m:mr>
                              <m:e>
                                <m:r>
                                  <a:rPr lang="en-US" sz="1200" b="0" i="0">
                                    <a:latin typeface="Cambria Math" panose="02040503050406030204" pitchFamily="18" charset="0"/>
                                  </a:rPr>
                                  <m:t>−0.2045</m:t>
                                </m:r>
                              </m:e>
                              <m:e>
                                <m:r>
                                  <a:rPr lang="en-US" sz="1200" b="0" i="0">
                                    <a:latin typeface="Cambria Math" panose="02040503050406030204" pitchFamily="18" charset="0"/>
                                  </a:rPr>
                                  <m:t>−0.1573</m:t>
                                </m:r>
                              </m:e>
                              <m:e>
                                <m:r>
                                  <a:rPr lang="en-US" sz="1200" b="0" i="0">
                                    <a:latin typeface="Cambria Math" panose="02040503050406030204" pitchFamily="18" charset="0"/>
                                  </a:rPr>
                                  <m:t>−0.1983</m:t>
                                </m:r>
                              </m:e>
                              <m:e>
                                <m:r>
                                  <a:rPr lang="en-US" sz="1200" b="0" i="0">
                                    <a:latin typeface="Cambria Math" panose="02040503050406030204" pitchFamily="18" charset="0"/>
                                  </a:rPr>
                                  <m:t>−0.1589</m:t>
                                </m:r>
                              </m:e>
                              <m:e>
                                <m:r>
                                  <a:rPr lang="en-US" sz="1200" b="0" i="0">
                                    <a:latin typeface="Cambria Math" panose="02040503050406030204" pitchFamily="18" charset="0"/>
                                  </a:rPr>
                                  <m:t>0.9514</m:t>
                                </m:r>
                              </m:e>
                              <m:e>
                                <m:r>
                                  <a:rPr lang="en-US" sz="1200" b="0" i="0">
                                    <a:latin typeface="Cambria Math" panose="02040503050406030204" pitchFamily="18" charset="0"/>
                                  </a:rPr>
                                  <m:t>−0.2097</m:t>
                                </m:r>
                              </m:e>
                            </m:mr>
                            <m:mr>
                              <m:e>
                                <m:r>
                                  <a:rPr lang="en-US" sz="1200" b="0" i="0">
                                    <a:latin typeface="Cambria Math" panose="02040503050406030204" pitchFamily="18" charset="0"/>
                                  </a:rPr>
                                  <m:t>−0.1870</m:t>
                                </m:r>
                              </m:e>
                              <m:e>
                                <m:r>
                                  <a:rPr lang="en-US" sz="1200" b="0" i="0">
                                    <a:latin typeface="Cambria Math" panose="02040503050406030204" pitchFamily="18" charset="0"/>
                                  </a:rPr>
                                  <m:t>−0.1734</m:t>
                                </m:r>
                              </m:e>
                              <m:e>
                                <m:r>
                                  <a:rPr lang="en-US" sz="1200" b="0" i="0">
                                    <a:latin typeface="Cambria Math" panose="02040503050406030204" pitchFamily="18" charset="0"/>
                                  </a:rPr>
                                  <m:t>−0.1804</m:t>
                                </m:r>
                              </m:e>
                              <m:e>
                                <m:r>
                                  <a:rPr lang="en-US" sz="1200" b="0" i="0">
                                    <a:latin typeface="Cambria Math" panose="02040503050406030204" pitchFamily="18" charset="0"/>
                                  </a:rPr>
                                  <m:t>−0.1746</m:t>
                                </m:r>
                              </m:e>
                              <m:e>
                                <m:r>
                                  <a:rPr lang="en-US" sz="1200" b="0" i="0">
                                    <a:latin typeface="Cambria Math" panose="02040503050406030204" pitchFamily="18" charset="0"/>
                                  </a:rPr>
                                  <m:t>−0.1054</m:t>
                                </m:r>
                              </m:e>
                              <m:e>
                                <m:r>
                                  <a:rPr lang="en-US" sz="1200" b="0" i="0">
                                    <a:latin typeface="Cambria Math" panose="02040503050406030204" pitchFamily="18" charset="0"/>
                                  </a:rPr>
                                  <m:t>0.8382</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1" y="2953600"/>
                <a:ext cx="3761600"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m:t>
                      </m:r>
                      <m:r>
                        <m:rPr>
                          <m:nor/>
                        </m:rPr>
                        <a:rPr lang="en-US" altLang="zh-TW" sz="1400" dirty="0"/>
                        <m:t>874.25</m:t>
                      </m:r>
                      <m:r>
                        <a:rPr lang="zh-TW" altLang="en-US" sz="1400" i="1">
                          <a:latin typeface="Cambria Math" panose="02040503050406030204" pitchFamily="18" charset="0"/>
                        </a:rPr>
                        <m:t>𝜇</m:t>
                      </m:r>
                      <m:r>
                        <a:rPr lang="en-US" altLang="zh-TW" sz="140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9.67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1" y="2953600"/>
                <a:ext cx="3761600"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%=2.81%</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−0.1369</m:t>
                                </m:r>
                              </m:e>
                              <m:e>
                                <m:r>
                                  <a:rPr lang="en-US" sz="1200" b="0" i="0">
                                    <a:latin typeface="Cambria Math" panose="02040503050406030204" pitchFamily="18" charset="0"/>
                                  </a:rPr>
                                  <m:t>−0.1291</m:t>
                                </m:r>
                              </m:e>
                              <m:e>
                                <m:r>
                                  <a:rPr lang="en-US" sz="1200" b="0" i="0">
                                    <a:latin typeface="Cambria Math" panose="02040503050406030204" pitchFamily="18" charset="0"/>
                                  </a:rPr>
                                  <m:t>−0.1933</m:t>
                                </m:r>
                              </m:e>
                              <m:e>
                                <m:r>
                                  <a:rPr lang="en-US" sz="1200" b="0" i="0">
                                    <a:latin typeface="Cambria Math" panose="02040503050406030204" pitchFamily="18" charset="0"/>
                                  </a:rPr>
                                  <m:t>−0.1926</m:t>
                                </m:r>
                              </m:e>
                              <m:e>
                                <m:r>
                                  <a:rPr lang="en-US" sz="1200" b="0" i="0">
                                    <a:latin typeface="Cambria Math" panose="02040503050406030204" pitchFamily="18" charset="0"/>
                                  </a:rPr>
                                  <m:t>−0.1289</m:t>
                                </m:r>
                              </m:e>
                            </m:mr>
                            <m:mr>
                              <m:e>
                                <m:r>
                                  <a:rPr lang="en-US" sz="1200" b="0" i="0">
                                    <a:latin typeface="Cambria Math" panose="02040503050406030204" pitchFamily="18" charset="0"/>
                                  </a:rPr>
                                  <m:t>−0.1380</m:t>
                                </m:r>
                              </m:e>
                              <m:e>
                                <m:r>
                                  <a:rPr lang="en-US" sz="1200" b="0" i="0">
                                    <a:latin typeface="Cambria Math" panose="02040503050406030204" pitchFamily="18" charset="0"/>
                                  </a:rPr>
                                  <m:t>0.8309</m:t>
                                </m:r>
                              </m:e>
                              <m:e>
                                <m:r>
                                  <a:rPr lang="en-US" sz="1200" b="0" i="0">
                                    <a:latin typeface="Cambria Math" panose="02040503050406030204" pitchFamily="18" charset="0"/>
                                  </a:rPr>
                                  <m:t>−0.2033</m:t>
                                </m:r>
                              </m:e>
                              <m:e>
                                <m:r>
                                  <a:rPr lang="en-US" sz="1200" b="0" i="0">
                                    <a:latin typeface="Cambria Math" panose="02040503050406030204" pitchFamily="18" charset="0"/>
                                  </a:rPr>
                                  <m:t>−0.1231</m:t>
                                </m:r>
                              </m:e>
                              <m:e>
                                <m:r>
                                  <a:rPr lang="en-US" sz="1200" b="0" i="0">
                                    <a:latin typeface="Cambria Math" panose="02040503050406030204" pitchFamily="18" charset="0"/>
                                  </a:rPr>
                                  <m:t>−0.1230</m:t>
                                </m:r>
                              </m:e>
                              <m:e>
                                <m:r>
                                  <a:rPr lang="en-US" sz="1200" b="0" i="0">
                                    <a:latin typeface="Cambria Math" panose="02040503050406030204" pitchFamily="18" charset="0"/>
                                  </a:rPr>
                                  <m:t>−0.2030</m:t>
                                </m:r>
                              </m:e>
                            </m:mr>
                            <m:mr>
                              <m:e>
                                <m:r>
                                  <a:rPr lang="en-US" sz="1200" b="0" i="0">
                                    <a:latin typeface="Cambria Math" panose="02040503050406030204" pitchFamily="18" charset="0"/>
                                  </a:rPr>
                                  <m:t>−0.1276</m:t>
                                </m:r>
                              </m:e>
                              <m:e>
                                <m:r>
                                  <a:rPr lang="en-US" sz="1200" b="0" i="0">
                                    <a:latin typeface="Cambria Math" panose="02040503050406030204" pitchFamily="18" charset="0"/>
                                  </a:rPr>
                                  <m:t>−0.1923</m:t>
                                </m:r>
                              </m:e>
                              <m:e>
                                <m:r>
                                  <a:rPr lang="en-US" sz="1200" b="0" i="0">
                                    <a:latin typeface="Cambria Math" panose="02040503050406030204" pitchFamily="18" charset="0"/>
                                  </a:rPr>
                                  <m:t>0.8291</m:t>
                                </m:r>
                              </m:e>
                              <m:e>
                                <m:r>
                                  <a:rPr lang="en-US" sz="1200" b="0" i="0">
                                    <a:latin typeface="Cambria Math" panose="02040503050406030204" pitchFamily="18" charset="0"/>
                                  </a:rPr>
                                  <m:t>−0.1358</m:t>
                                </m:r>
                              </m:e>
                              <m:e>
                                <m:r>
                                  <a:rPr lang="en-US" sz="1200" b="0" i="0">
                                    <a:latin typeface="Cambria Math" panose="02040503050406030204" pitchFamily="18" charset="0"/>
                                  </a:rPr>
                                  <m:t>−0.1920</m:t>
                                </m:r>
                              </m:e>
                              <m:e>
                                <m:r>
                                  <a:rPr lang="en-US" sz="1200" b="0" i="0">
                                    <a:latin typeface="Cambria Math" panose="02040503050406030204" pitchFamily="18" charset="0"/>
                                  </a:rPr>
                                  <m:t>−0.1284</m:t>
                                </m:r>
                              </m:e>
                            </m:mr>
                            <m:mr>
                              <m:e>
                                <m:r>
                                  <a:rPr lang="en-US" sz="1200" b="0" i="0">
                                    <a:latin typeface="Cambria Math" panose="02040503050406030204" pitchFamily="18" charset="0"/>
                                  </a:rPr>
                                  <m:t>−0.2042</m:t>
                                </m:r>
                              </m:e>
                              <m:e>
                                <m:r>
                                  <a:rPr lang="en-US" sz="1200" b="0" i="0">
                                    <a:latin typeface="Cambria Math" panose="02040503050406030204" pitchFamily="18" charset="0"/>
                                  </a:rPr>
                                  <m:t>−0.1233</m:t>
                                </m:r>
                              </m:e>
                              <m:e>
                                <m:r>
                                  <a:rPr lang="en-US" sz="1200" b="0" i="0">
                                    <a:latin typeface="Cambria Math" panose="02040503050406030204" pitchFamily="18" charset="0"/>
                                  </a:rPr>
                                  <m:t>−0.1403</m:t>
                                </m:r>
                              </m:e>
                              <m:e>
                                <m:r>
                                  <a:rPr lang="en-US" sz="1200" b="0" i="0">
                                    <a:latin typeface="Cambria Math" panose="02040503050406030204" pitchFamily="18" charset="0"/>
                                  </a:rPr>
                                  <m:t>0.8365</m:t>
                                </m:r>
                              </m:e>
                              <m:e>
                                <m:r>
                                  <a:rPr lang="en-US" sz="1200" b="0" i="0">
                                    <a:latin typeface="Cambria Math" panose="02040503050406030204" pitchFamily="18" charset="0"/>
                                  </a:rPr>
                                  <m:t>−0.1235</m:t>
                                </m:r>
                              </m:e>
                              <m:e>
                                <m:r>
                                  <a:rPr lang="en-US" sz="1200" b="0" i="0">
                                    <a:latin typeface="Cambria Math" panose="02040503050406030204" pitchFamily="18" charset="0"/>
                                  </a:rPr>
                                  <m:t>−0.2048</m:t>
                                </m:r>
                              </m:e>
                            </m:mr>
                            <m:mr>
                              <m:e>
                                <m:r>
                                  <a:rPr lang="en-US" sz="1200" b="0" i="0">
                                    <a:latin typeface="Cambria Math" panose="02040503050406030204" pitchFamily="18" charset="0"/>
                                  </a:rPr>
                                  <m:t>−0.2033</m:t>
                                </m:r>
                              </m:e>
                              <m:e>
                                <m:r>
                                  <a:rPr lang="en-US" sz="1200" b="0" i="0">
                                    <a:latin typeface="Cambria Math" panose="02040503050406030204" pitchFamily="18" charset="0"/>
                                  </a:rPr>
                                  <m:t>−0.1230</m:t>
                                </m:r>
                              </m:e>
                              <m:e>
                                <m:r>
                                  <a:rPr lang="en-US" sz="1200" b="0" i="0">
                                    <a:latin typeface="Cambria Math" panose="02040503050406030204" pitchFamily="18" charset="0"/>
                                  </a:rPr>
                                  <m:t>−0.2038</m:t>
                                </m:r>
                              </m:e>
                              <m:e>
                                <m:r>
                                  <a:rPr lang="en-US" sz="1200" b="0" i="0">
                                    <a:latin typeface="Cambria Math" panose="02040503050406030204" pitchFamily="18" charset="0"/>
                                  </a:rPr>
                                  <m:t>−0.1234</m:t>
                                </m:r>
                              </m:e>
                              <m:e>
                                <m:r>
                                  <a:rPr lang="en-US" sz="1200" b="0" i="0">
                                    <a:latin typeface="Cambria Math" panose="02040503050406030204" pitchFamily="18" charset="0"/>
                                  </a:rPr>
                                  <m:t>0.8338</m:t>
                                </m:r>
                              </m:e>
                              <m:e>
                                <m:r>
                                  <a:rPr lang="en-US" sz="1200" b="0" i="0">
                                    <a:latin typeface="Cambria Math" panose="02040503050406030204" pitchFamily="18" charset="0"/>
                                  </a:rPr>
                                  <m:t>−0.1392</m:t>
                                </m:r>
                              </m:e>
                            </m:mr>
                            <m:mr>
                              <m:e>
                                <m:r>
                                  <a:rPr lang="en-US" sz="1200" b="0" i="0">
                                    <a:latin typeface="Cambria Math" panose="02040503050406030204" pitchFamily="18" charset="0"/>
                                  </a:rPr>
                                  <m:t>−0.1279</m:t>
                                </m:r>
                              </m:e>
                              <m:e>
                                <m:r>
                                  <a:rPr lang="en-US" sz="1200" b="0" i="0">
                                    <a:latin typeface="Cambria Math" panose="02040503050406030204" pitchFamily="18" charset="0"/>
                                  </a:rPr>
                                  <m:t>−0.1928</m:t>
                                </m:r>
                              </m:e>
                              <m:e>
                                <m:r>
                                  <a:rPr lang="en-US" sz="1200" b="0" i="0">
                                    <a:latin typeface="Cambria Math" panose="02040503050406030204" pitchFamily="18" charset="0"/>
                                  </a:rPr>
                                  <m:t>−0.1288</m:t>
                                </m:r>
                              </m:e>
                              <m:e>
                                <m:r>
                                  <a:rPr lang="en-US" sz="1200" b="0" i="0">
                                    <a:latin typeface="Cambria Math" panose="02040503050406030204" pitchFamily="18" charset="0"/>
                                  </a:rPr>
                                  <m:t>−0.1936</m:t>
                                </m:r>
                              </m:e>
                              <m:e>
                                <m:r>
                                  <a:rPr lang="en-US" sz="1200" b="0" i="0">
                                    <a:latin typeface="Cambria Math" panose="02040503050406030204" pitchFamily="18" charset="0"/>
                                  </a:rPr>
                                  <m:t>−0.1366</m:t>
                                </m:r>
                              </m:e>
                              <m:e>
                                <m:r>
                                  <a:rPr lang="en-US" sz="1200" b="0" i="0">
                                    <a:latin typeface="Cambria Math" panose="02040503050406030204" pitchFamily="18" charset="0"/>
                                  </a:rPr>
                                  <m:t>0.8328</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m:t>
                      </m:r>
                      <m:r>
                        <a:rPr lang="en-US" sz="1400" b="0" i="0" smtClean="0">
                          <a:latin typeface="Cambria Math" panose="02040503050406030204" pitchFamily="18" charset="0"/>
                        </a:rPr>
                        <m:t>4.0</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10.75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%=0.27%</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0.0183</m:t>
                                </m:r>
                              </m:e>
                              <m:e>
                                <m:r>
                                  <a:rPr lang="en-US" sz="1200" b="0" i="0">
                                    <a:latin typeface="Cambria Math" panose="02040503050406030204" pitchFamily="18" charset="0"/>
                                  </a:rPr>
                                  <m:t>0.0195</m:t>
                                </m:r>
                              </m:e>
                              <m:e>
                                <m:r>
                                  <a:rPr lang="en-US" sz="1200" b="0" i="0">
                                    <a:latin typeface="Cambria Math" panose="02040503050406030204" pitchFamily="18" charset="0"/>
                                  </a:rPr>
                                  <m:t>−0.1173</m:t>
                                </m:r>
                              </m:e>
                              <m:e>
                                <m:r>
                                  <a:rPr lang="en-US" sz="1200" b="0" i="0">
                                    <a:latin typeface="Cambria Math" panose="02040503050406030204" pitchFamily="18" charset="0"/>
                                  </a:rPr>
                                  <m:t>0.0021</m:t>
                                </m:r>
                              </m:e>
                              <m:e>
                                <m:r>
                                  <a:rPr lang="en-US" sz="1200" b="0" i="0">
                                    <a:latin typeface="Cambria Math" panose="02040503050406030204" pitchFamily="18" charset="0"/>
                                  </a:rPr>
                                  <m:t>0.0012</m:t>
                                </m:r>
                              </m:e>
                              <m:e>
                                <m:r>
                                  <a:rPr lang="en-US" sz="1200" b="0" i="0">
                                    <a:latin typeface="Cambria Math" panose="02040503050406030204" pitchFamily="18" charset="0"/>
                                  </a:rPr>
                                  <m:t>−0.1180</m:t>
                                </m:r>
                              </m:e>
                            </m:mr>
                            <m:mr>
                              <m:e>
                                <m:r>
                                  <a:rPr lang="en-US" sz="1200" b="0" i="0">
                                    <a:latin typeface="Cambria Math" panose="02040503050406030204" pitchFamily="18" charset="0"/>
                                  </a:rPr>
                                  <m:t>−0.1178</m:t>
                                </m:r>
                              </m:e>
                              <m:e>
                                <m:r>
                                  <a:rPr lang="en-US" sz="1200" b="0" i="0">
                                    <a:latin typeface="Cambria Math" panose="02040503050406030204" pitchFamily="18" charset="0"/>
                                  </a:rPr>
                                  <m:t>0.0024</m:t>
                                </m:r>
                              </m:e>
                              <m:e>
                                <m:r>
                                  <a:rPr lang="en-US" sz="1200" b="0" i="0">
                                    <a:latin typeface="Cambria Math" panose="02040503050406030204" pitchFamily="18" charset="0"/>
                                  </a:rPr>
                                  <m:t>0.0155</m:t>
                                </m:r>
                              </m:e>
                              <m:e>
                                <m:r>
                                  <a:rPr lang="en-US" sz="1200" b="0" i="0">
                                    <a:latin typeface="Cambria Math" panose="02040503050406030204" pitchFamily="18" charset="0"/>
                                  </a:rPr>
                                  <m:t>0.0147</m:t>
                                </m:r>
                              </m:e>
                              <m:e>
                                <m:r>
                                  <a:rPr lang="en-US" sz="1200" b="0" i="0">
                                    <a:latin typeface="Cambria Math" panose="02040503050406030204" pitchFamily="18" charset="0"/>
                                  </a:rPr>
                                  <m:t>0.0016</m:t>
                                </m:r>
                              </m:e>
                              <m:e>
                                <m:r>
                                  <a:rPr lang="en-US" sz="1200" b="0" i="0">
                                    <a:latin typeface="Cambria Math" panose="02040503050406030204" pitchFamily="18" charset="0"/>
                                  </a:rPr>
                                  <m:t>−0.1180</m:t>
                                </m:r>
                              </m:e>
                            </m:mr>
                            <m:mr>
                              <m:e>
                                <m:r>
                                  <a:rPr lang="en-US" sz="1200" b="0" i="0">
                                    <a:latin typeface="Cambria Math" panose="02040503050406030204" pitchFamily="18" charset="0"/>
                                  </a:rPr>
                                  <m:t>0.1176</m:t>
                                </m:r>
                              </m:e>
                              <m:e>
                                <m:r>
                                  <a:rPr lang="en-US" sz="1200" b="0" i="0">
                                    <a:latin typeface="Cambria Math" panose="02040503050406030204" pitchFamily="18" charset="0"/>
                                  </a:rPr>
                                  <m:t>−0.0022</m:t>
                                </m:r>
                              </m:e>
                              <m:e>
                                <m:r>
                                  <a:rPr lang="en-US" sz="1200" b="0" i="0">
                                    <a:latin typeface="Cambria Math" panose="02040503050406030204" pitchFamily="18" charset="0"/>
                                  </a:rPr>
                                  <m:t>0.1167</m:t>
                                </m:r>
                              </m:e>
                              <m:e>
                                <m:r>
                                  <a:rPr lang="en-US" sz="1200" b="0" i="0">
                                    <a:latin typeface="Cambria Math" panose="02040503050406030204" pitchFamily="18" charset="0"/>
                                  </a:rPr>
                                  <m:t>−0.0029</m:t>
                                </m:r>
                              </m:e>
                              <m:e>
                                <m:r>
                                  <a:rPr lang="en-US" sz="1200" b="0" i="0">
                                    <a:latin typeface="Cambria Math" panose="02040503050406030204" pitchFamily="18" charset="0"/>
                                  </a:rPr>
                                  <m:t>−0.0178</m:t>
                                </m:r>
                              </m:e>
                              <m:e>
                                <m:r>
                                  <a:rPr lang="en-US" sz="1200" b="0" i="0">
                                    <a:latin typeface="Cambria Math" panose="02040503050406030204" pitchFamily="18" charset="0"/>
                                  </a:rPr>
                                  <m:t>−0.0181</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20313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90748"/>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calibrate</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result</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𝑝</m:t>
                        </m:r>
                      </m:sub>
                    </m:sSub>
                    <m:r>
                      <a:rPr lang="en-US" altLang="zh-TW" b="0" i="1" smtClean="0">
                        <a:latin typeface="Cambria Math" panose="02040503050406030204" pitchFamily="18" charset="0"/>
                      </a:rPr>
                      <m:t>=1791,</m:t>
                    </m:r>
                    <m:r>
                      <m:rPr>
                        <m:sty m:val="p"/>
                      </m:rPr>
                      <a:rPr lang="en-US" altLang="zh-TW" b="0" i="0" smtClean="0">
                        <a:latin typeface="Cambria Math" panose="02040503050406030204" pitchFamily="18" charset="0"/>
                      </a:rPr>
                      <m:t>ideal</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model</m:t>
                    </m:r>
                    <m:r>
                      <a:rPr lang="en-US" altLang="zh-TW" b="0" i="1"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90748"/>
              </a:xfrm>
              <a:prstGeom prst="rect">
                <a:avLst/>
              </a:prstGeom>
              <a:blipFill>
                <a:blip r:embed="rId2"/>
                <a:stretch>
                  <a:fillRect l="-311" t="-3125" b="-1406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(1791 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(1791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4"/>
                <a:stretch>
                  <a:fillRect l="-8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ZP_s_mat"/>
              <p:cNvSpPr txBox="1"/>
              <p:nvPr/>
            </p:nvSpPr>
            <p:spPr>
              <a:xfrm>
                <a:off x="460000" y="1650000"/>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−0.0649</m:t>
                                </m:r>
                              </m:e>
                              <m:e>
                                <m:r>
                                  <a:rPr lang="en-US" sz="1200" b="0" i="0">
                                    <a:latin typeface="Cambria Math" panose="02040503050406030204" pitchFamily="18" charset="0"/>
                                  </a:rPr>
                                  <m:t>−0.2224</m:t>
                                </m:r>
                              </m:e>
                              <m:e>
                                <m:r>
                                  <a:rPr lang="en-US" sz="1200" b="0" i="0">
                                    <a:latin typeface="Cambria Math" panose="02040503050406030204" pitchFamily="18" charset="0"/>
                                  </a:rPr>
                                  <m:t>−0.1009</m:t>
                                </m:r>
                              </m:e>
                              <m:e>
                                <m:r>
                                  <a:rPr lang="en-US" sz="1200" b="0" i="0">
                                    <a:latin typeface="Cambria Math" panose="02040503050406030204" pitchFamily="18" charset="0"/>
                                  </a:rPr>
                                  <m:t>−0.1009</m:t>
                                </m:r>
                              </m:e>
                              <m:e>
                                <m:r>
                                  <a:rPr lang="en-US" sz="1200" b="0" i="0">
                                    <a:latin typeface="Cambria Math" panose="02040503050406030204" pitchFamily="18" charset="0"/>
                                  </a:rPr>
                                  <m:t>−0.2226</m:t>
                                </m:r>
                              </m:e>
                            </m:mr>
                            <m:mr>
                              <m:e>
                                <m:r>
                                  <a:rPr lang="en-US" sz="1200" b="0" i="0">
                                    <a:latin typeface="Cambria Math" panose="02040503050406030204" pitchFamily="18" charset="0"/>
                                  </a:rPr>
                                  <m:t>−0.0764</m:t>
                                </m:r>
                              </m:e>
                              <m:e>
                                <m:r>
                                  <a:rPr lang="en-US" sz="1200" b="0" i="0">
                                    <a:latin typeface="Cambria Math" panose="02040503050406030204" pitchFamily="18" charset="0"/>
                                  </a:rPr>
                                  <m:t>0.8376</m:t>
                                </m:r>
                              </m:e>
                              <m:e>
                                <m:r>
                                  <a:rPr lang="en-US" sz="1200" b="0" i="0">
                                    <a:latin typeface="Cambria Math" panose="02040503050406030204" pitchFamily="18" charset="0"/>
                                  </a:rPr>
                                  <m:t>−0.1125</m:t>
                                </m:r>
                              </m:e>
                              <m:e>
                                <m:r>
                                  <a:rPr lang="en-US" sz="1200" b="0" i="0">
                                    <a:latin typeface="Cambria Math" panose="02040503050406030204" pitchFamily="18" charset="0"/>
                                  </a:rPr>
                                  <m:t>−0.2147</m:t>
                                </m:r>
                              </m:e>
                              <m:e>
                                <m:r>
                                  <a:rPr lang="en-US" sz="1200" b="0" i="0">
                                    <a:latin typeface="Cambria Math" panose="02040503050406030204" pitchFamily="18" charset="0"/>
                                  </a:rPr>
                                  <m:t>−0.2148</m:t>
                                </m:r>
                              </m:e>
                              <m:e>
                                <m:r>
                                  <a:rPr lang="en-US" sz="1200" b="0" i="0">
                                    <a:latin typeface="Cambria Math" panose="02040503050406030204" pitchFamily="18" charset="0"/>
                                  </a:rPr>
                                  <m:t>−0.1127</m:t>
                                </m:r>
                              </m:e>
                            </m:mr>
                            <m:mr>
                              <m:e>
                                <m:r>
                                  <a:rPr lang="en-US" sz="1200" b="0" i="0">
                                    <a:latin typeface="Cambria Math" panose="02040503050406030204" pitchFamily="18" charset="0"/>
                                  </a:rPr>
                                  <m:t>−0.2595</m:t>
                                </m:r>
                              </m:e>
                              <m:e>
                                <m:r>
                                  <a:rPr lang="en-US" sz="1200" b="0" i="0">
                                    <a:latin typeface="Cambria Math" panose="02040503050406030204" pitchFamily="18" charset="0"/>
                                  </a:rPr>
                                  <m:t>−0.0965</m:t>
                                </m:r>
                              </m:e>
                              <m:e>
                                <m:r>
                                  <a:rPr lang="en-US" sz="1200" b="0" i="0">
                                    <a:latin typeface="Cambria Math" panose="02040503050406030204" pitchFamily="18" charset="0"/>
                                  </a:rPr>
                                  <m:t>0.7482</m:t>
                                </m:r>
                              </m:e>
                              <m:e>
                                <m:r>
                                  <a:rPr lang="en-US" sz="1200" b="0" i="0">
                                    <a:latin typeface="Cambria Math" panose="02040503050406030204" pitchFamily="18" charset="0"/>
                                  </a:rPr>
                                  <m:t>−0.0526</m:t>
                                </m:r>
                              </m:e>
                              <m:e>
                                <m:r>
                                  <a:rPr lang="en-US" sz="1200" b="0" i="0">
                                    <a:latin typeface="Cambria Math" panose="02040503050406030204" pitchFamily="18" charset="0"/>
                                  </a:rPr>
                                  <m:t>−0.0643</m:t>
                                </m:r>
                              </m:e>
                              <m:e>
                                <m:r>
                                  <a:rPr lang="en-US" sz="1200" b="0" i="0">
                                    <a:latin typeface="Cambria Math" panose="02040503050406030204" pitchFamily="18" charset="0"/>
                                  </a:rPr>
                                  <m:t>−0.2407</m:t>
                                </m:r>
                              </m:e>
                            </m:mr>
                            <m:mr>
                              <m:e>
                                <m:r>
                                  <a:rPr lang="en-US" sz="1200" b="0" i="0">
                                    <a:latin typeface="Cambria Math" panose="02040503050406030204" pitchFamily="18" charset="0"/>
                                  </a:rPr>
                                  <m:t>−0.1091</m:t>
                                </m:r>
                              </m:e>
                              <m:e>
                                <m:r>
                                  <a:rPr lang="en-US" sz="1200" b="0" i="0">
                                    <a:latin typeface="Cambria Math" panose="02040503050406030204" pitchFamily="18" charset="0"/>
                                  </a:rPr>
                                  <m:t>−0.2511</m:t>
                                </m:r>
                              </m:e>
                              <m:e>
                                <m:r>
                                  <a:rPr lang="en-US" sz="1200" b="0" i="0">
                                    <a:latin typeface="Cambria Math" panose="02040503050406030204" pitchFamily="18" charset="0"/>
                                  </a:rPr>
                                  <m:t>−0.0638</m:t>
                                </m:r>
                              </m:e>
                              <m:e>
                                <m:r>
                                  <a:rPr lang="en-US" sz="1200" b="0" i="0">
                                    <a:latin typeface="Cambria Math" panose="02040503050406030204" pitchFamily="18" charset="0"/>
                                  </a:rPr>
                                  <m:t>0.7518</m:t>
                                </m:r>
                              </m:e>
                              <m:e>
                                <m:r>
                                  <a:rPr lang="en-US" sz="1200" b="0" i="0">
                                    <a:latin typeface="Cambria Math" panose="02040503050406030204" pitchFamily="18" charset="0"/>
                                  </a:rPr>
                                  <m:t>−0.2331</m:t>
                                </m:r>
                              </m:e>
                              <m:e>
                                <m:r>
                                  <a:rPr lang="en-US" sz="1200" b="0" i="0">
                                    <a:latin typeface="Cambria Math" panose="02040503050406030204" pitchFamily="18" charset="0"/>
                                  </a:rPr>
                                  <m:t>−0.0768</m:t>
                                </m:r>
                              </m:e>
                            </m:mr>
                            <m:mr>
                              <m:e>
                                <m:r>
                                  <a:rPr lang="en-US" sz="1200" b="0" i="0">
                                    <a:latin typeface="Cambria Math" panose="02040503050406030204" pitchFamily="18" charset="0"/>
                                  </a:rPr>
                                  <m:t>−0.1090</m:t>
                                </m:r>
                              </m:e>
                              <m:e>
                                <m:r>
                                  <a:rPr lang="en-US" sz="1200" b="0" i="0">
                                    <a:latin typeface="Cambria Math" panose="02040503050406030204" pitchFamily="18" charset="0"/>
                                  </a:rPr>
                                  <m:t>−0.2510</m:t>
                                </m:r>
                              </m:e>
                              <m:e>
                                <m:r>
                                  <a:rPr lang="en-US" sz="1200" b="0" i="0">
                                    <a:latin typeface="Cambria Math" panose="02040503050406030204" pitchFamily="18" charset="0"/>
                                  </a:rPr>
                                  <m:t>−0.0765</m:t>
                                </m:r>
                              </m:e>
                              <m:e>
                                <m:r>
                                  <a:rPr lang="en-US" sz="1200" b="0" i="0">
                                    <a:latin typeface="Cambria Math" panose="02040503050406030204" pitchFamily="18" charset="0"/>
                                  </a:rPr>
                                  <m:t>−0.2329</m:t>
                                </m:r>
                              </m:e>
                              <m:e>
                                <m:r>
                                  <a:rPr lang="en-US" sz="1200" b="0" i="0">
                                    <a:latin typeface="Cambria Math" panose="02040503050406030204" pitchFamily="18" charset="0"/>
                                  </a:rPr>
                                  <m:t>0.7509</m:t>
                                </m:r>
                              </m:e>
                              <m:e>
                                <m:r>
                                  <a:rPr lang="en-US" sz="1200" b="0" i="0">
                                    <a:latin typeface="Cambria Math" panose="02040503050406030204" pitchFamily="18" charset="0"/>
                                  </a:rPr>
                                  <m:t>−0.0638</m:t>
                                </m:r>
                              </m:e>
                            </m:mr>
                            <m:mr>
                              <m:e>
                                <m:r>
                                  <a:rPr lang="en-US" sz="1200" b="0" i="0">
                                    <a:latin typeface="Cambria Math" panose="02040503050406030204" pitchFamily="18" charset="0"/>
                                  </a:rPr>
                                  <m:t>−0.2596</m:t>
                                </m:r>
                              </m:e>
                              <m:e>
                                <m:r>
                                  <a:rPr lang="en-US" sz="1200" b="0" i="0">
                                    <a:latin typeface="Cambria Math" panose="02040503050406030204" pitchFamily="18" charset="0"/>
                                  </a:rPr>
                                  <m:t>−0.0966</m:t>
                                </m:r>
                              </m:e>
                              <m:e>
                                <m:r>
                                  <a:rPr lang="en-US" sz="1200" b="0" i="0">
                                    <a:latin typeface="Cambria Math" panose="02040503050406030204" pitchFamily="18" charset="0"/>
                                  </a:rPr>
                                  <m:t>−0.2405</m:t>
                                </m:r>
                              </m:e>
                              <m:e>
                                <m:r>
                                  <a:rPr lang="en-US" sz="1200" b="0" i="0">
                                    <a:latin typeface="Cambria Math" panose="02040503050406030204" pitchFamily="18" charset="0"/>
                                  </a:rPr>
                                  <m:t>−0.0643</m:t>
                                </m:r>
                              </m:e>
                              <m:e>
                                <m:r>
                                  <a:rPr lang="en-US" sz="1200" b="0" i="0">
                                    <a:latin typeface="Cambria Math" panose="02040503050406030204" pitchFamily="18" charset="0"/>
                                  </a:rPr>
                                  <m:t>−0.0529</m:t>
                                </m:r>
                              </m:e>
                              <m:e>
                                <m:r>
                                  <a:rPr lang="en-US" sz="1200" b="0" i="0">
                                    <a:latin typeface="Cambria Math" panose="02040503050406030204" pitchFamily="18" charset="0"/>
                                  </a:rPr>
                                  <m:t>0.7485</m:t>
                                </m:r>
                              </m:e>
                            </m:mr>
                          </m:m>
                        </m:e>
                      </m:d>
                      <m:r>
                        <a:rPr lang="en-US" sz="1200" b="0" i="0">
                          <a:latin typeface="Cambria Math" panose="02040503050406030204" pitchFamily="18" charset="0"/>
                        </a:rPr>
                        <m:t> </m:t>
                      </m:r>
                    </m:oMath>
                  </m:oMathPara>
                </a14:m>
                <a:endParaRPr lang="en-US" sz="1100" dirty="0"/>
              </a:p>
            </p:txBody>
          </p:sp>
        </mc:Choice>
        <mc:Fallback xmlns="">
          <p:sp>
            <p:nvSpPr>
              <p:cNvPr id="40" name="ZP_s_mat"/>
              <p:cNvSpPr txBox="1">
                <a:spLocks noRot="1" noChangeAspect="1" noMove="1" noResize="1" noEditPoints="1" noAdjustHandles="1" noChangeArrowheads="1" noChangeShapeType="1" noTextEdit="1"/>
              </p:cNvSpPr>
              <p:nvPr/>
            </p:nvSpPr>
            <p:spPr>
              <a:xfrm>
                <a:off x="460000" y="1650000"/>
                <a:ext cx="4389119" cy="1115568"/>
              </a:xfrm>
              <a:prstGeom prst="rect">
                <a:avLst/>
              </a:prstGeom>
              <a:blipFill>
                <a:blip r:embed="rId5"/>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ZP_s_sc"/>
              <p:cNvSpPr txBox="1"/>
              <p:nvPr/>
            </p:nvSpPr>
            <p:spPr>
              <a:xfrm>
                <a:off x="150000" y="2953600"/>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745.0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33.0</m:t>
                      </m:r>
                      <m:r>
                        <a:rPr lang="en-US" sz="1400" b="0" i="0" smtClean="0">
                          <a:latin typeface="Cambria Math" panose="02040503050406030204" pitchFamily="18" charset="0"/>
                        </a:rPr>
                        <m:t>9</m:t>
                      </m:r>
                      <m:r>
                        <a:rPr lang="en-US" sz="1400" b="0" i="0">
                          <a:latin typeface="Cambria Math" panose="02040503050406030204" pitchFamily="18" charset="0"/>
                        </a:rPr>
                        <m:t>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1" name="ZP_s_sc"/>
              <p:cNvSpPr txBox="1">
                <a:spLocks noRot="1" noChangeAspect="1" noMove="1" noResize="1" noEditPoints="1" noAdjustHandles="1" noChangeArrowheads="1" noChangeShapeType="1" noTextEdit="1"/>
              </p:cNvSpPr>
              <p:nvPr/>
            </p:nvSpPr>
            <p:spPr>
              <a:xfrm>
                <a:off x="150000" y="2953600"/>
                <a:ext cx="3457787" cy="310896"/>
              </a:xfrm>
              <a:prstGeom prst="rect">
                <a:avLst/>
              </a:prstGeom>
              <a:blipFill>
                <a:blip r:embed="rId6"/>
                <a:stretch>
                  <a:fillRect t="-11765"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ZP_s_nmae"/>
              <p:cNvSpPr txBox="1"/>
              <p:nvPr/>
            </p:nvSpPr>
            <p:spPr>
              <a:xfrm>
                <a:off x="150000" y="3400000"/>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%=10.50%</m:t>
                      </m:r>
                    </m:oMath>
                  </m:oMathPara>
                </a14:m>
                <a:endParaRPr lang="zh-TW" altLang="en-US" sz="1400" dirty="0"/>
              </a:p>
            </p:txBody>
          </p:sp>
        </mc:Choice>
        <mc:Fallback xmlns="">
          <p:sp>
            <p:nvSpPr>
              <p:cNvPr id="42" name="ZP_s_nmae"/>
              <p:cNvSpPr txBox="1">
                <a:spLocks noRot="1" noChangeAspect="1" noMove="1" noResize="1" noEditPoints="1" noAdjustHandles="1" noChangeArrowheads="1" noChangeShapeType="1" noTextEdit="1"/>
              </p:cNvSpPr>
              <p:nvPr/>
            </p:nvSpPr>
            <p:spPr>
              <a:xfrm>
                <a:off x="150000" y="3400000"/>
                <a:ext cx="4191000" cy="54950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ZP_e_mat"/>
              <p:cNvSpPr txBox="1"/>
              <p:nvPr/>
            </p:nvSpPr>
            <p:spPr>
              <a:xfrm>
                <a:off x="5991799" y="1575920"/>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−0.1070</m:t>
                                </m:r>
                              </m:e>
                              <m:e>
                                <m:r>
                                  <a:rPr lang="en-US" sz="1200" b="0" i="0">
                                    <a:latin typeface="Cambria Math" panose="02040503050406030204" pitchFamily="18" charset="0"/>
                                  </a:rPr>
                                  <m:t>−0.1150</m:t>
                                </m:r>
                              </m:e>
                              <m:e>
                                <m:r>
                                  <a:rPr lang="en-US" sz="1200" b="0" i="0">
                                    <a:latin typeface="Cambria Math" panose="02040503050406030204" pitchFamily="18" charset="0"/>
                                  </a:rPr>
                                  <m:t>−0.1879</m:t>
                                </m:r>
                              </m:e>
                              <m:e>
                                <m:r>
                                  <a:rPr lang="en-US" sz="1200" b="0" i="0">
                                    <a:latin typeface="Cambria Math" panose="02040503050406030204" pitchFamily="18" charset="0"/>
                                  </a:rPr>
                                  <m:t>−0.1878</m:t>
                                </m:r>
                              </m:e>
                              <m:e>
                                <m:r>
                                  <a:rPr lang="en-US" sz="1200" b="0" i="0">
                                    <a:latin typeface="Cambria Math" panose="02040503050406030204" pitchFamily="18" charset="0"/>
                                  </a:rPr>
                                  <m:t>−0.1150</m:t>
                                </m:r>
                              </m:e>
                            </m:mr>
                            <m:mr>
                              <m:e>
                                <m:r>
                                  <a:rPr lang="en-US" sz="1200" b="0" i="0">
                                    <a:latin typeface="Cambria Math" panose="02040503050406030204" pitchFamily="18" charset="0"/>
                                  </a:rPr>
                                  <m:t>−0.1106</m:t>
                                </m:r>
                              </m:e>
                              <m:e>
                                <m:r>
                                  <a:rPr lang="en-US" sz="1200" b="0" i="0">
                                    <a:latin typeface="Cambria Math" panose="02040503050406030204" pitchFamily="18" charset="0"/>
                                  </a:rPr>
                                  <m:t>0.8267</m:t>
                                </m:r>
                              </m:e>
                              <m:e>
                                <m:r>
                                  <a:rPr lang="en-US" sz="1200" b="0" i="0">
                                    <a:latin typeface="Cambria Math" panose="02040503050406030204" pitchFamily="18" charset="0"/>
                                  </a:rPr>
                                  <m:t>−0.1923</m:t>
                                </m:r>
                              </m:e>
                              <m:e>
                                <m:r>
                                  <a:rPr lang="en-US" sz="1200" b="0" i="0">
                                    <a:latin typeface="Cambria Math" panose="02040503050406030204" pitchFamily="18" charset="0"/>
                                  </a:rPr>
                                  <m:t>−0.1191</m:t>
                                </m:r>
                              </m:e>
                              <m:e>
                                <m:r>
                                  <a:rPr lang="en-US" sz="1200" b="0" i="0">
                                    <a:latin typeface="Cambria Math" panose="02040503050406030204" pitchFamily="18" charset="0"/>
                                  </a:rPr>
                                  <m:t>−0.1190</m:t>
                                </m:r>
                              </m:e>
                              <m:e>
                                <m:r>
                                  <a:rPr lang="en-US" sz="1200" b="0" i="0">
                                    <a:latin typeface="Cambria Math" panose="02040503050406030204" pitchFamily="18" charset="0"/>
                                  </a:rPr>
                                  <m:t>−0.1923</m:t>
                                </m:r>
                              </m:e>
                            </m:mr>
                            <m:mr>
                              <m:e>
                                <m:r>
                                  <a:rPr lang="en-US" sz="1200" b="0" i="0">
                                    <a:latin typeface="Cambria Math" panose="02040503050406030204" pitchFamily="18" charset="0"/>
                                  </a:rPr>
                                  <m:t>−0.1328</m:t>
                                </m:r>
                              </m:e>
                              <m:e>
                                <m:r>
                                  <a:rPr lang="en-US" sz="1200" b="0" i="0">
                                    <a:latin typeface="Cambria Math" panose="02040503050406030204" pitchFamily="18" charset="0"/>
                                  </a:rPr>
                                  <m:t>−0.1947</m:t>
                                </m:r>
                              </m:e>
                              <m:e>
                                <m:r>
                                  <a:rPr lang="en-US" sz="1200" b="0" i="0">
                                    <a:latin typeface="Cambria Math" panose="02040503050406030204" pitchFamily="18" charset="0"/>
                                  </a:rPr>
                                  <m:t>0.7452</m:t>
                                </m:r>
                              </m:e>
                              <m:e>
                                <m:r>
                                  <a:rPr lang="en-US" sz="1200" b="0" i="0">
                                    <a:latin typeface="Cambria Math" panose="02040503050406030204" pitchFamily="18" charset="0"/>
                                  </a:rPr>
                                  <m:t>−0.0927</m:t>
                                </m:r>
                              </m:e>
                              <m:e>
                                <m:r>
                                  <a:rPr lang="en-US" sz="1200" b="0" i="0">
                                    <a:latin typeface="Cambria Math" panose="02040503050406030204" pitchFamily="18" charset="0"/>
                                  </a:rPr>
                                  <m:t>−0.1569</m:t>
                                </m:r>
                              </m:e>
                              <m:e>
                                <m:r>
                                  <a:rPr lang="en-US" sz="1200" b="0" i="0">
                                    <a:latin typeface="Cambria Math" panose="02040503050406030204" pitchFamily="18" charset="0"/>
                                  </a:rPr>
                                  <m:t>−0.1292</m:t>
                                </m:r>
                              </m:e>
                            </m:mr>
                            <m:mr>
                              <m:e>
                                <m:r>
                                  <a:rPr lang="en-US" sz="1200" b="0" i="0">
                                    <a:latin typeface="Cambria Math" panose="02040503050406030204" pitchFamily="18" charset="0"/>
                                  </a:rPr>
                                  <m:t>−0.1986</m:t>
                                </m:r>
                              </m:e>
                              <m:e>
                                <m:r>
                                  <a:rPr lang="en-US" sz="1200" b="0" i="0">
                                    <a:latin typeface="Cambria Math" panose="02040503050406030204" pitchFamily="18" charset="0"/>
                                  </a:rPr>
                                  <m:t>−0.1368</m:t>
                                </m:r>
                              </m:e>
                              <m:e>
                                <m:r>
                                  <a:rPr lang="en-US" sz="1200" b="0" i="0">
                                    <a:latin typeface="Cambria Math" panose="02040503050406030204" pitchFamily="18" charset="0"/>
                                  </a:rPr>
                                  <m:t>−0.0967</m:t>
                                </m:r>
                              </m:e>
                              <m:e>
                                <m:r>
                                  <a:rPr lang="en-US" sz="1200" b="0" i="0">
                                    <a:latin typeface="Cambria Math" panose="02040503050406030204" pitchFamily="18" charset="0"/>
                                  </a:rPr>
                                  <m:t>0.7376</m:t>
                                </m:r>
                              </m:e>
                              <m:e>
                                <m:r>
                                  <a:rPr lang="en-US" sz="1200" b="0" i="0">
                                    <a:latin typeface="Cambria Math" panose="02040503050406030204" pitchFamily="18" charset="0"/>
                                  </a:rPr>
                                  <m:t>−0.1333</m:t>
                                </m:r>
                              </m:e>
                              <m:e>
                                <m:r>
                                  <a:rPr lang="en-US" sz="1200" b="0" i="0">
                                    <a:latin typeface="Cambria Math" panose="02040503050406030204" pitchFamily="18" charset="0"/>
                                  </a:rPr>
                                  <m:t>−0.1617</m:t>
                                </m:r>
                              </m:e>
                            </m:mr>
                            <m:mr>
                              <m:e>
                                <m:r>
                                  <a:rPr lang="en-US" sz="1200" b="0" i="0">
                                    <a:latin typeface="Cambria Math" panose="02040503050406030204" pitchFamily="18" charset="0"/>
                                  </a:rPr>
                                  <m:t>−0.1985</m:t>
                                </m:r>
                              </m:e>
                              <m:e>
                                <m:r>
                                  <a:rPr lang="en-US" sz="1200" b="0" i="0">
                                    <a:latin typeface="Cambria Math" panose="02040503050406030204" pitchFamily="18" charset="0"/>
                                  </a:rPr>
                                  <m:t>−0.1367</m:t>
                                </m:r>
                              </m:e>
                              <m:e>
                                <m:r>
                                  <a:rPr lang="en-US" sz="1200" b="0" i="0">
                                    <a:latin typeface="Cambria Math" panose="02040503050406030204" pitchFamily="18" charset="0"/>
                                  </a:rPr>
                                  <m:t>−0.1616</m:t>
                                </m:r>
                              </m:e>
                              <m:e>
                                <m:r>
                                  <a:rPr lang="en-US" sz="1200" b="0" i="0">
                                    <a:latin typeface="Cambria Math" panose="02040503050406030204" pitchFamily="18" charset="0"/>
                                  </a:rPr>
                                  <m:t>−0.1333</m:t>
                                </m:r>
                              </m:e>
                              <m:e>
                                <m:r>
                                  <a:rPr lang="en-US" sz="1200" b="0" i="0">
                                    <a:latin typeface="Cambria Math" panose="02040503050406030204" pitchFamily="18" charset="0"/>
                                  </a:rPr>
                                  <m:t>0.7371</m:t>
                                </m:r>
                              </m:e>
                              <m:e>
                                <m:r>
                                  <a:rPr lang="en-US" sz="1200" b="0" i="0">
                                    <a:latin typeface="Cambria Math" panose="02040503050406030204" pitchFamily="18" charset="0"/>
                                  </a:rPr>
                                  <m:t>−0.0967</m:t>
                                </m:r>
                              </m:e>
                            </m:mr>
                            <m:mr>
                              <m:e>
                                <m:r>
                                  <a:rPr lang="en-US" sz="1200" b="0" i="0">
                                    <a:latin typeface="Cambria Math" panose="02040503050406030204" pitchFamily="18" charset="0"/>
                                  </a:rPr>
                                  <m:t>−0.1328</m:t>
                                </m:r>
                              </m:e>
                              <m:e>
                                <m:r>
                                  <a:rPr lang="en-US" sz="1200" b="0" i="0">
                                    <a:latin typeface="Cambria Math" panose="02040503050406030204" pitchFamily="18" charset="0"/>
                                  </a:rPr>
                                  <m:t>−0.1946</m:t>
                                </m:r>
                              </m:e>
                              <m:e>
                                <m:r>
                                  <a:rPr lang="en-US" sz="1200" b="0" i="0">
                                    <a:latin typeface="Cambria Math" panose="02040503050406030204" pitchFamily="18" charset="0"/>
                                  </a:rPr>
                                  <m:t>−0.1292</m:t>
                                </m:r>
                              </m:e>
                              <m:e>
                                <m:r>
                                  <a:rPr lang="en-US" sz="1200" b="0" i="0">
                                    <a:latin typeface="Cambria Math" panose="02040503050406030204" pitchFamily="18" charset="0"/>
                                  </a:rPr>
                                  <m:t>−0.1571</m:t>
                                </m:r>
                              </m:e>
                              <m:e>
                                <m:r>
                                  <a:rPr lang="en-US" sz="1200" b="0" i="0">
                                    <a:latin typeface="Cambria Math" panose="02040503050406030204" pitchFamily="18" charset="0"/>
                                  </a:rPr>
                                  <m:t>−0.0926</m:t>
                                </m:r>
                              </m:e>
                              <m:e>
                                <m:r>
                                  <a:rPr lang="en-US" sz="1200" b="0" i="0">
                                    <a:latin typeface="Cambria Math" panose="02040503050406030204" pitchFamily="18" charset="0"/>
                                  </a:rPr>
                                  <m:t>0.7454</m:t>
                                </m:r>
                              </m:e>
                            </m:mr>
                          </m:m>
                        </m:e>
                      </m:d>
                      <m:r>
                        <a:rPr lang="en-US" sz="1200" b="0" i="0">
                          <a:latin typeface="Cambria Math" panose="02040503050406030204" pitchFamily="18" charset="0"/>
                        </a:rPr>
                        <m:t> </m:t>
                      </m:r>
                    </m:oMath>
                  </m:oMathPara>
                </a14:m>
                <a:endParaRPr lang="en-US" sz="1100" dirty="0"/>
              </a:p>
            </p:txBody>
          </p:sp>
        </mc:Choice>
        <mc:Fallback xmlns="">
          <p:sp>
            <p:nvSpPr>
              <p:cNvPr id="43" name="ZP_e_mat"/>
              <p:cNvSpPr txBox="1">
                <a:spLocks noRot="1" noChangeAspect="1" noMove="1" noResize="1" noEditPoints="1" noAdjustHandles="1" noChangeArrowheads="1" noChangeShapeType="1" noTextEdit="1"/>
              </p:cNvSpPr>
              <p:nvPr/>
            </p:nvSpPr>
            <p:spPr>
              <a:xfrm>
                <a:off x="5991799" y="1575920"/>
                <a:ext cx="4524587" cy="1115568"/>
              </a:xfrm>
              <a:prstGeom prst="rect">
                <a:avLst/>
              </a:prstGeom>
              <a:blipFill>
                <a:blip r:embed="rId8"/>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ZP_e_sc"/>
              <p:cNvSpPr txBox="1"/>
              <p:nvPr/>
            </p:nvSpPr>
            <p:spPr>
              <a:xfrm>
                <a:off x="5693133" y="297728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smtClean="0">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604.1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37.</m:t>
                      </m:r>
                      <m:r>
                        <a:rPr lang="en-US" sz="1400" b="0" i="0" smtClean="0">
                          <a:latin typeface="Cambria Math" panose="02040503050406030204" pitchFamily="18" charset="0"/>
                        </a:rPr>
                        <m:t>56</m:t>
                      </m:r>
                      <m:r>
                        <a:rPr lang="en-US" sz="1400" b="0" i="0">
                          <a:latin typeface="Cambria Math" panose="02040503050406030204" pitchFamily="18" charset="0"/>
                        </a:rPr>
                        <m:t>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4" name="ZP_e_sc"/>
              <p:cNvSpPr txBox="1">
                <a:spLocks noRot="1" noChangeAspect="1" noMove="1" noResize="1" noEditPoints="1" noAdjustHandles="1" noChangeArrowheads="1" noChangeShapeType="1" noTextEdit="1"/>
              </p:cNvSpPr>
              <p:nvPr/>
            </p:nvSpPr>
            <p:spPr>
              <a:xfrm>
                <a:off x="5693133" y="2977286"/>
                <a:ext cx="3457787" cy="310896"/>
              </a:xfrm>
              <a:prstGeom prst="rect">
                <a:avLst/>
              </a:prstGeom>
              <a:blipFill>
                <a:blip r:embed="rId9"/>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ZP_e_nmae"/>
              <p:cNvSpPr txBox="1"/>
              <p:nvPr/>
            </p:nvSpPr>
            <p:spPr>
              <a:xfrm>
                <a:off x="5517025" y="3433867"/>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𝐼</m:t>
                                              </m:r>
                                            </m:sub>
                                          </m:sSub>
                                        </m:e>
                                      </m:sPr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𝐾</m:t>
                                              </m:r>
                                            </m:e>
                                          </m:acc>
                                        </m:e>
                                        <m:sub>
                                          <m:r>
                                            <a:rPr lang="en-US" altLang="zh-TW" sz="1400" i="1">
                                              <a:latin typeface="Cambria Math" panose="02040503050406030204" pitchFamily="18" charset="0"/>
                                            </a:rPr>
                                            <m:t>𝐼</m:t>
                                          </m:r>
                                        </m:sub>
                                      </m:sSub>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𝐼</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%=0.68%</m:t>
                      </m:r>
                    </m:oMath>
                  </m:oMathPara>
                </a14:m>
                <a:endParaRPr lang="zh-TW" altLang="en-US" sz="1400" dirty="0"/>
              </a:p>
            </p:txBody>
          </p:sp>
        </mc:Choice>
        <mc:Fallback xmlns="">
          <p:sp>
            <p:nvSpPr>
              <p:cNvPr id="45" name="ZP_e_nmae"/>
              <p:cNvSpPr txBox="1">
                <a:spLocks noRot="1" noChangeAspect="1" noMove="1" noResize="1" noEditPoints="1" noAdjustHandles="1" noChangeArrowheads="1" noChangeShapeType="1" noTextEdit="1"/>
              </p:cNvSpPr>
              <p:nvPr/>
            </p:nvSpPr>
            <p:spPr>
              <a:xfrm>
                <a:off x="5517025" y="3433867"/>
                <a:ext cx="4191000" cy="549509"/>
              </a:xfrm>
              <a:prstGeom prst="rect">
                <a:avLst/>
              </a:prstGeom>
              <a:blipFill>
                <a:blip r:embed="rId10"/>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ZP_e_bias"/>
              <p:cNvSpPr txBox="1"/>
              <p:nvPr/>
            </p:nvSpPr>
            <p:spPr>
              <a:xfrm>
                <a:off x="5371400" y="4274746"/>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−0.0002</m:t>
                                </m:r>
                              </m:e>
                              <m:e>
                                <m:r>
                                  <a:rPr lang="en-US" sz="1200" b="0" i="0">
                                    <a:latin typeface="Cambria Math" panose="02040503050406030204" pitchFamily="18" charset="0"/>
                                  </a:rPr>
                                  <m:t>0.0004</m:t>
                                </m:r>
                              </m:e>
                              <m:e>
                                <m:r>
                                  <a:rPr lang="en-US" sz="1200" b="0" i="0">
                                    <a:latin typeface="Cambria Math" panose="02040503050406030204" pitchFamily="18" charset="0"/>
                                  </a:rPr>
                                  <m:t>−0.2164</m:t>
                                </m:r>
                              </m:e>
                              <m:e>
                                <m:r>
                                  <a:rPr lang="en-US" sz="1200" b="0" i="0">
                                    <a:latin typeface="Cambria Math" panose="02040503050406030204" pitchFamily="18" charset="0"/>
                                  </a:rPr>
                                  <m:t>0.2160</m:t>
                                </m:r>
                              </m:e>
                              <m:e>
                                <m:r>
                                  <a:rPr lang="en-US" sz="1200" b="0" i="0">
                                    <a:latin typeface="Cambria Math" panose="02040503050406030204" pitchFamily="18" charset="0"/>
                                  </a:rPr>
                                  <m:t>0.2165</m:t>
                                </m:r>
                              </m:e>
                              <m:e>
                                <m:r>
                                  <a:rPr lang="en-US" sz="1200" b="0" i="0">
                                    <a:latin typeface="Cambria Math" panose="02040503050406030204" pitchFamily="18" charset="0"/>
                                  </a:rPr>
                                  <m:t>−0.2161</m:t>
                                </m:r>
                              </m:e>
                            </m:mr>
                            <m:mr>
                              <m:e>
                                <m:r>
                                  <a:rPr lang="en-US" sz="1200" b="0" i="0">
                                    <a:latin typeface="Cambria Math" panose="02040503050406030204" pitchFamily="18" charset="0"/>
                                  </a:rPr>
                                  <m:t>−0.2162</m:t>
                                </m:r>
                              </m:e>
                              <m:e>
                                <m:r>
                                  <a:rPr lang="en-US" sz="1200" b="0" i="0">
                                    <a:latin typeface="Cambria Math" panose="02040503050406030204" pitchFamily="18" charset="0"/>
                                  </a:rPr>
                                  <m:t>0.2165</m:t>
                                </m:r>
                              </m:e>
                              <m:e>
                                <m:r>
                                  <a:rPr lang="en-US" sz="1200" b="0" i="0">
                                    <a:latin typeface="Cambria Math" panose="02040503050406030204" pitchFamily="18" charset="0"/>
                                  </a:rPr>
                                  <m:t>0.0003</m:t>
                                </m:r>
                              </m:e>
                              <m:e>
                                <m:r>
                                  <a:rPr lang="en-US" sz="1200" b="0" i="0">
                                    <a:latin typeface="Cambria Math" panose="02040503050406030204" pitchFamily="18" charset="0"/>
                                  </a:rPr>
                                  <m:t>−0.0000</m:t>
                                </m:r>
                              </m:e>
                              <m:e>
                                <m:r>
                                  <a:rPr lang="en-US" sz="1200" b="0" i="0">
                                    <a:latin typeface="Cambria Math" panose="02040503050406030204" pitchFamily="18" charset="0"/>
                                  </a:rPr>
                                  <m:t>0.2168</m:t>
                                </m:r>
                              </m:e>
                              <m:e>
                                <m:r>
                                  <a:rPr lang="en-US" sz="1200" b="0" i="0">
                                    <a:latin typeface="Cambria Math" panose="02040503050406030204" pitchFamily="18" charset="0"/>
                                  </a:rPr>
                                  <m:t>−0.2161</m:t>
                                </m:r>
                              </m:e>
                            </m:mr>
                            <m:mr>
                              <m:e>
                                <m:r>
                                  <a:rPr lang="en-US" sz="1200" b="0" i="0">
                                    <a:latin typeface="Cambria Math" panose="02040503050406030204" pitchFamily="18" charset="0"/>
                                  </a:rPr>
                                  <m:t>0.2161</m:t>
                                </m:r>
                              </m:e>
                              <m:e>
                                <m:r>
                                  <a:rPr lang="en-US" sz="1200" b="0" i="0">
                                    <a:latin typeface="Cambria Math" panose="02040503050406030204" pitchFamily="18" charset="0"/>
                                  </a:rPr>
                                  <m:t>−0.2164</m:t>
                                </m:r>
                              </m:e>
                              <m:e>
                                <m:r>
                                  <a:rPr lang="en-US" sz="1200" b="0" i="0">
                                    <a:latin typeface="Cambria Math" panose="02040503050406030204" pitchFamily="18" charset="0"/>
                                  </a:rPr>
                                  <m:t>0.2162</m:t>
                                </m:r>
                              </m:e>
                              <m:e>
                                <m:r>
                                  <a:rPr lang="en-US" sz="1200" b="0" i="0">
                                    <a:latin typeface="Cambria Math" panose="02040503050406030204" pitchFamily="18" charset="0"/>
                                  </a:rPr>
                                  <m:t>−0.2166</m:t>
                                </m:r>
                              </m:e>
                              <m:e>
                                <m:r>
                                  <a:rPr lang="en-US" sz="1200" b="0" i="0">
                                    <a:latin typeface="Cambria Math" panose="02040503050406030204" pitchFamily="18" charset="0"/>
                                  </a:rPr>
                                  <m:t>−0.0001</m:t>
                                </m:r>
                              </m:e>
                              <m:e>
                                <m:r>
                                  <a:rPr lang="en-US" sz="1200" b="0" i="0">
                                    <a:latin typeface="Cambria Math" panose="02040503050406030204" pitchFamily="18" charset="0"/>
                                  </a:rPr>
                                  <m:t>−0.0003</m:t>
                                </m:r>
                              </m:e>
                            </m:mr>
                          </m:m>
                        </m:e>
                      </m:d>
                    </m:oMath>
                  </m:oMathPara>
                </a14:m>
                <a:endParaRPr lang="en-US" sz="1100" dirty="0"/>
              </a:p>
            </p:txBody>
          </p:sp>
        </mc:Choice>
        <mc:Fallback xmlns="">
          <p:sp>
            <p:nvSpPr>
              <p:cNvPr id="46" name="ZP_e_bias"/>
              <p:cNvSpPr txBox="1">
                <a:spLocks noRot="1" noChangeAspect="1" noMove="1" noResize="1" noEditPoints="1" noAdjustHandles="1" noChangeArrowheads="1" noChangeShapeType="1" noTextEdit="1"/>
              </p:cNvSpPr>
              <p:nvPr/>
            </p:nvSpPr>
            <p:spPr>
              <a:xfrm>
                <a:off x="5371400" y="4274746"/>
                <a:ext cx="5235787" cy="566928"/>
              </a:xfrm>
              <a:prstGeom prst="rect">
                <a:avLst/>
              </a:prstGeom>
              <a:blipFill>
                <a:blip r:embed="rId11"/>
                <a:stretch>
                  <a:fillRect t="-215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53324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06355D57-6F75-4C46-92F8-667DE328A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504" y="1794851"/>
            <a:ext cx="2864671" cy="2869041"/>
          </a:xfrm>
          <a:prstGeom prst="rect">
            <a:avLst/>
          </a:prstGeom>
        </p:spPr>
      </p:pic>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69332"/>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𝑃𝑜𝑖𝑛𝑡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𝑑𝑖𝑠𝑡𝑟𝑖𝑏𝑢𝑡𝑖𝑜𝑛</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Long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at</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m:t>
                    </m:r>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69332"/>
              </a:xfrm>
              <a:prstGeom prst="rect">
                <a:avLst/>
              </a:prstGeom>
              <a:blipFill>
                <a:blip r:embed="rId3"/>
                <a:stretch>
                  <a:fillRect l="-311"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0184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(25 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018443"/>
                <a:ext cx="4258733" cy="369332"/>
              </a:xfrm>
              <a:prstGeom prst="rect">
                <a:avLst/>
              </a:prstGeom>
              <a:blipFill>
                <a:blip r:embed="rId4"/>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5537199" y="1004337"/>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rPr>
                      <m:t>Eighteen</m:t>
                    </m:r>
                  </m:oMath>
                </a14:m>
                <a:r>
                  <a:rPr lang="en-US" altLang="zh-TW" dirty="0"/>
                  <a:t>(13 points)</a:t>
                </a:r>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5537199" y="1004337"/>
                <a:ext cx="4258733" cy="369332"/>
              </a:xfrm>
              <a:prstGeom prst="rect">
                <a:avLst/>
              </a:prstGeom>
              <a:blipFill>
                <a:blip r:embed="rId5"/>
                <a:stretch>
                  <a:fillRect l="-858" t="-10000" b="-26667"/>
                </a:stretch>
              </a:blipFill>
            </p:spPr>
            <p:txBody>
              <a:bodyPr/>
              <a:lstStyle/>
              <a:p>
                <a:r>
                  <a:rPr lang="zh-TW" altLang="en-US">
                    <a:noFill/>
                  </a:rPr>
                  <a:t> </a:t>
                </a:r>
              </a:p>
            </p:txBody>
          </p:sp>
        </mc:Fallback>
      </mc:AlternateContent>
      <p:grpSp>
        <p:nvGrpSpPr>
          <p:cNvPr id="9" name="群組 8">
            <a:extLst>
              <a:ext uri="{FF2B5EF4-FFF2-40B4-BE49-F238E27FC236}">
                <a16:creationId xmlns:a16="http://schemas.microsoft.com/office/drawing/2014/main" id="{D6305086-34C3-47E8-BA44-93DA7A67F489}"/>
              </a:ext>
            </a:extLst>
          </p:cNvPr>
          <p:cNvGrpSpPr/>
          <p:nvPr/>
        </p:nvGrpSpPr>
        <p:grpSpPr>
          <a:xfrm>
            <a:off x="921190" y="2291668"/>
            <a:ext cx="3187051" cy="2710669"/>
            <a:chOff x="921190" y="2291668"/>
            <a:chExt cx="3187051" cy="2710669"/>
          </a:xfrm>
        </p:grpSpPr>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44A347E8-312A-4189-ACBA-AD6EB583DEAE}"/>
                    </a:ext>
                  </a:extLst>
                </p:cNvPr>
                <p:cNvSpPr txBox="1"/>
                <p:nvPr/>
              </p:nvSpPr>
              <p:spPr>
                <a:xfrm rot="2982631">
                  <a:off x="837235" y="4251683"/>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44A347E8-312A-4189-ACBA-AD6EB583DEAE}"/>
                    </a:ext>
                  </a:extLst>
                </p:cNvPr>
                <p:cNvSpPr txBox="1">
                  <a:spLocks noRot="1" noChangeAspect="1" noMove="1" noResize="1" noEditPoints="1" noAdjustHandles="1" noChangeArrowheads="1" noChangeShapeType="1" noTextEdit="1"/>
                </p:cNvSpPr>
                <p:nvPr/>
              </p:nvSpPr>
              <p:spPr>
                <a:xfrm rot="2982631">
                  <a:off x="837235" y="4251683"/>
                  <a:ext cx="1255087" cy="246221"/>
                </a:xfrm>
                <a:prstGeom prst="rect">
                  <a:avLst/>
                </a:prstGeom>
                <a:blipFill>
                  <a:blip r:embed="rId6"/>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C57323F-E7D7-4DF5-8FC2-746F63CD9E35}"/>
                    </a:ext>
                  </a:extLst>
                </p:cNvPr>
                <p:cNvSpPr txBox="1"/>
                <p:nvPr/>
              </p:nvSpPr>
              <p:spPr>
                <a:xfrm rot="20890141">
                  <a:off x="2864182" y="4561948"/>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9" name="文字方塊 18">
                  <a:extLst>
                    <a:ext uri="{FF2B5EF4-FFF2-40B4-BE49-F238E27FC236}">
                      <a16:creationId xmlns:a16="http://schemas.microsoft.com/office/drawing/2014/main" id="{0C57323F-E7D7-4DF5-8FC2-746F63CD9E35}"/>
                    </a:ext>
                  </a:extLst>
                </p:cNvPr>
                <p:cNvSpPr txBox="1">
                  <a:spLocks noRot="1" noChangeAspect="1" noMove="1" noResize="1" noEditPoints="1" noAdjustHandles="1" noChangeArrowheads="1" noChangeShapeType="1" noTextEdit="1"/>
                </p:cNvSpPr>
                <p:nvPr/>
              </p:nvSpPr>
              <p:spPr>
                <a:xfrm rot="20890141">
                  <a:off x="2864182" y="4561948"/>
                  <a:ext cx="1244059" cy="246221"/>
                </a:xfrm>
                <a:prstGeom prst="rect">
                  <a:avLst/>
                </a:prstGeom>
                <a:blipFill>
                  <a:blip r:embed="rId7"/>
                  <a:stretch>
                    <a:fillRect l="-1914" t="-1205" r="-6220" b="-12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9B492B0A-A3A1-44A5-90AC-7C89A913549C}"/>
                    </a:ext>
                  </a:extLst>
                </p:cNvPr>
                <p:cNvSpPr txBox="1"/>
                <p:nvPr/>
              </p:nvSpPr>
              <p:spPr>
                <a:xfrm rot="16200000">
                  <a:off x="427882" y="2784976"/>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0" name="文字方塊 19">
                  <a:extLst>
                    <a:ext uri="{FF2B5EF4-FFF2-40B4-BE49-F238E27FC236}">
                      <a16:creationId xmlns:a16="http://schemas.microsoft.com/office/drawing/2014/main" id="{9B492B0A-A3A1-44A5-90AC-7C89A913549C}"/>
                    </a:ext>
                  </a:extLst>
                </p:cNvPr>
                <p:cNvSpPr txBox="1">
                  <a:spLocks noRot="1" noChangeAspect="1" noMove="1" noResize="1" noEditPoints="1" noAdjustHandles="1" noChangeArrowheads="1" noChangeShapeType="1" noTextEdit="1"/>
                </p:cNvSpPr>
                <p:nvPr/>
              </p:nvSpPr>
              <p:spPr>
                <a:xfrm rot="16200000">
                  <a:off x="427882" y="2784976"/>
                  <a:ext cx="1232838" cy="246221"/>
                </a:xfrm>
                <a:prstGeom prst="rect">
                  <a:avLst/>
                </a:prstGeom>
                <a:blipFill>
                  <a:blip r:embed="rId8"/>
                  <a:stretch>
                    <a:fillRect t="-5446" r="-31707" b="-198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id="{2DA51642-DDAF-4605-87E2-C3197F0C0446}"/>
                    </a:ext>
                  </a:extLst>
                </p:cNvPr>
                <p:cNvSpPr txBox="1"/>
                <p:nvPr/>
              </p:nvSpPr>
              <p:spPr>
                <a:xfrm>
                  <a:off x="2600152" y="3288307"/>
                  <a:ext cx="2935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𝑥</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8" name="文字方塊 7">
                  <a:extLst>
                    <a:ext uri="{FF2B5EF4-FFF2-40B4-BE49-F238E27FC236}">
                      <a16:creationId xmlns:a16="http://schemas.microsoft.com/office/drawing/2014/main" id="{2DA51642-DDAF-4605-87E2-C3197F0C0446}"/>
                    </a:ext>
                  </a:extLst>
                </p:cNvPr>
                <p:cNvSpPr txBox="1">
                  <a:spLocks noRot="1" noChangeAspect="1" noMove="1" noResize="1" noEditPoints="1" noAdjustHandles="1" noChangeArrowheads="1" noChangeShapeType="1" noTextEdit="1"/>
                </p:cNvSpPr>
                <p:nvPr/>
              </p:nvSpPr>
              <p:spPr>
                <a:xfrm>
                  <a:off x="2600152" y="3288307"/>
                  <a:ext cx="293542" cy="276999"/>
                </a:xfrm>
                <a:prstGeom prst="rect">
                  <a:avLst/>
                </a:prstGeom>
                <a:blipFill>
                  <a:blip r:embed="rId9"/>
                  <a:stretch>
                    <a:fillRect l="-12500" t="-23913" r="-47917" b="-108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43A4A2F6-05CD-4023-A273-447F96A9851E}"/>
                    </a:ext>
                  </a:extLst>
                </p:cNvPr>
                <p:cNvSpPr txBox="1"/>
                <p:nvPr/>
              </p:nvSpPr>
              <p:spPr>
                <a:xfrm>
                  <a:off x="3038114" y="2977442"/>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𝑦</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2" name="文字方塊 21">
                  <a:extLst>
                    <a:ext uri="{FF2B5EF4-FFF2-40B4-BE49-F238E27FC236}">
                      <a16:creationId xmlns:a16="http://schemas.microsoft.com/office/drawing/2014/main" id="{43A4A2F6-05CD-4023-A273-447F96A9851E}"/>
                    </a:ext>
                  </a:extLst>
                </p:cNvPr>
                <p:cNvSpPr txBox="1">
                  <a:spLocks noRot="1" noChangeAspect="1" noMove="1" noResize="1" noEditPoints="1" noAdjustHandles="1" noChangeArrowheads="1" noChangeShapeType="1" noTextEdit="1"/>
                </p:cNvSpPr>
                <p:nvPr/>
              </p:nvSpPr>
              <p:spPr>
                <a:xfrm>
                  <a:off x="3038114" y="2977442"/>
                  <a:ext cx="281937" cy="276999"/>
                </a:xfrm>
                <a:prstGeom prst="rect">
                  <a:avLst/>
                </a:prstGeom>
                <a:blipFill>
                  <a:blip r:embed="rId10"/>
                  <a:stretch>
                    <a:fillRect l="-21277" t="-23913" r="-51064" b="-239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78B1B454-8B8B-4470-9B70-5BC6B64B916D}"/>
                    </a:ext>
                  </a:extLst>
                </p:cNvPr>
                <p:cNvSpPr txBox="1"/>
                <p:nvPr/>
              </p:nvSpPr>
              <p:spPr>
                <a:xfrm>
                  <a:off x="2893694" y="2653403"/>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𝑧</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3" name="文字方塊 22">
                  <a:extLst>
                    <a:ext uri="{FF2B5EF4-FFF2-40B4-BE49-F238E27FC236}">
                      <a16:creationId xmlns:a16="http://schemas.microsoft.com/office/drawing/2014/main" id="{78B1B454-8B8B-4470-9B70-5BC6B64B916D}"/>
                    </a:ext>
                  </a:extLst>
                </p:cNvPr>
                <p:cNvSpPr txBox="1">
                  <a:spLocks noRot="1" noChangeAspect="1" noMove="1" noResize="1" noEditPoints="1" noAdjustHandles="1" noChangeArrowheads="1" noChangeShapeType="1" noTextEdit="1"/>
                </p:cNvSpPr>
                <p:nvPr/>
              </p:nvSpPr>
              <p:spPr>
                <a:xfrm>
                  <a:off x="2893694" y="2653403"/>
                  <a:ext cx="278923" cy="276999"/>
                </a:xfrm>
                <a:prstGeom prst="rect">
                  <a:avLst/>
                </a:prstGeom>
                <a:blipFill>
                  <a:blip r:embed="rId11"/>
                  <a:stretch>
                    <a:fillRect l="-13333" t="-23913" r="-75556" b="-10870"/>
                  </a:stretch>
                </a:blipFill>
              </p:spPr>
              <p:txBody>
                <a:bodyPr/>
                <a:lstStyle/>
                <a:p>
                  <a:r>
                    <a:rPr lang="zh-TW" altLang="en-US">
                      <a:noFill/>
                    </a:rPr>
                    <a:t> </a:t>
                  </a:r>
                </a:p>
              </p:txBody>
            </p:sp>
          </mc:Fallback>
        </mc:AlternateContent>
      </p:grpSp>
      <p:grpSp>
        <p:nvGrpSpPr>
          <p:cNvPr id="10" name="群組 9">
            <a:extLst>
              <a:ext uri="{FF2B5EF4-FFF2-40B4-BE49-F238E27FC236}">
                <a16:creationId xmlns:a16="http://schemas.microsoft.com/office/drawing/2014/main" id="{2A53A111-C064-4301-AB85-F859089C68B5}"/>
              </a:ext>
            </a:extLst>
          </p:cNvPr>
          <p:cNvGrpSpPr/>
          <p:nvPr/>
        </p:nvGrpSpPr>
        <p:grpSpPr>
          <a:xfrm>
            <a:off x="6321471" y="1706032"/>
            <a:ext cx="3474460" cy="3548250"/>
            <a:chOff x="6321471" y="1706032"/>
            <a:chExt cx="3474460" cy="3548250"/>
          </a:xfrm>
        </p:grpSpPr>
        <p:pic>
          <p:nvPicPr>
            <p:cNvPr id="6" name="圖片 5">
              <a:extLst>
                <a:ext uri="{FF2B5EF4-FFF2-40B4-BE49-F238E27FC236}">
                  <a16:creationId xmlns:a16="http://schemas.microsoft.com/office/drawing/2014/main" id="{83A46B8A-7004-47D7-A96D-8B527B05680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94926" y="1706032"/>
              <a:ext cx="3201005" cy="3205888"/>
            </a:xfrm>
            <a:prstGeom prst="rect">
              <a:avLst/>
            </a:prstGeom>
          </p:spPr>
        </p:pic>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DF46B526-4539-4B00-93C8-51EB22D970DA}"/>
                    </a:ext>
                  </a:extLst>
                </p:cNvPr>
                <p:cNvSpPr txBox="1"/>
                <p:nvPr/>
              </p:nvSpPr>
              <p:spPr>
                <a:xfrm rot="2982631">
                  <a:off x="6249944" y="4503628"/>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5" name="文字方塊 24">
                  <a:extLst>
                    <a:ext uri="{FF2B5EF4-FFF2-40B4-BE49-F238E27FC236}">
                      <a16:creationId xmlns:a16="http://schemas.microsoft.com/office/drawing/2014/main" id="{DF46B526-4539-4B00-93C8-51EB22D970DA}"/>
                    </a:ext>
                  </a:extLst>
                </p:cNvPr>
                <p:cNvSpPr txBox="1">
                  <a:spLocks noRot="1" noChangeAspect="1" noMove="1" noResize="1" noEditPoints="1" noAdjustHandles="1" noChangeArrowheads="1" noChangeShapeType="1" noTextEdit="1"/>
                </p:cNvSpPr>
                <p:nvPr/>
              </p:nvSpPr>
              <p:spPr>
                <a:xfrm rot="2982631">
                  <a:off x="6249944" y="4503628"/>
                  <a:ext cx="1255087" cy="246221"/>
                </a:xfrm>
                <a:prstGeom prst="rect">
                  <a:avLst/>
                </a:prstGeom>
                <a:blipFill>
                  <a:blip r:embed="rId13"/>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07F27D96-EE91-4D37-A25A-FBC06D72F3B6}"/>
                    </a:ext>
                  </a:extLst>
                </p:cNvPr>
                <p:cNvSpPr txBox="1"/>
                <p:nvPr/>
              </p:nvSpPr>
              <p:spPr>
                <a:xfrm rot="20890141">
                  <a:off x="8526073" y="4848076"/>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6" name="文字方塊 25">
                  <a:extLst>
                    <a:ext uri="{FF2B5EF4-FFF2-40B4-BE49-F238E27FC236}">
                      <a16:creationId xmlns:a16="http://schemas.microsoft.com/office/drawing/2014/main" id="{07F27D96-EE91-4D37-A25A-FBC06D72F3B6}"/>
                    </a:ext>
                  </a:extLst>
                </p:cNvPr>
                <p:cNvSpPr txBox="1">
                  <a:spLocks noRot="1" noChangeAspect="1" noMove="1" noResize="1" noEditPoints="1" noAdjustHandles="1" noChangeArrowheads="1" noChangeShapeType="1" noTextEdit="1"/>
                </p:cNvSpPr>
                <p:nvPr/>
              </p:nvSpPr>
              <p:spPr>
                <a:xfrm rot="20890141">
                  <a:off x="8526073" y="4848076"/>
                  <a:ext cx="1244059" cy="246221"/>
                </a:xfrm>
                <a:prstGeom prst="rect">
                  <a:avLst/>
                </a:prstGeom>
                <a:blipFill>
                  <a:blip r:embed="rId14"/>
                  <a:stretch>
                    <a:fillRect l="-1914" t="-1205" r="-5742" b="-1204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84E110D1-3A4E-4CDE-B202-E1BB129668B3}"/>
                    </a:ext>
                  </a:extLst>
                </p:cNvPr>
                <p:cNvSpPr txBox="1"/>
                <p:nvPr/>
              </p:nvSpPr>
              <p:spPr>
                <a:xfrm rot="16200000">
                  <a:off x="5828163" y="2784976"/>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27" name="文字方塊 26">
                  <a:extLst>
                    <a:ext uri="{FF2B5EF4-FFF2-40B4-BE49-F238E27FC236}">
                      <a16:creationId xmlns:a16="http://schemas.microsoft.com/office/drawing/2014/main" id="{84E110D1-3A4E-4CDE-B202-E1BB129668B3}"/>
                    </a:ext>
                  </a:extLst>
                </p:cNvPr>
                <p:cNvSpPr txBox="1">
                  <a:spLocks noRot="1" noChangeAspect="1" noMove="1" noResize="1" noEditPoints="1" noAdjustHandles="1" noChangeArrowheads="1" noChangeShapeType="1" noTextEdit="1"/>
                </p:cNvSpPr>
                <p:nvPr/>
              </p:nvSpPr>
              <p:spPr>
                <a:xfrm rot="16200000">
                  <a:off x="5828163" y="2784976"/>
                  <a:ext cx="1232838" cy="246221"/>
                </a:xfrm>
                <a:prstGeom prst="rect">
                  <a:avLst/>
                </a:prstGeom>
                <a:blipFill>
                  <a:blip r:embed="rId15"/>
                  <a:stretch>
                    <a:fillRect t="-5446" r="-32500" b="-198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4A6625A3-3378-4C60-A1E0-14C79AF8FB58}"/>
                  </a:ext>
                </a:extLst>
              </p:cNvPr>
              <p:cNvSpPr txBox="1"/>
              <p:nvPr/>
            </p:nvSpPr>
            <p:spPr>
              <a:xfrm>
                <a:off x="8195428" y="3330642"/>
                <a:ext cx="2935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𝑥</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4" name="文字方塊 23">
                <a:extLst>
                  <a:ext uri="{FF2B5EF4-FFF2-40B4-BE49-F238E27FC236}">
                    <a16:creationId xmlns:a16="http://schemas.microsoft.com/office/drawing/2014/main" id="{4A6625A3-3378-4C60-A1E0-14C79AF8FB58}"/>
                  </a:ext>
                </a:extLst>
              </p:cNvPr>
              <p:cNvSpPr txBox="1">
                <a:spLocks noRot="1" noChangeAspect="1" noMove="1" noResize="1" noEditPoints="1" noAdjustHandles="1" noChangeArrowheads="1" noChangeShapeType="1" noTextEdit="1"/>
              </p:cNvSpPr>
              <p:nvPr/>
            </p:nvSpPr>
            <p:spPr>
              <a:xfrm>
                <a:off x="8195428" y="3330642"/>
                <a:ext cx="293542" cy="276999"/>
              </a:xfrm>
              <a:prstGeom prst="rect">
                <a:avLst/>
              </a:prstGeom>
              <a:blipFill>
                <a:blip r:embed="rId16"/>
                <a:stretch>
                  <a:fillRect l="-12245" t="-23913" r="-46939" b="-108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743547FF-BDF5-44FA-A096-6FD92A495CC3}"/>
                  </a:ext>
                </a:extLst>
              </p:cNvPr>
              <p:cNvSpPr txBox="1"/>
              <p:nvPr/>
            </p:nvSpPr>
            <p:spPr>
              <a:xfrm>
                <a:off x="8638152" y="3053643"/>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𝑦</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31" name="文字方塊 30">
                <a:extLst>
                  <a:ext uri="{FF2B5EF4-FFF2-40B4-BE49-F238E27FC236}">
                    <a16:creationId xmlns:a16="http://schemas.microsoft.com/office/drawing/2014/main" id="{743547FF-BDF5-44FA-A096-6FD92A495CC3}"/>
                  </a:ext>
                </a:extLst>
              </p:cNvPr>
              <p:cNvSpPr txBox="1">
                <a:spLocks noRot="1" noChangeAspect="1" noMove="1" noResize="1" noEditPoints="1" noAdjustHandles="1" noChangeArrowheads="1" noChangeShapeType="1" noTextEdit="1"/>
              </p:cNvSpPr>
              <p:nvPr/>
            </p:nvSpPr>
            <p:spPr>
              <a:xfrm>
                <a:off x="8638152" y="3053643"/>
                <a:ext cx="281937" cy="276999"/>
              </a:xfrm>
              <a:prstGeom prst="rect">
                <a:avLst/>
              </a:prstGeom>
              <a:blipFill>
                <a:blip r:embed="rId17"/>
                <a:stretch>
                  <a:fillRect l="-21739" t="-26667" r="-54348"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3BF7A976-DA7F-4C74-9668-4077F4F15400}"/>
                  </a:ext>
                </a:extLst>
              </p:cNvPr>
              <p:cNvSpPr txBox="1"/>
              <p:nvPr/>
            </p:nvSpPr>
            <p:spPr>
              <a:xfrm>
                <a:off x="8473808" y="2690159"/>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𝑧</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32" name="文字方塊 31">
                <a:extLst>
                  <a:ext uri="{FF2B5EF4-FFF2-40B4-BE49-F238E27FC236}">
                    <a16:creationId xmlns:a16="http://schemas.microsoft.com/office/drawing/2014/main" id="{3BF7A976-DA7F-4C74-9668-4077F4F15400}"/>
                  </a:ext>
                </a:extLst>
              </p:cNvPr>
              <p:cNvSpPr txBox="1">
                <a:spLocks noRot="1" noChangeAspect="1" noMove="1" noResize="1" noEditPoints="1" noAdjustHandles="1" noChangeArrowheads="1" noChangeShapeType="1" noTextEdit="1"/>
              </p:cNvSpPr>
              <p:nvPr/>
            </p:nvSpPr>
            <p:spPr>
              <a:xfrm>
                <a:off x="8473808" y="2690159"/>
                <a:ext cx="278923" cy="276999"/>
              </a:xfrm>
              <a:prstGeom prst="rect">
                <a:avLst/>
              </a:prstGeom>
              <a:blipFill>
                <a:blip r:embed="rId18"/>
                <a:stretch>
                  <a:fillRect l="-13043" t="-23913" r="-73913" b="-1087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871638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69332"/>
              </a:xfrm>
              <a:prstGeom prst="rect">
                <a:avLst/>
              </a:prstGeom>
              <a:noFill/>
            </p:spPr>
            <p:txBody>
              <a:bodyPr wrap="square">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𝑃𝑜𝑖𝑛𝑡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𝑑𝑖𝑠𝑡𝑟𝑖𝑏𝑢𝑡𝑖𝑜𝑛</m:t>
                    </m:r>
                    <m:r>
                      <a:rPr lang="en-US" altLang="zh-TW" b="0" i="0" smtClean="0">
                        <a:latin typeface="Cambria Math" panose="02040503050406030204" pitchFamily="18" charset="0"/>
                      </a:rPr>
                      <m:t>(</m:t>
                    </m:r>
                    <m:r>
                      <m:rPr>
                        <m:sty m:val="p"/>
                      </m:rPr>
                      <a:rPr lang="en-US" altLang="zh-TW" b="0" i="0" smtClean="0">
                        <a:latin typeface="Cambria Math" panose="02040503050406030204" pitchFamily="18" charset="0"/>
                      </a:rPr>
                      <m:t>Zhi</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peng</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at</m:t>
                    </m:r>
                    <m:r>
                      <a:rPr lang="en-US" altLang="zh-TW" b="0" i="0" smtClean="0">
                        <a:latin typeface="Cambria Math" panose="02040503050406030204" pitchFamily="18" charset="0"/>
                      </a:rPr>
                      <m:t> </m:t>
                    </m:r>
                    <m:r>
                      <m:rPr>
                        <m:sty m:val="p"/>
                      </m:rPr>
                      <a:rPr lang="en-US" altLang="zh-TW" b="0" i="0" smtClean="0">
                        <a:latin typeface="Cambria Math" panose="02040503050406030204" pitchFamily="18" charset="0"/>
                      </a:rPr>
                      <m:t>R</m:t>
                    </m:r>
                    <m:r>
                      <a:rPr lang="en-US" altLang="zh-TW" b="0" i="0" smtClean="0">
                        <a:latin typeface="Cambria Math" panose="02040503050406030204" pitchFamily="18" charset="0"/>
                      </a:rPr>
                      <m:t>≤150</m:t>
                    </m:r>
                    <m:r>
                      <m:rPr>
                        <m:sty m:val="p"/>
                      </m:rPr>
                      <a:rPr lang="en-US" altLang="zh-TW" b="0" i="0" smtClean="0">
                        <a:latin typeface="Cambria Math" panose="02040503050406030204" pitchFamily="18" charset="0"/>
                      </a:rPr>
                      <m:t>um</m:t>
                    </m:r>
                    <m:r>
                      <a:rPr lang="en-US" altLang="zh-TW" b="0" i="0" smtClean="0">
                        <a:latin typeface="Cambria Math" panose="02040503050406030204" pitchFamily="18" charset="0"/>
                      </a:rPr>
                      <m:t>)</m:t>
                    </m:r>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69332"/>
              </a:xfrm>
              <a:prstGeom prst="rect">
                <a:avLst/>
              </a:prstGeom>
              <a:blipFill>
                <a:blip r:embed="rId2"/>
                <a:stretch>
                  <a:fillRect l="-311"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018443"/>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Single</m:t>
                    </m:r>
                    <m:r>
                      <a:rPr lang="en-US" altLang="zh-TW" b="0" i="0" smtClean="0">
                        <a:latin typeface="Cambria Math" panose="02040503050406030204" pitchFamily="18" charset="0"/>
                        <a:ea typeface="Cambria Math" panose="02040503050406030204" pitchFamily="18" charset="0"/>
                      </a:rPr>
                      <m:t> = </m:t>
                    </m:r>
                    <m:r>
                      <m:rPr>
                        <m:sty m:val="p"/>
                      </m:rPr>
                      <a:rPr lang="en-US" altLang="zh-TW" b="0" i="0" smtClean="0">
                        <a:latin typeface="Cambria Math" panose="02040503050406030204" pitchFamily="18" charset="0"/>
                        <a:ea typeface="Cambria Math" panose="02040503050406030204" pitchFamily="18" charset="0"/>
                      </a:rPr>
                      <m:t>Eighteen</m:t>
                    </m:r>
                    <m:r>
                      <a:rPr lang="en-US" altLang="zh-TW" b="0" i="0" smtClean="0">
                        <a:latin typeface="Cambria Math" panose="02040503050406030204" pitchFamily="18" charset="0"/>
                        <a:ea typeface="Cambria Math" panose="02040503050406030204" pitchFamily="18" charset="0"/>
                      </a:rPr>
                      <m:t>(7 </m:t>
                    </m:r>
                    <m:r>
                      <m:rPr>
                        <m:sty m:val="p"/>
                      </m:rPr>
                      <a:rPr lang="en-US" altLang="zh-TW" b="0" i="0" smtClean="0">
                        <a:latin typeface="Cambria Math" panose="02040503050406030204" pitchFamily="18" charset="0"/>
                        <a:ea typeface="Cambria Math" panose="02040503050406030204" pitchFamily="18" charset="0"/>
                      </a:rPr>
                      <m:t>points</m:t>
                    </m:r>
                    <m:r>
                      <a:rPr lang="en-US" altLang="zh-TW" b="0" i="0" smtClean="0">
                        <a:latin typeface="Cambria Math" panose="02040503050406030204" pitchFamily="18" charset="0"/>
                        <a:ea typeface="Cambria Math" panose="02040503050406030204" pitchFamily="18" charset="0"/>
                      </a:rPr>
                      <m:t>)</m:t>
                    </m:r>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018443"/>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p:grpSp>
        <p:nvGrpSpPr>
          <p:cNvPr id="7" name="群組 6">
            <a:extLst>
              <a:ext uri="{FF2B5EF4-FFF2-40B4-BE49-F238E27FC236}">
                <a16:creationId xmlns:a16="http://schemas.microsoft.com/office/drawing/2014/main" id="{482E8FFF-60E1-4249-AC6B-59A094B94E16}"/>
              </a:ext>
            </a:extLst>
          </p:cNvPr>
          <p:cNvGrpSpPr/>
          <p:nvPr/>
        </p:nvGrpSpPr>
        <p:grpSpPr>
          <a:xfrm>
            <a:off x="6153167" y="1800043"/>
            <a:ext cx="3307366" cy="3337764"/>
            <a:chOff x="6153167" y="1800043"/>
            <a:chExt cx="3307366" cy="3337764"/>
          </a:xfrm>
        </p:grpSpPr>
      </p:grpSp>
      <p:grpSp>
        <p:nvGrpSpPr>
          <p:cNvPr id="5" name="群組 4">
            <a:extLst>
              <a:ext uri="{FF2B5EF4-FFF2-40B4-BE49-F238E27FC236}">
                <a16:creationId xmlns:a16="http://schemas.microsoft.com/office/drawing/2014/main" id="{FBEDBC7B-BD3E-47B1-AB40-E12178A227E4}"/>
              </a:ext>
            </a:extLst>
          </p:cNvPr>
          <p:cNvGrpSpPr/>
          <p:nvPr/>
        </p:nvGrpSpPr>
        <p:grpSpPr>
          <a:xfrm>
            <a:off x="4248488" y="1761066"/>
            <a:ext cx="3469156" cy="3531331"/>
            <a:chOff x="4248488" y="1761066"/>
            <a:chExt cx="3469156" cy="3531331"/>
          </a:xfrm>
        </p:grpSpPr>
        <p:grpSp>
          <p:nvGrpSpPr>
            <p:cNvPr id="8" name="群組 7">
              <a:extLst>
                <a:ext uri="{FF2B5EF4-FFF2-40B4-BE49-F238E27FC236}">
                  <a16:creationId xmlns:a16="http://schemas.microsoft.com/office/drawing/2014/main" id="{1DC70849-B341-4411-BDE3-116596161A8A}"/>
                </a:ext>
              </a:extLst>
            </p:cNvPr>
            <p:cNvGrpSpPr/>
            <p:nvPr/>
          </p:nvGrpSpPr>
          <p:grpSpPr>
            <a:xfrm>
              <a:off x="4248488" y="1761066"/>
              <a:ext cx="3469156" cy="3531331"/>
              <a:chOff x="4248488" y="1761066"/>
              <a:chExt cx="3469156" cy="3531331"/>
            </a:xfrm>
          </p:grpSpPr>
          <p:pic>
            <p:nvPicPr>
              <p:cNvPr id="4" name="圖片 3">
                <a:extLst>
                  <a:ext uri="{FF2B5EF4-FFF2-40B4-BE49-F238E27FC236}">
                    <a16:creationId xmlns:a16="http://schemas.microsoft.com/office/drawing/2014/main" id="{21C1D50E-A86C-4796-BC15-E187DF8D6A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4355" y="1761066"/>
                <a:ext cx="3243289" cy="3248236"/>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A5D57FF0-BCAE-42F1-B1D4-7195329AAA44}"/>
                      </a:ext>
                    </a:extLst>
                  </p:cNvPr>
                  <p:cNvSpPr txBox="1"/>
                  <p:nvPr/>
                </p:nvSpPr>
                <p:spPr>
                  <a:xfrm rot="2982631">
                    <a:off x="4176961" y="4541743"/>
                    <a:ext cx="1255087"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1" smtClean="0">
                              <a:latin typeface="Cambria Math" panose="02040503050406030204" pitchFamily="18" charset="0"/>
                            </a:rPr>
                            <m:t>𝑥</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1" name="文字方塊 10">
                    <a:extLst>
                      <a:ext uri="{FF2B5EF4-FFF2-40B4-BE49-F238E27FC236}">
                        <a16:creationId xmlns:a16="http://schemas.microsoft.com/office/drawing/2014/main" id="{A5D57FF0-BCAE-42F1-B1D4-7195329AAA44}"/>
                      </a:ext>
                    </a:extLst>
                  </p:cNvPr>
                  <p:cNvSpPr txBox="1">
                    <a:spLocks noRot="1" noChangeAspect="1" noMove="1" noResize="1" noEditPoints="1" noAdjustHandles="1" noChangeArrowheads="1" noChangeShapeType="1" noTextEdit="1"/>
                  </p:cNvSpPr>
                  <p:nvPr/>
                </p:nvSpPr>
                <p:spPr>
                  <a:xfrm rot="2982631">
                    <a:off x="4176961" y="4541743"/>
                    <a:ext cx="1255087" cy="246221"/>
                  </a:xfrm>
                  <a:prstGeom prst="rect">
                    <a:avLst/>
                  </a:prstGeom>
                  <a:blipFill>
                    <a:blip r:embed="rId6"/>
                    <a:stretch>
                      <a:fillRect l="-606" r="-3636" b="-869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83D01B99-1850-4BEA-B34B-2BF36C1BB7B2}"/>
                      </a:ext>
                    </a:extLst>
                  </p:cNvPr>
                  <p:cNvSpPr txBox="1"/>
                  <p:nvPr/>
                </p:nvSpPr>
                <p:spPr>
                  <a:xfrm rot="20890141">
                    <a:off x="6453090" y="4886191"/>
                    <a:ext cx="124405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y</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2" name="文字方塊 11">
                    <a:extLst>
                      <a:ext uri="{FF2B5EF4-FFF2-40B4-BE49-F238E27FC236}">
                        <a16:creationId xmlns:a16="http://schemas.microsoft.com/office/drawing/2014/main" id="{83D01B99-1850-4BEA-B34B-2BF36C1BB7B2}"/>
                      </a:ext>
                    </a:extLst>
                  </p:cNvPr>
                  <p:cNvSpPr txBox="1">
                    <a:spLocks noRot="1" noChangeAspect="1" noMove="1" noResize="1" noEditPoints="1" noAdjustHandles="1" noChangeArrowheads="1" noChangeShapeType="1" noTextEdit="1"/>
                  </p:cNvSpPr>
                  <p:nvPr/>
                </p:nvSpPr>
                <p:spPr>
                  <a:xfrm rot="20890141">
                    <a:off x="6453090" y="4886191"/>
                    <a:ext cx="1244059" cy="246221"/>
                  </a:xfrm>
                  <a:prstGeom prst="rect">
                    <a:avLst/>
                  </a:prstGeom>
                  <a:blipFill>
                    <a:blip r:embed="rId7"/>
                    <a:stretch>
                      <a:fillRect l="-1914" t="-2439" r="-6220" b="-1219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4690DA2C-EDBC-4586-9510-ABD81D5FE7AD}"/>
                      </a:ext>
                    </a:extLst>
                  </p:cNvPr>
                  <p:cNvSpPr txBox="1"/>
                  <p:nvPr/>
                </p:nvSpPr>
                <p:spPr>
                  <a:xfrm rot="16200000">
                    <a:off x="3755180" y="2823091"/>
                    <a:ext cx="123283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a:latin typeface="Cambria Math" panose="02040503050406030204" pitchFamily="18" charset="0"/>
                            </a:rPr>
                            <m:t>z</m:t>
                          </m:r>
                          <m:r>
                            <a:rPr lang="en-US" altLang="zh-TW" sz="1600" b="0" i="0" smtClean="0">
                              <a:latin typeface="Cambria Math" panose="02040503050406030204" pitchFamily="18" charset="0"/>
                            </a:rPr>
                            <m:t>−</m:t>
                          </m:r>
                          <m:r>
                            <m:rPr>
                              <m:sty m:val="p"/>
                            </m:rPr>
                            <a:rPr lang="en-US" altLang="zh-TW" sz="1600" b="0" i="0" smtClean="0">
                              <a:latin typeface="Cambria Math" panose="02040503050406030204" pitchFamily="18" charset="0"/>
                            </a:rPr>
                            <m:t>axis</m:t>
                          </m:r>
                          <m:r>
                            <a:rPr lang="en-US" altLang="zh-TW" sz="1600" b="0" i="0" smtClean="0">
                              <a:latin typeface="Cambria Math" panose="02040503050406030204" pitchFamily="18" charset="0"/>
                            </a:rPr>
                            <m:t> (</m:t>
                          </m:r>
                          <m:r>
                            <a:rPr lang="el-GR" altLang="zh-TW" sz="1600" i="1">
                              <a:latin typeface="Cambria Math" panose="02040503050406030204" pitchFamily="18" charset="0"/>
                              <a:ea typeface="Cambria Math" panose="02040503050406030204" pitchFamily="18" charset="0"/>
                            </a:rPr>
                            <m:t>𝜇</m:t>
                          </m:r>
                          <m:r>
                            <a:rPr lang="en-US" altLang="zh-TW" sz="1600" b="0" i="1" smtClean="0">
                              <a:latin typeface="Cambria Math" panose="02040503050406030204" pitchFamily="18" charset="0"/>
                              <a:ea typeface="Cambria Math" panose="02040503050406030204" pitchFamily="18" charset="0"/>
                            </a:rPr>
                            <m:t>𝑚</m:t>
                          </m:r>
                          <m:r>
                            <a:rPr lang="en-US" altLang="zh-TW" sz="1600" b="0" i="1" smtClean="0">
                              <a:latin typeface="Cambria Math" panose="02040503050406030204" pitchFamily="18" charset="0"/>
                              <a:ea typeface="Cambria Math" panose="02040503050406030204" pitchFamily="18" charset="0"/>
                            </a:rPr>
                            <m:t>)</m:t>
                          </m:r>
                        </m:oMath>
                      </m:oMathPara>
                    </a14:m>
                    <a:endParaRPr lang="zh-TW" altLang="en-US" sz="1600" dirty="0"/>
                  </a:p>
                </p:txBody>
              </p:sp>
            </mc:Choice>
            <mc:Fallback xmlns="">
              <p:sp>
                <p:nvSpPr>
                  <p:cNvPr id="13" name="文字方塊 12">
                    <a:extLst>
                      <a:ext uri="{FF2B5EF4-FFF2-40B4-BE49-F238E27FC236}">
                        <a16:creationId xmlns:a16="http://schemas.microsoft.com/office/drawing/2014/main" id="{4690DA2C-EDBC-4586-9510-ABD81D5FE7AD}"/>
                      </a:ext>
                    </a:extLst>
                  </p:cNvPr>
                  <p:cNvSpPr txBox="1">
                    <a:spLocks noRot="1" noChangeAspect="1" noMove="1" noResize="1" noEditPoints="1" noAdjustHandles="1" noChangeArrowheads="1" noChangeShapeType="1" noTextEdit="1"/>
                  </p:cNvSpPr>
                  <p:nvPr/>
                </p:nvSpPr>
                <p:spPr>
                  <a:xfrm rot="16200000">
                    <a:off x="3755180" y="2823091"/>
                    <a:ext cx="1232838" cy="246221"/>
                  </a:xfrm>
                  <a:prstGeom prst="rect">
                    <a:avLst/>
                  </a:prstGeom>
                  <a:blipFill>
                    <a:blip r:embed="rId8"/>
                    <a:stretch>
                      <a:fillRect t="-5446" r="-31707" b="-198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F1C88A1C-CB04-44B1-8B06-5D7052C5839E}"/>
                    </a:ext>
                  </a:extLst>
                </p:cNvPr>
                <p:cNvSpPr txBox="1"/>
                <p:nvPr/>
              </p:nvSpPr>
              <p:spPr>
                <a:xfrm>
                  <a:off x="6031169" y="3429000"/>
                  <a:ext cx="37036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𝑥</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16" name="文字方塊 15">
                  <a:extLst>
                    <a:ext uri="{FF2B5EF4-FFF2-40B4-BE49-F238E27FC236}">
                      <a16:creationId xmlns:a16="http://schemas.microsoft.com/office/drawing/2014/main" id="{F1C88A1C-CB04-44B1-8B06-5D7052C5839E}"/>
                    </a:ext>
                  </a:extLst>
                </p:cNvPr>
                <p:cNvSpPr txBox="1">
                  <a:spLocks noRot="1" noChangeAspect="1" noMove="1" noResize="1" noEditPoints="1" noAdjustHandles="1" noChangeArrowheads="1" noChangeShapeType="1" noTextEdit="1"/>
                </p:cNvSpPr>
                <p:nvPr/>
              </p:nvSpPr>
              <p:spPr>
                <a:xfrm>
                  <a:off x="6031169" y="3429000"/>
                  <a:ext cx="370364" cy="369332"/>
                </a:xfrm>
                <a:prstGeom prst="rect">
                  <a:avLst/>
                </a:prstGeom>
                <a:blipFill>
                  <a:blip r:embed="rId9"/>
                  <a:stretch>
                    <a:fillRect t="-6667" r="-81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6A6D0923-176B-4331-AB6E-D331C84CD94C}"/>
                    </a:ext>
                  </a:extLst>
                </p:cNvPr>
                <p:cNvSpPr txBox="1"/>
                <p:nvPr/>
              </p:nvSpPr>
              <p:spPr>
                <a:xfrm>
                  <a:off x="6527057" y="3133222"/>
                  <a:ext cx="2819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𝑦</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0" name="文字方塊 19">
                  <a:extLst>
                    <a:ext uri="{FF2B5EF4-FFF2-40B4-BE49-F238E27FC236}">
                      <a16:creationId xmlns:a16="http://schemas.microsoft.com/office/drawing/2014/main" id="{6A6D0923-176B-4331-AB6E-D331C84CD94C}"/>
                    </a:ext>
                  </a:extLst>
                </p:cNvPr>
                <p:cNvSpPr txBox="1">
                  <a:spLocks noRot="1" noChangeAspect="1" noMove="1" noResize="1" noEditPoints="1" noAdjustHandles="1" noChangeArrowheads="1" noChangeShapeType="1" noTextEdit="1"/>
                </p:cNvSpPr>
                <p:nvPr/>
              </p:nvSpPr>
              <p:spPr>
                <a:xfrm>
                  <a:off x="6527057" y="3133222"/>
                  <a:ext cx="281937" cy="276999"/>
                </a:xfrm>
                <a:prstGeom prst="rect">
                  <a:avLst/>
                </a:prstGeom>
                <a:blipFill>
                  <a:blip r:embed="rId10"/>
                  <a:stretch>
                    <a:fillRect l="-21739" t="-26667" r="-52174"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D1583DC3-12A5-40FE-9F05-6878A20353A9}"/>
                    </a:ext>
                  </a:extLst>
                </p:cNvPr>
                <p:cNvSpPr txBox="1"/>
                <p:nvPr/>
              </p:nvSpPr>
              <p:spPr>
                <a:xfrm>
                  <a:off x="6389102" y="2780879"/>
                  <a:ext cx="2789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solidFill>
                                  <a:schemeClr val="accent1"/>
                                </a:solidFill>
                                <a:latin typeface="Cambria Math" panose="02040503050406030204" pitchFamily="18" charset="0"/>
                              </a:rPr>
                            </m:ctrlPr>
                          </m:sSubPr>
                          <m:e>
                            <m:acc>
                              <m:accPr>
                                <m:chr m:val="̂"/>
                                <m:ctrlPr>
                                  <a:rPr lang="en-US" altLang="zh-TW" i="1" smtClean="0">
                                    <a:solidFill>
                                      <a:schemeClr val="accent1"/>
                                    </a:solidFill>
                                    <a:latin typeface="Cambria Math" panose="02040503050406030204" pitchFamily="18" charset="0"/>
                                  </a:rPr>
                                </m:ctrlPr>
                              </m:accPr>
                              <m:e>
                                <m:r>
                                  <a:rPr lang="en-US" altLang="zh-TW" b="0" i="1" smtClean="0">
                                    <a:solidFill>
                                      <a:schemeClr val="accent1"/>
                                    </a:solidFill>
                                    <a:latin typeface="Cambria Math" panose="02040503050406030204" pitchFamily="18" charset="0"/>
                                  </a:rPr>
                                  <m:t>𝑧</m:t>
                                </m:r>
                              </m:e>
                            </m:acc>
                          </m:e>
                          <m:sub>
                            <m:r>
                              <a:rPr lang="en-US" altLang="zh-TW" b="0" i="1" smtClean="0">
                                <a:solidFill>
                                  <a:schemeClr val="accent1"/>
                                </a:solidFill>
                                <a:latin typeface="Cambria Math" panose="02040503050406030204" pitchFamily="18" charset="0"/>
                              </a:rPr>
                              <m:t>𝑎</m:t>
                            </m:r>
                          </m:sub>
                        </m:sSub>
                      </m:oMath>
                    </m:oMathPara>
                  </a14:m>
                  <a:endParaRPr lang="zh-TW" altLang="en-US" dirty="0"/>
                </a:p>
              </p:txBody>
            </p:sp>
          </mc:Choice>
          <mc:Fallback xmlns="">
            <p:sp>
              <p:nvSpPr>
                <p:cNvPr id="22" name="文字方塊 21">
                  <a:extLst>
                    <a:ext uri="{FF2B5EF4-FFF2-40B4-BE49-F238E27FC236}">
                      <a16:creationId xmlns:a16="http://schemas.microsoft.com/office/drawing/2014/main" id="{D1583DC3-12A5-40FE-9F05-6878A20353A9}"/>
                    </a:ext>
                  </a:extLst>
                </p:cNvPr>
                <p:cNvSpPr txBox="1">
                  <a:spLocks noRot="1" noChangeAspect="1" noMove="1" noResize="1" noEditPoints="1" noAdjustHandles="1" noChangeArrowheads="1" noChangeShapeType="1" noTextEdit="1"/>
                </p:cNvSpPr>
                <p:nvPr/>
              </p:nvSpPr>
              <p:spPr>
                <a:xfrm>
                  <a:off x="6389102" y="2780879"/>
                  <a:ext cx="278923" cy="276999"/>
                </a:xfrm>
                <a:prstGeom prst="rect">
                  <a:avLst/>
                </a:prstGeom>
                <a:blipFill>
                  <a:blip r:embed="rId11"/>
                  <a:stretch>
                    <a:fillRect l="-13043" t="-23913" r="-73913" b="-1087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6731186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48648</TotalTime>
  <Words>6985</Words>
  <Application>Microsoft Office PowerPoint</Application>
  <PresentationFormat>寬螢幕</PresentationFormat>
  <Paragraphs>751</Paragraphs>
  <Slides>45</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45</vt:i4>
      </vt:variant>
    </vt:vector>
  </HeadingPairs>
  <TitlesOfParts>
    <vt:vector size="53"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lpstr>Reference </vt:lpstr>
      <vt:lpstr>Reference </vt:lpstr>
      <vt:lpstr>Reference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534</cp:revision>
  <dcterms:created xsi:type="dcterms:W3CDTF">2026-07-23T11:39:15Z</dcterms:created>
  <dcterms:modified xsi:type="dcterms:W3CDTF">2026-10-02T08:32:54Z</dcterms:modified>
</cp:coreProperties>
</file>