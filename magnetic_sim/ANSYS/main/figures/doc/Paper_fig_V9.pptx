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1" r:id="rId6"/>
    <p:sldId id="262" r:id="rId7"/>
    <p:sldId id="265" r:id="rId8"/>
    <p:sldId id="263" r:id="rId9"/>
    <p:sldId id="257" r:id="rId10"/>
    <p:sldId id="258" r:id="rId11"/>
    <p:sldId id="259" r:id="rId12"/>
    <p:sldId id="260" r:id="rId13"/>
    <p:sldId id="266" r:id="rId14"/>
    <p:sldId id="267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8B8A1-1385-4D54-B7A9-BC8CA688DE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DA53C58-0796-494F-9AD2-D47EF3A77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5D68CA-ECD8-44C4-BA56-F87FA03B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5C7B74-7150-499E-8438-52D7E9FA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8CD55D-5D34-4ECF-8801-B60E85F1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468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A83285-4AA1-4E6A-8F27-01CB0C667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A7EF3B-558D-4E7C-A6FA-F69394C91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DBFBF71-FBA5-45CD-AC40-E35E67815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0099D48-425A-43AF-B013-782FBA2B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17162B-2A73-4E69-80FD-5C112180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38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E1A6D2-068D-4001-8BA6-3B773646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6F0B6D-6425-4AE5-B974-3E524D188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53E9F5-827F-444F-B68E-52ECC7BB9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A9D0C0-6351-4E79-ACED-4307D01C1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B66D7A-3BC7-4DE3-90CB-6F901856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96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DC98B5-84ED-48CE-8141-65597180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8147C7-F606-4B2F-B3A7-9070B6EE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429DDB2-B02C-4549-BBC9-94F938AD6A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06F191C-3892-4E39-AB17-E6C7CE1F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128057-C4A9-4E1D-911D-DE69B800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5C7D52-F159-4392-AEBD-D88E7F8E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6560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34CD8-F239-4124-A7F4-B78BD4E6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F56A9D-A27F-4772-8C02-FCE725096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888ED4-CA19-4B8F-AA4A-D3E79DEF2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8BB386C-438A-4BC8-95BF-A2F40C358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136A722-5F48-4181-A0BD-4991DFB320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3B089D-F7EE-4E48-B1DD-C7E2E930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726DEF-5354-4560-8FCC-9A004120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7B756B0-4F8C-4005-8DE1-B27CF970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169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3F56F6-ACCF-4EC9-922D-A27C57A7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B363D23-F275-4BAD-BDF6-61E1460F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E54D33D-2A56-43BD-8768-A0A07A73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851CBF-6DE7-4982-8A33-369008BF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2AFD7BE-AD9F-4CD0-861B-3F9F23FA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DDD9B2C-7A32-407D-8266-D459AB0D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43CA81-8D6C-4E25-A5E5-60C22F82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496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70EBF9-5FC7-44B2-BE09-6C90C212C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D26210-D487-437E-85AF-3AA1C37C2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630E9DC-3B7F-4F65-B557-D13526A4F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04B512-9E71-44C4-8BEE-0F43DCF07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D97A93-671B-44E2-9E4A-8AEB6F0E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9E62E5-9199-4343-BF70-CBE9879F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695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D702C1-FF8A-4F1D-AD22-56AC0FABC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3EFAC97-BDAE-45BE-B666-BB7C70D9C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600C554-4E58-46E8-8E88-D741ED89F6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43062C6-7A5A-4CDE-BDD0-C85721665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4E32E0-9B7B-4C7C-8105-AF4A6BF3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C238B5-4297-4A60-99BB-49F52028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1769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724072-5957-449B-B360-0D0AE5E3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FD97EF-6790-4F43-B5A7-CBF7C728E8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12948A-314A-47DA-A811-991BA096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8D74EC8-833F-4954-A4D4-4088BF325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EC9EAA-E3E6-4CE4-BA41-30D6DFAA4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330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BD876BE-CC3A-45E6-9583-11E04A0D45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0B9E75-AA7E-48B7-9C10-F8AABC91D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9BDA8F-77CD-43EE-A4C4-ED8A18A0D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4FFC8D-83A8-4A8F-BA77-FAB0B5334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618243-EEE2-452F-B673-47C1F78F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103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1CBFE4D-BF23-4332-94F2-F07215490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6B3895-7A1B-4BE1-9E77-95FDF1FD6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5AF164-BFC6-4EC5-AC7C-4882DCDB2F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9CCEB0-8531-4DC7-874B-C34BB5A237D1}" type="datetimeFigureOut">
              <a:rPr lang="zh-TW" altLang="en-US" smtClean="0"/>
              <a:t>2026/8/28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BB36E3-A29F-4377-A5E6-5E80BDD89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018917-9E40-4809-944C-581A0C946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20606-84CA-4904-938B-3C22A6F8066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29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210.png"/><Relationship Id="rId7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>
            <a:extLst>
              <a:ext uri="{FF2B5EF4-FFF2-40B4-BE49-F238E27FC236}">
                <a16:creationId xmlns:a16="http://schemas.microsoft.com/office/drawing/2014/main" id="{6F573D13-1735-4E66-AADF-14DC68015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333" y="868362"/>
            <a:ext cx="11345334" cy="2387600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lang="en-US" altLang="zh-TW" sz="2800" b="1" kern="100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A Lumped-Parameter Modeling, Calibration, and Capacity-Measure Framework for Flux Generation in Symmetric</a:t>
            </a:r>
            <a:br>
              <a:rPr lang="zh-TW" altLang="zh-TW" sz="2800" kern="100" dirty="0"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800" b="1" dirty="0">
                <a:solidFill>
                  <a:srgbClr val="000000"/>
                </a:solidFill>
                <a:effectLst/>
                <a:latin typeface="Aptos"/>
                <a:ea typeface="新細明體" panose="02020500000000000000" pitchFamily="18" charset="-120"/>
                <a:cs typeface="Times New Roman" panose="02020603050405020304" pitchFamily="18" charset="0"/>
              </a:rPr>
              <a:t>Multipole Electromagnetic Actuators </a:t>
            </a:r>
            <a:endParaRPr lang="zh-TW" altLang="en-US" sz="8000" dirty="0"/>
          </a:p>
        </p:txBody>
      </p:sp>
    </p:spTree>
    <p:extLst>
      <p:ext uri="{BB962C8B-B14F-4D97-AF65-F5344CB8AC3E}">
        <p14:creationId xmlns:p14="http://schemas.microsoft.com/office/powerpoint/2010/main" val="76980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83A778D-1DDD-4548-8252-39C1F457AE72}"/>
              </a:ext>
            </a:extLst>
          </p:cNvPr>
          <p:cNvSpPr txBox="1"/>
          <p:nvPr/>
        </p:nvSpPr>
        <p:spPr>
          <a:xfrm>
            <a:off x="0" y="688180"/>
            <a:ext cx="606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 Point Algorithm for workspace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09E3DD2E-983C-4DD9-8B03-097418640B4B}"/>
                  </a:ext>
                </a:extLst>
              </p:cNvPr>
              <p:cNvSpPr txBox="1"/>
              <p:nvPr/>
            </p:nvSpPr>
            <p:spPr>
              <a:xfrm>
                <a:off x="5367871" y="768588"/>
                <a:ext cx="6493929" cy="51764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4"/>
                </a:pPr>
                <a:r>
                  <a:rPr lang="en-US" altLang="zh-TW" dirty="0"/>
                  <a:t>Localization: Determine which tetrahedron contains each query point and return its coordinates relative to the four vertices.</a:t>
                </a:r>
              </a:p>
              <a:p>
                <a:pPr marL="342900" indent="-342900">
                  <a:buFont typeface="+mj-lt"/>
                  <a:buAutoNum type="arabicPeriod" startAt="4"/>
                </a:pPr>
                <a:endParaRPr lang="en-US" altLang="zh-TW" dirty="0"/>
              </a:p>
              <a:p>
                <a:pPr marL="342900" indent="-342900">
                  <a:buFont typeface="+mj-lt"/>
                  <a:buAutoNum type="arabicPeriod" startAt="4"/>
                </a:pPr>
                <a:r>
                  <a:rPr lang="en-US" altLang="zh-TW" dirty="0"/>
                  <a:t>Barycentric Interpolation:</a:t>
                </a:r>
              </a:p>
              <a:p>
                <a:pPr lvl="1"/>
                <a:r>
                  <a:rPr lang="en-US" altLang="zh-TW" dirty="0"/>
                  <a:t>Let the coordinates of the four vertices be: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Let the coordinates of the interpolation point be: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(The volume of the sub-tetrahedron formed by replacing vertex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with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zh-TW" dirty="0"/>
                  <a:t>)</a:t>
                </a:r>
              </a:p>
              <a:p>
                <a:pPr lvl="1"/>
                <a:endParaRPr lang="en-US" altLang="zh-TW" dirty="0"/>
              </a:p>
              <a:p>
                <a:pPr marL="342900" indent="-342900">
                  <a:buFont typeface="+mj-lt"/>
                  <a:buAutoNum type="arabicPeriod" startAt="6"/>
                </a:pPr>
                <a:r>
                  <a:rPr lang="en-US" altLang="zh-TW" dirty="0"/>
                  <a:t>Repeat Steps 4 and 5 until all interpolation points have been processed.</a:t>
                </a:r>
              </a:p>
              <a:p>
                <a:pPr lvl="1"/>
                <a:endParaRPr lang="en-US" altLang="zh-TW" dirty="0"/>
              </a:p>
              <a:p>
                <a:endParaRPr lang="en-US" altLang="zh-TW" dirty="0"/>
              </a:p>
              <a:p>
                <a:pPr lvl="1"/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09E3DD2E-983C-4DD9-8B03-097418640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7871" y="768588"/>
                <a:ext cx="6493929" cy="5176417"/>
              </a:xfrm>
              <a:prstGeom prst="rect">
                <a:avLst/>
              </a:prstGeom>
              <a:blipFill>
                <a:blip r:embed="rId3"/>
                <a:stretch>
                  <a:fillRect l="-845" t="-589" r="-3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>
            <a:extLst>
              <a:ext uri="{FF2B5EF4-FFF2-40B4-BE49-F238E27FC236}">
                <a16:creationId xmlns:a16="http://schemas.microsoft.com/office/drawing/2014/main" id="{6681FC3B-6D27-4632-802F-DE65E231DD79}"/>
              </a:ext>
            </a:extLst>
          </p:cNvPr>
          <p:cNvSpPr txBox="1"/>
          <p:nvPr/>
        </p:nvSpPr>
        <p:spPr>
          <a:xfrm>
            <a:off x="5511800" y="5223933"/>
            <a:ext cx="6426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TW" dirty="0"/>
              <a:t>Therefore, only Nr​ needs to be specified, while the other two parameters vary accordingly with Nr​. Thus, Nr​ is incremented starting from 1.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978473A-BC8F-4F10-9D18-5D2FB860C619}"/>
                  </a:ext>
                </a:extLst>
              </p:cNvPr>
              <p:cNvSpPr txBox="1"/>
              <p:nvPr/>
            </p:nvSpPr>
            <p:spPr>
              <a:xfrm>
                <a:off x="135467" y="1153051"/>
                <a:ext cx="5232404" cy="6356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altLang="zh-TW" dirty="0"/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TW" altLang="en-US" dirty="0"/>
                  <a:t>，</a:t>
                </a:r>
                <a:r>
                  <a:rPr lang="en-US" altLang="zh-TW" dirty="0"/>
                  <a:t> These represent the numbers of divisions required along the three coordinate directions of the sphere</a:t>
                </a:r>
                <a:r>
                  <a:rPr lang="zh-TW" altLang="en-US" dirty="0"/>
                  <a:t>，</a:t>
                </a:r>
                <a:r>
                  <a:rPr lang="en-US" altLang="zh-TW" dirty="0"/>
                  <a:t> where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(0  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𝜃𝜖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0  2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zh-TW" altLang="en-US" dirty="0"/>
                  <a:t>，</a:t>
                </a:r>
                <a14:m>
                  <m:oMath xmlns:m="http://schemas.openxmlformats.org/officeDocument/2006/math">
                    <m:r>
                      <a:rPr lang="zh-TW" altLang="en-US" i="1" dirty="0" smtClean="0">
                        <a:latin typeface="Cambria Math" panose="02040503050406030204" pitchFamily="18" charset="0"/>
                      </a:rPr>
                      <m:t>𝜙𝜖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[0  </m:t>
                    </m:r>
                    <m:r>
                      <a:rPr lang="zh-TW" altLang="en-US" b="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TW" altLang="en-US" dirty="0"/>
                  <a:t>。</a:t>
                </a:r>
                <a:endParaRPr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endParaRPr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altLang="zh-TW" dirty="0"/>
                  <a:t>Assuming uniform spacing, let the distance between two adjacent points be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dirty="0"/>
                  <a:t>. Then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num>
                      <m:den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TW" dirty="0"/>
                  <a:t>, . Therefore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−0.5),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−0.5),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zh-TW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−1)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k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zh-TW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m:oMathPara>
                </a14:m>
                <a:endParaRPr lang="en-US" altLang="zh-TW" dirty="0"/>
              </a:p>
              <a:p>
                <a:pPr lvl="1"/>
                <a:r>
                  <a:rPr lang="en-US" altLang="zh-TW" dirty="0"/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−0.5</m:t>
                        </m:r>
                      </m:e>
                    </m:d>
                  </m:oMath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altLang="zh-TW" dirty="0">
                    <a:ea typeface="Cambria Math" panose="02040503050406030204" pitchFamily="18" charset="0"/>
                  </a:rPr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zh-TW" alt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</m:t>
                    </m:r>
                    <m:r>
                      <a:rPr lang="zh-TW" alt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−0.5)</m:t>
                    </m:r>
                  </m:oMath>
                </a14:m>
                <a:endParaRPr lang="en-US" altLang="zh-TW" dirty="0"/>
              </a:p>
              <a:p>
                <a:pPr lvl="1"/>
                <a:endParaRPr lang="en-US" altLang="zh-TW" dirty="0"/>
              </a:p>
              <a:p>
                <a:pPr marL="342900" indent="-342900">
                  <a:buFont typeface="+mj-lt"/>
                  <a:buAutoNum type="arabicPeriod" startAt="3"/>
                </a:pPr>
                <a:r>
                  <a:rPr lang="en-US" altLang="zh-TW" dirty="0"/>
                  <a:t>Load the FEM data and filter out the air nodes.</a:t>
                </a:r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TW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TW" dirty="0"/>
              </a:p>
              <a:p>
                <a:pPr marL="342900" indent="-342900">
                  <a:buFont typeface="+mj-lt"/>
                  <a:buAutoNum type="arabicPeriod" startAt="3"/>
                </a:pP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978473A-BC8F-4F10-9D18-5D2FB860C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67" y="1153051"/>
                <a:ext cx="5232404" cy="6356740"/>
              </a:xfrm>
              <a:prstGeom prst="rect">
                <a:avLst/>
              </a:prstGeom>
              <a:blipFill>
                <a:blip r:embed="rId4"/>
                <a:stretch>
                  <a:fillRect l="-931" t="-479" r="-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8540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83A778D-1DDD-4548-8252-39C1F457AE72}"/>
              </a:ext>
            </a:extLst>
          </p:cNvPr>
          <p:cNvSpPr txBox="1"/>
          <p:nvPr/>
        </p:nvSpPr>
        <p:spPr>
          <a:xfrm>
            <a:off x="0" y="688180"/>
            <a:ext cx="606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F5F9C6-EA5A-42AD-8844-5140132DBBE0}"/>
                  </a:ext>
                </a:extLst>
              </p:cNvPr>
              <p:cNvSpPr txBox="1"/>
              <p:nvPr/>
            </p:nvSpPr>
            <p:spPr>
              <a:xfrm>
                <a:off x="224367" y="909638"/>
                <a:ext cx="11671300" cy="674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b="1" dirty="0"/>
                  <a:t>Convergence criteria:</a:t>
                </a:r>
                <a:r>
                  <a:rPr lang="en-US" altLang="zh-TW" dirty="0"/>
                  <a:t> The relative errors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/>
                  <a:t> and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dirty="0"/>
                  <a:t> with respect to the calibration results obtained using all nodes are less than 0.5%,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altLang="zh-TW" dirty="0"/>
                  <a:t>​ exhibits a physically meaningful distribution. 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9F5F9C6-EA5A-42AD-8844-5140132DB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67" y="909638"/>
                <a:ext cx="11671300" cy="674672"/>
              </a:xfrm>
              <a:prstGeom prst="rect">
                <a:avLst/>
              </a:prstGeom>
              <a:blipFill>
                <a:blip r:embed="rId2"/>
                <a:stretch>
                  <a:fillRect l="-470" t="-901" b="-13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4B102E8E-2598-441F-A9A7-1D4A3AFFD0C0}"/>
              </a:ext>
            </a:extLst>
          </p:cNvPr>
          <p:cNvSpPr txBox="1"/>
          <p:nvPr/>
        </p:nvSpPr>
        <p:spPr>
          <a:xfrm>
            <a:off x="334434" y="1582652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Single(Long </a:t>
            </a:r>
            <a:r>
              <a:rPr lang="en-US" altLang="zh-TW" dirty="0" err="1"/>
              <a:t>fei</a:t>
            </a:r>
            <a:r>
              <a:rPr lang="en-US" altLang="zh-TW" dirty="0"/>
              <a:t> 269 points)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320E1B-93D8-41C7-AC47-0CB65CBE9923}"/>
              </a:ext>
            </a:extLst>
          </p:cNvPr>
          <p:cNvSpPr txBox="1"/>
          <p:nvPr/>
        </p:nvSpPr>
        <p:spPr>
          <a:xfrm>
            <a:off x="6096000" y="1587303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Single(</a:t>
            </a: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r>
              <a:rPr lang="en-US" altLang="zh-TW" dirty="0"/>
              <a:t> 35 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1" name="R3L_mat">
                <a:extLst>
                  <a:ext uri="{FF2B5EF4-FFF2-40B4-BE49-F238E27FC236}">
                    <a16:creationId xmlns:a16="http://schemas.microsoft.com/office/drawing/2014/main" id="{AAAAAAAA-0000-4000-8000-000000000001}"/>
                  </a:ext>
                </a:extLst>
              </p:cNvPr>
              <p:cNvSpPr txBox="1"/>
              <p:nvPr/>
            </p:nvSpPr>
            <p:spPr>
              <a:xfrm>
                <a:off x="409200" y="210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−0.0984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−0.1687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0.9619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−0.2098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−0.1513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0.9559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−0.2091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0.9626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−0.2193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−0.1687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0.8326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01" name="R3L_mat">
                <a:extLst>
                  <a:ext uri="{FF2B5EF4-FFF2-40B4-BE49-F238E27FC236}">
                    <a16:creationId xmlns:a16="http://schemas.microsoft.com/office/drawing/2014/main" id="{AAAAAAAA-0000-4000-8000-00000000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0" y="2100000"/>
                <a:ext cx="4389119" cy="1115568"/>
              </a:xfrm>
              <a:prstGeom prst="rect">
                <a:avLst/>
              </a:prstGeom>
              <a:blipFill>
                <a:blip r:embed="rId2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2" name="R3L_sc">
                <a:extLst>
                  <a:ext uri="{FF2B5EF4-FFF2-40B4-BE49-F238E27FC236}">
                    <a16:creationId xmlns:a16="http://schemas.microsoft.com/office/drawing/2014/main" id="{AAAAAAAA-0000-4000-8000-000000000002}"/>
                  </a:ext>
                </a:extLst>
              </p:cNvPr>
              <p:cNvSpPr txBox="1"/>
              <p:nvPr/>
            </p:nvSpPr>
            <p:spPr>
              <a:xfrm>
                <a:off x="203201" y="37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874.5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9.6353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02" name="R3L_sc">
                <a:extLst>
                  <a:ext uri="{FF2B5EF4-FFF2-40B4-BE49-F238E27FC236}">
                    <a16:creationId xmlns:a16="http://schemas.microsoft.com/office/drawing/2014/main" id="{AAAAAAAA-0000-4000-8000-00000000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370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3" name="R3L_nmae">
            <a:extLst>
              <a:ext uri="{FF2B5EF4-FFF2-40B4-BE49-F238E27FC236}">
                <a16:creationId xmlns:a16="http://schemas.microsoft.com/office/drawing/2014/main" id="{AAAAAAAA-0000-4000-8000-000000000003}"/>
              </a:ext>
            </a:extLst>
          </p:cNvPr>
          <p:cNvSpPr txBox="1"/>
          <p:nvPr/>
        </p:nvSpPr>
        <p:spPr>
          <a:xfrm>
            <a:off x="203201" y="408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2.81%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4" name="R3R_mat">
                <a:extLst>
                  <a:ext uri="{FF2B5EF4-FFF2-40B4-BE49-F238E27FC236}">
                    <a16:creationId xmlns:a16="http://schemas.microsoft.com/office/drawing/2014/main" id="{AAAAAAAA-0000-4000-8000-000000000005}"/>
                  </a:ext>
                </a:extLst>
              </p:cNvPr>
              <p:cNvSpPr txBox="1"/>
              <p:nvPr/>
            </p:nvSpPr>
            <p:spPr>
              <a:xfrm>
                <a:off x="6479799" y="210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0.8625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04" name="R3R_mat">
                <a:extLst>
                  <a:ext uri="{FF2B5EF4-FFF2-40B4-BE49-F238E27FC236}">
                    <a16:creationId xmlns:a16="http://schemas.microsoft.com/office/drawing/2014/main" id="{AAAAAAAA-0000-4000-8000-000000000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2100000"/>
                <a:ext cx="4389119" cy="1115568"/>
              </a:xfrm>
              <a:prstGeom prst="rect">
                <a:avLst/>
              </a:prstGeom>
              <a:blipFill>
                <a:blip r:embed="rId2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5" name="R3R_sc">
                <a:extLst>
                  <a:ext uri="{FF2B5EF4-FFF2-40B4-BE49-F238E27FC236}">
                    <a16:creationId xmlns:a16="http://schemas.microsoft.com/office/drawing/2014/main" id="{AAAAAAAA-0000-4000-8000-000000000006}"/>
                  </a:ext>
                </a:extLst>
              </p:cNvPr>
              <p:cNvSpPr txBox="1"/>
              <p:nvPr/>
            </p:nvSpPr>
            <p:spPr>
              <a:xfrm>
                <a:off x="6273800" y="37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744.9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32.7350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05" name="R3R_sc">
                <a:extLst>
                  <a:ext uri="{FF2B5EF4-FFF2-40B4-BE49-F238E27FC236}">
                    <a16:creationId xmlns:a16="http://schemas.microsoft.com/office/drawing/2014/main" id="{AAAAAAAA-0000-4000-8000-00000000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70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6" name="R3R_nmae">
            <a:extLst>
              <a:ext uri="{FF2B5EF4-FFF2-40B4-BE49-F238E27FC236}">
                <a16:creationId xmlns:a16="http://schemas.microsoft.com/office/drawing/2014/main" id="{AAAAAAAA-0000-4000-8000-000000000007}"/>
              </a:ext>
            </a:extLst>
          </p:cNvPr>
          <p:cNvSpPr txBox="1"/>
          <p:nvPr/>
        </p:nvSpPr>
        <p:spPr>
          <a:xfrm>
            <a:off x="6273800" y="408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10.50%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87373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83A778D-1DDD-4548-8252-39C1F457AE72}"/>
              </a:ext>
            </a:extLst>
          </p:cNvPr>
          <p:cNvSpPr txBox="1"/>
          <p:nvPr/>
        </p:nvSpPr>
        <p:spPr>
          <a:xfrm>
            <a:off x="0" y="688180"/>
            <a:ext cx="606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102E8E-2598-441F-A9A7-1D4A3AFFD0C0}"/>
              </a:ext>
            </a:extLst>
          </p:cNvPr>
          <p:cNvSpPr txBox="1"/>
          <p:nvPr/>
        </p:nvSpPr>
        <p:spPr>
          <a:xfrm>
            <a:off x="224367" y="1953642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Single(Long </a:t>
            </a:r>
            <a:r>
              <a:rPr lang="en-US" altLang="zh-TW" dirty="0" err="1"/>
              <a:t>fei</a:t>
            </a:r>
            <a:r>
              <a:rPr lang="en-US" altLang="zh-TW" dirty="0"/>
              <a:t> 35 points)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320E1B-93D8-41C7-AC47-0CB65CBE9923}"/>
              </a:ext>
            </a:extLst>
          </p:cNvPr>
          <p:cNvSpPr txBox="1"/>
          <p:nvPr/>
        </p:nvSpPr>
        <p:spPr>
          <a:xfrm>
            <a:off x="6096000" y="2061586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Single(</a:t>
            </a: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r>
              <a:rPr lang="en-US" altLang="zh-TW" dirty="0"/>
              <a:t> 35 points)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44ADFE-4C4A-4DD0-9EF1-8DADCAB32EE3}"/>
              </a:ext>
            </a:extLst>
          </p:cNvPr>
          <p:cNvSpPr txBox="1"/>
          <p:nvPr/>
        </p:nvSpPr>
        <p:spPr>
          <a:xfrm>
            <a:off x="334433" y="981627"/>
            <a:ext cx="115188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However, </a:t>
            </a:r>
            <a:r>
              <a:rPr lang="en-US" altLang="zh-TW" dirty="0" err="1"/>
              <a:t>Longfei’s</a:t>
            </a:r>
            <a:r>
              <a:rPr lang="en-US" altLang="zh-TW" dirty="0"/>
              <a:t> model was found to still require too many points. Therefore, the convergence criterion was relaxed to &lt;3%. Even with this relaxed criterion, the model’s ability to predict the magnetic field within the workspace was not significantly affected.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7" name="R4L_mat">
                <a:extLst>
                  <a:ext uri="{FF2B5EF4-FFF2-40B4-BE49-F238E27FC236}">
                    <a16:creationId xmlns:a16="http://schemas.microsoft.com/office/drawing/2014/main" id="{AAAAAAAA-0000-4000-8000-000000000009}"/>
                  </a:ext>
                </a:extLst>
              </p:cNvPr>
              <p:cNvSpPr txBox="1"/>
              <p:nvPr/>
            </p:nvSpPr>
            <p:spPr>
              <a:xfrm>
                <a:off x="409200" y="24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−0.1200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−0.1529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−0.1849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0.9067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−0.1661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−0.1699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0.8444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−0.1319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−0.1525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−0.1752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0.8917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−0.1687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−0.1656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0.9044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−0.1799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0.8384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07" name="R4L_mat">
                <a:extLst>
                  <a:ext uri="{FF2B5EF4-FFF2-40B4-BE49-F238E27FC236}">
                    <a16:creationId xmlns:a16="http://schemas.microsoft.com/office/drawing/2014/main" id="{AAAAAAAA-0000-4000-8000-000000000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0" y="24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8" name="R4L_sc">
                <a:extLst>
                  <a:ext uri="{FF2B5EF4-FFF2-40B4-BE49-F238E27FC236}">
                    <a16:creationId xmlns:a16="http://schemas.microsoft.com/office/drawing/2014/main" id="{AAAAAAAA-0000-4000-8000-000000000010}"/>
                  </a:ext>
                </a:extLst>
              </p:cNvPr>
              <p:cNvSpPr txBox="1"/>
              <p:nvPr/>
            </p:nvSpPr>
            <p:spPr>
              <a:xfrm>
                <a:off x="203201" y="405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875.9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9.9505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08" name="R4L_sc">
                <a:extLst>
                  <a:ext uri="{FF2B5EF4-FFF2-40B4-BE49-F238E27FC236}">
                    <a16:creationId xmlns:a16="http://schemas.microsoft.com/office/drawing/2014/main" id="{AAAAAAAA-0000-4000-8000-000000000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405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9" name="R4L_nmae">
            <a:extLst>
              <a:ext uri="{FF2B5EF4-FFF2-40B4-BE49-F238E27FC236}">
                <a16:creationId xmlns:a16="http://schemas.microsoft.com/office/drawing/2014/main" id="{AAAAAAAA-0000-4000-8000-000000000011}"/>
              </a:ext>
            </a:extLst>
          </p:cNvPr>
          <p:cNvSpPr txBox="1"/>
          <p:nvPr/>
        </p:nvSpPr>
        <p:spPr>
          <a:xfrm>
            <a:off x="203201" y="443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2.81%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0" name="R4R_mat">
                <a:extLst>
                  <a:ext uri="{FF2B5EF4-FFF2-40B4-BE49-F238E27FC236}">
                    <a16:creationId xmlns:a16="http://schemas.microsoft.com/office/drawing/2014/main" id="{AAAAAAAA-0000-4000-8000-000000000013}"/>
                  </a:ext>
                </a:extLst>
              </p:cNvPr>
              <p:cNvSpPr txBox="1"/>
              <p:nvPr/>
            </p:nvSpPr>
            <p:spPr>
              <a:xfrm>
                <a:off x="6479799" y="24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0.8625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10" name="R4R_mat">
                <a:extLst>
                  <a:ext uri="{FF2B5EF4-FFF2-40B4-BE49-F238E27FC236}">
                    <a16:creationId xmlns:a16="http://schemas.microsoft.com/office/drawing/2014/main" id="{AAAAAAAA-0000-4000-8000-00000000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24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" name="R4R_sc">
                <a:extLst>
                  <a:ext uri="{FF2B5EF4-FFF2-40B4-BE49-F238E27FC236}">
                    <a16:creationId xmlns:a16="http://schemas.microsoft.com/office/drawing/2014/main" id="{AAAAAAAA-0000-4000-8000-000000000014}"/>
                  </a:ext>
                </a:extLst>
              </p:cNvPr>
              <p:cNvSpPr txBox="1"/>
              <p:nvPr/>
            </p:nvSpPr>
            <p:spPr>
              <a:xfrm>
                <a:off x="6273800" y="405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744.9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32.7350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11" name="R4R_sc">
                <a:extLst>
                  <a:ext uri="{FF2B5EF4-FFF2-40B4-BE49-F238E27FC236}">
                    <a16:creationId xmlns:a16="http://schemas.microsoft.com/office/drawing/2014/main" id="{AAAAAAAA-0000-4000-8000-000000000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405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2" name="R4R_nmae">
            <a:extLst>
              <a:ext uri="{FF2B5EF4-FFF2-40B4-BE49-F238E27FC236}">
                <a16:creationId xmlns:a16="http://schemas.microsoft.com/office/drawing/2014/main" id="{AAAAAAAA-0000-4000-8000-000000000015}"/>
              </a:ext>
            </a:extLst>
          </p:cNvPr>
          <p:cNvSpPr txBox="1"/>
          <p:nvPr/>
        </p:nvSpPr>
        <p:spPr>
          <a:xfrm>
            <a:off x="6273800" y="443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10.50%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98428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83A778D-1DDD-4548-8252-39C1F457AE72}"/>
              </a:ext>
            </a:extLst>
          </p:cNvPr>
          <p:cNvSpPr txBox="1"/>
          <p:nvPr/>
        </p:nvSpPr>
        <p:spPr>
          <a:xfrm>
            <a:off x="0" y="688180"/>
            <a:ext cx="606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Calibrate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102E8E-2598-441F-A9A7-1D4A3AFFD0C0}"/>
              </a:ext>
            </a:extLst>
          </p:cNvPr>
          <p:cNvSpPr txBox="1"/>
          <p:nvPr/>
        </p:nvSpPr>
        <p:spPr>
          <a:xfrm>
            <a:off x="124883" y="1770720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Eighteen(Long </a:t>
            </a:r>
            <a:r>
              <a:rPr lang="en-US" altLang="zh-TW" dirty="0" err="1"/>
              <a:t>fei</a:t>
            </a:r>
            <a:r>
              <a:rPr lang="en-US" altLang="zh-TW" dirty="0"/>
              <a:t> 35 points)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C320E1B-93D8-41C7-AC47-0CB65CBE9923}"/>
              </a:ext>
            </a:extLst>
          </p:cNvPr>
          <p:cNvSpPr txBox="1"/>
          <p:nvPr/>
        </p:nvSpPr>
        <p:spPr>
          <a:xfrm>
            <a:off x="6096000" y="1870095"/>
            <a:ext cx="364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Eighteen(</a:t>
            </a: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r>
              <a:rPr lang="en-US" altLang="zh-TW" dirty="0"/>
              <a:t> 35 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3" name="R5L_mat">
                <a:extLst>
                  <a:ext uri="{FF2B5EF4-FFF2-40B4-BE49-F238E27FC236}">
                    <a16:creationId xmlns:a16="http://schemas.microsoft.com/office/drawing/2014/main" id="{AAAAAAAA-0000-4000-8000-000000000017}"/>
                  </a:ext>
                </a:extLst>
              </p:cNvPr>
              <p:cNvSpPr txBox="1"/>
              <p:nvPr/>
            </p:nvSpPr>
            <p:spPr>
              <a:xfrm>
                <a:off x="409200" y="240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−0.1241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0.8235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−0.1277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−0.1404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0.8372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−0.1248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−0.2065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−0.2029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−0.1899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0.8240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13" name="R5L_mat">
                <a:extLst>
                  <a:ext uri="{FF2B5EF4-FFF2-40B4-BE49-F238E27FC236}">
                    <a16:creationId xmlns:a16="http://schemas.microsoft.com/office/drawing/2014/main" id="{AAAAAAAA-0000-4000-8000-000000000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0" y="240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4" name="R5L_e"/>
              <p:cNvSpPr txBox="1"/>
              <p:nvPr/>
            </p:nvSpPr>
            <p:spPr>
              <a:xfrm>
                <a:off x="-81867" y="3768927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0.0187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0.0190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0.1184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−0.0044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−0.0157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14" name="R5L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1867" y="3768927"/>
                <a:ext cx="5235787" cy="566928"/>
              </a:xfrm>
              <a:prstGeom prst="rect">
                <a:avLst/>
              </a:prstGeom>
              <a:blipFill>
                <a:blip r:embed="rId2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5" name="R5L_sc">
                <a:extLst>
                  <a:ext uri="{FF2B5EF4-FFF2-40B4-BE49-F238E27FC236}">
                    <a16:creationId xmlns:a16="http://schemas.microsoft.com/office/drawing/2014/main" id="{AAAAAAAA-0000-4000-8000-000000000018}"/>
                  </a:ext>
                </a:extLst>
              </p:cNvPr>
              <p:cNvSpPr txBox="1"/>
              <p:nvPr/>
            </p:nvSpPr>
            <p:spPr>
              <a:xfrm>
                <a:off x="203201" y="483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876.0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10.8230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15" name="R5L_sc">
                <a:extLst>
                  <a:ext uri="{FF2B5EF4-FFF2-40B4-BE49-F238E27FC236}">
                    <a16:creationId xmlns:a16="http://schemas.microsoft.com/office/drawing/2014/main" id="{AAAAAAAA-0000-4000-8000-000000000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483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6" name="R5L_nmae">
            <a:extLst>
              <a:ext uri="{FF2B5EF4-FFF2-40B4-BE49-F238E27FC236}">
                <a16:creationId xmlns:a16="http://schemas.microsoft.com/office/drawing/2014/main" id="{AAAAAAAA-0000-4000-8000-000000000019}"/>
              </a:ext>
            </a:extLst>
          </p:cNvPr>
          <p:cNvSpPr txBox="1"/>
          <p:nvPr/>
        </p:nvSpPr>
        <p:spPr>
          <a:xfrm>
            <a:off x="203201" y="521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0.27%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7" name="R5R_mat">
                <a:extLst>
                  <a:ext uri="{FF2B5EF4-FFF2-40B4-BE49-F238E27FC236}">
                    <a16:creationId xmlns:a16="http://schemas.microsoft.com/office/drawing/2014/main" id="{AAAAAAAA-0000-4000-8000-000000000021}"/>
                  </a:ext>
                </a:extLst>
              </p:cNvPr>
              <p:cNvSpPr txBox="1"/>
              <p:nvPr/>
            </p:nvSpPr>
            <p:spPr>
              <a:xfrm>
                <a:off x="6479799" y="240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0.8296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0.7492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17" name="R5R_mat">
                <a:extLst>
                  <a:ext uri="{FF2B5EF4-FFF2-40B4-BE49-F238E27FC236}">
                    <a16:creationId xmlns:a16="http://schemas.microsoft.com/office/drawing/2014/main" id="{AAAAAAAA-0000-4000-8000-000000000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240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8" name="R5R_e"/>
              <p:cNvSpPr txBox="1"/>
              <p:nvPr/>
            </p:nvSpPr>
            <p:spPr>
              <a:xfrm>
                <a:off x="6030700" y="3744278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918" name="R5R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700" y="3744278"/>
                <a:ext cx="5235787" cy="566928"/>
              </a:xfrm>
              <a:prstGeom prst="rect">
                <a:avLst/>
              </a:prstGeo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9" name="R5R_sc">
                <a:extLst>
                  <a:ext uri="{FF2B5EF4-FFF2-40B4-BE49-F238E27FC236}">
                    <a16:creationId xmlns:a16="http://schemas.microsoft.com/office/drawing/2014/main" id="{AAAAAAAA-0000-4000-8000-000000000022}"/>
                  </a:ext>
                </a:extLst>
              </p:cNvPr>
              <p:cNvSpPr txBox="1"/>
              <p:nvPr/>
            </p:nvSpPr>
            <p:spPr>
              <a:xfrm>
                <a:off x="6273800" y="483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604.8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37.3928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919" name="R5R_sc">
                <a:extLst>
                  <a:ext uri="{FF2B5EF4-FFF2-40B4-BE49-F238E27FC236}">
                    <a16:creationId xmlns:a16="http://schemas.microsoft.com/office/drawing/2014/main" id="{AAAAAAAA-0000-4000-8000-000000000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483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0" name="R5R_nmae">
            <a:extLst>
              <a:ext uri="{FF2B5EF4-FFF2-40B4-BE49-F238E27FC236}">
                <a16:creationId xmlns:a16="http://schemas.microsoft.com/office/drawing/2014/main" id="{AAAAAAAA-0000-4000-8000-000000000023}"/>
              </a:ext>
            </a:extLst>
          </p:cNvPr>
          <p:cNvSpPr txBox="1"/>
          <p:nvPr/>
        </p:nvSpPr>
        <p:spPr>
          <a:xfrm>
            <a:off x="6273800" y="521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0.68%</a:t>
            </a:r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09A0AC2-4BE4-4ABD-932E-B1DC4CCF791B}"/>
              </a:ext>
            </a:extLst>
          </p:cNvPr>
          <p:cNvSpPr txBox="1"/>
          <p:nvPr/>
        </p:nvSpPr>
        <p:spPr>
          <a:xfrm>
            <a:off x="224367" y="1174758"/>
            <a:ext cx="6980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This is the calibration result using the eighteen-parameter model.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246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 gap &amp; Have gap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72FBB24-E2EF-4DF3-A072-C1F1F3E0A5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928588"/>
                  </p:ext>
                </p:extLst>
              </p:nvPr>
            </p:nvGraphicFramePr>
            <p:xfrm>
              <a:off x="465667" y="5365537"/>
              <a:ext cx="110490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0">
                      <a:extLst>
                        <a:ext uri="{9D8B030D-6E8A-4147-A177-3AD203B41FA5}">
                          <a16:colId xmlns:a16="http://schemas.microsoft.com/office/drawing/2014/main" val="1948625895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1056343614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18214704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No gap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Have gap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9212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Capacity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39.5813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24.0572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960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Isotropy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0.5439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0.4841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68568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172FBB24-E2EF-4DF3-A072-C1F1F3E0A5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928588"/>
                  </p:ext>
                </p:extLst>
              </p:nvPr>
            </p:nvGraphicFramePr>
            <p:xfrm>
              <a:off x="465667" y="5365537"/>
              <a:ext cx="11049000" cy="1112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683000">
                      <a:extLst>
                        <a:ext uri="{9D8B030D-6E8A-4147-A177-3AD203B41FA5}">
                          <a16:colId xmlns:a16="http://schemas.microsoft.com/office/drawing/2014/main" val="1948625895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1056343614"/>
                        </a:ext>
                      </a:extLst>
                    </a:gridCol>
                    <a:gridCol w="3683000">
                      <a:extLst>
                        <a:ext uri="{9D8B030D-6E8A-4147-A177-3AD203B41FA5}">
                          <a16:colId xmlns:a16="http://schemas.microsoft.com/office/drawing/2014/main" val="182147044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No gap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Have gap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92120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66" t="-116393" r="-200497" b="-1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39.5813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24.0572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35960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Isotropy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0.5439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0.4841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768568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0959509A-774A-49B1-8540-EECB61B77BBF}"/>
              </a:ext>
            </a:extLst>
          </p:cNvPr>
          <p:cNvSpPr txBox="1"/>
          <p:nvPr/>
        </p:nvSpPr>
        <p:spPr>
          <a:xfrm>
            <a:off x="25401" y="1041350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Capacity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00372D1-F29D-4C3D-A16F-C196E1934131}"/>
              </a:ext>
            </a:extLst>
          </p:cNvPr>
          <p:cNvSpPr txBox="1"/>
          <p:nvPr/>
        </p:nvSpPr>
        <p:spPr>
          <a:xfrm>
            <a:off x="5198534" y="1028675"/>
            <a:ext cx="2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Isotropy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82FACC4-34C4-4726-870F-AA20F9036E5E}"/>
              </a:ext>
            </a:extLst>
          </p:cNvPr>
          <p:cNvSpPr txBox="1"/>
          <p:nvPr/>
        </p:nvSpPr>
        <p:spPr>
          <a:xfrm>
            <a:off x="252106" y="4859866"/>
            <a:ext cx="46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This figure resolution is 0.05mT/A 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2419C28-39DA-4704-B8FE-502A72B19634}"/>
              </a:ext>
            </a:extLst>
          </p:cNvPr>
          <p:cNvSpPr txBox="1"/>
          <p:nvPr/>
        </p:nvSpPr>
        <p:spPr>
          <a:xfrm>
            <a:off x="6378080" y="4826051"/>
            <a:ext cx="4626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This figure resolution is 0.01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E70A306-E47D-4219-AC97-141EB93AF1FD}"/>
                  </a:ext>
                </a:extLst>
              </p:cNvPr>
              <p:cNvSpPr txBox="1"/>
              <p:nvPr/>
            </p:nvSpPr>
            <p:spPr>
              <a:xfrm>
                <a:off x="9660466" y="288650"/>
                <a:ext cx="2413001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Capacity:39.22%(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TW" dirty="0"/>
                  <a:t>Isotropy:11%(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E70A306-E47D-4219-AC97-141EB93AF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66" y="288650"/>
                <a:ext cx="2413001" cy="1200329"/>
              </a:xfrm>
              <a:prstGeom prst="rect">
                <a:avLst/>
              </a:prstGeom>
              <a:blipFill>
                <a:blip r:embed="rId3"/>
                <a:stretch>
                  <a:fillRect l="-1768" t="-2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867FA4E9-BD0A-477B-BB0C-4B35D6A35F22}"/>
              </a:ext>
            </a:extLst>
          </p:cNvPr>
          <p:cNvGrpSpPr/>
          <p:nvPr/>
        </p:nvGrpSpPr>
        <p:grpSpPr>
          <a:xfrm>
            <a:off x="380561" y="1683139"/>
            <a:ext cx="4039039" cy="3050759"/>
            <a:chOff x="380561" y="1683139"/>
            <a:chExt cx="4039039" cy="3050759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5C11CFD-CC00-4FAA-891E-72DE284B0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586" y="1683139"/>
              <a:ext cx="3909014" cy="3016944"/>
            </a:xfrm>
            <a:prstGeom prst="rect">
              <a:avLst/>
            </a:prstGeom>
          </p:spPr>
        </p:pic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48619B8B-A8A9-49AD-8692-1C76F664FA82}"/>
                </a:ext>
              </a:extLst>
            </p:cNvPr>
            <p:cNvGrpSpPr/>
            <p:nvPr/>
          </p:nvGrpSpPr>
          <p:grpSpPr>
            <a:xfrm>
              <a:off x="380561" y="1767174"/>
              <a:ext cx="2778958" cy="2966724"/>
              <a:chOff x="285975" y="1893142"/>
              <a:chExt cx="2778958" cy="2966724"/>
            </a:xfrm>
          </p:grpSpPr>
          <p:grpSp>
            <p:nvGrpSpPr>
              <p:cNvPr id="20" name="群組 19">
                <a:extLst>
                  <a:ext uri="{FF2B5EF4-FFF2-40B4-BE49-F238E27FC236}">
                    <a16:creationId xmlns:a16="http://schemas.microsoft.com/office/drawing/2014/main" id="{89F801AE-A926-4641-BE26-7299270C9002}"/>
                  </a:ext>
                </a:extLst>
              </p:cNvPr>
              <p:cNvGrpSpPr/>
              <p:nvPr/>
            </p:nvGrpSpPr>
            <p:grpSpPr>
              <a:xfrm>
                <a:off x="285975" y="2320823"/>
                <a:ext cx="2778958" cy="2505228"/>
                <a:chOff x="285975" y="2320823"/>
                <a:chExt cx="2778958" cy="2505228"/>
              </a:xfrm>
            </p:grpSpPr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5068CEFB-1AAF-4DE1-8ADB-E9352702E4F8}"/>
                    </a:ext>
                  </a:extLst>
                </p:cNvPr>
                <p:cNvSpPr/>
                <p:nvPr/>
              </p:nvSpPr>
              <p:spPr>
                <a:xfrm>
                  <a:off x="2015067" y="4563533"/>
                  <a:ext cx="1049866" cy="2625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CFB0955-00F9-4CBA-857C-A08FA6EB15F9}"/>
                    </a:ext>
                  </a:extLst>
                </p:cNvPr>
                <p:cNvSpPr/>
                <p:nvPr/>
              </p:nvSpPr>
              <p:spPr>
                <a:xfrm>
                  <a:off x="285975" y="2320823"/>
                  <a:ext cx="298226" cy="146274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4F5929E4-1EFA-48C9-8D0C-E494CE36D52B}"/>
                      </a:ext>
                    </a:extLst>
                  </p:cNvPr>
                  <p:cNvSpPr txBox="1"/>
                  <p:nvPr/>
                </p:nvSpPr>
                <p:spPr>
                  <a:xfrm>
                    <a:off x="1187330" y="4490534"/>
                    <a:ext cx="18325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apacity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measure</m:t>
                          </m:r>
                          <m: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lin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𝑚𝑇</m:t>
                              </m:r>
                            </m:num>
                            <m:den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22" name="文字方塊 21">
                    <a:extLst>
                      <a:ext uri="{FF2B5EF4-FFF2-40B4-BE49-F238E27FC236}">
                        <a16:creationId xmlns:a16="http://schemas.microsoft.com/office/drawing/2014/main" id="{4F5929E4-1EFA-48C9-8D0C-E494CE36D5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87330" y="4490534"/>
                    <a:ext cx="18325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16393" r="-72757" b="-17541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BE1369B1-314C-4CBA-8B1E-EB373FC5C371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620797" y="2850712"/>
                    <a:ext cx="219213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23" name="文字方塊 22">
                    <a:extLst>
                      <a:ext uri="{FF2B5EF4-FFF2-40B4-BE49-F238E27FC236}">
                        <a16:creationId xmlns:a16="http://schemas.microsoft.com/office/drawing/2014/main" id="{BE1369B1-314C-4CBA-8B1E-EB373FC5C3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620797" y="2850712"/>
                    <a:ext cx="2192139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222" t="-3064" r="-35556" b="-250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4C5EB5AE-D140-4E45-9249-A239994F1B95}"/>
              </a:ext>
            </a:extLst>
          </p:cNvPr>
          <p:cNvGrpSpPr/>
          <p:nvPr/>
        </p:nvGrpSpPr>
        <p:grpSpPr>
          <a:xfrm>
            <a:off x="6232698" y="1534020"/>
            <a:ext cx="4129053" cy="3246990"/>
            <a:chOff x="6378080" y="1659133"/>
            <a:chExt cx="4129053" cy="3246990"/>
          </a:xfrm>
        </p:grpSpPr>
        <p:pic>
          <p:nvPicPr>
            <p:cNvPr id="28" name="圖片 27">
              <a:extLst>
                <a:ext uri="{FF2B5EF4-FFF2-40B4-BE49-F238E27FC236}">
                  <a16:creationId xmlns:a16="http://schemas.microsoft.com/office/drawing/2014/main" id="{2CE04B3E-D2FA-41A7-A798-00CB46A71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66246" y="1659133"/>
              <a:ext cx="4040887" cy="3074765"/>
            </a:xfrm>
            <a:prstGeom prst="rect">
              <a:avLst/>
            </a:prstGeom>
          </p:spPr>
        </p:pic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11B5E22C-5161-40AE-ACA8-D62AC811B370}"/>
                </a:ext>
              </a:extLst>
            </p:cNvPr>
            <p:cNvGrpSpPr/>
            <p:nvPr/>
          </p:nvGrpSpPr>
          <p:grpSpPr>
            <a:xfrm>
              <a:off x="6378080" y="1920928"/>
              <a:ext cx="3229585" cy="2985195"/>
              <a:chOff x="6378080" y="1920928"/>
              <a:chExt cx="3229585" cy="2985195"/>
            </a:xfrm>
          </p:grpSpPr>
          <p:grpSp>
            <p:nvGrpSpPr>
              <p:cNvPr id="21" name="群組 20">
                <a:extLst>
                  <a:ext uri="{FF2B5EF4-FFF2-40B4-BE49-F238E27FC236}">
                    <a16:creationId xmlns:a16="http://schemas.microsoft.com/office/drawing/2014/main" id="{0484C6C8-ADC5-4D34-9872-F24D06343564}"/>
                  </a:ext>
                </a:extLst>
              </p:cNvPr>
              <p:cNvGrpSpPr/>
              <p:nvPr/>
            </p:nvGrpSpPr>
            <p:grpSpPr>
              <a:xfrm>
                <a:off x="6378080" y="2272218"/>
                <a:ext cx="2838228" cy="2633905"/>
                <a:chOff x="6378080" y="2272218"/>
                <a:chExt cx="2838228" cy="2633905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463E6B89-F8E8-4E11-9CEE-7C6980AF2AC9}"/>
                    </a:ext>
                  </a:extLst>
                </p:cNvPr>
                <p:cNvSpPr/>
                <p:nvPr/>
              </p:nvSpPr>
              <p:spPr>
                <a:xfrm>
                  <a:off x="8166442" y="4643605"/>
                  <a:ext cx="1049866" cy="26251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4EACA293-82DE-42FF-9D67-48972A5FB518}"/>
                    </a:ext>
                  </a:extLst>
                </p:cNvPr>
                <p:cNvSpPr/>
                <p:nvPr/>
              </p:nvSpPr>
              <p:spPr>
                <a:xfrm>
                  <a:off x="6378080" y="2272218"/>
                  <a:ext cx="268253" cy="138538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59AE6616-4677-45BB-A3A4-2E99E6C8C15F}"/>
                      </a:ext>
                    </a:extLst>
                  </p:cNvPr>
                  <p:cNvSpPr txBox="1"/>
                  <p:nvPr/>
                </p:nvSpPr>
                <p:spPr>
                  <a:xfrm>
                    <a:off x="7775085" y="4510126"/>
                    <a:ext cx="183258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sotropy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59AE6616-4677-45BB-A3A4-2E99E6C8C1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75085" y="4510126"/>
                    <a:ext cx="1832580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1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45E43E56-B25D-40B8-AE46-2DA744327A8F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5422628" y="2878498"/>
                    <a:ext cx="219213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Percentage</m:t>
                          </m:r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b="0" i="0" smtClean="0">
                              <a:latin typeface="Cambria Math" panose="02040503050406030204" pitchFamily="18" charset="0"/>
                            </a:rPr>
                            <m:t>count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(%)</m:t>
                          </m:r>
                        </m:oMath>
                      </m:oMathPara>
                    </a14:m>
                    <a:endParaRPr lang="zh-TW" altLang="en-US" sz="24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45E43E56-B25D-40B8-AE46-2DA744327A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5422628" y="2878498"/>
                    <a:ext cx="2192139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4444" t="-2778" r="-35556" b="-2222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531535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 gap &amp; Have gap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3">
                <a:extLst>
                  <a:ext uri="{FF2B5EF4-FFF2-40B4-BE49-F238E27FC236}">
                    <a16:creationId xmlns:a16="http://schemas.microsoft.com/office/drawing/2014/main" id="{C8E89BE6-6A32-42C9-9638-9C452CCC9E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03805"/>
                  </p:ext>
                </p:extLst>
              </p:nvPr>
            </p:nvGraphicFramePr>
            <p:xfrm>
              <a:off x="223225" y="4504261"/>
              <a:ext cx="11554287" cy="18118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1429">
                      <a:extLst>
                        <a:ext uri="{9D8B030D-6E8A-4147-A177-3AD203B41FA5}">
                          <a16:colId xmlns:a16="http://schemas.microsoft.com/office/drawing/2014/main" val="2512460803"/>
                        </a:ext>
                      </a:extLst>
                    </a:gridCol>
                    <a:gridCol w="3851429">
                      <a:extLst>
                        <a:ext uri="{9D8B030D-6E8A-4147-A177-3AD203B41FA5}">
                          <a16:colId xmlns:a16="http://schemas.microsoft.com/office/drawing/2014/main" val="2028272887"/>
                        </a:ext>
                      </a:extLst>
                    </a:gridCol>
                    <a:gridCol w="3851429">
                      <a:extLst>
                        <a:ext uri="{9D8B030D-6E8A-4147-A177-3AD203B41FA5}">
                          <a16:colId xmlns:a16="http://schemas.microsoft.com/office/drawing/2014/main" val="2003389763"/>
                        </a:ext>
                      </a:extLst>
                    </a:gridCol>
                  </a:tblGrid>
                  <a:tr h="603957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DesignA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DesignB</a:t>
                          </a:r>
                          <a:r>
                            <a:rPr lang="en-US" altLang="zh-TW" dirty="0"/>
                            <a:t>(Have gap)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378590"/>
                      </a:ext>
                    </a:extLst>
                  </a:tr>
                  <a:tr h="603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Capacity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type m:val="lin"/>
                                  <m:ctrlPr>
                                    <a:rPr lang="en-US" altLang="zh-TW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𝑚𝑇</m:t>
                                  </m:r>
                                </m:num>
                                <m:den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den>
                              </m:f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zh-TW" altLang="en-US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14.6246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24.0572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4981416"/>
                      </a:ext>
                    </a:extLst>
                  </a:tr>
                  <a:tr h="603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Isotropy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0.8836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0.4841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04713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3">
                <a:extLst>
                  <a:ext uri="{FF2B5EF4-FFF2-40B4-BE49-F238E27FC236}">
                    <a16:creationId xmlns:a16="http://schemas.microsoft.com/office/drawing/2014/main" id="{C8E89BE6-6A32-42C9-9638-9C452CCC9E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9303805"/>
                  </p:ext>
                </p:extLst>
              </p:nvPr>
            </p:nvGraphicFramePr>
            <p:xfrm>
              <a:off x="223225" y="4504261"/>
              <a:ext cx="11554287" cy="1811871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51429">
                      <a:extLst>
                        <a:ext uri="{9D8B030D-6E8A-4147-A177-3AD203B41FA5}">
                          <a16:colId xmlns:a16="http://schemas.microsoft.com/office/drawing/2014/main" val="2512460803"/>
                        </a:ext>
                      </a:extLst>
                    </a:gridCol>
                    <a:gridCol w="3851429">
                      <a:extLst>
                        <a:ext uri="{9D8B030D-6E8A-4147-A177-3AD203B41FA5}">
                          <a16:colId xmlns:a16="http://schemas.microsoft.com/office/drawing/2014/main" val="2028272887"/>
                        </a:ext>
                      </a:extLst>
                    </a:gridCol>
                    <a:gridCol w="3851429">
                      <a:extLst>
                        <a:ext uri="{9D8B030D-6E8A-4147-A177-3AD203B41FA5}">
                          <a16:colId xmlns:a16="http://schemas.microsoft.com/office/drawing/2014/main" val="2003389763"/>
                        </a:ext>
                      </a:extLst>
                    </a:gridCol>
                  </a:tblGrid>
                  <a:tr h="603957"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>
                        <a:lnTlToB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lToB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DesignA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 err="1"/>
                            <a:t>DesignB</a:t>
                          </a:r>
                          <a:r>
                            <a:rPr lang="en-US" altLang="zh-TW" dirty="0"/>
                            <a:t>(Have gap)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06378590"/>
                      </a:ext>
                    </a:extLst>
                  </a:tr>
                  <a:tr h="60395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>
                          <a:blip r:embed="rId2"/>
                          <a:stretch>
                            <a:fillRect l="-158" t="-106061" r="-200475" b="-10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14.6246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24.0572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14981416"/>
                      </a:ext>
                    </a:extLst>
                  </a:tr>
                  <a:tr h="6039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Isotropy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0.8836</a:t>
                          </a:r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 dirty="0"/>
                            <a:t>0.4841</a:t>
                          </a:r>
                          <a:endParaRPr lang="zh-TW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04713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C29911E1-5ABE-4001-962E-F24BD0AB1E1B}"/>
              </a:ext>
            </a:extLst>
          </p:cNvPr>
          <p:cNvSpPr txBox="1"/>
          <p:nvPr/>
        </p:nvSpPr>
        <p:spPr>
          <a:xfrm>
            <a:off x="7224034" y="152311"/>
            <a:ext cx="4808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Capacity:DesignA</a:t>
            </a:r>
            <a:r>
              <a:rPr lang="en-US" altLang="zh-TW" dirty="0"/>
              <a:t>&lt;DesignB:39.2%</a:t>
            </a:r>
            <a:endParaRPr lang="en-US" altLang="zh-TW" dirty="0"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Isotropy: </a:t>
            </a:r>
            <a:r>
              <a:rPr lang="en-US" altLang="zh-TW" dirty="0" err="1"/>
              <a:t>DesignA</a:t>
            </a:r>
            <a:r>
              <a:rPr lang="en-US" altLang="zh-TW" dirty="0"/>
              <a:t>&gt;DesignB:45.21%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0D71611-C987-401C-913A-F7E80E49AE69}"/>
                  </a:ext>
                </a:extLst>
              </p:cNvPr>
              <p:cNvSpPr txBox="1"/>
              <p:nvPr/>
            </p:nvSpPr>
            <p:spPr>
              <a:xfrm>
                <a:off x="163581" y="6358467"/>
                <a:ext cx="52042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TW" alt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24.0572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1.4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=17.184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𝑚𝑇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70D71611-C987-401C-913A-F7E80E49A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81" y="6358467"/>
                <a:ext cx="5204286" cy="369332"/>
              </a:xfrm>
              <a:prstGeom prst="rect">
                <a:avLst/>
              </a:prstGeom>
              <a:blipFill>
                <a:blip r:embed="rId3"/>
                <a:stretch>
                  <a:fillRect l="-820" t="-116393" b="-175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BC791BD7-C58B-4713-8209-DE68962CED58}"/>
              </a:ext>
            </a:extLst>
          </p:cNvPr>
          <p:cNvGrpSpPr/>
          <p:nvPr/>
        </p:nvGrpSpPr>
        <p:grpSpPr>
          <a:xfrm>
            <a:off x="223225" y="1147231"/>
            <a:ext cx="4182533" cy="3132668"/>
            <a:chOff x="163581" y="1253065"/>
            <a:chExt cx="4182533" cy="3132668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5DACEA24-2AD9-4D58-81F2-E56DB2537A23}"/>
                </a:ext>
              </a:extLst>
            </p:cNvPr>
            <p:cNvGrpSpPr/>
            <p:nvPr/>
          </p:nvGrpSpPr>
          <p:grpSpPr>
            <a:xfrm>
              <a:off x="163581" y="1253065"/>
              <a:ext cx="4182533" cy="3132668"/>
              <a:chOff x="163581" y="1253065"/>
              <a:chExt cx="4182533" cy="3132668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BC348948-942F-46F2-A47F-B615E20A8C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3225" y="1253065"/>
                <a:ext cx="4122889" cy="3090333"/>
              </a:xfrm>
              <a:prstGeom prst="rect">
                <a:avLst/>
              </a:prstGeom>
            </p:spPr>
          </p:pic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2C689EDE-B8EF-446C-8911-35324303F482}"/>
                  </a:ext>
                </a:extLst>
              </p:cNvPr>
              <p:cNvSpPr/>
              <p:nvPr/>
            </p:nvSpPr>
            <p:spPr>
              <a:xfrm>
                <a:off x="2006600" y="4140200"/>
                <a:ext cx="1117600" cy="2455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21E17AC2-B426-490F-9C3A-54326DD19421}"/>
                  </a:ext>
                </a:extLst>
              </p:cNvPr>
              <p:cNvSpPr/>
              <p:nvPr/>
            </p:nvSpPr>
            <p:spPr>
              <a:xfrm>
                <a:off x="163581" y="1972733"/>
                <a:ext cx="242819" cy="129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1C7D2BC-DFF6-45ED-AC02-D858570E4BA1}"/>
                    </a:ext>
                  </a:extLst>
                </p:cNvPr>
                <p:cNvSpPr txBox="1"/>
                <p:nvPr/>
              </p:nvSpPr>
              <p:spPr>
                <a:xfrm>
                  <a:off x="1200377" y="4016399"/>
                  <a:ext cx="18325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apacity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measure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𝑚𝑇</m:t>
                            </m:r>
                          </m:num>
                          <m:den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91C7D2BC-DFF6-45ED-AC02-D858570E4B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0377" y="4016399"/>
                  <a:ext cx="183258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16393" r="-73000" b="-17541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7CFE6EE-9125-433B-A8A4-A9D302AFE607}"/>
                    </a:ext>
                  </a:extLst>
                </p:cNvPr>
                <p:cNvSpPr txBox="1"/>
                <p:nvPr/>
              </p:nvSpPr>
              <p:spPr>
                <a:xfrm rot="16200000">
                  <a:off x="-793989" y="2486834"/>
                  <a:ext cx="21921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Percentage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count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(%)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7CFE6EE-9125-433B-A8A4-A9D302AFE6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793989" y="2486834"/>
                  <a:ext cx="2192139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4444" t="-3064" r="-35556" b="-25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1680419A-F41F-49EF-9E2D-A5BAA1F34741}"/>
              </a:ext>
            </a:extLst>
          </p:cNvPr>
          <p:cNvGrpSpPr/>
          <p:nvPr/>
        </p:nvGrpSpPr>
        <p:grpSpPr>
          <a:xfrm>
            <a:off x="7070195" y="1253066"/>
            <a:ext cx="4063472" cy="3149600"/>
            <a:chOff x="7070195" y="1253066"/>
            <a:chExt cx="4063472" cy="3149600"/>
          </a:xfrm>
        </p:grpSpPr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D8942F2-055B-438A-9375-58404DACDAB3}"/>
                </a:ext>
              </a:extLst>
            </p:cNvPr>
            <p:cNvGrpSpPr/>
            <p:nvPr/>
          </p:nvGrpSpPr>
          <p:grpSpPr>
            <a:xfrm>
              <a:off x="7070195" y="1253066"/>
              <a:ext cx="4063472" cy="3149600"/>
              <a:chOff x="7070195" y="1253066"/>
              <a:chExt cx="4063472" cy="3149600"/>
            </a:xfrm>
          </p:grpSpPr>
          <p:pic>
            <p:nvPicPr>
              <p:cNvPr id="12" name="圖片 11">
                <a:extLst>
                  <a:ext uri="{FF2B5EF4-FFF2-40B4-BE49-F238E27FC236}">
                    <a16:creationId xmlns:a16="http://schemas.microsoft.com/office/drawing/2014/main" id="{8C334D5B-4C86-4601-8B46-BEF9BF3812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24034" y="1253066"/>
                <a:ext cx="3909633" cy="3090332"/>
              </a:xfrm>
              <a:prstGeom prst="rect">
                <a:avLst/>
              </a:prstGeom>
            </p:spPr>
          </p:pic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5CAF689B-5953-4931-B80C-84FCD31DC529}"/>
                  </a:ext>
                </a:extLst>
              </p:cNvPr>
              <p:cNvSpPr/>
              <p:nvPr/>
            </p:nvSpPr>
            <p:spPr>
              <a:xfrm>
                <a:off x="8856134" y="4157133"/>
                <a:ext cx="1117600" cy="2455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6A6BC3BF-69C6-415C-AB39-340DE005447C}"/>
                  </a:ext>
                </a:extLst>
              </p:cNvPr>
              <p:cNvSpPr/>
              <p:nvPr/>
            </p:nvSpPr>
            <p:spPr>
              <a:xfrm>
                <a:off x="7070195" y="1972733"/>
                <a:ext cx="324611" cy="12954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ED69FC02-E077-4EB1-8B10-98DF283EC7AA}"/>
                    </a:ext>
                  </a:extLst>
                </p:cNvPr>
                <p:cNvSpPr txBox="1"/>
                <p:nvPr/>
              </p:nvSpPr>
              <p:spPr>
                <a:xfrm>
                  <a:off x="8498644" y="4033334"/>
                  <a:ext cx="183258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sotropy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ED69FC02-E077-4EB1-8B10-98DF283EC7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8644" y="4033334"/>
                  <a:ext cx="1832580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11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5C765AB5-6AF6-4BE0-AFD1-AB3AB58CB46F}"/>
                    </a:ext>
                  </a:extLst>
                </p:cNvPr>
                <p:cNvSpPr txBox="1"/>
                <p:nvPr/>
              </p:nvSpPr>
              <p:spPr>
                <a:xfrm rot="16200000">
                  <a:off x="6160237" y="2486834"/>
                  <a:ext cx="21921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Percentage</m:t>
                        </m:r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count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(%)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5C765AB5-6AF6-4BE0-AFD1-AB3AB58CB4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160237" y="2486834"/>
                  <a:ext cx="219213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4444" t="-3064" r="-35556" b="-250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2571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peng’s</a:t>
            </a:r>
            <a:r>
              <a:rPr lang="en-US" altLang="zh-TW" dirty="0"/>
              <a:t> model compare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 err="1"/>
              <a:t>DesignB</a:t>
            </a:r>
            <a:r>
              <a:rPr lang="en-US" altLang="zh-TW" dirty="0"/>
              <a:t> (polar plot)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751016-9545-4345-93CE-DA5310594C1B}"/>
              </a:ext>
            </a:extLst>
          </p:cNvPr>
          <p:cNvSpPr txBox="1"/>
          <p:nvPr/>
        </p:nvSpPr>
        <p:spPr>
          <a:xfrm>
            <a:off x="25401" y="108782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Capacity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E8A7BCA-05E7-4AB4-9EA6-C4B8EBA0DB5D}"/>
              </a:ext>
            </a:extLst>
          </p:cNvPr>
          <p:cNvSpPr txBox="1"/>
          <p:nvPr/>
        </p:nvSpPr>
        <p:spPr>
          <a:xfrm>
            <a:off x="6096000" y="1057225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Isotropy</a:t>
            </a:r>
            <a:endParaRPr lang="zh-TW" altLang="en-US" dirty="0"/>
          </a:p>
        </p:txBody>
      </p: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9356D021-081A-4039-9297-E2E8EC0C10A2}"/>
              </a:ext>
            </a:extLst>
          </p:cNvPr>
          <p:cNvGrpSpPr/>
          <p:nvPr/>
        </p:nvGrpSpPr>
        <p:grpSpPr>
          <a:xfrm>
            <a:off x="330652" y="1510584"/>
            <a:ext cx="5338983" cy="2464369"/>
            <a:chOff x="134715" y="1501862"/>
            <a:chExt cx="5338983" cy="2464369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D06A6986-86DF-47C7-A797-7B86F28DC90F}"/>
                </a:ext>
              </a:extLst>
            </p:cNvPr>
            <p:cNvGrpSpPr/>
            <p:nvPr/>
          </p:nvGrpSpPr>
          <p:grpSpPr>
            <a:xfrm>
              <a:off x="165102" y="1501862"/>
              <a:ext cx="5308596" cy="2464369"/>
              <a:chOff x="152402" y="1455735"/>
              <a:chExt cx="5308596" cy="2464369"/>
            </a:xfrm>
          </p:grpSpPr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01AFB8B6-574A-42AF-97BC-771139551E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0934" y="1548693"/>
                <a:ext cx="5096933" cy="2261306"/>
              </a:xfrm>
              <a:prstGeom prst="rect">
                <a:avLst/>
              </a:prstGeom>
            </p:spPr>
          </p:pic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A3977-FB17-47DE-A97D-454C66C1C205}"/>
                  </a:ext>
                </a:extLst>
              </p:cNvPr>
              <p:cNvSpPr/>
              <p:nvPr/>
            </p:nvSpPr>
            <p:spPr>
              <a:xfrm>
                <a:off x="5240866" y="2362199"/>
                <a:ext cx="220132" cy="62653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F780F289-C513-42AA-966A-E3F380BBBA5A}"/>
                  </a:ext>
                </a:extLst>
              </p:cNvPr>
              <p:cNvSpPr/>
              <p:nvPr/>
            </p:nvSpPr>
            <p:spPr>
              <a:xfrm>
                <a:off x="3649132" y="1457159"/>
                <a:ext cx="237068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9BAC49A7-50FA-45BA-8C7C-8C885B7AD549}"/>
                  </a:ext>
                </a:extLst>
              </p:cNvPr>
              <p:cNvSpPr/>
              <p:nvPr/>
            </p:nvSpPr>
            <p:spPr>
              <a:xfrm>
                <a:off x="2366431" y="2534133"/>
                <a:ext cx="436036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F5F6C642-E080-4678-AD91-EF88B794B416}"/>
                  </a:ext>
                </a:extLst>
              </p:cNvPr>
              <p:cNvSpPr/>
              <p:nvPr/>
            </p:nvSpPr>
            <p:spPr>
              <a:xfrm>
                <a:off x="3549648" y="3618868"/>
                <a:ext cx="436036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DD65C454-A36A-435A-8A89-81BBF4E6F813}"/>
                  </a:ext>
                </a:extLst>
              </p:cNvPr>
              <p:cNvSpPr/>
              <p:nvPr/>
            </p:nvSpPr>
            <p:spPr>
              <a:xfrm>
                <a:off x="1210733" y="1455735"/>
                <a:ext cx="414866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192B9CC-5AED-4725-8801-3CE7CCF6B215}"/>
                  </a:ext>
                </a:extLst>
              </p:cNvPr>
              <p:cNvSpPr/>
              <p:nvPr/>
            </p:nvSpPr>
            <p:spPr>
              <a:xfrm>
                <a:off x="152402" y="2534133"/>
                <a:ext cx="321734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174F84A3-8C28-4242-A6B5-D4BB8548EBDC}"/>
                  </a:ext>
                </a:extLst>
              </p:cNvPr>
              <p:cNvSpPr/>
              <p:nvPr/>
            </p:nvSpPr>
            <p:spPr>
              <a:xfrm>
                <a:off x="1240367" y="3637440"/>
                <a:ext cx="321734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265561B5-5BAE-40EF-98CD-127F03E6AC6E}"/>
                  </a:ext>
                </a:extLst>
              </p:cNvPr>
              <p:cNvSpPr/>
              <p:nvPr/>
            </p:nvSpPr>
            <p:spPr>
              <a:xfrm>
                <a:off x="4698999" y="2534133"/>
                <a:ext cx="220132" cy="2826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C6400BD7-47BE-49E7-89AC-61A75961A017}"/>
                    </a:ext>
                  </a:extLst>
                </p:cNvPr>
                <p:cNvSpPr txBox="1"/>
                <p:nvPr/>
              </p:nvSpPr>
              <p:spPr>
                <a:xfrm rot="16200000">
                  <a:off x="4400435" y="2563037"/>
                  <a:ext cx="186952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apacity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measure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𝑚𝑇</m:t>
                            </m:r>
                          </m:num>
                          <m:den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C6400BD7-47BE-49E7-89AC-61A75961A0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400435" y="2563037"/>
                  <a:ext cx="18695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5556" t="-13681" r="-14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9B66D988-6B3D-4944-ACF6-8CD171860131}"/>
                </a:ext>
              </a:extLst>
            </p:cNvPr>
            <p:cNvSpPr txBox="1"/>
            <p:nvPr/>
          </p:nvSpPr>
          <p:spPr>
            <a:xfrm>
              <a:off x="1211812" y="1519895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文字方塊 52">
              <a:extLst>
                <a:ext uri="{FF2B5EF4-FFF2-40B4-BE49-F238E27FC236}">
                  <a16:creationId xmlns:a16="http://schemas.microsoft.com/office/drawing/2014/main" id="{A3D0594F-1ACD-4A15-9508-2588A464BBC0}"/>
                </a:ext>
              </a:extLst>
            </p:cNvPr>
            <p:cNvSpPr txBox="1"/>
            <p:nvPr/>
          </p:nvSpPr>
          <p:spPr>
            <a:xfrm>
              <a:off x="134715" y="2463124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7160D049-6794-425A-9092-ABD98622C9BC}"/>
                </a:ext>
              </a:extLst>
            </p:cNvPr>
            <p:cNvSpPr txBox="1"/>
            <p:nvPr/>
          </p:nvSpPr>
          <p:spPr>
            <a:xfrm>
              <a:off x="1253067" y="3632120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P4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EED735F9-A697-40AD-AA97-E34B09A5CAA7}"/>
                </a:ext>
              </a:extLst>
            </p:cNvPr>
            <p:cNvSpPr txBox="1"/>
            <p:nvPr/>
          </p:nvSpPr>
          <p:spPr>
            <a:xfrm>
              <a:off x="2274376" y="2682725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B20BF711-1761-4FC9-B109-CD762366B346}"/>
                    </a:ext>
                  </a:extLst>
                </p:cNvPr>
                <p:cNvSpPr txBox="1"/>
                <p:nvPr/>
              </p:nvSpPr>
              <p:spPr>
                <a:xfrm>
                  <a:off x="1665557" y="2639915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文字方塊 55">
                  <a:extLst>
                    <a:ext uri="{FF2B5EF4-FFF2-40B4-BE49-F238E27FC236}">
                      <a16:creationId xmlns:a16="http://schemas.microsoft.com/office/drawing/2014/main" id="{B20BF711-1761-4FC9-B109-CD762366B3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5557" y="2639915"/>
                  <a:ext cx="332369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F7A924CD-416B-4678-BEB8-8487DE0CD507}"/>
                    </a:ext>
                  </a:extLst>
                </p:cNvPr>
                <p:cNvSpPr txBox="1"/>
                <p:nvPr/>
              </p:nvSpPr>
              <p:spPr>
                <a:xfrm>
                  <a:off x="1106962" y="2164167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文字方塊 56">
                  <a:extLst>
                    <a:ext uri="{FF2B5EF4-FFF2-40B4-BE49-F238E27FC236}">
                      <a16:creationId xmlns:a16="http://schemas.microsoft.com/office/drawing/2014/main" id="{F7A924CD-416B-4678-BEB8-8487DE0CD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6962" y="2164167"/>
                  <a:ext cx="332369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5831DE1B-3176-48D3-9055-274793A86C18}"/>
                </a:ext>
              </a:extLst>
            </p:cNvPr>
            <p:cNvSpPr txBox="1"/>
            <p:nvPr/>
          </p:nvSpPr>
          <p:spPr>
            <a:xfrm>
              <a:off x="3578951" y="1527637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P5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BE40E6A6-3B47-4976-A39F-CB13D0E855AE}"/>
                </a:ext>
              </a:extLst>
            </p:cNvPr>
            <p:cNvSpPr txBox="1"/>
            <p:nvPr/>
          </p:nvSpPr>
          <p:spPr>
            <a:xfrm>
              <a:off x="3593109" y="3611637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P6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4139E724-AC4E-4E08-A78D-A497E149886F}"/>
                </a:ext>
              </a:extLst>
            </p:cNvPr>
            <p:cNvSpPr txBox="1"/>
            <p:nvPr/>
          </p:nvSpPr>
          <p:spPr>
            <a:xfrm>
              <a:off x="2518922" y="2454972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5D19A443-9E9D-48C0-8F64-17D6F6A6D0CC}"/>
                </a:ext>
              </a:extLst>
            </p:cNvPr>
            <p:cNvSpPr txBox="1"/>
            <p:nvPr/>
          </p:nvSpPr>
          <p:spPr>
            <a:xfrm>
              <a:off x="4663084" y="2682871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5B1931C5-A471-4A32-9D7A-590FC5350549}"/>
                    </a:ext>
                  </a:extLst>
                </p:cNvPr>
                <p:cNvSpPr txBox="1"/>
                <p:nvPr/>
              </p:nvSpPr>
              <p:spPr>
                <a:xfrm>
                  <a:off x="4069969" y="2651340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5B1931C5-A471-4A32-9D7A-590FC53505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9969" y="2651340"/>
                  <a:ext cx="33236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6C06D3D-1EFB-4A15-9ED4-674A4214A8B0}"/>
                    </a:ext>
                  </a:extLst>
                </p:cNvPr>
                <p:cNvSpPr txBox="1"/>
                <p:nvPr/>
              </p:nvSpPr>
              <p:spPr>
                <a:xfrm>
                  <a:off x="3471327" y="2091115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B6C06D3D-1EFB-4A15-9ED4-674A4214A8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71327" y="2091115"/>
                  <a:ext cx="33236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群組 102">
            <a:extLst>
              <a:ext uri="{FF2B5EF4-FFF2-40B4-BE49-F238E27FC236}">
                <a16:creationId xmlns:a16="http://schemas.microsoft.com/office/drawing/2014/main" id="{45304A15-1B9F-49FF-831C-25983BBE3337}"/>
              </a:ext>
            </a:extLst>
          </p:cNvPr>
          <p:cNvGrpSpPr/>
          <p:nvPr/>
        </p:nvGrpSpPr>
        <p:grpSpPr>
          <a:xfrm>
            <a:off x="1295368" y="4174333"/>
            <a:ext cx="2995913" cy="2301763"/>
            <a:chOff x="1295368" y="4174333"/>
            <a:chExt cx="2995913" cy="2301763"/>
          </a:xfrm>
        </p:grpSpPr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48172E89-C376-49A4-8F54-FB959EBE55D1}"/>
                </a:ext>
              </a:extLst>
            </p:cNvPr>
            <p:cNvGrpSpPr/>
            <p:nvPr/>
          </p:nvGrpSpPr>
          <p:grpSpPr>
            <a:xfrm>
              <a:off x="1422399" y="4212873"/>
              <a:ext cx="2839860" cy="2209801"/>
              <a:chOff x="1422399" y="4212873"/>
              <a:chExt cx="2839860" cy="2209801"/>
            </a:xfrm>
          </p:grpSpPr>
          <p:pic>
            <p:nvPicPr>
              <p:cNvPr id="8" name="圖片 7">
                <a:extLst>
                  <a:ext uri="{FF2B5EF4-FFF2-40B4-BE49-F238E27FC236}">
                    <a16:creationId xmlns:a16="http://schemas.microsoft.com/office/drawing/2014/main" id="{A1371D8A-48FF-49FE-A969-B18741FDD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83550" y="4221340"/>
                <a:ext cx="2671700" cy="2175933"/>
              </a:xfrm>
              <a:prstGeom prst="rect">
                <a:avLst/>
              </a:prstGeom>
            </p:spPr>
          </p:pic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19247979-F98C-4C9B-943F-0CFAC09A4AC2}"/>
                  </a:ext>
                </a:extLst>
              </p:cNvPr>
              <p:cNvSpPr/>
              <p:nvPr/>
            </p:nvSpPr>
            <p:spPr>
              <a:xfrm>
                <a:off x="2463800" y="4212873"/>
                <a:ext cx="237066" cy="2009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BA4BABB3-DD6E-4564-A68E-18FEC338C37E}"/>
                  </a:ext>
                </a:extLst>
              </p:cNvPr>
              <p:cNvSpPr/>
              <p:nvPr/>
            </p:nvSpPr>
            <p:spPr>
              <a:xfrm>
                <a:off x="1422399" y="5209114"/>
                <a:ext cx="237066" cy="2009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CEB35EFD-9A9C-44DB-9C44-2B14105A92AD}"/>
                  </a:ext>
                </a:extLst>
              </p:cNvPr>
              <p:cNvSpPr/>
              <p:nvPr/>
            </p:nvSpPr>
            <p:spPr>
              <a:xfrm>
                <a:off x="2455333" y="6221743"/>
                <a:ext cx="237066" cy="2009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75DCA9B-3493-4A22-A99E-568BF34508BE}"/>
                  </a:ext>
                </a:extLst>
              </p:cNvPr>
              <p:cNvSpPr/>
              <p:nvPr/>
            </p:nvSpPr>
            <p:spPr>
              <a:xfrm>
                <a:off x="3492497" y="5196829"/>
                <a:ext cx="237066" cy="2009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6CF51E5C-4BF9-497C-8D25-D50E51A2FADC}"/>
                  </a:ext>
                </a:extLst>
              </p:cNvPr>
              <p:cNvSpPr/>
              <p:nvPr/>
            </p:nvSpPr>
            <p:spPr>
              <a:xfrm>
                <a:off x="4025193" y="4995898"/>
                <a:ext cx="237066" cy="6513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4E6B7DFE-2AE4-4EBC-921E-8CB0706DF7BB}"/>
                    </a:ext>
                  </a:extLst>
                </p:cNvPr>
                <p:cNvSpPr txBox="1"/>
                <p:nvPr/>
              </p:nvSpPr>
              <p:spPr>
                <a:xfrm rot="16200000">
                  <a:off x="3218018" y="5210068"/>
                  <a:ext cx="1869527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2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apacity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measure</m:t>
                        </m:r>
                        <m:r>
                          <a:rPr lang="en-US" altLang="zh-TW" sz="1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type m:val="lin"/>
                            <m:ctrlP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𝑚𝑇</m:t>
                            </m:r>
                          </m:num>
                          <m:den>
                            <m:r>
                              <a:rPr lang="en-US" altLang="zh-TW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den>
                        </m:f>
                        <m:r>
                          <a:rPr lang="en-US" altLang="zh-TW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4E6B7DFE-2AE4-4EBC-921E-8CB0706DF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218018" y="5210068"/>
                  <a:ext cx="1869527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95556" t="-13681" r="-14888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D339436D-C6D4-463D-8139-0376F9626A8E}"/>
                </a:ext>
              </a:extLst>
            </p:cNvPr>
            <p:cNvSpPr txBox="1"/>
            <p:nvPr/>
          </p:nvSpPr>
          <p:spPr>
            <a:xfrm>
              <a:off x="1295368" y="5048278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P4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D017E7CB-6E0C-4BA3-8F85-F2A26FB0693D}"/>
                </a:ext>
              </a:extLst>
            </p:cNvPr>
            <p:cNvSpPr txBox="1"/>
            <p:nvPr/>
          </p:nvSpPr>
          <p:spPr>
            <a:xfrm>
              <a:off x="2385404" y="4174333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P5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6F8EA159-112B-4270-B875-4DBFA7626F92}"/>
                </a:ext>
              </a:extLst>
            </p:cNvPr>
            <p:cNvSpPr txBox="1"/>
            <p:nvPr/>
          </p:nvSpPr>
          <p:spPr>
            <a:xfrm>
              <a:off x="2363279" y="6168319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P6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D5932BC1-5BF0-4CE4-9DBD-4105CA8648F0}"/>
                </a:ext>
              </a:extLst>
            </p:cNvPr>
            <p:cNvSpPr txBox="1"/>
            <p:nvPr/>
          </p:nvSpPr>
          <p:spPr>
            <a:xfrm>
              <a:off x="3400443" y="5357019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851DE6A2-1B72-4F17-B2FA-D3E9CDB85A5C}"/>
                    </a:ext>
                  </a:extLst>
                </p:cNvPr>
                <p:cNvSpPr txBox="1"/>
                <p:nvPr/>
              </p:nvSpPr>
              <p:spPr>
                <a:xfrm>
                  <a:off x="2773910" y="5256156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9" name="文字方塊 68">
                  <a:extLst>
                    <a:ext uri="{FF2B5EF4-FFF2-40B4-BE49-F238E27FC236}">
                      <a16:creationId xmlns:a16="http://schemas.microsoft.com/office/drawing/2014/main" id="{851DE6A2-1B72-4F17-B2FA-D3E9CDB85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910" y="5256156"/>
                  <a:ext cx="332369" cy="307777"/>
                </a:xfrm>
                <a:prstGeom prst="rect">
                  <a:avLst/>
                </a:prstGeom>
                <a:blipFill>
                  <a:blip r:embed="rId9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0325832-9755-41D5-BDFE-B1F3B4CBA01C}"/>
                    </a:ext>
                  </a:extLst>
                </p:cNvPr>
                <p:cNvSpPr txBox="1"/>
                <p:nvPr/>
              </p:nvSpPr>
              <p:spPr>
                <a:xfrm>
                  <a:off x="2289148" y="4691837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文字方塊 69">
                  <a:extLst>
                    <a:ext uri="{FF2B5EF4-FFF2-40B4-BE49-F238E27FC236}">
                      <a16:creationId xmlns:a16="http://schemas.microsoft.com/office/drawing/2014/main" id="{10325832-9755-41D5-BDFE-B1F3B4CBA0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9148" y="4691837"/>
                  <a:ext cx="332369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C26CBC98-8FE1-4C39-9D4F-B93A4485B5A2}"/>
              </a:ext>
            </a:extLst>
          </p:cNvPr>
          <p:cNvGrpSpPr/>
          <p:nvPr/>
        </p:nvGrpSpPr>
        <p:grpSpPr>
          <a:xfrm>
            <a:off x="6146496" y="1490478"/>
            <a:ext cx="5654706" cy="2513412"/>
            <a:chOff x="6185978" y="1518838"/>
            <a:chExt cx="5654706" cy="2513412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E9DA2A75-AC85-44F8-BEA4-26C0DFD5407B}"/>
                </a:ext>
              </a:extLst>
            </p:cNvPr>
            <p:cNvGrpSpPr/>
            <p:nvPr/>
          </p:nvGrpSpPr>
          <p:grpSpPr>
            <a:xfrm>
              <a:off x="6200561" y="1539140"/>
              <a:ext cx="5621050" cy="2467762"/>
              <a:chOff x="6336468" y="1401818"/>
              <a:chExt cx="5621050" cy="2467762"/>
            </a:xfrm>
          </p:grpSpPr>
          <p:pic>
            <p:nvPicPr>
              <p:cNvPr id="16" name="圖片 15">
                <a:extLst>
                  <a:ext uri="{FF2B5EF4-FFF2-40B4-BE49-F238E27FC236}">
                    <a16:creationId xmlns:a16="http://schemas.microsoft.com/office/drawing/2014/main" id="{842D01DD-D3D8-42FB-8338-D326F8603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3466" y="1457159"/>
                <a:ext cx="5392451" cy="2352840"/>
              </a:xfrm>
              <a:prstGeom prst="rect">
                <a:avLst/>
              </a:prstGeom>
            </p:spPr>
          </p:pic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07DEA9F-DB1F-4B7A-A035-68C4404F92A3}"/>
                  </a:ext>
                </a:extLst>
              </p:cNvPr>
              <p:cNvSpPr/>
              <p:nvPr/>
            </p:nvSpPr>
            <p:spPr>
              <a:xfrm>
                <a:off x="7493000" y="1418090"/>
                <a:ext cx="330200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8F83CE59-53C5-4DE0-9903-66E39C2DA49B}"/>
                  </a:ext>
                </a:extLst>
              </p:cNvPr>
              <p:cNvSpPr/>
              <p:nvPr/>
            </p:nvSpPr>
            <p:spPr>
              <a:xfrm>
                <a:off x="6336468" y="2512891"/>
                <a:ext cx="330200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01A039BC-B2A3-44B6-9199-3BD2E6C0426F}"/>
                  </a:ext>
                </a:extLst>
              </p:cNvPr>
              <p:cNvSpPr/>
              <p:nvPr/>
            </p:nvSpPr>
            <p:spPr>
              <a:xfrm>
                <a:off x="7493000" y="3628204"/>
                <a:ext cx="330200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19B220E-DF36-43E1-B59C-5F2F64F3F87A}"/>
                  </a:ext>
                </a:extLst>
              </p:cNvPr>
              <p:cNvSpPr/>
              <p:nvPr/>
            </p:nvSpPr>
            <p:spPr>
              <a:xfrm>
                <a:off x="8664795" y="2504739"/>
                <a:ext cx="496138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AFC65CD8-5730-47CA-8DCD-5D222BFBD4FC}"/>
                  </a:ext>
                </a:extLst>
              </p:cNvPr>
              <p:cNvSpPr/>
              <p:nvPr/>
            </p:nvSpPr>
            <p:spPr>
              <a:xfrm>
                <a:off x="9911099" y="1401818"/>
                <a:ext cx="468200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EC4EFABA-E22C-4DD6-81E9-9E507D47FEF7}"/>
                  </a:ext>
                </a:extLst>
              </p:cNvPr>
              <p:cNvSpPr/>
              <p:nvPr/>
            </p:nvSpPr>
            <p:spPr>
              <a:xfrm>
                <a:off x="9980099" y="3616157"/>
                <a:ext cx="330200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7564826-CF69-4FB0-8C2C-E961D1C0992D}"/>
                  </a:ext>
                </a:extLst>
              </p:cNvPr>
              <p:cNvSpPr/>
              <p:nvPr/>
            </p:nvSpPr>
            <p:spPr>
              <a:xfrm>
                <a:off x="11159060" y="2504739"/>
                <a:ext cx="203202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E5EC333A-4E91-4C20-B4CD-276AA1B3656A}"/>
                  </a:ext>
                </a:extLst>
              </p:cNvPr>
              <p:cNvSpPr/>
              <p:nvPr/>
            </p:nvSpPr>
            <p:spPr>
              <a:xfrm>
                <a:off x="11754316" y="2515491"/>
                <a:ext cx="203202" cy="2413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C12ACB5B-81EE-4188-833E-9DDDC65AF9FD}"/>
                </a:ext>
              </a:extLst>
            </p:cNvPr>
            <p:cNvSpPr txBox="1"/>
            <p:nvPr/>
          </p:nvSpPr>
          <p:spPr>
            <a:xfrm>
              <a:off x="7334579" y="1518838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0D673B15-3E03-4849-A67F-2599E4E9BD28}"/>
                </a:ext>
              </a:extLst>
            </p:cNvPr>
            <p:cNvSpPr txBox="1"/>
            <p:nvPr/>
          </p:nvSpPr>
          <p:spPr>
            <a:xfrm>
              <a:off x="6185978" y="2448790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CE575DEA-391F-4F17-8C53-B2F6B1CAF805}"/>
                </a:ext>
              </a:extLst>
            </p:cNvPr>
            <p:cNvSpPr txBox="1"/>
            <p:nvPr/>
          </p:nvSpPr>
          <p:spPr>
            <a:xfrm>
              <a:off x="7357093" y="3702237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P4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>
              <a:extLst>
                <a:ext uri="{FF2B5EF4-FFF2-40B4-BE49-F238E27FC236}">
                  <a16:creationId xmlns:a16="http://schemas.microsoft.com/office/drawing/2014/main" id="{7F0CAFC3-E56F-4A1E-8DFE-55E33E18FC6E}"/>
                </a:ext>
              </a:extLst>
            </p:cNvPr>
            <p:cNvSpPr txBox="1"/>
            <p:nvPr/>
          </p:nvSpPr>
          <p:spPr>
            <a:xfrm>
              <a:off x="8437023" y="2743584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FB107054-85B2-4875-9F4D-4C23452D550A}"/>
                    </a:ext>
                  </a:extLst>
                </p:cNvPr>
                <p:cNvSpPr txBox="1"/>
                <p:nvPr/>
              </p:nvSpPr>
              <p:spPr>
                <a:xfrm>
                  <a:off x="7767084" y="2729240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文字方塊 74">
                  <a:extLst>
                    <a:ext uri="{FF2B5EF4-FFF2-40B4-BE49-F238E27FC236}">
                      <a16:creationId xmlns:a16="http://schemas.microsoft.com/office/drawing/2014/main" id="{FB107054-85B2-4875-9F4D-4C23452D55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67084" y="2729240"/>
                  <a:ext cx="33236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E0B452F9-0AB9-4628-B486-3AA30F22AC33}"/>
                    </a:ext>
                  </a:extLst>
                </p:cNvPr>
                <p:cNvSpPr txBox="1"/>
                <p:nvPr/>
              </p:nvSpPr>
              <p:spPr>
                <a:xfrm>
                  <a:off x="7212796" y="2134160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E0B452F9-0AB9-4628-B486-3AA30F22AC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12796" y="2134160"/>
                  <a:ext cx="332369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9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135C8FE8-DA33-498D-83C3-08D91B4F9953}"/>
                </a:ext>
              </a:extLst>
            </p:cNvPr>
            <p:cNvSpPr txBox="1"/>
            <p:nvPr/>
          </p:nvSpPr>
          <p:spPr>
            <a:xfrm>
              <a:off x="9802079" y="1527637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P5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8FD06D93-C1CD-4653-B5AB-3A815DEF9F13}"/>
                </a:ext>
              </a:extLst>
            </p:cNvPr>
            <p:cNvSpPr txBox="1"/>
            <p:nvPr/>
          </p:nvSpPr>
          <p:spPr>
            <a:xfrm>
              <a:off x="9831859" y="3724473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P6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>
              <a:extLst>
                <a:ext uri="{FF2B5EF4-FFF2-40B4-BE49-F238E27FC236}">
                  <a16:creationId xmlns:a16="http://schemas.microsoft.com/office/drawing/2014/main" id="{3B87AE47-7CE9-4611-B423-FDB0BB77BF9F}"/>
                </a:ext>
              </a:extLst>
            </p:cNvPr>
            <p:cNvSpPr txBox="1"/>
            <p:nvPr/>
          </p:nvSpPr>
          <p:spPr>
            <a:xfrm>
              <a:off x="8689199" y="2527002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0CFE8E17-0616-4BE3-8278-5006E29895F5}"/>
                </a:ext>
              </a:extLst>
            </p:cNvPr>
            <p:cNvSpPr txBox="1"/>
            <p:nvPr/>
          </p:nvSpPr>
          <p:spPr>
            <a:xfrm>
              <a:off x="10925538" y="2773874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1F097A13-87CF-40D0-AC4F-8AA71537D9DA}"/>
                    </a:ext>
                  </a:extLst>
                </p:cNvPr>
                <p:cNvSpPr txBox="1"/>
                <p:nvPr/>
              </p:nvSpPr>
              <p:spPr>
                <a:xfrm>
                  <a:off x="10211958" y="2700225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1F097A13-87CF-40D0-AC4F-8AA71537D9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1958" y="2700225"/>
                  <a:ext cx="332369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F01BAF1F-E09C-45D4-B0E4-F1510B971AFE}"/>
                    </a:ext>
                  </a:extLst>
                </p:cNvPr>
                <p:cNvSpPr txBox="1"/>
                <p:nvPr/>
              </p:nvSpPr>
              <p:spPr>
                <a:xfrm>
                  <a:off x="9692257" y="2132044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F01BAF1F-E09C-45D4-B0E4-F1510B971A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2257" y="2132044"/>
                  <a:ext cx="332369" cy="30777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5576C5EE-DF7F-4D28-B81D-C2FD1AC91B33}"/>
                    </a:ext>
                  </a:extLst>
                </p:cNvPr>
                <p:cNvSpPr txBox="1"/>
                <p:nvPr/>
              </p:nvSpPr>
              <p:spPr>
                <a:xfrm rot="16200000">
                  <a:off x="11146678" y="2530947"/>
                  <a:ext cx="104945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Isotropy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5576C5EE-DF7F-4D28-B81D-C2FD1AC91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146678" y="2530947"/>
                  <a:ext cx="1049457" cy="338554"/>
                </a:xfrm>
                <a:prstGeom prst="rect">
                  <a:avLst/>
                </a:prstGeom>
                <a:blipFill>
                  <a:blip r:embed="rId13"/>
                  <a:stretch>
                    <a:fillRect r="-89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群組 101">
            <a:extLst>
              <a:ext uri="{FF2B5EF4-FFF2-40B4-BE49-F238E27FC236}">
                <a16:creationId xmlns:a16="http://schemas.microsoft.com/office/drawing/2014/main" id="{EBC18A1C-64CF-4472-B2D5-72883760D1F7}"/>
              </a:ext>
            </a:extLst>
          </p:cNvPr>
          <p:cNvGrpSpPr/>
          <p:nvPr/>
        </p:nvGrpSpPr>
        <p:grpSpPr>
          <a:xfrm>
            <a:off x="7657727" y="4237036"/>
            <a:ext cx="3111874" cy="2460430"/>
            <a:chOff x="7753210" y="4157105"/>
            <a:chExt cx="3111874" cy="2460430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0464119C-506A-408D-997A-7049847D0002}"/>
                </a:ext>
              </a:extLst>
            </p:cNvPr>
            <p:cNvGrpSpPr/>
            <p:nvPr/>
          </p:nvGrpSpPr>
          <p:grpSpPr>
            <a:xfrm>
              <a:off x="7843193" y="4183945"/>
              <a:ext cx="3021891" cy="2433590"/>
              <a:chOff x="7843193" y="4183945"/>
              <a:chExt cx="3021891" cy="2433590"/>
            </a:xfrm>
          </p:grpSpPr>
          <p:pic>
            <p:nvPicPr>
              <p:cNvPr id="11" name="圖片 10">
                <a:extLst>
                  <a:ext uri="{FF2B5EF4-FFF2-40B4-BE49-F238E27FC236}">
                    <a16:creationId xmlns:a16="http://schemas.microsoft.com/office/drawing/2014/main" id="{D7BE2201-6A6C-4235-ABCA-992397D299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33269" y="4221340"/>
                <a:ext cx="2775181" cy="2352840"/>
              </a:xfrm>
              <a:prstGeom prst="rect">
                <a:avLst/>
              </a:prstGeom>
            </p:spPr>
          </p:pic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A8AD8FEA-775F-42F1-9EC7-2C75E204BC47}"/>
                  </a:ext>
                </a:extLst>
              </p:cNvPr>
              <p:cNvSpPr/>
              <p:nvPr/>
            </p:nvSpPr>
            <p:spPr>
              <a:xfrm>
                <a:off x="8923866" y="4183945"/>
                <a:ext cx="279400" cy="239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D3916985-BB6C-488E-A960-3F6D4157FD1A}"/>
                  </a:ext>
                </a:extLst>
              </p:cNvPr>
              <p:cNvSpPr/>
              <p:nvPr/>
            </p:nvSpPr>
            <p:spPr>
              <a:xfrm>
                <a:off x="7843193" y="5277761"/>
                <a:ext cx="279400" cy="239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FB3D9CA0-EA2E-4F63-B87B-FC4980A6ADA4}"/>
                  </a:ext>
                </a:extLst>
              </p:cNvPr>
              <p:cNvSpPr/>
              <p:nvPr/>
            </p:nvSpPr>
            <p:spPr>
              <a:xfrm>
                <a:off x="8923866" y="6377537"/>
                <a:ext cx="279400" cy="239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BFE64C30-5C05-46CB-A3CA-3AEEAA03086E}"/>
                  </a:ext>
                </a:extLst>
              </p:cNvPr>
              <p:cNvSpPr/>
              <p:nvPr/>
            </p:nvSpPr>
            <p:spPr>
              <a:xfrm>
                <a:off x="10002096" y="5259935"/>
                <a:ext cx="279400" cy="239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AE7B16B4-9A4E-40CE-9D27-B92FFBD3E9C6}"/>
                  </a:ext>
                </a:extLst>
              </p:cNvPr>
              <p:cNvSpPr/>
              <p:nvPr/>
            </p:nvSpPr>
            <p:spPr>
              <a:xfrm>
                <a:off x="10585684" y="5270910"/>
                <a:ext cx="279400" cy="23999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2479704E-B4DA-4CE6-8492-2A38F910333A}"/>
                </a:ext>
              </a:extLst>
            </p:cNvPr>
            <p:cNvSpPr txBox="1"/>
            <p:nvPr/>
          </p:nvSpPr>
          <p:spPr>
            <a:xfrm>
              <a:off x="7753210" y="5123872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P4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F8CC2C34-CE40-4C8D-8B77-6BAC8C8B3563}"/>
                </a:ext>
              </a:extLst>
            </p:cNvPr>
            <p:cNvSpPr txBox="1"/>
            <p:nvPr/>
          </p:nvSpPr>
          <p:spPr>
            <a:xfrm>
              <a:off x="8858196" y="4157105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P5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98587A43-0AE6-432D-99DA-07F299450C8A}"/>
                </a:ext>
              </a:extLst>
            </p:cNvPr>
            <p:cNvSpPr txBox="1"/>
            <p:nvPr/>
          </p:nvSpPr>
          <p:spPr>
            <a:xfrm>
              <a:off x="8880888" y="6309758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P6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文字方塊 97">
              <a:extLst>
                <a:ext uri="{FF2B5EF4-FFF2-40B4-BE49-F238E27FC236}">
                  <a16:creationId xmlns:a16="http://schemas.microsoft.com/office/drawing/2014/main" id="{04B77175-25B6-4612-BE55-1593B913D38F}"/>
                </a:ext>
              </a:extLst>
            </p:cNvPr>
            <p:cNvSpPr txBox="1"/>
            <p:nvPr/>
          </p:nvSpPr>
          <p:spPr>
            <a:xfrm>
              <a:off x="9908887" y="5403860"/>
              <a:ext cx="4211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  <a:endParaRPr lang="zh-TW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73EFBDDD-701E-483C-B17F-DF9604E77B92}"/>
                    </a:ext>
                  </a:extLst>
                </p:cNvPr>
                <p:cNvSpPr txBox="1"/>
                <p:nvPr/>
              </p:nvSpPr>
              <p:spPr>
                <a:xfrm>
                  <a:off x="9287687" y="5342729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文字方塊 98">
                  <a:extLst>
                    <a:ext uri="{FF2B5EF4-FFF2-40B4-BE49-F238E27FC236}">
                      <a16:creationId xmlns:a16="http://schemas.microsoft.com/office/drawing/2014/main" id="{73EFBDDD-701E-483C-B17F-DF9604E77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87687" y="5342729"/>
                  <a:ext cx="332369" cy="307777"/>
                </a:xfrm>
                <a:prstGeom prst="rect">
                  <a:avLst/>
                </a:prstGeom>
                <a:blipFill>
                  <a:blip r:embed="rId15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7C6EF2F4-687F-4831-A29A-400F45BB9321}"/>
                    </a:ext>
                  </a:extLst>
                </p:cNvPr>
                <p:cNvSpPr txBox="1"/>
                <p:nvPr/>
              </p:nvSpPr>
              <p:spPr>
                <a:xfrm>
                  <a:off x="8757681" y="4769308"/>
                  <a:ext cx="33236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1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lang="en-US" altLang="zh-TW" sz="14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𝐚</m:t>
                            </m:r>
                          </m:sub>
                        </m:sSub>
                      </m:oMath>
                    </m:oMathPara>
                  </a14:m>
                  <a:endParaRPr lang="zh-TW" altLang="en-US" sz="1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文字方塊 99">
                  <a:extLst>
                    <a:ext uri="{FF2B5EF4-FFF2-40B4-BE49-F238E27FC236}">
                      <a16:creationId xmlns:a16="http://schemas.microsoft.com/office/drawing/2014/main" id="{7C6EF2F4-687F-4831-A29A-400F45BB9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7681" y="4769308"/>
                  <a:ext cx="332369" cy="30777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729964D2-2596-4FD4-BEFA-3EFCA8FFC5C1}"/>
                    </a:ext>
                  </a:extLst>
                </p:cNvPr>
                <p:cNvSpPr txBox="1"/>
                <p:nvPr/>
              </p:nvSpPr>
              <p:spPr>
                <a:xfrm rot="16200000">
                  <a:off x="10138808" y="5133790"/>
                  <a:ext cx="1049457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sz="1600" b="0" i="0" smtClean="0">
                            <a:latin typeface="Cambria Math" panose="02040503050406030204" pitchFamily="18" charset="0"/>
                          </a:rPr>
                          <m:t>Isotropy</m:t>
                        </m:r>
                      </m:oMath>
                    </m:oMathPara>
                  </a14:m>
                  <a:endParaRPr lang="zh-TW" altLang="en-US" sz="1600" dirty="0"/>
                </a:p>
              </p:txBody>
            </p:sp>
          </mc:Choice>
          <mc:Fallback xmlns="">
            <p:sp>
              <p:nvSpPr>
                <p:cNvPr id="101" name="文字方塊 100">
                  <a:extLst>
                    <a:ext uri="{FF2B5EF4-FFF2-40B4-BE49-F238E27FC236}">
                      <a16:creationId xmlns:a16="http://schemas.microsoft.com/office/drawing/2014/main" id="{729964D2-2596-4FD4-BEFA-3EFCA8FFC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0138808" y="5133790"/>
                  <a:ext cx="1049457" cy="338554"/>
                </a:xfrm>
                <a:prstGeom prst="rect">
                  <a:avLst/>
                </a:prstGeom>
                <a:blipFill>
                  <a:blip r:embed="rId16"/>
                  <a:stretch>
                    <a:fillRect r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3769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Calibrate results (</a:t>
            </a:r>
            <a:r>
              <a:rPr lang="en-US" altLang="zh-TW" dirty="0" err="1"/>
              <a:t>Zhipeng’s</a:t>
            </a:r>
            <a:r>
              <a:rPr lang="en-US" altLang="zh-TW" dirty="0"/>
              <a:t> model)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751016-9545-4345-93CE-DA5310594C1B}"/>
              </a:ext>
            </a:extLst>
          </p:cNvPr>
          <p:cNvSpPr txBox="1"/>
          <p:nvPr/>
        </p:nvSpPr>
        <p:spPr>
          <a:xfrm>
            <a:off x="25401" y="108782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 gap(Single,35points)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E8A7BCA-05E7-4AB4-9EA6-C4B8EBA0DB5D}"/>
              </a:ext>
            </a:extLst>
          </p:cNvPr>
          <p:cNvSpPr txBox="1"/>
          <p:nvPr/>
        </p:nvSpPr>
        <p:spPr>
          <a:xfrm>
            <a:off x="6096000" y="108782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Have gap(Single,35points)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1" name="S9L_mat">
                <a:extLst>
                  <a:ext uri="{FF2B5EF4-FFF2-40B4-BE49-F238E27FC236}">
                    <a16:creationId xmlns:a16="http://schemas.microsoft.com/office/drawing/2014/main" id="{BBBBBBBB-0000-4000-8000-000000000001}"/>
                  </a:ext>
                </a:extLst>
              </p:cNvPr>
              <p:cNvSpPr txBox="1"/>
              <p:nvPr/>
            </p:nvSpPr>
            <p:spPr>
              <a:xfrm>
                <a:off x="409200" y="156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0.8625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−0.0821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0.7695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−0.0744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01" name="S9L_mat">
                <a:extLst>
                  <a:ext uri="{FF2B5EF4-FFF2-40B4-BE49-F238E27FC236}">
                    <a16:creationId xmlns:a16="http://schemas.microsoft.com/office/drawing/2014/main" id="{BBBBBBBB-0000-4000-8000-00000000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0" y="156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2" name="S9L_sc">
                <a:extLst>
                  <a:ext uri="{FF2B5EF4-FFF2-40B4-BE49-F238E27FC236}">
                    <a16:creationId xmlns:a16="http://schemas.microsoft.com/office/drawing/2014/main" id="{BBBBBBBB-0000-4000-8000-000000000002}"/>
                  </a:ext>
                </a:extLst>
              </p:cNvPr>
              <p:cNvSpPr txBox="1"/>
              <p:nvPr/>
            </p:nvSpPr>
            <p:spPr>
              <a:xfrm>
                <a:off x="203201" y="31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744.9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32.7350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02" name="S9L_sc">
                <a:extLst>
                  <a:ext uri="{FF2B5EF4-FFF2-40B4-BE49-F238E27FC236}">
                    <a16:creationId xmlns:a16="http://schemas.microsoft.com/office/drawing/2014/main" id="{BBBBBBBB-0000-4000-8000-00000000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201" y="310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3" name="S9L_nmae">
            <a:extLst>
              <a:ext uri="{FF2B5EF4-FFF2-40B4-BE49-F238E27FC236}">
                <a16:creationId xmlns:a16="http://schemas.microsoft.com/office/drawing/2014/main" id="{BBBBBBBB-0000-4000-8000-000000000003}"/>
              </a:ext>
            </a:extLst>
          </p:cNvPr>
          <p:cNvSpPr txBox="1"/>
          <p:nvPr/>
        </p:nvSpPr>
        <p:spPr>
          <a:xfrm>
            <a:off x="508001" y="3410896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10.50%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4" name="S9R_mat">
                <a:extLst>
                  <a:ext uri="{FF2B5EF4-FFF2-40B4-BE49-F238E27FC236}">
                    <a16:creationId xmlns:a16="http://schemas.microsoft.com/office/drawing/2014/main" id="{BBBBBBBB-0000-4000-8000-000000000005}"/>
                  </a:ext>
                </a:extLst>
              </p:cNvPr>
              <p:cNvSpPr txBox="1"/>
              <p:nvPr/>
            </p:nvSpPr>
            <p:spPr>
              <a:xfrm>
                <a:off x="6479799" y="156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−0.2107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0.8681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−0.0828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−0.2722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0.6645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−0.0441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0.6847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−0.0695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−0.0999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−0.2360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−0.0715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0.6853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−0.2722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−0.2241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−0.0424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0.6671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04" name="S9R_mat">
                <a:extLst>
                  <a:ext uri="{FF2B5EF4-FFF2-40B4-BE49-F238E27FC236}">
                    <a16:creationId xmlns:a16="http://schemas.microsoft.com/office/drawing/2014/main" id="{BBBBBBBB-0000-4000-8000-000000000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156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5" name="S9R_sc">
                <a:extLst>
                  <a:ext uri="{FF2B5EF4-FFF2-40B4-BE49-F238E27FC236}">
                    <a16:creationId xmlns:a16="http://schemas.microsoft.com/office/drawing/2014/main" id="{BBBBBBBB-0000-4000-8000-000000000006}"/>
                  </a:ext>
                </a:extLst>
              </p:cNvPr>
              <p:cNvSpPr txBox="1"/>
              <p:nvPr/>
            </p:nvSpPr>
            <p:spPr>
              <a:xfrm>
                <a:off x="6273800" y="310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764.1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21.5378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05" name="S9R_sc">
                <a:extLst>
                  <a:ext uri="{FF2B5EF4-FFF2-40B4-BE49-F238E27FC236}">
                    <a16:creationId xmlns:a16="http://schemas.microsoft.com/office/drawing/2014/main" id="{BBBBBBBB-0000-4000-8000-00000000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310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6" name="S9R_nmae">
            <a:extLst>
              <a:ext uri="{FF2B5EF4-FFF2-40B4-BE49-F238E27FC236}">
                <a16:creationId xmlns:a16="http://schemas.microsoft.com/office/drawing/2014/main" id="{BBBBBBBB-0000-4000-8000-000000000007}"/>
              </a:ext>
            </a:extLst>
          </p:cNvPr>
          <p:cNvSpPr txBox="1"/>
          <p:nvPr/>
        </p:nvSpPr>
        <p:spPr>
          <a:xfrm>
            <a:off x="6465993" y="3480000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9.98%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1C15A67-FA81-4ECF-BFDA-108AC3A4A826}"/>
              </a:ext>
            </a:extLst>
          </p:cNvPr>
          <p:cNvSpPr txBox="1"/>
          <p:nvPr/>
        </p:nvSpPr>
        <p:spPr>
          <a:xfrm>
            <a:off x="135468" y="3847701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No gap(Eighteen,35points)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2AFC3B5-8A63-41CE-889C-D568D357A481}"/>
              </a:ext>
            </a:extLst>
          </p:cNvPr>
          <p:cNvSpPr txBox="1"/>
          <p:nvPr/>
        </p:nvSpPr>
        <p:spPr>
          <a:xfrm>
            <a:off x="6024292" y="3875057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Have gap(Eighteen,35points)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2" name="S9R18_mat">
                <a:extLst>
                  <a:ext uri="{FF2B5EF4-FFF2-40B4-BE49-F238E27FC236}">
                    <a16:creationId xmlns:a16="http://schemas.microsoft.com/office/drawing/2014/main" id="{CCCCCCCC-0000-4000-8000-000000000002}"/>
                  </a:ext>
                </a:extLst>
              </p:cNvPr>
              <p:cNvSpPr txBox="1"/>
              <p:nvPr/>
            </p:nvSpPr>
            <p:spPr>
              <a:xfrm>
                <a:off x="6479799" y="42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−0.1086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−0.1086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−0.1475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−0.1472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0.6595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0.6555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−0.1807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−0.1461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0.6528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0.6581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02" name="S9R18_mat">
                <a:extLst>
                  <a:ext uri="{FF2B5EF4-FFF2-40B4-BE49-F238E27FC236}">
                    <a16:creationId xmlns:a16="http://schemas.microsoft.com/office/drawing/2014/main" id="{CCCCCCCC-0000-4000-8000-000000000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42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3" name="S9R18_e"/>
              <p:cNvSpPr txBox="1"/>
              <p:nvPr/>
            </p:nvSpPr>
            <p:spPr>
              <a:xfrm>
                <a:off x="6479799" y="5750000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−0.2155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0.2151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0.2175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−0.2153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−0.2175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03" name="S9R18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799" y="5750000"/>
                <a:ext cx="5235787" cy="566928"/>
              </a:xfrm>
              <a:prstGeom prst="rect">
                <a:avLst/>
              </a:prstGeom>
              <a:blipFill>
                <a:blip r:embed="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4" name="S9R18_sc">
                <a:extLst>
                  <a:ext uri="{FF2B5EF4-FFF2-40B4-BE49-F238E27FC236}">
                    <a16:creationId xmlns:a16="http://schemas.microsoft.com/office/drawing/2014/main" id="{CCCCCCCC-0000-4000-8000-000000000004}"/>
                  </a:ext>
                </a:extLst>
              </p:cNvPr>
              <p:cNvSpPr txBox="1"/>
              <p:nvPr/>
            </p:nvSpPr>
            <p:spPr>
              <a:xfrm>
                <a:off x="6273800" y="652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605.5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24.4465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404" name="S9R18_sc">
                <a:extLst>
                  <a:ext uri="{FF2B5EF4-FFF2-40B4-BE49-F238E27FC236}">
                    <a16:creationId xmlns:a16="http://schemas.microsoft.com/office/drawing/2014/main" id="{CCCCCCCC-0000-4000-8000-000000000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800" y="652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5" name="S9R18_nmae">
            <a:extLst>
              <a:ext uri="{FF2B5EF4-FFF2-40B4-BE49-F238E27FC236}">
                <a16:creationId xmlns:a16="http://schemas.microsoft.com/office/drawing/2014/main" id="{CCCCCCCC-0000-4000-8000-000000000005}"/>
              </a:ext>
            </a:extLst>
          </p:cNvPr>
          <p:cNvSpPr txBox="1"/>
          <p:nvPr/>
        </p:nvSpPr>
        <p:spPr>
          <a:xfrm>
            <a:off x="10078000" y="648866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0.68%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1" name="S9L18_mat">
                <a:extLst>
                  <a:ext uri="{FF2B5EF4-FFF2-40B4-BE49-F238E27FC236}">
                    <a16:creationId xmlns:a16="http://schemas.microsoft.com/office/drawing/2014/main" id="{DDDDDDDD-0000-4000-8000-000000000001}"/>
                  </a:ext>
                </a:extLst>
              </p:cNvPr>
              <p:cNvSpPr txBox="1"/>
              <p:nvPr/>
            </p:nvSpPr>
            <p:spPr>
              <a:xfrm>
                <a:off x="409200" y="425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−0.1881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0.8296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−0.1634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−0.1298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0.7492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11" name="S9L18_mat">
                <a:extLst>
                  <a:ext uri="{FF2B5EF4-FFF2-40B4-BE49-F238E27FC236}">
                    <a16:creationId xmlns:a16="http://schemas.microsoft.com/office/drawing/2014/main" id="{DDDDDDDD-0000-4000-8000-00000000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0" y="425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2" name="S9L18_e"/>
              <p:cNvSpPr txBox="1"/>
              <p:nvPr/>
            </p:nvSpPr>
            <p:spPr>
              <a:xfrm>
                <a:off x="-132666" y="5586127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0.2159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412" name="S9L18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2666" y="5586127"/>
                <a:ext cx="5235787" cy="566928"/>
              </a:xfrm>
              <a:prstGeom prst="rect">
                <a:avLst/>
              </a:prstGeom>
              <a:blipFill>
                <a:blip r:embed="rId2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3" name="S9L18_sc">
                <a:extLst>
                  <a:ext uri="{FF2B5EF4-FFF2-40B4-BE49-F238E27FC236}">
                    <a16:creationId xmlns:a16="http://schemas.microsoft.com/office/drawing/2014/main" id="{DDDDDDDD-0000-4000-8000-000000000003}"/>
                  </a:ext>
                </a:extLst>
              </p:cNvPr>
              <p:cNvSpPr txBox="1"/>
              <p:nvPr/>
            </p:nvSpPr>
            <p:spPr>
              <a:xfrm>
                <a:off x="42334" y="6399597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604.8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37.3928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413" name="S9L18_sc">
                <a:extLst>
                  <a:ext uri="{FF2B5EF4-FFF2-40B4-BE49-F238E27FC236}">
                    <a16:creationId xmlns:a16="http://schemas.microsoft.com/office/drawing/2014/main" id="{DDDDDDDD-0000-4000-8000-000000000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4" y="6399597"/>
                <a:ext cx="3457787" cy="310896"/>
              </a:xfrm>
              <a:prstGeom prst="rect">
                <a:avLst/>
              </a:prstGeom>
              <a:blipFill>
                <a:blip r:embed="rId3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14" name="S9L18_nmae">
            <a:extLst>
              <a:ext uri="{FF2B5EF4-FFF2-40B4-BE49-F238E27FC236}">
                <a16:creationId xmlns:a16="http://schemas.microsoft.com/office/drawing/2014/main" id="{DDDDDDDD-0000-4000-8000-000000000004}"/>
              </a:ext>
            </a:extLst>
          </p:cNvPr>
          <p:cNvSpPr txBox="1"/>
          <p:nvPr/>
        </p:nvSpPr>
        <p:spPr>
          <a:xfrm>
            <a:off x="3406399" y="633202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0.68%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53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Calibrate results(All FEM nodes)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0751016-9545-4345-93CE-DA5310594C1B}"/>
              </a:ext>
            </a:extLst>
          </p:cNvPr>
          <p:cNvSpPr txBox="1"/>
          <p:nvPr/>
        </p:nvSpPr>
        <p:spPr>
          <a:xfrm>
            <a:off x="25401" y="3923168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E8A7BCA-05E7-4AB4-9EA6-C4B8EBA0DB5D}"/>
              </a:ext>
            </a:extLst>
          </p:cNvPr>
          <p:cNvSpPr txBox="1"/>
          <p:nvPr/>
        </p:nvSpPr>
        <p:spPr>
          <a:xfrm>
            <a:off x="38100" y="1525057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FDF14B1-86A5-462D-8545-6E388EFA4B52}"/>
              </a:ext>
            </a:extLst>
          </p:cNvPr>
          <p:cNvSpPr txBox="1"/>
          <p:nvPr/>
        </p:nvSpPr>
        <p:spPr>
          <a:xfrm>
            <a:off x="110067" y="1092200"/>
            <a:ext cx="29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Long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B3EA7E9-7ADC-4358-8099-0241D3BC6B31}"/>
              </a:ext>
            </a:extLst>
          </p:cNvPr>
          <p:cNvSpPr txBox="1"/>
          <p:nvPr/>
        </p:nvSpPr>
        <p:spPr>
          <a:xfrm>
            <a:off x="6409267" y="1048759"/>
            <a:ext cx="2929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 err="1"/>
              <a:t>Zhi</a:t>
            </a:r>
            <a:r>
              <a:rPr lang="en-US" altLang="zh-TW" dirty="0"/>
              <a:t> </a:t>
            </a:r>
            <a:r>
              <a:rPr lang="en-US" altLang="zh-TW" dirty="0" err="1"/>
              <a:t>peng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876F664-D48B-4903-B6FD-A384744D0BE6}"/>
              </a:ext>
            </a:extLst>
          </p:cNvPr>
          <p:cNvSpPr txBox="1"/>
          <p:nvPr/>
        </p:nvSpPr>
        <p:spPr>
          <a:xfrm>
            <a:off x="6396568" y="3816202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Eighteen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C113272-2828-4C47-91E8-23E5490DF379}"/>
              </a:ext>
            </a:extLst>
          </p:cNvPr>
          <p:cNvSpPr txBox="1"/>
          <p:nvPr/>
        </p:nvSpPr>
        <p:spPr>
          <a:xfrm>
            <a:off x="6409267" y="1418091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Single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7" name="S10LS_mat">
                <a:extLst>
                  <a:ext uri="{FF2B5EF4-FFF2-40B4-BE49-F238E27FC236}">
                    <a16:creationId xmlns:a16="http://schemas.microsoft.com/office/drawing/2014/main" id="{BBBBBBBB-0000-4000-8000-000000000009}"/>
                  </a:ext>
                </a:extLst>
              </p:cNvPr>
              <p:cNvSpPr txBox="1"/>
              <p:nvPr/>
            </p:nvSpPr>
            <p:spPr>
              <a:xfrm>
                <a:off x="300000" y="196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0.9517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−0.1589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0.8427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−0.2040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0.9456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−0.1994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−0.2045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−0.1589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0.9514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−0.2097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−0.1734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−0.1804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−0.1746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−0.1054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0.8382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07" name="S10LS_mat">
                <a:extLst>
                  <a:ext uri="{FF2B5EF4-FFF2-40B4-BE49-F238E27FC236}">
                    <a16:creationId xmlns:a16="http://schemas.microsoft.com/office/drawing/2014/main" id="{BBBBBBBB-0000-4000-8000-000000000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0" y="196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" name="S10LS_sc">
                <a:extLst>
                  <a:ext uri="{FF2B5EF4-FFF2-40B4-BE49-F238E27FC236}">
                    <a16:creationId xmlns:a16="http://schemas.microsoft.com/office/drawing/2014/main" id="{BBBBBBBB-0000-4000-8000-000000000010}"/>
                  </a:ext>
                </a:extLst>
              </p:cNvPr>
              <p:cNvSpPr txBox="1"/>
              <p:nvPr/>
            </p:nvSpPr>
            <p:spPr>
              <a:xfrm>
                <a:off x="-62652" y="3367332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874.3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9.6717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08" name="S10LS_sc">
                <a:extLst>
                  <a:ext uri="{FF2B5EF4-FFF2-40B4-BE49-F238E27FC236}">
                    <a16:creationId xmlns:a16="http://schemas.microsoft.com/office/drawing/2014/main" id="{BBBBBBBB-0000-4000-8000-000000000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652" y="3367332"/>
                <a:ext cx="3457787" cy="310896"/>
              </a:xfrm>
              <a:prstGeom prst="rect">
                <a:avLst/>
              </a:prstGeom>
              <a:blipFill>
                <a:blip r:embed="rId2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9" name="S10LS_nmae">
            <a:extLst>
              <a:ext uri="{FF2B5EF4-FFF2-40B4-BE49-F238E27FC236}">
                <a16:creationId xmlns:a16="http://schemas.microsoft.com/office/drawing/2014/main" id="{BBBBBBBB-0000-4000-8000-000000000011}"/>
              </a:ext>
            </a:extLst>
          </p:cNvPr>
          <p:cNvSpPr txBox="1"/>
          <p:nvPr/>
        </p:nvSpPr>
        <p:spPr>
          <a:xfrm>
            <a:off x="3323168" y="3339536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2.81%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0" name="S10LE_mat">
                <a:extLst>
                  <a:ext uri="{FF2B5EF4-FFF2-40B4-BE49-F238E27FC236}">
                    <a16:creationId xmlns:a16="http://schemas.microsoft.com/office/drawing/2014/main" id="{BBBBBBBB-0000-4000-8000-000000000013}"/>
                  </a:ext>
                </a:extLst>
              </p:cNvPr>
              <p:cNvSpPr txBox="1"/>
              <p:nvPr/>
            </p:nvSpPr>
            <p:spPr>
              <a:xfrm>
                <a:off x="300000" y="433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−0.1380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−0.1358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−0.2042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−0.1403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−0.2048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−0.2038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−0.1234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−0.1392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−0.1279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−0.1288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0.8328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10" name="S10LE_mat">
                <a:extLst>
                  <a:ext uri="{FF2B5EF4-FFF2-40B4-BE49-F238E27FC236}">
                    <a16:creationId xmlns:a16="http://schemas.microsoft.com/office/drawing/2014/main" id="{BBBBBBBB-0000-4000-8000-000000000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00" y="433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1" name="S10LE_e"/>
              <p:cNvSpPr txBox="1"/>
              <p:nvPr/>
            </p:nvSpPr>
            <p:spPr>
              <a:xfrm>
                <a:off x="-241867" y="5631729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0.0183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0.0155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0.0147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0.0016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−0.1180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0.1167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−0.0029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−0.0181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11" name="S10LE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1867" y="5631729"/>
                <a:ext cx="5235787" cy="566928"/>
              </a:xfrm>
              <a:prstGeom prst="rect">
                <a:avLst/>
              </a:prstGeom>
              <a:blipFill>
                <a:blip r:embed="rId3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2" name="S10LE_sc">
                <a:extLst>
                  <a:ext uri="{FF2B5EF4-FFF2-40B4-BE49-F238E27FC236}">
                    <a16:creationId xmlns:a16="http://schemas.microsoft.com/office/drawing/2014/main" id="{BBBBBBBB-0000-4000-8000-000000000014}"/>
                  </a:ext>
                </a:extLst>
              </p:cNvPr>
              <p:cNvSpPr txBox="1"/>
              <p:nvPr/>
            </p:nvSpPr>
            <p:spPr>
              <a:xfrm>
                <a:off x="25401" y="64176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874.0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10.7518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12" name="S10LE_sc">
                <a:extLst>
                  <a:ext uri="{FF2B5EF4-FFF2-40B4-BE49-F238E27FC236}">
                    <a16:creationId xmlns:a16="http://schemas.microsoft.com/office/drawing/2014/main" id="{BBBBBBBB-0000-4000-8000-000000000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1" y="6417600"/>
                <a:ext cx="3457787" cy="310896"/>
              </a:xfrm>
              <a:prstGeom prst="rect">
                <a:avLst/>
              </a:prstGeom>
              <a:blipFill>
                <a:blip r:embed="rId4"/>
                <a:stretch>
                  <a:fillRect t="-11765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3" name="S10LE_nmae">
            <a:extLst>
              <a:ext uri="{FF2B5EF4-FFF2-40B4-BE49-F238E27FC236}">
                <a16:creationId xmlns:a16="http://schemas.microsoft.com/office/drawing/2014/main" id="{BBBBBBBB-0000-4000-8000-000000000015}"/>
              </a:ext>
            </a:extLst>
          </p:cNvPr>
          <p:cNvSpPr txBox="1"/>
          <p:nvPr/>
        </p:nvSpPr>
        <p:spPr>
          <a:xfrm>
            <a:off x="3483188" y="6359164"/>
            <a:ext cx="30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0.27%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4" name="S10RS_mat">
                <a:extLst>
                  <a:ext uri="{FF2B5EF4-FFF2-40B4-BE49-F238E27FC236}">
                    <a16:creationId xmlns:a16="http://schemas.microsoft.com/office/drawing/2014/main" id="{BBBBBBBB-0000-4000-8000-000000000017}"/>
                  </a:ext>
                </a:extLst>
              </p:cNvPr>
              <p:cNvSpPr txBox="1"/>
              <p:nvPr/>
            </p:nvSpPr>
            <p:spPr>
              <a:xfrm>
                <a:off x="6600000" y="186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−0.0649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−0.2224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−0.2226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−0.2148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−0.1127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−0.2595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−0.0643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−0.2407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−0.2511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−0.0638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0.7518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−0.2331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−0.1090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−0.2510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−0.0765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−0.2329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0.7509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−0.0638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−0.2596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−0.2405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−0.0643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−0.0529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0.7485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14" name="S10RS_mat">
                <a:extLst>
                  <a:ext uri="{FF2B5EF4-FFF2-40B4-BE49-F238E27FC236}">
                    <a16:creationId xmlns:a16="http://schemas.microsoft.com/office/drawing/2014/main" id="{BBBBBBBB-0000-4000-8000-000000000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00" y="186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5" name="S10RS_sc">
                <a:extLst>
                  <a:ext uri="{FF2B5EF4-FFF2-40B4-BE49-F238E27FC236}">
                    <a16:creationId xmlns:a16="http://schemas.microsoft.com/office/drawing/2014/main" id="{BBBBBBBB-0000-4000-8000-000000000018}"/>
                  </a:ext>
                </a:extLst>
              </p:cNvPr>
              <p:cNvSpPr txBox="1"/>
              <p:nvPr/>
            </p:nvSpPr>
            <p:spPr>
              <a:xfrm>
                <a:off x="6409267" y="338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745.0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33.0870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15" name="S10RS_sc">
                <a:extLst>
                  <a:ext uri="{FF2B5EF4-FFF2-40B4-BE49-F238E27FC236}">
                    <a16:creationId xmlns:a16="http://schemas.microsoft.com/office/drawing/2014/main" id="{BBBBBBBB-0000-4000-8000-0000000000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267" y="338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6" name="S10RS_nmae">
            <a:extLst>
              <a:ext uri="{FF2B5EF4-FFF2-40B4-BE49-F238E27FC236}">
                <a16:creationId xmlns:a16="http://schemas.microsoft.com/office/drawing/2014/main" id="{BBBBBBBB-0000-4000-8000-000000000019}"/>
              </a:ext>
            </a:extLst>
          </p:cNvPr>
          <p:cNvSpPr txBox="1"/>
          <p:nvPr/>
        </p:nvSpPr>
        <p:spPr>
          <a:xfrm>
            <a:off x="9936700" y="3244334"/>
            <a:ext cx="173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10.50%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7" name="S10RE_mat">
                <a:extLst>
                  <a:ext uri="{FF2B5EF4-FFF2-40B4-BE49-F238E27FC236}">
                    <a16:creationId xmlns:a16="http://schemas.microsoft.com/office/drawing/2014/main" id="{BBBBBBBB-0000-4000-8000-000000000021}"/>
                  </a:ext>
                </a:extLst>
              </p:cNvPr>
              <p:cNvSpPr txBox="1"/>
              <p:nvPr/>
            </p:nvSpPr>
            <p:spPr>
              <a:xfrm>
                <a:off x="6600000" y="4230000"/>
                <a:ext cx="4389119" cy="11155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−0.1070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−0.1878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−0.1150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0.8267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−0.1190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−0.1947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−0.1569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−0.1292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0.7376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−0.1617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−0.1985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−0.1367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−0.1616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0.7371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−0.0967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−0.1328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−0.1292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−0.1571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−0.0926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0.7454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17" name="S10RE_mat">
                <a:extLst>
                  <a:ext uri="{FF2B5EF4-FFF2-40B4-BE49-F238E27FC236}">
                    <a16:creationId xmlns:a16="http://schemas.microsoft.com/office/drawing/2014/main" id="{BBBBBBBB-0000-4000-8000-000000000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00" y="4230000"/>
                <a:ext cx="4389119" cy="1115568"/>
              </a:xfrm>
              <a:prstGeom prst="rect">
                <a:avLst/>
              </a:prstGeom>
              <a:blipFill>
                <a:blip r:embed=""/>
                <a:stretch>
                  <a:fillRect l="-5417" r="-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8" name="S10RE_e"/>
              <p:cNvSpPr txBox="1"/>
              <p:nvPr/>
            </p:nvSpPr>
            <p:spPr>
              <a:xfrm>
                <a:off x="6600000" y="5710000"/>
                <a:ext cx="5235787" cy="5669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0.0003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0.2162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−0.2166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−0.0003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218" name="S10RE_e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00" y="5710000"/>
                <a:ext cx="5235787" cy="566928"/>
              </a:xfrm>
              <a:prstGeom prst="rect">
                <a:avLst/>
              </a:prstGeom>
              <a:blipFill>
                <a:blip r:embed=""/>
                <a:stretch>
                  <a:fillRect t="-21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9" name="S10RE_sc">
                <a:extLst>
                  <a:ext uri="{FF2B5EF4-FFF2-40B4-BE49-F238E27FC236}">
                    <a16:creationId xmlns:a16="http://schemas.microsoft.com/office/drawing/2014/main" id="{BBBBBBBB-0000-4000-8000-000000000022}"/>
                  </a:ext>
                </a:extLst>
              </p:cNvPr>
              <p:cNvSpPr txBox="1"/>
              <p:nvPr/>
            </p:nvSpPr>
            <p:spPr>
              <a:xfrm>
                <a:off x="6409267" y="6460000"/>
                <a:ext cx="3457787" cy="3108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604.1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4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4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b="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b>
                          </m:sSub>
                        </m:e>
                      </m:sPre>
                      <m:r>
                        <a:rPr lang="en-US" sz="1400" b="0" i="0">
                          <a:latin typeface="Cambria Math" panose="02040503050406030204" pitchFamily="18" charset="0"/>
                        </a:rPr>
                        <m:t> = 37.5562 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b="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400" i="1" dirty="0"/>
              </a:p>
            </p:txBody>
          </p:sp>
        </mc:Choice>
        <mc:Fallback xmlns="">
          <p:sp>
            <p:nvSpPr>
              <p:cNvPr id="1219" name="S10RE_sc">
                <a:extLst>
                  <a:ext uri="{FF2B5EF4-FFF2-40B4-BE49-F238E27FC236}">
                    <a16:creationId xmlns:a16="http://schemas.microsoft.com/office/drawing/2014/main" id="{BBBBBBBB-0000-4000-8000-000000000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9267" y="6460000"/>
                <a:ext cx="3457787" cy="310896"/>
              </a:xfrm>
              <a:prstGeom prst="rect">
                <a:avLst/>
              </a:prstGeom>
              <a:blipFill>
                <a:blip r:embed=""/>
                <a:stretch>
                  <a:fillRect t="-9804" b="-1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0" name="S10RE_nmae">
            <a:extLst>
              <a:ext uri="{FF2B5EF4-FFF2-40B4-BE49-F238E27FC236}">
                <a16:creationId xmlns:a16="http://schemas.microsoft.com/office/drawing/2014/main" id="{BBBBBBBB-0000-4000-8000-000000000023}"/>
              </a:ext>
            </a:extLst>
          </p:cNvPr>
          <p:cNvSpPr txBox="1"/>
          <p:nvPr/>
        </p:nvSpPr>
        <p:spPr>
          <a:xfrm>
            <a:off x="9906454" y="6409067"/>
            <a:ext cx="1929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NMAE = 0.68%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7893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B6928C-40EF-4294-A1F3-95104EDD5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1" y="25401"/>
            <a:ext cx="10515600" cy="727075"/>
          </a:xfrm>
        </p:spPr>
        <p:txBody>
          <a:bodyPr/>
          <a:lstStyle/>
          <a:p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91A6DA0-3BA9-44C2-917D-407F505C70C4}"/>
              </a:ext>
            </a:extLst>
          </p:cNvPr>
          <p:cNvSpPr txBox="1"/>
          <p:nvPr/>
        </p:nvSpPr>
        <p:spPr>
          <a:xfrm>
            <a:off x="0" y="659343"/>
            <a:ext cx="4233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/>
              <a:t>Data point distribution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6450403-EAAA-4BAA-A604-CF904307DF07}"/>
              </a:ext>
            </a:extLst>
          </p:cNvPr>
          <p:cNvSpPr txBox="1"/>
          <p:nvPr/>
        </p:nvSpPr>
        <p:spPr>
          <a:xfrm>
            <a:off x="97367" y="1141568"/>
            <a:ext cx="62060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All models satisfy the convergence criteria with only 35 points, while their prediction performance remains unaffected.</a:t>
            </a:r>
            <a:endParaRPr lang="zh-TW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4E27650C-DA58-4F91-AC84-A53E227EF7C5}"/>
              </a:ext>
            </a:extLst>
          </p:cNvPr>
          <p:cNvGrpSpPr/>
          <p:nvPr/>
        </p:nvGrpSpPr>
        <p:grpSpPr>
          <a:xfrm>
            <a:off x="6326999" y="1901666"/>
            <a:ext cx="4684385" cy="4265099"/>
            <a:chOff x="6326999" y="1901666"/>
            <a:chExt cx="4684385" cy="42650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D53475AD-C8DA-4875-955E-142119871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3999" y="1901666"/>
              <a:ext cx="4407385" cy="4126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91E9D64-43A2-4356-A74B-49DA37D7BF0A}"/>
                    </a:ext>
                  </a:extLst>
                </p:cNvPr>
                <p:cNvSpPr txBox="1"/>
                <p:nvPr/>
              </p:nvSpPr>
              <p:spPr>
                <a:xfrm rot="2230480">
                  <a:off x="6545751" y="5627300"/>
                  <a:ext cx="139698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A91E9D64-43A2-4356-A74B-49DA37D7BF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230480">
                  <a:off x="6545751" y="5627300"/>
                  <a:ext cx="1396985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422" r="-4739" b="-1079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381614E7-8BEB-4B78-81EB-795E76066AE3}"/>
                    </a:ext>
                  </a:extLst>
                </p:cNvPr>
                <p:cNvSpPr txBox="1"/>
                <p:nvPr/>
              </p:nvSpPr>
              <p:spPr>
                <a:xfrm rot="20688683">
                  <a:off x="9396613" y="5889766"/>
                  <a:ext cx="140179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381614E7-8BEB-4B78-81EB-795E76066A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688683">
                  <a:off x="9396613" y="5889766"/>
                  <a:ext cx="140179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553" t="-3810" r="-6809" b="-1238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9EBADF2-62BF-4D0F-B9E9-3C62DAD1FFA4}"/>
                    </a:ext>
                  </a:extLst>
                </p:cNvPr>
                <p:cNvSpPr txBox="1"/>
                <p:nvPr/>
              </p:nvSpPr>
              <p:spPr>
                <a:xfrm rot="16200000">
                  <a:off x="5771014" y="3429024"/>
                  <a:ext cx="13889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b="0" i="0" smtClean="0">
                            <a:latin typeface="Cambria Math" panose="02040503050406030204" pitchFamily="18" charset="0"/>
                          </a:rPr>
                          <m:t>axis</m:t>
                        </m:r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TW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C9EBADF2-62BF-4D0F-B9E9-3C62DAD1FF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5771014" y="3429024"/>
                  <a:ext cx="138897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222" t="-5702" r="-35556" b="-21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49434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54C95B48AB74B74197718A0A5C36A845" ma:contentTypeVersion="4" ma:contentTypeDescription="建立新的文件。" ma:contentTypeScope="" ma:versionID="66bee7b78bdbe1f1964d1b03a2fab72f">
  <xsd:schema xmlns:xsd="http://www.w3.org/2001/XMLSchema" xmlns:xs="http://www.w3.org/2001/XMLSchema" xmlns:p="http://schemas.microsoft.com/office/2006/metadata/properties" xmlns:ns3="dab69bd4-2317-4b7d-9ec9-5d414df95b9f" targetNamespace="http://schemas.microsoft.com/office/2006/metadata/properties" ma:root="true" ma:fieldsID="8c6c195b40798ed33a73cb7c88b59d11" ns3:_="">
    <xsd:import namespace="dab69bd4-2317-4b7d-9ec9-5d414df95b9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b69bd4-2317-4b7d-9ec9-5d414df95b9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45AC83-AF71-412B-91BE-183D8E120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D08E1F-0873-4013-B91C-20CDEC23B8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b69bd4-2317-4b7d-9ec9-5d414df95b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EA52B6-A488-4A49-9C16-6BED74742FE8}">
  <ds:schemaRefs>
    <ds:schemaRef ds:uri="http://purl.org/dc/dcmitype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dab69bd4-2317-4b7d-9ec9-5d414df95b9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947</Words>
  <Application>Microsoft Office PowerPoint</Application>
  <PresentationFormat>寬螢幕</PresentationFormat>
  <Paragraphs>193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A Lumped-Parameter Modeling, Calibration, and Capacity-Measure Framework for Flux Generation in Symmetric Multipole Electromagnetic Actuators </vt:lpstr>
      <vt:lpstr>Zhi peng’s model compare</vt:lpstr>
      <vt:lpstr>Zhi peng’s model compare</vt:lpstr>
      <vt:lpstr>Zhi peng’s model compare</vt:lpstr>
      <vt:lpstr>Zhi peng’s model compare</vt:lpstr>
      <vt:lpstr>Zhi peng’s model compare</vt:lpstr>
      <vt:lpstr>Zhi peng’s model compare</vt:lpstr>
      <vt:lpstr>Zhi peng’s model compare</vt:lpstr>
      <vt:lpstr>Reference</vt:lpstr>
      <vt:lpstr>Reference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8.24</dc:title>
  <dc:creator>郭建棋</dc:creator>
  <cp:lastModifiedBy>郭建棋</cp:lastModifiedBy>
  <cp:revision>34</cp:revision>
  <dcterms:created xsi:type="dcterms:W3CDTF">2026-08-24T02:11:52Z</dcterms:created>
  <dcterms:modified xsi:type="dcterms:W3CDTF">2026-08-28T04:43:50Z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0x01010054C95B48AB74B74197718A0A5C36A845</vt:lpwstr>
  </property>
</Properties>
</file>