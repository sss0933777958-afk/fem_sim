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316" r:id="rId4"/>
    <p:sldId id="285" r:id="rId5"/>
    <p:sldId id="312" r:id="rId6"/>
    <p:sldId id="269" r:id="rId7"/>
    <p:sldId id="290" r:id="rId8"/>
    <p:sldId id="272" r:id="rId9"/>
    <p:sldId id="291" r:id="rId10"/>
    <p:sldId id="313" r:id="rId11"/>
    <p:sldId id="292" r:id="rId12"/>
    <p:sldId id="317" r:id="rId13"/>
    <p:sldId id="309" r:id="rId14"/>
    <p:sldId id="318" r:id="rId15"/>
    <p:sldId id="31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13B5C-4451-4F85-8E22-4F6D30112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8C9657-D53F-4E4F-9171-BAB7C00D9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1CB1F-3023-4059-8D9C-CF5C75B6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FDADB6-4903-41BB-BC87-020BA3FB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FCEFEA-DE84-42FC-BE56-10A71321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70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8524EB-4587-44AF-A65F-8CBAAF65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C5D94-2521-44B1-AF19-188FFBBD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882776-4508-4BB4-B95B-94CABBBA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0C8587-132A-4FA1-AC7D-93EABEB0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ABA0DE-C7B2-4848-95AC-5A3E7CA5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91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A3930A-494A-46F3-88CB-96081BB0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78FD7A-7A96-43E2-8961-E0DB15C17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06FC20-C1D3-46B0-BF1E-03D54604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F6D392-6F8A-4414-AA11-638326A9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7B8EB7-22A4-447A-A525-998FA4AE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72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2D765-AEAD-45D9-9508-FB7BE0E0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2A380E-4D39-4CB1-A9B1-CAAAABD80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303AA3-878B-45F8-A4E8-92FA10CD2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C1F139-09FB-4A94-AA83-54F2B93E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2CB685-F91E-4E52-9043-88820ECA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47ED7B-0BBB-48C6-8CBE-10F4733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4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28D6F7-2A01-404A-8E60-308B5B2D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4BC229-0964-4EB2-A32F-3BE569B11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BDD00DB-A2AC-4093-9580-16DB7A585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98E98D9-1B64-42E0-BF51-3948B6593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1B0C13F-E177-4192-B9A6-DEC49612F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F99ADD-F054-4E54-9158-162DB547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242129-DAAA-4FB1-8D26-7248AD72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FDDDDE1-FD8E-4032-A6CC-B2F72DA8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7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A7E1C2-942A-47E2-9A00-0B52E276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FEC29EA-2303-41C4-8179-5DF5AC13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A7E344C-546C-4B5B-948D-F248F196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0CE009-148B-41C4-9070-05067E45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78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4434E9-DB57-4C91-A8E8-AA7E4DE1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CBD5B2-A875-4997-957A-2CACB4E8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AE9AF9-98E2-49BC-890E-C4901C5C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47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F9702-2F89-4C07-A091-A864CF92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9A033B-67CA-4692-9F96-92929D8A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A61FCE-0216-475F-8DCF-C058715F4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370C5D-745A-4EAE-A151-2541003A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6460B0-32D4-4AFB-8A7E-84648250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D132A3-0D89-4417-A7DF-5A8A018E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72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C5306D-49B1-4801-B5D5-82BBCC50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5F20369-2E94-4C2E-B0A1-93ADA101D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C760FC-4E62-42A9-8056-6EE8249B7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BD4D67-FBFA-40B4-9C57-519B88B3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A5B214-3FE3-41C8-BAAF-7E87C796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F60CC2-E109-4719-875D-510BAD1D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1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8099F-549D-41D0-8656-FC0BCFF0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026EBC-D2D7-4484-A574-A0FDADFD8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55BDF0-F4E3-4A78-AC21-5996C787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A58278-9C37-44E9-A992-05A40C4C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F221A9-3DF2-4243-8312-6B441A40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8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407E2F2-53D7-4D47-8536-D902F6532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B11135-92E3-4798-9365-99DC4319D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D66D9F-EC40-4B77-81BD-B3B6ACD4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8EDF41-8BB7-4F4D-866E-39DEF3CE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909E83-6E85-417E-A5C0-394F0D78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64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809FC75-802D-4B19-AFA4-8A8D60B4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E7658D-1874-4965-86A1-F9DC152E3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D7FBAA-F52E-4E99-ABAC-AD4E8AA23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42070-5DAD-4E7E-A6F8-25E560BC7BBC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AA8CD1-761B-436C-81CD-04B671C31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7BE989-E3A2-4C5A-A4B2-D5729A6C5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67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7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0.png"/><Relationship Id="rId7" Type="http://schemas.openxmlformats.org/officeDocument/2006/relationships/image" Target="../media/image3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0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480.png"/><Relationship Id="rId7" Type="http://schemas.openxmlformats.org/officeDocument/2006/relationships/image" Target="../media/image85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0.png"/><Relationship Id="rId10" Type="http://schemas.openxmlformats.org/officeDocument/2006/relationships/image" Target="../media/image1020.png"/><Relationship Id="rId4" Type="http://schemas.openxmlformats.org/officeDocument/2006/relationships/image" Target="../media/image490.png"/><Relationship Id="rId9" Type="http://schemas.openxmlformats.org/officeDocument/2006/relationships/image" Target="../media/image10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0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10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image" Target="../media/image78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9E60B-ABEB-4B38-8D6C-620B64DB3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333" y="868362"/>
            <a:ext cx="11345334" cy="238760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lang="en-US" altLang="zh-TW" sz="2800" b="1" kern="100" dirty="0">
                <a:solidFill>
                  <a:srgbClr val="000000"/>
                </a:solidFill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A Lumped-Parameter Modeling, Calibration, and Capacity-Measure Framework for Flux Generation in Symmetric</a:t>
            </a:r>
            <a:br>
              <a:rPr lang="zh-TW" altLang="zh-TW" sz="2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800" b="1" dirty="0">
                <a:solidFill>
                  <a:srgbClr val="000000"/>
                </a:solidFill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Multipole Electromagnetic Actuators 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406800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0649BF-43EB-4D87-A80C-5D9C6A6A8C91}"/>
                  </a:ext>
                </a:extLst>
              </p:cNvPr>
              <p:cNvSpPr txBox="1"/>
              <p:nvPr/>
            </p:nvSpPr>
            <p:spPr>
              <a:xfrm>
                <a:off x="0" y="628372"/>
                <a:ext cx="11882359" cy="1505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TW" dirty="0"/>
                  <a:t>The convergence criterion is defined as follows: check whether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dirty="0"/>
                  <a:t>remain within ±0.2% of their steady-state values for ten consecutive points. If this condition is satisfied, the first point is taken as the convergence point.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≤150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TW" dirty="0"/>
                  <a:t>Long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0649BF-43EB-4D87-A80C-5D9C6A6A8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8372"/>
                <a:ext cx="11882359" cy="1505669"/>
              </a:xfrm>
              <a:prstGeom prst="rect">
                <a:avLst/>
              </a:prstGeom>
              <a:blipFill>
                <a:blip r:embed="rId2"/>
                <a:stretch>
                  <a:fillRect l="-308" t="-4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群組 74">
            <a:extLst>
              <a:ext uri="{FF2B5EF4-FFF2-40B4-BE49-F238E27FC236}">
                <a16:creationId xmlns:a16="http://schemas.microsoft.com/office/drawing/2014/main" id="{D86FAF83-6C71-44F2-A9A9-CE37D91D3FDD}"/>
              </a:ext>
            </a:extLst>
          </p:cNvPr>
          <p:cNvGrpSpPr/>
          <p:nvPr/>
        </p:nvGrpSpPr>
        <p:grpSpPr>
          <a:xfrm>
            <a:off x="1513277" y="1408280"/>
            <a:ext cx="3465817" cy="2487639"/>
            <a:chOff x="996116" y="1515785"/>
            <a:chExt cx="3040806" cy="2354480"/>
          </a:xfrm>
        </p:grpSpPr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FD354B1E-5AC4-48E2-9ABD-405B30C34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9113" y="1515785"/>
              <a:ext cx="2937809" cy="2336800"/>
            </a:xfrm>
            <a:prstGeom prst="rect">
              <a:avLst/>
            </a:prstGeom>
          </p:spPr>
        </p:pic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720736BF-05DC-4FA3-BD2A-D5906CF89058}"/>
                </a:ext>
              </a:extLst>
            </p:cNvPr>
            <p:cNvGrpSpPr/>
            <p:nvPr/>
          </p:nvGrpSpPr>
          <p:grpSpPr>
            <a:xfrm>
              <a:off x="996116" y="2009108"/>
              <a:ext cx="2379855" cy="1861157"/>
              <a:chOff x="1389288" y="4640962"/>
              <a:chExt cx="2680142" cy="1935001"/>
            </a:xfrm>
          </p:grpSpPr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AAFCFE30-B143-451C-BFFD-844F9CC3C8E4}"/>
                  </a:ext>
                </a:extLst>
              </p:cNvPr>
              <p:cNvGrpSpPr/>
              <p:nvPr/>
            </p:nvGrpSpPr>
            <p:grpSpPr>
              <a:xfrm>
                <a:off x="1492194" y="4640962"/>
                <a:ext cx="2465105" cy="1935001"/>
                <a:chOff x="1486147" y="4539197"/>
                <a:chExt cx="2147943" cy="1632863"/>
              </a:xfrm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0ABEE23-C0F3-4396-A9CE-84BD3E69946C}"/>
                    </a:ext>
                  </a:extLst>
                </p:cNvPr>
                <p:cNvSpPr/>
                <p:nvPr/>
              </p:nvSpPr>
              <p:spPr>
                <a:xfrm>
                  <a:off x="2554490" y="5994549"/>
                  <a:ext cx="1079600" cy="1775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E446723F-AF09-4EBB-8350-A64FF607BED4}"/>
                    </a:ext>
                  </a:extLst>
                </p:cNvPr>
                <p:cNvSpPr/>
                <p:nvPr/>
              </p:nvSpPr>
              <p:spPr>
                <a:xfrm rot="16200000">
                  <a:off x="1030464" y="4994880"/>
                  <a:ext cx="1079600" cy="1682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967F4FBF-AEED-4ECE-9557-6071629C0C5B}"/>
                      </a:ext>
                    </a:extLst>
                  </p:cNvPr>
                  <p:cNvSpPr txBox="1"/>
                  <p:nvPr/>
                </p:nvSpPr>
                <p:spPr>
                  <a:xfrm>
                    <a:off x="2687641" y="6360519"/>
                    <a:ext cx="138178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points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967F4FBF-AEED-4ECE-9557-6071629C0C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7641" y="6360519"/>
                    <a:ext cx="1381789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183" r="-3057" b="-2777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8AD4E5C0-D7AA-4972-A8B5-D3FF74D2338A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906263" y="5209718"/>
                    <a:ext cx="1192585" cy="22653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l-GR" altLang="zh-TW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b="1" dirty="0"/>
                  </a:p>
                </p:txBody>
              </p:sp>
            </mc:Choice>
            <mc:Fallback xmlns="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8AD4E5C0-D7AA-4972-A8B5-D3FF74D233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906263" y="5209718"/>
                    <a:ext cx="1192585" cy="22653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684" r="-2894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表格 79">
                <a:extLst>
                  <a:ext uri="{FF2B5EF4-FFF2-40B4-BE49-F238E27FC236}">
                    <a16:creationId xmlns:a16="http://schemas.microsoft.com/office/drawing/2014/main" id="{27DE5228-C8AB-4329-9CE7-6CB0E321B2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257787"/>
                  </p:ext>
                </p:extLst>
              </p:nvPr>
            </p:nvGraphicFramePr>
            <p:xfrm>
              <a:off x="141513" y="4074743"/>
              <a:ext cx="11243732" cy="28343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9154">
                      <a:extLst>
                        <a:ext uri="{9D8B030D-6E8A-4147-A177-3AD203B41FA5}">
                          <a16:colId xmlns:a16="http://schemas.microsoft.com/office/drawing/2014/main" val="4152913983"/>
                        </a:ext>
                      </a:extLst>
                    </a:gridCol>
                    <a:gridCol w="2486779">
                      <a:extLst>
                        <a:ext uri="{9D8B030D-6E8A-4147-A177-3AD203B41FA5}">
                          <a16:colId xmlns:a16="http://schemas.microsoft.com/office/drawing/2014/main" val="2719724219"/>
                        </a:ext>
                      </a:extLst>
                    </a:gridCol>
                    <a:gridCol w="1989667">
                      <a:extLst>
                        <a:ext uri="{9D8B030D-6E8A-4147-A177-3AD203B41FA5}">
                          <a16:colId xmlns:a16="http://schemas.microsoft.com/office/drawing/2014/main" val="3621208620"/>
                        </a:ext>
                      </a:extLst>
                    </a:gridCol>
                    <a:gridCol w="1955800">
                      <a:extLst>
                        <a:ext uri="{9D8B030D-6E8A-4147-A177-3AD203B41FA5}">
                          <a16:colId xmlns:a16="http://schemas.microsoft.com/office/drawing/2014/main" val="1836300288"/>
                        </a:ext>
                      </a:extLst>
                    </a:gridCol>
                    <a:gridCol w="2582332">
                      <a:extLst>
                        <a:ext uri="{9D8B030D-6E8A-4147-A177-3AD203B41FA5}">
                          <a16:colId xmlns:a16="http://schemas.microsoft.com/office/drawing/2014/main" val="1620865351"/>
                        </a:ext>
                      </a:extLst>
                    </a:gridCol>
                  </a:tblGrid>
                  <a:tr h="859103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Number of points at convergence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at the convergence point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using all nodes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Steady-state value</a:t>
                          </a: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8300422"/>
                      </a:ext>
                    </a:extLst>
                  </a:tr>
                  <a:tr h="42955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Single parameter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TW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(7)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Pre>
                                <m:sPre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(31)</m:t>
                                  </m:r>
                                </m:e>
                              </m:sPr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oMath>
                          </a14:m>
                          <a:r>
                            <a:rPr lang="en-US" altLang="zh-TW" dirty="0"/>
                            <a:t>points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870.59</m:t>
                                </m:r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874.25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871.00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5691140"/>
                      </a:ext>
                    </a:extLst>
                  </a:tr>
                  <a:tr h="429552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9.68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𝑚𝑇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9.67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9.69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670571"/>
                      </a:ext>
                    </a:extLst>
                  </a:tr>
                  <a:tr h="47123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Eighteen parameters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TW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(7)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Pre>
                                <m:sPre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(25)</m:t>
                                  </m:r>
                                </m:e>
                              </m:sPr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oMath>
                          </a14:m>
                          <a:r>
                            <a:rPr lang="en-US" altLang="zh-TW" dirty="0"/>
                            <a:t>points</a:t>
                          </a:r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</a:rPr>
                                  <m:t>867.88</m:t>
                                </m:r>
                                <m:r>
                                  <a:rPr lang="zh-TW" altLang="en-US" sz="1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TW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/>
                            <a:t>873.96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sz="1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868.57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2721735"/>
                      </a:ext>
                    </a:extLst>
                  </a:tr>
                  <a:tr h="58964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</a:rPr>
                                  <m:t>10.65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𝑚𝑇</m:t>
                                    </m:r>
                                  </m:num>
                                  <m:den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400" dirty="0"/>
                        </a:p>
                        <a:p>
                          <a:endParaRPr lang="zh-TW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10.75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10.64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9688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表格 79">
                <a:extLst>
                  <a:ext uri="{FF2B5EF4-FFF2-40B4-BE49-F238E27FC236}">
                    <a16:creationId xmlns:a16="http://schemas.microsoft.com/office/drawing/2014/main" id="{27DE5228-C8AB-4329-9CE7-6CB0E321B2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257787"/>
                  </p:ext>
                </p:extLst>
              </p:nvPr>
            </p:nvGraphicFramePr>
            <p:xfrm>
              <a:off x="141513" y="4074743"/>
              <a:ext cx="11243732" cy="28343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9154">
                      <a:extLst>
                        <a:ext uri="{9D8B030D-6E8A-4147-A177-3AD203B41FA5}">
                          <a16:colId xmlns:a16="http://schemas.microsoft.com/office/drawing/2014/main" val="4152913983"/>
                        </a:ext>
                      </a:extLst>
                    </a:gridCol>
                    <a:gridCol w="2486779">
                      <a:extLst>
                        <a:ext uri="{9D8B030D-6E8A-4147-A177-3AD203B41FA5}">
                          <a16:colId xmlns:a16="http://schemas.microsoft.com/office/drawing/2014/main" val="2719724219"/>
                        </a:ext>
                      </a:extLst>
                    </a:gridCol>
                    <a:gridCol w="1989667">
                      <a:extLst>
                        <a:ext uri="{9D8B030D-6E8A-4147-A177-3AD203B41FA5}">
                          <a16:colId xmlns:a16="http://schemas.microsoft.com/office/drawing/2014/main" val="3621208620"/>
                        </a:ext>
                      </a:extLst>
                    </a:gridCol>
                    <a:gridCol w="1955800">
                      <a:extLst>
                        <a:ext uri="{9D8B030D-6E8A-4147-A177-3AD203B41FA5}">
                          <a16:colId xmlns:a16="http://schemas.microsoft.com/office/drawing/2014/main" val="1836300288"/>
                        </a:ext>
                      </a:extLst>
                    </a:gridCol>
                    <a:gridCol w="2582332">
                      <a:extLst>
                        <a:ext uri="{9D8B030D-6E8A-4147-A177-3AD203B41FA5}">
                          <a16:colId xmlns:a16="http://schemas.microsoft.com/office/drawing/2014/main" val="162086535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Number of points at convergence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at the convergence point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using all nodes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Steady-state value</a:t>
                          </a: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8300422"/>
                      </a:ext>
                    </a:extLst>
                  </a:tr>
                  <a:tr h="42955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Single parameter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9951" t="-109155" r="-262990" b="-17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237730" t="-218310" r="-229141" b="-445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42991" t="-218310" r="-132710" b="-445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35377" t="-218310" r="-472" b="-445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691140"/>
                      </a:ext>
                    </a:extLst>
                  </a:tr>
                  <a:tr h="429552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237730" t="-318310" r="-229141" b="-345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42991" t="-318310" r="-132710" b="-345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35377" t="-318310" r="-472" b="-345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670571"/>
                      </a:ext>
                    </a:extLst>
                  </a:tr>
                  <a:tr h="47123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Eighteen parameters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9951" t="-170690" r="-262990" b="-40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237730" t="-385714" r="-229141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42991" t="-385714" r="-132710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35377" t="-385714" r="-472" b="-2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721735"/>
                      </a:ext>
                    </a:extLst>
                  </a:tr>
                  <a:tr h="58964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237730" t="-385567" r="-229141" b="-73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42991" t="-385567" r="-132710" b="-73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335377" t="-385567" r="-472" b="-731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968875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0" name="群組 79">
            <a:extLst>
              <a:ext uri="{FF2B5EF4-FFF2-40B4-BE49-F238E27FC236}">
                <a16:creationId xmlns:a16="http://schemas.microsoft.com/office/drawing/2014/main" id="{07E1DE7F-8667-4E40-9FF9-EC0BF03225E2}"/>
              </a:ext>
            </a:extLst>
          </p:cNvPr>
          <p:cNvGrpSpPr/>
          <p:nvPr/>
        </p:nvGrpSpPr>
        <p:grpSpPr>
          <a:xfrm>
            <a:off x="6790269" y="1397253"/>
            <a:ext cx="3280915" cy="2635137"/>
            <a:chOff x="6790269" y="1397253"/>
            <a:chExt cx="3280915" cy="2635137"/>
          </a:xfrm>
        </p:grpSpPr>
        <p:pic>
          <p:nvPicPr>
            <p:cNvPr id="81" name="圖片 80">
              <a:extLst>
                <a:ext uri="{FF2B5EF4-FFF2-40B4-BE49-F238E27FC236}">
                  <a16:creationId xmlns:a16="http://schemas.microsoft.com/office/drawing/2014/main" id="{7C682775-00F5-4A51-8677-0CD28E137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009" y="1397253"/>
              <a:ext cx="3232175" cy="2576963"/>
            </a:xfrm>
            <a:prstGeom prst="rect">
              <a:avLst/>
            </a:prstGeom>
          </p:spPr>
        </p:pic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E2651C6C-43D7-465C-B5AD-321BE42BEEFE}"/>
                </a:ext>
              </a:extLst>
            </p:cNvPr>
            <p:cNvGrpSpPr/>
            <p:nvPr/>
          </p:nvGrpSpPr>
          <p:grpSpPr>
            <a:xfrm>
              <a:off x="6790269" y="1894187"/>
              <a:ext cx="2438388" cy="2138203"/>
              <a:chOff x="7266335" y="3894155"/>
              <a:chExt cx="3140977" cy="2586756"/>
            </a:xfrm>
          </p:grpSpPr>
          <p:grpSp>
            <p:nvGrpSpPr>
              <p:cNvPr id="83" name="群組 82">
                <a:extLst>
                  <a:ext uri="{FF2B5EF4-FFF2-40B4-BE49-F238E27FC236}">
                    <a16:creationId xmlns:a16="http://schemas.microsoft.com/office/drawing/2014/main" id="{0CEFA7DD-E438-48D2-A83A-E0A11F19CCC5}"/>
                  </a:ext>
                </a:extLst>
              </p:cNvPr>
              <p:cNvGrpSpPr/>
              <p:nvPr/>
            </p:nvGrpSpPr>
            <p:grpSpPr>
              <a:xfrm>
                <a:off x="7266335" y="3894155"/>
                <a:ext cx="3140977" cy="2586756"/>
                <a:chOff x="7266335" y="3894155"/>
                <a:chExt cx="3140977" cy="2586756"/>
              </a:xfrm>
            </p:grpSpPr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30F3B9D2-A051-4B9E-ACC6-FEDC90BD9567}"/>
                    </a:ext>
                  </a:extLst>
                </p:cNvPr>
                <p:cNvSpPr/>
                <p:nvPr/>
              </p:nvSpPr>
              <p:spPr>
                <a:xfrm>
                  <a:off x="8529773" y="6150711"/>
                  <a:ext cx="1877539" cy="330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8F0EB494-A255-4B02-9B67-D255F74EE699}"/>
                    </a:ext>
                  </a:extLst>
                </p:cNvPr>
                <p:cNvSpPr/>
                <p:nvPr/>
              </p:nvSpPr>
              <p:spPr>
                <a:xfrm rot="16200000">
                  <a:off x="6492665" y="4667825"/>
                  <a:ext cx="1877540" cy="330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字方塊 83">
                    <a:extLst>
                      <a:ext uri="{FF2B5EF4-FFF2-40B4-BE49-F238E27FC236}">
                        <a16:creationId xmlns:a16="http://schemas.microsoft.com/office/drawing/2014/main" id="{961C4197-04ED-4E39-A665-743311B9C9C4}"/>
                      </a:ext>
                    </a:extLst>
                  </p:cNvPr>
                  <p:cNvSpPr txBox="1"/>
                  <p:nvPr/>
                </p:nvSpPr>
                <p:spPr>
                  <a:xfrm>
                    <a:off x="8759268" y="6133630"/>
                    <a:ext cx="138179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points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84" name="文字方塊 83">
                    <a:extLst>
                      <a:ext uri="{FF2B5EF4-FFF2-40B4-BE49-F238E27FC236}">
                        <a16:creationId xmlns:a16="http://schemas.microsoft.com/office/drawing/2014/main" id="{961C4197-04ED-4E39-A665-743311B9C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59268" y="6133630"/>
                    <a:ext cx="1381790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682" r="-30682" b="-53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B5CC545B-EFF3-4D2D-831B-790E602EA4C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931619" y="4658774"/>
                    <a:ext cx="999633" cy="23750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Pre>
                            <m:sPre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sPr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type m:val="lin"/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𝑚𝑇</m:t>
                              </m:r>
                            </m:num>
                            <m:den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B5CC545B-EFF3-4D2D-831B-790E602EA4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931619" y="4658774"/>
                    <a:ext cx="999633" cy="23750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73333" t="-59259" r="-313333" b="-74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4302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0649BF-43EB-4D87-A80C-5D9C6A6A8C91}"/>
                  </a:ext>
                </a:extLst>
              </p:cNvPr>
              <p:cNvSpPr txBox="1"/>
              <p:nvPr/>
            </p:nvSpPr>
            <p:spPr>
              <a:xfrm>
                <a:off x="0" y="628372"/>
                <a:ext cx="11882359" cy="1228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TW" dirty="0"/>
                  <a:t>The convergence criterion is defined as follows: check whether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dirty="0"/>
                  <a:t>remain within ±0.2% of their steady-state values for ten consecutive points. If this condition is satisfied, the first point is taken as the convergence point.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≤150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TW" dirty="0" err="1"/>
                  <a:t>Zhi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peng</a:t>
                </a:r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0649BF-43EB-4D87-A80C-5D9C6A6A8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8372"/>
                <a:ext cx="11882359" cy="1228670"/>
              </a:xfrm>
              <a:prstGeom prst="rect">
                <a:avLst/>
              </a:prstGeom>
              <a:blipFill>
                <a:blip r:embed="rId2"/>
                <a:stretch>
                  <a:fillRect l="-308" t="-4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8">
            <a:extLst>
              <a:ext uri="{FF2B5EF4-FFF2-40B4-BE49-F238E27FC236}">
                <a16:creationId xmlns:a16="http://schemas.microsoft.com/office/drawing/2014/main" id="{F9AFFE33-E354-4DA3-A780-91F7EFC555AE}"/>
              </a:ext>
            </a:extLst>
          </p:cNvPr>
          <p:cNvGrpSpPr/>
          <p:nvPr/>
        </p:nvGrpSpPr>
        <p:grpSpPr>
          <a:xfrm>
            <a:off x="1606106" y="1318452"/>
            <a:ext cx="3240016" cy="2547052"/>
            <a:chOff x="1606106" y="1318452"/>
            <a:chExt cx="3240016" cy="254705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423F1FA-8E35-48C3-A7B2-E41272D71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6683" y="1318452"/>
              <a:ext cx="3139439" cy="2497181"/>
            </a:xfrm>
            <a:prstGeom prst="rect">
              <a:avLst/>
            </a:prstGeom>
          </p:spPr>
        </p:pic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720736BF-05DC-4FA3-BD2A-D5906CF89058}"/>
                </a:ext>
              </a:extLst>
            </p:cNvPr>
            <p:cNvGrpSpPr/>
            <p:nvPr/>
          </p:nvGrpSpPr>
          <p:grpSpPr>
            <a:xfrm>
              <a:off x="1606106" y="1833718"/>
              <a:ext cx="2495958" cy="2031786"/>
              <a:chOff x="2076246" y="4458613"/>
              <a:chExt cx="2810894" cy="2112400"/>
            </a:xfrm>
          </p:grpSpPr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AAFCFE30-B143-451C-BFFD-844F9CC3C8E4}"/>
                  </a:ext>
                </a:extLst>
              </p:cNvPr>
              <p:cNvGrpSpPr/>
              <p:nvPr/>
            </p:nvGrpSpPr>
            <p:grpSpPr>
              <a:xfrm>
                <a:off x="2179430" y="4458613"/>
                <a:ext cx="2697628" cy="2112400"/>
                <a:chOff x="2084963" y="4385322"/>
                <a:chExt cx="2350549" cy="1782563"/>
              </a:xfrm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0ABEE23-C0F3-4396-A9CE-84BD3E69946C}"/>
                    </a:ext>
                  </a:extLst>
                </p:cNvPr>
                <p:cNvSpPr/>
                <p:nvPr/>
              </p:nvSpPr>
              <p:spPr>
                <a:xfrm>
                  <a:off x="3231506" y="5986081"/>
                  <a:ext cx="1204006" cy="1818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E446723F-AF09-4EBB-8350-A64FF607BED4}"/>
                    </a:ext>
                  </a:extLst>
                </p:cNvPr>
                <p:cNvSpPr/>
                <p:nvPr/>
              </p:nvSpPr>
              <p:spPr>
                <a:xfrm rot="16200000">
                  <a:off x="1629280" y="4841005"/>
                  <a:ext cx="1079600" cy="1682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967F4FBF-AEED-4ECE-9557-6071629C0C5B}"/>
                      </a:ext>
                    </a:extLst>
                  </p:cNvPr>
                  <p:cNvSpPr txBox="1"/>
                  <p:nvPr/>
                </p:nvSpPr>
                <p:spPr>
                  <a:xfrm>
                    <a:off x="3505351" y="6338349"/>
                    <a:ext cx="138178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points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967F4FBF-AEED-4ECE-9557-6071629C0C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5351" y="6338349"/>
                    <a:ext cx="1381789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473" r="-14428" b="-3529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8AD4E5C0-D7AA-4972-A8B5-D3FF74D2338A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1593221" y="5038145"/>
                    <a:ext cx="1192585" cy="22653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l-GR" altLang="zh-TW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b="1" dirty="0"/>
                  </a:p>
                </p:txBody>
              </p:sp>
            </mc:Choice>
            <mc:Fallback xmlns="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8AD4E5C0-D7AA-4972-A8B5-D3FF74D233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593221" y="5038145"/>
                    <a:ext cx="1192585" cy="22653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7273" r="-4848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5606E3BA-615C-4B7F-ABF4-9DA19CC61C10}"/>
              </a:ext>
            </a:extLst>
          </p:cNvPr>
          <p:cNvGrpSpPr/>
          <p:nvPr/>
        </p:nvGrpSpPr>
        <p:grpSpPr>
          <a:xfrm>
            <a:off x="6731005" y="1321690"/>
            <a:ext cx="3359446" cy="2710700"/>
            <a:chOff x="6731005" y="1321690"/>
            <a:chExt cx="3359446" cy="2710700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0F32703-5442-4029-857A-E01F5BFB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0269" y="1321690"/>
              <a:ext cx="3300182" cy="2631184"/>
            </a:xfrm>
            <a:prstGeom prst="rect">
              <a:avLst/>
            </a:prstGeom>
          </p:spPr>
        </p:pic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CA03B68E-6DE4-4661-8AF0-D6EB397A3943}"/>
                </a:ext>
              </a:extLst>
            </p:cNvPr>
            <p:cNvGrpSpPr/>
            <p:nvPr/>
          </p:nvGrpSpPr>
          <p:grpSpPr>
            <a:xfrm>
              <a:off x="6731005" y="1894187"/>
              <a:ext cx="2497653" cy="2138203"/>
              <a:chOff x="7189994" y="3894155"/>
              <a:chExt cx="3217318" cy="2586756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FADE59AD-F7C1-43E5-87D0-AF71B5D8F8DE}"/>
                  </a:ext>
                </a:extLst>
              </p:cNvPr>
              <p:cNvGrpSpPr/>
              <p:nvPr/>
            </p:nvGrpSpPr>
            <p:grpSpPr>
              <a:xfrm>
                <a:off x="7189994" y="3894155"/>
                <a:ext cx="3217318" cy="2586756"/>
                <a:chOff x="7189994" y="3894155"/>
                <a:chExt cx="3217318" cy="2586756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D626DE7A-F9C6-47BF-9503-E4D79EF03BB4}"/>
                    </a:ext>
                  </a:extLst>
                </p:cNvPr>
                <p:cNvSpPr/>
                <p:nvPr/>
              </p:nvSpPr>
              <p:spPr>
                <a:xfrm>
                  <a:off x="8529773" y="6150711"/>
                  <a:ext cx="1877539" cy="330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40789712-EA39-472C-851C-CF16838DED38}"/>
                    </a:ext>
                  </a:extLst>
                </p:cNvPr>
                <p:cNvSpPr/>
                <p:nvPr/>
              </p:nvSpPr>
              <p:spPr>
                <a:xfrm rot="16200000">
                  <a:off x="6416324" y="4667825"/>
                  <a:ext cx="1877540" cy="330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D25B04E1-24E0-409C-A4AE-39A474367A3E}"/>
                      </a:ext>
                    </a:extLst>
                  </p:cNvPr>
                  <p:cNvSpPr txBox="1"/>
                  <p:nvPr/>
                </p:nvSpPr>
                <p:spPr>
                  <a:xfrm>
                    <a:off x="8759268" y="6133630"/>
                    <a:ext cx="138179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points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D25B04E1-24E0-409C-A4AE-39A474367A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59268" y="6133630"/>
                    <a:ext cx="1381790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682" r="-30682" b="-53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8826BDEB-84BE-4C7C-A660-0692872B3F34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855279" y="4577434"/>
                    <a:ext cx="999633" cy="2375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Pre>
                            <m:sPre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sPr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type m:val="lin"/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𝑚𝑇</m:t>
                              </m:r>
                            </m:num>
                            <m:den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8826BDEB-84BE-4C7C-A660-0692872B3F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855279" y="4577434"/>
                    <a:ext cx="999633" cy="23750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70000" t="-59259" r="-316667" b="-74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79">
                <a:extLst>
                  <a:ext uri="{FF2B5EF4-FFF2-40B4-BE49-F238E27FC236}">
                    <a16:creationId xmlns:a16="http://schemas.microsoft.com/office/drawing/2014/main" id="{73C431D0-348A-459A-81C5-DACFC9FEA1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6560238"/>
                  </p:ext>
                </p:extLst>
              </p:nvPr>
            </p:nvGraphicFramePr>
            <p:xfrm>
              <a:off x="226180" y="4011360"/>
              <a:ext cx="11243732" cy="28343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9154">
                      <a:extLst>
                        <a:ext uri="{9D8B030D-6E8A-4147-A177-3AD203B41FA5}">
                          <a16:colId xmlns:a16="http://schemas.microsoft.com/office/drawing/2014/main" val="4152913983"/>
                        </a:ext>
                      </a:extLst>
                    </a:gridCol>
                    <a:gridCol w="2486779">
                      <a:extLst>
                        <a:ext uri="{9D8B030D-6E8A-4147-A177-3AD203B41FA5}">
                          <a16:colId xmlns:a16="http://schemas.microsoft.com/office/drawing/2014/main" val="2719724219"/>
                        </a:ext>
                      </a:extLst>
                    </a:gridCol>
                    <a:gridCol w="1989667">
                      <a:extLst>
                        <a:ext uri="{9D8B030D-6E8A-4147-A177-3AD203B41FA5}">
                          <a16:colId xmlns:a16="http://schemas.microsoft.com/office/drawing/2014/main" val="3621208620"/>
                        </a:ext>
                      </a:extLst>
                    </a:gridCol>
                    <a:gridCol w="1955800">
                      <a:extLst>
                        <a:ext uri="{9D8B030D-6E8A-4147-A177-3AD203B41FA5}">
                          <a16:colId xmlns:a16="http://schemas.microsoft.com/office/drawing/2014/main" val="1836300288"/>
                        </a:ext>
                      </a:extLst>
                    </a:gridCol>
                    <a:gridCol w="2582332">
                      <a:extLst>
                        <a:ext uri="{9D8B030D-6E8A-4147-A177-3AD203B41FA5}">
                          <a16:colId xmlns:a16="http://schemas.microsoft.com/office/drawing/2014/main" val="1620865351"/>
                        </a:ext>
                      </a:extLst>
                    </a:gridCol>
                  </a:tblGrid>
                  <a:tr h="859103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Number of points at convergence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at the convergence point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using all nodes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Steady-state value</a:t>
                          </a: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8300422"/>
                      </a:ext>
                    </a:extLst>
                  </a:tr>
                  <a:tr h="42955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Single parameter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TW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(7)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Pre>
                                <m:sPre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(13)</m:t>
                                  </m:r>
                                </m:e>
                              </m:sPr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oMath>
                          </a14:m>
                          <a:r>
                            <a:rPr lang="en-US" altLang="zh-TW" dirty="0"/>
                            <a:t>points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744.24</m:t>
                                </m:r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7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45.01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7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44.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66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5691140"/>
                      </a:ext>
                    </a:extLst>
                  </a:tr>
                  <a:tr h="429552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33.58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𝑚𝑇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3.09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3.5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670571"/>
                      </a:ext>
                    </a:extLst>
                  </a:tr>
                  <a:tr h="47123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Eighteen parameters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TW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(7)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Pre>
                                <m:sPre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(7)</m:t>
                                  </m:r>
                                </m:e>
                              </m:sPr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oMath>
                          </a14:m>
                          <a:r>
                            <a:rPr lang="en-US" altLang="zh-TW" dirty="0"/>
                            <a:t>points</a:t>
                          </a:r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</a:rPr>
                                  <m:t>597.62</m:t>
                                </m:r>
                                <m:r>
                                  <a:rPr lang="zh-TW" altLang="en-US" sz="1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TW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400" dirty="0"/>
                            <a:t>6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0" i="0" smtClean="0">
                                  <a:latin typeface="Cambria Math" panose="02040503050406030204" pitchFamily="18" charset="0"/>
                                </a:rPr>
                                <m:t>04.14</m:t>
                              </m:r>
                              <m:r>
                                <a:rPr lang="zh-TW" altLang="en-US" sz="1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97.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2721735"/>
                      </a:ext>
                    </a:extLst>
                  </a:tr>
                  <a:tr h="58964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</a:rPr>
                                  <m:t>37.38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𝑚𝑇</m:t>
                                    </m:r>
                                  </m:num>
                                  <m:den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400" dirty="0"/>
                        </a:p>
                        <a:p>
                          <a:endParaRPr lang="zh-TW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7.56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7.3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9688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79">
                <a:extLst>
                  <a:ext uri="{FF2B5EF4-FFF2-40B4-BE49-F238E27FC236}">
                    <a16:creationId xmlns:a16="http://schemas.microsoft.com/office/drawing/2014/main" id="{73C431D0-348A-459A-81C5-DACFC9FEA1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6560238"/>
                  </p:ext>
                </p:extLst>
              </p:nvPr>
            </p:nvGraphicFramePr>
            <p:xfrm>
              <a:off x="226180" y="4011360"/>
              <a:ext cx="11243732" cy="28343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9154">
                      <a:extLst>
                        <a:ext uri="{9D8B030D-6E8A-4147-A177-3AD203B41FA5}">
                          <a16:colId xmlns:a16="http://schemas.microsoft.com/office/drawing/2014/main" val="4152913983"/>
                        </a:ext>
                      </a:extLst>
                    </a:gridCol>
                    <a:gridCol w="2486779">
                      <a:extLst>
                        <a:ext uri="{9D8B030D-6E8A-4147-A177-3AD203B41FA5}">
                          <a16:colId xmlns:a16="http://schemas.microsoft.com/office/drawing/2014/main" val="2719724219"/>
                        </a:ext>
                      </a:extLst>
                    </a:gridCol>
                    <a:gridCol w="1989667">
                      <a:extLst>
                        <a:ext uri="{9D8B030D-6E8A-4147-A177-3AD203B41FA5}">
                          <a16:colId xmlns:a16="http://schemas.microsoft.com/office/drawing/2014/main" val="3621208620"/>
                        </a:ext>
                      </a:extLst>
                    </a:gridCol>
                    <a:gridCol w="1955800">
                      <a:extLst>
                        <a:ext uri="{9D8B030D-6E8A-4147-A177-3AD203B41FA5}">
                          <a16:colId xmlns:a16="http://schemas.microsoft.com/office/drawing/2014/main" val="1836300288"/>
                        </a:ext>
                      </a:extLst>
                    </a:gridCol>
                    <a:gridCol w="2582332">
                      <a:extLst>
                        <a:ext uri="{9D8B030D-6E8A-4147-A177-3AD203B41FA5}">
                          <a16:colId xmlns:a16="http://schemas.microsoft.com/office/drawing/2014/main" val="162086535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Number of points at convergence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at the convergence point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Calibration value using all nodes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Steady-state value</a:t>
                          </a: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8300422"/>
                      </a:ext>
                    </a:extLst>
                  </a:tr>
                  <a:tr h="42955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Single parameter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89951" t="-109929" r="-262990" b="-173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237730" t="-221429" r="-229141" b="-4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42991" t="-221429" r="-132710" b="-4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35377" t="-221429" r="-472" b="-45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691140"/>
                      </a:ext>
                    </a:extLst>
                  </a:tr>
                  <a:tr h="429552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237730" t="-316901" r="-229141" b="-345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42991" t="-316901" r="-132710" b="-345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35377" t="-316901" r="-472" b="-345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670571"/>
                      </a:ext>
                    </a:extLst>
                  </a:tr>
                  <a:tr h="47123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Eighteen parameters</a:t>
                          </a:r>
                          <a:endParaRPr lang="zh-TW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89951" t="-170115" r="-262990" b="-40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237730" t="-384416" r="-229141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42991" t="-384416" r="-132710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35377" t="-384416" r="-472" b="-2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721735"/>
                      </a:ext>
                    </a:extLst>
                  </a:tr>
                  <a:tr h="58964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237730" t="-384536" r="-229141" b="-73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42991" t="-384536" r="-132710" b="-73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35377" t="-384536" r="-472" b="-731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96887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286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1ACE95C-3F52-4F1D-AC27-AFA6A8DD7680}"/>
              </a:ext>
            </a:extLst>
          </p:cNvPr>
          <p:cNvSpPr txBox="1"/>
          <p:nvPr/>
        </p:nvSpPr>
        <p:spPr>
          <a:xfrm>
            <a:off x="27458" y="552713"/>
            <a:ext cx="454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BD9F285-E19C-4465-9425-57DFB03A945C}"/>
              </a:ext>
            </a:extLst>
          </p:cNvPr>
          <p:cNvSpPr txBox="1"/>
          <p:nvPr/>
        </p:nvSpPr>
        <p:spPr>
          <a:xfrm>
            <a:off x="0" y="1461543"/>
            <a:ext cx="4529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  <a:p>
            <a:pPr lvl="1"/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F5288B6-F08B-4647-BEC2-1ED8DF629DA3}"/>
                  </a:ext>
                </a:extLst>
              </p:cNvPr>
              <p:cNvSpPr txBox="1"/>
              <p:nvPr/>
            </p:nvSpPr>
            <p:spPr>
              <a:xfrm>
                <a:off x="8545338" y="457425"/>
                <a:ext cx="3564053" cy="321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𝐶𝑎𝑙𝑖𝑏𝑟𝑎𝑡𝑒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Pre>
                        <m:sPre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F5288B6-F08B-4647-BEC2-1ED8DF629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338" y="457425"/>
                <a:ext cx="3564053" cy="321563"/>
              </a:xfrm>
              <a:prstGeom prst="rect">
                <a:avLst/>
              </a:prstGeom>
              <a:blipFill>
                <a:blip r:embed="rId2"/>
                <a:stretch>
                  <a:fillRect l="-1199" t="-13208" r="-5308" b="-226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3B29A552-EA7E-4837-AF53-D95DAEFD34FD}"/>
              </a:ext>
            </a:extLst>
          </p:cNvPr>
          <p:cNvSpPr txBox="1"/>
          <p:nvPr/>
        </p:nvSpPr>
        <p:spPr>
          <a:xfrm>
            <a:off x="27458" y="2052543"/>
            <a:ext cx="36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 parameter(31 points)</a:t>
            </a:r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5B7ED82-92AC-4C16-A18D-D2B3CA5A27F5}"/>
              </a:ext>
            </a:extLst>
          </p:cNvPr>
          <p:cNvSpPr txBox="1"/>
          <p:nvPr/>
        </p:nvSpPr>
        <p:spPr>
          <a:xfrm>
            <a:off x="27458" y="4066794"/>
            <a:ext cx="483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Eighteen parameters(25 points)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2D9CBB1-3EEA-4EB4-8FCC-FD3C5EFFA05F}"/>
                  </a:ext>
                </a:extLst>
              </p:cNvPr>
              <p:cNvSpPr txBox="1"/>
              <p:nvPr/>
            </p:nvSpPr>
            <p:spPr>
              <a:xfrm>
                <a:off x="154577" y="887936"/>
                <a:ext cx="70420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≤150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𝑢𝑚</m:t>
                    </m:r>
                  </m:oMath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Calibration results obtained using the interpolation points determined above.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Long calibrate results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2D9CBB1-3EEA-4EB4-8FCC-FD3C5EFFA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7" y="887936"/>
                <a:ext cx="7042090" cy="1200329"/>
              </a:xfrm>
              <a:prstGeom prst="rect">
                <a:avLst/>
              </a:prstGeom>
              <a:blipFill>
                <a:blip r:embed="rId3"/>
                <a:stretch>
                  <a:fillRect l="-519" t="-1523" r="-519" b="-7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LF_s_mat"/>
              <p:cNvSpPr txBox="1"/>
              <p:nvPr/>
            </p:nvSpPr>
            <p:spPr>
              <a:xfrm>
                <a:off x="460000" y="245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−0.0957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−0.2134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0.9601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−0.1889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−0.1679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−0.2057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−0.1513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0.9554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−0.1552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0.9542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−0.1016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0.8265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8" name="LF_s_ma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00" y="245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LF_s_sc"/>
              <p:cNvSpPr txBox="1"/>
              <p:nvPr/>
            </p:nvSpPr>
            <p:spPr>
              <a:xfrm>
                <a:off x="5300000" y="260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870.6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9.68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49" name="LF_s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2600000"/>
                <a:ext cx="3457787" cy="310896"/>
              </a:xfrm>
              <a:prstGeom prst="rect">
                <a:avLst/>
              </a:prstGeom>
              <a:blipFill>
                <a:blip r:embed="rId4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LF_s_nmae"/>
              <p:cNvSpPr txBox="1"/>
              <p:nvPr/>
            </p:nvSpPr>
            <p:spPr>
              <a:xfrm>
                <a:off x="5300000" y="3050000"/>
                <a:ext cx="4191000" cy="5495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</a:rPr>
                        <m:t>NMAE</m:t>
                      </m:r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Pre>
                                        <m:sPre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PrePr>
                                        <m:sub/>
                                        <m: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𝑔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sub>
                                          </m:sSub>
                                        </m:e>
                                      </m:sPr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%=2.81%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0" name="LF_s_nma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3050000"/>
                <a:ext cx="4191000" cy="549509"/>
              </a:xfrm>
              <a:prstGeom prst="rect">
                <a:avLst/>
              </a:prstGeom>
              <a:blipFill>
                <a:blip r:embed="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LF_e_mat"/>
              <p:cNvSpPr txBox="1"/>
              <p:nvPr/>
            </p:nvSpPr>
            <p:spPr>
              <a:xfrm>
                <a:off x="460000" y="4480000"/>
                <a:ext cx="4524587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−0.2057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−0.1249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−0.1307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−0.1972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0.8441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−0.1363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−0.2042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−0.1256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−0.1397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0.8414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−0.1256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−0.2067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−0.2096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0.8517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−0.1303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0.8392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1" name="LF_e_ma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00" y="4480000"/>
                <a:ext cx="4524587" cy="1115568"/>
              </a:xfrm>
              <a:prstGeom prst="rect">
                <a:avLst/>
              </a:prstGeom>
              <a:blipFill>
                <a:blip r:embed=""/>
                <a:stretch>
                  <a:fillRect l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F_e_sc"/>
              <p:cNvSpPr txBox="1"/>
              <p:nvPr/>
            </p:nvSpPr>
            <p:spPr>
              <a:xfrm>
                <a:off x="5300000" y="463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867.9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10.65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52" name="LF_e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4630000"/>
                <a:ext cx="3457787" cy="310896"/>
              </a:xfrm>
              <a:prstGeom prst="rect">
                <a:avLst/>
              </a:prstGeom>
              <a:blipFill>
                <a:blip r:embed="rId5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F_e_nmae"/>
              <p:cNvSpPr txBox="1"/>
              <p:nvPr/>
            </p:nvSpPr>
            <p:spPr>
              <a:xfrm>
                <a:off x="5235787" y="5155433"/>
                <a:ext cx="4191000" cy="5495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</a:rPr>
                        <m:t>NMAE</m:t>
                      </m:r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Pre>
                                        <m:sPre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PrePr>
                                        <m:sub/>
                                        <m: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𝑔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sub>
                                          </m:sSub>
                                        </m:e>
                                      </m:sPr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%=0.33%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3" name="LF_e_nma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87" y="5155433"/>
                <a:ext cx="4191000" cy="5495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F_e_bias"/>
              <p:cNvSpPr txBox="1"/>
              <p:nvPr/>
            </p:nvSpPr>
            <p:spPr>
              <a:xfrm>
                <a:off x="0" y="5847727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0.0140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0.0208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0.1153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0.1160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−0.0177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4" name="LF_e_bia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847727"/>
                <a:ext cx="5235787" cy="566928"/>
              </a:xfrm>
              <a:prstGeom prst="rect">
                <a:avLst/>
              </a:prstGeom>
              <a:blipFill>
                <a:blip r:embed="rId7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39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1ACE95C-3F52-4F1D-AC27-AFA6A8DD7680}"/>
              </a:ext>
            </a:extLst>
          </p:cNvPr>
          <p:cNvSpPr txBox="1"/>
          <p:nvPr/>
        </p:nvSpPr>
        <p:spPr>
          <a:xfrm>
            <a:off x="27458" y="552713"/>
            <a:ext cx="454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BD9F285-E19C-4465-9425-57DFB03A945C}"/>
              </a:ext>
            </a:extLst>
          </p:cNvPr>
          <p:cNvSpPr txBox="1"/>
          <p:nvPr/>
        </p:nvSpPr>
        <p:spPr>
          <a:xfrm>
            <a:off x="0" y="1461543"/>
            <a:ext cx="4529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  <a:p>
            <a:pPr lvl="1"/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F5288B6-F08B-4647-BEC2-1ED8DF629DA3}"/>
                  </a:ext>
                </a:extLst>
              </p:cNvPr>
              <p:cNvSpPr txBox="1"/>
              <p:nvPr/>
            </p:nvSpPr>
            <p:spPr>
              <a:xfrm>
                <a:off x="8545338" y="457425"/>
                <a:ext cx="3564053" cy="321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𝐶𝑎𝑙𝑖𝑏𝑟𝑎𝑡𝑒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Pre>
                        <m:sPre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F5288B6-F08B-4647-BEC2-1ED8DF629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338" y="457425"/>
                <a:ext cx="3564053" cy="321563"/>
              </a:xfrm>
              <a:prstGeom prst="rect">
                <a:avLst/>
              </a:prstGeom>
              <a:blipFill>
                <a:blip r:embed="rId2"/>
                <a:stretch>
                  <a:fillRect l="-1199" t="-13208" r="-5308" b="-226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3B29A552-EA7E-4837-AF53-D95DAEFD34FD}"/>
              </a:ext>
            </a:extLst>
          </p:cNvPr>
          <p:cNvSpPr txBox="1"/>
          <p:nvPr/>
        </p:nvSpPr>
        <p:spPr>
          <a:xfrm>
            <a:off x="27458" y="2052543"/>
            <a:ext cx="36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 parameter(13 points)</a:t>
            </a:r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5B7ED82-92AC-4C16-A18D-D2B3CA5A27F5}"/>
              </a:ext>
            </a:extLst>
          </p:cNvPr>
          <p:cNvSpPr txBox="1"/>
          <p:nvPr/>
        </p:nvSpPr>
        <p:spPr>
          <a:xfrm>
            <a:off x="32720" y="4251460"/>
            <a:ext cx="483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Eighteen parameters(7 points)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2D9CBB1-3EEA-4EB4-8FCC-FD3C5EFFA05F}"/>
                  </a:ext>
                </a:extLst>
              </p:cNvPr>
              <p:cNvSpPr txBox="1"/>
              <p:nvPr/>
            </p:nvSpPr>
            <p:spPr>
              <a:xfrm>
                <a:off x="154577" y="887936"/>
                <a:ext cx="70420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≤150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𝑢𝑚</m:t>
                    </m:r>
                  </m:oMath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Calibration results obtained using the interpolation points determined above.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 err="1"/>
                  <a:t>Zhi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peng</a:t>
                </a:r>
                <a:r>
                  <a:rPr lang="en-US" altLang="zh-TW" dirty="0"/>
                  <a:t> calibrate results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2D9CBB1-3EEA-4EB4-8FCC-FD3C5EFFA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7" y="887936"/>
                <a:ext cx="7042090" cy="1200329"/>
              </a:xfrm>
              <a:prstGeom prst="rect">
                <a:avLst/>
              </a:prstGeom>
              <a:blipFill>
                <a:blip r:embed="rId3"/>
                <a:stretch>
                  <a:fillRect l="-519" t="-1523" r="-519" b="-7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P_s_mat"/>
              <p:cNvSpPr txBox="1"/>
              <p:nvPr/>
            </p:nvSpPr>
            <p:spPr>
              <a:xfrm>
                <a:off x="460000" y="245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−0.2206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−0.2203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−0.1074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−0.2483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−0.0993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−0.0993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−0.2525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0.7369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−0.2524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−0.2386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0.7359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−0.0993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−0.2357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−0.0716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0.7447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8" name="ZP_s_ma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00" y="245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P_s_sc"/>
              <p:cNvSpPr txBox="1"/>
              <p:nvPr/>
            </p:nvSpPr>
            <p:spPr>
              <a:xfrm>
                <a:off x="5300000" y="260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744.2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33.58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49" name="ZP_s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2600000"/>
                <a:ext cx="3457787" cy="310896"/>
              </a:xfrm>
              <a:prstGeom prst="rect">
                <a:avLst/>
              </a:prstGeom>
              <a:blipFill>
                <a:blip r:embed="rId4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P_s_nmae"/>
              <p:cNvSpPr txBox="1"/>
              <p:nvPr/>
            </p:nvSpPr>
            <p:spPr>
              <a:xfrm>
                <a:off x="5300000" y="3050000"/>
                <a:ext cx="4191000" cy="5495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</a:rPr>
                        <m:t>NMAE</m:t>
                      </m:r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Pre>
                                        <m:sPre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PrePr>
                                        <m:sub/>
                                        <m: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𝑔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sub>
                                          </m:sSub>
                                        </m:e>
                                      </m:sPr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%=10.53%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0" name="ZP_s_nma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3050000"/>
                <a:ext cx="4191000" cy="549509"/>
              </a:xfrm>
              <a:prstGeom prst="rect">
                <a:avLst/>
              </a:prstGeom>
              <a:blipFill>
                <a:blip r:embed="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P_e_mat"/>
              <p:cNvSpPr txBox="1"/>
              <p:nvPr/>
            </p:nvSpPr>
            <p:spPr>
              <a:xfrm>
                <a:off x="460000" y="4660000"/>
                <a:ext cx="4524587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−0.1107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0.8260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−0.0935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−0.1313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−0.1972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0.7389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−0.1609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0.7403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0.7466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1" name="ZP_e_ma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00" y="4660000"/>
                <a:ext cx="4524587" cy="1115568"/>
              </a:xfrm>
              <a:prstGeom prst="rect">
                <a:avLst/>
              </a:prstGeom>
              <a:blipFill>
                <a:blip r:embed=""/>
                <a:stretch>
                  <a:fillRect l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P_e_sc"/>
              <p:cNvSpPr txBox="1"/>
              <p:nvPr/>
            </p:nvSpPr>
            <p:spPr>
              <a:xfrm>
                <a:off x="5300000" y="481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597.6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37.38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52" name="ZP_e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4810000"/>
                <a:ext cx="3457787" cy="310896"/>
              </a:xfrm>
              <a:prstGeom prst="rect">
                <a:avLst/>
              </a:prstGeom>
              <a:blipFill>
                <a:blip r:embed="rId5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P_e_nmae"/>
              <p:cNvSpPr txBox="1"/>
              <p:nvPr/>
            </p:nvSpPr>
            <p:spPr>
              <a:xfrm>
                <a:off x="5300000" y="5260000"/>
                <a:ext cx="4191000" cy="5495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</a:rPr>
                        <m:t>NMAE</m:t>
                      </m:r>
                      <m:r>
                        <a:rPr lang="en-US" altLang="zh-TW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Pre>
                                        <m:sPre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PrePr>
                                        <m:sub/>
                                        <m: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TW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𝑔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sub>
                                          </m:sSub>
                                        </m:e>
                                      </m:sPr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%=0.75%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3" name="ZP_e_nma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5260000"/>
                <a:ext cx="4191000" cy="549509"/>
              </a:xfrm>
              <a:prstGeom prst="rect">
                <a:avLst/>
              </a:prstGeom>
              <a:blipFill>
                <a:blip r:embed="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P_e_bias"/>
              <p:cNvSpPr txBox="1"/>
              <p:nvPr/>
            </p:nvSpPr>
            <p:spPr>
              <a:xfrm>
                <a:off x="-168970" y="5946040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−0.2149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0.2140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0.2148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−0.2137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0.2139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0.2156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−0.2143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0.2143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4" name="ZP_e_bia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8970" y="5946040"/>
                <a:ext cx="5235787" cy="566928"/>
              </a:xfrm>
              <a:prstGeom prst="rect">
                <a:avLst/>
              </a:prstGeom>
              <a:blipFill>
                <a:blip r:embed="rId6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8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308956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1" name="auto caption"/>
          <p:cNvSpPr txBox="1"/>
          <p:nvPr/>
        </p:nvSpPr>
        <p:spPr>
          <a:xfrm>
            <a:off x="333587" y="743604"/>
            <a:ext cx="11155680" cy="6988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46914-2045-479F-9241-9100E1B02C7D}"/>
              </a:ext>
            </a:extLst>
          </p:cNvPr>
          <p:cNvSpPr/>
          <p:nvPr/>
        </p:nvSpPr>
        <p:spPr>
          <a:xfrm>
            <a:off x="3191932" y="5951913"/>
            <a:ext cx="2235200" cy="309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684184F-0516-446A-BA3D-902E29567EB0}"/>
              </a:ext>
            </a:extLst>
          </p:cNvPr>
          <p:cNvGrpSpPr/>
          <p:nvPr/>
        </p:nvGrpSpPr>
        <p:grpSpPr>
          <a:xfrm>
            <a:off x="48644" y="3800282"/>
            <a:ext cx="5027246" cy="2235853"/>
            <a:chOff x="48644" y="3800282"/>
            <a:chExt cx="5027246" cy="223585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D6056DB-2D26-47D9-9C5D-38D1978C1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16" y="3800282"/>
              <a:ext cx="4931774" cy="2052243"/>
            </a:xfrm>
            <a:prstGeom prst="rect">
              <a:avLst/>
            </a:prstGeom>
          </p:spPr>
        </p:pic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06015091-5680-4CA7-94EE-CCD4D232374B}"/>
                </a:ext>
              </a:extLst>
            </p:cNvPr>
            <p:cNvGrpSpPr/>
            <p:nvPr/>
          </p:nvGrpSpPr>
          <p:grpSpPr>
            <a:xfrm>
              <a:off x="48644" y="4103893"/>
              <a:ext cx="5026173" cy="1932242"/>
              <a:chOff x="2532299" y="4070836"/>
              <a:chExt cx="4598118" cy="1707072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61BCF2E1-081B-4366-95C9-547A338F5AA5}"/>
                  </a:ext>
                </a:extLst>
              </p:cNvPr>
              <p:cNvGrpSpPr/>
              <p:nvPr/>
            </p:nvGrpSpPr>
            <p:grpSpPr>
              <a:xfrm>
                <a:off x="2609228" y="4206736"/>
                <a:ext cx="4521189" cy="1571172"/>
                <a:chOff x="2609228" y="4206736"/>
                <a:chExt cx="4521189" cy="1571172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F5B0EBB1-6AB8-48EE-BC7C-3B87A1F01F92}"/>
                    </a:ext>
                  </a:extLst>
                </p:cNvPr>
                <p:cNvSpPr/>
                <p:nvPr/>
              </p:nvSpPr>
              <p:spPr>
                <a:xfrm rot="16200000">
                  <a:off x="4558192" y="4609270"/>
                  <a:ext cx="950411" cy="1453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B39A8314-EAC6-4F5A-BED0-BFEBA3939728}"/>
                    </a:ext>
                  </a:extLst>
                </p:cNvPr>
                <p:cNvSpPr/>
                <p:nvPr/>
              </p:nvSpPr>
              <p:spPr>
                <a:xfrm>
                  <a:off x="5085716" y="5468474"/>
                  <a:ext cx="2044701" cy="3094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89AC422D-71C0-4090-ABCE-0B69D83E54AC}"/>
                    </a:ext>
                  </a:extLst>
                </p:cNvPr>
                <p:cNvSpPr/>
                <p:nvPr/>
              </p:nvSpPr>
              <p:spPr>
                <a:xfrm>
                  <a:off x="2884080" y="5497441"/>
                  <a:ext cx="2076646" cy="215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3EA903BB-C827-4FD7-88CD-461937614CB9}"/>
                    </a:ext>
                  </a:extLst>
                </p:cNvPr>
                <p:cNvSpPr/>
                <p:nvPr/>
              </p:nvSpPr>
              <p:spPr>
                <a:xfrm rot="5400000">
                  <a:off x="2231245" y="4632295"/>
                  <a:ext cx="879730" cy="1237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1487081C-210E-415F-A6F2-E8AE31E2131C}"/>
                      </a:ext>
                    </a:extLst>
                  </p:cNvPr>
                  <p:cNvSpPr txBox="1"/>
                  <p:nvPr/>
                </p:nvSpPr>
                <p:spPr>
                  <a:xfrm>
                    <a:off x="2930613" y="5515469"/>
                    <a:ext cx="182569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orkspace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radius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1487081C-210E-415F-A6F2-E8AE31E213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0613" y="5515469"/>
                    <a:ext cx="1825693" cy="21544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7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601D18A8-F93B-4D42-A49A-87F8D1B61E60}"/>
                      </a:ext>
                    </a:extLst>
                  </p:cNvPr>
                  <p:cNvSpPr txBox="1"/>
                  <p:nvPr/>
                </p:nvSpPr>
                <p:spPr>
                  <a:xfrm>
                    <a:off x="5195219" y="5481357"/>
                    <a:ext cx="182569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orkspace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radius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601D18A8-F93B-4D42-A49A-87F8D1B61E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5219" y="5481357"/>
                    <a:ext cx="1825693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7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文字方塊 15">
                    <a:extLst>
                      <a:ext uri="{FF2B5EF4-FFF2-40B4-BE49-F238E27FC236}">
                        <a16:creationId xmlns:a16="http://schemas.microsoft.com/office/drawing/2014/main" id="{C7094952-35E6-43E5-BE17-A85B6FDD472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049275" y="4553860"/>
                    <a:ext cx="1192585" cy="2265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l-GR" altLang="zh-TW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b="1" dirty="0"/>
                  </a:p>
                </p:txBody>
              </p:sp>
            </mc:Choice>
            <mc:Fallback>
              <p:sp>
                <p:nvSpPr>
                  <p:cNvPr id="16" name="文字方塊 15">
                    <a:extLst>
                      <a:ext uri="{FF2B5EF4-FFF2-40B4-BE49-F238E27FC236}">
                        <a16:creationId xmlns:a16="http://schemas.microsoft.com/office/drawing/2014/main" id="{C7094952-35E6-43E5-BE17-A85B6FDD47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2049275" y="4553860"/>
                    <a:ext cx="1192585" cy="2265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4390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CF01E71D-583C-4777-894D-8568132157A9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4520346" y="4551353"/>
                    <a:ext cx="950408" cy="2210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Pre>
                            <m:sPre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sPr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type m:val="lin"/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𝑚𝑇</m:t>
                              </m:r>
                            </m:num>
                            <m:den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CF01E71D-583C-4777-894D-8568132157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4520346" y="4551353"/>
                    <a:ext cx="950408" cy="22104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3333" t="-28409" r="-21794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9E37473-7A2F-4A05-A742-3A32544C9789}"/>
                  </a:ext>
                </a:extLst>
              </p:cNvPr>
              <p:cNvSpPr txBox="1"/>
              <p:nvPr/>
            </p:nvSpPr>
            <p:spPr>
              <a:xfrm>
                <a:off x="0" y="574720"/>
                <a:ext cx="11722945" cy="17826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TW" dirty="0"/>
                  <a:t>This figure shows the trends of the calibration results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dirty="0"/>
                  <a:t> for </a:t>
                </a:r>
                <a:r>
                  <a:rPr lang="en-US" altLang="zh-TW" b="1" dirty="0"/>
                  <a:t>Long-Fei and </a:t>
                </a:r>
                <a:r>
                  <a:rPr lang="en-US" altLang="zh-TW" b="1" dirty="0" err="1"/>
                  <a:t>Zhi</a:t>
                </a:r>
                <a:r>
                  <a:rPr lang="en-US" altLang="zh-TW" b="1" dirty="0"/>
                  <a:t>-Peng</a:t>
                </a:r>
                <a:r>
                  <a:rPr lang="en-US" altLang="zh-TW" dirty="0"/>
                  <a:t>, using the </a:t>
                </a:r>
                <a:r>
                  <a:rPr lang="en-US" altLang="zh-TW" b="1" dirty="0"/>
                  <a:t>minimum number of points required for each working range</a:t>
                </a:r>
                <a:r>
                  <a:rPr lang="en-US" altLang="zh-TW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TW" dirty="0"/>
                  <a:t>If no convergence point can be found within a given range for either the </a:t>
                </a:r>
                <a:r>
                  <a:rPr lang="en-US" altLang="zh-TW" b="1" dirty="0"/>
                  <a:t>single-parameter model</a:t>
                </a:r>
                <a:r>
                  <a:rPr lang="en-US" altLang="zh-TW" dirty="0"/>
                  <a:t> or the </a:t>
                </a:r>
                <a:r>
                  <a:rPr lang="en-US" altLang="zh-TW" b="1" dirty="0"/>
                  <a:t>eighteen-parameter model</a:t>
                </a:r>
                <a:r>
                  <a:rPr lang="en-US" altLang="zh-TW" dirty="0"/>
                  <a:t>, all nodes within that range are used for calibration instead. </a:t>
                </a:r>
                <a:r>
                  <a:rPr lang="en-US" altLang="zh-TW" b="1" dirty="0"/>
                  <a:t>This is used only to illustrate the trend, and the values within that range are not used as a basis for calibration.</a:t>
                </a:r>
              </a:p>
              <a:p>
                <a:endParaRPr lang="en-US" altLang="zh-TW" b="1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9E37473-7A2F-4A05-A742-3A32544C9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4720"/>
                <a:ext cx="11722945" cy="1782667"/>
              </a:xfrm>
              <a:prstGeom prst="rect">
                <a:avLst/>
              </a:prstGeom>
              <a:blipFill>
                <a:blip r:embed="rId7"/>
                <a:stretch>
                  <a:fillRect l="-312" t="-3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8A1506DC-3DFA-49FB-A652-CF9232BDCE5B}"/>
              </a:ext>
            </a:extLst>
          </p:cNvPr>
          <p:cNvSpPr txBox="1"/>
          <p:nvPr/>
        </p:nvSpPr>
        <p:spPr>
          <a:xfrm>
            <a:off x="172456" y="3429000"/>
            <a:ext cx="292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Long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1117A74-E07B-4040-B287-EBE1D09422F7}"/>
              </a:ext>
            </a:extLst>
          </p:cNvPr>
          <p:cNvSpPr txBox="1"/>
          <p:nvPr/>
        </p:nvSpPr>
        <p:spPr>
          <a:xfrm>
            <a:off x="5297294" y="3429000"/>
            <a:ext cx="292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79632A1-107D-44B5-AFD7-64681B4F513D}"/>
              </a:ext>
            </a:extLst>
          </p:cNvPr>
          <p:cNvGrpSpPr/>
          <p:nvPr/>
        </p:nvGrpSpPr>
        <p:grpSpPr>
          <a:xfrm>
            <a:off x="5932935" y="3755207"/>
            <a:ext cx="5312918" cy="2247687"/>
            <a:chOff x="5932935" y="3755207"/>
            <a:chExt cx="5312918" cy="2247687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AD34CF7-9F43-4BD4-B163-34907DE4F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7401" y="3755207"/>
              <a:ext cx="5208452" cy="2167376"/>
            </a:xfrm>
            <a:prstGeom prst="rect">
              <a:avLst/>
            </a:prstGeom>
          </p:spPr>
        </p:pic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99E29170-BDE8-45BB-BB9C-94ADBE69F77B}"/>
                </a:ext>
              </a:extLst>
            </p:cNvPr>
            <p:cNvGrpSpPr/>
            <p:nvPr/>
          </p:nvGrpSpPr>
          <p:grpSpPr>
            <a:xfrm>
              <a:off x="5932935" y="4075850"/>
              <a:ext cx="5215184" cy="1927044"/>
              <a:chOff x="5969641" y="2856839"/>
              <a:chExt cx="5215184" cy="1927044"/>
            </a:xfrm>
          </p:grpSpPr>
          <p:grpSp>
            <p:nvGrpSpPr>
              <p:cNvPr id="29" name="群組 28">
                <a:extLst>
                  <a:ext uri="{FF2B5EF4-FFF2-40B4-BE49-F238E27FC236}">
                    <a16:creationId xmlns:a16="http://schemas.microsoft.com/office/drawing/2014/main" id="{78B83DBC-958B-4296-99D3-39147EB47BBC}"/>
                  </a:ext>
                </a:extLst>
              </p:cNvPr>
              <p:cNvGrpSpPr/>
              <p:nvPr/>
            </p:nvGrpSpPr>
            <p:grpSpPr>
              <a:xfrm>
                <a:off x="6041732" y="3092559"/>
                <a:ext cx="4999281" cy="1640342"/>
                <a:chOff x="6041732" y="3092559"/>
                <a:chExt cx="4999281" cy="1640342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A2E1A4B1-2FAB-4A01-9344-D9C1A234839B}"/>
                    </a:ext>
                  </a:extLst>
                </p:cNvPr>
                <p:cNvSpPr/>
                <p:nvPr/>
              </p:nvSpPr>
              <p:spPr>
                <a:xfrm>
                  <a:off x="6041732" y="3092559"/>
                  <a:ext cx="177800" cy="8803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64AD7295-A762-4DDB-ABCA-AC0546CF09E8}"/>
                    </a:ext>
                  </a:extLst>
                </p:cNvPr>
                <p:cNvSpPr/>
                <p:nvPr/>
              </p:nvSpPr>
              <p:spPr>
                <a:xfrm rot="5400000">
                  <a:off x="7372519" y="3796023"/>
                  <a:ext cx="161309" cy="170525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D646CE7E-99BA-4CE0-A636-6DC8B9E1C9B2}"/>
                    </a:ext>
                  </a:extLst>
                </p:cNvPr>
                <p:cNvSpPr/>
                <p:nvPr/>
              </p:nvSpPr>
              <p:spPr>
                <a:xfrm rot="5400000">
                  <a:off x="10041106" y="3732995"/>
                  <a:ext cx="147973" cy="18518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975E40F1-46D3-4536-9403-05CD76B172B7}"/>
                    </a:ext>
                  </a:extLst>
                </p:cNvPr>
                <p:cNvSpPr/>
                <p:nvPr/>
              </p:nvSpPr>
              <p:spPr>
                <a:xfrm>
                  <a:off x="8746069" y="3153826"/>
                  <a:ext cx="177800" cy="8001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34EE9EBD-9191-4518-8A53-87D33DB4E841}"/>
                      </a:ext>
                    </a:extLst>
                  </p:cNvPr>
                  <p:cNvSpPr txBox="1"/>
                  <p:nvPr/>
                </p:nvSpPr>
                <p:spPr>
                  <a:xfrm>
                    <a:off x="6496574" y="4540021"/>
                    <a:ext cx="1995653" cy="24386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orkspace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radius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34EE9EBD-9191-4518-8A53-87D33DB4E8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96574" y="4540021"/>
                    <a:ext cx="1995653" cy="2438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C6F440E5-2FB8-4033-BA97-698A0B685A33}"/>
                      </a:ext>
                    </a:extLst>
                  </p:cNvPr>
                  <p:cNvSpPr txBox="1"/>
                  <p:nvPr/>
                </p:nvSpPr>
                <p:spPr>
                  <a:xfrm>
                    <a:off x="9189172" y="4515871"/>
                    <a:ext cx="1995653" cy="24386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orkspace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radius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C6F440E5-2FB8-4033-BA97-698A0B685A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9172" y="4515871"/>
                    <a:ext cx="1995653" cy="2438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212CB569-B16A-494F-B833-A667D8AEDD89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418508" y="3407972"/>
                    <a:ext cx="1349892" cy="2476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l-GR" altLang="zh-TW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4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400" b="1" dirty="0"/>
                  </a:p>
                </p:txBody>
              </p:sp>
            </mc:Choice>
            <mc:Fallback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212CB569-B16A-494F-B833-A667D8AEDD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418508" y="3407972"/>
                    <a:ext cx="1349892" cy="24762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1951" r="-1951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BF00F6D9-F022-45AB-8A84-EF2854F4829E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8265175" y="3455784"/>
                    <a:ext cx="1075771" cy="24161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Pre>
                            <m:sPre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sPr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type m:val="lin"/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𝑚𝑇</m:t>
                              </m:r>
                            </m:num>
                            <m:den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BF00F6D9-F022-45AB-8A84-EF2854F482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8265175" y="3455784"/>
                    <a:ext cx="1075771" cy="24161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27500" t="-28249" r="-212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27831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308956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F785771-7E2C-47A8-92B1-CA4591BB985B}"/>
              </a:ext>
            </a:extLst>
          </p:cNvPr>
          <p:cNvGrpSpPr/>
          <p:nvPr/>
        </p:nvGrpSpPr>
        <p:grpSpPr>
          <a:xfrm>
            <a:off x="272262" y="2385184"/>
            <a:ext cx="3617185" cy="2952192"/>
            <a:chOff x="272262" y="2385184"/>
            <a:chExt cx="3617185" cy="295219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7E15A58-D5DE-448B-98A6-CF0256409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15" y="2385184"/>
              <a:ext cx="3516632" cy="2822604"/>
            </a:xfrm>
            <a:prstGeom prst="rect">
              <a:avLst/>
            </a:prstGeom>
          </p:spPr>
        </p:pic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2DD737F1-79D0-498C-AD2E-96B6E991F4B2}"/>
                </a:ext>
              </a:extLst>
            </p:cNvPr>
            <p:cNvGrpSpPr/>
            <p:nvPr/>
          </p:nvGrpSpPr>
          <p:grpSpPr>
            <a:xfrm>
              <a:off x="272262" y="2530082"/>
              <a:ext cx="3130980" cy="2807294"/>
              <a:chOff x="7579782" y="1658468"/>
              <a:chExt cx="3130980" cy="2807294"/>
            </a:xfrm>
          </p:grpSpPr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9E044CCD-18A9-4ED0-803D-09C25E2DC084}"/>
                  </a:ext>
                </a:extLst>
              </p:cNvPr>
              <p:cNvGrpSpPr/>
              <p:nvPr/>
            </p:nvGrpSpPr>
            <p:grpSpPr>
              <a:xfrm>
                <a:off x="7604136" y="2283249"/>
                <a:ext cx="2610533" cy="2182513"/>
                <a:chOff x="7604136" y="2283249"/>
                <a:chExt cx="2610533" cy="2182513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D0CE3E51-43DC-4E17-866A-933141C91C15}"/>
                    </a:ext>
                  </a:extLst>
                </p:cNvPr>
                <p:cNvSpPr/>
                <p:nvPr/>
              </p:nvSpPr>
              <p:spPr>
                <a:xfrm>
                  <a:off x="7604136" y="2283249"/>
                  <a:ext cx="296334" cy="101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F767F21-8108-48BC-9FF8-4D48706CC9E8}"/>
                    </a:ext>
                  </a:extLst>
                </p:cNvPr>
                <p:cNvSpPr/>
                <p:nvPr/>
              </p:nvSpPr>
              <p:spPr>
                <a:xfrm rot="5400000">
                  <a:off x="9290484" y="3541577"/>
                  <a:ext cx="296334" cy="1552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C3849D6-2303-4245-94EB-A3E3CD04C5B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680409" y="2557841"/>
                    <a:ext cx="2137299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redict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error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C3849D6-2303-4245-94EB-A3E3CD04C5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680409" y="2557841"/>
                    <a:ext cx="2137299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090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文字方塊 10">
                    <a:extLst>
                      <a:ext uri="{FF2B5EF4-FFF2-40B4-BE49-F238E27FC236}">
                        <a16:creationId xmlns:a16="http://schemas.microsoft.com/office/drawing/2014/main" id="{42506FCA-AD85-4D09-9F6E-FA92DD820306}"/>
                      </a:ext>
                    </a:extLst>
                  </p:cNvPr>
                  <p:cNvSpPr txBox="1"/>
                  <p:nvPr/>
                </p:nvSpPr>
                <p:spPr>
                  <a:xfrm>
                    <a:off x="8575241" y="4154747"/>
                    <a:ext cx="213552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orkspace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radius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zh-TW" alt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>
              <p:sp>
                <p:nvSpPr>
                  <p:cNvPr id="11" name="文字方塊 10">
                    <a:extLst>
                      <a:ext uri="{FF2B5EF4-FFF2-40B4-BE49-F238E27FC236}">
                        <a16:creationId xmlns:a16="http://schemas.microsoft.com/office/drawing/2014/main" id="{42506FCA-AD85-4D09-9F6E-FA92DD8203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5241" y="4154747"/>
                    <a:ext cx="2135521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00" r="-2857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1" name="auto caption"/>
          <p:cNvSpPr txBox="1"/>
          <p:nvPr/>
        </p:nvSpPr>
        <p:spPr>
          <a:xfrm>
            <a:off x="1" y="699641"/>
            <a:ext cx="11844866" cy="136622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Setup: The calibration side is identical to the previous slide: the same R sweep, the same converged reduced design at each R. What changes is the evaluation: the predict is computed on every real FEM node inside R.</a:t>
            </a:r>
          </a:p>
          <a:p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652E72-3406-4432-8BF0-0119B9DB77DB}"/>
              </a:ext>
            </a:extLst>
          </p:cNvPr>
          <p:cNvSpPr txBox="1"/>
          <p:nvPr/>
        </p:nvSpPr>
        <p:spPr>
          <a:xfrm>
            <a:off x="245176" y="1810061"/>
            <a:ext cx="303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Long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7AB5F81-21C3-48CC-BC07-150DF9DA0D59}"/>
              </a:ext>
            </a:extLst>
          </p:cNvPr>
          <p:cNvSpPr txBox="1"/>
          <p:nvPr/>
        </p:nvSpPr>
        <p:spPr>
          <a:xfrm>
            <a:off x="5922434" y="1857795"/>
            <a:ext cx="292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endParaRPr lang="zh-TW" altLang="en-US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3BEF0C40-023C-4800-BC3A-AD4E33A32BA9}"/>
              </a:ext>
            </a:extLst>
          </p:cNvPr>
          <p:cNvGrpSpPr/>
          <p:nvPr/>
        </p:nvGrpSpPr>
        <p:grpSpPr>
          <a:xfrm>
            <a:off x="6096000" y="2385184"/>
            <a:ext cx="3685533" cy="2874487"/>
            <a:chOff x="5934910" y="2235595"/>
            <a:chExt cx="3685533" cy="2874487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7C296082-A56A-4A15-8F4D-ED95B9251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0830" y="2235595"/>
              <a:ext cx="3609613" cy="2822604"/>
            </a:xfrm>
            <a:prstGeom prst="rect">
              <a:avLst/>
            </a:prstGeom>
          </p:spPr>
        </p:pic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E2090C20-5C4B-4A7A-8587-551906EFD493}"/>
                </a:ext>
              </a:extLst>
            </p:cNvPr>
            <p:cNvGrpSpPr/>
            <p:nvPr/>
          </p:nvGrpSpPr>
          <p:grpSpPr>
            <a:xfrm>
              <a:off x="5934910" y="2493574"/>
              <a:ext cx="3185331" cy="2616508"/>
              <a:chOff x="5934910" y="2493574"/>
              <a:chExt cx="3185331" cy="2616508"/>
            </a:xfrm>
          </p:grpSpPr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63DFB3A9-2DCF-43D9-82D7-15699FEC83E7}"/>
                  </a:ext>
                </a:extLst>
              </p:cNvPr>
              <p:cNvGrpSpPr/>
              <p:nvPr/>
            </p:nvGrpSpPr>
            <p:grpSpPr>
              <a:xfrm>
                <a:off x="6004225" y="3019396"/>
                <a:ext cx="2622437" cy="2023318"/>
                <a:chOff x="6004225" y="3019396"/>
                <a:chExt cx="2622437" cy="2023318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31CB3A90-5BD7-4CF5-82D9-2301A91E1E82}"/>
                    </a:ext>
                  </a:extLst>
                </p:cNvPr>
                <p:cNvSpPr/>
                <p:nvPr/>
              </p:nvSpPr>
              <p:spPr>
                <a:xfrm>
                  <a:off x="7290176" y="4876801"/>
                  <a:ext cx="1336486" cy="1659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5FF63D5A-F320-4CA5-AABD-80BA0EF39FDD}"/>
                    </a:ext>
                  </a:extLst>
                </p:cNvPr>
                <p:cNvSpPr/>
                <p:nvPr/>
              </p:nvSpPr>
              <p:spPr>
                <a:xfrm rot="16200000">
                  <a:off x="5549619" y="3474002"/>
                  <a:ext cx="1109134" cy="1999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B6149C6C-5FD2-4FAD-BB35-648BAD90BE8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035537" y="3392947"/>
                    <a:ext cx="2137299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redict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error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B6149C6C-5FD2-4FAD-BB35-648BAD90BE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035537" y="3392947"/>
                    <a:ext cx="2137299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文字方塊 26">
                    <a:extLst>
                      <a:ext uri="{FF2B5EF4-FFF2-40B4-BE49-F238E27FC236}">
                        <a16:creationId xmlns:a16="http://schemas.microsoft.com/office/drawing/2014/main" id="{C08F9969-FF92-4564-9352-5CEA74EA8E63}"/>
                      </a:ext>
                    </a:extLst>
                  </p:cNvPr>
                  <p:cNvSpPr txBox="1"/>
                  <p:nvPr/>
                </p:nvSpPr>
                <p:spPr>
                  <a:xfrm>
                    <a:off x="6984720" y="4863861"/>
                    <a:ext cx="213552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orkspace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radius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zh-TW" alt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>
              <p:sp>
                <p:nvSpPr>
                  <p:cNvPr id="27" name="文字方塊 26">
                    <a:extLst>
                      <a:ext uri="{FF2B5EF4-FFF2-40B4-BE49-F238E27FC236}">
                        <a16:creationId xmlns:a16="http://schemas.microsoft.com/office/drawing/2014/main" id="{C08F9969-FF92-4564-9352-5CEA74EA8E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4720" y="4863861"/>
                    <a:ext cx="2135521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09" r="-2849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38644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324377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6964577-860D-4EB3-8219-1A6240335DA6}"/>
                  </a:ext>
                </a:extLst>
              </p:cNvPr>
              <p:cNvSpPr txBox="1"/>
              <p:nvPr/>
            </p:nvSpPr>
            <p:spPr>
              <a:xfrm>
                <a:off x="8217453" y="423838"/>
                <a:ext cx="3564053" cy="321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𝐶𝑎𝑙𝑖𝑏𝑟𝑎𝑡𝑒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Pre>
                        <m:sPre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6964577-860D-4EB3-8219-1A624033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53" y="423838"/>
                <a:ext cx="3564053" cy="321563"/>
              </a:xfrm>
              <a:prstGeom prst="rect">
                <a:avLst/>
              </a:prstGeom>
              <a:blipFill>
                <a:blip r:embed="rId2"/>
                <a:stretch>
                  <a:fillRect l="-1197" t="-15385" r="-529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4C8E874-6E04-4F06-97C3-1C58F72C5F9C}"/>
                  </a:ext>
                </a:extLst>
              </p:cNvPr>
              <p:cNvSpPr txBox="1"/>
              <p:nvPr/>
            </p:nvSpPr>
            <p:spPr>
              <a:xfrm>
                <a:off x="-2" y="595362"/>
                <a:ext cx="12081933" cy="1351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TW" sz="1400" b="1" dirty="0"/>
                  <a:t>This figure shows the fitting results for the FEM nodes within R≤150μm after both models were calibrated over the same region using their respective convergence </a:t>
                </a:r>
                <a:r>
                  <a:rPr lang="en-US" altLang="zh-TW" sz="1400" b="1" dirty="0" err="1"/>
                  <a:t>points</a:t>
                </a:r>
                <a:r>
                  <a:rPr lang="en-US" altLang="zh-TW" sz="1400" dirty="0" err="1"/>
                  <a:t>.This</a:t>
                </a:r>
                <a:r>
                  <a:rPr lang="en-US" altLang="zh-TW" sz="1400" dirty="0"/>
                  <a:t> figure overlays the distributions of the two models. The red distribution is noticeably more concentrated than the blue one, indicating that the eighteen-parameter model performs better than the one-parameter model in fitting the magnetic field.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TW" sz="1400" dirty="0"/>
                  <a:t>Workspace radius: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≤150</m:t>
                    </m:r>
                    <m:r>
                      <a:rPr lang="zh-TW" alt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4C8E874-6E04-4F06-97C3-1C58F72C5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595362"/>
                <a:ext cx="12081933" cy="1351011"/>
              </a:xfrm>
              <a:prstGeom prst="rect">
                <a:avLst/>
              </a:prstGeom>
              <a:blipFill>
                <a:blip r:embed="rId3"/>
                <a:stretch>
                  <a:fillRect l="-50" b="-40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45DC66DA-A8D3-4534-830F-41378CA4E958}"/>
              </a:ext>
            </a:extLst>
          </p:cNvPr>
          <p:cNvGrpSpPr/>
          <p:nvPr/>
        </p:nvGrpSpPr>
        <p:grpSpPr>
          <a:xfrm>
            <a:off x="267846" y="2609297"/>
            <a:ext cx="3127528" cy="2526638"/>
            <a:chOff x="267846" y="2609297"/>
            <a:chExt cx="3127528" cy="2526638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2C32BC79-CC50-4B51-86C6-A7E2E8D89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364" y="2609297"/>
              <a:ext cx="2979010" cy="2413770"/>
            </a:xfrm>
            <a:prstGeom prst="rect">
              <a:avLst/>
            </a:prstGeom>
          </p:spPr>
        </p:pic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736B9DAB-E3B5-4F04-9A4C-16D89A3418FB}"/>
                </a:ext>
              </a:extLst>
            </p:cNvPr>
            <p:cNvGrpSpPr/>
            <p:nvPr/>
          </p:nvGrpSpPr>
          <p:grpSpPr>
            <a:xfrm>
              <a:off x="267846" y="2654474"/>
              <a:ext cx="2619967" cy="2481461"/>
              <a:chOff x="814236" y="1398559"/>
              <a:chExt cx="2814337" cy="2627718"/>
            </a:xfrm>
          </p:grpSpPr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A4A560D3-71C7-4CB4-8189-12B276A02F3D}"/>
                  </a:ext>
                </a:extLst>
              </p:cNvPr>
              <p:cNvGrpSpPr/>
              <p:nvPr/>
            </p:nvGrpSpPr>
            <p:grpSpPr>
              <a:xfrm>
                <a:off x="827341" y="1714784"/>
                <a:ext cx="2544684" cy="2311493"/>
                <a:chOff x="827341" y="1714784"/>
                <a:chExt cx="2544684" cy="2311493"/>
              </a:xfrm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3ED5006-814D-4846-B24D-AE6159A9C482}"/>
                    </a:ext>
                  </a:extLst>
                </p:cNvPr>
                <p:cNvSpPr/>
                <p:nvPr/>
              </p:nvSpPr>
              <p:spPr>
                <a:xfrm>
                  <a:off x="827341" y="1714784"/>
                  <a:ext cx="287866" cy="14393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2D0C6A87-3CD1-4B1B-A571-0BAF86B0C5C6}"/>
                    </a:ext>
                  </a:extLst>
                </p:cNvPr>
                <p:cNvSpPr/>
                <p:nvPr/>
              </p:nvSpPr>
              <p:spPr>
                <a:xfrm rot="5400000">
                  <a:off x="2390108" y="3044359"/>
                  <a:ext cx="287866" cy="16759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A2DF51AA-0F9C-4EED-9B62-90FB9ABAA407}"/>
                      </a:ext>
                    </a:extLst>
                  </p:cNvPr>
                  <p:cNvSpPr txBox="1"/>
                  <p:nvPr/>
                </p:nvSpPr>
                <p:spPr>
                  <a:xfrm>
                    <a:off x="1755463" y="3691404"/>
                    <a:ext cx="1873110" cy="2607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𝑚𝑇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A2DF51AA-0F9C-4EED-9B62-90FB9ABAA4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5463" y="3691404"/>
                    <a:ext cx="1873110" cy="26073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448" r="-1049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3958413D-FBA3-41F1-A1D7-B896CB46154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82297" y="2295092"/>
                    <a:ext cx="2057554" cy="2644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3958413D-FBA3-41F1-A1D7-B896CB4615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82297" y="2295092"/>
                    <a:ext cx="2057554" cy="2644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2194" r="-32500" b="-219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669D49AD-E8AD-4123-BA4B-4C406F1D8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0242"/>
              </p:ext>
            </p:extLst>
          </p:nvPr>
        </p:nvGraphicFramePr>
        <p:xfrm>
          <a:off x="59267" y="5557074"/>
          <a:ext cx="4419600" cy="1204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265">
                  <a:extLst>
                    <a:ext uri="{9D8B030D-6E8A-4147-A177-3AD203B41FA5}">
                      <a16:colId xmlns:a16="http://schemas.microsoft.com/office/drawing/2014/main" val="2949357934"/>
                    </a:ext>
                  </a:extLst>
                </a:gridCol>
                <a:gridCol w="1998135">
                  <a:extLst>
                    <a:ext uri="{9D8B030D-6E8A-4147-A177-3AD203B41FA5}">
                      <a16:colId xmlns:a16="http://schemas.microsoft.com/office/drawing/2014/main" val="376490726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855758062"/>
                    </a:ext>
                  </a:extLst>
                </a:gridCol>
              </a:tblGrid>
              <a:tr h="42392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Single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Eighteen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780242"/>
                  </a:ext>
                </a:extLst>
              </a:tr>
              <a:tr h="7804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Mean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0.2878mT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0.0340mT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2000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142553D-29A4-4C0B-9077-BB416D4C17BA}"/>
                  </a:ext>
                </a:extLst>
              </p:cNvPr>
              <p:cNvSpPr txBox="1"/>
              <p:nvPr/>
            </p:nvSpPr>
            <p:spPr>
              <a:xfrm>
                <a:off x="-2" y="2055648"/>
                <a:ext cx="4182535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Long(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/>
                  <a:t>:1771)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142553D-29A4-4C0B-9077-BB416D4C1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055648"/>
                <a:ext cx="4182535" cy="390748"/>
              </a:xfrm>
              <a:prstGeom prst="rect">
                <a:avLst/>
              </a:prstGeom>
              <a:blipFill>
                <a:blip r:embed="rId7"/>
                <a:stretch>
                  <a:fillRect l="-875" t="-6250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32F8A4F-A6DD-425A-957D-E730D45A7FFC}"/>
                  </a:ext>
                </a:extLst>
              </p:cNvPr>
              <p:cNvSpPr txBox="1"/>
              <p:nvPr/>
            </p:nvSpPr>
            <p:spPr>
              <a:xfrm>
                <a:off x="5564032" y="2055648"/>
                <a:ext cx="4748367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 err="1"/>
                  <a:t>Zhi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peng</a:t>
                </a:r>
                <a:r>
                  <a:rPr lang="en-US" altLang="zh-TW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/>
                  <a:t>:1791)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32F8A4F-A6DD-425A-957D-E730D45A7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032" y="2055648"/>
                <a:ext cx="4748367" cy="390748"/>
              </a:xfrm>
              <a:prstGeom prst="rect">
                <a:avLst/>
              </a:prstGeom>
              <a:blipFill>
                <a:blip r:embed="rId8"/>
                <a:stretch>
                  <a:fillRect l="-899" t="-6250" b="-203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83C46DA0-26FB-4386-B4A4-2257E4A89D3A}"/>
              </a:ext>
            </a:extLst>
          </p:cNvPr>
          <p:cNvSpPr txBox="1"/>
          <p:nvPr/>
        </p:nvSpPr>
        <p:spPr>
          <a:xfrm>
            <a:off x="-93133" y="5185273"/>
            <a:ext cx="267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Resolution:2.8uT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4338258-6120-45D6-A40D-58A718F65647}"/>
              </a:ext>
            </a:extLst>
          </p:cNvPr>
          <p:cNvSpPr txBox="1"/>
          <p:nvPr/>
        </p:nvSpPr>
        <p:spPr>
          <a:xfrm>
            <a:off x="5664200" y="5139537"/>
            <a:ext cx="267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Resolution:17uT</a:t>
            </a:r>
            <a:endParaRPr lang="zh-TW" altLang="en-US" dirty="0"/>
          </a:p>
        </p:txBody>
      </p:sp>
      <p:graphicFrame>
        <p:nvGraphicFramePr>
          <p:cNvPr id="28" name="表格 14">
            <a:extLst>
              <a:ext uri="{FF2B5EF4-FFF2-40B4-BE49-F238E27FC236}">
                <a16:creationId xmlns:a16="http://schemas.microsoft.com/office/drawing/2014/main" id="{9BC0D067-8E63-4387-9F47-6B1D924C3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385345"/>
              </p:ext>
            </p:extLst>
          </p:nvPr>
        </p:nvGraphicFramePr>
        <p:xfrm>
          <a:off x="5728415" y="5549159"/>
          <a:ext cx="4419600" cy="1204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265">
                  <a:extLst>
                    <a:ext uri="{9D8B030D-6E8A-4147-A177-3AD203B41FA5}">
                      <a16:colId xmlns:a16="http://schemas.microsoft.com/office/drawing/2014/main" val="2949357934"/>
                    </a:ext>
                  </a:extLst>
                </a:gridCol>
                <a:gridCol w="1998135">
                  <a:extLst>
                    <a:ext uri="{9D8B030D-6E8A-4147-A177-3AD203B41FA5}">
                      <a16:colId xmlns:a16="http://schemas.microsoft.com/office/drawing/2014/main" val="376490726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855758062"/>
                    </a:ext>
                  </a:extLst>
                </a:gridCol>
              </a:tblGrid>
              <a:tr h="42392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Single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Eighteen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780242"/>
                  </a:ext>
                </a:extLst>
              </a:tr>
              <a:tr h="7804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Mean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3.0658mT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0.2190mT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200097"/>
                  </a:ext>
                </a:extLst>
              </a:tr>
            </a:tbl>
          </a:graphicData>
        </a:graphic>
      </p:graphicFrame>
      <p:grpSp>
        <p:nvGrpSpPr>
          <p:cNvPr id="15" name="群組 14">
            <a:extLst>
              <a:ext uri="{FF2B5EF4-FFF2-40B4-BE49-F238E27FC236}">
                <a16:creationId xmlns:a16="http://schemas.microsoft.com/office/drawing/2014/main" id="{B8D8C850-0DE2-4BF3-9997-29F88FFFB114}"/>
              </a:ext>
            </a:extLst>
          </p:cNvPr>
          <p:cNvGrpSpPr/>
          <p:nvPr/>
        </p:nvGrpSpPr>
        <p:grpSpPr>
          <a:xfrm>
            <a:off x="6040964" y="2579600"/>
            <a:ext cx="3209534" cy="2556335"/>
            <a:chOff x="5973228" y="2615244"/>
            <a:chExt cx="3209534" cy="2556335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B3A51DA1-514E-40AC-83BE-011CDCC57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1562" y="2615244"/>
              <a:ext cx="3101200" cy="2512775"/>
            </a:xfrm>
            <a:prstGeom prst="rect">
              <a:avLst/>
            </a:prstGeom>
          </p:spPr>
        </p:pic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D44F999E-8D95-49B7-9F12-0234B4AB9934}"/>
                </a:ext>
              </a:extLst>
            </p:cNvPr>
            <p:cNvGrpSpPr/>
            <p:nvPr/>
          </p:nvGrpSpPr>
          <p:grpSpPr>
            <a:xfrm>
              <a:off x="5973228" y="2661192"/>
              <a:ext cx="2772451" cy="2510387"/>
              <a:chOff x="5973228" y="2661192"/>
              <a:chExt cx="2772451" cy="2510387"/>
            </a:xfrm>
          </p:grpSpPr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6931D5A7-ACC8-4EE7-8486-2C85374A810D}"/>
                  </a:ext>
                </a:extLst>
              </p:cNvPr>
              <p:cNvGrpSpPr/>
              <p:nvPr/>
            </p:nvGrpSpPr>
            <p:grpSpPr>
              <a:xfrm>
                <a:off x="5973228" y="2942446"/>
                <a:ext cx="2366438" cy="2229133"/>
                <a:chOff x="5973228" y="2942446"/>
                <a:chExt cx="2366438" cy="2229133"/>
              </a:xfrm>
            </p:grpSpPr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83CBE7F-4474-4567-A73B-01C32163BF8F}"/>
                    </a:ext>
                  </a:extLst>
                </p:cNvPr>
                <p:cNvSpPr/>
                <p:nvPr/>
              </p:nvSpPr>
              <p:spPr>
                <a:xfrm>
                  <a:off x="7069667" y="4925358"/>
                  <a:ext cx="1269999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02A921D-58AA-4FA2-AC94-92F1D96D61DA}"/>
                    </a:ext>
                  </a:extLst>
                </p:cNvPr>
                <p:cNvSpPr/>
                <p:nvPr/>
              </p:nvSpPr>
              <p:spPr>
                <a:xfrm rot="16200000">
                  <a:off x="5412796" y="3502878"/>
                  <a:ext cx="1367085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字方塊 29">
                    <a:extLst>
                      <a:ext uri="{FF2B5EF4-FFF2-40B4-BE49-F238E27FC236}">
                        <a16:creationId xmlns:a16="http://schemas.microsoft.com/office/drawing/2014/main" id="{9CA0D22B-D7A3-4BF1-81EA-A45EB383091B}"/>
                      </a:ext>
                    </a:extLst>
                  </p:cNvPr>
                  <p:cNvSpPr txBox="1"/>
                  <p:nvPr/>
                </p:nvSpPr>
                <p:spPr>
                  <a:xfrm>
                    <a:off x="7001933" y="4900447"/>
                    <a:ext cx="174374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Predict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𝑚𝑇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30" name="文字方塊 29">
                    <a:extLst>
                      <a:ext uri="{FF2B5EF4-FFF2-40B4-BE49-F238E27FC236}">
                        <a16:creationId xmlns:a16="http://schemas.microsoft.com/office/drawing/2014/main" id="{9CA0D22B-D7A3-4BF1-81EA-A45EB3830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1933" y="4900447"/>
                    <a:ext cx="1743746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448" r="-1049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6810F8E4-06BA-4B75-9E31-F9B423B88DEA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125547" y="3509597"/>
                    <a:ext cx="194303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6810F8E4-06BA-4B75-9E31-F9B423B88D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125547" y="3509597"/>
                    <a:ext cx="1943032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2516" r="-35000" b="-220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6343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90509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6" name="auto caption"/>
          <p:cNvSpPr txBox="1"/>
          <p:nvPr/>
        </p:nvSpPr>
        <p:spPr>
          <a:xfrm>
            <a:off x="-33943" y="586474"/>
            <a:ext cx="12115876" cy="66659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Setup: </a:t>
            </a:r>
            <a:r>
              <a:rPr lang="en-US" altLang="zh-TW" b="1" dirty="0"/>
              <a:t>Calibration is performed using the eighteen-parameter calibration points, followed by fitting to the FEM nodes within the workspace</a:t>
            </a:r>
            <a:r>
              <a:rPr lang="en-US" altLang="zh-TW" dirty="0"/>
              <a:t>. 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6E337DB-BFAF-48C6-968A-F412032122DE}"/>
              </a:ext>
            </a:extLst>
          </p:cNvPr>
          <p:cNvGrpSpPr/>
          <p:nvPr/>
        </p:nvGrpSpPr>
        <p:grpSpPr>
          <a:xfrm>
            <a:off x="737840" y="1522417"/>
            <a:ext cx="3385944" cy="2565339"/>
            <a:chOff x="737840" y="1522417"/>
            <a:chExt cx="3385944" cy="2565339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129A071-237A-4613-839D-F19A4643E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356" y="1522417"/>
              <a:ext cx="3297428" cy="2509315"/>
            </a:xfrm>
            <a:prstGeom prst="rect">
              <a:avLst/>
            </a:prstGeom>
          </p:spPr>
        </p:pic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0478066-310B-4F80-997B-F860B06EC624}"/>
                </a:ext>
              </a:extLst>
            </p:cNvPr>
            <p:cNvGrpSpPr/>
            <p:nvPr/>
          </p:nvGrpSpPr>
          <p:grpSpPr>
            <a:xfrm>
              <a:off x="737840" y="1671677"/>
              <a:ext cx="2791616" cy="2416079"/>
              <a:chOff x="8266566" y="717472"/>
              <a:chExt cx="2791616" cy="2416079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98E2DA52-7382-44DD-9802-8F4A47DA9DEE}"/>
                  </a:ext>
                </a:extLst>
              </p:cNvPr>
              <p:cNvGrpSpPr/>
              <p:nvPr/>
            </p:nvGrpSpPr>
            <p:grpSpPr>
              <a:xfrm>
                <a:off x="8282563" y="1151084"/>
                <a:ext cx="2343963" cy="1916653"/>
                <a:chOff x="8282563" y="1151084"/>
                <a:chExt cx="2343963" cy="1916653"/>
              </a:xfrm>
            </p:grpSpPr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62D9AAFB-45CB-41B6-A7DA-A163C76C7C70}"/>
                    </a:ext>
                  </a:extLst>
                </p:cNvPr>
                <p:cNvSpPr/>
                <p:nvPr/>
              </p:nvSpPr>
              <p:spPr>
                <a:xfrm>
                  <a:off x="9381066" y="2926271"/>
                  <a:ext cx="1245460" cy="1414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94D5CEEC-4BD3-41C5-AEA4-00E812C48194}"/>
                    </a:ext>
                  </a:extLst>
                </p:cNvPr>
                <p:cNvSpPr/>
                <p:nvPr/>
              </p:nvSpPr>
              <p:spPr>
                <a:xfrm rot="16200000">
                  <a:off x="7859574" y="1574073"/>
                  <a:ext cx="1092200" cy="2462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76C41D3C-8E9A-426D-BF6B-D03547810A62}"/>
                      </a:ext>
                    </a:extLst>
                  </p:cNvPr>
                  <p:cNvSpPr txBox="1"/>
                  <p:nvPr/>
                </p:nvSpPr>
                <p:spPr>
                  <a:xfrm>
                    <a:off x="9314435" y="2887330"/>
                    <a:ext cx="1743747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redict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𝑚𝑇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76C41D3C-8E9A-426D-BF6B-D03547810A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4435" y="2887330"/>
                    <a:ext cx="1743747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448" r="-1049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BACF366E-8A86-48E7-B656-FA0D777C258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18161" y="1565877"/>
                    <a:ext cx="194303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BACF366E-8A86-48E7-B656-FA0D777C25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418161" y="1565877"/>
                    <a:ext cx="1943032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508" r="-35000" b="-219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A859F01-E267-46E9-BD57-A591FCD357BB}"/>
              </a:ext>
            </a:extLst>
          </p:cNvPr>
          <p:cNvGrpSpPr/>
          <p:nvPr/>
        </p:nvGrpSpPr>
        <p:grpSpPr>
          <a:xfrm>
            <a:off x="7042130" y="1592700"/>
            <a:ext cx="3069021" cy="2531273"/>
            <a:chOff x="7042130" y="1592700"/>
            <a:chExt cx="3069021" cy="253127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61E0426E-3EF1-4E59-AE21-3B11761E3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684" y="1592700"/>
              <a:ext cx="2943467" cy="2489834"/>
            </a:xfrm>
            <a:prstGeom prst="rect">
              <a:avLst/>
            </a:prstGeom>
          </p:spPr>
        </p:pic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933C1DEA-2A25-4CD8-B1F2-559B13368157}"/>
                </a:ext>
              </a:extLst>
            </p:cNvPr>
            <p:cNvGrpSpPr/>
            <p:nvPr/>
          </p:nvGrpSpPr>
          <p:grpSpPr>
            <a:xfrm>
              <a:off x="7042130" y="1802568"/>
              <a:ext cx="2736788" cy="2321405"/>
              <a:chOff x="8322241" y="3703869"/>
              <a:chExt cx="2736788" cy="2321405"/>
            </a:xfrm>
          </p:grpSpPr>
          <p:grpSp>
            <p:nvGrpSpPr>
              <p:cNvPr id="27" name="群組 26">
                <a:extLst>
                  <a:ext uri="{FF2B5EF4-FFF2-40B4-BE49-F238E27FC236}">
                    <a16:creationId xmlns:a16="http://schemas.microsoft.com/office/drawing/2014/main" id="{AC662A1D-67BC-4890-A4F8-3F3FC002A9EE}"/>
                  </a:ext>
                </a:extLst>
              </p:cNvPr>
              <p:cNvGrpSpPr/>
              <p:nvPr/>
            </p:nvGrpSpPr>
            <p:grpSpPr>
              <a:xfrm>
                <a:off x="8422394" y="4059169"/>
                <a:ext cx="2636635" cy="1966105"/>
                <a:chOff x="8422394" y="4059169"/>
                <a:chExt cx="2636635" cy="1966105"/>
              </a:xfrm>
            </p:grpSpPr>
            <p:grpSp>
              <p:nvGrpSpPr>
                <p:cNvPr id="23" name="群組 22">
                  <a:extLst>
                    <a:ext uri="{FF2B5EF4-FFF2-40B4-BE49-F238E27FC236}">
                      <a16:creationId xmlns:a16="http://schemas.microsoft.com/office/drawing/2014/main" id="{8A0D190F-A149-479A-B4CF-2466476579D5}"/>
                    </a:ext>
                  </a:extLst>
                </p:cNvPr>
                <p:cNvGrpSpPr/>
                <p:nvPr/>
              </p:nvGrpSpPr>
              <p:grpSpPr>
                <a:xfrm>
                  <a:off x="8422394" y="4059169"/>
                  <a:ext cx="2252657" cy="1924666"/>
                  <a:chOff x="8422394" y="4059169"/>
                  <a:chExt cx="2252657" cy="1924666"/>
                </a:xfrm>
              </p:grpSpPr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121C5590-E60E-40CA-90CE-72EB5B131EA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956531" y="4525032"/>
                    <a:ext cx="1092200" cy="16047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id="{28DA81AC-D8F6-40B2-92CE-B56A4FCF8FB1}"/>
                      </a:ext>
                    </a:extLst>
                  </p:cNvPr>
                  <p:cNvSpPr/>
                  <p:nvPr/>
                </p:nvSpPr>
                <p:spPr>
                  <a:xfrm>
                    <a:off x="9410538" y="5779053"/>
                    <a:ext cx="1264513" cy="20478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文字方塊 38">
                      <a:extLst>
                        <a:ext uri="{FF2B5EF4-FFF2-40B4-BE49-F238E27FC236}">
                          <a16:creationId xmlns:a16="http://schemas.microsoft.com/office/drawing/2014/main" id="{6B367B9D-C1D1-403F-8DEB-C37529FC51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15282" y="5779053"/>
                      <a:ext cx="1743747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Predict</m:t>
                            </m:r>
                            <m: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error</m:t>
                            </m:r>
                            <m: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𝑚𝑇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 xmlns="">
                <p:sp>
                  <p:nvSpPr>
                    <p:cNvPr id="39" name="文字方塊 38">
                      <a:extLst>
                        <a:ext uri="{FF2B5EF4-FFF2-40B4-BE49-F238E27FC236}">
                          <a16:creationId xmlns:a16="http://schemas.microsoft.com/office/drawing/2014/main" id="{6B367B9D-C1D1-403F-8DEB-C37529FC513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15282" y="5779053"/>
                      <a:ext cx="1743747" cy="24622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448" r="-1399" b="-3170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9AAFCE20-3EC1-4EF5-886A-490516CB6BF3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73836" y="4552274"/>
                    <a:ext cx="194303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9AAFCE20-3EC1-4EF5-886A-490516CB6B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473836" y="4552274"/>
                    <a:ext cx="1943032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2516" r="-31707" b="-220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1">
                <a:extLst>
                  <a:ext uri="{FF2B5EF4-FFF2-40B4-BE49-F238E27FC236}">
                    <a16:creationId xmlns:a16="http://schemas.microsoft.com/office/drawing/2014/main" id="{8650AF4A-7868-4FE8-AAFF-ECABEEB37A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516775"/>
                  </p:ext>
                </p:extLst>
              </p:nvPr>
            </p:nvGraphicFramePr>
            <p:xfrm>
              <a:off x="94809" y="4284540"/>
              <a:ext cx="11910925" cy="19625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61335">
                      <a:extLst>
                        <a:ext uri="{9D8B030D-6E8A-4147-A177-3AD203B41FA5}">
                          <a16:colId xmlns:a16="http://schemas.microsoft.com/office/drawing/2014/main" val="2220848039"/>
                        </a:ext>
                      </a:extLst>
                    </a:gridCol>
                    <a:gridCol w="1213305">
                      <a:extLst>
                        <a:ext uri="{9D8B030D-6E8A-4147-A177-3AD203B41FA5}">
                          <a16:colId xmlns:a16="http://schemas.microsoft.com/office/drawing/2014/main" val="2517592409"/>
                        </a:ext>
                      </a:extLst>
                    </a:gridCol>
                    <a:gridCol w="3506714">
                      <a:extLst>
                        <a:ext uri="{9D8B030D-6E8A-4147-A177-3AD203B41FA5}">
                          <a16:colId xmlns:a16="http://schemas.microsoft.com/office/drawing/2014/main" val="1542711824"/>
                        </a:ext>
                      </a:extLst>
                    </a:gridCol>
                    <a:gridCol w="1552305">
                      <a:extLst>
                        <a:ext uri="{9D8B030D-6E8A-4147-A177-3AD203B41FA5}">
                          <a16:colId xmlns:a16="http://schemas.microsoft.com/office/drawing/2014/main" val="1951294256"/>
                        </a:ext>
                      </a:extLst>
                    </a:gridCol>
                    <a:gridCol w="1744133">
                      <a:extLst>
                        <a:ext uri="{9D8B030D-6E8A-4147-A177-3AD203B41FA5}">
                          <a16:colId xmlns:a16="http://schemas.microsoft.com/office/drawing/2014/main" val="2486765925"/>
                        </a:ext>
                      </a:extLst>
                    </a:gridCol>
                    <a:gridCol w="2633133">
                      <a:extLst>
                        <a:ext uri="{9D8B030D-6E8A-4147-A177-3AD203B41FA5}">
                          <a16:colId xmlns:a16="http://schemas.microsoft.com/office/drawing/2014/main" val="2482236599"/>
                        </a:ext>
                      </a:extLst>
                    </a:gridCol>
                  </a:tblGrid>
                  <a:tr h="452404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Peak value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≤150</m:t>
                                </m:r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TW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Average</m:t>
                                </m:r>
                                <m:r>
                                  <a:rPr lang="en-US" altLang="zh-TW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field</m:t>
                                </m:r>
                              </m:oMath>
                            </m:oMathPara>
                          </a14:m>
                          <a:endParaRPr lang="zh-TW" altLang="en-US" i="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/>
                            <a:t>Mean error</a:t>
                          </a:r>
                          <a:endParaRPr lang="zh-TW" altLang="en-US" i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0471253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Left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1771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7.237%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10.2452mT</a:t>
                          </a:r>
                          <a:endParaRPr lang="zh-TW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0.0340mT</a:t>
                          </a:r>
                          <a:endParaRPr lang="zh-TW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448062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Right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14082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0.3491%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10.4684mT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0.1271mT</a:t>
                          </a:r>
                        </a:p>
                        <a:p>
                          <a:pPr algn="ctr"/>
                          <a:r>
                            <a:rPr lang="en-US" altLang="zh-TW" sz="16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≤150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0.3019mT</a:t>
                          </a:r>
                        </a:p>
                        <a:p>
                          <a:pPr algn="ctr"/>
                          <a:r>
                            <a:rPr lang="en-US" altLang="zh-TW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um</m:t>
                              </m:r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≤300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7120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1">
                <a:extLst>
                  <a:ext uri="{FF2B5EF4-FFF2-40B4-BE49-F238E27FC236}">
                    <a16:creationId xmlns:a16="http://schemas.microsoft.com/office/drawing/2014/main" id="{8650AF4A-7868-4FE8-AAFF-ECABEEB37A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516775"/>
                  </p:ext>
                </p:extLst>
              </p:nvPr>
            </p:nvGraphicFramePr>
            <p:xfrm>
              <a:off x="94809" y="4284540"/>
              <a:ext cx="11910925" cy="19625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61335">
                      <a:extLst>
                        <a:ext uri="{9D8B030D-6E8A-4147-A177-3AD203B41FA5}">
                          <a16:colId xmlns:a16="http://schemas.microsoft.com/office/drawing/2014/main" val="2220848039"/>
                        </a:ext>
                      </a:extLst>
                    </a:gridCol>
                    <a:gridCol w="1213305">
                      <a:extLst>
                        <a:ext uri="{9D8B030D-6E8A-4147-A177-3AD203B41FA5}">
                          <a16:colId xmlns:a16="http://schemas.microsoft.com/office/drawing/2014/main" val="2517592409"/>
                        </a:ext>
                      </a:extLst>
                    </a:gridCol>
                    <a:gridCol w="3506714">
                      <a:extLst>
                        <a:ext uri="{9D8B030D-6E8A-4147-A177-3AD203B41FA5}">
                          <a16:colId xmlns:a16="http://schemas.microsoft.com/office/drawing/2014/main" val="1542711824"/>
                        </a:ext>
                      </a:extLst>
                    </a:gridCol>
                    <a:gridCol w="1552305">
                      <a:extLst>
                        <a:ext uri="{9D8B030D-6E8A-4147-A177-3AD203B41FA5}">
                          <a16:colId xmlns:a16="http://schemas.microsoft.com/office/drawing/2014/main" val="1951294256"/>
                        </a:ext>
                      </a:extLst>
                    </a:gridCol>
                    <a:gridCol w="1744133">
                      <a:extLst>
                        <a:ext uri="{9D8B030D-6E8A-4147-A177-3AD203B41FA5}">
                          <a16:colId xmlns:a16="http://schemas.microsoft.com/office/drawing/2014/main" val="2486765925"/>
                        </a:ext>
                      </a:extLst>
                    </a:gridCol>
                    <a:gridCol w="2633133">
                      <a:extLst>
                        <a:ext uri="{9D8B030D-6E8A-4147-A177-3AD203B41FA5}">
                          <a16:colId xmlns:a16="http://schemas.microsoft.com/office/drawing/2014/main" val="248223659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104523" t="-4762" r="-779397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70660" t="-4762" r="-169271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85490" t="-4762" r="-282353" b="-219048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/>
                            <a:t>Mean error</a:t>
                          </a:r>
                          <a:endParaRPr lang="zh-TW" altLang="en-US" i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0471253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Left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1771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7.237%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10.2452mT</a:t>
                          </a:r>
                          <a:endParaRPr lang="zh-TW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0.0340mT</a:t>
                          </a:r>
                          <a:endParaRPr lang="zh-TW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448062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Right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14082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0.3491%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10.4684mT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432867" t="-200917" r="-151748" b="-110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9"/>
                          <a:stretch>
                            <a:fillRect l="-352778" t="-200917" r="-463" b="-110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71201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7DA54126-8AD3-42B9-BDF5-6524E0886B14}"/>
              </a:ext>
            </a:extLst>
          </p:cNvPr>
          <p:cNvSpPr txBox="1"/>
          <p:nvPr/>
        </p:nvSpPr>
        <p:spPr>
          <a:xfrm>
            <a:off x="0" y="1247855"/>
            <a:ext cx="234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Long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2E6675A-32D5-438E-ABBA-19CCC6EFA221}"/>
              </a:ext>
            </a:extLst>
          </p:cNvPr>
          <p:cNvSpPr txBox="1"/>
          <p:nvPr/>
        </p:nvSpPr>
        <p:spPr>
          <a:xfrm>
            <a:off x="-33943" y="6359094"/>
            <a:ext cx="267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Resolution:2.8uT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657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90509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6" name="auto caption"/>
          <p:cNvSpPr txBox="1"/>
          <p:nvPr/>
        </p:nvSpPr>
        <p:spPr>
          <a:xfrm>
            <a:off x="-33943" y="586474"/>
            <a:ext cx="12115876" cy="66659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Setup: </a:t>
            </a:r>
            <a:r>
              <a:rPr lang="en-US" altLang="zh-TW" b="1" dirty="0"/>
              <a:t>Calibration is performed using the eighteen-parameter calibration points, followed by fitting to the FEM nodes within the workspace</a:t>
            </a:r>
            <a:r>
              <a:rPr lang="en-US" altLang="zh-TW" dirty="0"/>
              <a:t>. 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B7E30370-F78D-43D4-9801-77BBC5D93647}"/>
              </a:ext>
            </a:extLst>
          </p:cNvPr>
          <p:cNvGrpSpPr/>
          <p:nvPr/>
        </p:nvGrpSpPr>
        <p:grpSpPr>
          <a:xfrm>
            <a:off x="999600" y="1753814"/>
            <a:ext cx="3036863" cy="2239446"/>
            <a:chOff x="999600" y="1753814"/>
            <a:chExt cx="3036863" cy="2239446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1AFC824F-DE35-4496-BA10-C32F24412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2633" y="1753814"/>
              <a:ext cx="2863830" cy="2225144"/>
            </a:xfrm>
            <a:prstGeom prst="rect">
              <a:avLst/>
            </a:prstGeom>
          </p:spPr>
        </p:pic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0478066-310B-4F80-997B-F860B06EC624}"/>
                </a:ext>
              </a:extLst>
            </p:cNvPr>
            <p:cNvGrpSpPr/>
            <p:nvPr/>
          </p:nvGrpSpPr>
          <p:grpSpPr>
            <a:xfrm>
              <a:off x="999600" y="1830285"/>
              <a:ext cx="2644167" cy="2162975"/>
              <a:chOff x="8570287" y="905457"/>
              <a:chExt cx="2787274" cy="2384513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98E2DA52-7382-44DD-9802-8F4A47DA9DEE}"/>
                  </a:ext>
                </a:extLst>
              </p:cNvPr>
              <p:cNvGrpSpPr/>
              <p:nvPr/>
            </p:nvGrpSpPr>
            <p:grpSpPr>
              <a:xfrm>
                <a:off x="8638505" y="1200487"/>
                <a:ext cx="2406594" cy="2077386"/>
                <a:chOff x="8638505" y="1200487"/>
                <a:chExt cx="2406594" cy="2077386"/>
              </a:xfrm>
            </p:grpSpPr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62D9AAFB-45CB-41B6-A7DA-A163C76C7C70}"/>
                    </a:ext>
                  </a:extLst>
                </p:cNvPr>
                <p:cNvSpPr/>
                <p:nvPr/>
              </p:nvSpPr>
              <p:spPr>
                <a:xfrm>
                  <a:off x="9799639" y="3094975"/>
                  <a:ext cx="1245460" cy="18289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94D5CEEC-4BD3-41C5-AEA4-00E812C48194}"/>
                    </a:ext>
                  </a:extLst>
                </p:cNvPr>
                <p:cNvSpPr/>
                <p:nvPr/>
              </p:nvSpPr>
              <p:spPr>
                <a:xfrm rot="16200000">
                  <a:off x="8177811" y="1661181"/>
                  <a:ext cx="1167609" cy="2462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76C41D3C-8E9A-426D-BF6B-D03547810A62}"/>
                      </a:ext>
                    </a:extLst>
                  </p:cNvPr>
                  <p:cNvSpPr txBox="1"/>
                  <p:nvPr/>
                </p:nvSpPr>
                <p:spPr>
                  <a:xfrm>
                    <a:off x="9487177" y="3043749"/>
                    <a:ext cx="187038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Residual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  <m: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𝑚𝑇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76C41D3C-8E9A-426D-BF6B-D03547810A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7177" y="3043749"/>
                    <a:ext cx="1870384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24" r="-4467" b="-4722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BACF366E-8A86-48E7-B656-FA0D777C258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721881" y="1753863"/>
                    <a:ext cx="1943033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BACF366E-8A86-48E7-B656-FA0D777C25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721881" y="1753863"/>
                    <a:ext cx="1943033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0381" r="-39474" b="-519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8971A3D-DDA5-4385-B9A8-7CFCDB13136B}"/>
              </a:ext>
            </a:extLst>
          </p:cNvPr>
          <p:cNvGrpSpPr/>
          <p:nvPr/>
        </p:nvGrpSpPr>
        <p:grpSpPr>
          <a:xfrm>
            <a:off x="6798048" y="1673664"/>
            <a:ext cx="3236243" cy="2472270"/>
            <a:chOff x="6798048" y="1673664"/>
            <a:chExt cx="3236243" cy="247227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7712027-7F4D-4C89-BDDF-34189162C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7467" y="1673664"/>
              <a:ext cx="3106824" cy="2438400"/>
            </a:xfrm>
            <a:prstGeom prst="rect">
              <a:avLst/>
            </a:prstGeom>
          </p:spPr>
        </p:pic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933C1DEA-2A25-4CD8-B1F2-559B13368157}"/>
                </a:ext>
              </a:extLst>
            </p:cNvPr>
            <p:cNvGrpSpPr/>
            <p:nvPr/>
          </p:nvGrpSpPr>
          <p:grpSpPr>
            <a:xfrm>
              <a:off x="6798048" y="1906475"/>
              <a:ext cx="2563781" cy="2239459"/>
              <a:chOff x="8067924" y="3782603"/>
              <a:chExt cx="3034352" cy="2604503"/>
            </a:xfrm>
          </p:grpSpPr>
          <p:grpSp>
            <p:nvGrpSpPr>
              <p:cNvPr id="27" name="群組 26">
                <a:extLst>
                  <a:ext uri="{FF2B5EF4-FFF2-40B4-BE49-F238E27FC236}">
                    <a16:creationId xmlns:a16="http://schemas.microsoft.com/office/drawing/2014/main" id="{AC662A1D-67BC-4890-A4F8-3F3FC002A9EE}"/>
                  </a:ext>
                </a:extLst>
              </p:cNvPr>
              <p:cNvGrpSpPr/>
              <p:nvPr/>
            </p:nvGrpSpPr>
            <p:grpSpPr>
              <a:xfrm>
                <a:off x="8201056" y="4174056"/>
                <a:ext cx="2901220" cy="2213050"/>
                <a:chOff x="8201056" y="4174056"/>
                <a:chExt cx="2901220" cy="2213050"/>
              </a:xfrm>
            </p:grpSpPr>
            <p:grpSp>
              <p:nvGrpSpPr>
                <p:cNvPr id="23" name="群組 22">
                  <a:extLst>
                    <a:ext uri="{FF2B5EF4-FFF2-40B4-BE49-F238E27FC236}">
                      <a16:creationId xmlns:a16="http://schemas.microsoft.com/office/drawing/2014/main" id="{8A0D190F-A149-479A-B4CF-2466476579D5}"/>
                    </a:ext>
                  </a:extLst>
                </p:cNvPr>
                <p:cNvGrpSpPr/>
                <p:nvPr/>
              </p:nvGrpSpPr>
              <p:grpSpPr>
                <a:xfrm>
                  <a:off x="8201056" y="4174056"/>
                  <a:ext cx="2703536" cy="2213050"/>
                  <a:chOff x="8201056" y="4174056"/>
                  <a:chExt cx="2703536" cy="2213050"/>
                </a:xfrm>
              </p:grpSpPr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121C5590-E60E-40CA-90CE-72EB5B131EA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18622" y="4656490"/>
                    <a:ext cx="1158966" cy="19409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id="{28DA81AC-D8F6-40B2-92CE-B56A4FCF8FB1}"/>
                      </a:ext>
                    </a:extLst>
                  </p:cNvPr>
                  <p:cNvSpPr/>
                  <p:nvPr/>
                </p:nvSpPr>
                <p:spPr>
                  <a:xfrm>
                    <a:off x="9429576" y="6146545"/>
                    <a:ext cx="1475016" cy="24056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9" name="文字方塊 38">
                      <a:extLst>
                        <a:ext uri="{FF2B5EF4-FFF2-40B4-BE49-F238E27FC236}">
                          <a16:creationId xmlns:a16="http://schemas.microsoft.com/office/drawing/2014/main" id="{6B367B9D-C1D1-403F-8DEB-C37529FC51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31892" y="6108292"/>
                      <a:ext cx="1870384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Residual</m:t>
                            </m:r>
                            <m: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error</m:t>
                            </m:r>
                            <m:r>
                              <a:rPr lang="en-US" altLang="zh-TW" sz="1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𝑚𝑇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oMath>
                        </m:oMathPara>
                      </a14:m>
                      <a:endParaRPr lang="zh-TW" altLang="en-US" sz="2000" dirty="0"/>
                    </a:p>
                  </p:txBody>
                </p:sp>
              </mc:Choice>
              <mc:Fallback>
                <p:sp>
                  <p:nvSpPr>
                    <p:cNvPr id="39" name="文字方塊 38">
                      <a:extLst>
                        <a:ext uri="{FF2B5EF4-FFF2-40B4-BE49-F238E27FC236}">
                          <a16:creationId xmlns:a16="http://schemas.microsoft.com/office/drawing/2014/main" id="{6B367B9D-C1D1-403F-8DEB-C37529FC513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31892" y="6108292"/>
                      <a:ext cx="1870384" cy="24622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615" r="-17308" b="-5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9AAFCE20-3EC1-4EF5-886A-490516CB6BF3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219519" y="4631008"/>
                    <a:ext cx="194303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9AAFCE20-3EC1-4EF5-886A-490516CB6B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219519" y="4631008"/>
                    <a:ext cx="1943032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6788" r="-58824" b="-547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表格 21">
                <a:extLst>
                  <a:ext uri="{FF2B5EF4-FFF2-40B4-BE49-F238E27FC236}">
                    <a16:creationId xmlns:a16="http://schemas.microsoft.com/office/drawing/2014/main" id="{8650AF4A-7868-4FE8-AAFF-ECABEEB37A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944156"/>
                  </p:ext>
                </p:extLst>
              </p:nvPr>
            </p:nvGraphicFramePr>
            <p:xfrm>
              <a:off x="287865" y="4540405"/>
              <a:ext cx="11506201" cy="19365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86934">
                      <a:extLst>
                        <a:ext uri="{9D8B030D-6E8A-4147-A177-3AD203B41FA5}">
                          <a16:colId xmlns:a16="http://schemas.microsoft.com/office/drawing/2014/main" val="2220848039"/>
                        </a:ext>
                      </a:extLst>
                    </a:gridCol>
                    <a:gridCol w="1041400">
                      <a:extLst>
                        <a:ext uri="{9D8B030D-6E8A-4147-A177-3AD203B41FA5}">
                          <a16:colId xmlns:a16="http://schemas.microsoft.com/office/drawing/2014/main" val="2517592409"/>
                        </a:ext>
                      </a:extLst>
                    </a:gridCol>
                    <a:gridCol w="2794000">
                      <a:extLst>
                        <a:ext uri="{9D8B030D-6E8A-4147-A177-3AD203B41FA5}">
                          <a16:colId xmlns:a16="http://schemas.microsoft.com/office/drawing/2014/main" val="1542711824"/>
                        </a:ext>
                      </a:extLst>
                    </a:gridCol>
                    <a:gridCol w="2700866">
                      <a:extLst>
                        <a:ext uri="{9D8B030D-6E8A-4147-A177-3AD203B41FA5}">
                          <a16:colId xmlns:a16="http://schemas.microsoft.com/office/drawing/2014/main" val="1951294256"/>
                        </a:ext>
                      </a:extLst>
                    </a:gridCol>
                    <a:gridCol w="1871134">
                      <a:extLst>
                        <a:ext uri="{9D8B030D-6E8A-4147-A177-3AD203B41FA5}">
                          <a16:colId xmlns:a16="http://schemas.microsoft.com/office/drawing/2014/main" val="2486765925"/>
                        </a:ext>
                      </a:extLst>
                    </a:gridCol>
                    <a:gridCol w="1811867">
                      <a:extLst>
                        <a:ext uri="{9D8B030D-6E8A-4147-A177-3AD203B41FA5}">
                          <a16:colId xmlns:a16="http://schemas.microsoft.com/office/drawing/2014/main" val="2727676957"/>
                        </a:ext>
                      </a:extLst>
                    </a:gridCol>
                  </a:tblGrid>
                  <a:tr h="452404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Peak value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≤150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Average</m:t>
                                </m:r>
                                <m:r>
                                  <a:rPr lang="en-US" altLang="zh-TW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field</m:t>
                                </m:r>
                              </m:oMath>
                            </m:oMathPara>
                          </a14:m>
                          <a:endParaRPr lang="zh-TW" altLang="en-US" i="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/>
                            <a:t>Mean error</a:t>
                          </a:r>
                          <a:endParaRPr lang="zh-TW" altLang="en-US" i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0471253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Left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1791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6.4954%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29.1094mT</a:t>
                          </a:r>
                          <a:endParaRPr lang="zh-TW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0.2190mT</a:t>
                          </a:r>
                          <a:endParaRPr lang="zh-TW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448062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Right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14066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0.4751%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30.7330mT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0.4294mT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≤150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1200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1.2666mT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um</m:t>
                              </m:r>
                              <m: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≤300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1200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71201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表格 21">
                <a:extLst>
                  <a:ext uri="{FF2B5EF4-FFF2-40B4-BE49-F238E27FC236}">
                    <a16:creationId xmlns:a16="http://schemas.microsoft.com/office/drawing/2014/main" id="{8650AF4A-7868-4FE8-AAFF-ECABEEB37A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944156"/>
                  </p:ext>
                </p:extLst>
              </p:nvPr>
            </p:nvGraphicFramePr>
            <p:xfrm>
              <a:off x="287865" y="4540405"/>
              <a:ext cx="11506201" cy="19365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86934">
                      <a:extLst>
                        <a:ext uri="{9D8B030D-6E8A-4147-A177-3AD203B41FA5}">
                          <a16:colId xmlns:a16="http://schemas.microsoft.com/office/drawing/2014/main" val="2220848039"/>
                        </a:ext>
                      </a:extLst>
                    </a:gridCol>
                    <a:gridCol w="1041400">
                      <a:extLst>
                        <a:ext uri="{9D8B030D-6E8A-4147-A177-3AD203B41FA5}">
                          <a16:colId xmlns:a16="http://schemas.microsoft.com/office/drawing/2014/main" val="2517592409"/>
                        </a:ext>
                      </a:extLst>
                    </a:gridCol>
                    <a:gridCol w="2794000">
                      <a:extLst>
                        <a:ext uri="{9D8B030D-6E8A-4147-A177-3AD203B41FA5}">
                          <a16:colId xmlns:a16="http://schemas.microsoft.com/office/drawing/2014/main" val="1542711824"/>
                        </a:ext>
                      </a:extLst>
                    </a:gridCol>
                    <a:gridCol w="2700866">
                      <a:extLst>
                        <a:ext uri="{9D8B030D-6E8A-4147-A177-3AD203B41FA5}">
                          <a16:colId xmlns:a16="http://schemas.microsoft.com/office/drawing/2014/main" val="1951294256"/>
                        </a:ext>
                      </a:extLst>
                    </a:gridCol>
                    <a:gridCol w="1871134">
                      <a:extLst>
                        <a:ext uri="{9D8B030D-6E8A-4147-A177-3AD203B41FA5}">
                          <a16:colId xmlns:a16="http://schemas.microsoft.com/office/drawing/2014/main" val="2486765925"/>
                        </a:ext>
                      </a:extLst>
                    </a:gridCol>
                    <a:gridCol w="1811867">
                      <a:extLst>
                        <a:ext uri="{9D8B030D-6E8A-4147-A177-3AD203B41FA5}">
                          <a16:colId xmlns:a16="http://schemas.microsoft.com/office/drawing/2014/main" val="2727676957"/>
                        </a:ext>
                      </a:extLst>
                    </a:gridCol>
                  </a:tblGrid>
                  <a:tr h="452404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23977" t="-6667" r="-881871" b="-3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3442" t="-6667" r="-228540" b="-3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90068" t="-6667" r="-136795" b="-3280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/>
                            <a:t>Mean error</a:t>
                          </a:r>
                          <a:endParaRPr lang="zh-TW" altLang="en-US" i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0471253"/>
                      </a:ext>
                    </a:extLst>
                  </a:tr>
                  <a:tr h="661213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Left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1791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6.4954%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29.1094mT</a:t>
                          </a:r>
                          <a:endParaRPr lang="zh-TW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0.2190mT</a:t>
                          </a:r>
                          <a:endParaRPr lang="zh-TW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44806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Right figure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14066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0.4751%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30.7330mT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18567" t="-138235" r="-97394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36027" t="-138235" r="-673" b="-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71201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7DA54126-8AD3-42B9-BDF5-6524E0886B14}"/>
              </a:ext>
            </a:extLst>
          </p:cNvPr>
          <p:cNvSpPr txBox="1"/>
          <p:nvPr/>
        </p:nvSpPr>
        <p:spPr>
          <a:xfrm>
            <a:off x="0" y="1247855"/>
            <a:ext cx="234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BCA9A95-3FE0-4A15-B1F8-0C4668E5E092}"/>
              </a:ext>
            </a:extLst>
          </p:cNvPr>
          <p:cNvSpPr txBox="1"/>
          <p:nvPr/>
        </p:nvSpPr>
        <p:spPr>
          <a:xfrm>
            <a:off x="0" y="6488668"/>
            <a:ext cx="267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Resolution:17uT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943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/>
              <p:nvPr/>
            </p:nvSpPr>
            <p:spPr>
              <a:xfrm>
                <a:off x="110067" y="552085"/>
                <a:ext cx="11763465" cy="38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𝑊𝑜𝑟𝑘𝑠𝑝𝑎𝑐𝑒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𝑟𝑎𝑑𝑖𝑢𝑠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552085"/>
                <a:ext cx="11763465" cy="383567"/>
              </a:xfrm>
              <a:prstGeom prst="rect">
                <a:avLst/>
              </a:prstGeom>
              <a:blipFill>
                <a:blip r:embed="rId2"/>
                <a:stretch>
                  <a:fillRect l="-311" t="-1613" b="-209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/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𝐹𝑙𝑢𝑥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𝑚𝑎𝑡𝑟𝑖𝑥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blipFill>
                <a:blip r:embed="rId3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423A256-C166-4717-91CD-2EEEBEC6306E}"/>
                  </a:ext>
                </a:extLst>
              </p:cNvPr>
              <p:cNvSpPr txBox="1"/>
              <p:nvPr/>
            </p:nvSpPr>
            <p:spPr>
              <a:xfrm>
                <a:off x="110067" y="1641632"/>
                <a:ext cx="4258733" cy="397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𝐶𝑢𝑟𝑟𝑒𝑛𝑡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𝑓𝑖𝑒𝑙𝑑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𝑔𝑎𝑖𝑛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sPre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423A256-C166-4717-91CD-2EEEBEC63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641632"/>
                <a:ext cx="4258733" cy="397673"/>
              </a:xfrm>
              <a:prstGeom prst="rect">
                <a:avLst/>
              </a:prstGeom>
              <a:blipFill>
                <a:blip r:embed="rId4"/>
                <a:stretch>
                  <a:fillRect l="-858"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94BBAD5-0B9C-40E7-A139-CD14DD1A069D}"/>
                  </a:ext>
                </a:extLst>
              </p:cNvPr>
              <p:cNvSpPr txBox="1"/>
              <p:nvPr/>
            </p:nvSpPr>
            <p:spPr>
              <a:xfrm>
                <a:off x="110065" y="2855412"/>
                <a:ext cx="8585202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𝑃𝑟𝑒𝑑𝑖𝑐𝑡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94BBAD5-0B9C-40E7-A139-CD14DD1A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5" y="2855412"/>
                <a:ext cx="8585202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/>
              <p:nvPr/>
            </p:nvSpPr>
            <p:spPr>
              <a:xfrm>
                <a:off x="110066" y="2289415"/>
                <a:ext cx="4258733" cy="397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𝑉𝑜𝑙𝑡𝑎𝑔𝑒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𝑓𝑖𝑒𝑙𝑑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𝑔𝑎𝑖𝑛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sPre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6" y="2289415"/>
                <a:ext cx="4258733" cy="397673"/>
              </a:xfrm>
              <a:prstGeom prst="rect">
                <a:avLst/>
              </a:prstGeom>
              <a:blipFill>
                <a:blip r:embed="rId7"/>
                <a:stretch>
                  <a:fillRect l="-858" b="-16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A83D49E-FBA0-44F1-BA58-A7ED9A0C3CBA}"/>
                  </a:ext>
                </a:extLst>
              </p:cNvPr>
              <p:cNvSpPr txBox="1"/>
              <p:nvPr/>
            </p:nvSpPr>
            <p:spPr>
              <a:xfrm>
                <a:off x="110062" y="4250299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𝐼𝑠𝑜𝑡𝑟𝑜𝑝𝑦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A83D49E-FBA0-44F1-BA58-A7ED9A0C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2" y="4250299"/>
                <a:ext cx="4258733" cy="369332"/>
              </a:xfrm>
              <a:prstGeom prst="rect">
                <a:avLst/>
              </a:prstGeom>
              <a:blipFill>
                <a:blip r:embed="rId8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97BA21-92F0-4A4F-926E-5D3A151931D0}"/>
                  </a:ext>
                </a:extLst>
              </p:cNvPr>
              <p:cNvSpPr txBox="1"/>
              <p:nvPr/>
            </p:nvSpPr>
            <p:spPr>
              <a:xfrm>
                <a:off x="110062" y="3598807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𝑎𝑝𝑎𝑐𝑖𝑡𝑦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𝑚𝑒𝑎𝑠𝑢𝑟𝑒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𝑚𝑇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97BA21-92F0-4A4F-926E-5D3A15193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2" y="3598807"/>
                <a:ext cx="4258733" cy="369332"/>
              </a:xfrm>
              <a:prstGeom prst="rect">
                <a:avLst/>
              </a:prstGeom>
              <a:blipFill>
                <a:blip r:embed="rId9"/>
                <a:stretch>
                  <a:fillRect l="-858" t="-116393" b="-175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F6FC7C5-863F-44FE-B7F6-035F92FE2774}"/>
                  </a:ext>
                </a:extLst>
              </p:cNvPr>
              <p:cNvSpPr txBox="1"/>
              <p:nvPr/>
            </p:nvSpPr>
            <p:spPr>
              <a:xfrm>
                <a:off x="110061" y="4812587"/>
                <a:ext cx="4258733" cy="621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𝐴𝑣𝑒𝑟𝑎𝑔𝑒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𝑓𝑖𝑒𝑙𝑑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6×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F6FC7C5-863F-44FE-B7F6-035F92FE2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1" y="4812587"/>
                <a:ext cx="4258733" cy="6217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40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/>
              <p:nvPr/>
            </p:nvSpPr>
            <p:spPr>
              <a:xfrm>
                <a:off x="110067" y="552085"/>
                <a:ext cx="11763465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Long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calibrate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result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=1771)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552085"/>
                <a:ext cx="11763465" cy="390748"/>
              </a:xfrm>
              <a:prstGeom prst="rect">
                <a:avLst/>
              </a:prstGeom>
              <a:blipFill>
                <a:blip r:embed="rId2"/>
                <a:stretch>
                  <a:fillRect l="-311" t="-3125" b="-140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/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Single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(1771 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points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blipFill>
                <a:blip r:embed="rId3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/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Eighteen</m:t>
                    </m:r>
                  </m:oMath>
                </a14:m>
                <a:r>
                  <a:rPr lang="en-US" altLang="zh-TW" dirty="0"/>
                  <a:t>(1771 points)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blipFill>
                <a:blip r:embed="rId4"/>
                <a:stretch>
                  <a:fillRect l="-858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ZP_s_mat"/>
          <p:cNvSpPr txBox="1"/>
          <p:nvPr/>
        </p:nvSpPr>
        <p:spPr>
          <a:xfrm>
            <a:off x="460000" y="1650000"/>
            <a:ext cx="4389119" cy="1115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sSub>
                    <m:sSubPr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̄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e>
                    <m:sub>
                      <m:r>
                        <a:rPr lang="en-US" sz="1200" b="0" i="1">
                          <a:latin typeface="Cambria Math" panose="02040503050406030204" pitchFamily="18" charset="0"/>
                        </a:rPr>
                        <m:t>𝐼</m:t>
                      </m:r>
                    </m:sub>
                  </m:sSub>
                  <m:r>
                    <a:rPr lang="en-US" sz="1200" b="0" i="0">
                      <a:latin typeface="Cambria Math" panose="02040503050406030204" pitchFamily="18" charset="0"/>
                    </a:rPr>
                    <m:t> = </m:t>
                  </m:r>
                  <m:d>
                    <m:dPr>
                      <m:begChr m:val="["/>
                      <m:endChr m:val="]"/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−0.1046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−0.1809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−0.1745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−0.1737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−0.1827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−0.2145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0.9517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−0.1986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−0.1589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−0.1576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−0.2002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−0.1870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−0.1737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0.8427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−0.1076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−0.1740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−0.1827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−0.2040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−0.1571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−0.2068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0.9456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−0.1569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−0.1994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−0.2045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−0.1573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−0.1983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−0.1589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0.9514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−0.2097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−0.1870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−0.1734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−0.1804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−0.1746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−0.1054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0.8382</m:t>
                            </m:r>
                          </m:e>
                        </m:mr>
                      </m:m>
                    </m:e>
                  </m:d>
                  <m:r>
                    <a:rPr lang="en-US" sz="1200" b="0" i="0">
                      <a:latin typeface="Cambria Math" panose="02040503050406030204" pitchFamily="18" charset="0"/>
                    </a:rPr>
                    <m:t> </m:t>
                  </m:r>
                </m:oMath>
              </m:oMathPara>
            </a14:m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ZP_s_sc"/>
              <p:cNvSpPr txBox="1"/>
              <p:nvPr/>
            </p:nvSpPr>
            <p:spPr>
              <a:xfrm>
                <a:off x="150001" y="2953600"/>
                <a:ext cx="3761600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en-US" altLang="zh-TW" sz="1400" dirty="0"/>
                        <m:t>874.25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9.67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>
          <p:sp>
            <p:nvSpPr>
              <p:cNvPr id="41" name="ZP_s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1" y="2953600"/>
                <a:ext cx="3761600" cy="310896"/>
              </a:xfrm>
              <a:prstGeom prst="rect">
                <a:avLst/>
              </a:prstGeom>
              <a:blipFill>
                <a:blip r:embed="rId5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ZP_s_nmae"/>
          <p:cNvSpPr txBox="1"/>
          <p:nvPr/>
        </p:nvSpPr>
        <p:spPr>
          <a:xfrm>
            <a:off x="150000" y="3400000"/>
            <a:ext cx="4191000" cy="549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r>
                    <m:rPr>
                      <m:sty m:val="p"/>
                    </m:rPr>
                    <a:rPr lang="en-US" altLang="zh-TW" sz="1400" smtClean="0">
                      <a:latin typeface="Cambria Math" panose="02040503050406030204" pitchFamily="18" charset="0"/>
                    </a:rPr>
                    <m:t>NMAE</m:t>
                  </m:r>
                  <m:r>
                    <a:rPr lang="en-US" altLang="zh-TW" sz="1400" i="1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n-US" altLang="zh-TW" sz="1400" i="1">
                          <a:latin typeface="Cambria Math" panose="02040503050406030204" pitchFamily="18" charset="0"/>
                        </a:rPr>
                      </m:ctrlPr>
                    </m:fPr>
                    <m:num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Pre>
                                    <m:sPre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</m:e>
                                  </m:sPr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num>
                    <m:den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den>
                  </m:f>
                  <m:r>
                    <a:rPr lang="en-US" altLang="zh-TW" sz="1400" i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∙</m:t>
                  </m:r>
                  <m:r>
                    <a:rPr lang="en-US" altLang="zh-TW" sz="1400" i="1">
                      <a:latin typeface="Cambria Math" panose="02040503050406030204" pitchFamily="18" charset="0"/>
                    </a:rPr>
                    <m:t>100</m:t>
                  </m:r>
                  <m:r>
                    <a:rPr lang="en-US" altLang="zh-TW" sz="1400" b="0" i="1" smtClean="0">
                      <a:latin typeface="Cambria Math" panose="02040503050406030204" pitchFamily="18" charset="0"/>
                    </a:rPr>
                    <m:t>%=2.81%</m:t>
                  </m:r>
                </m:oMath>
              </m:oMathPara>
            </a14:m>
            <a:endParaRPr lang="zh-TW" altLang="en-US" sz="1400" dirty="0"/>
          </a:p>
        </p:txBody>
      </p:sp>
      <p:sp>
        <p:nvSpPr>
          <p:cNvPr id="43" name="ZP_e_mat"/>
          <p:cNvSpPr txBox="1"/>
          <p:nvPr/>
        </p:nvSpPr>
        <p:spPr>
          <a:xfrm>
            <a:off x="5991799" y="1575920"/>
            <a:ext cx="4524587" cy="1115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sSub>
                    <m:sSubPr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̄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e>
                    <m:sub>
                      <m:r>
                        <a:rPr lang="en-US" sz="1200" b="0" i="1">
                          <a:latin typeface="Cambria Math" panose="02040503050406030204" pitchFamily="18" charset="0"/>
                        </a:rPr>
                        <m:t>𝐼</m:t>
                      </m:r>
                    </m:sub>
                  </m:sSub>
                  <m:r>
                    <a:rPr lang="en-US" sz="1200" b="0" i="0">
                      <a:latin typeface="Cambria Math" panose="02040503050406030204" pitchFamily="18" charset="0"/>
                    </a:rPr>
                    <m:t> = </m:t>
                  </m:r>
                  <m:d>
                    <m:dPr>
                      <m:begChr m:val="["/>
                      <m:endChr m:val="]"/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−0.1369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−0.1291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−0.1926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−0.1289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−0.1380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0.8309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−0.1231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−0.1230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−0.2030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−0.1276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−0.1923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0.8291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−0.1358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−0.1920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−0.1284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−0.2042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−0.1403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0.8365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−0.1235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−0.2048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−0.1230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−0.2038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−0.1234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0.8338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−0.1392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−0.1279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−0.1928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−0.1288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−0.1936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−0.1366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0.8328</m:t>
                            </m:r>
                          </m:e>
                        </m:mr>
                      </m:m>
                    </m:e>
                  </m:d>
                  <m:r>
                    <a:rPr lang="en-US" sz="1200" b="0" i="0">
                      <a:latin typeface="Cambria Math" panose="02040503050406030204" pitchFamily="18" charset="0"/>
                    </a:rPr>
                    <m:t> </m:t>
                  </m:r>
                </m:oMath>
              </m:oMathPara>
            </a14:m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ZP_e_sc"/>
              <p:cNvSpPr txBox="1"/>
              <p:nvPr/>
            </p:nvSpPr>
            <p:spPr>
              <a:xfrm>
                <a:off x="5693133" y="2977286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4.0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10.75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>
          <p:sp>
            <p:nvSpPr>
              <p:cNvPr id="44" name="ZP_e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133" y="2977286"/>
                <a:ext cx="3457787" cy="310896"/>
              </a:xfrm>
              <a:prstGeom prst="rect">
                <a:avLst/>
              </a:prstGeom>
              <a:blipFill>
                <a:blip r:embed="rId6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ZP_e_nmae"/>
          <p:cNvSpPr txBox="1"/>
          <p:nvPr/>
        </p:nvSpPr>
        <p:spPr>
          <a:xfrm>
            <a:off x="5517025" y="3433867"/>
            <a:ext cx="4191000" cy="549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r>
                    <m:rPr>
                      <m:sty m:val="p"/>
                    </m:rPr>
                    <a:rPr lang="en-US" altLang="zh-TW" sz="1400" smtClean="0">
                      <a:latin typeface="Cambria Math" panose="02040503050406030204" pitchFamily="18" charset="0"/>
                    </a:rPr>
                    <m:t>NMAE</m:t>
                  </m:r>
                  <m:r>
                    <a:rPr lang="en-US" altLang="zh-TW" sz="1400" i="1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n-US" altLang="zh-TW" sz="1400" i="1">
                          <a:latin typeface="Cambria Math" panose="02040503050406030204" pitchFamily="18" charset="0"/>
                        </a:rPr>
                      </m:ctrlPr>
                    </m:fPr>
                    <m:num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Pre>
                                    <m:sPre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</m:e>
                                  </m:sPr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num>
                    <m:den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den>
                  </m:f>
                  <m:r>
                    <a:rPr lang="en-US" altLang="zh-TW" sz="1400" i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∙</m:t>
                  </m:r>
                  <m:r>
                    <a:rPr lang="en-US" altLang="zh-TW" sz="1400" i="1">
                      <a:latin typeface="Cambria Math" panose="02040503050406030204" pitchFamily="18" charset="0"/>
                    </a:rPr>
                    <m:t>100</m:t>
                  </m:r>
                  <m:r>
                    <a:rPr lang="en-US" altLang="zh-TW" sz="1400" b="0" i="1" smtClean="0">
                      <a:latin typeface="Cambria Math" panose="02040503050406030204" pitchFamily="18" charset="0"/>
                    </a:rPr>
                    <m:t>%=0.27%</m:t>
                  </m:r>
                </m:oMath>
              </m:oMathPara>
            </a14:m>
            <a:endParaRPr lang="zh-TW" altLang="en-US" sz="1400" dirty="0"/>
          </a:p>
        </p:txBody>
      </p:sp>
      <p:sp>
        <p:nvSpPr>
          <p:cNvPr id="46" name="ZP_e_bias"/>
          <p:cNvSpPr txBox="1"/>
          <p:nvPr/>
        </p:nvSpPr>
        <p:spPr>
          <a:xfrm>
            <a:off x="5371400" y="4274746"/>
            <a:ext cx="5235787" cy="56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acc>
                    <m:accPr>
                      <m:chr m:val="̂"/>
                      <m:ctrlPr>
                        <a:rPr lang="en-US" altLang="zh-TW" sz="1200" b="0" i="1" smtClean="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e>
                  </m:acc>
                  <m:r>
                    <a:rPr lang="en-US" sz="1200" b="0" i="0">
                      <a:latin typeface="Cambria Math" panose="02040503050406030204" pitchFamily="18" charset="0"/>
                    </a:rPr>
                    <m:t>= </m:t>
                  </m:r>
                  <m:d>
                    <m:dPr>
                      <m:begChr m:val="["/>
                      <m:endChr m:val="]"/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0.0183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0.0195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−0.1173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0.0021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0.0012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−0.1180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−0.1178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0.0024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0.0155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0.0147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0.0016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−0.1180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0.1176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−0.0022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0.1167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−0.0029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−0.0178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−0.0181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0313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/>
              <p:nvPr/>
            </p:nvSpPr>
            <p:spPr>
              <a:xfrm>
                <a:off x="110067" y="552085"/>
                <a:ext cx="11763465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Zhi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peng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calibrate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result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=1791)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552085"/>
                <a:ext cx="11763465" cy="390748"/>
              </a:xfrm>
              <a:prstGeom prst="rect">
                <a:avLst/>
              </a:prstGeom>
              <a:blipFill>
                <a:blip r:embed="rId2"/>
                <a:stretch>
                  <a:fillRect l="-311" t="-3125" b="-140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/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Single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(1791 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points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blipFill>
                <a:blip r:embed="rId3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/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Eighteen</m:t>
                    </m:r>
                  </m:oMath>
                </a14:m>
                <a:r>
                  <a:rPr lang="en-US" altLang="zh-TW" dirty="0"/>
                  <a:t>(1791 points)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blipFill>
                <a:blip r:embed="rId4"/>
                <a:stretch>
                  <a:fillRect l="-858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ZP_s_mat"/>
          <p:cNvSpPr txBox="1"/>
          <p:nvPr/>
        </p:nvSpPr>
        <p:spPr>
          <a:xfrm>
            <a:off x="460000" y="1650000"/>
            <a:ext cx="4389119" cy="1115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sSub>
                    <m:sSubPr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̄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e>
                    <m:sub>
                      <m:r>
                        <a:rPr lang="en-US" sz="1200" b="0" i="1">
                          <a:latin typeface="Cambria Math" panose="02040503050406030204" pitchFamily="18" charset="0"/>
                        </a:rPr>
                        <m:t>𝐼</m:t>
                      </m:r>
                    </m:sub>
                  </m:sSub>
                  <m:r>
                    <a:rPr lang="en-US" sz="1200" b="0" i="0">
                      <a:latin typeface="Cambria Math" panose="02040503050406030204" pitchFamily="18" charset="0"/>
                    </a:rPr>
                    <m:t> = </m:t>
                  </m:r>
                  <m:d>
                    <m:dPr>
                      <m:begChr m:val="["/>
                      <m:endChr m:val="]"/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−0.0649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−0.2224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−0.1009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−0.1009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−0.2226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−0.0764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0.8376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−0.1125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−0.2147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−0.2148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−0.1127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−0.2595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−0.0965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0.7482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−0.0526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−0.0643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−0.2407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−0.1091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−0.2511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−0.0638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0.7518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−0.2331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−0.0768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−0.1090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−0.2510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−0.0765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−0.2329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0.7509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−0.0638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−0.2596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−0.0966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−0.2405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−0.0643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−0.0529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0.7485</m:t>
                            </m:r>
                          </m:e>
                        </m:mr>
                      </m:m>
                    </m:e>
                  </m:d>
                  <m:r>
                    <a:rPr lang="en-US" sz="1200" b="0" i="0">
                      <a:latin typeface="Cambria Math" panose="02040503050406030204" pitchFamily="18" charset="0"/>
                    </a:rPr>
                    <m:t> </m:t>
                  </m:r>
                </m:oMath>
              </m:oMathPara>
            </a14:m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ZP_s_sc"/>
              <p:cNvSpPr txBox="1"/>
              <p:nvPr/>
            </p:nvSpPr>
            <p:spPr>
              <a:xfrm>
                <a:off x="150000" y="29536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745.0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33.0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>
          <p:sp>
            <p:nvSpPr>
              <p:cNvPr id="41" name="ZP_s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" y="2953600"/>
                <a:ext cx="3457787" cy="310896"/>
              </a:xfrm>
              <a:prstGeom prst="rect">
                <a:avLst/>
              </a:prstGeom>
              <a:blipFill>
                <a:blip r:embed="rId5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ZP_s_nmae"/>
          <p:cNvSpPr txBox="1"/>
          <p:nvPr/>
        </p:nvSpPr>
        <p:spPr>
          <a:xfrm>
            <a:off x="150000" y="3400000"/>
            <a:ext cx="4191000" cy="549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r>
                    <m:rPr>
                      <m:sty m:val="p"/>
                    </m:rPr>
                    <a:rPr lang="en-US" altLang="zh-TW" sz="1400" smtClean="0">
                      <a:latin typeface="Cambria Math" panose="02040503050406030204" pitchFamily="18" charset="0"/>
                    </a:rPr>
                    <m:t>NMAE</m:t>
                  </m:r>
                  <m:r>
                    <a:rPr lang="en-US" altLang="zh-TW" sz="1400" i="1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n-US" altLang="zh-TW" sz="1400" i="1">
                          <a:latin typeface="Cambria Math" panose="02040503050406030204" pitchFamily="18" charset="0"/>
                        </a:rPr>
                      </m:ctrlPr>
                    </m:fPr>
                    <m:num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Pre>
                                    <m:sPre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</m:e>
                                  </m:sPr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num>
                    <m:den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den>
                  </m:f>
                  <m:r>
                    <a:rPr lang="en-US" altLang="zh-TW" sz="1400" i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∙</m:t>
                  </m:r>
                  <m:r>
                    <a:rPr lang="en-US" altLang="zh-TW" sz="1400" i="1">
                      <a:latin typeface="Cambria Math" panose="02040503050406030204" pitchFamily="18" charset="0"/>
                    </a:rPr>
                    <m:t>100</m:t>
                  </m:r>
                  <m:r>
                    <a:rPr lang="en-US" altLang="zh-TW" sz="1400" b="0" i="1" smtClean="0">
                      <a:latin typeface="Cambria Math" panose="02040503050406030204" pitchFamily="18" charset="0"/>
                    </a:rPr>
                    <m:t>%=10.50%</m:t>
                  </m:r>
                </m:oMath>
              </m:oMathPara>
            </a14:m>
            <a:endParaRPr lang="zh-TW" altLang="en-US" sz="1400" dirty="0"/>
          </a:p>
        </p:txBody>
      </p:sp>
      <p:sp>
        <p:nvSpPr>
          <p:cNvPr id="43" name="ZP_e_mat"/>
          <p:cNvSpPr txBox="1"/>
          <p:nvPr/>
        </p:nvSpPr>
        <p:spPr>
          <a:xfrm>
            <a:off x="5991799" y="1575920"/>
            <a:ext cx="4524587" cy="1115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sSub>
                    <m:sSubPr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̄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e>
                    <m:sub>
                      <m:r>
                        <a:rPr lang="en-US" sz="1200" b="0" i="1">
                          <a:latin typeface="Cambria Math" panose="02040503050406030204" pitchFamily="18" charset="0"/>
                        </a:rPr>
                        <m:t>𝐼</m:t>
                      </m:r>
                    </m:sub>
                  </m:sSub>
                  <m:r>
                    <a:rPr lang="en-US" sz="1200" b="0" i="0">
                      <a:latin typeface="Cambria Math" panose="02040503050406030204" pitchFamily="18" charset="0"/>
                    </a:rPr>
                    <m:t> = </m:t>
                  </m:r>
                  <m:d>
                    <m:dPr>
                      <m:begChr m:val="["/>
                      <m:endChr m:val="]"/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0.8333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−0.1070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−0.1150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−0.1879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−0.1878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−0.1150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−0.1106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0.8267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−0.1923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−0.1191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−0.1190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−0.1923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−0.1328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−0.1947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0.7452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−0.0927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−0.1569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−0.1292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−0.1986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−0.1368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−0.0967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0.7376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−0.1617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−0.1985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−0.1367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−0.1616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−0.1333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0.7371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−0.0967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−0.1328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−0.1946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−0.1292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−0.1571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−0.0926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0.7454</m:t>
                            </m:r>
                          </m:e>
                        </m:mr>
                      </m:m>
                    </m:e>
                  </m:d>
                  <m:r>
                    <a:rPr lang="en-US" sz="1200" b="0" i="0">
                      <a:latin typeface="Cambria Math" panose="02040503050406030204" pitchFamily="18" charset="0"/>
                    </a:rPr>
                    <m:t> </m:t>
                  </m:r>
                </m:oMath>
              </m:oMathPara>
            </a14:m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ZP_e_sc"/>
              <p:cNvSpPr txBox="1"/>
              <p:nvPr/>
            </p:nvSpPr>
            <p:spPr>
              <a:xfrm>
                <a:off x="5693133" y="2977286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604.1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37.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>
          <p:sp>
            <p:nvSpPr>
              <p:cNvPr id="44" name="ZP_e_s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133" y="2977286"/>
                <a:ext cx="3457787" cy="310896"/>
              </a:xfrm>
              <a:prstGeom prst="rect">
                <a:avLst/>
              </a:prstGeom>
              <a:blipFill>
                <a:blip r:embed="rId6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ZP_e_nmae"/>
          <p:cNvSpPr txBox="1"/>
          <p:nvPr/>
        </p:nvSpPr>
        <p:spPr>
          <a:xfrm>
            <a:off x="5517025" y="3433867"/>
            <a:ext cx="4191000" cy="549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r>
                    <m:rPr>
                      <m:sty m:val="p"/>
                    </m:rPr>
                    <a:rPr lang="en-US" altLang="zh-TW" sz="1400" smtClean="0">
                      <a:latin typeface="Cambria Math" panose="02040503050406030204" pitchFamily="18" charset="0"/>
                    </a:rPr>
                    <m:t>NMAE</m:t>
                  </m:r>
                  <m:r>
                    <a:rPr lang="en-US" altLang="zh-TW" sz="1400" i="1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n-US" altLang="zh-TW" sz="1400" i="1">
                          <a:latin typeface="Cambria Math" panose="02040503050406030204" pitchFamily="18" charset="0"/>
                        </a:rPr>
                      </m:ctrlPr>
                    </m:fPr>
                    <m:num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Pre>
                                    <m:sPre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</m:e>
                                  </m:sPr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num>
                    <m:den>
                      <m:nary>
                        <m:naryPr>
                          <m:chr m:val="∑"/>
                          <m:supHide m:val="on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den>
                  </m:f>
                  <m:r>
                    <a:rPr lang="en-US" altLang="zh-TW" sz="1400" i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∙</m:t>
                  </m:r>
                  <m:r>
                    <a:rPr lang="en-US" altLang="zh-TW" sz="1400" i="1">
                      <a:latin typeface="Cambria Math" panose="02040503050406030204" pitchFamily="18" charset="0"/>
                    </a:rPr>
                    <m:t>100</m:t>
                  </m:r>
                  <m:r>
                    <a:rPr lang="en-US" altLang="zh-TW" sz="1400" b="0" i="1" smtClean="0">
                      <a:latin typeface="Cambria Math" panose="02040503050406030204" pitchFamily="18" charset="0"/>
                    </a:rPr>
                    <m:t>%=0.68%</m:t>
                  </m:r>
                </m:oMath>
              </m:oMathPara>
            </a14:m>
            <a:endParaRPr lang="zh-TW" altLang="en-US" sz="1400" dirty="0"/>
          </a:p>
        </p:txBody>
      </p:sp>
      <p:sp>
        <p:nvSpPr>
          <p:cNvPr id="46" name="ZP_e_bias"/>
          <p:cNvSpPr txBox="1"/>
          <p:nvPr/>
        </p:nvSpPr>
        <p:spPr>
          <a:xfrm>
            <a:off x="5371400" y="4274746"/>
            <a:ext cx="5235787" cy="566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acc>
                    <m:accPr>
                      <m:chr m:val="̂"/>
                      <m:ctrlPr>
                        <a:rPr lang="en-US" altLang="zh-TW" sz="1200" b="0" i="1" smtClean="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e>
                  </m:acc>
                  <m:r>
                    <a:rPr lang="en-US" sz="1200" b="0" i="0">
                      <a:latin typeface="Cambria Math" panose="02040503050406030204" pitchFamily="18" charset="0"/>
                    </a:rPr>
                    <m:t>= </m:t>
                  </m:r>
                  <m:d>
                    <m:dPr>
                      <m:begChr m:val="["/>
                      <m:endChr m:val="]"/>
                      <m:ctrlPr>
                        <a:rPr lang="en-US" sz="12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−0.0002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0.0004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−0.2164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0.2160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0.2165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−0.2161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−0.2162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0.2165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0.0003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−0.0000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0.2168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−0.2161</m:t>
                            </m:r>
                          </m:e>
                        </m:mr>
                        <m:mr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0.2161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−0.2164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0.2162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−0.2166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−0.0001</m:t>
                            </m:r>
                          </m:e>
                          <m:e>
                            <m:r>
                              <a:rPr lang="en-US" sz="1200" b="0" i="0">
                                <a:latin typeface="Cambria Math" panose="02040503050406030204" pitchFamily="18" charset="0"/>
                              </a:rPr>
                              <m:t>−0.0003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8533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/>
              <p:nvPr/>
            </p:nvSpPr>
            <p:spPr>
              <a:xfrm>
                <a:off x="110067" y="552085"/>
                <a:ext cx="117634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𝑃𝑜𝑖𝑛𝑡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Long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≤150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um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552085"/>
                <a:ext cx="11763465" cy="369332"/>
              </a:xfrm>
              <a:prstGeom prst="rect">
                <a:avLst/>
              </a:prstGeom>
              <a:blipFill>
                <a:blip r:embed="rId2"/>
                <a:stretch>
                  <a:fillRect l="-311" t="-5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/>
              <p:nvPr/>
            </p:nvSpPr>
            <p:spPr>
              <a:xfrm>
                <a:off x="110067" y="1018443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Single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(31 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points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018443"/>
                <a:ext cx="4258733" cy="369332"/>
              </a:xfrm>
              <a:prstGeom prst="rect">
                <a:avLst/>
              </a:prstGeom>
              <a:blipFill>
                <a:blip r:embed="rId3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/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Eighteen</m:t>
                    </m:r>
                  </m:oMath>
                </a14:m>
                <a:r>
                  <a:rPr lang="en-US" altLang="zh-TW" dirty="0"/>
                  <a:t>(25 points)</a:t>
                </a:r>
                <a:endParaRPr lang="zh-TW" altLang="en-US" dirty="0"/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blipFill>
                <a:blip r:embed="rId4"/>
                <a:stretch>
                  <a:fillRect l="-858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8">
            <a:extLst>
              <a:ext uri="{FF2B5EF4-FFF2-40B4-BE49-F238E27FC236}">
                <a16:creationId xmlns:a16="http://schemas.microsoft.com/office/drawing/2014/main" id="{D6305086-34C3-47E8-BA44-93DA7A67F489}"/>
              </a:ext>
            </a:extLst>
          </p:cNvPr>
          <p:cNvGrpSpPr/>
          <p:nvPr/>
        </p:nvGrpSpPr>
        <p:grpSpPr>
          <a:xfrm>
            <a:off x="718848" y="1549400"/>
            <a:ext cx="3585461" cy="3645615"/>
            <a:chOff x="718848" y="1549400"/>
            <a:chExt cx="3585461" cy="3645615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BC9FB08-7B2D-4DD5-A528-BB4A4AD11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070" y="1549400"/>
              <a:ext cx="3339239" cy="334433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44A347E8-312A-4189-ACBA-AD6EB583DEAE}"/>
                    </a:ext>
                  </a:extLst>
                </p:cNvPr>
                <p:cNvSpPr txBox="1"/>
                <p:nvPr/>
              </p:nvSpPr>
              <p:spPr>
                <a:xfrm rot="2982631">
                  <a:off x="647321" y="4444361"/>
                  <a:ext cx="125508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44A347E8-312A-4189-ACBA-AD6EB583D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982631">
                  <a:off x="647321" y="4444361"/>
                  <a:ext cx="1255087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606" r="-3636" b="-869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0C57323F-E7D7-4DF5-8FC2-746F63CD9E35}"/>
                    </a:ext>
                  </a:extLst>
                </p:cNvPr>
                <p:cNvSpPr txBox="1"/>
                <p:nvPr/>
              </p:nvSpPr>
              <p:spPr>
                <a:xfrm rot="20890141">
                  <a:off x="2923450" y="4788809"/>
                  <a:ext cx="124405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0C57323F-E7D7-4DF5-8FC2-746F63CD9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0141">
                  <a:off x="2923450" y="4788809"/>
                  <a:ext cx="1244059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1914" t="-2439" r="-5742" b="-121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9B492B0A-A3A1-44A5-90AC-7C89A913549C}"/>
                    </a:ext>
                  </a:extLst>
                </p:cNvPr>
                <p:cNvSpPr txBox="1"/>
                <p:nvPr/>
              </p:nvSpPr>
              <p:spPr>
                <a:xfrm rot="16200000">
                  <a:off x="225540" y="2725709"/>
                  <a:ext cx="12328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9B492B0A-A3A1-44A5-90AC-7C89A9135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25540" y="2725709"/>
                  <a:ext cx="1232838" cy="246221"/>
                </a:xfrm>
                <a:prstGeom prst="rect">
                  <a:avLst/>
                </a:prstGeom>
                <a:blipFill>
                  <a:blip r:embed="rId8"/>
                  <a:stretch>
                    <a:fillRect t="-5446" r="-32500" b="-198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DA51642-DDAF-4605-87E2-C3197F0C0446}"/>
                    </a:ext>
                  </a:extLst>
                </p:cNvPr>
                <p:cNvSpPr txBox="1"/>
                <p:nvPr/>
              </p:nvSpPr>
              <p:spPr>
                <a:xfrm>
                  <a:off x="2705383" y="3343673"/>
                  <a:ext cx="2935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DA51642-DDAF-4605-87E2-C3197F0C0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5383" y="3343673"/>
                  <a:ext cx="29354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500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43A4A2F6-05CD-4023-A273-447F96A9851E}"/>
                    </a:ext>
                  </a:extLst>
                </p:cNvPr>
                <p:cNvSpPr txBox="1"/>
                <p:nvPr/>
              </p:nvSpPr>
              <p:spPr>
                <a:xfrm>
                  <a:off x="3054776" y="2977442"/>
                  <a:ext cx="2819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43A4A2F6-05CD-4023-A273-447F96A98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776" y="2977442"/>
                  <a:ext cx="28193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739" r="-2174" b="-2391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78B1B454-8B8B-4470-9B70-5BC6B64B916D}"/>
                    </a:ext>
                  </a:extLst>
                </p:cNvPr>
                <p:cNvSpPr txBox="1"/>
                <p:nvPr/>
              </p:nvSpPr>
              <p:spPr>
                <a:xfrm>
                  <a:off x="2976764" y="2634155"/>
                  <a:ext cx="2789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78B1B454-8B8B-4470-9B70-5BC6B64B9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764" y="2634155"/>
                  <a:ext cx="27892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3043" b="-108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A53A111-C064-4301-AB85-F859089C68B5}"/>
              </a:ext>
            </a:extLst>
          </p:cNvPr>
          <p:cNvGrpSpPr/>
          <p:nvPr/>
        </p:nvGrpSpPr>
        <p:grpSpPr>
          <a:xfrm>
            <a:off x="6321471" y="1706032"/>
            <a:ext cx="3474460" cy="3548250"/>
            <a:chOff x="6321471" y="1706032"/>
            <a:chExt cx="3474460" cy="3548250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3A46B8A-7004-47D7-A96D-8B527B056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4926" y="1706032"/>
              <a:ext cx="3201005" cy="320588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DF46B526-4539-4B00-93C8-51EB22D970DA}"/>
                    </a:ext>
                  </a:extLst>
                </p:cNvPr>
                <p:cNvSpPr txBox="1"/>
                <p:nvPr/>
              </p:nvSpPr>
              <p:spPr>
                <a:xfrm rot="2982631">
                  <a:off x="6249944" y="4503628"/>
                  <a:ext cx="125508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DF46B526-4539-4B00-93C8-51EB22D97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982631">
                  <a:off x="6249944" y="4503628"/>
                  <a:ext cx="1255087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606" r="-3636" b="-869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7F27D96-EE91-4D37-A25A-FBC06D72F3B6}"/>
                    </a:ext>
                  </a:extLst>
                </p:cNvPr>
                <p:cNvSpPr txBox="1"/>
                <p:nvPr/>
              </p:nvSpPr>
              <p:spPr>
                <a:xfrm rot="20890141">
                  <a:off x="8526073" y="4848076"/>
                  <a:ext cx="124405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7F27D96-EE91-4D37-A25A-FBC06D72F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0141">
                  <a:off x="8526073" y="4848076"/>
                  <a:ext cx="1244059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1914" t="-1205" r="-5742" b="-120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4E110D1-3A4E-4CDE-B202-E1BB129668B3}"/>
                    </a:ext>
                  </a:extLst>
                </p:cNvPr>
                <p:cNvSpPr txBox="1"/>
                <p:nvPr/>
              </p:nvSpPr>
              <p:spPr>
                <a:xfrm rot="16200000">
                  <a:off x="5828163" y="2784976"/>
                  <a:ext cx="12328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4E110D1-3A4E-4CDE-B202-E1BB12966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828163" y="2784976"/>
                  <a:ext cx="1232838" cy="246221"/>
                </a:xfrm>
                <a:prstGeom prst="rect">
                  <a:avLst/>
                </a:prstGeom>
                <a:blipFill>
                  <a:blip r:embed="rId15"/>
                  <a:stretch>
                    <a:fillRect t="-5446" r="-32500" b="-198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D2884A20-B597-454D-98F1-A75F345CD88F}"/>
                    </a:ext>
                  </a:extLst>
                </p:cNvPr>
                <p:cNvSpPr txBox="1"/>
                <p:nvPr/>
              </p:nvSpPr>
              <p:spPr>
                <a:xfrm>
                  <a:off x="8230384" y="3419410"/>
                  <a:ext cx="2935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D2884A20-B597-454D-98F1-A75F345CD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384" y="3419410"/>
                  <a:ext cx="29354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2500" r="-2083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22E57FC8-6331-4953-8502-9B78C9E03AA5}"/>
                    </a:ext>
                  </a:extLst>
                </p:cNvPr>
                <p:cNvSpPr txBox="1"/>
                <p:nvPr/>
              </p:nvSpPr>
              <p:spPr>
                <a:xfrm>
                  <a:off x="8606597" y="3053643"/>
                  <a:ext cx="2819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22E57FC8-6331-4953-8502-9B78C9E03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6597" y="3053643"/>
                  <a:ext cx="281937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739" b="-2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47B48441-2573-4F41-AF88-39C2D637DBA4}"/>
                    </a:ext>
                  </a:extLst>
                </p:cNvPr>
                <p:cNvSpPr txBox="1"/>
                <p:nvPr/>
              </p:nvSpPr>
              <p:spPr>
                <a:xfrm>
                  <a:off x="8579387" y="2693422"/>
                  <a:ext cx="2789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47B48441-2573-4F41-AF88-39C2D637DB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9387" y="2693422"/>
                  <a:ext cx="278923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3043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16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/>
              <p:nvPr/>
            </p:nvSpPr>
            <p:spPr>
              <a:xfrm>
                <a:off x="110067" y="552085"/>
                <a:ext cx="117634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𝑃𝑜𝑖𝑛𝑡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Zhi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peng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≤150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um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552085"/>
                <a:ext cx="11763465" cy="369332"/>
              </a:xfrm>
              <a:prstGeom prst="rect">
                <a:avLst/>
              </a:prstGeom>
              <a:blipFill>
                <a:blip r:embed="rId2"/>
                <a:stretch>
                  <a:fillRect l="-311" t="-5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/>
              <p:nvPr/>
            </p:nvSpPr>
            <p:spPr>
              <a:xfrm>
                <a:off x="110067" y="1018443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Single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(13 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points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018443"/>
                <a:ext cx="4258733" cy="369332"/>
              </a:xfrm>
              <a:prstGeom prst="rect">
                <a:avLst/>
              </a:prstGeom>
              <a:blipFill>
                <a:blip r:embed="rId3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/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Eighteen</m:t>
                    </m:r>
                  </m:oMath>
                </a14:m>
                <a:r>
                  <a:rPr lang="en-US" altLang="zh-TW" dirty="0"/>
                  <a:t>(7 points)</a:t>
                </a:r>
                <a:endParaRPr lang="zh-TW" altLang="en-US" dirty="0"/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199" y="1004337"/>
                <a:ext cx="4258733" cy="369332"/>
              </a:xfrm>
              <a:prstGeom prst="rect">
                <a:avLst/>
              </a:prstGeom>
              <a:blipFill>
                <a:blip r:embed="rId4"/>
                <a:stretch>
                  <a:fillRect l="-858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1DC70849-B341-4411-BDE3-116596161A8A}"/>
              </a:ext>
            </a:extLst>
          </p:cNvPr>
          <p:cNvGrpSpPr/>
          <p:nvPr/>
        </p:nvGrpSpPr>
        <p:grpSpPr>
          <a:xfrm>
            <a:off x="391643" y="1761066"/>
            <a:ext cx="3469156" cy="3531331"/>
            <a:chOff x="391643" y="1761066"/>
            <a:chExt cx="3469156" cy="353133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1C1D50E-A86C-4796-BC15-E187DF8D6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510" y="1761066"/>
              <a:ext cx="3243289" cy="32482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A5D57FF0-BCAE-42F1-B1D4-7195329AAA44}"/>
                    </a:ext>
                  </a:extLst>
                </p:cNvPr>
                <p:cNvSpPr txBox="1"/>
                <p:nvPr/>
              </p:nvSpPr>
              <p:spPr>
                <a:xfrm rot="2982631">
                  <a:off x="320116" y="4541743"/>
                  <a:ext cx="125508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A5D57FF0-BCAE-42F1-B1D4-7195329AA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982631">
                  <a:off x="320116" y="4541743"/>
                  <a:ext cx="1255087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606" r="-3636" b="-869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83D01B99-1850-4BEA-B34B-2BF36C1BB7B2}"/>
                    </a:ext>
                  </a:extLst>
                </p:cNvPr>
                <p:cNvSpPr txBox="1"/>
                <p:nvPr/>
              </p:nvSpPr>
              <p:spPr>
                <a:xfrm rot="20890141">
                  <a:off x="2596245" y="4886191"/>
                  <a:ext cx="124405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83D01B99-1850-4BEA-B34B-2BF36C1BB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0141">
                  <a:off x="2596245" y="4886191"/>
                  <a:ext cx="1244059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1914" t="-2439" r="-6220" b="-121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4690DA2C-EDBC-4586-9510-ABD81D5FE7AD}"/>
                    </a:ext>
                  </a:extLst>
                </p:cNvPr>
                <p:cNvSpPr txBox="1"/>
                <p:nvPr/>
              </p:nvSpPr>
              <p:spPr>
                <a:xfrm rot="16200000">
                  <a:off x="-101665" y="2823091"/>
                  <a:ext cx="12328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4690DA2C-EDBC-4586-9510-ABD81D5FE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01665" y="2823091"/>
                  <a:ext cx="1232838" cy="246221"/>
                </a:xfrm>
                <a:prstGeom prst="rect">
                  <a:avLst/>
                </a:prstGeom>
                <a:blipFill>
                  <a:blip r:embed="rId8"/>
                  <a:stretch>
                    <a:fillRect t="-5446" r="-31707" b="-198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62B8B757-C099-4CF4-B6F3-B91E332C67A8}"/>
                    </a:ext>
                  </a:extLst>
                </p:cNvPr>
                <p:cNvSpPr txBox="1"/>
                <p:nvPr/>
              </p:nvSpPr>
              <p:spPr>
                <a:xfrm>
                  <a:off x="2290676" y="3475097"/>
                  <a:ext cx="2935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62B8B757-C099-4CF4-B6F3-B91E332C6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0676" y="3475097"/>
                  <a:ext cx="29354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500" b="-108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7F07CDE5-EABA-4AEC-AEE6-C53E76371A3E}"/>
                    </a:ext>
                  </a:extLst>
                </p:cNvPr>
                <p:cNvSpPr txBox="1"/>
                <p:nvPr/>
              </p:nvSpPr>
              <p:spPr>
                <a:xfrm>
                  <a:off x="2609038" y="3125624"/>
                  <a:ext cx="2819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7F07CDE5-EABA-4AEC-AEE6-C53E76371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9038" y="3125624"/>
                  <a:ext cx="28193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739" b="-2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8F977C72-A463-4BB7-8C66-566AC1A2EAD5}"/>
                    </a:ext>
                  </a:extLst>
                </p:cNvPr>
                <p:cNvSpPr txBox="1"/>
                <p:nvPr/>
              </p:nvSpPr>
              <p:spPr>
                <a:xfrm>
                  <a:off x="2532258" y="2809572"/>
                  <a:ext cx="2789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8F977C72-A463-4BB7-8C66-566AC1A2E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258" y="2809572"/>
                  <a:ext cx="27892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3043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482E8FFF-60E1-4249-AC6B-59A094B94E16}"/>
              </a:ext>
            </a:extLst>
          </p:cNvPr>
          <p:cNvGrpSpPr/>
          <p:nvPr/>
        </p:nvGrpSpPr>
        <p:grpSpPr>
          <a:xfrm>
            <a:off x="6153167" y="1800043"/>
            <a:ext cx="3307366" cy="3337764"/>
            <a:chOff x="6153167" y="1800043"/>
            <a:chExt cx="3307366" cy="33377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A3CD5B2-3BA6-43E1-804D-099A7DB0F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0267" y="1800043"/>
              <a:ext cx="3060266" cy="306493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445B551F-D4CE-49CF-A8B8-202D822B22D3}"/>
                    </a:ext>
                  </a:extLst>
                </p:cNvPr>
                <p:cNvSpPr txBox="1"/>
                <p:nvPr/>
              </p:nvSpPr>
              <p:spPr>
                <a:xfrm rot="2982631">
                  <a:off x="6025332" y="4387153"/>
                  <a:ext cx="125508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445B551F-D4CE-49CF-A8B8-202D822B22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982631">
                  <a:off x="6025332" y="4387153"/>
                  <a:ext cx="1255087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606" r="-3636" b="-869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A122FBA8-8D58-4DB3-9505-305A9AE41037}"/>
                    </a:ext>
                  </a:extLst>
                </p:cNvPr>
                <p:cNvSpPr txBox="1"/>
                <p:nvPr/>
              </p:nvSpPr>
              <p:spPr>
                <a:xfrm rot="20890141">
                  <a:off x="8204447" y="4790038"/>
                  <a:ext cx="124405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A122FBA8-8D58-4DB3-9505-305A9AE41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0141">
                  <a:off x="8204447" y="4790038"/>
                  <a:ext cx="1244059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1914" t="-2439" r="-6220" b="-121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B965B946-FEB8-4770-BE69-4001DB0B5C6D}"/>
                    </a:ext>
                  </a:extLst>
                </p:cNvPr>
                <p:cNvSpPr txBox="1"/>
                <p:nvPr/>
              </p:nvSpPr>
              <p:spPr>
                <a:xfrm rot="16200000">
                  <a:off x="5659859" y="2824960"/>
                  <a:ext cx="12328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B965B946-FEB8-4770-BE69-4001DB0B5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659859" y="2824960"/>
                  <a:ext cx="1232838" cy="246221"/>
                </a:xfrm>
                <a:prstGeom prst="rect">
                  <a:avLst/>
                </a:prstGeom>
                <a:blipFill>
                  <a:blip r:embed="rId15"/>
                  <a:stretch>
                    <a:fillRect t="-5419" r="-31707" b="-14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8F3DFF43-29C9-430C-8B71-102A20CED841}"/>
                    </a:ext>
                  </a:extLst>
                </p:cNvPr>
                <p:cNvSpPr txBox="1"/>
                <p:nvPr/>
              </p:nvSpPr>
              <p:spPr>
                <a:xfrm>
                  <a:off x="7960980" y="3412636"/>
                  <a:ext cx="2935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8F3DFF43-29C9-430C-8B71-102A20CED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980" y="3412636"/>
                  <a:ext cx="29354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2500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DD3CC78-3D92-403A-B775-11DA083916BA}"/>
                    </a:ext>
                  </a:extLst>
                </p:cNvPr>
                <p:cNvSpPr txBox="1"/>
                <p:nvPr/>
              </p:nvSpPr>
              <p:spPr>
                <a:xfrm>
                  <a:off x="8293439" y="3088739"/>
                  <a:ext cx="2819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DD3CC78-3D92-403A-B775-11DA083916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3439" y="3088739"/>
                  <a:ext cx="281937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277" b="-2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122BD10E-3158-4A2A-AAB4-DF36FD715812}"/>
                    </a:ext>
                  </a:extLst>
                </p:cNvPr>
                <p:cNvSpPr txBox="1"/>
                <p:nvPr/>
              </p:nvSpPr>
              <p:spPr>
                <a:xfrm>
                  <a:off x="8257761" y="2770853"/>
                  <a:ext cx="2789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122BD10E-3158-4A2A-AAB4-DF36FD715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761" y="2770853"/>
                  <a:ext cx="278923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3333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7311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28141</TotalTime>
  <Words>1356</Words>
  <Application>Microsoft Office PowerPoint</Application>
  <PresentationFormat>寬螢幕</PresentationFormat>
  <Paragraphs>251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A Lumped-Parameter Modeling, Calibration, and Capacity-Measure Framework for Flux Generation in Symmetric Multipole Electromagnetic Actuators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Reference </vt:lpstr>
      <vt:lpstr>Reference </vt:lpstr>
      <vt:lpstr>Reference </vt:lpstr>
      <vt:lpstr>Reference 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Lumped-Parameter Modeling, Calibration, and Capacity-Measure Framework for Flux Generation in Symmetric Multipole Electromagnetic Actuators</dc:title>
  <dc:creator>郭建棋</dc:creator>
  <cp:lastModifiedBy>郭建棋</cp:lastModifiedBy>
  <cp:revision>427</cp:revision>
  <dcterms:created xsi:type="dcterms:W3CDTF">2026-07-23T11:39:15Z</dcterms:created>
  <dcterms:modified xsi:type="dcterms:W3CDTF">2026-08-27T21:03:29Z</dcterms:modified>
</cp:coreProperties>
</file>