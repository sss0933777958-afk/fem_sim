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A0E589-B554-4091-A669-C39C8D6A476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1BEA869-64D8-4E61-86D2-F1D82AAADC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71F51C5-7D96-46C2-8813-C6C3987256F5}"/>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5" name="頁尾版面配置區 4">
            <a:extLst>
              <a:ext uri="{FF2B5EF4-FFF2-40B4-BE49-F238E27FC236}">
                <a16:creationId xmlns:a16="http://schemas.microsoft.com/office/drawing/2014/main" id="{06D63DA1-01A5-492C-819A-188794F92F0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C0895C0-5579-4148-B29B-9C2FDA3B36B6}"/>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1859931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29F96A-1B26-4C14-86F5-C0C2580A537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77EB2C9-1C18-46C9-A28B-3207D2D03C65}"/>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23F9AD-4EF2-43FE-B1D4-838C8EC6550E}"/>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5" name="頁尾版面配置區 4">
            <a:extLst>
              <a:ext uri="{FF2B5EF4-FFF2-40B4-BE49-F238E27FC236}">
                <a16:creationId xmlns:a16="http://schemas.microsoft.com/office/drawing/2014/main" id="{4B079BB1-2F0F-4F45-B136-C98718B3B9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F7A3680-F70A-4592-BCB4-7BC890941222}"/>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420271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A12E5-C91D-49CF-B510-7A954F73226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F39D464-EECC-4412-82AA-6E38F51938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EEA1478-0160-40D1-A097-EF571A5AD87D}"/>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5" name="頁尾版面配置區 4">
            <a:extLst>
              <a:ext uri="{FF2B5EF4-FFF2-40B4-BE49-F238E27FC236}">
                <a16:creationId xmlns:a16="http://schemas.microsoft.com/office/drawing/2014/main" id="{2855D756-0030-41EB-B0F6-D1B183CD85C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B565805-6595-4FDD-8ADE-B8A3A7942993}"/>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1301819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8EC39A-5A8B-4880-BA62-E2C19ECFF5A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E6152E6-20FB-4E96-96A3-BF7CCF1B17AD}"/>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4114620-CC3E-4AC4-B755-9A0547116F5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EFE42E0-58E6-4899-8A57-57B82A90B37E}"/>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6" name="頁尾版面配置區 5">
            <a:extLst>
              <a:ext uri="{FF2B5EF4-FFF2-40B4-BE49-F238E27FC236}">
                <a16:creationId xmlns:a16="http://schemas.microsoft.com/office/drawing/2014/main" id="{8682B6FC-562E-4BBD-9911-CCBB6E9CDFC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93E9314-4403-4009-9BA3-C516652C1D78}"/>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3863319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071768-EEAE-43DE-A877-EA086A63D1C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D494D50-803F-4E7A-A19D-04DDFA4732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403057B-9B39-4A02-961A-39A806F4D305}"/>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509AE18C-89EF-4DD7-A416-27F8F52FE0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4969C11-016A-4A56-A22A-10989A8DB75A}"/>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05576D3-7F8C-4ADA-BA26-9C7808A58FD9}"/>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8" name="頁尾版面配置區 7">
            <a:extLst>
              <a:ext uri="{FF2B5EF4-FFF2-40B4-BE49-F238E27FC236}">
                <a16:creationId xmlns:a16="http://schemas.microsoft.com/office/drawing/2014/main" id="{AAA47A3D-1133-4563-9F81-BF929C27EDE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4DCD66B5-1B5F-4941-A4E4-219317CB8045}"/>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3533214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6D2656-7231-4D51-969E-75C90E544994}"/>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62EC3B4-C3A1-4DAA-9A6E-44ABAF52D4F5}"/>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4" name="頁尾版面配置區 3">
            <a:extLst>
              <a:ext uri="{FF2B5EF4-FFF2-40B4-BE49-F238E27FC236}">
                <a16:creationId xmlns:a16="http://schemas.microsoft.com/office/drawing/2014/main" id="{0856C0B4-4727-458A-B3B4-253CFE89CD2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119B484-10B5-45D6-82B9-65B7352CC925}"/>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2388661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EEDBEB4-B28F-4391-B034-D2F1F10E36E0}"/>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3" name="頁尾版面配置區 2">
            <a:extLst>
              <a:ext uri="{FF2B5EF4-FFF2-40B4-BE49-F238E27FC236}">
                <a16:creationId xmlns:a16="http://schemas.microsoft.com/office/drawing/2014/main" id="{4AA45220-9123-4196-A01B-082F5D8E45C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34595427-ABAA-4FF0-B87E-F8ADA1FA4260}"/>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2087117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745CA3-7A92-4CEE-ABE8-2716A80B293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9DAB8BE7-6572-42A2-B58E-2DD0AD686C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D5A732F-FBAE-4503-B1D9-C7BFA1E97E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F57DE55-310D-4232-8A0A-E63524CBEBE2}"/>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6" name="頁尾版面配置區 5">
            <a:extLst>
              <a:ext uri="{FF2B5EF4-FFF2-40B4-BE49-F238E27FC236}">
                <a16:creationId xmlns:a16="http://schemas.microsoft.com/office/drawing/2014/main" id="{ED67030B-16DD-44CC-A5B3-A79CEE3C1A7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DB72F2E-6DF1-4870-A71C-E7602C74C61A}"/>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3330028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BB9540-1041-43AB-A052-AD30F78064A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8255165-E090-4004-B9D3-B986E5AC3A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978C164-3946-4F1C-B9B1-582D96CFA2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692DE14-2DAD-4308-A3CF-37EE7CB2AEC4}"/>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6" name="頁尾版面配置區 5">
            <a:extLst>
              <a:ext uri="{FF2B5EF4-FFF2-40B4-BE49-F238E27FC236}">
                <a16:creationId xmlns:a16="http://schemas.microsoft.com/office/drawing/2014/main" id="{57442AAE-38C1-4D67-9EDA-DCE01E78B71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EFF5EC1-8C55-4EE7-B2B0-5828F0940E08}"/>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920325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AD2FF0-CB98-4C32-92AE-8700B3227E8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6AE5C9C4-8758-46DE-9E15-B42B727D81D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30A00F4-2930-4441-B160-CB0D12F5A24E}"/>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5" name="頁尾版面配置區 4">
            <a:extLst>
              <a:ext uri="{FF2B5EF4-FFF2-40B4-BE49-F238E27FC236}">
                <a16:creationId xmlns:a16="http://schemas.microsoft.com/office/drawing/2014/main" id="{D79422DC-7ECB-48BA-8B88-9F4694371FC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C7833FA-E637-4FDF-90DF-94820F7CC9D4}"/>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138839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0F31FB1-EBAC-4B79-BC2D-D8DBA8C192D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D0A565B-A306-46DD-96D5-69113F2947C5}"/>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EE943F6-BAEE-453F-8B41-E10AF8ADB9E6}"/>
              </a:ext>
            </a:extLst>
          </p:cNvPr>
          <p:cNvSpPr>
            <a:spLocks noGrp="1"/>
          </p:cNvSpPr>
          <p:nvPr>
            <p:ph type="dt" sz="half" idx="10"/>
          </p:nvPr>
        </p:nvSpPr>
        <p:spPr/>
        <p:txBody>
          <a:bodyPr/>
          <a:lstStyle/>
          <a:p>
            <a:fld id="{0F362EB8-53B6-47FC-898E-9D29210CCBD6}" type="datetimeFigureOut">
              <a:rPr lang="zh-TW" altLang="en-US" smtClean="0"/>
              <a:t>2026/8/11</a:t>
            </a:fld>
            <a:endParaRPr lang="zh-TW" altLang="en-US"/>
          </a:p>
        </p:txBody>
      </p:sp>
      <p:sp>
        <p:nvSpPr>
          <p:cNvPr id="5" name="頁尾版面配置區 4">
            <a:extLst>
              <a:ext uri="{FF2B5EF4-FFF2-40B4-BE49-F238E27FC236}">
                <a16:creationId xmlns:a16="http://schemas.microsoft.com/office/drawing/2014/main" id="{1512CE0D-20B9-484E-B90F-EA4CE589ED6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C92EEEF-D81E-403A-9D2E-663283956971}"/>
              </a:ext>
            </a:extLst>
          </p:cNvPr>
          <p:cNvSpPr>
            <a:spLocks noGrp="1"/>
          </p:cNvSpPr>
          <p:nvPr>
            <p:ph type="sldNum" sz="quarter" idx="12"/>
          </p:nvPr>
        </p:nvSpPr>
        <p:spPr/>
        <p:txBody>
          <a:body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2295814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FEC0EF1-334C-430C-A531-9A4541D016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65190AD-7895-4590-872C-51A0D61F8C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26A9CFF-3B72-4336-AE6D-2C6747AAA7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362EB8-53B6-47FC-898E-9D29210CCBD6}" type="datetimeFigureOut">
              <a:rPr lang="zh-TW" altLang="en-US" smtClean="0"/>
              <a:t>2026/8/11</a:t>
            </a:fld>
            <a:endParaRPr lang="zh-TW" altLang="en-US"/>
          </a:p>
        </p:txBody>
      </p:sp>
      <p:sp>
        <p:nvSpPr>
          <p:cNvPr id="5" name="頁尾版面配置區 4">
            <a:extLst>
              <a:ext uri="{FF2B5EF4-FFF2-40B4-BE49-F238E27FC236}">
                <a16:creationId xmlns:a16="http://schemas.microsoft.com/office/drawing/2014/main" id="{83B99023-A7DF-45D2-94DF-50394B5EBC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E53C5EF-E7AB-40EA-AF10-8EC69E8B9A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53B25A-ADE3-4CD8-A6D8-988F08EAB572}" type="slidenum">
              <a:rPr lang="zh-TW" altLang="en-US" smtClean="0"/>
              <a:t>‹#›</a:t>
            </a:fld>
            <a:endParaRPr lang="zh-TW" altLang="en-US"/>
          </a:p>
        </p:txBody>
      </p:sp>
    </p:spTree>
    <p:extLst>
      <p:ext uri="{BB962C8B-B14F-4D97-AF65-F5344CB8AC3E}">
        <p14:creationId xmlns:p14="http://schemas.microsoft.com/office/powerpoint/2010/main" val="1631066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ED3FC649-8A42-45B2-8643-F4FB64301CD2}"/>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Tree>
    <p:extLst>
      <p:ext uri="{BB962C8B-B14F-4D97-AF65-F5344CB8AC3E}">
        <p14:creationId xmlns:p14="http://schemas.microsoft.com/office/powerpoint/2010/main" val="629729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圖片 125">
            <a:extLst>
              <a:ext uri="{FF2B5EF4-FFF2-40B4-BE49-F238E27FC236}">
                <a16:creationId xmlns:a16="http://schemas.microsoft.com/office/drawing/2014/main" id="{02848635-7B3F-4560-AC09-B7A353F62D60}"/>
              </a:ext>
            </a:extLst>
          </p:cNvPr>
          <p:cNvPicPr>
            <a:picLocks noChangeAspect="1"/>
          </p:cNvPicPr>
          <p:nvPr/>
        </p:nvPicPr>
        <p:blipFill rotWithShape="1">
          <a:blip r:embed="rId2">
            <a:extLst>
              <a:ext uri="{28A0092B-C50C-407E-A947-70E740481C1C}">
                <a14:useLocalDpi xmlns:a14="http://schemas.microsoft.com/office/drawing/2010/main" val="0"/>
              </a:ext>
            </a:extLst>
          </a:blip>
          <a:srcRect l="20685" t="40729" r="21969" b="19732"/>
          <a:stretch/>
        </p:blipFill>
        <p:spPr>
          <a:xfrm>
            <a:off x="2848922" y="4385038"/>
            <a:ext cx="5076771" cy="2348691"/>
          </a:xfrm>
          <a:prstGeom prst="rect">
            <a:avLst/>
          </a:prstGeom>
        </p:spPr>
      </p:pic>
      <p:sp>
        <p:nvSpPr>
          <p:cNvPr id="2" name="標題 1">
            <a:extLst>
              <a:ext uri="{FF2B5EF4-FFF2-40B4-BE49-F238E27FC236}">
                <a16:creationId xmlns:a16="http://schemas.microsoft.com/office/drawing/2014/main" id="{62172B26-5225-40D5-90B5-A008EA5FCABE}"/>
              </a:ext>
            </a:extLst>
          </p:cNvPr>
          <p:cNvSpPr>
            <a:spLocks noGrp="1"/>
          </p:cNvSpPr>
          <p:nvPr>
            <p:ph type="title"/>
          </p:nvPr>
        </p:nvSpPr>
        <p:spPr>
          <a:xfrm>
            <a:off x="0" y="-60340"/>
            <a:ext cx="10515600" cy="786342"/>
          </a:xfrm>
        </p:spPr>
        <p:txBody>
          <a:bodyPr/>
          <a:lstStyle/>
          <a:p>
            <a:r>
              <a:rPr lang="en-US" altLang="zh-TW" dirty="0">
                <a:latin typeface="Times New Roman" panose="02020603050405020304" pitchFamily="18" charset="0"/>
                <a:cs typeface="Times New Roman" panose="02020603050405020304" pitchFamily="18" charset="0"/>
              </a:rPr>
              <a:t>CAD MODEL</a:t>
            </a:r>
            <a:endParaRPr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C9C15DD5-0AA9-439B-ADD9-E9DFDCFD5D79}"/>
              </a:ext>
            </a:extLst>
          </p:cNvPr>
          <p:cNvSpPr txBox="1"/>
          <p:nvPr/>
        </p:nvSpPr>
        <p:spPr>
          <a:xfrm>
            <a:off x="0" y="571948"/>
            <a:ext cx="11822966" cy="1754326"/>
          </a:xfrm>
          <a:prstGeom prst="rect">
            <a:avLst/>
          </a:prstGeom>
          <a:noFill/>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first-row left figure shows the top view of the overall mechanism, while the right figure is a zoomed-in side view of the red-circled region. The bottommost glass slide is 1.2 mm thick, with the lower magnetic poles attached to it. The second and third coverslips are each 0.13 mm thick, with a 120 </a:t>
            </a:r>
            <a:r>
              <a:rPr lang="en-US" altLang="zh-TW" dirty="0" err="1">
                <a:latin typeface="Times New Roman" panose="02020603050405020304" pitchFamily="18" charset="0"/>
                <a:cs typeface="Times New Roman" panose="02020603050405020304" pitchFamily="18" charset="0"/>
              </a:rPr>
              <a:t>μm</a:t>
            </a:r>
            <a:r>
              <a:rPr lang="en-US" altLang="zh-TW" dirty="0">
                <a:latin typeface="Times New Roman" panose="02020603050405020304" pitchFamily="18" charset="0"/>
                <a:cs typeface="Times New Roman" panose="02020603050405020304" pitchFamily="18" charset="0"/>
              </a:rPr>
              <a:t> gap between them. The sample is placed on the second coverslip. The topmost coverslip is also 0.13 mm thick, with the upper magnetic poles attached to it. Each magnetic pole is 178 </a:t>
            </a:r>
            <a:r>
              <a:rPr lang="en-US" altLang="zh-TW" dirty="0" err="1">
                <a:latin typeface="Times New Roman" panose="02020603050405020304" pitchFamily="18" charset="0"/>
                <a:cs typeface="Times New Roman" panose="02020603050405020304" pitchFamily="18" charset="0"/>
              </a:rPr>
              <a:t>μm</a:t>
            </a:r>
            <a:r>
              <a:rPr lang="en-US" altLang="zh-TW" dirty="0">
                <a:latin typeface="Times New Roman" panose="02020603050405020304" pitchFamily="18" charset="0"/>
                <a:cs typeface="Times New Roman" panose="02020603050405020304" pitchFamily="18" charset="0"/>
              </a:rPr>
              <a:t> thick.</a:t>
            </a:r>
          </a:p>
          <a:p>
            <a:endParaRPr lang="zh-TW" altLang="en-US" dirty="0">
              <a:latin typeface="Times New Roman" panose="02020603050405020304" pitchFamily="18" charset="0"/>
              <a:cs typeface="Times New Roman" panose="02020603050405020304" pitchFamily="18" charset="0"/>
            </a:endParaRPr>
          </a:p>
        </p:txBody>
      </p:sp>
      <p:grpSp>
        <p:nvGrpSpPr>
          <p:cNvPr id="102" name="群組 101">
            <a:extLst>
              <a:ext uri="{FF2B5EF4-FFF2-40B4-BE49-F238E27FC236}">
                <a16:creationId xmlns:a16="http://schemas.microsoft.com/office/drawing/2014/main" id="{8009E3C0-8F3D-4A9E-8B2A-DE0365795DD3}"/>
              </a:ext>
            </a:extLst>
          </p:cNvPr>
          <p:cNvGrpSpPr/>
          <p:nvPr/>
        </p:nvGrpSpPr>
        <p:grpSpPr>
          <a:xfrm>
            <a:off x="3489784" y="1749424"/>
            <a:ext cx="3410596" cy="2574676"/>
            <a:chOff x="373689" y="2613691"/>
            <a:chExt cx="3410596" cy="2574676"/>
          </a:xfrm>
        </p:grpSpPr>
        <p:pic>
          <p:nvPicPr>
            <p:cNvPr id="101" name="圖片 100">
              <a:extLst>
                <a:ext uri="{FF2B5EF4-FFF2-40B4-BE49-F238E27FC236}">
                  <a16:creationId xmlns:a16="http://schemas.microsoft.com/office/drawing/2014/main" id="{25F19959-E890-45B2-8927-41469F9A1FE6}"/>
                </a:ext>
              </a:extLst>
            </p:cNvPr>
            <p:cNvPicPr>
              <a:picLocks noChangeAspect="1"/>
            </p:cNvPicPr>
            <p:nvPr/>
          </p:nvPicPr>
          <p:blipFill rotWithShape="1">
            <a:blip r:embed="rId3">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73" name="群組 72">
              <a:extLst>
                <a:ext uri="{FF2B5EF4-FFF2-40B4-BE49-F238E27FC236}">
                  <a16:creationId xmlns:a16="http://schemas.microsoft.com/office/drawing/2014/main" id="{1F90DA02-CED5-4163-A518-DEDFB8A632FD}"/>
                </a:ext>
              </a:extLst>
            </p:cNvPr>
            <p:cNvGrpSpPr/>
            <p:nvPr/>
          </p:nvGrpSpPr>
          <p:grpSpPr>
            <a:xfrm>
              <a:off x="1463949" y="3191499"/>
              <a:ext cx="1332180" cy="1996868"/>
              <a:chOff x="1725476" y="2164024"/>
              <a:chExt cx="1332180" cy="1996868"/>
            </a:xfrm>
          </p:grpSpPr>
          <p:grpSp>
            <p:nvGrpSpPr>
              <p:cNvPr id="4" name="群組 3">
                <a:extLst>
                  <a:ext uri="{FF2B5EF4-FFF2-40B4-BE49-F238E27FC236}">
                    <a16:creationId xmlns:a16="http://schemas.microsoft.com/office/drawing/2014/main" id="{B16A7909-8505-456C-AFF6-0194676DC1D1}"/>
                  </a:ext>
                </a:extLst>
              </p:cNvPr>
              <p:cNvGrpSpPr/>
              <p:nvPr/>
            </p:nvGrpSpPr>
            <p:grpSpPr>
              <a:xfrm>
                <a:off x="1725476" y="2164024"/>
                <a:ext cx="1332180" cy="1308983"/>
                <a:chOff x="2674094" y="2831212"/>
                <a:chExt cx="1332180" cy="1308983"/>
              </a:xfrm>
            </p:grpSpPr>
            <p:sp>
              <p:nvSpPr>
                <p:cNvPr id="6" name="文字方塊 5">
                  <a:extLst>
                    <a:ext uri="{FF2B5EF4-FFF2-40B4-BE49-F238E27FC236}">
                      <a16:creationId xmlns:a16="http://schemas.microsoft.com/office/drawing/2014/main" id="{503B1EE8-01E9-490D-AA6D-89689CB7CD80}"/>
                    </a:ext>
                  </a:extLst>
                </p:cNvPr>
                <p:cNvSpPr txBox="1"/>
                <p:nvPr/>
              </p:nvSpPr>
              <p:spPr>
                <a:xfrm>
                  <a:off x="3465828" y="3210976"/>
                  <a:ext cx="434155"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P1</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0D2058DA-7C68-4994-A352-6E796BCE27DD}"/>
                    </a:ext>
                  </a:extLst>
                </p:cNvPr>
                <p:cNvSpPr txBox="1"/>
                <p:nvPr/>
              </p:nvSpPr>
              <p:spPr>
                <a:xfrm>
                  <a:off x="2764145" y="3474733"/>
                  <a:ext cx="432013"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P2</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69AC5CDA-79F1-4575-963E-1E084E91A823}"/>
                    </a:ext>
                  </a:extLst>
                </p:cNvPr>
                <p:cNvSpPr txBox="1"/>
                <p:nvPr/>
              </p:nvSpPr>
              <p:spPr>
                <a:xfrm>
                  <a:off x="2674094" y="2858567"/>
                  <a:ext cx="531208"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P3</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3D331CC2-63CF-4074-A95E-EE2F1242F09B}"/>
                    </a:ext>
                  </a:extLst>
                </p:cNvPr>
                <p:cNvSpPr txBox="1"/>
                <p:nvPr/>
              </p:nvSpPr>
              <p:spPr>
                <a:xfrm>
                  <a:off x="3027532" y="3801641"/>
                  <a:ext cx="584200"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P6</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1D18852-2EA8-4F17-B931-D0C449C4EC20}"/>
                    </a:ext>
                  </a:extLst>
                </p:cNvPr>
                <p:cNvSpPr txBox="1"/>
                <p:nvPr/>
              </p:nvSpPr>
              <p:spPr>
                <a:xfrm>
                  <a:off x="3547622" y="3678843"/>
                  <a:ext cx="458652"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P4</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774382BE-E9DB-40AF-B460-A4697DBBCBC8}"/>
                    </a:ext>
                  </a:extLst>
                </p:cNvPr>
                <p:cNvSpPr txBox="1"/>
                <p:nvPr/>
              </p:nvSpPr>
              <p:spPr>
                <a:xfrm>
                  <a:off x="3235774" y="2831212"/>
                  <a:ext cx="430822"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P5</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grpSp>
          <p:sp>
            <p:nvSpPr>
              <p:cNvPr id="39" name="橢圓 38">
                <a:extLst>
                  <a:ext uri="{FF2B5EF4-FFF2-40B4-BE49-F238E27FC236}">
                    <a16:creationId xmlns:a16="http://schemas.microsoft.com/office/drawing/2014/main" id="{30DC5C7D-545F-45C0-9D47-F9BD18936F90}"/>
                  </a:ext>
                </a:extLst>
              </p:cNvPr>
              <p:cNvSpPr/>
              <p:nvPr/>
            </p:nvSpPr>
            <p:spPr>
              <a:xfrm>
                <a:off x="2248453" y="2685669"/>
                <a:ext cx="269670" cy="29207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單箭頭接點 40">
                <a:extLst>
                  <a:ext uri="{FF2B5EF4-FFF2-40B4-BE49-F238E27FC236}">
                    <a16:creationId xmlns:a16="http://schemas.microsoft.com/office/drawing/2014/main" id="{D7451E73-A921-41C3-8725-27CA85150413}"/>
                  </a:ext>
                </a:extLst>
              </p:cNvPr>
              <p:cNvCxnSpPr>
                <a:cxnSpLocks/>
                <a:stCxn id="39" idx="4"/>
              </p:cNvCxnSpPr>
              <p:nvPr/>
            </p:nvCxnSpPr>
            <p:spPr>
              <a:xfrm>
                <a:off x="2383288" y="2977744"/>
                <a:ext cx="133922" cy="11831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72" name="群組 71">
            <a:extLst>
              <a:ext uri="{FF2B5EF4-FFF2-40B4-BE49-F238E27FC236}">
                <a16:creationId xmlns:a16="http://schemas.microsoft.com/office/drawing/2014/main" id="{CE62FD90-77C3-477E-9A23-C4655376FF93}"/>
              </a:ext>
            </a:extLst>
          </p:cNvPr>
          <p:cNvGrpSpPr/>
          <p:nvPr/>
        </p:nvGrpSpPr>
        <p:grpSpPr>
          <a:xfrm>
            <a:off x="2783062" y="3967340"/>
            <a:ext cx="3233495" cy="2067659"/>
            <a:chOff x="6878532" y="1088353"/>
            <a:chExt cx="3233495" cy="2067659"/>
          </a:xfrm>
        </p:grpSpPr>
        <p:grpSp>
          <p:nvGrpSpPr>
            <p:cNvPr id="64" name="群組 63">
              <a:extLst>
                <a:ext uri="{FF2B5EF4-FFF2-40B4-BE49-F238E27FC236}">
                  <a16:creationId xmlns:a16="http://schemas.microsoft.com/office/drawing/2014/main" id="{D9796F12-DBF9-40D1-AB30-208F0F8654E6}"/>
                </a:ext>
              </a:extLst>
            </p:cNvPr>
            <p:cNvGrpSpPr/>
            <p:nvPr/>
          </p:nvGrpSpPr>
          <p:grpSpPr>
            <a:xfrm>
              <a:off x="8678250" y="1640455"/>
              <a:ext cx="1433777" cy="1515557"/>
              <a:chOff x="7693749" y="1761238"/>
              <a:chExt cx="1433777" cy="1515557"/>
            </a:xfrm>
          </p:grpSpPr>
          <p:sp>
            <p:nvSpPr>
              <p:cNvPr id="44" name="文字方塊 43">
                <a:extLst>
                  <a:ext uri="{FF2B5EF4-FFF2-40B4-BE49-F238E27FC236}">
                    <a16:creationId xmlns:a16="http://schemas.microsoft.com/office/drawing/2014/main" id="{FBBA2DF5-438B-4E05-A072-43E139D5C1F2}"/>
                  </a:ext>
                </a:extLst>
              </p:cNvPr>
              <p:cNvSpPr txBox="1"/>
              <p:nvPr/>
            </p:nvSpPr>
            <p:spPr>
              <a:xfrm>
                <a:off x="7693749" y="2907463"/>
                <a:ext cx="1315722"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Coverslips</a:t>
                </a:r>
                <a:endParaRPr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54" name="直線單箭頭接點 53">
                <a:extLst>
                  <a:ext uri="{FF2B5EF4-FFF2-40B4-BE49-F238E27FC236}">
                    <a16:creationId xmlns:a16="http://schemas.microsoft.com/office/drawing/2014/main" id="{5371527E-A5E5-4224-AAF6-76E27B70E01F}"/>
                  </a:ext>
                </a:extLst>
              </p:cNvPr>
              <p:cNvCxnSpPr>
                <a:cxnSpLocks/>
              </p:cNvCxnSpPr>
              <p:nvPr/>
            </p:nvCxnSpPr>
            <p:spPr>
              <a:xfrm flipH="1" flipV="1">
                <a:off x="8155957" y="2318728"/>
                <a:ext cx="39664" cy="6286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11AFE4B4-399F-4004-9AB6-F093480E5FFF}"/>
                  </a:ext>
                </a:extLst>
              </p:cNvPr>
              <p:cNvCxnSpPr>
                <a:cxnSpLocks/>
              </p:cNvCxnSpPr>
              <p:nvPr/>
            </p:nvCxnSpPr>
            <p:spPr>
              <a:xfrm flipV="1">
                <a:off x="8195620" y="2102449"/>
                <a:ext cx="931906" cy="8449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CD46696F-5FF2-4C3A-BD67-FA16A7E92D0F}"/>
                  </a:ext>
                </a:extLst>
              </p:cNvPr>
              <p:cNvCxnSpPr>
                <a:cxnSpLocks/>
              </p:cNvCxnSpPr>
              <p:nvPr/>
            </p:nvCxnSpPr>
            <p:spPr>
              <a:xfrm flipV="1">
                <a:off x="8195619" y="1761238"/>
                <a:ext cx="892245" cy="11861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5" name="文字方塊 64">
              <a:extLst>
                <a:ext uri="{FF2B5EF4-FFF2-40B4-BE49-F238E27FC236}">
                  <a16:creationId xmlns:a16="http://schemas.microsoft.com/office/drawing/2014/main" id="{3D922B74-F6EF-4D04-8EEA-AEBFC7806131}"/>
                </a:ext>
              </a:extLst>
            </p:cNvPr>
            <p:cNvSpPr txBox="1"/>
            <p:nvPr/>
          </p:nvSpPr>
          <p:spPr>
            <a:xfrm>
              <a:off x="6878532" y="1088353"/>
              <a:ext cx="1696670" cy="369332"/>
            </a:xfrm>
            <a:prstGeom prst="rect">
              <a:avLst/>
            </a:prstGeom>
            <a:noFill/>
          </p:spPr>
          <p:txBody>
            <a:bodyPr wrap="square" rtlCol="0">
              <a:spAutoFit/>
            </a:bodyPr>
            <a:lstStyle/>
            <a:p>
              <a:pPr algn="ctr"/>
              <a:r>
                <a:rPr lang="en-US" altLang="zh-TW" b="1" dirty="0">
                  <a:solidFill>
                    <a:srgbClr val="FF0000"/>
                  </a:solidFill>
                  <a:latin typeface="Times New Roman" panose="02020603050405020304" pitchFamily="18" charset="0"/>
                  <a:cs typeface="Times New Roman" panose="02020603050405020304" pitchFamily="18" charset="0"/>
                </a:rPr>
                <a:t>Magnetic pole</a:t>
              </a:r>
              <a:endParaRPr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66" name="直線單箭頭接點 65">
              <a:extLst>
                <a:ext uri="{FF2B5EF4-FFF2-40B4-BE49-F238E27FC236}">
                  <a16:creationId xmlns:a16="http://schemas.microsoft.com/office/drawing/2014/main" id="{D88956AE-7647-4C7B-8DF8-50793095E685}"/>
                </a:ext>
              </a:extLst>
            </p:cNvPr>
            <p:cNvCxnSpPr>
              <a:cxnSpLocks/>
            </p:cNvCxnSpPr>
            <p:nvPr/>
          </p:nvCxnSpPr>
          <p:spPr>
            <a:xfrm flipH="1">
              <a:off x="7643342" y="1409318"/>
              <a:ext cx="173736" cy="8242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57B0B590-AEB6-4D99-B787-AD0234C342A9}"/>
                </a:ext>
              </a:extLst>
            </p:cNvPr>
            <p:cNvCxnSpPr>
              <a:cxnSpLocks/>
            </p:cNvCxnSpPr>
            <p:nvPr/>
          </p:nvCxnSpPr>
          <p:spPr>
            <a:xfrm flipH="1">
              <a:off x="7585253" y="1409318"/>
              <a:ext cx="231824" cy="32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62" name="矩形: 剪去同側角落 161">
            <a:extLst>
              <a:ext uri="{FF2B5EF4-FFF2-40B4-BE49-F238E27FC236}">
                <a16:creationId xmlns:a16="http://schemas.microsoft.com/office/drawing/2014/main" id="{E8AA7F77-04D9-45B4-B2C8-3866E7886BB5}"/>
              </a:ext>
            </a:extLst>
          </p:cNvPr>
          <p:cNvSpPr/>
          <p:nvPr/>
        </p:nvSpPr>
        <p:spPr>
          <a:xfrm>
            <a:off x="5084649" y="4878941"/>
            <a:ext cx="368923" cy="106284"/>
          </a:xfrm>
          <a:prstGeom prst="snip2Same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63" name="文字方塊 162">
            <a:extLst>
              <a:ext uri="{FF2B5EF4-FFF2-40B4-BE49-F238E27FC236}">
                <a16:creationId xmlns:a16="http://schemas.microsoft.com/office/drawing/2014/main" id="{64640F36-C43B-4D51-B79F-4ECD77ED1E45}"/>
              </a:ext>
            </a:extLst>
          </p:cNvPr>
          <p:cNvSpPr txBox="1"/>
          <p:nvPr/>
        </p:nvSpPr>
        <p:spPr>
          <a:xfrm>
            <a:off x="3874472" y="4742559"/>
            <a:ext cx="13157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Specimen</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cxnSp>
        <p:nvCxnSpPr>
          <p:cNvPr id="167" name="直線單箭頭接點 166">
            <a:extLst>
              <a:ext uri="{FF2B5EF4-FFF2-40B4-BE49-F238E27FC236}">
                <a16:creationId xmlns:a16="http://schemas.microsoft.com/office/drawing/2014/main" id="{51FBF1B4-2CED-4F0F-9262-DEB87820203F}"/>
              </a:ext>
            </a:extLst>
          </p:cNvPr>
          <p:cNvCxnSpPr>
            <a:cxnSpLocks/>
          </p:cNvCxnSpPr>
          <p:nvPr/>
        </p:nvCxnSpPr>
        <p:spPr>
          <a:xfrm>
            <a:off x="4737805" y="4887980"/>
            <a:ext cx="307183" cy="136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6707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172B26-5225-40D5-90B5-A008EA5FCABE}"/>
              </a:ext>
            </a:extLst>
          </p:cNvPr>
          <p:cNvSpPr>
            <a:spLocks noGrp="1"/>
          </p:cNvSpPr>
          <p:nvPr>
            <p:ph type="title"/>
          </p:nvPr>
        </p:nvSpPr>
        <p:spPr>
          <a:xfrm>
            <a:off x="0" y="-60340"/>
            <a:ext cx="10515600" cy="786342"/>
          </a:xfrm>
        </p:spPr>
        <p:txBody>
          <a:bodyPr/>
          <a:lstStyle/>
          <a:p>
            <a:r>
              <a:rPr lang="en-US" altLang="zh-TW" dirty="0">
                <a:latin typeface="Times New Roman" panose="02020603050405020304" pitchFamily="18" charset="0"/>
                <a:cs typeface="Times New Roman" panose="02020603050405020304" pitchFamily="18" charset="0"/>
              </a:rPr>
              <a:t>CAD MODEL</a:t>
            </a:r>
            <a:endParaRPr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C9C15DD5-0AA9-439B-ADD9-E9DFDCFD5D79}"/>
              </a:ext>
            </a:extLst>
          </p:cNvPr>
          <p:cNvSpPr txBox="1"/>
          <p:nvPr/>
        </p:nvSpPr>
        <p:spPr>
          <a:xfrm>
            <a:off x="-1752" y="510672"/>
            <a:ext cx="12016967" cy="646331"/>
          </a:xfrm>
          <a:prstGeom prst="rect">
            <a:avLst/>
          </a:prstGeom>
          <a:noFill/>
        </p:spPr>
        <p:txBody>
          <a:bodyPr wrap="square">
            <a:spAutoFit/>
          </a:bodyPr>
          <a:lstStyle/>
          <a:p>
            <a:pPr marL="285750" indent="-285750">
              <a:buFont typeface="Arial" panose="020B0604020202020204" pitchFamily="34" charset="0"/>
              <a:buChar char="•"/>
            </a:pPr>
            <a:r>
              <a:rPr lang="en-US" altLang="zh-TW" dirty="0"/>
              <a:t>The upper-left, upper-right, and lower-left figures show the upper and lower magnetic pole structures, separated by a 508 </a:t>
            </a:r>
            <a:r>
              <a:rPr lang="en-US" altLang="zh-TW" dirty="0" err="1"/>
              <a:t>μm</a:t>
            </a:r>
            <a:r>
              <a:rPr lang="en-US" altLang="zh-TW" dirty="0"/>
              <a:t>-thick spacer. The lower-right figure shows the side view, where the coil and yoke can be identified.</a:t>
            </a:r>
            <a:endParaRPr lang="zh-TW" altLang="en-US" dirty="0">
              <a:latin typeface="Times New Roman" panose="02020603050405020304" pitchFamily="18" charset="0"/>
              <a:cs typeface="Times New Roman" panose="02020603050405020304" pitchFamily="18" charset="0"/>
            </a:endParaRPr>
          </a:p>
        </p:txBody>
      </p:sp>
      <p:grpSp>
        <p:nvGrpSpPr>
          <p:cNvPr id="48" name="群組 47">
            <a:extLst>
              <a:ext uri="{FF2B5EF4-FFF2-40B4-BE49-F238E27FC236}">
                <a16:creationId xmlns:a16="http://schemas.microsoft.com/office/drawing/2014/main" id="{E0C91600-48F8-4FD5-B9D7-C09B22365C52}"/>
              </a:ext>
            </a:extLst>
          </p:cNvPr>
          <p:cNvGrpSpPr/>
          <p:nvPr/>
        </p:nvGrpSpPr>
        <p:grpSpPr>
          <a:xfrm>
            <a:off x="2874634" y="1283665"/>
            <a:ext cx="6307909" cy="2679983"/>
            <a:chOff x="2710042" y="1204251"/>
            <a:chExt cx="6307909" cy="2679983"/>
          </a:xfrm>
        </p:grpSpPr>
        <p:pic>
          <p:nvPicPr>
            <p:cNvPr id="25" name="圖片 24">
              <a:extLst>
                <a:ext uri="{FF2B5EF4-FFF2-40B4-BE49-F238E27FC236}">
                  <a16:creationId xmlns:a16="http://schemas.microsoft.com/office/drawing/2014/main" id="{7ABFCC2B-9132-4E6E-B762-479AF1656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8812" y="1314145"/>
              <a:ext cx="3539139" cy="2385423"/>
            </a:xfrm>
            <a:prstGeom prst="rect">
              <a:avLst/>
            </a:prstGeom>
          </p:spPr>
        </p:pic>
        <p:pic>
          <p:nvPicPr>
            <p:cNvPr id="27" name="圖片 26">
              <a:extLst>
                <a:ext uri="{FF2B5EF4-FFF2-40B4-BE49-F238E27FC236}">
                  <a16:creationId xmlns:a16="http://schemas.microsoft.com/office/drawing/2014/main" id="{0FB979EE-9BB7-4674-BE14-ACFF1D70DD8D}"/>
                </a:ext>
              </a:extLst>
            </p:cNvPr>
            <p:cNvPicPr>
              <a:picLocks noChangeAspect="1"/>
            </p:cNvPicPr>
            <p:nvPr/>
          </p:nvPicPr>
          <p:blipFill rotWithShape="1">
            <a:blip r:embed="rId3">
              <a:extLst>
                <a:ext uri="{28A0092B-C50C-407E-A947-70E740481C1C}">
                  <a14:useLocalDpi xmlns:a14="http://schemas.microsoft.com/office/drawing/2010/main" val="0"/>
                </a:ext>
              </a:extLst>
            </a:blip>
            <a:srcRect l="28445" t="4693" r="27441" b="12462"/>
            <a:stretch/>
          </p:blipFill>
          <p:spPr>
            <a:xfrm>
              <a:off x="2717323" y="1204251"/>
              <a:ext cx="2761489" cy="2605212"/>
            </a:xfrm>
            <a:prstGeom prst="rect">
              <a:avLst/>
            </a:prstGeom>
          </p:spPr>
        </p:pic>
        <p:sp>
          <p:nvSpPr>
            <p:cNvPr id="55" name="文字方塊 54">
              <a:extLst>
                <a:ext uri="{FF2B5EF4-FFF2-40B4-BE49-F238E27FC236}">
                  <a16:creationId xmlns:a16="http://schemas.microsoft.com/office/drawing/2014/main" id="{A6436BA4-3E6C-4BE8-B21E-1BD7331FB267}"/>
                </a:ext>
              </a:extLst>
            </p:cNvPr>
            <p:cNvSpPr txBox="1"/>
            <p:nvPr/>
          </p:nvSpPr>
          <p:spPr>
            <a:xfrm>
              <a:off x="2710042" y="3514902"/>
              <a:ext cx="1187084"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Coverslip</a:t>
              </a:r>
              <a:endParaRPr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57" name="直線單箭頭接點 56">
              <a:extLst>
                <a:ext uri="{FF2B5EF4-FFF2-40B4-BE49-F238E27FC236}">
                  <a16:creationId xmlns:a16="http://schemas.microsoft.com/office/drawing/2014/main" id="{EF062495-D3E4-4A42-B1C7-0944D7E7129E}"/>
                </a:ext>
              </a:extLst>
            </p:cNvPr>
            <p:cNvCxnSpPr>
              <a:cxnSpLocks/>
            </p:cNvCxnSpPr>
            <p:nvPr/>
          </p:nvCxnSpPr>
          <p:spPr>
            <a:xfrm flipV="1">
              <a:off x="3063240" y="3200400"/>
              <a:ext cx="128016" cy="3840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85B510E1-2337-4190-9347-169BEA7FCBF1}"/>
                </a:ext>
              </a:extLst>
            </p:cNvPr>
            <p:cNvSpPr txBox="1"/>
            <p:nvPr/>
          </p:nvSpPr>
          <p:spPr>
            <a:xfrm>
              <a:off x="5177562" y="3338571"/>
              <a:ext cx="1696670" cy="369332"/>
            </a:xfrm>
            <a:prstGeom prst="rect">
              <a:avLst/>
            </a:prstGeom>
            <a:noFill/>
          </p:spPr>
          <p:txBody>
            <a:bodyPr wrap="square" rtlCol="0">
              <a:spAutoFit/>
            </a:bodyPr>
            <a:lstStyle/>
            <a:p>
              <a:pPr algn="ctr"/>
              <a:r>
                <a:rPr lang="en-US" altLang="zh-TW" b="1" dirty="0">
                  <a:solidFill>
                    <a:srgbClr val="FF0000"/>
                  </a:solidFill>
                  <a:latin typeface="Times New Roman" panose="02020603050405020304" pitchFamily="18" charset="0"/>
                  <a:cs typeface="Times New Roman" panose="02020603050405020304" pitchFamily="18" charset="0"/>
                </a:rPr>
                <a:t>Magnetic poles</a:t>
              </a:r>
              <a:endParaRPr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62" name="直線單箭頭接點 61">
              <a:extLst>
                <a:ext uri="{FF2B5EF4-FFF2-40B4-BE49-F238E27FC236}">
                  <a16:creationId xmlns:a16="http://schemas.microsoft.com/office/drawing/2014/main" id="{17471786-5C3B-497C-9587-16688802F557}"/>
                </a:ext>
              </a:extLst>
            </p:cNvPr>
            <p:cNvCxnSpPr>
              <a:cxnSpLocks/>
            </p:cNvCxnSpPr>
            <p:nvPr/>
          </p:nvCxnSpPr>
          <p:spPr>
            <a:xfrm flipH="1" flipV="1">
              <a:off x="5093208" y="3263801"/>
              <a:ext cx="577741" cy="1469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a16="http://schemas.microsoft.com/office/drawing/2014/main" id="{CAF912D1-78B6-415B-B567-71535333E4B8}"/>
                </a:ext>
              </a:extLst>
            </p:cNvPr>
            <p:cNvCxnSpPr>
              <a:cxnSpLocks/>
            </p:cNvCxnSpPr>
            <p:nvPr/>
          </p:nvCxnSpPr>
          <p:spPr>
            <a:xfrm flipV="1">
              <a:off x="5864416" y="3110965"/>
              <a:ext cx="343299" cy="3180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6" name="群組 35">
              <a:extLst>
                <a:ext uri="{FF2B5EF4-FFF2-40B4-BE49-F238E27FC236}">
                  <a16:creationId xmlns:a16="http://schemas.microsoft.com/office/drawing/2014/main" id="{97F3CA1A-5424-4489-94C3-9C16877283CB}"/>
                </a:ext>
              </a:extLst>
            </p:cNvPr>
            <p:cNvGrpSpPr/>
            <p:nvPr/>
          </p:nvGrpSpPr>
          <p:grpSpPr>
            <a:xfrm>
              <a:off x="4945874" y="2195878"/>
              <a:ext cx="1349462" cy="380817"/>
              <a:chOff x="464652" y="5423538"/>
              <a:chExt cx="1475589" cy="369332"/>
            </a:xfrm>
          </p:grpSpPr>
          <p:sp>
            <p:nvSpPr>
              <p:cNvPr id="33" name="文字方塊 32">
                <a:extLst>
                  <a:ext uri="{FF2B5EF4-FFF2-40B4-BE49-F238E27FC236}">
                    <a16:creationId xmlns:a16="http://schemas.microsoft.com/office/drawing/2014/main" id="{815A779D-4104-468E-9FE1-46086B5C0CFD}"/>
                  </a:ext>
                </a:extLst>
              </p:cNvPr>
              <p:cNvSpPr txBox="1"/>
              <p:nvPr/>
            </p:nvSpPr>
            <p:spPr>
              <a:xfrm>
                <a:off x="464652" y="5423538"/>
                <a:ext cx="1053944"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Spacer</a:t>
                </a:r>
                <a:endParaRPr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34" name="直線單箭頭接點 33">
                <a:extLst>
                  <a:ext uri="{FF2B5EF4-FFF2-40B4-BE49-F238E27FC236}">
                    <a16:creationId xmlns:a16="http://schemas.microsoft.com/office/drawing/2014/main" id="{94C28F48-3A38-4F4D-813C-90656365E732}"/>
                  </a:ext>
                </a:extLst>
              </p:cNvPr>
              <p:cNvCxnSpPr>
                <a:cxnSpLocks/>
              </p:cNvCxnSpPr>
              <p:nvPr/>
            </p:nvCxnSpPr>
            <p:spPr>
              <a:xfrm>
                <a:off x="1376807" y="5655780"/>
                <a:ext cx="563434" cy="6935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60" name="群組 59">
            <a:extLst>
              <a:ext uri="{FF2B5EF4-FFF2-40B4-BE49-F238E27FC236}">
                <a16:creationId xmlns:a16="http://schemas.microsoft.com/office/drawing/2014/main" id="{54A5371F-9010-4B2F-BADF-630B04E1F65C}"/>
              </a:ext>
            </a:extLst>
          </p:cNvPr>
          <p:cNvGrpSpPr/>
          <p:nvPr/>
        </p:nvGrpSpPr>
        <p:grpSpPr>
          <a:xfrm>
            <a:off x="2811951" y="4224749"/>
            <a:ext cx="6757076" cy="1983438"/>
            <a:chOff x="2840112" y="4153311"/>
            <a:chExt cx="6757076" cy="1983438"/>
          </a:xfrm>
        </p:grpSpPr>
        <p:grpSp>
          <p:nvGrpSpPr>
            <p:cNvPr id="99" name="群組 98">
              <a:extLst>
                <a:ext uri="{FF2B5EF4-FFF2-40B4-BE49-F238E27FC236}">
                  <a16:creationId xmlns:a16="http://schemas.microsoft.com/office/drawing/2014/main" id="{BFD72B94-4827-4289-B568-040CE79765EF}"/>
                </a:ext>
              </a:extLst>
            </p:cNvPr>
            <p:cNvGrpSpPr/>
            <p:nvPr/>
          </p:nvGrpSpPr>
          <p:grpSpPr>
            <a:xfrm>
              <a:off x="5739474" y="4530665"/>
              <a:ext cx="3857714" cy="1264901"/>
              <a:chOff x="361374" y="5372068"/>
              <a:chExt cx="4079375" cy="1264901"/>
            </a:xfrm>
          </p:grpSpPr>
          <p:pic>
            <p:nvPicPr>
              <p:cNvPr id="97" name="圖片 96">
                <a:extLst>
                  <a:ext uri="{FF2B5EF4-FFF2-40B4-BE49-F238E27FC236}">
                    <a16:creationId xmlns:a16="http://schemas.microsoft.com/office/drawing/2014/main" id="{B70C824D-E498-4E0F-A080-791FDBFD93FE}"/>
                  </a:ext>
                </a:extLst>
              </p:cNvPr>
              <p:cNvPicPr>
                <a:picLocks noChangeAspect="1"/>
              </p:cNvPicPr>
              <p:nvPr/>
            </p:nvPicPr>
            <p:blipFill rotWithShape="1">
              <a:blip r:embed="rId4">
                <a:extLst>
                  <a:ext uri="{28A0092B-C50C-407E-A947-70E740481C1C}">
                    <a14:useLocalDpi xmlns:a14="http://schemas.microsoft.com/office/drawing/2010/main" val="0"/>
                  </a:ext>
                </a:extLst>
              </a:blip>
              <a:srcRect l="30308" t="34856" r="13795" b="39313"/>
              <a:stretch/>
            </p:blipFill>
            <p:spPr>
              <a:xfrm>
                <a:off x="361374" y="5372068"/>
                <a:ext cx="4079375" cy="1264901"/>
              </a:xfrm>
              <a:prstGeom prst="rect">
                <a:avLst/>
              </a:prstGeom>
            </p:spPr>
          </p:pic>
          <p:grpSp>
            <p:nvGrpSpPr>
              <p:cNvPr id="12" name="群組 11">
                <a:extLst>
                  <a:ext uri="{FF2B5EF4-FFF2-40B4-BE49-F238E27FC236}">
                    <a16:creationId xmlns:a16="http://schemas.microsoft.com/office/drawing/2014/main" id="{740C8B43-3F2E-4259-82C3-235910AFA1D8}"/>
                  </a:ext>
                </a:extLst>
              </p:cNvPr>
              <p:cNvGrpSpPr/>
              <p:nvPr/>
            </p:nvGrpSpPr>
            <p:grpSpPr>
              <a:xfrm>
                <a:off x="1147735" y="5816372"/>
                <a:ext cx="2478117" cy="378476"/>
                <a:chOff x="4907292" y="1799977"/>
                <a:chExt cx="2478117" cy="378476"/>
              </a:xfrm>
            </p:grpSpPr>
            <p:sp>
              <p:nvSpPr>
                <p:cNvPr id="14" name="文字方塊 13">
                  <a:extLst>
                    <a:ext uri="{FF2B5EF4-FFF2-40B4-BE49-F238E27FC236}">
                      <a16:creationId xmlns:a16="http://schemas.microsoft.com/office/drawing/2014/main" id="{11AC86F4-E2CA-4745-881B-AC6DFF1BCA1D}"/>
                    </a:ext>
                  </a:extLst>
                </p:cNvPr>
                <p:cNvSpPr txBox="1"/>
                <p:nvPr/>
              </p:nvSpPr>
              <p:spPr>
                <a:xfrm>
                  <a:off x="5130073" y="1809121"/>
                  <a:ext cx="643467"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Coil</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A890A0AC-C316-4BDA-AD96-7DB40BB7043B}"/>
                    </a:ext>
                  </a:extLst>
                </p:cNvPr>
                <p:cNvSpPr txBox="1"/>
                <p:nvPr/>
              </p:nvSpPr>
              <p:spPr>
                <a:xfrm>
                  <a:off x="6564009" y="1799977"/>
                  <a:ext cx="763384"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Yoke</a:t>
                  </a:r>
                  <a:endParaRPr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16" name="直線單箭頭接點 15">
                  <a:extLst>
                    <a:ext uri="{FF2B5EF4-FFF2-40B4-BE49-F238E27FC236}">
                      <a16:creationId xmlns:a16="http://schemas.microsoft.com/office/drawing/2014/main" id="{19223091-9F32-4652-9219-28A66527E5E3}"/>
                    </a:ext>
                  </a:extLst>
                </p:cNvPr>
                <p:cNvCxnSpPr>
                  <a:cxnSpLocks/>
                </p:cNvCxnSpPr>
                <p:nvPr/>
              </p:nvCxnSpPr>
              <p:spPr>
                <a:xfrm flipH="1">
                  <a:off x="4907292" y="2008450"/>
                  <a:ext cx="29633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2BE36311-E9DB-4099-83DF-89F45DF43EB6}"/>
                    </a:ext>
                  </a:extLst>
                </p:cNvPr>
                <p:cNvCxnSpPr>
                  <a:cxnSpLocks/>
                </p:cNvCxnSpPr>
                <p:nvPr/>
              </p:nvCxnSpPr>
              <p:spPr>
                <a:xfrm flipV="1">
                  <a:off x="7201522" y="1850570"/>
                  <a:ext cx="183887" cy="14103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pic>
          <p:nvPicPr>
            <p:cNvPr id="59" name="圖片 58">
              <a:extLst>
                <a:ext uri="{FF2B5EF4-FFF2-40B4-BE49-F238E27FC236}">
                  <a16:creationId xmlns:a16="http://schemas.microsoft.com/office/drawing/2014/main" id="{867917FB-58AD-4126-BB56-391BF9841461}"/>
                </a:ext>
              </a:extLst>
            </p:cNvPr>
            <p:cNvPicPr>
              <a:picLocks noChangeAspect="1"/>
            </p:cNvPicPr>
            <p:nvPr/>
          </p:nvPicPr>
          <p:blipFill rotWithShape="1">
            <a:blip r:embed="rId5">
              <a:extLst>
                <a:ext uri="{28A0092B-C50C-407E-A947-70E740481C1C}">
                  <a14:useLocalDpi xmlns:a14="http://schemas.microsoft.com/office/drawing/2010/main" val="0"/>
                </a:ext>
              </a:extLst>
            </a:blip>
            <a:srcRect l="18150" t="14973" r="30474" b="14973"/>
            <a:stretch/>
          </p:blipFill>
          <p:spPr>
            <a:xfrm>
              <a:off x="2840112" y="4153311"/>
              <a:ext cx="2895478" cy="1983438"/>
            </a:xfrm>
            <a:prstGeom prst="rect">
              <a:avLst/>
            </a:prstGeom>
          </p:spPr>
        </p:pic>
      </p:grpSp>
    </p:spTree>
    <p:extLst>
      <p:ext uri="{BB962C8B-B14F-4D97-AF65-F5344CB8AC3E}">
        <p14:creationId xmlns:p14="http://schemas.microsoft.com/office/powerpoint/2010/main" val="386222716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3802</TotalTime>
  <Words>178</Words>
  <Application>Microsoft Office PowerPoint</Application>
  <PresentationFormat>寬螢幕</PresentationFormat>
  <Paragraphs>19</Paragraphs>
  <Slides>3</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vt:i4>
      </vt:variant>
    </vt:vector>
  </HeadingPairs>
  <TitlesOfParts>
    <vt:vector size="9" baseType="lpstr">
      <vt:lpstr>Aptos</vt:lpstr>
      <vt:lpstr>Arial</vt:lpstr>
      <vt:lpstr>Calibri</vt:lpstr>
      <vt:lpstr>Calibri Light</vt:lpstr>
      <vt:lpstr>Times New Roman</vt:lpstr>
      <vt:lpstr>Office 佈景主題</vt:lpstr>
      <vt:lpstr>A Lumped-Parameter Modeling, Calibration, and Capacity-Measure Framework for Flux Generation in Symmetric Multipole Electromagnetic Actuators </vt:lpstr>
      <vt:lpstr>CAD MODEL</vt:lpstr>
      <vt:lpstr>CAD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 </dc:title>
  <dc:creator>郭建棋</dc:creator>
  <cp:lastModifiedBy>郭建棋</cp:lastModifiedBy>
  <cp:revision>15</cp:revision>
  <dcterms:created xsi:type="dcterms:W3CDTF">2026-08-08T03:28:10Z</dcterms:created>
  <dcterms:modified xsi:type="dcterms:W3CDTF">2026-08-13T03:44:21Z</dcterms:modified>
</cp:coreProperties>
</file>