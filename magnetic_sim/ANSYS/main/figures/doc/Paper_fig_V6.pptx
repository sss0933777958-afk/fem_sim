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87" r:id="rId4"/>
    <p:sldId id="285" r:id="rId5"/>
    <p:sldId id="269" r:id="rId6"/>
    <p:sldId id="290" r:id="rId7"/>
    <p:sldId id="291" r:id="rId8"/>
    <p:sldId id="272" r:id="rId9"/>
    <p:sldId id="273" r:id="rId10"/>
    <p:sldId id="293" r:id="rId11"/>
    <p:sldId id="294" r:id="rId12"/>
    <p:sldId id="296" r:id="rId13"/>
    <p:sldId id="297" r:id="rId14"/>
    <p:sldId id="299" r:id="rId15"/>
    <p:sldId id="300" r:id="rId16"/>
    <p:sldId id="301" r:id="rId17"/>
    <p:sldId id="302" r:id="rId18"/>
    <p:sldId id="303" r:id="rId19"/>
    <p:sldId id="292" r:id="rId20"/>
    <p:sldId id="286" r:id="rId21"/>
    <p:sldId id="288" r:id="rId22"/>
    <p:sldId id="289"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313B5C-4451-4F85-8E22-4F6D3011212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438C9657-D53F-4E4F-9171-BAB7C00D9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CB1CB1F-3023-4059-8D9C-CF5C75B6AF97}"/>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88FDADB6-4903-41BB-BC87-020BA3FBD9C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EFCEFEA-DE84-42FC-BE56-10A71321A99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04708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8524EB-4587-44AF-A65F-8CBAAF65D91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2C5D94-2521-44B1-AF19-188FFBBD19C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5882776-4508-4BB4-B95B-94CABBBA1DAA}"/>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180C8587-132A-4FA1-AC7D-93EABEB037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ABA0DE-C7B2-4848-95AC-5A3E7CA5644D}"/>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0991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A3930A-494A-46F3-88CB-96081BB0DBF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478FD7A-7A96-43E2-8961-E0DB15C178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7006FC20-C1D3-46B0-BF1E-03D546043D36}"/>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C4F6D392-6F8A-4414-AA11-638326A9F37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7B8EB7-22A4-447A-A525-998FA4AEC1F4}"/>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81572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32D765-AEAD-45D9-9508-FB7BE0E0289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2A380E-4D39-4CB1-A9B1-CAAAABD809C1}"/>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E4303AA3-878B-45F8-A4E8-92FA10CD26BC}"/>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9C1F139-09FB-4A94-AA83-54F2B93E6A60}"/>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6" name="頁尾版面配置區 5">
            <a:extLst>
              <a:ext uri="{FF2B5EF4-FFF2-40B4-BE49-F238E27FC236}">
                <a16:creationId xmlns:a16="http://schemas.microsoft.com/office/drawing/2014/main" id="{D42CB685-F91E-4E52-9043-88820ECAF73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047ED7B-0BBB-48C6-8CBE-10F473361AD8}"/>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863479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328D6F7-2A01-404A-8E60-308B5B2DF66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34BC229-0964-4EB2-A32F-3BE569B115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FBDD00DB-A2AC-4093-9580-16DB7A5856B6}"/>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98E98D9-1B64-42E0-BF51-3948B6593D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91B0C13F-E177-4192-B9A6-DEC49612F692}"/>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4F99ADD-F054-4E54-9158-162DB547028A}"/>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8" name="頁尾版面配置區 7">
            <a:extLst>
              <a:ext uri="{FF2B5EF4-FFF2-40B4-BE49-F238E27FC236}">
                <a16:creationId xmlns:a16="http://schemas.microsoft.com/office/drawing/2014/main" id="{56242129-DAAA-4FB1-8D26-7248AD72CF9B}"/>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FFDDDDE1-FD8E-4032-A6CC-B2F72DA857B5}"/>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8570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0A7E1C2-942A-47E2-9A00-0B52E276B5CF}"/>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FEC29EA-2303-41C4-8179-5DF5AC137E66}"/>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4" name="頁尾版面配置區 3">
            <a:extLst>
              <a:ext uri="{FF2B5EF4-FFF2-40B4-BE49-F238E27FC236}">
                <a16:creationId xmlns:a16="http://schemas.microsoft.com/office/drawing/2014/main" id="{3A7E344C-546C-4B5B-948D-F248F196BFE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BB0CE009-148B-41C4-9070-05067E45A9DE}"/>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67784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54434E9-DB57-4C91-A8E8-AA7E4DE1E42C}"/>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3" name="頁尾版面配置區 2">
            <a:extLst>
              <a:ext uri="{FF2B5EF4-FFF2-40B4-BE49-F238E27FC236}">
                <a16:creationId xmlns:a16="http://schemas.microsoft.com/office/drawing/2014/main" id="{43CBD5B2-A875-4997-957A-2CACB4E818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1DAE9AF9-98E2-49BC-890E-C4901C5C96D7}"/>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984474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7F9702-2F89-4C07-A091-A864CF9277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B9A033B-67CA-4692-9F96-92929D8AB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2A61FCE-0216-475F-8DCF-C058715F4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7370C5D-745A-4EAE-A151-2541003A35B9}"/>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6" name="頁尾版面配置區 5">
            <a:extLst>
              <a:ext uri="{FF2B5EF4-FFF2-40B4-BE49-F238E27FC236}">
                <a16:creationId xmlns:a16="http://schemas.microsoft.com/office/drawing/2014/main" id="{706460B0-32D4-4AFB-8A7E-846482505E3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AD132A3-0D89-4417-A7DF-5A8A018E485A}"/>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517729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5306D-49B1-4801-B5D5-82BBCC509CA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5F20369-2E94-4C2E-B0A1-93ADA101D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CAC760FC-4E62-42A9-8056-6EE8249B7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5BD4D67-FBFA-40B4-9C57-519B88B3EC42}"/>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6" name="頁尾版面配置區 5">
            <a:extLst>
              <a:ext uri="{FF2B5EF4-FFF2-40B4-BE49-F238E27FC236}">
                <a16:creationId xmlns:a16="http://schemas.microsoft.com/office/drawing/2014/main" id="{28A5B214-3FE3-41C8-BAAF-7E87C796FFF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4F60CC2-E109-4719-875D-510BAD1DAF71}"/>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26151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58099F-549D-41D0-8656-FC0BCFF0AC8B}"/>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A026EBC-D2D7-4484-A574-A0FDADFD83EC}"/>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955BDF0-F4E3-4A78-AC21-5996C7877466}"/>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77A58278-9C37-44E9-A992-05A40C4C24B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EF221A9-3DF2-4243-8312-6B441A40B45B}"/>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6398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07E2F2-53D7-4D47-8536-D902F65329D3}"/>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EB11135-92E3-4798-9365-99DC4319D221}"/>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5D66D9F-EC40-4B77-81BD-B3B6ACD4C9DF}"/>
              </a:ext>
            </a:extLst>
          </p:cNvPr>
          <p:cNvSpPr>
            <a:spLocks noGrp="1"/>
          </p:cNvSpPr>
          <p:nvPr>
            <p:ph type="dt" sz="half" idx="10"/>
          </p:nvPr>
        </p:nvSpPr>
        <p:spPr/>
        <p:txBody>
          <a:body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328EDF41-8BB7-4F4D-866E-39DEF3CE579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909E83-6E85-417E-A5C0-394F0D780B89}"/>
              </a:ext>
            </a:extLst>
          </p:cNvPr>
          <p:cNvSpPr>
            <a:spLocks noGrp="1"/>
          </p:cNvSpPr>
          <p:nvPr>
            <p:ph type="sldNum" sz="quarter" idx="12"/>
          </p:nvPr>
        </p:nvSpPr>
        <p:spPr/>
        <p:txBody>
          <a:body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33666469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809FC75-802D-4B19-AFA4-8A8D60B43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EE7658D-1874-4965-86A1-F9DC152E3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D7FBAA-F52E-4E99-ABAC-AD4E8AA23C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D42070-5DAD-4E7E-A6F8-25E560BC7BBC}" type="datetimeFigureOut">
              <a:rPr lang="zh-TW" altLang="en-US" smtClean="0"/>
              <a:t>2026/8/18</a:t>
            </a:fld>
            <a:endParaRPr lang="zh-TW" altLang="en-US"/>
          </a:p>
        </p:txBody>
      </p:sp>
      <p:sp>
        <p:nvSpPr>
          <p:cNvPr id="5" name="頁尾版面配置區 4">
            <a:extLst>
              <a:ext uri="{FF2B5EF4-FFF2-40B4-BE49-F238E27FC236}">
                <a16:creationId xmlns:a16="http://schemas.microsoft.com/office/drawing/2014/main" id="{E5AA8CD1-761B-436C-81CD-04B671C314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47BE989-E3A2-4C5A-A4B2-D5729A6C57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F09099-633A-4CE9-89D3-D4AC4F747E0F}" type="slidenum">
              <a:rPr lang="zh-TW" altLang="en-US" smtClean="0"/>
              <a:t>‹#›</a:t>
            </a:fld>
            <a:endParaRPr lang="zh-TW" altLang="en-US"/>
          </a:p>
        </p:txBody>
      </p:sp>
    </p:spTree>
    <p:extLst>
      <p:ext uri="{BB962C8B-B14F-4D97-AF65-F5344CB8AC3E}">
        <p14:creationId xmlns:p14="http://schemas.microsoft.com/office/powerpoint/2010/main" val="12346709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510.png"/><Relationship Id="rId10" Type="http://schemas.openxmlformats.org/officeDocument/2006/relationships/image" Target="../media/image9.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13" Type="http://schemas.openxmlformats.org/officeDocument/2006/relationships/image" Target="../media/image13.png"/><Relationship Id="rId12" Type="http://schemas.openxmlformats.org/officeDocument/2006/relationships/image" Target="../media/image12.png"/><Relationship Id="rId2" Type="http://schemas.openxmlformats.org/officeDocument/2006/relationships/image" Target="../media/image151.png"/><Relationship Id="rId16" Type="http://schemas.openxmlformats.org/officeDocument/2006/relationships/image" Target="../media/image16.png"/><Relationship Id="rId1" Type="http://schemas.openxmlformats.org/officeDocument/2006/relationships/slideLayout" Target="../slideLayouts/slideLayout2.xml"/><Relationship Id="rId11" Type="http://schemas.openxmlformats.org/officeDocument/2006/relationships/image" Target="../media/image11.png"/><Relationship Id="rId15" Type="http://schemas.openxmlformats.org/officeDocument/2006/relationships/image" Target="../media/image15.png"/><Relationship Id="rId10" Type="http://schemas.openxmlformats.org/officeDocument/2006/relationships/image" Target="../media/image10.png"/><Relationship Id="rId9" Type="http://schemas.openxmlformats.org/officeDocument/2006/relationships/image" Target="../media/image37.pn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30.png"/><Relationship Id="rId4" Type="http://schemas.openxmlformats.org/officeDocument/2006/relationships/image" Target="../media/image120.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0.png"/><Relationship Id="rId7" Type="http://schemas.openxmlformats.org/officeDocument/2006/relationships/image" Target="../media/image230.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220.png"/><Relationship Id="rId11" Type="http://schemas.openxmlformats.org/officeDocument/2006/relationships/image" Target="../media/image270.png"/><Relationship Id="rId5" Type="http://schemas.openxmlformats.org/officeDocument/2006/relationships/image" Target="../media/image210.png"/><Relationship Id="rId10" Type="http://schemas.openxmlformats.org/officeDocument/2006/relationships/image" Target="../media/image260.png"/><Relationship Id="rId4" Type="http://schemas.openxmlformats.org/officeDocument/2006/relationships/image" Target="../media/image200.png"/><Relationship Id="rId9" Type="http://schemas.openxmlformats.org/officeDocument/2006/relationships/image" Target="../media/image250.png"/></Relationships>
</file>

<file path=ppt/slides/_rels/slide1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1.png"/></Relationships>
</file>

<file path=ppt/slides/_rels/slide11.xml.rels><?xml version="1.0" encoding="UTF-8" standalone="yes"?>
<Relationships xmlns="http://schemas.openxmlformats.org/package/2006/relationships"><Relationship Id="rId13" Type="http://schemas.openxmlformats.org/officeDocument/2006/relationships/image" Target="../media/image50.png"/><Relationship Id="rId18" Type="http://schemas.openxmlformats.org/officeDocument/2006/relationships/image" Target="../media/image57.png"/><Relationship Id="rId26" Type="http://schemas.openxmlformats.org/officeDocument/2006/relationships/image" Target="../media/image41.png"/><Relationship Id="rId21" Type="http://schemas.openxmlformats.org/officeDocument/2006/relationships/image" Target="../media/image35.png"/><Relationship Id="rId12" Type="http://schemas.openxmlformats.org/officeDocument/2006/relationships/image" Target="../media/image49.png"/><Relationship Id="rId17" Type="http://schemas.openxmlformats.org/officeDocument/2006/relationships/image" Target="../media/image56.png"/><Relationship Id="rId25" Type="http://schemas.openxmlformats.org/officeDocument/2006/relationships/image" Target="../media/image40.png"/><Relationship Id="rId2" Type="http://schemas.openxmlformats.org/officeDocument/2006/relationships/image" Target="../media/image33.png"/><Relationship Id="rId16" Type="http://schemas.openxmlformats.org/officeDocument/2006/relationships/image" Target="../media/image34.png"/><Relationship Id="rId20" Type="http://schemas.openxmlformats.org/officeDocument/2006/relationships/image" Target="../media/image59.png"/><Relationship Id="rId1" Type="http://schemas.openxmlformats.org/officeDocument/2006/relationships/slideLayout" Target="../slideLayouts/slideLayout2.xml"/><Relationship Id="rId24" Type="http://schemas.openxmlformats.org/officeDocument/2006/relationships/image" Target="../media/image39.png"/><Relationship Id="rId15" Type="http://schemas.openxmlformats.org/officeDocument/2006/relationships/image" Target="../media/image52.png"/><Relationship Id="rId23" Type="http://schemas.openxmlformats.org/officeDocument/2006/relationships/image" Target="../media/image38.png"/><Relationship Id="rId28" Type="http://schemas.openxmlformats.org/officeDocument/2006/relationships/image" Target="../media/image43.png"/><Relationship Id="rId19" Type="http://schemas.openxmlformats.org/officeDocument/2006/relationships/image" Target="../media/image58.png"/><Relationship Id="rId14" Type="http://schemas.openxmlformats.org/officeDocument/2006/relationships/image" Target="../media/image51.png"/><Relationship Id="rId22" Type="http://schemas.openxmlformats.org/officeDocument/2006/relationships/image" Target="../media/image36.png"/><Relationship Id="rId27" Type="http://schemas.openxmlformats.org/officeDocument/2006/relationships/image" Target="../media/image42.png"/></Relationships>
</file>

<file path=ppt/slides/_rels/slide12.xml.rels><?xml version="1.0" encoding="UTF-8" standalone="yes"?>
<Relationships xmlns="http://schemas.openxmlformats.org/package/2006/relationships"><Relationship Id="rId13" Type="http://schemas.openxmlformats.org/officeDocument/2006/relationships/image" Target="../media/image68.png"/><Relationship Id="rId18" Type="http://schemas.openxmlformats.org/officeDocument/2006/relationships/image" Target="../media/image73.png"/><Relationship Id="rId26" Type="http://schemas.openxmlformats.org/officeDocument/2006/relationships/image" Target="../media/image54.png"/><Relationship Id="rId21" Type="http://schemas.openxmlformats.org/officeDocument/2006/relationships/image" Target="../media/image46.png"/><Relationship Id="rId12" Type="http://schemas.openxmlformats.org/officeDocument/2006/relationships/image" Target="../media/image67.png"/><Relationship Id="rId17" Type="http://schemas.openxmlformats.org/officeDocument/2006/relationships/image" Target="../media/image72.png"/><Relationship Id="rId25" Type="http://schemas.openxmlformats.org/officeDocument/2006/relationships/image" Target="../media/image53.png"/><Relationship Id="rId2" Type="http://schemas.openxmlformats.org/officeDocument/2006/relationships/image" Target="../media/image44.png"/><Relationship Id="rId16" Type="http://schemas.openxmlformats.org/officeDocument/2006/relationships/image" Target="../media/image45.png"/><Relationship Id="rId20" Type="http://schemas.openxmlformats.org/officeDocument/2006/relationships/image" Target="../media/image75.png"/><Relationship Id="rId1" Type="http://schemas.openxmlformats.org/officeDocument/2006/relationships/slideLayout" Target="../slideLayouts/slideLayout2.xml"/><Relationship Id="rId24" Type="http://schemas.openxmlformats.org/officeDocument/2006/relationships/image" Target="../media/image39.png"/><Relationship Id="rId15" Type="http://schemas.openxmlformats.org/officeDocument/2006/relationships/image" Target="../media/image70.png"/><Relationship Id="rId23" Type="http://schemas.openxmlformats.org/officeDocument/2006/relationships/image" Target="../media/image48.png"/><Relationship Id="rId28" Type="http://schemas.openxmlformats.org/officeDocument/2006/relationships/image" Target="../media/image55.png"/><Relationship Id="rId19" Type="http://schemas.openxmlformats.org/officeDocument/2006/relationships/image" Target="../media/image74.png"/><Relationship Id="rId14" Type="http://schemas.openxmlformats.org/officeDocument/2006/relationships/image" Target="../media/image69.png"/><Relationship Id="rId22" Type="http://schemas.openxmlformats.org/officeDocument/2006/relationships/image" Target="../media/image47.png"/><Relationship Id="rId27"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63.png"/><Relationship Id="rId4" Type="http://schemas.openxmlformats.org/officeDocument/2006/relationships/image" Target="../media/image80.png"/></Relationships>
</file>

<file path=ppt/slides/_rels/slide1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85.png"/><Relationship Id="rId7" Type="http://schemas.openxmlformats.org/officeDocument/2006/relationships/image" Target="../media/image91.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95.png"/><Relationship Id="rId5" Type="http://schemas.openxmlformats.org/officeDocument/2006/relationships/image" Target="../media/image88.png"/><Relationship Id="rId10" Type="http://schemas.openxmlformats.org/officeDocument/2006/relationships/image" Target="../media/image71.png"/><Relationship Id="rId4" Type="http://schemas.openxmlformats.org/officeDocument/2006/relationships/image" Target="../media/image87.png"/><Relationship Id="rId9" Type="http://schemas.openxmlformats.org/officeDocument/2006/relationships/image" Target="../media/image93.png"/></Relationships>
</file>

<file path=ppt/slides/_rels/slide16.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85.png"/><Relationship Id="rId7" Type="http://schemas.openxmlformats.org/officeDocument/2006/relationships/image" Target="../media/image81.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image" Target="../media/image101.png"/><Relationship Id="rId5" Type="http://schemas.openxmlformats.org/officeDocument/2006/relationships/image" Target="../media/image88.png"/><Relationship Id="rId10" Type="http://schemas.openxmlformats.org/officeDocument/2006/relationships/image" Target="../media/image78.png"/><Relationship Id="rId4" Type="http://schemas.openxmlformats.org/officeDocument/2006/relationships/image" Target="../media/image87.png"/><Relationship Id="rId9" Type="http://schemas.openxmlformats.org/officeDocument/2006/relationships/image" Target="../media/image99.png"/></Relationships>
</file>

<file path=ppt/slides/_rels/slide17.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5.png"/><Relationship Id="rId7" Type="http://schemas.openxmlformats.org/officeDocument/2006/relationships/image" Target="../media/image91.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84.png"/><Relationship Id="rId11" Type="http://schemas.openxmlformats.org/officeDocument/2006/relationships/image" Target="../media/image106.png"/><Relationship Id="rId5" Type="http://schemas.openxmlformats.org/officeDocument/2006/relationships/image" Target="../media/image88.png"/><Relationship Id="rId10" Type="http://schemas.openxmlformats.org/officeDocument/2006/relationships/image" Target="../media/image89.png"/><Relationship Id="rId4" Type="http://schemas.openxmlformats.org/officeDocument/2006/relationships/image" Target="../media/image87.png"/><Relationship Id="rId9" Type="http://schemas.openxmlformats.org/officeDocument/2006/relationships/image" Target="../media/image104.png"/></Relationships>
</file>

<file path=ppt/slides/_rels/slide18.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5.png"/><Relationship Id="rId7" Type="http://schemas.openxmlformats.org/officeDocument/2006/relationships/image" Target="../media/image108.pn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12.png"/><Relationship Id="rId5" Type="http://schemas.openxmlformats.org/officeDocument/2006/relationships/image" Target="../media/image88.png"/><Relationship Id="rId10" Type="http://schemas.openxmlformats.org/officeDocument/2006/relationships/image" Target="../media/image94.png"/><Relationship Id="rId4" Type="http://schemas.openxmlformats.org/officeDocument/2006/relationships/image" Target="../media/image87.png"/><Relationship Id="rId9" Type="http://schemas.openxmlformats.org/officeDocument/2006/relationships/image" Target="../media/image110.png"/></Relationships>
</file>

<file path=ppt/slides/_rels/slide19.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480.png"/><Relationship Id="rId7" Type="http://schemas.openxmlformats.org/officeDocument/2006/relationships/image" Target="../media/image85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840.png"/><Relationship Id="rId5" Type="http://schemas.openxmlformats.org/officeDocument/2006/relationships/image" Target="../media/image830.png"/><Relationship Id="rId4" Type="http://schemas.openxmlformats.org/officeDocument/2006/relationships/image" Target="../media/image490.png"/><Relationship Id="rId9" Type="http://schemas.openxmlformats.org/officeDocument/2006/relationships/image" Target="../media/image119.png"/></Relationships>
</file>

<file path=ppt/slides/_rels/slide20.xml.rels><?xml version="1.0" encoding="UTF-8" standalone="yes"?>
<Relationships xmlns="http://schemas.openxmlformats.org/package/2006/relationships"><Relationship Id="rId13" Type="http://schemas.openxmlformats.org/officeDocument/2006/relationships/image" Target="../media/image440.png"/><Relationship Id="rId12" Type="http://schemas.openxmlformats.org/officeDocument/2006/relationships/image" Target="../media/image97.png"/><Relationship Id="rId2" Type="http://schemas.openxmlformats.org/officeDocument/2006/relationships/image" Target="../media/image96.png"/><Relationship Id="rId16" Type="http://schemas.openxmlformats.org/officeDocument/2006/relationships/image" Target="../media/image560.png"/><Relationship Id="rId1" Type="http://schemas.openxmlformats.org/officeDocument/2006/relationships/slideLayout" Target="../slideLayouts/slideLayout2.xml"/><Relationship Id="rId11" Type="http://schemas.openxmlformats.org/officeDocument/2006/relationships/image" Target="../media/image420.png"/><Relationship Id="rId15" Type="http://schemas.openxmlformats.org/officeDocument/2006/relationships/image" Target="../media/image590.png"/><Relationship Id="rId10" Type="http://schemas.openxmlformats.org/officeDocument/2006/relationships/image" Target="../media/image410.png"/><Relationship Id="rId9" Type="http://schemas.openxmlformats.org/officeDocument/2006/relationships/image" Target="../media/image400.png"/><Relationship Id="rId14" Type="http://schemas.openxmlformats.org/officeDocument/2006/relationships/image" Target="../media/image450.png"/><Relationship Id="rId4" Type="http://schemas.openxmlformats.org/officeDocument/2006/relationships/image" Target="../media/image310.png"/></Relationships>
</file>

<file path=ppt/slides/_rels/slide21.xml.rels><?xml version="1.0" encoding="UTF-8" standalone="yes"?>
<Relationships xmlns="http://schemas.openxmlformats.org/package/2006/relationships"><Relationship Id="rId3" Type="http://schemas.openxmlformats.org/officeDocument/2006/relationships/image" Target="../media/image620.png"/><Relationship Id="rId7" Type="http://schemas.openxmlformats.org/officeDocument/2006/relationships/image" Target="../media/image660.png"/><Relationship Id="rId2" Type="http://schemas.openxmlformats.org/officeDocument/2006/relationships/image" Target="../media/image98.png"/><Relationship Id="rId1" Type="http://schemas.openxmlformats.org/officeDocument/2006/relationships/slideLayout" Target="../slideLayouts/slideLayout2.xml"/><Relationship Id="rId6" Type="http://schemas.openxmlformats.org/officeDocument/2006/relationships/image" Target="../media/image650.png"/><Relationship Id="rId5" Type="http://schemas.openxmlformats.org/officeDocument/2006/relationships/image" Target="../media/image100.png"/><Relationship Id="rId4" Type="http://schemas.openxmlformats.org/officeDocument/2006/relationships/image" Target="../media/image630.png"/></Relationships>
</file>

<file path=ppt/slides/_rels/slide22.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image" Target="../media/image700.png"/><Relationship Id="rId4" Type="http://schemas.openxmlformats.org/officeDocument/2006/relationships/image" Target="../media/image6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29E60B-ABEB-4B38-8D6C-620B64DB3808}"/>
              </a:ext>
            </a:extLst>
          </p:cNvPr>
          <p:cNvSpPr>
            <a:spLocks noGrp="1"/>
          </p:cNvSpPr>
          <p:nvPr>
            <p:ph type="ctrTitle"/>
          </p:nvPr>
        </p:nvSpPr>
        <p:spPr>
          <a:xfrm>
            <a:off x="423333" y="868362"/>
            <a:ext cx="11345334" cy="2387600"/>
          </a:xfrm>
        </p:spPr>
        <p:txBody>
          <a:bodyPr>
            <a:normAutofit/>
          </a:bodyPr>
          <a:lstStyle/>
          <a:p>
            <a:pPr>
              <a:lnSpc>
                <a:spcPct val="115000"/>
              </a:lnSpc>
              <a:spcAft>
                <a:spcPts val="100"/>
              </a:spcAft>
            </a:pPr>
            <a:r>
              <a:rPr lang="en-US" altLang="zh-TW" sz="2800" b="1" kern="100" dirty="0">
                <a:solidFill>
                  <a:srgbClr val="000000"/>
                </a:solidFill>
                <a:effectLst/>
                <a:latin typeface="Aptos"/>
                <a:ea typeface="新細明體" panose="02020500000000000000" pitchFamily="18" charset="-120"/>
                <a:cs typeface="Times New Roman" panose="02020603050405020304" pitchFamily="18" charset="0"/>
              </a:rPr>
              <a:t>A Lumped-Parameter Modeling, Calibration, and Capacity-Measure Framework for Flux Generation in Symmetric</a:t>
            </a:r>
            <a:br>
              <a:rPr lang="zh-TW" altLang="zh-TW" sz="2800" kern="100" dirty="0">
                <a:effectLst/>
                <a:latin typeface="Aptos"/>
                <a:ea typeface="新細明體" panose="02020500000000000000" pitchFamily="18" charset="-120"/>
                <a:cs typeface="Times New Roman" panose="02020603050405020304" pitchFamily="18" charset="0"/>
              </a:rPr>
            </a:br>
            <a:r>
              <a:rPr lang="en-US" altLang="zh-TW" sz="2800" b="1" dirty="0">
                <a:solidFill>
                  <a:srgbClr val="000000"/>
                </a:solidFill>
                <a:effectLst/>
                <a:latin typeface="Aptos"/>
                <a:ea typeface="新細明體" panose="02020500000000000000" pitchFamily="18" charset="-120"/>
                <a:cs typeface="Times New Roman" panose="02020603050405020304" pitchFamily="18" charset="0"/>
              </a:rPr>
              <a:t>Multipole Electromagnetic Actuators </a:t>
            </a:r>
            <a:endParaRPr lang="zh-TW" altLang="en-US" sz="8000" dirty="0"/>
          </a:p>
        </p:txBody>
      </p:sp>
      <p:sp>
        <p:nvSpPr>
          <p:cNvPr id="3" name="副標題 2">
            <a:extLst>
              <a:ext uri="{FF2B5EF4-FFF2-40B4-BE49-F238E27FC236}">
                <a16:creationId xmlns:a16="http://schemas.microsoft.com/office/drawing/2014/main" id="{19B95CEF-03F4-426E-B312-4404BF04FCFA}"/>
              </a:ext>
            </a:extLst>
          </p:cNvPr>
          <p:cNvSpPr>
            <a:spLocks noGrp="1"/>
          </p:cNvSpPr>
          <p:nvPr>
            <p:ph type="subTitle" idx="1"/>
          </p:nvPr>
        </p:nvSpPr>
        <p:spPr>
          <a:xfrm>
            <a:off x="1524000" y="4203171"/>
            <a:ext cx="9144000" cy="1655762"/>
          </a:xfrm>
        </p:spPr>
        <p:txBody>
          <a:bodyPr/>
          <a:lstStyle/>
          <a:p>
            <a:endParaRPr lang="zh-TW" altLang="en-US" sz="2800" b="1" kern="100" dirty="0">
              <a:solidFill>
                <a:srgbClr val="000000"/>
              </a:solidFill>
              <a:latin typeface="Aptos"/>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406800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65108"/>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CCED5BA9-38C0-4DFD-921E-90F2FF1A615D}"/>
                  </a:ext>
                </a:extLst>
              </p:cNvPr>
              <p:cNvSpPr txBox="1"/>
              <p:nvPr/>
            </p:nvSpPr>
            <p:spPr>
              <a:xfrm>
                <a:off x="135467" y="1102250"/>
                <a:ext cx="5232404" cy="5784019"/>
              </a:xfrm>
              <a:prstGeom prst="rect">
                <a:avLst/>
              </a:prstGeom>
              <a:noFill/>
            </p:spPr>
            <p:txBody>
              <a:bodyPr wrap="square" rtlCol="0">
                <a:spAutoFit/>
              </a:bodyPr>
              <a:lstStyle/>
              <a:p>
                <a:pPr marL="342900" indent="-342900">
                  <a:buFont typeface="+mj-lt"/>
                  <a:buAutoNum type="arabicPeriod"/>
                </a:pPr>
                <a:r>
                  <a:rPr lang="en-US" altLang="zh-TW" dirty="0"/>
                  <a:t>Input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𝜃</m:t>
                        </m:r>
                      </m:sub>
                    </m:sSub>
                  </m:oMath>
                </a14:m>
                <a:r>
                  <a:rPr lang="en-US" altLang="zh-TW" dirty="0"/>
                  <a:t>, </a:t>
                </a:r>
                <a14:m>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zh-TW" altLang="en-US" i="1">
                            <a:latin typeface="Cambria Math" panose="02040503050406030204" pitchFamily="18" charset="0"/>
                          </a:rPr>
                          <m:t>𝜙</m:t>
                        </m:r>
                      </m:sub>
                    </m:sSub>
                    <m:r>
                      <a:rPr lang="en-US" altLang="zh-TW" b="0" i="0" smtClean="0">
                        <a:latin typeface="Cambria Math" panose="02040503050406030204" pitchFamily="18" charset="0"/>
                      </a:rPr>
                      <m:t>,</m:t>
                    </m:r>
                    <m:r>
                      <a:rPr lang="en-US" altLang="zh-TW" b="0" i="1" smtClean="0">
                        <a:latin typeface="Cambria Math" panose="02040503050406030204" pitchFamily="18" charset="0"/>
                      </a:rPr>
                      <m:t>𝑅</m:t>
                    </m:r>
                  </m:oMath>
                </a14:m>
                <a:r>
                  <a:rPr lang="zh-TW" altLang="en-US" dirty="0"/>
                  <a:t>，</a:t>
                </a:r>
                <a:r>
                  <a:rPr lang="en-US" altLang="zh-TW" dirty="0"/>
                  <a:t> These represent the numbers of divisions required along the three coordinate directions of the sphere</a:t>
                </a:r>
                <a:r>
                  <a:rPr lang="zh-TW" altLang="en-US" dirty="0"/>
                  <a:t>，</a:t>
                </a:r>
                <a:r>
                  <a:rPr lang="en-US" altLang="zh-TW" dirty="0"/>
                  <a:t> where </a:t>
                </a:r>
                <a14:m>
                  <m:oMath xmlns:m="http://schemas.openxmlformats.org/officeDocument/2006/math">
                    <m:r>
                      <a:rPr lang="en-US" altLang="zh-TW" b="0" i="1" smtClean="0">
                        <a:latin typeface="Cambria Math" panose="02040503050406030204" pitchFamily="18" charset="0"/>
                      </a:rPr>
                      <m:t>𝑟</m:t>
                    </m:r>
                    <m:r>
                      <a:rPr lang="en-US" altLang="zh-TW" i="1">
                        <a:latin typeface="Cambria Math" panose="02040503050406030204" pitchFamily="18" charset="0"/>
                        <a:ea typeface="Cambria Math" panose="02040503050406030204" pitchFamily="18" charset="0"/>
                      </a:rPr>
                      <m:t>𝜖</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oMath>
                </a14:m>
                <a:r>
                  <a:rPr lang="zh-TW" altLang="en-US" dirty="0"/>
                  <a:t>，</a:t>
                </a:r>
                <a14:m>
                  <m:oMath xmlns:m="http://schemas.openxmlformats.org/officeDocument/2006/math">
                    <m:r>
                      <a:rPr lang="zh-TW" altLang="en-US" i="1" smtClean="0">
                        <a:latin typeface="Cambria Math" panose="02040503050406030204" pitchFamily="18" charset="0"/>
                      </a:rPr>
                      <m:t>𝜃𝜖</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0  2</m:t>
                        </m:r>
                        <m:r>
                          <a:rPr lang="zh-TW" altLang="en-US" b="0" i="1" smtClean="0">
                            <a:latin typeface="Cambria Math" panose="02040503050406030204" pitchFamily="18" charset="0"/>
                          </a:rPr>
                          <m:t>𝜋</m:t>
                        </m:r>
                      </m:e>
                    </m:d>
                  </m:oMath>
                </a14:m>
                <a:r>
                  <a:rPr lang="zh-TW" altLang="en-US" dirty="0"/>
                  <a:t>，</a:t>
                </a:r>
                <a14:m>
                  <m:oMath xmlns:m="http://schemas.openxmlformats.org/officeDocument/2006/math">
                    <m:r>
                      <a:rPr lang="zh-TW" altLang="en-US" i="1" dirty="0" smtClean="0">
                        <a:latin typeface="Cambria Math" panose="02040503050406030204" pitchFamily="18" charset="0"/>
                      </a:rPr>
                      <m:t>𝜙𝜖</m:t>
                    </m:r>
                    <m:r>
                      <a:rPr lang="en-US" altLang="zh-TW" b="0" i="1" dirty="0" smtClean="0">
                        <a:latin typeface="Cambria Math" panose="02040503050406030204" pitchFamily="18" charset="0"/>
                      </a:rPr>
                      <m:t>[</m:t>
                    </m:r>
                    <m:r>
                      <a:rPr lang="en-US" altLang="zh-TW" b="0" i="1" dirty="0" smtClean="0">
                        <a:latin typeface="Cambria Math" panose="02040503050406030204" pitchFamily="18" charset="0"/>
                        <a:ea typeface="Cambria Math" panose="02040503050406030204" pitchFamily="18" charset="0"/>
                      </a:rPr>
                      <m:t>−</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   </m:t>
                    </m:r>
                    <m:f>
                      <m:fPr>
                        <m:ctrlPr>
                          <a:rPr lang="en-US" altLang="zh-TW" b="0" i="1" dirty="0" smtClean="0">
                            <a:latin typeface="Cambria Math" panose="02040503050406030204" pitchFamily="18" charset="0"/>
                            <a:ea typeface="Cambria Math" panose="02040503050406030204" pitchFamily="18" charset="0"/>
                          </a:rPr>
                        </m:ctrlPr>
                      </m:fPr>
                      <m:num>
                        <m:r>
                          <a:rPr lang="zh-TW" altLang="en-US" b="0" i="1" dirty="0" smtClean="0">
                            <a:latin typeface="Cambria Math" panose="02040503050406030204" pitchFamily="18" charset="0"/>
                            <a:ea typeface="Cambria Math" panose="02040503050406030204" pitchFamily="18" charset="0"/>
                          </a:rPr>
                          <m:t>𝜋</m:t>
                        </m:r>
                      </m:num>
                      <m:den>
                        <m:r>
                          <a:rPr lang="en-US" altLang="zh-TW" b="0" i="1" dirty="0" smtClean="0">
                            <a:latin typeface="Cambria Math" panose="02040503050406030204" pitchFamily="18" charset="0"/>
                            <a:ea typeface="Cambria Math" panose="02040503050406030204" pitchFamily="18" charset="0"/>
                          </a:rPr>
                          <m:t>2</m:t>
                        </m:r>
                      </m:den>
                    </m:f>
                    <m:r>
                      <a:rPr lang="en-US" altLang="zh-TW" b="0" i="1" dirty="0" smtClean="0">
                        <a:latin typeface="Cambria Math" panose="02040503050406030204" pitchFamily="18" charset="0"/>
                        <a:ea typeface="Cambria Math" panose="02040503050406030204" pitchFamily="18" charset="0"/>
                      </a:rPr>
                      <m:t>]</m:t>
                    </m:r>
                  </m:oMath>
                </a14:m>
                <a:r>
                  <a:rPr lang="zh-TW" altLang="en-US" dirty="0"/>
                  <a:t>。</a:t>
                </a:r>
                <a:endParaRPr lang="en-US" altLang="zh-TW" dirty="0"/>
              </a:p>
              <a:p>
                <a:pPr marL="342900" indent="-342900">
                  <a:buFont typeface="+mj-lt"/>
                  <a:buAutoNum type="arabicPeriod"/>
                </a:pPr>
                <a:endParaRPr lang="en-US" altLang="zh-TW" dirty="0"/>
              </a:p>
              <a:p>
                <a:pPr marL="342900" indent="-342900">
                  <a:buFont typeface="+mj-lt"/>
                  <a:buAutoNum type="arabicPeriod"/>
                </a:pPr>
                <a:r>
                  <a:rPr lang="en-US" altLang="zh-TW" dirty="0"/>
                  <a:t>The sphere is uniformly divided along its three coordinate directions according to the following three equations.</a:t>
                </a:r>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𝑟</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−0.5</m:t>
                                  </m:r>
                                </m:num>
                                <m:den>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den>
                              </m:f>
                            </m:e>
                          </m:d>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en-US" altLang="zh-TW" b="0" i="1" smtClean="0">
                              <a:latin typeface="Cambria Math" panose="02040503050406030204" pitchFamily="18" charset="0"/>
                              <a:ea typeface="Cambria Math" panose="02040503050406030204" pitchFamily="18" charset="0"/>
                            </a:rPr>
                            <m:t>𝑟</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𝜙</m:t>
                          </m:r>
                        </m:e>
                        <m:sub>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r>
                            <a:rPr lang="en-US" altLang="zh-TW" b="0" i="1" smtClean="0">
                              <a:latin typeface="Cambria Math" panose="02040503050406030204" pitchFamily="18" charset="0"/>
                            </a:rPr>
                            <m:t>𝑐𝑜𝑠</m:t>
                          </m:r>
                        </m:e>
                        <m:sup>
                          <m:r>
                            <a:rPr lang="en-US" altLang="zh-TW" b="0" i="1" smtClean="0">
                              <a:latin typeface="Cambria Math" panose="02040503050406030204" pitchFamily="18" charset="0"/>
                            </a:rPr>
                            <m:t>−1</m:t>
                          </m:r>
                        </m:sup>
                      </m:sSup>
                      <m:d>
                        <m:dPr>
                          <m:begChr m:val="["/>
                          <m:endChr m:val="]"/>
                          <m:ctrlPr>
                            <a:rPr lang="en-US" altLang="zh-TW" b="0" i="1" smtClean="0">
                              <a:latin typeface="Cambria Math" panose="02040503050406030204" pitchFamily="18" charset="0"/>
                            </a:rPr>
                          </m:ctrlPr>
                        </m:dPr>
                        <m:e>
                          <m:r>
                            <a:rPr lang="en-US" altLang="zh-TW" i="1">
                              <a:latin typeface="Cambria Math" panose="02040503050406030204" pitchFamily="18" charset="0"/>
                            </a:rPr>
                            <m:t>1−</m:t>
                          </m:r>
                          <m:f>
                            <m:fPr>
                              <m:ctrlPr>
                                <a:rPr lang="en-US" altLang="zh-TW" i="1">
                                  <a:latin typeface="Cambria Math" panose="02040503050406030204" pitchFamily="18" charset="0"/>
                                </a:rPr>
                              </m:ctrlPr>
                            </m:fPr>
                            <m:num>
                              <m:d>
                                <m:dPr>
                                  <m:ctrlPr>
                                    <a:rPr lang="en-US" altLang="zh-TW" i="1">
                                      <a:latin typeface="Cambria Math" panose="02040503050406030204" pitchFamily="18" charset="0"/>
                                    </a:rPr>
                                  </m:ctrlPr>
                                </m:dPr>
                                <m:e>
                                  <m:r>
                                    <a:rPr lang="en-US" altLang="zh-TW" i="1">
                                      <a:latin typeface="Cambria Math" panose="02040503050406030204" pitchFamily="18" charset="0"/>
                                    </a:rPr>
                                    <m:t>2</m:t>
                                  </m:r>
                                  <m:r>
                                    <a:rPr lang="en-US" altLang="zh-TW" b="0" i="1" smtClean="0">
                                      <a:latin typeface="Cambria Math" panose="02040503050406030204" pitchFamily="18" charset="0"/>
                                    </a:rPr>
                                    <m:t>𝑗</m:t>
                                  </m:r>
                                  <m:r>
                                    <a:rPr lang="en-US" altLang="zh-TW" i="1">
                                      <a:latin typeface="Cambria Math" panose="02040503050406030204" pitchFamily="18" charset="0"/>
                                    </a:rPr>
                                    <m:t>−1</m:t>
                                  </m:r>
                                </m:e>
                              </m:d>
                            </m:num>
                            <m:den>
                              <m:sSub>
                                <m:sSubPr>
                                  <m:ctrlPr>
                                    <a:rPr lang="en-US" altLang="zh-TW" i="1">
                                      <a:latin typeface="Cambria Math" panose="02040503050406030204" pitchFamily="18" charset="0"/>
                                    </a:rPr>
                                  </m:ctrlPr>
                                </m:sSubPr>
                                <m:e>
                                  <m:r>
                                    <a:rPr lang="en-US" altLang="zh-TW" i="1">
                                      <a:latin typeface="Cambria Math" panose="02040503050406030204" pitchFamily="18" charset="0"/>
                                    </a:rPr>
                                    <m:t>𝑁</m:t>
                                  </m:r>
                                </m:e>
                                <m:sub>
                                  <m:r>
                                    <a:rPr lang="el-GR" altLang="zh-TW" i="1">
                                      <a:latin typeface="Cambria Math" panose="02040503050406030204" pitchFamily="18" charset="0"/>
                                      <a:ea typeface="Cambria Math" panose="02040503050406030204" pitchFamily="18" charset="0"/>
                                    </a:rPr>
                                    <m:t>𝜙</m:t>
                                  </m:r>
                                </m:sub>
                              </m:sSub>
                            </m:den>
                          </m:f>
                        </m:e>
                      </m:d>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𝑁</m:t>
                          </m:r>
                        </m:e>
                        <m:sub>
                          <m:r>
                            <a:rPr lang="zh-TW" altLang="en-US" b="0" i="1" smtClean="0">
                              <a:latin typeface="Cambria Math" panose="02040503050406030204" pitchFamily="18" charset="0"/>
                            </a:rPr>
                            <m:t>𝜙</m:t>
                          </m:r>
                        </m:sub>
                      </m:sSub>
                    </m:oMath>
                  </m:oMathPara>
                </a14:m>
                <a:endParaRPr lang="en-US" altLang="zh-TW" dirty="0"/>
              </a:p>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𝜃</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=2</m:t>
                      </m:r>
                      <m:r>
                        <a:rPr lang="zh-TW" altLang="en-US" b="0" i="1" smtClean="0">
                          <a:latin typeface="Cambria Math" panose="02040503050406030204" pitchFamily="18" charset="0"/>
                        </a:rPr>
                        <m:t>𝜋</m:t>
                      </m:r>
                      <m:r>
                        <a:rPr lang="en-US" altLang="zh-TW" i="1">
                          <a:latin typeface="Cambria Math" panose="02040503050406030204" pitchFamily="18" charset="0"/>
                          <a:ea typeface="Cambria Math" panose="02040503050406030204" pitchFamily="18" charset="0"/>
                        </a:rPr>
                        <m:t>∙</m:t>
                      </m:r>
                      <m:f>
                        <m:fPr>
                          <m:ctrlPr>
                            <a:rPr lang="en-US" altLang="zh-TW"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−0.5</m:t>
                          </m:r>
                        </m:num>
                        <m:den>
                          <m:sSub>
                            <m:sSubPr>
                              <m:ctrlPr>
                                <a:rPr lang="en-US" altLang="zh-TW"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i="1" smtClean="0">
                                  <a:latin typeface="Cambria Math" panose="02040503050406030204" pitchFamily="18" charset="0"/>
                                  <a:ea typeface="Cambria Math" panose="02040503050406030204" pitchFamily="18" charset="0"/>
                                </a:rPr>
                                <m:t>𝜃</m:t>
                              </m:r>
                            </m:sub>
                          </m:sSub>
                        </m:den>
                      </m:f>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k</m:t>
                      </m:r>
                      <m:r>
                        <a:rPr lang="en-US" altLang="zh-TW" b="0" i="0" smtClean="0">
                          <a:latin typeface="Cambria Math" panose="02040503050406030204" pitchFamily="18" charset="0"/>
                          <a:ea typeface="Cambria Math" panose="02040503050406030204" pitchFamily="18" charset="0"/>
                        </a:rPr>
                        <m:t>=1…</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𝑁</m:t>
                          </m:r>
                        </m:e>
                        <m:sub>
                          <m:r>
                            <a:rPr lang="zh-TW" altLang="en-US" b="0" i="1" smtClean="0">
                              <a:latin typeface="Cambria Math" panose="02040503050406030204" pitchFamily="18" charset="0"/>
                              <a:ea typeface="Cambria Math" panose="02040503050406030204" pitchFamily="18" charset="0"/>
                            </a:rPr>
                            <m:t>𝜃</m:t>
                          </m:r>
                        </m:sub>
                      </m:sSub>
                    </m:oMath>
                  </m:oMathPara>
                </a14:m>
                <a:endParaRPr lang="en-US" altLang="zh-TW" dirty="0"/>
              </a:p>
              <a:p>
                <a:pPr marL="342900" indent="-342900">
                  <a:buFont typeface="+mj-lt"/>
                  <a:buAutoNum type="arabicPeriod" startAt="3"/>
                </a:pPr>
                <a:r>
                  <a:rPr lang="en-US" altLang="zh-TW" dirty="0"/>
                  <a:t>Load the FEM data and filter out the air nodes.</a:t>
                </a:r>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pPr marL="342900" indent="-342900">
                  <a:buFont typeface="+mj-lt"/>
                  <a:buAutoNum type="arabicPeriod" startAt="3"/>
                </a:pPr>
                <a:endParaRPr lang="en-US" altLang="zh-TW" dirty="0"/>
              </a:p>
              <a:p>
                <a:endParaRPr lang="zh-TW" altLang="en-US" dirty="0"/>
              </a:p>
            </p:txBody>
          </p:sp>
        </mc:Choice>
        <mc:Fallback xmlns="">
          <p:sp>
            <p:nvSpPr>
              <p:cNvPr id="12" name="文字方塊 11">
                <a:extLst>
                  <a:ext uri="{FF2B5EF4-FFF2-40B4-BE49-F238E27FC236}">
                    <a16:creationId xmlns:a16="http://schemas.microsoft.com/office/drawing/2014/main" id="{CCED5BA9-38C0-4DFD-921E-90F2FF1A615D}"/>
                  </a:ext>
                </a:extLst>
              </p:cNvPr>
              <p:cNvSpPr txBox="1">
                <a:spLocks noRot="1" noChangeAspect="1" noMove="1" noResize="1" noEditPoints="1" noAdjustHandles="1" noChangeArrowheads="1" noChangeShapeType="1" noTextEdit="1"/>
              </p:cNvSpPr>
              <p:nvPr/>
            </p:nvSpPr>
            <p:spPr>
              <a:xfrm>
                <a:off x="135467" y="1102250"/>
                <a:ext cx="5232404" cy="5784019"/>
              </a:xfrm>
              <a:prstGeom prst="rect">
                <a:avLst/>
              </a:prstGeom>
              <a:blipFill>
                <a:blip r:embed="rId2"/>
                <a:stretch>
                  <a:fillRect l="-931" t="-52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BAC94394-2803-4407-90C8-1813E84CFAFF}"/>
                  </a:ext>
                </a:extLst>
              </p:cNvPr>
              <p:cNvSpPr txBox="1"/>
              <p:nvPr/>
            </p:nvSpPr>
            <p:spPr>
              <a:xfrm>
                <a:off x="5367871" y="1102250"/>
                <a:ext cx="6493929" cy="5176417"/>
              </a:xfrm>
              <a:prstGeom prst="rect">
                <a:avLst/>
              </a:prstGeom>
              <a:noFill/>
            </p:spPr>
            <p:txBody>
              <a:bodyPr wrap="square" rtlCol="0">
                <a:spAutoFit/>
              </a:bodyPr>
              <a:lstStyle/>
              <a:p>
                <a:pPr marL="342900" indent="-342900">
                  <a:buFont typeface="+mj-lt"/>
                  <a:buAutoNum type="arabicPeriod" startAt="4"/>
                </a:pPr>
                <a:r>
                  <a:rPr lang="en-US" altLang="zh-TW" dirty="0"/>
                  <a:t>Localization: Determine which tetrahedron contains each query point and return its coordinates relative to the four vertices.</a:t>
                </a:r>
              </a:p>
              <a:p>
                <a:pPr marL="342900" indent="-342900">
                  <a:buFont typeface="+mj-lt"/>
                  <a:buAutoNum type="arabicPeriod" startAt="4"/>
                </a:pPr>
                <a:endParaRPr lang="en-US" altLang="zh-TW" dirty="0"/>
              </a:p>
              <a:p>
                <a:pPr marL="342900" indent="-342900">
                  <a:buFont typeface="+mj-lt"/>
                  <a:buAutoNum type="arabicPeriod" startAt="4"/>
                </a:pPr>
                <a:r>
                  <a:rPr lang="en-US" altLang="zh-TW" dirty="0"/>
                  <a:t>Barycentric Interpolation:</a:t>
                </a:r>
              </a:p>
              <a:p>
                <a:pPr lvl="1"/>
                <a:r>
                  <a:rPr lang="en-US" altLang="zh-TW" dirty="0"/>
                  <a:t>Let the coordinates of the four vertices be:</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3</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4</m:t>
                        </m:r>
                      </m:sub>
                    </m:sSub>
                  </m:oMath>
                </a14:m>
                <a:endParaRPr lang="en-US" altLang="zh-TW" dirty="0"/>
              </a:p>
              <a:p>
                <a:pPr lvl="1"/>
                <a:r>
                  <a:rPr lang="en-US" altLang="zh-TW" dirty="0"/>
                  <a:t>Let the coordinates of the interpolation point be:</a:t>
                </a:r>
                <a14:m>
                  <m:oMath xmlns:m="http://schemas.openxmlformats.org/officeDocument/2006/math">
                    <m:r>
                      <a:rPr lang="en-US" altLang="zh-TW" b="0" i="1" smtClean="0">
                        <a:latin typeface="Cambria Math" panose="02040503050406030204" pitchFamily="18" charset="0"/>
                      </a:rPr>
                      <m:t>𝑃</m:t>
                    </m:r>
                  </m:oMath>
                </a14:m>
                <a:endParaRPr lang="en-US" altLang="zh-TW" dirty="0"/>
              </a:p>
              <a:p>
                <a:pPr lvl="1"/>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𝑃</m:t>
                      </m:r>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4</m:t>
                          </m:r>
                        </m:sup>
                        <m:e>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𝜆</m:t>
                              </m:r>
                            </m:e>
                            <m:sub>
                              <m:r>
                                <a:rPr lang="en-US" altLang="zh-TW" b="0" i="1" smtClean="0">
                                  <a:latin typeface="Cambria Math" panose="02040503050406030204" pitchFamily="18" charset="0"/>
                                </a:rPr>
                                <m:t>𝑖</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e>
                      </m:nary>
                    </m:oMath>
                  </m:oMathPara>
                </a14:m>
                <a:endParaRPr lang="en-US" altLang="zh-TW" dirty="0"/>
              </a:p>
              <a:p>
                <a:pPr lvl="1"/>
                <a:r>
                  <a:rPr lang="en-US" altLang="zh-TW" dirty="0"/>
                  <a:t>Where </a:t>
                </a:r>
                <a14:m>
                  <m:oMath xmlns:m="http://schemas.openxmlformats.org/officeDocument/2006/math">
                    <m:sSub>
                      <m:sSubPr>
                        <m:ctrlPr>
                          <a:rPr lang="en-US" altLang="zh-TW" i="1" smtClean="0">
                            <a:latin typeface="Cambria Math" panose="02040503050406030204" pitchFamily="18" charset="0"/>
                          </a:rPr>
                        </m:ctrlPr>
                      </m:sSubPr>
                      <m:e>
                        <m:r>
                          <a:rPr lang="zh-TW" altLang="en-US" i="1" smtClean="0">
                            <a:latin typeface="Cambria Math" panose="02040503050406030204" pitchFamily="18" charset="0"/>
                          </a:rPr>
                          <m:t>𝜆</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m:t>
                    </m:r>
                    <m:f>
                      <m:fPr>
                        <m:ctrlPr>
                          <a:rPr lang="en-US" altLang="zh-TW" b="0" i="1" smtClean="0">
                            <a:latin typeface="Cambria Math" panose="02040503050406030204" pitchFamily="18" charset="0"/>
                          </a:rPr>
                        </m:ctrlPr>
                      </m:fPr>
                      <m:num>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𝑖</m:t>
                            </m:r>
                          </m:sub>
                        </m:sSub>
                      </m:num>
                      <m:den>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𝑉</m:t>
                            </m:r>
                          </m:e>
                          <m:sub>
                            <m:r>
                              <a:rPr lang="en-US" altLang="zh-TW" b="0" i="1" smtClean="0">
                                <a:latin typeface="Cambria Math" panose="02040503050406030204" pitchFamily="18" charset="0"/>
                              </a:rPr>
                              <m:t>𝑡𝑜𝑡𝑎𝑙</m:t>
                            </m:r>
                          </m:sub>
                        </m:sSub>
                      </m:den>
                    </m:f>
                  </m:oMath>
                </a14:m>
                <a:r>
                  <a:rPr lang="en-US" altLang="zh-TW" dirty="0"/>
                  <a:t>(The volume of the sub-tetrahedron formed by replacing vertex</a:t>
                </a:r>
                <a:r>
                  <a:rPr lang="zh-TW" altLang="en-US" dirty="0"/>
                  <a:t> </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𝑃</m:t>
                        </m:r>
                      </m:e>
                      <m:sub>
                        <m:r>
                          <a:rPr lang="en-US" altLang="zh-TW" b="0" i="1" smtClean="0">
                            <a:latin typeface="Cambria Math" panose="02040503050406030204" pitchFamily="18" charset="0"/>
                          </a:rPr>
                          <m:t>𝑖</m:t>
                        </m:r>
                      </m:sub>
                    </m:sSub>
                  </m:oMath>
                </a14:m>
                <a:r>
                  <a:rPr lang="en-US" altLang="zh-TW" dirty="0"/>
                  <a:t> with </a:t>
                </a:r>
                <a14:m>
                  <m:oMath xmlns:m="http://schemas.openxmlformats.org/officeDocument/2006/math">
                    <m:r>
                      <a:rPr lang="en-US" altLang="zh-TW" b="0" i="1" smtClean="0">
                        <a:latin typeface="Cambria Math" panose="02040503050406030204" pitchFamily="18" charset="0"/>
                      </a:rPr>
                      <m:t>𝑃</m:t>
                    </m:r>
                  </m:oMath>
                </a14:m>
                <a:r>
                  <a:rPr lang="en-US" altLang="zh-TW" dirty="0"/>
                  <a:t>)</a:t>
                </a:r>
              </a:p>
              <a:p>
                <a:pPr lvl="1"/>
                <a:endParaRPr lang="en-US" altLang="zh-TW" dirty="0"/>
              </a:p>
              <a:p>
                <a:pPr marL="342900" indent="-342900">
                  <a:buFont typeface="+mj-lt"/>
                  <a:buAutoNum type="arabicPeriod" startAt="6"/>
                </a:pPr>
                <a:r>
                  <a:rPr lang="en-US" altLang="zh-TW" dirty="0"/>
                  <a:t>Repeat Steps 4 and 5 until all interpolation points have been processed.</a:t>
                </a:r>
              </a:p>
              <a:p>
                <a:pPr lvl="1"/>
                <a:endParaRPr lang="en-US" altLang="zh-TW" dirty="0"/>
              </a:p>
              <a:p>
                <a:endParaRPr lang="en-US" altLang="zh-TW" dirty="0"/>
              </a:p>
              <a:p>
                <a:pPr lvl="1"/>
                <a:endParaRPr lang="en-US" altLang="zh-TW" dirty="0"/>
              </a:p>
              <a:p>
                <a:endParaRPr lang="zh-TW" altLang="en-US" dirty="0"/>
              </a:p>
            </p:txBody>
          </p:sp>
        </mc:Choice>
        <mc:Fallback xmlns="">
          <p:sp>
            <p:nvSpPr>
              <p:cNvPr id="17" name="文字方塊 16">
                <a:extLst>
                  <a:ext uri="{FF2B5EF4-FFF2-40B4-BE49-F238E27FC236}">
                    <a16:creationId xmlns:a16="http://schemas.microsoft.com/office/drawing/2014/main" id="{BAC94394-2803-4407-90C8-1813E84CFAFF}"/>
                  </a:ext>
                </a:extLst>
              </p:cNvPr>
              <p:cNvSpPr txBox="1">
                <a:spLocks noRot="1" noChangeAspect="1" noMove="1" noResize="1" noEditPoints="1" noAdjustHandles="1" noChangeArrowheads="1" noChangeShapeType="1" noTextEdit="1"/>
              </p:cNvSpPr>
              <p:nvPr/>
            </p:nvSpPr>
            <p:spPr>
              <a:xfrm>
                <a:off x="5367871" y="1102250"/>
                <a:ext cx="6493929" cy="5176417"/>
              </a:xfrm>
              <a:prstGeom prst="rect">
                <a:avLst/>
              </a:prstGeom>
              <a:blipFill>
                <a:blip r:embed="rId3"/>
                <a:stretch>
                  <a:fillRect l="-845" t="-707" r="-3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C0E707CC-394C-449D-AA24-F6E85B3C8C59}"/>
                  </a:ext>
                </a:extLst>
              </p:cNvPr>
              <p:cNvSpPr txBox="1"/>
              <p:nvPr/>
            </p:nvSpPr>
            <p:spPr>
              <a:xfrm>
                <a:off x="5367871" y="5215467"/>
                <a:ext cx="6578596" cy="646331"/>
              </a:xfrm>
              <a:prstGeom prst="rect">
                <a:avLst/>
              </a:prstGeom>
              <a:noFill/>
            </p:spPr>
            <p:txBody>
              <a:bodyPr wrap="square" rtlCol="0">
                <a:spAutoFit/>
              </a:bodyPr>
              <a:lstStyle/>
              <a:p>
                <a:pPr marL="285750" indent="-285750">
                  <a:buFont typeface="Wingdings" panose="05000000000000000000" pitchFamily="2" charset="2"/>
                  <a:buChar char="Ø"/>
                </a:pPr>
                <a:r>
                  <a:rPr lang="en-US" altLang="zh-TW" dirty="0"/>
                  <a:t>Ex:</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𝑟</m:t>
                        </m:r>
                      </m:sub>
                    </m:sSub>
                    <m:r>
                      <a:rPr lang="en-US" altLang="zh-TW" b="0" i="1" smtClean="0">
                        <a:latin typeface="Cambria Math" panose="02040503050406030204" pitchFamily="18" charset="0"/>
                      </a:rPr>
                      <m:t>=2</m:t>
                    </m:r>
                  </m:oMath>
                </a14:m>
                <a:endParaRPr lang="en-US" altLang="zh-TW" b="0" dirty="0"/>
              </a:p>
              <a:p>
                <a:r>
                  <a:rPr lang="en-US" altLang="zh-TW" dirty="0"/>
                  <a:t>	</a:t>
                </a:r>
                <a:endParaRPr lang="zh-TW" altLang="en-US" dirty="0"/>
              </a:p>
            </p:txBody>
          </p:sp>
        </mc:Choice>
        <mc:Fallback xmlns="">
          <p:sp>
            <p:nvSpPr>
              <p:cNvPr id="28" name="文字方塊 27">
                <a:extLst>
                  <a:ext uri="{FF2B5EF4-FFF2-40B4-BE49-F238E27FC236}">
                    <a16:creationId xmlns:a16="http://schemas.microsoft.com/office/drawing/2014/main" id="{C0E707CC-394C-449D-AA24-F6E85B3C8C59}"/>
                  </a:ext>
                </a:extLst>
              </p:cNvPr>
              <p:cNvSpPr txBox="1">
                <a:spLocks noRot="1" noChangeAspect="1" noMove="1" noResize="1" noEditPoints="1" noAdjustHandles="1" noChangeArrowheads="1" noChangeShapeType="1" noTextEdit="1"/>
              </p:cNvSpPr>
              <p:nvPr/>
            </p:nvSpPr>
            <p:spPr>
              <a:xfrm>
                <a:off x="5367871" y="5215467"/>
                <a:ext cx="6578596" cy="646331"/>
              </a:xfrm>
              <a:prstGeom prst="rect">
                <a:avLst/>
              </a:prstGeom>
              <a:blipFill>
                <a:blip r:embed="rId4"/>
                <a:stretch>
                  <a:fillRect l="-649" t="-5660"/>
                </a:stretch>
              </a:blipFill>
            </p:spPr>
            <p:txBody>
              <a:bodyPr/>
              <a:lstStyle/>
              <a:p>
                <a:r>
                  <a:rPr lang="zh-TW" altLang="en-US">
                    <a:noFill/>
                  </a:rPr>
                  <a:t> </a:t>
                </a:r>
              </a:p>
            </p:txBody>
          </p:sp>
        </mc:Fallback>
      </mc:AlternateContent>
      <p:cxnSp>
        <p:nvCxnSpPr>
          <p:cNvPr id="30" name="直線單箭頭接點 29">
            <a:extLst>
              <a:ext uri="{FF2B5EF4-FFF2-40B4-BE49-F238E27FC236}">
                <a16:creationId xmlns:a16="http://schemas.microsoft.com/office/drawing/2014/main" id="{26E08411-0E10-498E-B632-44320EB42710}"/>
              </a:ext>
            </a:extLst>
          </p:cNvPr>
          <p:cNvCxnSpPr/>
          <p:nvPr/>
        </p:nvCxnSpPr>
        <p:spPr>
          <a:xfrm>
            <a:off x="6096000" y="5689600"/>
            <a:ext cx="534246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橢圓 30">
            <a:extLst>
              <a:ext uri="{FF2B5EF4-FFF2-40B4-BE49-F238E27FC236}">
                <a16:creationId xmlns:a16="http://schemas.microsoft.com/office/drawing/2014/main" id="{394DFB9A-EE1F-4ECE-B4C3-64D9170AAD25}"/>
              </a:ext>
            </a:extLst>
          </p:cNvPr>
          <p:cNvSpPr/>
          <p:nvPr/>
        </p:nvSpPr>
        <p:spPr>
          <a:xfrm>
            <a:off x="5981700" y="5569635"/>
            <a:ext cx="228600" cy="23992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文字方塊 31">
            <a:extLst>
              <a:ext uri="{FF2B5EF4-FFF2-40B4-BE49-F238E27FC236}">
                <a16:creationId xmlns:a16="http://schemas.microsoft.com/office/drawing/2014/main" id="{6E4001B8-D496-4EB8-A427-29F8F6CD681F}"/>
              </a:ext>
            </a:extLst>
          </p:cNvPr>
          <p:cNvSpPr txBox="1"/>
          <p:nvPr/>
        </p:nvSpPr>
        <p:spPr>
          <a:xfrm>
            <a:off x="5668433" y="5770582"/>
            <a:ext cx="855133" cy="369332"/>
          </a:xfrm>
          <a:prstGeom prst="rect">
            <a:avLst/>
          </a:prstGeom>
          <a:noFill/>
        </p:spPr>
        <p:txBody>
          <a:bodyPr wrap="square" rtlCol="0">
            <a:spAutoFit/>
          </a:bodyPr>
          <a:lstStyle/>
          <a:p>
            <a:r>
              <a:rPr lang="en-US" altLang="zh-TW" dirty="0"/>
              <a:t>Center</a:t>
            </a:r>
            <a:endParaRPr lang="zh-TW" altLang="en-US" dirty="0"/>
          </a:p>
        </p:txBody>
      </p:sp>
      <p:cxnSp>
        <p:nvCxnSpPr>
          <p:cNvPr id="34" name="直線接點 33">
            <a:extLst>
              <a:ext uri="{FF2B5EF4-FFF2-40B4-BE49-F238E27FC236}">
                <a16:creationId xmlns:a16="http://schemas.microsoft.com/office/drawing/2014/main" id="{11B9BCAE-16E0-4EA9-9AC3-71AC94AE5DDD}"/>
              </a:ext>
            </a:extLst>
          </p:cNvPr>
          <p:cNvCxnSpPr/>
          <p:nvPr/>
        </p:nvCxnSpPr>
        <p:spPr>
          <a:xfrm>
            <a:off x="8767233" y="5393267"/>
            <a:ext cx="0" cy="64346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橢圓 34">
            <a:extLst>
              <a:ext uri="{FF2B5EF4-FFF2-40B4-BE49-F238E27FC236}">
                <a16:creationId xmlns:a16="http://schemas.microsoft.com/office/drawing/2014/main" id="{E4972A8D-69DC-47C0-9A60-93F8D71F6348}"/>
              </a:ext>
            </a:extLst>
          </p:cNvPr>
          <p:cNvSpPr/>
          <p:nvPr/>
        </p:nvSpPr>
        <p:spPr>
          <a:xfrm>
            <a:off x="7552267" y="5569635"/>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橢圓 36">
            <a:extLst>
              <a:ext uri="{FF2B5EF4-FFF2-40B4-BE49-F238E27FC236}">
                <a16:creationId xmlns:a16="http://schemas.microsoft.com/office/drawing/2014/main" id="{F6BE17E4-2DD2-4A20-A697-5728CEAF5814}"/>
              </a:ext>
            </a:extLst>
          </p:cNvPr>
          <p:cNvSpPr/>
          <p:nvPr/>
        </p:nvSpPr>
        <p:spPr>
          <a:xfrm>
            <a:off x="10024533" y="5575303"/>
            <a:ext cx="228599" cy="23992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文字方塊 37">
            <a:extLst>
              <a:ext uri="{FF2B5EF4-FFF2-40B4-BE49-F238E27FC236}">
                <a16:creationId xmlns:a16="http://schemas.microsoft.com/office/drawing/2014/main" id="{C7DE772D-91AB-4873-BA84-0850F2D64CCD}"/>
              </a:ext>
            </a:extLst>
          </p:cNvPr>
          <p:cNvSpPr txBox="1"/>
          <p:nvPr/>
        </p:nvSpPr>
        <p:spPr>
          <a:xfrm>
            <a:off x="7289799" y="5799729"/>
            <a:ext cx="1126066" cy="646331"/>
          </a:xfrm>
          <a:prstGeom prst="rect">
            <a:avLst/>
          </a:prstGeom>
          <a:noFill/>
        </p:spPr>
        <p:txBody>
          <a:bodyPr wrap="square" rtlCol="0">
            <a:spAutoFit/>
          </a:bodyPr>
          <a:lstStyle/>
          <a:p>
            <a:r>
              <a:rPr lang="en-US" altLang="zh-TW" dirty="0"/>
              <a:t>Sample point</a:t>
            </a:r>
            <a:endParaRPr lang="zh-TW" altLang="en-US" dirty="0"/>
          </a:p>
        </p:txBody>
      </p:sp>
      <p:sp>
        <p:nvSpPr>
          <p:cNvPr id="39" name="文字方塊 38">
            <a:extLst>
              <a:ext uri="{FF2B5EF4-FFF2-40B4-BE49-F238E27FC236}">
                <a16:creationId xmlns:a16="http://schemas.microsoft.com/office/drawing/2014/main" id="{383C0C6E-8646-44C1-8A4F-0CEE72F7AF79}"/>
              </a:ext>
            </a:extLst>
          </p:cNvPr>
          <p:cNvSpPr txBox="1"/>
          <p:nvPr/>
        </p:nvSpPr>
        <p:spPr>
          <a:xfrm>
            <a:off x="9751484" y="5770582"/>
            <a:ext cx="1126066" cy="646331"/>
          </a:xfrm>
          <a:prstGeom prst="rect">
            <a:avLst/>
          </a:prstGeom>
          <a:noFill/>
        </p:spPr>
        <p:txBody>
          <a:bodyPr wrap="square" rtlCol="0">
            <a:spAutoFit/>
          </a:bodyPr>
          <a:lstStyle/>
          <a:p>
            <a:r>
              <a:rPr lang="en-US" altLang="zh-TW" dirty="0"/>
              <a:t>Sample point</a:t>
            </a:r>
            <a:endParaRPr lang="zh-TW" altLang="en-US" dirty="0"/>
          </a:p>
        </p:txBody>
      </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FE617669-674F-499C-B4B5-705FFEAAF284}"/>
                  </a:ext>
                </a:extLst>
              </p:cNvPr>
              <p:cNvSpPr txBox="1"/>
              <p:nvPr/>
            </p:nvSpPr>
            <p:spPr>
              <a:xfrm>
                <a:off x="11500222" y="5515423"/>
                <a:ext cx="166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𝑟</m:t>
                      </m:r>
                    </m:oMath>
                  </m:oMathPara>
                </a14:m>
                <a:endParaRPr lang="zh-TW" altLang="en-US" dirty="0"/>
              </a:p>
            </p:txBody>
          </p:sp>
        </mc:Choice>
        <mc:Fallback xmlns="">
          <p:sp>
            <p:nvSpPr>
              <p:cNvPr id="36" name="文字方塊 35">
                <a:extLst>
                  <a:ext uri="{FF2B5EF4-FFF2-40B4-BE49-F238E27FC236}">
                    <a16:creationId xmlns:a16="http://schemas.microsoft.com/office/drawing/2014/main" id="{FE617669-674F-499C-B4B5-705FFEAAF284}"/>
                  </a:ext>
                </a:extLst>
              </p:cNvPr>
              <p:cNvSpPr txBox="1">
                <a:spLocks noRot="1" noChangeAspect="1" noMove="1" noResize="1" noEditPoints="1" noAdjustHandles="1" noChangeArrowheads="1" noChangeShapeType="1" noTextEdit="1"/>
              </p:cNvSpPr>
              <p:nvPr/>
            </p:nvSpPr>
            <p:spPr>
              <a:xfrm>
                <a:off x="11500222" y="5515423"/>
                <a:ext cx="166969" cy="276999"/>
              </a:xfrm>
              <a:prstGeom prst="rect">
                <a:avLst/>
              </a:prstGeom>
              <a:blipFill>
                <a:blip r:embed="rId5"/>
                <a:stretch>
                  <a:fillRect l="-22222" r="-185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08817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Interpolation Point Algorithm</a:t>
            </a:r>
            <a:endParaRPr lang="zh-TW" altLang="en-US" dirty="0">
              <a:latin typeface="Times New Roman" panose="02020603050405020304" pitchFamily="18" charset="0"/>
              <a:cs typeface="Times New Roman" panose="02020603050405020304" pitchFamily="18" charset="0"/>
            </a:endParaRPr>
          </a:p>
        </p:txBody>
      </p:sp>
      <p:grpSp>
        <p:nvGrpSpPr>
          <p:cNvPr id="5" name="群組 4">
            <a:extLst>
              <a:ext uri="{FF2B5EF4-FFF2-40B4-BE49-F238E27FC236}">
                <a16:creationId xmlns:a16="http://schemas.microsoft.com/office/drawing/2014/main" id="{4C4C9969-1B44-4A59-A7E0-FC50AC2A4271}"/>
              </a:ext>
            </a:extLst>
          </p:cNvPr>
          <p:cNvGrpSpPr/>
          <p:nvPr/>
        </p:nvGrpSpPr>
        <p:grpSpPr>
          <a:xfrm>
            <a:off x="412433" y="4672988"/>
            <a:ext cx="2345798" cy="2058673"/>
            <a:chOff x="318690" y="3303224"/>
            <a:chExt cx="3702977" cy="3002063"/>
          </a:xfrm>
        </p:grpSpPr>
        <p:sp>
          <p:nvSpPr>
            <p:cNvPr id="3" name="矩形 2">
              <a:extLst>
                <a:ext uri="{FF2B5EF4-FFF2-40B4-BE49-F238E27FC236}">
                  <a16:creationId xmlns:a16="http://schemas.microsoft.com/office/drawing/2014/main" id="{68A97F66-D40E-4AE5-9BB8-EB697B953184}"/>
                </a:ext>
              </a:extLst>
            </p:cNvPr>
            <p:cNvSpPr/>
            <p:nvPr/>
          </p:nvSpPr>
          <p:spPr>
            <a:xfrm>
              <a:off x="2048933" y="5985933"/>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CA362B68-8F37-4BBB-9784-37CA0CAA23D0}"/>
                </a:ext>
              </a:extLst>
            </p:cNvPr>
            <p:cNvSpPr/>
            <p:nvPr/>
          </p:nvSpPr>
          <p:spPr>
            <a:xfrm rot="16200000">
              <a:off x="-508000" y="4129914"/>
              <a:ext cx="1972734" cy="3193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 name="群組 7">
            <a:extLst>
              <a:ext uri="{FF2B5EF4-FFF2-40B4-BE49-F238E27FC236}">
                <a16:creationId xmlns:a16="http://schemas.microsoft.com/office/drawing/2014/main" id="{91081E8E-4A21-4CFA-B87B-CE8D6BA8512B}"/>
              </a:ext>
            </a:extLst>
          </p:cNvPr>
          <p:cNvGrpSpPr/>
          <p:nvPr/>
        </p:nvGrpSpPr>
        <p:grpSpPr>
          <a:xfrm>
            <a:off x="1067095" y="4542832"/>
            <a:ext cx="2008760" cy="1722057"/>
            <a:chOff x="1009082" y="4368800"/>
            <a:chExt cx="2271409" cy="1845464"/>
          </a:xfrm>
        </p:grpSpPr>
        <p:sp>
          <p:nvSpPr>
            <p:cNvPr id="4" name="矩形 3">
              <a:extLst>
                <a:ext uri="{FF2B5EF4-FFF2-40B4-BE49-F238E27FC236}">
                  <a16:creationId xmlns:a16="http://schemas.microsoft.com/office/drawing/2014/main" id="{B7E317EE-9350-4E48-B5B8-C659C8A7DB3E}"/>
                </a:ext>
              </a:extLst>
            </p:cNvPr>
            <p:cNvSpPr/>
            <p:nvPr/>
          </p:nvSpPr>
          <p:spPr>
            <a:xfrm>
              <a:off x="1009082" y="4368800"/>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a:extLst>
                <a:ext uri="{FF2B5EF4-FFF2-40B4-BE49-F238E27FC236}">
                  <a16:creationId xmlns:a16="http://schemas.microsoft.com/office/drawing/2014/main" id="{43D4EBAC-202E-436B-825F-230919A14899}"/>
                </a:ext>
              </a:extLst>
            </p:cNvPr>
            <p:cNvSpPr/>
            <p:nvPr/>
          </p:nvSpPr>
          <p:spPr>
            <a:xfrm rot="5400000">
              <a:off x="2630809" y="5564582"/>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680649BF-43EB-4D87-A80C-5D9C6A6A8C91}"/>
                  </a:ext>
                </a:extLst>
              </p:cNvPr>
              <p:cNvSpPr txBox="1"/>
              <p:nvPr/>
            </p:nvSpPr>
            <p:spPr>
              <a:xfrm>
                <a:off x="0" y="829602"/>
                <a:ext cx="11882359" cy="2933239"/>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Therefore, the evaluation criteria are revised as follows: the </a:t>
                </a:r>
                <a14:m>
                  <m:oMath xmlns:m="http://schemas.openxmlformats.org/officeDocument/2006/math">
                    <m:sPre>
                      <m:sPrePr>
                        <m:ctrlPr>
                          <a:rPr lang="en-US" altLang="zh-TW" i="1">
                            <a:latin typeface="Cambria Math" panose="02040503050406030204" pitchFamily="18" charset="0"/>
                          </a:rPr>
                        </m:ctrlPr>
                      </m:sPrePr>
                      <m:sub/>
                      <m:sup>
                        <m:r>
                          <a:rPr lang="en-US" altLang="zh-TW" i="1">
                            <a:latin typeface="Cambria Math" panose="02040503050406030204" pitchFamily="18" charset="0"/>
                          </a:rPr>
                          <m:t>𝐵</m:t>
                        </m:r>
                      </m:sup>
                      <m:e>
                        <m:sSub>
                          <m:sSubPr>
                            <m:ctrlPr>
                              <a:rPr lang="en-US" altLang="zh-TW" i="1">
                                <a:latin typeface="Cambria Math" panose="02040503050406030204" pitchFamily="18" charset="0"/>
                              </a:rPr>
                            </m:ctrlPr>
                          </m:sSubPr>
                          <m:e>
                            <m:acc>
                              <m:accPr>
                                <m:chr m:val="̂"/>
                                <m:ctrlPr>
                                  <a:rPr lang="en-US" altLang="zh-TW" i="1">
                                    <a:latin typeface="Cambria Math" panose="02040503050406030204" pitchFamily="18" charset="0"/>
                                  </a:rPr>
                                </m:ctrlPr>
                              </m:accPr>
                              <m:e>
                                <m:r>
                                  <a:rPr lang="en-US" altLang="zh-TW" i="1">
                                    <a:latin typeface="Cambria Math" panose="02040503050406030204" pitchFamily="18" charset="0"/>
                                  </a:rPr>
                                  <m:t>𝑔</m:t>
                                </m:r>
                              </m:e>
                            </m:acc>
                          </m:e>
                          <m:sub>
                            <m:r>
                              <a:rPr lang="en-US" altLang="zh-TW" i="1">
                                <a:latin typeface="Cambria Math" panose="02040503050406030204" pitchFamily="18" charset="0"/>
                              </a:rPr>
                              <m:t>𝐼</m:t>
                            </m:r>
                          </m:sub>
                        </m:sSub>
                      </m:e>
                    </m:sPre>
                  </m:oMath>
                </a14:m>
                <a:r>
                  <a:rPr lang="en-US" altLang="zh-TW" dirty="0"/>
                  <a:t>  and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must be stable, with the relative errors of the following ten points with respect to their respective preceding points being less than 0.5%, and </a:t>
                </a:r>
                <a14:m>
                  <m:oMath xmlns:m="http://schemas.openxmlformats.org/officeDocument/2006/math">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r>
                  <a:rPr lang="en-US" altLang="zh-TW" dirty="0"/>
                  <a:t>​ must exhibit a physically consistent distribution, i.e., diagonal dominance.</a:t>
                </a:r>
              </a:p>
              <a:p>
                <a:pPr marL="285750" indent="-285750">
                  <a:buFont typeface="Arial" panose="020B0604020202020204" pitchFamily="34" charset="0"/>
                  <a:buChar char="•"/>
                </a:pPr>
                <a:r>
                  <a:rPr lang="en-US" altLang="zh-TW" dirty="0"/>
                  <a:t>The first actual design is N = 6, where the blue curve (single parameter) jumps to 931 µm and the red curve (eighteen parameters) to 873.5 µm; both then flatten almost immediately, blue settling at 877 and red at 872. The two vertical dashed lines mark the convergence points of the </a:t>
                </a:r>
                <a14:m>
                  <m:oMath xmlns:m="http://schemas.openxmlformats.org/officeDocument/2006/math">
                    <m:acc>
                      <m:accPr>
                        <m:chr m:val="̂"/>
                        <m:ctrlPr>
                          <a:rPr lang="en-US" altLang="zh-TW" i="1" smtClean="0">
                            <a:latin typeface="Cambria Math" panose="02040503050406030204" pitchFamily="18" charset="0"/>
                          </a:rPr>
                        </m:ctrlPr>
                      </m:accPr>
                      <m:e>
                        <m:r>
                          <a:rPr lang="en-US" altLang="zh-TW" i="1" smtClean="0">
                            <a:latin typeface="Cambria Math" panose="02040503050406030204" pitchFamily="18" charset="0"/>
                            <a:ea typeface="Cambria Math" panose="02040503050406030204" pitchFamily="18" charset="0"/>
                          </a:rPr>
                          <m:t>ℓ</m:t>
                        </m:r>
                      </m:e>
                    </m:acc>
                  </m:oMath>
                </a14:m>
                <a:r>
                  <a:rPr lang="en-US" altLang="zh-TW" dirty="0"/>
                  <a:t> criterion (relative change below 0.5% for ten consecutive designs): red at </a:t>
                </a:r>
                <a:r>
                  <a:rPr lang="en-US" altLang="zh-TW" b="1" dirty="0"/>
                  <a:t>6 points </a:t>
                </a:r>
                <a:r>
                  <a:rPr lang="en-US" altLang="zh-TW" dirty="0"/>
                  <a:t>and blue at </a:t>
                </a:r>
                <a:r>
                  <a:rPr lang="en-US" altLang="zh-TW" b="1" dirty="0"/>
                  <a:t>8 points</a:t>
                </a:r>
                <a:r>
                  <a:rPr lang="en-US" altLang="zh-TW" dirty="0"/>
                  <a:t>.</a:t>
                </a:r>
              </a:p>
              <a:p>
                <a:pPr marL="285750" indent="-285750">
                  <a:buFont typeface="Arial" panose="020B0604020202020204" pitchFamily="34" charset="0"/>
                  <a:buChar char="•"/>
                </a:pPr>
                <a:r>
                  <a:rPr lang="en-US" altLang="zh-TW" dirty="0"/>
                  <a:t>The two dashed lines mark the convergence points of the </a:t>
                </a:r>
                <a14:m>
                  <m:oMath xmlns:m="http://schemas.openxmlformats.org/officeDocument/2006/math">
                    <m:sPre>
                      <m:sPrePr>
                        <m:ctrlPr>
                          <a:rPr lang="en-US" altLang="zh-TW" i="1" smtClean="0">
                            <a:latin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r>
                      <a:rPr lang="en-US" altLang="zh-TW" b="0" i="1" smtClean="0">
                        <a:latin typeface="Cambria Math" panose="02040503050406030204" pitchFamily="18" charset="0"/>
                      </a:rPr>
                      <m:t> </m:t>
                    </m:r>
                  </m:oMath>
                </a14:m>
                <a:r>
                  <a:rPr lang="en-US" altLang="zh-TW" dirty="0"/>
                  <a:t>criterion: red at </a:t>
                </a:r>
                <a:r>
                  <a:rPr lang="en-US" altLang="zh-TW" b="1" dirty="0"/>
                  <a:t>80 points </a:t>
                </a:r>
                <a:r>
                  <a:rPr lang="en-US" altLang="zh-TW" dirty="0"/>
                  <a:t>and blue at </a:t>
                </a:r>
                <a:r>
                  <a:rPr lang="en-US" altLang="zh-TW" b="1" dirty="0"/>
                  <a:t>528 points</a:t>
                </a:r>
                <a:r>
                  <a:rPr lang="en-US" altLang="zh-TW" dirty="0"/>
                  <a:t>. Therefore, by taking the intersection of these criteria, the required number of points is determined to be 528 for the single-parameter model and 80 for the eighteen-parameter model.</a:t>
                </a:r>
                <a:endParaRPr lang="zh-TW" altLang="en-US" dirty="0"/>
              </a:p>
            </p:txBody>
          </p:sp>
        </mc:Choice>
        <mc:Fallback xmlns="">
          <p:sp>
            <p:nvSpPr>
              <p:cNvPr id="16" name="文字方塊 15">
                <a:extLst>
                  <a:ext uri="{FF2B5EF4-FFF2-40B4-BE49-F238E27FC236}">
                    <a16:creationId xmlns:a16="http://schemas.microsoft.com/office/drawing/2014/main" id="{680649BF-43EB-4D87-A80C-5D9C6A6A8C91}"/>
                  </a:ext>
                </a:extLst>
              </p:cNvPr>
              <p:cNvSpPr txBox="1">
                <a:spLocks noRot="1" noChangeAspect="1" noMove="1" noResize="1" noEditPoints="1" noAdjustHandles="1" noChangeArrowheads="1" noChangeShapeType="1" noTextEdit="1"/>
              </p:cNvSpPr>
              <p:nvPr/>
            </p:nvSpPr>
            <p:spPr>
              <a:xfrm>
                <a:off x="0" y="829602"/>
                <a:ext cx="11882359" cy="2933239"/>
              </a:xfrm>
              <a:prstGeom prst="rect">
                <a:avLst/>
              </a:prstGeom>
              <a:blipFill>
                <a:blip r:embed="rId5"/>
                <a:stretch>
                  <a:fillRect l="-308" t="-208" b="-2495"/>
                </a:stretch>
              </a:blipFill>
            </p:spPr>
            <p:txBody>
              <a:bodyPr/>
              <a:lstStyle/>
              <a:p>
                <a:r>
                  <a:rPr lang="zh-TW" altLang="en-US">
                    <a:noFill/>
                  </a:rPr>
                  <a:t> </a:t>
                </a:r>
              </a:p>
            </p:txBody>
          </p:sp>
        </mc:Fallback>
      </mc:AlternateContent>
      <p:sp>
        <p:nvSpPr>
          <p:cNvPr id="28" name="文字方塊 27">
            <a:extLst>
              <a:ext uri="{FF2B5EF4-FFF2-40B4-BE49-F238E27FC236}">
                <a16:creationId xmlns:a16="http://schemas.microsoft.com/office/drawing/2014/main" id="{215B1C10-4A8D-4F5C-BA12-89D80FC3EC4E}"/>
              </a:ext>
            </a:extLst>
          </p:cNvPr>
          <p:cNvSpPr txBox="1"/>
          <p:nvPr/>
        </p:nvSpPr>
        <p:spPr>
          <a:xfrm>
            <a:off x="0" y="2339706"/>
            <a:ext cx="11978275" cy="369332"/>
          </a:xfrm>
          <a:prstGeom prst="rect">
            <a:avLst/>
          </a:prstGeom>
          <a:noFill/>
        </p:spPr>
        <p:txBody>
          <a:bodyPr wrap="square">
            <a:spAutoFit/>
          </a:bodyPr>
          <a:lstStyle/>
          <a:p>
            <a:pPr marL="285750" indent="-285750">
              <a:buFont typeface="Arial" panose="020B0604020202020204" pitchFamily="34" charset="0"/>
              <a:buChar char="•"/>
            </a:pPr>
            <a:endParaRPr lang="zh-TW" altLang="en-US" dirty="0"/>
          </a:p>
        </p:txBody>
      </p:sp>
      <p:grpSp>
        <p:nvGrpSpPr>
          <p:cNvPr id="27" name="群組 26">
            <a:extLst>
              <a:ext uri="{FF2B5EF4-FFF2-40B4-BE49-F238E27FC236}">
                <a16:creationId xmlns:a16="http://schemas.microsoft.com/office/drawing/2014/main" id="{720736BF-05DC-4FA3-BD2A-D5906CF89058}"/>
              </a:ext>
            </a:extLst>
          </p:cNvPr>
          <p:cNvGrpSpPr/>
          <p:nvPr/>
        </p:nvGrpSpPr>
        <p:grpSpPr>
          <a:xfrm>
            <a:off x="1380172" y="3914523"/>
            <a:ext cx="3164344" cy="2586717"/>
            <a:chOff x="1407654" y="3989241"/>
            <a:chExt cx="3164344" cy="2586717"/>
          </a:xfrm>
        </p:grpSpPr>
        <p:grpSp>
          <p:nvGrpSpPr>
            <p:cNvPr id="26" name="群組 25">
              <a:extLst>
                <a:ext uri="{FF2B5EF4-FFF2-40B4-BE49-F238E27FC236}">
                  <a16:creationId xmlns:a16="http://schemas.microsoft.com/office/drawing/2014/main" id="{AAFCFE30-B143-451C-BFFD-844F9CC3C8E4}"/>
                </a:ext>
              </a:extLst>
            </p:cNvPr>
            <p:cNvGrpSpPr/>
            <p:nvPr/>
          </p:nvGrpSpPr>
          <p:grpSpPr>
            <a:xfrm>
              <a:off x="1445169" y="3989241"/>
              <a:ext cx="3126829" cy="2586717"/>
              <a:chOff x="1445170" y="3989241"/>
              <a:chExt cx="2724532" cy="2182819"/>
            </a:xfrm>
          </p:grpSpPr>
          <p:pic>
            <p:nvPicPr>
              <p:cNvPr id="12" name="圖片 11">
                <a:extLst>
                  <a:ext uri="{FF2B5EF4-FFF2-40B4-BE49-F238E27FC236}">
                    <a16:creationId xmlns:a16="http://schemas.microsoft.com/office/drawing/2014/main" id="{9E4537B2-81C4-4B97-82D1-69C34AD568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5203" y="3989241"/>
                <a:ext cx="2684499" cy="2132324"/>
              </a:xfrm>
              <a:prstGeom prst="rect">
                <a:avLst/>
              </a:prstGeom>
            </p:spPr>
          </p:pic>
          <p:sp>
            <p:nvSpPr>
              <p:cNvPr id="25" name="矩形 24">
                <a:extLst>
                  <a:ext uri="{FF2B5EF4-FFF2-40B4-BE49-F238E27FC236}">
                    <a16:creationId xmlns:a16="http://schemas.microsoft.com/office/drawing/2014/main" id="{50ABEE23-C0F3-4396-A9CE-84BD3E69946C}"/>
                  </a:ext>
                </a:extLst>
              </p:cNvPr>
              <p:cNvSpPr/>
              <p:nvPr/>
            </p:nvSpPr>
            <p:spPr>
              <a:xfrm>
                <a:off x="2471405" y="5994549"/>
                <a:ext cx="1079600" cy="177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E446723F-AF09-4EBB-8350-A64FF607BED4}"/>
                  </a:ext>
                </a:extLst>
              </p:cNvPr>
              <p:cNvSpPr/>
              <p:nvPr/>
            </p:nvSpPr>
            <p:spPr>
              <a:xfrm rot="16200000">
                <a:off x="989487" y="4909206"/>
                <a:ext cx="1079600" cy="1682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967F4FBF-AEED-4ECE-9557-6071629C0C5B}"/>
                    </a:ext>
                  </a:extLst>
                </p:cNvPr>
                <p:cNvSpPr txBox="1"/>
                <p:nvPr/>
              </p:nvSpPr>
              <p:spPr>
                <a:xfrm>
                  <a:off x="2502574" y="6316841"/>
                  <a:ext cx="138178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7" name="文字方塊 6">
                  <a:extLst>
                    <a:ext uri="{FF2B5EF4-FFF2-40B4-BE49-F238E27FC236}">
                      <a16:creationId xmlns:a16="http://schemas.microsoft.com/office/drawing/2014/main" id="{967F4FBF-AEED-4ECE-9557-6071629C0C5B}"/>
                    </a:ext>
                  </a:extLst>
                </p:cNvPr>
                <p:cNvSpPr txBox="1">
                  <a:spLocks noRot="1" noChangeAspect="1" noMove="1" noResize="1" noEditPoints="1" noAdjustHandles="1" noChangeArrowheads="1" noChangeShapeType="1" noTextEdit="1"/>
                </p:cNvSpPr>
                <p:nvPr/>
              </p:nvSpPr>
              <p:spPr>
                <a:xfrm>
                  <a:off x="2502574" y="6316841"/>
                  <a:ext cx="1381789" cy="215444"/>
                </a:xfrm>
                <a:prstGeom prst="rect">
                  <a:avLst/>
                </a:prstGeom>
                <a:blipFill>
                  <a:blip r:embed="rId7"/>
                  <a:stretch>
                    <a:fillRect l="-2643" r="-3084" b="-3142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D4E5C0-D7AA-4972-A8B5-D3FF74D2338A}"/>
                    </a:ext>
                  </a:extLst>
                </p:cNvPr>
                <p:cNvSpPr txBox="1"/>
                <p:nvPr/>
              </p:nvSpPr>
              <p:spPr>
                <a:xfrm rot="16200000">
                  <a:off x="924630" y="4964854"/>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3" name="文字方塊 12">
                  <a:extLst>
                    <a:ext uri="{FF2B5EF4-FFF2-40B4-BE49-F238E27FC236}">
                      <a16:creationId xmlns:a16="http://schemas.microsoft.com/office/drawing/2014/main" id="{8AD4E5C0-D7AA-4972-A8B5-D3FF74D2338A}"/>
                    </a:ext>
                  </a:extLst>
                </p:cNvPr>
                <p:cNvSpPr txBox="1">
                  <a:spLocks noRot="1" noChangeAspect="1" noMove="1" noResize="1" noEditPoints="1" noAdjustHandles="1" noChangeArrowheads="1" noChangeShapeType="1" noTextEdit="1"/>
                </p:cNvSpPr>
                <p:nvPr/>
              </p:nvSpPr>
              <p:spPr>
                <a:xfrm rot="16200000">
                  <a:off x="924630" y="4964854"/>
                  <a:ext cx="1192585" cy="226537"/>
                </a:xfrm>
                <a:prstGeom prst="rect">
                  <a:avLst/>
                </a:prstGeom>
                <a:blipFill>
                  <a:blip r:embed="rId8"/>
                  <a:stretch>
                    <a:fillRect l="-23684" r="-28947"/>
                  </a:stretch>
                </a:blipFill>
              </p:spPr>
              <p:txBody>
                <a:bodyPr/>
                <a:lstStyle/>
                <a:p>
                  <a:r>
                    <a:rPr lang="zh-TW" altLang="en-US">
                      <a:noFill/>
                    </a:rPr>
                    <a:t> </a:t>
                  </a:r>
                </a:p>
              </p:txBody>
            </p:sp>
          </mc:Fallback>
        </mc:AlternateContent>
      </p:grpSp>
      <p:grpSp>
        <p:nvGrpSpPr>
          <p:cNvPr id="9" name="群組 8">
            <a:extLst>
              <a:ext uri="{FF2B5EF4-FFF2-40B4-BE49-F238E27FC236}">
                <a16:creationId xmlns:a16="http://schemas.microsoft.com/office/drawing/2014/main" id="{2DD94B81-4154-4DA8-91AA-05C9D52771BE}"/>
              </a:ext>
            </a:extLst>
          </p:cNvPr>
          <p:cNvGrpSpPr/>
          <p:nvPr/>
        </p:nvGrpSpPr>
        <p:grpSpPr>
          <a:xfrm>
            <a:off x="6913066" y="4496482"/>
            <a:ext cx="2443245" cy="2016181"/>
            <a:chOff x="6734621" y="4514758"/>
            <a:chExt cx="2443245" cy="2016181"/>
          </a:xfrm>
        </p:grpSpPr>
        <p:sp>
          <p:nvSpPr>
            <p:cNvPr id="20" name="矩形 19">
              <a:extLst>
                <a:ext uri="{FF2B5EF4-FFF2-40B4-BE49-F238E27FC236}">
                  <a16:creationId xmlns:a16="http://schemas.microsoft.com/office/drawing/2014/main" id="{14E9E751-0BCD-4B68-947D-DBAE2AC41314}"/>
                </a:ext>
              </a:extLst>
            </p:cNvPr>
            <p:cNvSpPr/>
            <p:nvPr/>
          </p:nvSpPr>
          <p:spPr>
            <a:xfrm>
              <a:off x="6734621" y="4514758"/>
              <a:ext cx="190231" cy="1109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4AD1768C-7A7E-4232-8FAD-3166CADD2577}"/>
                </a:ext>
              </a:extLst>
            </p:cNvPr>
            <p:cNvSpPr/>
            <p:nvPr/>
          </p:nvSpPr>
          <p:spPr>
            <a:xfrm rot="5400000">
              <a:off x="8411063" y="5764136"/>
              <a:ext cx="249629" cy="1283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5" name="群組 34">
            <a:extLst>
              <a:ext uri="{FF2B5EF4-FFF2-40B4-BE49-F238E27FC236}">
                <a16:creationId xmlns:a16="http://schemas.microsoft.com/office/drawing/2014/main" id="{CA03B68E-6DE4-4661-8AF0-D6EB397A3943}"/>
              </a:ext>
            </a:extLst>
          </p:cNvPr>
          <p:cNvGrpSpPr/>
          <p:nvPr/>
        </p:nvGrpSpPr>
        <p:grpSpPr>
          <a:xfrm>
            <a:off x="6324600" y="3868319"/>
            <a:ext cx="3326834" cy="2707639"/>
            <a:chOff x="6995344" y="3694251"/>
            <a:chExt cx="3574586" cy="2847876"/>
          </a:xfrm>
        </p:grpSpPr>
        <p:grpSp>
          <p:nvGrpSpPr>
            <p:cNvPr id="32" name="群組 31">
              <a:extLst>
                <a:ext uri="{FF2B5EF4-FFF2-40B4-BE49-F238E27FC236}">
                  <a16:creationId xmlns:a16="http://schemas.microsoft.com/office/drawing/2014/main" id="{FADE59AD-F7C1-43E5-87D0-AF71B5D8F8DE}"/>
                </a:ext>
              </a:extLst>
            </p:cNvPr>
            <p:cNvGrpSpPr/>
            <p:nvPr/>
          </p:nvGrpSpPr>
          <p:grpSpPr>
            <a:xfrm>
              <a:off x="6995344" y="3694251"/>
              <a:ext cx="3574586" cy="2847876"/>
              <a:chOff x="6995344" y="3694251"/>
              <a:chExt cx="3574586" cy="2847876"/>
            </a:xfrm>
          </p:grpSpPr>
          <p:pic>
            <p:nvPicPr>
              <p:cNvPr id="31" name="圖片 30">
                <a:extLst>
                  <a:ext uri="{FF2B5EF4-FFF2-40B4-BE49-F238E27FC236}">
                    <a16:creationId xmlns:a16="http://schemas.microsoft.com/office/drawing/2014/main" id="{1A2F41E1-9557-4290-8586-5D53FAC30E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096182" y="3694251"/>
                <a:ext cx="3473748" cy="2732125"/>
              </a:xfrm>
              <a:prstGeom prst="rect">
                <a:avLst/>
              </a:prstGeom>
            </p:spPr>
          </p:pic>
          <p:sp>
            <p:nvSpPr>
              <p:cNvPr id="18" name="矩形 17">
                <a:extLst>
                  <a:ext uri="{FF2B5EF4-FFF2-40B4-BE49-F238E27FC236}">
                    <a16:creationId xmlns:a16="http://schemas.microsoft.com/office/drawing/2014/main" id="{D626DE7A-F9C6-47BF-9503-E4D79EF03BB4}"/>
                  </a:ext>
                </a:extLst>
              </p:cNvPr>
              <p:cNvSpPr/>
              <p:nvPr/>
            </p:nvSpPr>
            <p:spPr>
              <a:xfrm>
                <a:off x="8087529" y="6211927"/>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a:extLst>
                  <a:ext uri="{FF2B5EF4-FFF2-40B4-BE49-F238E27FC236}">
                    <a16:creationId xmlns:a16="http://schemas.microsoft.com/office/drawing/2014/main" id="{40789712-EA39-472C-851C-CF16838DED38}"/>
                  </a:ext>
                </a:extLst>
              </p:cNvPr>
              <p:cNvSpPr/>
              <p:nvPr/>
            </p:nvSpPr>
            <p:spPr>
              <a:xfrm rot="16200000">
                <a:off x="6221674" y="4640208"/>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D25B04E1-24E0-409C-A4AE-39A474367A3E}"/>
                    </a:ext>
                  </a:extLst>
                </p:cNvPr>
                <p:cNvSpPr txBox="1"/>
                <p:nvPr/>
              </p:nvSpPr>
              <p:spPr>
                <a:xfrm>
                  <a:off x="8335119" y="6210932"/>
                  <a:ext cx="13817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Number</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of</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points</m:t>
                        </m:r>
                      </m:oMath>
                    </m:oMathPara>
                  </a14:m>
                  <a:endParaRPr lang="zh-TW" altLang="en-US" sz="1400" dirty="0"/>
                </a:p>
              </p:txBody>
            </p:sp>
          </mc:Choice>
          <mc:Fallback xmlns="">
            <p:sp>
              <p:nvSpPr>
                <p:cNvPr id="24" name="文字方塊 23">
                  <a:extLst>
                    <a:ext uri="{FF2B5EF4-FFF2-40B4-BE49-F238E27FC236}">
                      <a16:creationId xmlns:a16="http://schemas.microsoft.com/office/drawing/2014/main" id="{D25B04E1-24E0-409C-A4AE-39A474367A3E}"/>
                    </a:ext>
                  </a:extLst>
                </p:cNvPr>
                <p:cNvSpPr txBox="1">
                  <a:spLocks noRot="1" noChangeAspect="1" noMove="1" noResize="1" noEditPoints="1" noAdjustHandles="1" noChangeArrowheads="1" noChangeShapeType="1" noTextEdit="1"/>
                </p:cNvSpPr>
                <p:nvPr/>
              </p:nvSpPr>
              <p:spPr>
                <a:xfrm>
                  <a:off x="8335119" y="6210932"/>
                  <a:ext cx="1381789" cy="215444"/>
                </a:xfrm>
                <a:prstGeom prst="rect">
                  <a:avLst/>
                </a:prstGeom>
                <a:blipFill>
                  <a:blip r:embed="rId7"/>
                  <a:stretch>
                    <a:fillRect l="-4739" r="-9005" b="-3529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8826BDEB-84BE-4C7C-A660-0692872B3F34}"/>
                    </a:ext>
                  </a:extLst>
                </p:cNvPr>
                <p:cNvSpPr txBox="1"/>
                <p:nvPr/>
              </p:nvSpPr>
              <p:spPr>
                <a:xfrm rot="16200000">
                  <a:off x="6626914" y="4683570"/>
                  <a:ext cx="999633" cy="237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34" name="文字方塊 33">
                  <a:extLst>
                    <a:ext uri="{FF2B5EF4-FFF2-40B4-BE49-F238E27FC236}">
                      <a16:creationId xmlns:a16="http://schemas.microsoft.com/office/drawing/2014/main" id="{8826BDEB-84BE-4C7C-A660-0692872B3F34}"/>
                    </a:ext>
                  </a:extLst>
                </p:cNvPr>
                <p:cNvSpPr txBox="1">
                  <a:spLocks noRot="1" noChangeAspect="1" noMove="1" noResize="1" noEditPoints="1" noAdjustHandles="1" noChangeArrowheads="1" noChangeShapeType="1" noTextEdit="1"/>
                </p:cNvSpPr>
                <p:nvPr/>
              </p:nvSpPr>
              <p:spPr>
                <a:xfrm rot="16200000">
                  <a:off x="6626914" y="4683570"/>
                  <a:ext cx="999633" cy="237501"/>
                </a:xfrm>
                <a:prstGeom prst="rect">
                  <a:avLst/>
                </a:prstGeom>
                <a:blipFill>
                  <a:blip r:embed="rId10"/>
                  <a:stretch>
                    <a:fillRect l="-137838" t="-37821" r="-237838" b="-641"/>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2843024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82042"/>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6" name="文字方塊 5">
            <a:extLst>
              <a:ext uri="{FF2B5EF4-FFF2-40B4-BE49-F238E27FC236}">
                <a16:creationId xmlns:a16="http://schemas.microsoft.com/office/drawing/2014/main" id="{31ACE95C-3F52-4F1D-AC27-AFA6A8DD7680}"/>
              </a:ext>
            </a:extLst>
          </p:cNvPr>
          <p:cNvSpPr txBox="1"/>
          <p:nvPr/>
        </p:nvSpPr>
        <p:spPr>
          <a:xfrm>
            <a:off x="27458" y="552713"/>
            <a:ext cx="4544541" cy="369332"/>
          </a:xfrm>
          <a:prstGeom prst="rect">
            <a:avLst/>
          </a:prstGeom>
          <a:noFill/>
        </p:spPr>
        <p:txBody>
          <a:bodyPr wrap="square" rtlCol="0">
            <a:spAutoFit/>
          </a:bodyPr>
          <a:lstStyle/>
          <a:p>
            <a:pPr marL="285750" indent="-285750">
              <a:buFont typeface="Wingdings" panose="05000000000000000000" pitchFamily="2" charset="2"/>
              <a:buChar char="l"/>
            </a:pPr>
            <a:r>
              <a:rPr lang="en-US" altLang="zh-TW" dirty="0">
                <a:latin typeface="Times New Roman" panose="02020603050405020304" pitchFamily="18" charset="0"/>
                <a:cs typeface="Times New Roman" panose="02020603050405020304" pitchFamily="18" charset="0"/>
              </a:rPr>
              <a:t>Calibration results</a:t>
            </a:r>
            <a:endParaRPr lang="zh-TW" altLang="en-US" dirty="0">
              <a:latin typeface="Times New Roman" panose="02020603050405020304" pitchFamily="18" charset="0"/>
              <a:cs typeface="Times New Roman" panose="02020603050405020304" pitchFamily="18" charset="0"/>
            </a:endParaRPr>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FBD9F285-E19C-4465-9425-57DFB03A945C}"/>
              </a:ext>
            </a:extLst>
          </p:cNvPr>
          <p:cNvSpPr txBox="1"/>
          <p:nvPr/>
        </p:nvSpPr>
        <p:spPr>
          <a:xfrm>
            <a:off x="0" y="1461543"/>
            <a:ext cx="4529667" cy="646331"/>
          </a:xfrm>
          <a:prstGeom prst="rect">
            <a:avLst/>
          </a:prstGeom>
          <a:noFill/>
        </p:spPr>
        <p:txBody>
          <a:bodyPr wrap="square" rtlCol="0">
            <a:spAutoFit/>
          </a:bodyPr>
          <a:lstStyle/>
          <a:p>
            <a:endParaRPr lang="zh-TW" altLang="en-US" dirty="0"/>
          </a:p>
          <a:p>
            <a:pPr lvl="1"/>
            <a:endParaRPr lang="en-US" altLang="zh-TW" dirty="0"/>
          </a:p>
        </p:txBody>
      </p:sp>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6F5288B6-F08B-4647-BEC2-1ED8DF629DA3}"/>
                  </a:ext>
                </a:extLst>
              </p:cNvPr>
              <p:cNvSpPr txBox="1"/>
              <p:nvPr/>
            </p:nvSpPr>
            <p:spPr>
              <a:xfrm>
                <a:off x="8545338" y="457425"/>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7" name="文字方塊 26">
                <a:extLst>
                  <a:ext uri="{FF2B5EF4-FFF2-40B4-BE49-F238E27FC236}">
                    <a16:creationId xmlns:a16="http://schemas.microsoft.com/office/drawing/2014/main" id="{6F5288B6-F08B-4647-BEC2-1ED8DF629DA3}"/>
                  </a:ext>
                </a:extLst>
              </p:cNvPr>
              <p:cNvSpPr txBox="1">
                <a:spLocks noRot="1" noChangeAspect="1" noMove="1" noResize="1" noEditPoints="1" noAdjustHandles="1" noChangeArrowheads="1" noChangeShapeType="1" noTextEdit="1"/>
              </p:cNvSpPr>
              <p:nvPr/>
            </p:nvSpPr>
            <p:spPr>
              <a:xfrm>
                <a:off x="8545338" y="457425"/>
                <a:ext cx="3564053" cy="321563"/>
              </a:xfrm>
              <a:prstGeom prst="rect">
                <a:avLst/>
              </a:prstGeom>
              <a:blipFill>
                <a:blip r:embed="rId2"/>
                <a:stretch>
                  <a:fillRect l="-1199" t="-13208" r="-5308" b="-22642"/>
                </a:stretch>
              </a:blipFill>
            </p:spPr>
            <p:txBody>
              <a:bodyPr/>
              <a:lstStyle/>
              <a:p>
                <a:r>
                  <a:rPr lang="zh-TW" altLang="en-US">
                    <a:noFill/>
                  </a:rPr>
                  <a:t> </a:t>
                </a:r>
              </a:p>
            </p:txBody>
          </p:sp>
        </mc:Fallback>
      </mc:AlternateContent>
      <p:sp>
        <p:nvSpPr>
          <p:cNvPr id="4" name="文字方塊 3">
            <a:extLst>
              <a:ext uri="{FF2B5EF4-FFF2-40B4-BE49-F238E27FC236}">
                <a16:creationId xmlns:a16="http://schemas.microsoft.com/office/drawing/2014/main" id="{3B29A552-EA7E-4837-AF53-D95DAEFD34FD}"/>
              </a:ext>
            </a:extLst>
          </p:cNvPr>
          <p:cNvSpPr txBox="1"/>
          <p:nvPr/>
        </p:nvSpPr>
        <p:spPr>
          <a:xfrm>
            <a:off x="27458" y="1818330"/>
            <a:ext cx="36132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parameter(528 points)</a:t>
            </a:r>
            <a:endParaRPr lang="zh-TW" altLang="en-US" dirty="0"/>
          </a:p>
        </p:txBody>
      </p:sp>
      <p:sp>
        <p:nvSpPr>
          <p:cNvPr id="47" name="文字方塊 46">
            <a:extLst>
              <a:ext uri="{FF2B5EF4-FFF2-40B4-BE49-F238E27FC236}">
                <a16:creationId xmlns:a16="http://schemas.microsoft.com/office/drawing/2014/main" id="{C5B7ED82-92AC-4C16-A18D-D2B3CA5A27F5}"/>
              </a:ext>
            </a:extLst>
          </p:cNvPr>
          <p:cNvSpPr txBox="1"/>
          <p:nvPr/>
        </p:nvSpPr>
        <p:spPr>
          <a:xfrm>
            <a:off x="27458" y="3886867"/>
            <a:ext cx="4832409"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parameters(80 points)</a:t>
            </a:r>
            <a:endParaRPr lang="zh-TW" altLang="en-US" dirty="0"/>
          </a:p>
        </p:txBody>
      </p:sp>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F2D9CBB1-3EEA-4EB4-8FCC-FD3C5EFFA05F}"/>
                  </a:ext>
                </a:extLst>
              </p:cNvPr>
              <p:cNvSpPr txBox="1"/>
              <p:nvPr/>
            </p:nvSpPr>
            <p:spPr>
              <a:xfrm>
                <a:off x="154577" y="887936"/>
                <a:ext cx="7042090" cy="923330"/>
              </a:xfrm>
              <a:prstGeom prst="rect">
                <a:avLst/>
              </a:prstGeom>
              <a:noFill/>
            </p:spPr>
            <p:txBody>
              <a:bodyPr wrap="square" rtlCol="0">
                <a:spAutoFit/>
              </a:bodyPr>
              <a:lstStyle/>
              <a:p>
                <a:pPr marL="285750" indent="-285750">
                  <a:buFont typeface="Wingdings" panose="05000000000000000000" pitchFamily="2" charset="2"/>
                  <a:buChar char="Ø"/>
                </a:pP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en-US" altLang="zh-TW" b="0" dirty="0">
                  <a:ea typeface="Cambria Math" panose="02040503050406030204" pitchFamily="18" charset="0"/>
                </a:endParaRPr>
              </a:p>
              <a:p>
                <a:pPr marL="285750" indent="-285750">
                  <a:buFont typeface="Wingdings" panose="05000000000000000000" pitchFamily="2" charset="2"/>
                  <a:buChar char="Ø"/>
                </a:pPr>
                <a:r>
                  <a:rPr lang="en-US" altLang="zh-TW" dirty="0"/>
                  <a:t>Calibration results obtained using the interpolation points determined above.</a:t>
                </a:r>
                <a:endParaRPr lang="zh-TW" altLang="en-US" dirty="0"/>
              </a:p>
            </p:txBody>
          </p:sp>
        </mc:Choice>
        <mc:Fallback xmlns="">
          <p:sp>
            <p:nvSpPr>
              <p:cNvPr id="23" name="文字方塊 22">
                <a:extLst>
                  <a:ext uri="{FF2B5EF4-FFF2-40B4-BE49-F238E27FC236}">
                    <a16:creationId xmlns:a16="http://schemas.microsoft.com/office/drawing/2014/main" id="{F2D9CBB1-3EEA-4EB4-8FCC-FD3C5EFFA05F}"/>
                  </a:ext>
                </a:extLst>
              </p:cNvPr>
              <p:cNvSpPr txBox="1">
                <a:spLocks noRot="1" noChangeAspect="1" noMove="1" noResize="1" noEditPoints="1" noAdjustHandles="1" noChangeArrowheads="1" noChangeShapeType="1" noTextEdit="1"/>
              </p:cNvSpPr>
              <p:nvPr/>
            </p:nvSpPr>
            <p:spPr>
              <a:xfrm>
                <a:off x="154577" y="887936"/>
                <a:ext cx="7042090" cy="923330"/>
              </a:xfrm>
              <a:prstGeom prst="rect">
                <a:avLst/>
              </a:prstGeom>
              <a:blipFill>
                <a:blip r:embed="rId9"/>
                <a:stretch>
                  <a:fillRect l="-519" t="-1987" r="-865" b="-99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8" name="CalibR150_s_mat"/>
              <p:cNvSpPr txBox="1"/>
              <p:nvPr/>
            </p:nvSpPr>
            <p:spPr>
              <a:xfrm>
                <a:off x="386080" y="2187662"/>
                <a:ext cx="4389119"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−0.0843</m:t>
                                </m:r>
                              </m:e>
                              <m:e>
                                <m:r>
                                  <a:rPr lang="en-US" sz="1200" b="0" i="0">
                                    <a:latin typeface="Cambria Math" panose="02040503050406030204" pitchFamily="18" charset="0"/>
                                  </a:rPr>
                                  <m:t>−0.2135</m:t>
                                </m:r>
                              </m:e>
                              <m:e>
                                <m:r>
                                  <a:rPr lang="en-US" sz="1200" b="0" i="0">
                                    <a:latin typeface="Cambria Math" panose="02040503050406030204" pitchFamily="18" charset="0"/>
                                  </a:rPr>
                                  <m:t>−0.1559</m:t>
                                </m:r>
                              </m:e>
                              <m:e>
                                <m:r>
                                  <a:rPr lang="en-US" sz="1200" b="0" i="0">
                                    <a:latin typeface="Cambria Math" panose="02040503050406030204" pitchFamily="18" charset="0"/>
                                  </a:rPr>
                                  <m:t>−0.1564</m:t>
                                </m:r>
                              </m:e>
                              <m:e>
                                <m:r>
                                  <a:rPr lang="en-US" sz="1200" b="0" i="0">
                                    <a:latin typeface="Cambria Math" panose="02040503050406030204" pitchFamily="18" charset="0"/>
                                  </a:rPr>
                                  <m:t>−0.2138</m:t>
                                </m:r>
                              </m:e>
                            </m:mr>
                            <m:mr>
                              <m:e>
                                <m:r>
                                  <a:rPr lang="en-US" sz="1200" b="0" i="0">
                                    <a:latin typeface="Cambria Math" panose="02040503050406030204" pitchFamily="18" charset="0"/>
                                  </a:rPr>
                                  <m:t>−0.2397</m:t>
                                </m:r>
                              </m:e>
                              <m:e>
                                <m:r>
                                  <a:rPr lang="en-US" sz="1200" b="0" i="0">
                                    <a:latin typeface="Cambria Math" panose="02040503050406030204" pitchFamily="18" charset="0"/>
                                  </a:rPr>
                                  <m:t>0.9973</m:t>
                                </m:r>
                              </m:e>
                              <m:e>
                                <m:r>
                                  <a:rPr lang="en-US" sz="1200" b="0" i="0">
                                    <a:latin typeface="Cambria Math" panose="02040503050406030204" pitchFamily="18" charset="0"/>
                                  </a:rPr>
                                  <m:t>−0.2316</m:t>
                                </m:r>
                              </m:e>
                              <m:e>
                                <m:r>
                                  <a:rPr lang="en-US" sz="1200" b="0" i="0">
                                    <a:latin typeface="Cambria Math" panose="02040503050406030204" pitchFamily="18" charset="0"/>
                                  </a:rPr>
                                  <m:t>−0.1398</m:t>
                                </m:r>
                              </m:e>
                              <m:e>
                                <m:r>
                                  <a:rPr lang="en-US" sz="1200" b="0" i="0">
                                    <a:latin typeface="Cambria Math" panose="02040503050406030204" pitchFamily="18" charset="0"/>
                                  </a:rPr>
                                  <m:t>−0.1399</m:t>
                                </m:r>
                              </m:e>
                              <m:e>
                                <m:r>
                                  <a:rPr lang="en-US" sz="1200" b="0" i="0">
                                    <a:latin typeface="Cambria Math" panose="02040503050406030204" pitchFamily="18" charset="0"/>
                                  </a:rPr>
                                  <m:t>−0.2317</m:t>
                                </m:r>
                              </m:e>
                            </m:mr>
                            <m:mr>
                              <m:e>
                                <m:r>
                                  <a:rPr lang="en-US" sz="1200" b="0" i="0">
                                    <a:latin typeface="Cambria Math" panose="02040503050406030204" pitchFamily="18" charset="0"/>
                                  </a:rPr>
                                  <m:t>−0.2129</m:t>
                                </m:r>
                              </m:e>
                              <m:e>
                                <m:r>
                                  <a:rPr lang="en-US" sz="1200" b="0" i="0">
                                    <a:latin typeface="Cambria Math" panose="02040503050406030204" pitchFamily="18" charset="0"/>
                                  </a:rPr>
                                  <m:t>−0.1559</m:t>
                                </m:r>
                              </m:e>
                              <m:e>
                                <m:r>
                                  <a:rPr lang="en-US" sz="1200" b="0" i="0">
                                    <a:latin typeface="Cambria Math" panose="02040503050406030204" pitchFamily="18" charset="0"/>
                                  </a:rPr>
                                  <m:t>0.8360</m:t>
                                </m:r>
                              </m:e>
                              <m:e>
                                <m:r>
                                  <a:rPr lang="en-US" sz="1200" b="0" i="0">
                                    <a:latin typeface="Cambria Math" panose="02040503050406030204" pitchFamily="18" charset="0"/>
                                  </a:rPr>
                                  <m:t>−0.0866</m:t>
                                </m:r>
                              </m:e>
                              <m:e>
                                <m:r>
                                  <a:rPr lang="en-US" sz="1200" b="0" i="0">
                                    <a:latin typeface="Cambria Math" panose="02040503050406030204" pitchFamily="18" charset="0"/>
                                  </a:rPr>
                                  <m:t>−0.1568</m:t>
                                </m:r>
                              </m:e>
                              <m:e>
                                <m:r>
                                  <a:rPr lang="en-US" sz="1200" b="0" i="0">
                                    <a:latin typeface="Cambria Math" panose="02040503050406030204" pitchFamily="18" charset="0"/>
                                  </a:rPr>
                                  <m:t>−0.2138</m:t>
                                </m:r>
                              </m:e>
                            </m:mr>
                            <m:mr>
                              <m:e>
                                <m:r>
                                  <a:rPr lang="en-US" sz="1200" b="0" i="0">
                                    <a:latin typeface="Cambria Math" panose="02040503050406030204" pitchFamily="18" charset="0"/>
                                  </a:rPr>
                                  <m:t>−0.2301</m:t>
                                </m:r>
                              </m:e>
                              <m:e>
                                <m:r>
                                  <a:rPr lang="en-US" sz="1200" b="0" i="0">
                                    <a:latin typeface="Cambria Math" panose="02040503050406030204" pitchFamily="18" charset="0"/>
                                  </a:rPr>
                                  <m:t>−0.1389</m:t>
                                </m:r>
                              </m:e>
                              <m:e>
                                <m:r>
                                  <a:rPr lang="en-US" sz="1200" b="0" i="0">
                                    <a:latin typeface="Cambria Math" panose="02040503050406030204" pitchFamily="18" charset="0"/>
                                  </a:rPr>
                                  <m:t>−0.2388</m:t>
                                </m:r>
                              </m:e>
                              <m:e>
                                <m:r>
                                  <a:rPr lang="en-US" sz="1200" b="0" i="0">
                                    <a:latin typeface="Cambria Math" panose="02040503050406030204" pitchFamily="18" charset="0"/>
                                  </a:rPr>
                                  <m:t>0.9918</m:t>
                                </m:r>
                              </m:e>
                              <m:e>
                                <m:r>
                                  <a:rPr lang="en-US" sz="1200" b="0" i="0">
                                    <a:latin typeface="Cambria Math" panose="02040503050406030204" pitchFamily="18" charset="0"/>
                                  </a:rPr>
                                  <m:t>−0.1392</m:t>
                                </m:r>
                              </m:e>
                              <m:e>
                                <m:r>
                                  <a:rPr lang="en-US" sz="1200" b="0" i="0">
                                    <a:latin typeface="Cambria Math" panose="02040503050406030204" pitchFamily="18" charset="0"/>
                                  </a:rPr>
                                  <m:t>−0.2308</m:t>
                                </m:r>
                              </m:e>
                            </m:mr>
                            <m:mr>
                              <m:e>
                                <m:r>
                                  <a:rPr lang="en-US" sz="1200" b="0" i="0">
                                    <a:latin typeface="Cambria Math" panose="02040503050406030204" pitchFamily="18" charset="0"/>
                                  </a:rPr>
                                  <m:t>−0.2308</m:t>
                                </m:r>
                              </m:e>
                              <m:e>
                                <m:r>
                                  <a:rPr lang="en-US" sz="1200" b="0" i="0">
                                    <a:latin typeface="Cambria Math" panose="02040503050406030204" pitchFamily="18" charset="0"/>
                                  </a:rPr>
                                  <m:t>−0.1391</m:t>
                                </m:r>
                              </m:e>
                              <m:e>
                                <m:r>
                                  <a:rPr lang="en-US" sz="1200" b="0" i="0">
                                    <a:latin typeface="Cambria Math" panose="02040503050406030204" pitchFamily="18" charset="0"/>
                                  </a:rPr>
                                  <m:t>−0.2313</m:t>
                                </m:r>
                              </m:e>
                              <m:e>
                                <m:r>
                                  <a:rPr lang="en-US" sz="1200" b="0" i="0">
                                    <a:latin typeface="Cambria Math" panose="02040503050406030204" pitchFamily="18" charset="0"/>
                                  </a:rPr>
                                  <m:t>−0.1399</m:t>
                                </m:r>
                              </m:e>
                              <m:e>
                                <m:r>
                                  <a:rPr lang="en-US" sz="1200" b="0" i="0">
                                    <a:latin typeface="Cambria Math" panose="02040503050406030204" pitchFamily="18" charset="0"/>
                                  </a:rPr>
                                  <m:t>0.9964</m:t>
                                </m:r>
                              </m:e>
                              <m:e>
                                <m:r>
                                  <a:rPr lang="en-US" sz="1200" b="0" i="0">
                                    <a:latin typeface="Cambria Math" panose="02040503050406030204" pitchFamily="18" charset="0"/>
                                  </a:rPr>
                                  <m:t>−0.2403</m:t>
                                </m:r>
                              </m:e>
                            </m:mr>
                            <m:mr>
                              <m:e>
                                <m:r>
                                  <a:rPr lang="en-US" sz="1200" b="0" i="0">
                                    <a:latin typeface="Cambria Math" panose="02040503050406030204" pitchFamily="18" charset="0"/>
                                  </a:rPr>
                                  <m:t>−0.2129</m:t>
                                </m:r>
                              </m:e>
                              <m:e>
                                <m:r>
                                  <a:rPr lang="en-US" sz="1200" b="0" i="0">
                                    <a:latin typeface="Cambria Math" panose="02040503050406030204" pitchFamily="18" charset="0"/>
                                  </a:rPr>
                                  <m:t>−0.1556</m:t>
                                </m:r>
                              </m:e>
                              <m:e>
                                <m:r>
                                  <a:rPr lang="en-US" sz="1200" b="0" i="0">
                                    <a:latin typeface="Cambria Math" panose="02040503050406030204" pitchFamily="18" charset="0"/>
                                  </a:rPr>
                                  <m:t>−0.2129</m:t>
                                </m:r>
                              </m:e>
                              <m:e>
                                <m:r>
                                  <a:rPr lang="en-US" sz="1200" b="0" i="0">
                                    <a:latin typeface="Cambria Math" panose="02040503050406030204" pitchFamily="18" charset="0"/>
                                  </a:rPr>
                                  <m:t>−0.1560</m:t>
                                </m:r>
                              </m:e>
                              <m:e>
                                <m:r>
                                  <a:rPr lang="en-US" sz="1200" b="0" i="0">
                                    <a:latin typeface="Cambria Math" panose="02040503050406030204" pitchFamily="18" charset="0"/>
                                  </a:rPr>
                                  <m:t>−0.0857</m:t>
                                </m:r>
                              </m:e>
                              <m:e>
                                <m:r>
                                  <a:rPr lang="en-US" sz="1200" b="0" i="0">
                                    <a:latin typeface="Cambria Math" panose="02040503050406030204" pitchFamily="18" charset="0"/>
                                  </a:rPr>
                                  <m:t>0.8329</m:t>
                                </m:r>
                              </m:e>
                            </m:mr>
                          </m:m>
                        </m:e>
                      </m:d>
                      <m:r>
                        <a:rPr lang="en-US" sz="1200" b="0" i="0">
                          <a:latin typeface="Cambria Math" panose="02040503050406030204" pitchFamily="18" charset="0"/>
                        </a:rPr>
                        <m:t> </m:t>
                      </m:r>
                    </m:oMath>
                  </m:oMathPara>
                </a14:m>
                <a:endParaRPr lang="en-US" sz="1100" dirty="0"/>
              </a:p>
            </p:txBody>
          </p:sp>
        </mc:Choice>
        <mc:Fallback xmlns="">
          <p:sp>
            <p:nvSpPr>
              <p:cNvPr id="48" name="CalibR150_s_mat"/>
              <p:cNvSpPr txBox="1">
                <a:spLocks noRot="1" noChangeAspect="1" noMove="1" noResize="1" noEditPoints="1" noAdjustHandles="1" noChangeArrowheads="1" noChangeShapeType="1" noTextEdit="1"/>
              </p:cNvSpPr>
              <p:nvPr/>
            </p:nvSpPr>
            <p:spPr>
              <a:xfrm>
                <a:off x="386080" y="2187662"/>
                <a:ext cx="4389119" cy="1115568"/>
              </a:xfrm>
              <a:prstGeom prst="rect">
                <a:avLst/>
              </a:prstGeom>
              <a:blipFill>
                <a:blip r:embed="rId10"/>
                <a:stretch>
                  <a:fillRect l="-5417" r="-1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CalibR150_s_sc"/>
              <p:cNvSpPr txBox="1"/>
              <p:nvPr/>
            </p:nvSpPr>
            <p:spPr>
              <a:xfrm>
                <a:off x="182880" y="3419856"/>
                <a:ext cx="3457787"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875.1 </m:t>
                      </m:r>
                      <m:r>
                        <a:rPr lang="en-US" sz="1400" b="0" i="1">
                          <a:latin typeface="Cambria Math" panose="02040503050406030204" pitchFamily="18" charset="0"/>
                        </a:rPr>
                        <m:t>𝜇</m:t>
                      </m:r>
                      <m:r>
                        <a:rPr lang="en-US" sz="1400" b="0" i="1">
                          <a:latin typeface="Cambria Math" panose="02040503050406030204" pitchFamily="18" charset="0"/>
                        </a:rPr>
                        <m:t>𝑚</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9.4451 </m:t>
                      </m:r>
                      <m:r>
                        <a:rPr lang="en-US" sz="1400" b="0" i="1">
                          <a:latin typeface="Cambria Math" panose="02040503050406030204" pitchFamily="18" charset="0"/>
                        </a:rPr>
                        <m:t>𝑚𝑇</m:t>
                      </m:r>
                      <m:r>
                        <a:rPr lang="en-US" sz="1400" b="0" i="1">
                          <a:latin typeface="Cambria Math" panose="02040503050406030204" pitchFamily="18" charset="0"/>
                        </a:rPr>
                        <m:t>/</m:t>
                      </m:r>
                      <m:r>
                        <a:rPr lang="en-US" sz="1400" b="0" i="1">
                          <a:latin typeface="Cambria Math" panose="02040503050406030204" pitchFamily="18" charset="0"/>
                        </a:rPr>
                        <m:t>𝐴</m:t>
                      </m:r>
                    </m:oMath>
                  </m:oMathPara>
                </a14:m>
                <a:endParaRPr lang="en-US" sz="1400" i="1" dirty="0"/>
              </a:p>
            </p:txBody>
          </p:sp>
        </mc:Choice>
        <mc:Fallback xmlns="">
          <p:sp>
            <p:nvSpPr>
              <p:cNvPr id="49" name="CalibR150_s_sc"/>
              <p:cNvSpPr txBox="1">
                <a:spLocks noRot="1" noChangeAspect="1" noMove="1" noResize="1" noEditPoints="1" noAdjustHandles="1" noChangeArrowheads="1" noChangeShapeType="1" noTextEdit="1"/>
              </p:cNvSpPr>
              <p:nvPr/>
            </p:nvSpPr>
            <p:spPr>
              <a:xfrm>
                <a:off x="182880" y="3419856"/>
                <a:ext cx="3457787" cy="310896"/>
              </a:xfrm>
              <a:prstGeom prst="rect">
                <a:avLst/>
              </a:prstGeom>
              <a:blipFill>
                <a:blip r:embed="rId11"/>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CalibR150_e_mat"/>
              <p:cNvSpPr txBox="1"/>
              <p:nvPr/>
            </p:nvSpPr>
            <p:spPr>
              <a:xfrm>
                <a:off x="335280" y="4302514"/>
                <a:ext cx="4524587" cy="111556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sSub>
                        <m:sSubPr>
                          <m:ctrlPr>
                            <a:rPr lang="en-US" sz="1200" b="0" i="1">
                              <a:latin typeface="Cambria Math" panose="02040503050406030204" pitchFamily="18" charset="0"/>
                            </a:rPr>
                          </m:ctrlPr>
                        </m:sSubPr>
                        <m:e>
                          <m:acc>
                            <m:accPr>
                              <m:chr m:val="̄"/>
                              <m:ctrlPr>
                                <a:rPr lang="en-US" sz="1200" b="0" i="1">
                                  <a:latin typeface="Cambria Math" panose="02040503050406030204" pitchFamily="18" charset="0"/>
                                </a:rPr>
                              </m:ctrlPr>
                            </m:accPr>
                            <m:e>
                              <m:r>
                                <a:rPr lang="en-US" sz="1200" b="0" i="1">
                                  <a:latin typeface="Cambria Math" panose="02040503050406030204" pitchFamily="18" charset="0"/>
                                </a:rPr>
                                <m:t>𝐾</m:t>
                              </m:r>
                            </m:e>
                          </m:acc>
                        </m:e>
                        <m:sub>
                          <m:r>
                            <a:rPr lang="en-US" sz="1200" b="0" i="1">
                              <a:latin typeface="Cambria Math" panose="02040503050406030204" pitchFamily="18" charset="0"/>
                            </a:rPr>
                            <m:t>𝐼</m:t>
                          </m:r>
                        </m:sub>
                      </m:sSub>
                      <m:r>
                        <a:rPr lang="en-US" sz="1200" b="0" i="0">
                          <a:latin typeface="Cambria Math" panose="02040503050406030204" pitchFamily="18" charset="0"/>
                        </a:rPr>
                        <m:t> =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0.8333</m:t>
                                </m:r>
                              </m:e>
                              <m:e>
                                <m:r>
                                  <a:rPr lang="en-US" sz="1200" b="0" i="0">
                                    <a:latin typeface="Cambria Math" panose="02040503050406030204" pitchFamily="18" charset="0"/>
                                  </a:rPr>
                                  <m:t>−0.1373</m:t>
                                </m:r>
                              </m:e>
                              <m:e>
                                <m:r>
                                  <a:rPr lang="en-US" sz="1200" b="0" i="0">
                                    <a:latin typeface="Cambria Math" panose="02040503050406030204" pitchFamily="18" charset="0"/>
                                  </a:rPr>
                                  <m:t>−0.1282</m:t>
                                </m:r>
                              </m:e>
                              <m:e>
                                <m:r>
                                  <a:rPr lang="en-US" sz="1200" b="0" i="0">
                                    <a:latin typeface="Cambria Math" panose="02040503050406030204" pitchFamily="18" charset="0"/>
                                  </a:rPr>
                                  <m:t>−0.1926</m:t>
                                </m:r>
                              </m:e>
                              <m:e>
                                <m:r>
                                  <a:rPr lang="en-US" sz="1200" b="0" i="0">
                                    <a:latin typeface="Cambria Math" panose="02040503050406030204" pitchFamily="18" charset="0"/>
                                  </a:rPr>
                                  <m:t>−0.1934</m:t>
                                </m:r>
                              </m:e>
                              <m:e>
                                <m:r>
                                  <a:rPr lang="en-US" sz="1200" b="0" i="0">
                                    <a:latin typeface="Cambria Math" panose="02040503050406030204" pitchFamily="18" charset="0"/>
                                  </a:rPr>
                                  <m:t>−0.1285</m:t>
                                </m:r>
                              </m:e>
                            </m:mr>
                            <m:mr>
                              <m:e>
                                <m:r>
                                  <a:rPr lang="en-US" sz="1200" b="0" i="0">
                                    <a:latin typeface="Cambria Math" panose="02040503050406030204" pitchFamily="18" charset="0"/>
                                  </a:rPr>
                                  <m:t>−0.1391</m:t>
                                </m:r>
                              </m:e>
                              <m:e>
                                <m:r>
                                  <a:rPr lang="en-US" sz="1200" b="0" i="0">
                                    <a:latin typeface="Cambria Math" panose="02040503050406030204" pitchFamily="18" charset="0"/>
                                  </a:rPr>
                                  <m:t>0.8299</m:t>
                                </m:r>
                              </m:e>
                              <m:e>
                                <m:r>
                                  <a:rPr lang="en-US" sz="1200" b="0" i="0">
                                    <a:latin typeface="Cambria Math" panose="02040503050406030204" pitchFamily="18" charset="0"/>
                                  </a:rPr>
                                  <m:t>−0.2024</m:t>
                                </m:r>
                              </m:e>
                              <m:e>
                                <m:r>
                                  <a:rPr lang="en-US" sz="1200" b="0" i="0">
                                    <a:latin typeface="Cambria Math" panose="02040503050406030204" pitchFamily="18" charset="0"/>
                                  </a:rPr>
                                  <m:t>−0.1220</m:t>
                                </m:r>
                              </m:e>
                              <m:e>
                                <m:r>
                                  <a:rPr lang="en-US" sz="1200" b="0" i="0">
                                    <a:latin typeface="Cambria Math" panose="02040503050406030204" pitchFamily="18" charset="0"/>
                                  </a:rPr>
                                  <m:t>−0.1226</m:t>
                                </m:r>
                              </m:e>
                              <m:e>
                                <m:r>
                                  <a:rPr lang="en-US" sz="1200" b="0" i="0">
                                    <a:latin typeface="Cambria Math" panose="02040503050406030204" pitchFamily="18" charset="0"/>
                                  </a:rPr>
                                  <m:t>−0.2030</m:t>
                                </m:r>
                              </m:e>
                            </m:mr>
                            <m:mr>
                              <m:e>
                                <m:r>
                                  <a:rPr lang="en-US" sz="1200" b="0" i="0">
                                    <a:latin typeface="Cambria Math" panose="02040503050406030204" pitchFamily="18" charset="0"/>
                                  </a:rPr>
                                  <m:t>−0.1291</m:t>
                                </m:r>
                              </m:e>
                              <m:e>
                                <m:r>
                                  <a:rPr lang="en-US" sz="1200" b="0" i="0">
                                    <a:latin typeface="Cambria Math" panose="02040503050406030204" pitchFamily="18" charset="0"/>
                                  </a:rPr>
                                  <m:t>−0.1924</m:t>
                                </m:r>
                              </m:e>
                              <m:e>
                                <m:r>
                                  <a:rPr lang="en-US" sz="1200" b="0" i="0">
                                    <a:latin typeface="Cambria Math" panose="02040503050406030204" pitchFamily="18" charset="0"/>
                                  </a:rPr>
                                  <m:t>0.8335</m:t>
                                </m:r>
                              </m:e>
                              <m:e>
                                <m:r>
                                  <a:rPr lang="en-US" sz="1200" b="0" i="0">
                                    <a:latin typeface="Cambria Math" panose="02040503050406030204" pitchFamily="18" charset="0"/>
                                  </a:rPr>
                                  <m:t>−0.1365</m:t>
                                </m:r>
                              </m:e>
                              <m:e>
                                <m:r>
                                  <a:rPr lang="en-US" sz="1200" b="0" i="0">
                                    <a:latin typeface="Cambria Math" panose="02040503050406030204" pitchFamily="18" charset="0"/>
                                  </a:rPr>
                                  <m:t>−0.1932</m:t>
                                </m:r>
                              </m:e>
                              <m:e>
                                <m:r>
                                  <a:rPr lang="en-US" sz="1200" b="0" i="0">
                                    <a:latin typeface="Cambria Math" panose="02040503050406030204" pitchFamily="18" charset="0"/>
                                  </a:rPr>
                                  <m:t>−0.1284</m:t>
                                </m:r>
                              </m:e>
                            </m:mr>
                            <m:mr>
                              <m:e>
                                <m:r>
                                  <a:rPr lang="en-US" sz="1200" b="0" i="0">
                                    <a:latin typeface="Cambria Math" panose="02040503050406030204" pitchFamily="18" charset="0"/>
                                  </a:rPr>
                                  <m:t>−0.2048</m:t>
                                </m:r>
                              </m:e>
                              <m:e>
                                <m:r>
                                  <a:rPr lang="en-US" sz="1200" b="0" i="0">
                                    <a:latin typeface="Cambria Math" panose="02040503050406030204" pitchFamily="18" charset="0"/>
                                  </a:rPr>
                                  <m:t>−0.1224</m:t>
                                </m:r>
                              </m:e>
                              <m:e>
                                <m:r>
                                  <a:rPr lang="en-US" sz="1200" b="0" i="0">
                                    <a:latin typeface="Cambria Math" panose="02040503050406030204" pitchFamily="18" charset="0"/>
                                  </a:rPr>
                                  <m:t>−0.1387</m:t>
                                </m:r>
                              </m:e>
                              <m:e>
                                <m:r>
                                  <a:rPr lang="en-US" sz="1200" b="0" i="0">
                                    <a:latin typeface="Cambria Math" panose="02040503050406030204" pitchFamily="18" charset="0"/>
                                  </a:rPr>
                                  <m:t>0.8342</m:t>
                                </m:r>
                              </m:e>
                              <m:e>
                                <m:r>
                                  <a:rPr lang="en-US" sz="1200" b="0" i="0">
                                    <a:latin typeface="Cambria Math" panose="02040503050406030204" pitchFamily="18" charset="0"/>
                                  </a:rPr>
                                  <m:t>−0.1232</m:t>
                                </m:r>
                              </m:e>
                              <m:e>
                                <m:r>
                                  <a:rPr lang="en-US" sz="1200" b="0" i="0">
                                    <a:latin typeface="Cambria Math" panose="02040503050406030204" pitchFamily="18" charset="0"/>
                                  </a:rPr>
                                  <m:t>−0.2044</m:t>
                                </m:r>
                              </m:e>
                            </m:mr>
                            <m:mr>
                              <m:e>
                                <m:r>
                                  <a:rPr lang="en-US" sz="1200" b="0" i="0">
                                    <a:latin typeface="Cambria Math" panose="02040503050406030204" pitchFamily="18" charset="0"/>
                                  </a:rPr>
                                  <m:t>−0.2043</m:t>
                                </m:r>
                              </m:e>
                              <m:e>
                                <m:r>
                                  <a:rPr lang="en-US" sz="1200" b="0" i="0">
                                    <a:latin typeface="Cambria Math" panose="02040503050406030204" pitchFamily="18" charset="0"/>
                                  </a:rPr>
                                  <m:t>−0.1222</m:t>
                                </m:r>
                              </m:e>
                              <m:e>
                                <m:r>
                                  <a:rPr lang="en-US" sz="1200" b="0" i="0">
                                    <a:latin typeface="Cambria Math" panose="02040503050406030204" pitchFamily="18" charset="0"/>
                                  </a:rPr>
                                  <m:t>−0.2028</m:t>
                                </m:r>
                              </m:e>
                              <m:e>
                                <m:r>
                                  <a:rPr lang="en-US" sz="1200" b="0" i="0">
                                    <a:latin typeface="Cambria Math" panose="02040503050406030204" pitchFamily="18" charset="0"/>
                                  </a:rPr>
                                  <m:t>−0.1227</m:t>
                                </m:r>
                              </m:e>
                              <m:e>
                                <m:r>
                                  <a:rPr lang="en-US" sz="1200" b="0" i="0">
                                    <a:latin typeface="Cambria Math" panose="02040503050406030204" pitchFamily="18" charset="0"/>
                                  </a:rPr>
                                  <m:t>0.8325</m:t>
                                </m:r>
                              </m:e>
                              <m:e>
                                <m:r>
                                  <a:rPr lang="en-US" sz="1200" b="0" i="0">
                                    <a:latin typeface="Cambria Math" panose="02040503050406030204" pitchFamily="18" charset="0"/>
                                  </a:rPr>
                                  <m:t>−0.1385</m:t>
                                </m:r>
                              </m:e>
                            </m:mr>
                            <m:mr>
                              <m:e>
                                <m:r>
                                  <a:rPr lang="en-US" sz="1200" b="0" i="0">
                                    <a:latin typeface="Cambria Math" panose="02040503050406030204" pitchFamily="18" charset="0"/>
                                  </a:rPr>
                                  <m:t>−0.1295</m:t>
                                </m:r>
                              </m:e>
                              <m:e>
                                <m:r>
                                  <a:rPr lang="en-US" sz="1200" b="0" i="0">
                                    <a:latin typeface="Cambria Math" panose="02040503050406030204" pitchFamily="18" charset="0"/>
                                  </a:rPr>
                                  <m:t>−0.1936</m:t>
                                </m:r>
                              </m:e>
                              <m:e>
                                <m:r>
                                  <a:rPr lang="en-US" sz="1200" b="0" i="0">
                                    <a:latin typeface="Cambria Math" panose="02040503050406030204" pitchFamily="18" charset="0"/>
                                  </a:rPr>
                                  <m:t>−0.1283</m:t>
                                </m:r>
                              </m:e>
                              <m:e>
                                <m:r>
                                  <a:rPr lang="en-US" sz="1200" b="0" i="0">
                                    <a:latin typeface="Cambria Math" panose="02040503050406030204" pitchFamily="18" charset="0"/>
                                  </a:rPr>
                                  <m:t>−0.1937</m:t>
                                </m:r>
                              </m:e>
                              <m:e>
                                <m:r>
                                  <a:rPr lang="en-US" sz="1200" b="0" i="0">
                                    <a:latin typeface="Cambria Math" panose="02040503050406030204" pitchFamily="18" charset="0"/>
                                  </a:rPr>
                                  <m:t>−0.1384</m:t>
                                </m:r>
                              </m:e>
                              <m:e>
                                <m:r>
                                  <a:rPr lang="en-US" sz="1200" b="0" i="0">
                                    <a:latin typeface="Cambria Math" panose="02040503050406030204" pitchFamily="18" charset="0"/>
                                  </a:rPr>
                                  <m:t>0.8376</m:t>
                                </m:r>
                              </m:e>
                            </m:mr>
                          </m:m>
                        </m:e>
                      </m:d>
                      <m:r>
                        <a:rPr lang="en-US" sz="1200" b="0" i="0">
                          <a:latin typeface="Cambria Math" panose="02040503050406030204" pitchFamily="18" charset="0"/>
                        </a:rPr>
                        <m:t> </m:t>
                      </m:r>
                    </m:oMath>
                  </m:oMathPara>
                </a14:m>
                <a:endParaRPr lang="en-US" sz="1100" dirty="0"/>
              </a:p>
            </p:txBody>
          </p:sp>
        </mc:Choice>
        <mc:Fallback xmlns="">
          <p:sp>
            <p:nvSpPr>
              <p:cNvPr id="50" name="CalibR150_e_mat"/>
              <p:cNvSpPr txBox="1">
                <a:spLocks noRot="1" noChangeAspect="1" noMove="1" noResize="1" noEditPoints="1" noAdjustHandles="1" noChangeArrowheads="1" noChangeShapeType="1" noTextEdit="1"/>
              </p:cNvSpPr>
              <p:nvPr/>
            </p:nvSpPr>
            <p:spPr>
              <a:xfrm>
                <a:off x="335280" y="4302514"/>
                <a:ext cx="4524587" cy="1115568"/>
              </a:xfrm>
              <a:prstGeom prst="rect">
                <a:avLst/>
              </a:prstGeom>
              <a:blipFill>
                <a:blip r:embed="rId12"/>
                <a:stretch>
                  <a:fillRect l="-37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CalibR150_e_bias"/>
              <p:cNvSpPr txBox="1"/>
              <p:nvPr/>
            </p:nvSpPr>
            <p:spPr>
              <a:xfrm>
                <a:off x="4775199" y="5584438"/>
                <a:ext cx="5235787" cy="566928"/>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1200" b="0" i="1" smtClean="0">
                              <a:latin typeface="Cambria Math" panose="02040503050406030204" pitchFamily="18" charset="0"/>
                            </a:rPr>
                          </m:ctrlPr>
                        </m:accPr>
                        <m:e>
                          <m:r>
                            <a:rPr lang="en-US" altLang="zh-TW" sz="1200" b="0" i="1" smtClean="0">
                              <a:latin typeface="Cambria Math" panose="02040503050406030204" pitchFamily="18" charset="0"/>
                            </a:rPr>
                            <m:t>𝑒</m:t>
                          </m:r>
                        </m:e>
                      </m:acc>
                      <m:r>
                        <a:rPr lang="en-US" sz="1200" b="0" i="0">
                          <a:latin typeface="Cambria Math" panose="02040503050406030204" pitchFamily="18" charset="0"/>
                        </a:rPr>
                        <m:t>= </m:t>
                      </m:r>
                      <m:d>
                        <m:dPr>
                          <m:begChr m:val="["/>
                          <m:endChr m:val="]"/>
                          <m:ctrlPr>
                            <a:rPr lang="en-US" sz="1200" b="0" i="1">
                              <a:latin typeface="Cambria Math" panose="02040503050406030204" pitchFamily="18" charset="0"/>
                            </a:rPr>
                          </m:ctrlPr>
                        </m:dPr>
                        <m:e>
                          <m:m>
                            <m:mPr>
                              <m:mcs>
                                <m:mc>
                                  <m:mcPr>
                                    <m:count m:val="6"/>
                                    <m:mcJc m:val="center"/>
                                  </m:mcPr>
                                </m:mc>
                              </m:mcs>
                              <m:ctrlPr>
                                <a:rPr lang="en-US" sz="1200" b="0" i="1">
                                  <a:latin typeface="Cambria Math" panose="02040503050406030204" pitchFamily="18" charset="0"/>
                                </a:rPr>
                              </m:ctrlPr>
                            </m:mPr>
                            <m:mr>
                              <m:e>
                                <m:r>
                                  <a:rPr lang="en-US" sz="1200" b="0" i="0">
                                    <a:latin typeface="Cambria Math" panose="02040503050406030204" pitchFamily="18" charset="0"/>
                                  </a:rPr>
                                  <m:t>0.0185</m:t>
                                </m:r>
                              </m:e>
                              <m:e>
                                <m:r>
                                  <a:rPr lang="en-US" sz="1200" b="0" i="0">
                                    <a:latin typeface="Cambria Math" panose="02040503050406030204" pitchFamily="18" charset="0"/>
                                  </a:rPr>
                                  <m:t>0.0203</m:t>
                                </m:r>
                              </m:e>
                              <m:e>
                                <m:r>
                                  <a:rPr lang="en-US" sz="1200" b="0" i="0">
                                    <a:latin typeface="Cambria Math" panose="02040503050406030204" pitchFamily="18" charset="0"/>
                                  </a:rPr>
                                  <m:t>−0.1173</m:t>
                                </m:r>
                              </m:e>
                              <m:e>
                                <m:r>
                                  <a:rPr lang="en-US" sz="1200" b="0" i="0">
                                    <a:latin typeface="Cambria Math" panose="02040503050406030204" pitchFamily="18" charset="0"/>
                                  </a:rPr>
                                  <m:t>0.0024</m:t>
                                </m:r>
                              </m:e>
                              <m:e>
                                <m:r>
                                  <a:rPr lang="en-US" sz="1200" b="0" i="0">
                                    <a:latin typeface="Cambria Math" panose="02040503050406030204" pitchFamily="18" charset="0"/>
                                  </a:rPr>
                                  <m:t>0.0018</m:t>
                                </m:r>
                              </m:e>
                              <m:e>
                                <m:r>
                                  <a:rPr lang="en-US" sz="1200" b="0" i="0">
                                    <a:latin typeface="Cambria Math" panose="02040503050406030204" pitchFamily="18" charset="0"/>
                                  </a:rPr>
                                  <m:t>−0.1186</m:t>
                                </m:r>
                              </m:e>
                            </m:mr>
                            <m:mr>
                              <m:e>
                                <m:r>
                                  <a:rPr lang="en-US" sz="1200" b="0" i="0">
                                    <a:latin typeface="Cambria Math" panose="02040503050406030204" pitchFamily="18" charset="0"/>
                                  </a:rPr>
                                  <m:t>−0.1183</m:t>
                                </m:r>
                              </m:e>
                              <m:e>
                                <m:r>
                                  <a:rPr lang="en-US" sz="1200" b="0" i="0">
                                    <a:latin typeface="Cambria Math" panose="02040503050406030204" pitchFamily="18" charset="0"/>
                                  </a:rPr>
                                  <m:t>0.0026</m:t>
                                </m:r>
                              </m:e>
                              <m:e>
                                <m:r>
                                  <a:rPr lang="en-US" sz="1200" b="0" i="0">
                                    <a:latin typeface="Cambria Math" panose="02040503050406030204" pitchFamily="18" charset="0"/>
                                  </a:rPr>
                                  <m:t>0.0168</m:t>
                                </m:r>
                              </m:e>
                              <m:e>
                                <m:r>
                                  <a:rPr lang="en-US" sz="1200" b="0" i="0">
                                    <a:latin typeface="Cambria Math" panose="02040503050406030204" pitchFamily="18" charset="0"/>
                                  </a:rPr>
                                  <m:t>0.0163</m:t>
                                </m:r>
                              </m:e>
                              <m:e>
                                <m:r>
                                  <a:rPr lang="en-US" sz="1200" b="0" i="0">
                                    <a:latin typeface="Cambria Math" panose="02040503050406030204" pitchFamily="18" charset="0"/>
                                  </a:rPr>
                                  <m:t>0.0019</m:t>
                                </m:r>
                              </m:e>
                              <m:e>
                                <m:r>
                                  <a:rPr lang="en-US" sz="1200" b="0" i="0">
                                    <a:latin typeface="Cambria Math" panose="02040503050406030204" pitchFamily="18" charset="0"/>
                                  </a:rPr>
                                  <m:t>−0.1185</m:t>
                                </m:r>
                              </m:e>
                            </m:mr>
                            <m:mr>
                              <m:e>
                                <m:r>
                                  <a:rPr lang="en-US" sz="1200" b="0" i="0">
                                    <a:latin typeface="Cambria Math" panose="02040503050406030204" pitchFamily="18" charset="0"/>
                                  </a:rPr>
                                  <m:t>0.1182</m:t>
                                </m:r>
                              </m:e>
                              <m:e>
                                <m:r>
                                  <a:rPr lang="en-US" sz="1200" b="0" i="0">
                                    <a:latin typeface="Cambria Math" panose="02040503050406030204" pitchFamily="18" charset="0"/>
                                  </a:rPr>
                                  <m:t>−0.0029</m:t>
                                </m:r>
                              </m:e>
                              <m:e>
                                <m:r>
                                  <a:rPr lang="en-US" sz="1200" b="0" i="0">
                                    <a:latin typeface="Cambria Math" panose="02040503050406030204" pitchFamily="18" charset="0"/>
                                  </a:rPr>
                                  <m:t>0.1166</m:t>
                                </m:r>
                              </m:e>
                              <m:e>
                                <m:r>
                                  <a:rPr lang="en-US" sz="1200" b="0" i="0">
                                    <a:latin typeface="Cambria Math" panose="02040503050406030204" pitchFamily="18" charset="0"/>
                                  </a:rPr>
                                  <m:t>−0.0029</m:t>
                                </m:r>
                              </m:e>
                              <m:e>
                                <m:r>
                                  <a:rPr lang="en-US" sz="1200" b="0" i="0">
                                    <a:latin typeface="Cambria Math" panose="02040503050406030204" pitchFamily="18" charset="0"/>
                                  </a:rPr>
                                  <m:t>−0.0186</m:t>
                                </m:r>
                              </m:e>
                              <m:e>
                                <m:r>
                                  <a:rPr lang="en-US" sz="1200" b="0" i="0">
                                    <a:latin typeface="Cambria Math" panose="02040503050406030204" pitchFamily="18" charset="0"/>
                                  </a:rPr>
                                  <m:t>−0.0199</m:t>
                                </m:r>
                              </m:e>
                            </m:mr>
                          </m:m>
                        </m:e>
                      </m:d>
                    </m:oMath>
                  </m:oMathPara>
                </a14:m>
                <a:endParaRPr lang="en-US" sz="1100" dirty="0"/>
              </a:p>
            </p:txBody>
          </p:sp>
        </mc:Choice>
        <mc:Fallback xmlns="">
          <p:sp>
            <p:nvSpPr>
              <p:cNvPr id="51" name="CalibR150_e_bias"/>
              <p:cNvSpPr txBox="1">
                <a:spLocks noRot="1" noChangeAspect="1" noMove="1" noResize="1" noEditPoints="1" noAdjustHandles="1" noChangeArrowheads="1" noChangeShapeType="1" noTextEdit="1"/>
              </p:cNvSpPr>
              <p:nvPr/>
            </p:nvSpPr>
            <p:spPr>
              <a:xfrm>
                <a:off x="4775199" y="5584438"/>
                <a:ext cx="5235787" cy="566928"/>
              </a:xfrm>
              <a:prstGeom prst="rect">
                <a:avLst/>
              </a:prstGeom>
              <a:blipFill>
                <a:blip r:embed="rId13"/>
                <a:stretch>
                  <a:fillRect t="-215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CalibR150_e_sc"/>
              <p:cNvSpPr txBox="1"/>
              <p:nvPr/>
            </p:nvSpPr>
            <p:spPr>
              <a:xfrm>
                <a:off x="154577" y="5713137"/>
                <a:ext cx="3847253" cy="310896"/>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400" b="0" i="1">
                              <a:latin typeface="Cambria Math" panose="02040503050406030204" pitchFamily="18" charset="0"/>
                            </a:rPr>
                          </m:ctrlPr>
                        </m:accPr>
                        <m:e>
                          <m:r>
                            <a:rPr lang="en-US" sz="1400" b="0" i="1">
                              <a:latin typeface="Cambria Math" panose="02040503050406030204" pitchFamily="18" charset="0"/>
                            </a:rPr>
                            <m:t>ℓ</m:t>
                          </m:r>
                        </m:e>
                      </m:acc>
                      <m:r>
                        <a:rPr lang="en-US" sz="1400" b="0" i="0">
                          <a:latin typeface="Cambria Math" panose="02040503050406030204" pitchFamily="18" charset="0"/>
                        </a:rPr>
                        <m:t> = 873.0 </m:t>
                      </m:r>
                      <m:r>
                        <m:rPr>
                          <m:sty m:val="p"/>
                        </m:rPr>
                        <a:rPr lang="en-US" sz="1400" b="0" i="0">
                          <a:latin typeface="Cambria Math" panose="02040503050406030204" pitchFamily="18" charset="0"/>
                        </a:rPr>
                        <m:t>μm</m:t>
                      </m:r>
                      <m:r>
                        <a:rPr lang="en-US" sz="1400" b="0" i="0">
                          <a:latin typeface="Cambria Math" panose="02040503050406030204" pitchFamily="18" charset="0"/>
                        </a:rPr>
                        <m:t>  </m:t>
                      </m:r>
                      <m:sPre>
                        <m:sPrePr>
                          <m:ctrlPr>
                            <a:rPr lang="en-US" sz="1400" b="0" i="1">
                              <a:latin typeface="Cambria Math" panose="02040503050406030204" pitchFamily="18" charset="0"/>
                            </a:rPr>
                          </m:ctrlPr>
                        </m:sPrePr>
                        <m:sub/>
                        <m:sup>
                          <m:r>
                            <a:rPr lang="en-US" sz="1400" b="0" i="1">
                              <a:latin typeface="Cambria Math" panose="02040503050406030204" pitchFamily="18" charset="0"/>
                            </a:rPr>
                            <m:t>𝐵</m:t>
                          </m:r>
                        </m:sup>
                        <m:e>
                          <m:sSub>
                            <m:sSubPr>
                              <m:ctrlPr>
                                <a:rPr lang="en-US" sz="1400" b="0" i="1">
                                  <a:latin typeface="Cambria Math" panose="02040503050406030204" pitchFamily="18" charset="0"/>
                                </a:rPr>
                              </m:ctrlPr>
                            </m:sSubPr>
                            <m:e>
                              <m:acc>
                                <m:accPr>
                                  <m:chr m:val="̂"/>
                                  <m:ctrlPr>
                                    <a:rPr lang="en-US" sz="1400" b="0" i="1">
                                      <a:latin typeface="Cambria Math" panose="02040503050406030204" pitchFamily="18" charset="0"/>
                                    </a:rPr>
                                  </m:ctrlPr>
                                </m:accPr>
                                <m:e>
                                  <m:r>
                                    <a:rPr lang="en-US" sz="1400" b="0" i="1">
                                      <a:latin typeface="Cambria Math" panose="02040503050406030204" pitchFamily="18" charset="0"/>
                                    </a:rPr>
                                    <m:t>𝑔</m:t>
                                  </m:r>
                                </m:e>
                              </m:acc>
                            </m:e>
                            <m:sub>
                              <m:r>
                                <a:rPr lang="en-US" sz="1400" b="0" i="1">
                                  <a:latin typeface="Cambria Math" panose="02040503050406030204" pitchFamily="18" charset="0"/>
                                </a:rPr>
                                <m:t>𝐼</m:t>
                              </m:r>
                            </m:sub>
                          </m:sSub>
                        </m:e>
                      </m:sPre>
                      <m:r>
                        <a:rPr lang="en-US" sz="1400" b="0" i="0">
                          <a:latin typeface="Cambria Math" panose="02040503050406030204" pitchFamily="18" charset="0"/>
                        </a:rPr>
                        <m:t> = 10.7405 </m:t>
                      </m:r>
                      <m:r>
                        <m:rPr>
                          <m:sty m:val="p"/>
                        </m:rPr>
                        <a:rPr lang="en-US" sz="1400" b="0" i="0">
                          <a:latin typeface="Cambria Math" panose="02040503050406030204" pitchFamily="18" charset="0"/>
                        </a:rPr>
                        <m:t>mT</m:t>
                      </m:r>
                      <m:r>
                        <a:rPr lang="en-US" sz="1400" b="0" i="0">
                          <a:latin typeface="Cambria Math" panose="02040503050406030204" pitchFamily="18" charset="0"/>
                        </a:rPr>
                        <m:t>/</m:t>
                      </m:r>
                      <m:r>
                        <m:rPr>
                          <m:sty m:val="p"/>
                        </m:rPr>
                        <a:rPr lang="en-US" sz="1400" b="0" i="0">
                          <a:latin typeface="Cambria Math" panose="02040503050406030204" pitchFamily="18" charset="0"/>
                        </a:rPr>
                        <m:t>A</m:t>
                      </m:r>
                    </m:oMath>
                  </m:oMathPara>
                </a14:m>
                <a:endParaRPr lang="en-US" sz="1400" dirty="0"/>
              </a:p>
            </p:txBody>
          </p:sp>
        </mc:Choice>
        <mc:Fallback xmlns="">
          <p:sp>
            <p:nvSpPr>
              <p:cNvPr id="52" name="CalibR150_e_sc"/>
              <p:cNvSpPr txBox="1">
                <a:spLocks noRot="1" noChangeAspect="1" noMove="1" noResize="1" noEditPoints="1" noAdjustHandles="1" noChangeArrowheads="1" noChangeShapeType="1" noTextEdit="1"/>
              </p:cNvSpPr>
              <p:nvPr/>
            </p:nvSpPr>
            <p:spPr>
              <a:xfrm>
                <a:off x="154577" y="5713137"/>
                <a:ext cx="3847253" cy="310896"/>
              </a:xfrm>
              <a:prstGeom prst="rect">
                <a:avLst/>
              </a:prstGeom>
              <a:blipFill>
                <a:blip r:embed="rId14"/>
                <a:stretch>
                  <a:fillRect t="-9804" b="-1176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FCA51D30-2E55-417A-9F09-4C3BB8853DC8}"/>
                  </a:ext>
                </a:extLst>
              </p:cNvPr>
              <p:cNvSpPr txBox="1"/>
              <p:nvPr/>
            </p:nvSpPr>
            <p:spPr>
              <a:xfrm>
                <a:off x="5003799" y="2281316"/>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xmlns="">
          <p:sp>
            <p:nvSpPr>
              <p:cNvPr id="3" name="文字方塊 2">
                <a:extLst>
                  <a:ext uri="{FF2B5EF4-FFF2-40B4-BE49-F238E27FC236}">
                    <a16:creationId xmlns:a16="http://schemas.microsoft.com/office/drawing/2014/main" id="{FCA51D30-2E55-417A-9F09-4C3BB8853DC8}"/>
                  </a:ext>
                </a:extLst>
              </p:cNvPr>
              <p:cNvSpPr txBox="1">
                <a:spLocks noRot="1" noChangeAspect="1" noMove="1" noResize="1" noEditPoints="1" noAdjustHandles="1" noChangeArrowheads="1" noChangeShapeType="1" noTextEdit="1"/>
              </p:cNvSpPr>
              <p:nvPr/>
            </p:nvSpPr>
            <p:spPr>
              <a:xfrm>
                <a:off x="5003799" y="2281316"/>
                <a:ext cx="4191000" cy="549509"/>
              </a:xfrm>
              <a:prstGeom prst="rect">
                <a:avLst/>
              </a:prstGeom>
              <a:blipFill>
                <a:blip r:embed="rId15"/>
                <a:stretch>
                  <a:fillRect b="-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01D851CB-3BD6-4072-98DB-69D2B35EA860}"/>
                  </a:ext>
                </a:extLst>
              </p:cNvPr>
              <p:cNvSpPr txBox="1"/>
              <p:nvPr/>
            </p:nvSpPr>
            <p:spPr>
              <a:xfrm>
                <a:off x="4092187" y="4442528"/>
                <a:ext cx="6189132" cy="6418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%=0.26%</m:t>
                      </m:r>
                    </m:oMath>
                  </m:oMathPara>
                </a14:m>
                <a:endParaRPr lang="zh-TW" altLang="en-US" sz="1400" dirty="0"/>
              </a:p>
            </p:txBody>
          </p:sp>
        </mc:Choice>
        <mc:Fallback xmlns="">
          <p:sp>
            <p:nvSpPr>
              <p:cNvPr id="19" name="文字方塊 18">
                <a:extLst>
                  <a:ext uri="{FF2B5EF4-FFF2-40B4-BE49-F238E27FC236}">
                    <a16:creationId xmlns:a16="http://schemas.microsoft.com/office/drawing/2014/main" id="{01D851CB-3BD6-4072-98DB-69D2B35EA860}"/>
                  </a:ext>
                </a:extLst>
              </p:cNvPr>
              <p:cNvSpPr txBox="1">
                <a:spLocks noRot="1" noChangeAspect="1" noMove="1" noResize="1" noEditPoints="1" noAdjustHandles="1" noChangeArrowheads="1" noChangeShapeType="1" noTextEdit="1"/>
              </p:cNvSpPr>
              <p:nvPr/>
            </p:nvSpPr>
            <p:spPr>
              <a:xfrm>
                <a:off x="4092187" y="4442528"/>
                <a:ext cx="6189132" cy="641842"/>
              </a:xfrm>
              <a:prstGeom prst="rect">
                <a:avLst/>
              </a:prstGeom>
              <a:blipFill>
                <a:blip r:embed="rId1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12639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41" name="auto caption"/>
          <p:cNvSpPr txBox="1"/>
          <p:nvPr/>
        </p:nvSpPr>
        <p:spPr>
          <a:xfrm>
            <a:off x="502920" y="1143000"/>
            <a:ext cx="11155680" cy="2148840"/>
          </a:xfrm>
          <a:prstGeom prst="rect">
            <a:avLst/>
          </a:prstGeom>
          <a:noFill/>
        </p:spPr>
        <p:txBody>
          <a:bodyPr wrap="square" rtlCol="0">
            <a:normAutofit/>
          </a:bodyPr>
          <a:lstStyle/>
          <a:p>
            <a:pPr marL="285750" indent="-285750"/>
            <a:r>
              <a:rPr lang="en-US" altLang="zh-TW" dirty="0"/>
              <a:t>Setup: For each sampling radius R the model is calibrated on the converged reduced design of that R, sampled from the exported field by trilinear interpolation. R = 20 to 500 um in 20 um steps; blue = single-parameter, red = eighteen-parameter. The segment below R = 20 um is an anchor to the origin, not data.</a:t>
            </a:r>
          </a:p>
          <a:p>
            <a:pPr marL="285750" indent="-285750"/>
            <a:r>
              <a:rPr lang="en-US" altLang="zh-TW" dirty="0"/>
              <a:t>The workspace radius peaks at 890.5 um at R = 40 um and falls steadily to 797.3 um at R = 500 um. The single-parameter gain is negative below R = 60 um (-40.1 mT/A at R = 20 um) and only settles near 9.4 mT/A from R = 80 um, whereas the eighteen-parameter gain is positive at every radius tested. The eighteen-parameter model is therefore usable over the whole range plotted, the single-parameter model only from R = 80 um.</a:t>
            </a:r>
          </a:p>
        </p:txBody>
      </p:sp>
      <p:sp>
        <p:nvSpPr>
          <p:cNvPr id="3" name="矩形 2">
            <a:extLst>
              <a:ext uri="{FF2B5EF4-FFF2-40B4-BE49-F238E27FC236}">
                <a16:creationId xmlns:a16="http://schemas.microsoft.com/office/drawing/2014/main" id="{C3046914-2045-479F-9241-9100E1B02C7D}"/>
              </a:ext>
            </a:extLst>
          </p:cNvPr>
          <p:cNvSpPr/>
          <p:nvPr/>
        </p:nvSpPr>
        <p:spPr>
          <a:xfrm>
            <a:off x="3191932" y="5951913"/>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38A87356-DFFA-449B-A1BC-B35781328F4F}"/>
              </a:ext>
            </a:extLst>
          </p:cNvPr>
          <p:cNvSpPr/>
          <p:nvPr/>
        </p:nvSpPr>
        <p:spPr>
          <a:xfrm>
            <a:off x="6510866" y="5999327"/>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98911A9-7043-4A49-B961-C771243DB34D}"/>
              </a:ext>
            </a:extLst>
          </p:cNvPr>
          <p:cNvSpPr/>
          <p:nvPr/>
        </p:nvSpPr>
        <p:spPr>
          <a:xfrm rot="16200000">
            <a:off x="1380067" y="4624105"/>
            <a:ext cx="2235200"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20" name="群組 19">
            <a:extLst>
              <a:ext uri="{FF2B5EF4-FFF2-40B4-BE49-F238E27FC236}">
                <a16:creationId xmlns:a16="http://schemas.microsoft.com/office/drawing/2014/main" id="{06015091-5680-4CA7-94EE-CCD4D232374B}"/>
              </a:ext>
            </a:extLst>
          </p:cNvPr>
          <p:cNvGrpSpPr/>
          <p:nvPr/>
        </p:nvGrpSpPr>
        <p:grpSpPr>
          <a:xfrm>
            <a:off x="2903387" y="3359713"/>
            <a:ext cx="6275157" cy="2813946"/>
            <a:chOff x="2614843" y="3425857"/>
            <a:chExt cx="5740733" cy="2486028"/>
          </a:xfrm>
        </p:grpSpPr>
        <p:grpSp>
          <p:nvGrpSpPr>
            <p:cNvPr id="19" name="群組 18">
              <a:extLst>
                <a:ext uri="{FF2B5EF4-FFF2-40B4-BE49-F238E27FC236}">
                  <a16:creationId xmlns:a16="http://schemas.microsoft.com/office/drawing/2014/main" id="{61BCF2E1-081B-4366-95C9-547A338F5AA5}"/>
                </a:ext>
              </a:extLst>
            </p:cNvPr>
            <p:cNvGrpSpPr/>
            <p:nvPr/>
          </p:nvGrpSpPr>
          <p:grpSpPr>
            <a:xfrm>
              <a:off x="2614843" y="3425857"/>
              <a:ext cx="5740733" cy="2486028"/>
              <a:chOff x="2614843" y="3425857"/>
              <a:chExt cx="5740733" cy="2486028"/>
            </a:xfrm>
          </p:grpSpPr>
          <p:pic>
            <p:nvPicPr>
              <p:cNvPr id="18" name="圖片 17">
                <a:extLst>
                  <a:ext uri="{FF2B5EF4-FFF2-40B4-BE49-F238E27FC236}">
                    <a16:creationId xmlns:a16="http://schemas.microsoft.com/office/drawing/2014/main" id="{C34E5C03-79C9-4DBF-8955-361335D3D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5167" y="3425857"/>
                <a:ext cx="5570409" cy="2317996"/>
              </a:xfrm>
              <a:prstGeom prst="rect">
                <a:avLst/>
              </a:prstGeom>
            </p:spPr>
          </p:pic>
          <p:sp>
            <p:nvSpPr>
              <p:cNvPr id="9" name="矩形 8">
                <a:extLst>
                  <a:ext uri="{FF2B5EF4-FFF2-40B4-BE49-F238E27FC236}">
                    <a16:creationId xmlns:a16="http://schemas.microsoft.com/office/drawing/2014/main" id="{F5B0EBB1-6AB8-48EE-BC7C-3B87A1F01F92}"/>
                  </a:ext>
                </a:extLst>
              </p:cNvPr>
              <p:cNvSpPr/>
              <p:nvPr/>
            </p:nvSpPr>
            <p:spPr>
              <a:xfrm rot="16200000">
                <a:off x="5023646" y="4364790"/>
                <a:ext cx="1352083"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 name="矩形 20">
                <a:extLst>
                  <a:ext uri="{FF2B5EF4-FFF2-40B4-BE49-F238E27FC236}">
                    <a16:creationId xmlns:a16="http://schemas.microsoft.com/office/drawing/2014/main" id="{B39A8314-EAC6-4F5A-BED0-BFEBA3939728}"/>
                  </a:ext>
                </a:extLst>
              </p:cNvPr>
              <p:cNvSpPr/>
              <p:nvPr/>
            </p:nvSpPr>
            <p:spPr>
              <a:xfrm>
                <a:off x="6040966" y="5568436"/>
                <a:ext cx="2044701"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 name="矩形 21">
                <a:extLst>
                  <a:ext uri="{FF2B5EF4-FFF2-40B4-BE49-F238E27FC236}">
                    <a16:creationId xmlns:a16="http://schemas.microsoft.com/office/drawing/2014/main" id="{89AC422D-71C0-4090-ABCE-0B69D83E54AC}"/>
                  </a:ext>
                </a:extLst>
              </p:cNvPr>
              <p:cNvSpPr/>
              <p:nvPr/>
            </p:nvSpPr>
            <p:spPr>
              <a:xfrm>
                <a:off x="3162300" y="5602451"/>
                <a:ext cx="2076646" cy="309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 name="矩形 22">
                <a:extLst>
                  <a:ext uri="{FF2B5EF4-FFF2-40B4-BE49-F238E27FC236}">
                    <a16:creationId xmlns:a16="http://schemas.microsoft.com/office/drawing/2014/main" id="{3EA903BB-C827-4FD7-88CD-461937614CB9}"/>
                  </a:ext>
                </a:extLst>
              </p:cNvPr>
              <p:cNvSpPr/>
              <p:nvPr/>
            </p:nvSpPr>
            <p:spPr>
              <a:xfrm rot="5400000">
                <a:off x="2056817" y="4408705"/>
                <a:ext cx="1425484" cy="309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1487081C-210E-415F-A6F2-E8AE31E2131C}"/>
                    </a:ext>
                  </a:extLst>
                </p:cNvPr>
                <p:cNvSpPr txBox="1"/>
                <p:nvPr/>
              </p:nvSpPr>
              <p:spPr>
                <a:xfrm>
                  <a:off x="3413253" y="5609430"/>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smtClean="0">
                            <a:latin typeface="Cambria Math" panose="02040503050406030204" pitchFamily="18" charset="0"/>
                          </a:rPr>
                          <m:t>W</m:t>
                        </m:r>
                        <m:r>
                          <m:rPr>
                            <m:sty m:val="p"/>
                          </m:rPr>
                          <a:rPr lang="en-US" altLang="zh-TW" sz="1400" b="0" i="0" smtClean="0">
                            <a:latin typeface="Cambria Math" panose="02040503050406030204" pitchFamily="18" charset="0"/>
                          </a:rPr>
                          <m:t>orkspace</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radius</m:t>
                        </m:r>
                        <m:r>
                          <a:rPr lang="en-US" altLang="zh-TW" sz="1400" b="0" i="0" smtClean="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b="0" i="0" smtClean="0">
                            <a:latin typeface="Cambria Math" panose="02040503050406030204" pitchFamily="18" charset="0"/>
                          </a:rPr>
                          <m:t>)</m:t>
                        </m:r>
                      </m:oMath>
                    </m:oMathPara>
                  </a14:m>
                  <a:endParaRPr lang="zh-TW" altLang="en-US" sz="1400" dirty="0"/>
                </a:p>
              </p:txBody>
            </p:sp>
          </mc:Choice>
          <mc:Fallback xmlns="">
            <p:sp>
              <p:nvSpPr>
                <p:cNvPr id="10" name="文字方塊 9">
                  <a:extLst>
                    <a:ext uri="{FF2B5EF4-FFF2-40B4-BE49-F238E27FC236}">
                      <a16:creationId xmlns:a16="http://schemas.microsoft.com/office/drawing/2014/main" id="{1487081C-210E-415F-A6F2-E8AE31E2131C}"/>
                    </a:ext>
                  </a:extLst>
                </p:cNvPr>
                <p:cNvSpPr txBox="1">
                  <a:spLocks noRot="1" noChangeAspect="1" noMove="1" noResize="1" noEditPoints="1" noAdjustHandles="1" noChangeArrowheads="1" noChangeShapeType="1" noTextEdit="1"/>
                </p:cNvSpPr>
                <p:nvPr/>
              </p:nvSpPr>
              <p:spPr>
                <a:xfrm>
                  <a:off x="3413253" y="5609430"/>
                  <a:ext cx="1825693" cy="215444"/>
                </a:xfrm>
                <a:prstGeom prst="rect">
                  <a:avLst/>
                </a:prstGeom>
                <a:blipFill>
                  <a:blip r:embed="rId3"/>
                  <a:stretch>
                    <a:fillRect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01D18A8-F93B-4D42-A49A-87F8D1B61E60}"/>
                    </a:ext>
                  </a:extLst>
                </p:cNvPr>
                <p:cNvSpPr txBox="1"/>
                <p:nvPr/>
              </p:nvSpPr>
              <p:spPr>
                <a:xfrm>
                  <a:off x="6324600" y="5607278"/>
                  <a:ext cx="182569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i="1">
                            <a:latin typeface="Cambria Math" panose="02040503050406030204" pitchFamily="18" charset="0"/>
                          </a:rPr>
                          <m:t>W</m:t>
                        </m:r>
                        <m:r>
                          <m:rPr>
                            <m:sty m:val="p"/>
                          </m:rPr>
                          <a:rPr lang="en-US" altLang="zh-TW" sz="1400">
                            <a:latin typeface="Cambria Math" panose="02040503050406030204" pitchFamily="18" charset="0"/>
                          </a:rPr>
                          <m:t>orkspace</m:t>
                        </m:r>
                        <m:r>
                          <a:rPr lang="en-US" altLang="zh-TW" sz="1400">
                            <a:latin typeface="Cambria Math" panose="02040503050406030204" pitchFamily="18" charset="0"/>
                          </a:rPr>
                          <m:t> </m:t>
                        </m:r>
                        <m:r>
                          <m:rPr>
                            <m:sty m:val="p"/>
                          </m:rPr>
                          <a:rPr lang="en-US" altLang="zh-TW" sz="1400">
                            <a:latin typeface="Cambria Math" panose="02040503050406030204" pitchFamily="18" charset="0"/>
                          </a:rPr>
                          <m:t>radius</m:t>
                        </m:r>
                        <m:r>
                          <a:rPr lang="en-US" altLang="zh-TW" sz="1400">
                            <a:latin typeface="Cambria Math" panose="02040503050406030204" pitchFamily="18" charset="0"/>
                          </a:rPr>
                          <m:t>(</m:t>
                        </m:r>
                        <m:r>
                          <a:rPr lang="el-GR" altLang="zh-TW" sz="1400" i="1">
                            <a:latin typeface="Cambria Math" panose="02040503050406030204" pitchFamily="18" charset="0"/>
                            <a:ea typeface="Cambria Math" panose="02040503050406030204" pitchFamily="18" charset="0"/>
                          </a:rPr>
                          <m:t>𝜇</m:t>
                        </m:r>
                        <m:r>
                          <a:rPr lang="en-US" altLang="zh-TW" sz="1400" i="1">
                            <a:latin typeface="Cambria Math" panose="02040503050406030204" pitchFamily="18" charset="0"/>
                            <a:ea typeface="Cambria Math" panose="02040503050406030204" pitchFamily="18" charset="0"/>
                          </a:rPr>
                          <m:t>𝑚</m:t>
                        </m:r>
                        <m:r>
                          <a:rPr lang="en-US" altLang="zh-TW" sz="1400">
                            <a:latin typeface="Cambria Math" panose="02040503050406030204" pitchFamily="18" charset="0"/>
                          </a:rPr>
                          <m:t>)</m:t>
                        </m:r>
                      </m:oMath>
                    </m:oMathPara>
                  </a14:m>
                  <a:endParaRPr lang="zh-TW" altLang="en-US" sz="1400" dirty="0"/>
                </a:p>
              </p:txBody>
            </p:sp>
          </mc:Choice>
          <mc:Fallback xmlns="">
            <p:sp>
              <p:nvSpPr>
                <p:cNvPr id="13" name="文字方塊 12">
                  <a:extLst>
                    <a:ext uri="{FF2B5EF4-FFF2-40B4-BE49-F238E27FC236}">
                      <a16:creationId xmlns:a16="http://schemas.microsoft.com/office/drawing/2014/main" id="{601D18A8-F93B-4D42-A49A-87F8D1B61E60}"/>
                    </a:ext>
                  </a:extLst>
                </p:cNvPr>
                <p:cNvSpPr txBox="1">
                  <a:spLocks noRot="1" noChangeAspect="1" noMove="1" noResize="1" noEditPoints="1" noAdjustHandles="1" noChangeArrowheads="1" noChangeShapeType="1" noTextEdit="1"/>
                </p:cNvSpPr>
                <p:nvPr/>
              </p:nvSpPr>
              <p:spPr>
                <a:xfrm>
                  <a:off x="6324600" y="5607278"/>
                  <a:ext cx="1825693" cy="215444"/>
                </a:xfrm>
                <a:prstGeom prst="rect">
                  <a:avLst/>
                </a:prstGeom>
                <a:blipFill>
                  <a:blip r:embed="rId4"/>
                  <a:stretch>
                    <a:fillRect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C7094952-35E6-43E5-BE17-A85B6FDD4727}"/>
                    </a:ext>
                  </a:extLst>
                </p:cNvPr>
                <p:cNvSpPr txBox="1"/>
                <p:nvPr/>
              </p:nvSpPr>
              <p:spPr>
                <a:xfrm rot="16200000">
                  <a:off x="2169359" y="4450151"/>
                  <a:ext cx="1192585" cy="2265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1400" b="1" i="1" smtClean="0">
                                <a:latin typeface="Cambria Math" panose="02040503050406030204" pitchFamily="18" charset="0"/>
                              </a:rPr>
                            </m:ctrlPr>
                          </m:accPr>
                          <m:e>
                            <m:r>
                              <a:rPr lang="en-US" altLang="zh-TW" sz="1400" b="1" i="1" smtClean="0">
                                <a:latin typeface="Cambria Math" panose="02040503050406030204" pitchFamily="18" charset="0"/>
                                <a:ea typeface="Cambria Math" panose="02040503050406030204" pitchFamily="18" charset="0"/>
                              </a:rPr>
                              <m:t>ℓ</m:t>
                            </m:r>
                          </m:e>
                        </m:acc>
                        <m:r>
                          <a:rPr lang="en-US" altLang="zh-TW" sz="1400" b="1" i="0" smtClean="0">
                            <a:latin typeface="Cambria Math" panose="02040503050406030204" pitchFamily="18" charset="0"/>
                          </a:rPr>
                          <m:t> (</m:t>
                        </m:r>
                        <m:r>
                          <a:rPr lang="el-GR" altLang="zh-TW" sz="1400" b="0" i="1">
                            <a:latin typeface="Cambria Math" panose="02040503050406030204" pitchFamily="18" charset="0"/>
                            <a:ea typeface="Cambria Math" panose="02040503050406030204" pitchFamily="18" charset="0"/>
                          </a:rPr>
                          <m:t>𝜇</m:t>
                        </m:r>
                        <m:r>
                          <a:rPr lang="en-US" altLang="zh-TW" sz="1400" b="0" i="1" smtClean="0">
                            <a:latin typeface="Cambria Math" panose="02040503050406030204" pitchFamily="18" charset="0"/>
                            <a:ea typeface="Cambria Math" panose="02040503050406030204" pitchFamily="18" charset="0"/>
                          </a:rPr>
                          <m:t>𝑚</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16" name="文字方塊 15">
                  <a:extLst>
                    <a:ext uri="{FF2B5EF4-FFF2-40B4-BE49-F238E27FC236}">
                      <a16:creationId xmlns:a16="http://schemas.microsoft.com/office/drawing/2014/main" id="{C7094952-35E6-43E5-BE17-A85B6FDD4727}"/>
                    </a:ext>
                  </a:extLst>
                </p:cNvPr>
                <p:cNvSpPr txBox="1">
                  <a:spLocks noRot="1" noChangeAspect="1" noMove="1" noResize="1" noEditPoints="1" noAdjustHandles="1" noChangeArrowheads="1" noChangeShapeType="1" noTextEdit="1"/>
                </p:cNvSpPr>
                <p:nvPr/>
              </p:nvSpPr>
              <p:spPr>
                <a:xfrm rot="16200000">
                  <a:off x="2169359" y="4450151"/>
                  <a:ext cx="1192585" cy="226537"/>
                </a:xfrm>
                <a:prstGeom prst="rect">
                  <a:avLst/>
                </a:prstGeom>
                <a:blipFill>
                  <a:blip r:embed="rId5"/>
                  <a:stretch>
                    <a:fillRect l="-21951" r="-1951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CF01E71D-583C-4777-894D-8568132157A9}"/>
                    </a:ext>
                  </a:extLst>
                </p:cNvPr>
                <p:cNvSpPr txBox="1"/>
                <p:nvPr/>
              </p:nvSpPr>
              <p:spPr>
                <a:xfrm rot="16200000">
                  <a:off x="5208874" y="4408987"/>
                  <a:ext cx="950408" cy="2210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Pre>
                          <m:sPrePr>
                            <m:ctrlPr>
                              <a:rPr lang="en-US" altLang="zh-TW" sz="1400" i="1" smtClean="0">
                                <a:latin typeface="Cambria Math" panose="02040503050406030204" pitchFamily="18" charset="0"/>
                              </a:rPr>
                            </m:ctrlPr>
                          </m:sPrePr>
                          <m:sub/>
                          <m:sup>
                            <m:r>
                              <a:rPr lang="en-US" altLang="zh-TW" sz="1400" b="0" i="1" smtClean="0">
                                <a:latin typeface="Cambria Math" panose="02040503050406030204" pitchFamily="18" charset="0"/>
                              </a:rPr>
                              <m:t>𝐵</m:t>
                            </m:r>
                          </m:sup>
                          <m:e>
                            <m:sSub>
                              <m:sSubPr>
                                <m:ctrlPr>
                                  <a:rPr lang="en-US" altLang="zh-TW" sz="1400" i="1" smtClean="0">
                                    <a:latin typeface="Cambria Math" panose="02040503050406030204" pitchFamily="18" charset="0"/>
                                  </a:rPr>
                                </m:ctrlPr>
                              </m:sSubPr>
                              <m:e>
                                <m:acc>
                                  <m:accPr>
                                    <m:chr m:val="̂"/>
                                    <m:ctrlPr>
                                      <a:rPr lang="en-US" altLang="zh-TW" sz="1400" i="1" smtClean="0">
                                        <a:latin typeface="Cambria Math" panose="02040503050406030204" pitchFamily="18" charset="0"/>
                                      </a:rPr>
                                    </m:ctrlPr>
                                  </m:accPr>
                                  <m:e>
                                    <m:r>
                                      <a:rPr lang="en-US" altLang="zh-TW" sz="1400" b="0" i="1" smtClean="0">
                                        <a:latin typeface="Cambria Math" panose="02040503050406030204" pitchFamily="18" charset="0"/>
                                      </a:rPr>
                                      <m:t>𝑔</m:t>
                                    </m:r>
                                  </m:e>
                                </m:acc>
                              </m:e>
                              <m:sub>
                                <m:r>
                                  <a:rPr lang="en-US" altLang="zh-TW" sz="1400" b="0" i="1" smtClean="0">
                                    <a:latin typeface="Cambria Math" panose="02040503050406030204" pitchFamily="18" charset="0"/>
                                  </a:rPr>
                                  <m:t>𝐼</m:t>
                                </m:r>
                              </m:sub>
                            </m:sSub>
                          </m:e>
                        </m:sPre>
                        <m:r>
                          <a:rPr lang="en-US" altLang="zh-TW" sz="1400" b="0" i="1" smtClean="0">
                            <a:latin typeface="Cambria Math" panose="02040503050406030204" pitchFamily="18" charset="0"/>
                          </a:rPr>
                          <m:t> (</m:t>
                        </m:r>
                        <m:f>
                          <m:fPr>
                            <m:type m:val="lin"/>
                            <m:ctrlPr>
                              <a:rPr lang="en-US" altLang="zh-TW" sz="1400" b="0" i="1" smtClean="0">
                                <a:latin typeface="Cambria Math" panose="02040503050406030204" pitchFamily="18" charset="0"/>
                              </a:rPr>
                            </m:ctrlPr>
                          </m:fPr>
                          <m:num>
                            <m:r>
                              <a:rPr lang="en-US" altLang="zh-TW" sz="1400" b="0" i="1" smtClean="0">
                                <a:latin typeface="Cambria Math" panose="02040503050406030204" pitchFamily="18" charset="0"/>
                              </a:rPr>
                              <m:t>𝑚𝑇</m:t>
                            </m:r>
                          </m:num>
                          <m:den>
                            <m:r>
                              <a:rPr lang="en-US" altLang="zh-TW" sz="1400" b="0" i="1" smtClean="0">
                                <a:latin typeface="Cambria Math" panose="02040503050406030204" pitchFamily="18" charset="0"/>
                              </a:rPr>
                              <m:t>𝐴</m:t>
                            </m:r>
                          </m:den>
                        </m:f>
                        <m:r>
                          <a:rPr lang="en-US" altLang="zh-TW" sz="1400" b="0" i="1" smtClean="0">
                            <a:latin typeface="Cambria Math" panose="02040503050406030204" pitchFamily="18" charset="0"/>
                          </a:rPr>
                          <m:t>)</m:t>
                        </m:r>
                      </m:oMath>
                    </m:oMathPara>
                  </a14:m>
                  <a:endParaRPr lang="zh-TW" altLang="en-US" dirty="0"/>
                </a:p>
              </p:txBody>
            </p:sp>
          </mc:Choice>
          <mc:Fallback xmlns="">
            <p:sp>
              <p:nvSpPr>
                <p:cNvPr id="17" name="文字方塊 16">
                  <a:extLst>
                    <a:ext uri="{FF2B5EF4-FFF2-40B4-BE49-F238E27FC236}">
                      <a16:creationId xmlns:a16="http://schemas.microsoft.com/office/drawing/2014/main" id="{CF01E71D-583C-4777-894D-8568132157A9}"/>
                    </a:ext>
                  </a:extLst>
                </p:cNvPr>
                <p:cNvSpPr txBox="1">
                  <a:spLocks noRot="1" noChangeAspect="1" noMove="1" noResize="1" noEditPoints="1" noAdjustHandles="1" noChangeArrowheads="1" noChangeShapeType="1" noTextEdit="1"/>
                </p:cNvSpPr>
                <p:nvPr/>
              </p:nvSpPr>
              <p:spPr>
                <a:xfrm rot="16200000">
                  <a:off x="5208874" y="4408987"/>
                  <a:ext cx="950408" cy="221040"/>
                </a:xfrm>
                <a:prstGeom prst="rect">
                  <a:avLst/>
                </a:prstGeom>
                <a:blipFill>
                  <a:blip r:embed="rId6"/>
                  <a:stretch>
                    <a:fillRect l="-133333" t="-28409" r="-217949"/>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278317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08956"/>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grpSp>
        <p:nvGrpSpPr>
          <p:cNvPr id="5" name="群組 4">
            <a:extLst>
              <a:ext uri="{FF2B5EF4-FFF2-40B4-BE49-F238E27FC236}">
                <a16:creationId xmlns:a16="http://schemas.microsoft.com/office/drawing/2014/main" id="{E73C6DB4-FFCE-4B74-A22D-3447285A5BE2}"/>
              </a:ext>
            </a:extLst>
          </p:cNvPr>
          <p:cNvGrpSpPr/>
          <p:nvPr/>
        </p:nvGrpSpPr>
        <p:grpSpPr>
          <a:xfrm>
            <a:off x="7128967" y="2388388"/>
            <a:ext cx="3281223" cy="2819400"/>
            <a:chOff x="7048110" y="2472267"/>
            <a:chExt cx="3281223" cy="2819400"/>
          </a:xfrm>
        </p:grpSpPr>
        <p:sp>
          <p:nvSpPr>
            <p:cNvPr id="3" name="矩形 2">
              <a:extLst>
                <a:ext uri="{FF2B5EF4-FFF2-40B4-BE49-F238E27FC236}">
                  <a16:creationId xmlns:a16="http://schemas.microsoft.com/office/drawing/2014/main" id="{F66BDAD5-FC86-474B-922D-6119A5E142BE}"/>
                </a:ext>
              </a:extLst>
            </p:cNvPr>
            <p:cNvSpPr/>
            <p:nvPr/>
          </p:nvSpPr>
          <p:spPr>
            <a:xfrm>
              <a:off x="8796867" y="4995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64BF8DC2-75C9-420A-9713-1C412FAEB073}"/>
                </a:ext>
              </a:extLst>
            </p:cNvPr>
            <p:cNvSpPr/>
            <p:nvPr/>
          </p:nvSpPr>
          <p:spPr>
            <a:xfrm rot="16200000">
              <a:off x="6430044" y="3090333"/>
              <a:ext cx="1532466" cy="2963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4" name="群組 13">
            <a:extLst>
              <a:ext uri="{FF2B5EF4-FFF2-40B4-BE49-F238E27FC236}">
                <a16:creationId xmlns:a16="http://schemas.microsoft.com/office/drawing/2014/main" id="{2DD737F1-79D0-498C-AD2E-96B6E991F4B2}"/>
              </a:ext>
            </a:extLst>
          </p:cNvPr>
          <p:cNvGrpSpPr/>
          <p:nvPr/>
        </p:nvGrpSpPr>
        <p:grpSpPr>
          <a:xfrm>
            <a:off x="7376079" y="1416837"/>
            <a:ext cx="3893861" cy="3041398"/>
            <a:chOff x="7376079" y="1416837"/>
            <a:chExt cx="3893861" cy="3041398"/>
          </a:xfrm>
        </p:grpSpPr>
        <p:grpSp>
          <p:nvGrpSpPr>
            <p:cNvPr id="13" name="群組 12">
              <a:extLst>
                <a:ext uri="{FF2B5EF4-FFF2-40B4-BE49-F238E27FC236}">
                  <a16:creationId xmlns:a16="http://schemas.microsoft.com/office/drawing/2014/main" id="{9E044CCD-18A9-4ED0-803D-09C25E2DC084}"/>
                </a:ext>
              </a:extLst>
            </p:cNvPr>
            <p:cNvGrpSpPr/>
            <p:nvPr/>
          </p:nvGrpSpPr>
          <p:grpSpPr>
            <a:xfrm>
              <a:off x="7425301" y="1416837"/>
              <a:ext cx="3844639" cy="3041398"/>
              <a:chOff x="7425301" y="1416837"/>
              <a:chExt cx="3844639" cy="3041398"/>
            </a:xfrm>
          </p:grpSpPr>
          <p:pic>
            <p:nvPicPr>
              <p:cNvPr id="9" name="圖片 8">
                <a:extLst>
                  <a:ext uri="{FF2B5EF4-FFF2-40B4-BE49-F238E27FC236}">
                    <a16:creationId xmlns:a16="http://schemas.microsoft.com/office/drawing/2014/main" id="{5C237DB9-1DB7-4449-8F79-D4E5C6D77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8299" y="1416837"/>
                <a:ext cx="3771641" cy="2937146"/>
              </a:xfrm>
              <a:prstGeom prst="rect">
                <a:avLst/>
              </a:prstGeom>
            </p:spPr>
          </p:pic>
          <p:sp>
            <p:nvSpPr>
              <p:cNvPr id="12" name="矩形 11">
                <a:extLst>
                  <a:ext uri="{FF2B5EF4-FFF2-40B4-BE49-F238E27FC236}">
                    <a16:creationId xmlns:a16="http://schemas.microsoft.com/office/drawing/2014/main" id="{D0CE3E51-43DC-4E17-866A-933141C91C15}"/>
                  </a:ext>
                </a:extLst>
              </p:cNvPr>
              <p:cNvSpPr/>
              <p:nvPr/>
            </p:nvSpPr>
            <p:spPr>
              <a:xfrm>
                <a:off x="7425301" y="2252133"/>
                <a:ext cx="296334" cy="10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F767F21-8108-48BC-9FF8-4D48706CC9E8}"/>
                  </a:ext>
                </a:extLst>
              </p:cNvPr>
              <p:cNvSpPr/>
              <p:nvPr/>
            </p:nvSpPr>
            <p:spPr>
              <a:xfrm rot="5400000">
                <a:off x="9422082" y="3534050"/>
                <a:ext cx="296334" cy="1552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C3849D6-2303-4245-94EB-A3E3CD04C5BC}"/>
                    </a:ext>
                  </a:extLst>
                </p:cNvPr>
                <p:cNvSpPr txBox="1"/>
                <p:nvPr/>
              </p:nvSpPr>
              <p:spPr>
                <a:xfrm rot="16200000">
                  <a:off x="6492095" y="2505884"/>
                  <a:ext cx="21372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ea typeface="Cambria Math" panose="02040503050406030204" pitchFamily="18" charset="0"/>
                          </a:rPr>
                          <m:t>Residual</m:t>
                        </m:r>
                        <m:r>
                          <a:rPr lang="en-US" altLang="zh-TW" b="0" i="0" smtClean="0">
                            <a:latin typeface="Cambria Math" panose="02040503050406030204" pitchFamily="18" charset="0"/>
                            <a:ea typeface="Cambria Math" panose="02040503050406030204" pitchFamily="18" charset="0"/>
                          </a:rPr>
                          <m:t> </m:t>
                        </m:r>
                        <m:r>
                          <m:rPr>
                            <m:sty m:val="p"/>
                          </m:rPr>
                          <a:rPr lang="en-US" altLang="zh-TW" b="0" i="0" smtClean="0">
                            <a:latin typeface="Cambria Math" panose="02040503050406030204" pitchFamily="18" charset="0"/>
                            <a:ea typeface="Cambria Math" panose="02040503050406030204" pitchFamily="18" charset="0"/>
                          </a:rPr>
                          <m:t>error</m:t>
                        </m:r>
                        <m:r>
                          <a:rPr lang="en-US" altLang="zh-TW" b="0" i="0"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𝑚𝑇</m:t>
                        </m:r>
                        <m:r>
                          <a:rPr lang="en-US" altLang="zh-TW" b="0" i="1" smtClean="0">
                            <a:latin typeface="Cambria Math" panose="02040503050406030204" pitchFamily="18" charset="0"/>
                            <a:ea typeface="Cambria Math" panose="02040503050406030204" pitchFamily="18" charset="0"/>
                          </a:rPr>
                          <m:t>)</m:t>
                        </m:r>
                      </m:oMath>
                    </m:oMathPara>
                  </a14:m>
                  <a:endParaRPr lang="zh-TW" altLang="en-US" dirty="0"/>
                </a:p>
              </p:txBody>
            </p:sp>
          </mc:Choice>
          <mc:Fallback xmlns="">
            <p:sp>
              <p:nvSpPr>
                <p:cNvPr id="10" name="文字方塊 9">
                  <a:extLst>
                    <a:ext uri="{FF2B5EF4-FFF2-40B4-BE49-F238E27FC236}">
                      <a16:creationId xmlns:a16="http://schemas.microsoft.com/office/drawing/2014/main" id="{4C3849D6-2303-4245-94EB-A3E3CD04C5BC}"/>
                    </a:ext>
                  </a:extLst>
                </p:cNvPr>
                <p:cNvSpPr txBox="1">
                  <a:spLocks noRot="1" noChangeAspect="1" noMove="1" noResize="1" noEditPoints="1" noAdjustHandles="1" noChangeArrowheads="1" noChangeShapeType="1" noTextEdit="1"/>
                </p:cNvSpPr>
                <p:nvPr/>
              </p:nvSpPr>
              <p:spPr>
                <a:xfrm rot="16200000">
                  <a:off x="6492095" y="2505884"/>
                  <a:ext cx="2137299" cy="369332"/>
                </a:xfrm>
                <a:prstGeom prst="rect">
                  <a:avLst/>
                </a:prstGeom>
                <a:blipFill>
                  <a:blip r:embed="rId3"/>
                  <a:stretch>
                    <a:fillRect t="-2279" r="-114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42506FCA-AD85-4D09-9F6E-FA92DD820306}"/>
                    </a:ext>
                  </a:extLst>
                </p:cNvPr>
                <p:cNvSpPr txBox="1"/>
                <p:nvPr/>
              </p:nvSpPr>
              <p:spPr>
                <a:xfrm>
                  <a:off x="8512135" y="4129110"/>
                  <a:ext cx="2406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W</m:t>
                        </m:r>
                        <m:r>
                          <m:rPr>
                            <m:sty m:val="p"/>
                          </m:rPr>
                          <a:rPr lang="en-US" altLang="zh-TW">
                            <a:latin typeface="Cambria Math" panose="02040503050406030204" pitchFamily="18" charset="0"/>
                          </a:rPr>
                          <m:t>orkspace</m:t>
                        </m:r>
                        <m:r>
                          <a:rPr lang="en-US" altLang="zh-TW">
                            <a:latin typeface="Cambria Math" panose="02040503050406030204" pitchFamily="18" charset="0"/>
                          </a:rPr>
                          <m:t> </m:t>
                        </m:r>
                        <m:r>
                          <m:rPr>
                            <m:sty m:val="p"/>
                          </m:rPr>
                          <a:rPr lang="en-US" altLang="zh-TW">
                            <a:latin typeface="Cambria Math" panose="02040503050406030204" pitchFamily="18" charset="0"/>
                          </a:rPr>
                          <m:t>radius</m:t>
                        </m:r>
                        <m:r>
                          <a:rPr lang="en-US" altLang="zh-TW" b="0" i="0" smtClean="0">
                            <a:latin typeface="Cambria Math" panose="02040503050406030204" pitchFamily="18" charset="0"/>
                          </a:rPr>
                          <m:t> (</m:t>
                        </m:r>
                        <m:r>
                          <a:rPr lang="zh-TW" altLang="en-US" b="0" i="1" smtClean="0">
                            <a:latin typeface="Cambria Math" panose="02040503050406030204" pitchFamily="18" charset="0"/>
                          </a:rPr>
                          <m:t>𝜇</m:t>
                        </m:r>
                        <m:r>
                          <a:rPr lang="en-US" altLang="zh-TW" b="0" i="1" smtClean="0">
                            <a:latin typeface="Cambria Math" panose="02040503050406030204" pitchFamily="18" charset="0"/>
                          </a:rPr>
                          <m:t>𝑚</m:t>
                        </m:r>
                        <m:r>
                          <a:rPr lang="en-US" altLang="zh-TW" b="0" i="0" smtClean="0">
                            <a:latin typeface="Cambria Math" panose="02040503050406030204" pitchFamily="18" charset="0"/>
                          </a:rPr>
                          <m:t>)</m:t>
                        </m:r>
                      </m:oMath>
                    </m:oMathPara>
                  </a14:m>
                  <a:endParaRPr lang="zh-TW" altLang="en-US" dirty="0"/>
                </a:p>
              </p:txBody>
            </p:sp>
          </mc:Choice>
          <mc:Fallback xmlns="">
            <p:sp>
              <p:nvSpPr>
                <p:cNvPr id="11" name="文字方塊 10">
                  <a:extLst>
                    <a:ext uri="{FF2B5EF4-FFF2-40B4-BE49-F238E27FC236}">
                      <a16:creationId xmlns:a16="http://schemas.microsoft.com/office/drawing/2014/main" id="{42506FCA-AD85-4D09-9F6E-FA92DD820306}"/>
                    </a:ext>
                  </a:extLst>
                </p:cNvPr>
                <p:cNvSpPr txBox="1">
                  <a:spLocks noRot="1" noChangeAspect="1" noMove="1" noResize="1" noEditPoints="1" noAdjustHandles="1" noChangeArrowheads="1" noChangeShapeType="1" noTextEdit="1"/>
                </p:cNvSpPr>
                <p:nvPr/>
              </p:nvSpPr>
              <p:spPr>
                <a:xfrm>
                  <a:off x="8512135" y="4129110"/>
                  <a:ext cx="2406877" cy="276999"/>
                </a:xfrm>
                <a:prstGeom prst="rect">
                  <a:avLst/>
                </a:prstGeom>
                <a:blipFill>
                  <a:blip r:embed="rId4"/>
                  <a:stretch>
                    <a:fillRect l="-1772" t="-2174" r="-3038" b="-32609"/>
                  </a:stretch>
                </a:blipFill>
              </p:spPr>
              <p:txBody>
                <a:bodyPr/>
                <a:lstStyle/>
                <a:p>
                  <a:r>
                    <a:rPr lang="zh-TW" altLang="en-US">
                      <a:noFill/>
                    </a:rPr>
                    <a:t> </a:t>
                  </a:r>
                </a:p>
              </p:txBody>
            </p:sp>
          </mc:Fallback>
        </mc:AlternateContent>
      </p:grpSp>
      <p:sp>
        <p:nvSpPr>
          <p:cNvPr id="41" name="auto caption"/>
          <p:cNvSpPr txBox="1"/>
          <p:nvPr/>
        </p:nvSpPr>
        <p:spPr>
          <a:xfrm>
            <a:off x="457200" y="1463040"/>
            <a:ext cx="6309360" cy="3383280"/>
          </a:xfrm>
          <a:prstGeom prst="rect">
            <a:avLst/>
          </a:prstGeom>
          <a:noFill/>
        </p:spPr>
        <p:txBody>
          <a:bodyPr wrap="square" rtlCol="0">
            <a:normAutofit/>
          </a:bodyPr>
          <a:lstStyle/>
          <a:p>
            <a:pPr marL="285750" indent="-285750"/>
            <a:r>
              <a:rPr lang="en-US" altLang="zh-TW" dirty="0"/>
              <a:t>Setup: Same R sweep and same reduced designs as the previous slide for calibration. The residual field is then evaluated on every real FEM grid point inside R, so calibration points and evaluation points are different sets.</a:t>
            </a:r>
          </a:p>
          <a:p>
            <a:pPr marL="285750" indent="-285750"/>
            <a:r>
              <a:rPr lang="en-US" altLang="zh-TW" dirty="0"/>
              <a:t>The residual grows monotonically with R for both models. At R = 300 um the single-parameter residual is about 0.45 mT, more than three times the eighteen-parameter value, and the two converge only near R = 500 um. The eighteen-parameter model therefore keeps its accuracy over a much wider sampling range, losing the advantage only as R approaches the pole tips.</a:t>
            </a:r>
          </a:p>
        </p:txBody>
      </p:sp>
    </p:spTree>
    <p:extLst>
      <p:ext uri="{BB962C8B-B14F-4D97-AF65-F5344CB8AC3E}">
        <p14:creationId xmlns:p14="http://schemas.microsoft.com/office/powerpoint/2010/main" val="3386442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290509"/>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34" name="矩形 33">
            <a:extLst>
              <a:ext uri="{FF2B5EF4-FFF2-40B4-BE49-F238E27FC236}">
                <a16:creationId xmlns:a16="http://schemas.microsoft.com/office/drawing/2014/main" id="{8659A643-E450-4CA6-88EB-0AE5D5F0627F}"/>
              </a:ext>
            </a:extLst>
          </p:cNvPr>
          <p:cNvSpPr/>
          <p:nvPr/>
        </p:nvSpPr>
        <p:spPr>
          <a:xfrm>
            <a:off x="8839200" y="3098498"/>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7" name="矩形 36">
            <a:extLst>
              <a:ext uri="{FF2B5EF4-FFF2-40B4-BE49-F238E27FC236}">
                <a16:creationId xmlns:a16="http://schemas.microsoft.com/office/drawing/2014/main" id="{CC076215-4C1E-4750-B734-07194AED0FD8}"/>
              </a:ext>
            </a:extLst>
          </p:cNvPr>
          <p:cNvSpPr/>
          <p:nvPr/>
        </p:nvSpPr>
        <p:spPr>
          <a:xfrm rot="16200000">
            <a:off x="7091804" y="1694224"/>
            <a:ext cx="1176867" cy="1666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a:extLst>
              <a:ext uri="{FF2B5EF4-FFF2-40B4-BE49-F238E27FC236}">
                <a16:creationId xmlns:a16="http://schemas.microsoft.com/office/drawing/2014/main" id="{6D7ED402-0F89-438C-A430-E5CD6FFC0597}"/>
              </a:ext>
            </a:extLst>
          </p:cNvPr>
          <p:cNvSpPr/>
          <p:nvPr/>
        </p:nvSpPr>
        <p:spPr>
          <a:xfrm>
            <a:off x="8568626" y="6094328"/>
            <a:ext cx="1337374"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9A59025E-1444-4DA0-A9EF-6A46378F22D7}"/>
              </a:ext>
            </a:extLst>
          </p:cNvPr>
          <p:cNvSpPr/>
          <p:nvPr/>
        </p:nvSpPr>
        <p:spPr>
          <a:xfrm rot="16200000">
            <a:off x="6549693" y="4533315"/>
            <a:ext cx="1337374"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auto caption"/>
          <p:cNvSpPr txBox="1"/>
          <p:nvPr/>
        </p:nvSpPr>
        <p:spPr>
          <a:xfrm>
            <a:off x="457200" y="1371600"/>
            <a:ext cx="6629400" cy="3383280"/>
          </a:xfrm>
          <a:prstGeom prst="rect">
            <a:avLst/>
          </a:prstGeom>
          <a:noFill/>
        </p:spPr>
        <p:txBody>
          <a:bodyPr wrap="square" rtlCol="0">
            <a:normAutofit/>
          </a:bodyPr>
          <a:lstStyle/>
          <a:p>
            <a:pPr marL="285750" indent="-285750"/>
            <a:r>
              <a:rPr lang="en-US" altLang="zh-TW" dirty="0"/>
              <a:t>Setup: Same protocol as the previous slide, with the eighteen-parameter model (80 points).</a:t>
            </a:r>
          </a:p>
          <a:p>
            <a:pPr marL="285750" indent="-285750"/>
            <a:r>
              <a:rPr lang="en-US" altLang="zh-TW" dirty="0"/>
              <a:t>The mean residual is 0.028 mT inside R = 150 um and 0.181 mT in the 150-300 um shell, about ten and three and a half times smaller than the single-parameter model. Note the horizontal scale: the inner-shell histogram spans only 0-0.125 mT. The eighteen-parameter model therefore holds the residual an order of magnitude lower inside the calibrated core and degrades more slowly outside it.</a:t>
            </a:r>
          </a:p>
        </p:txBody>
      </p:sp>
      <p:grpSp>
        <p:nvGrpSpPr>
          <p:cNvPr id="11" name="群組 10">
            <a:extLst>
              <a:ext uri="{FF2B5EF4-FFF2-40B4-BE49-F238E27FC236}">
                <a16:creationId xmlns:a16="http://schemas.microsoft.com/office/drawing/2014/main" id="{71F87EB8-3058-47B9-A373-BAB3878BEBC9}"/>
              </a:ext>
            </a:extLst>
          </p:cNvPr>
          <p:cNvGrpSpPr/>
          <p:nvPr/>
        </p:nvGrpSpPr>
        <p:grpSpPr>
          <a:xfrm>
            <a:off x="7596892" y="3661229"/>
            <a:ext cx="3525781" cy="2859687"/>
            <a:chOff x="7669899" y="3652762"/>
            <a:chExt cx="3525781" cy="2859687"/>
          </a:xfrm>
        </p:grpSpPr>
        <p:grpSp>
          <p:nvGrpSpPr>
            <p:cNvPr id="10" name="群組 9">
              <a:extLst>
                <a:ext uri="{FF2B5EF4-FFF2-40B4-BE49-F238E27FC236}">
                  <a16:creationId xmlns:a16="http://schemas.microsoft.com/office/drawing/2014/main" id="{E4F537FB-004C-4D04-B0C4-0D2BA104FB7B}"/>
                </a:ext>
              </a:extLst>
            </p:cNvPr>
            <p:cNvGrpSpPr/>
            <p:nvPr/>
          </p:nvGrpSpPr>
          <p:grpSpPr>
            <a:xfrm>
              <a:off x="7722693" y="3652762"/>
              <a:ext cx="3472987" cy="2859687"/>
              <a:chOff x="7722693" y="3652762"/>
              <a:chExt cx="3472987" cy="2859687"/>
            </a:xfrm>
          </p:grpSpPr>
          <p:pic>
            <p:nvPicPr>
              <p:cNvPr id="8" name="圖片 7">
                <a:extLst>
                  <a:ext uri="{FF2B5EF4-FFF2-40B4-BE49-F238E27FC236}">
                    <a16:creationId xmlns:a16="http://schemas.microsoft.com/office/drawing/2014/main" id="{406A22A7-F2B1-4BEF-94D3-DA05A50EC0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1267" y="3652762"/>
                <a:ext cx="3424413" cy="2836333"/>
              </a:xfrm>
              <a:prstGeom prst="rect">
                <a:avLst/>
              </a:prstGeom>
            </p:spPr>
          </p:pic>
          <p:sp>
            <p:nvSpPr>
              <p:cNvPr id="9" name="矩形 8">
                <a:extLst>
                  <a:ext uri="{FF2B5EF4-FFF2-40B4-BE49-F238E27FC236}">
                    <a16:creationId xmlns:a16="http://schemas.microsoft.com/office/drawing/2014/main" id="{91817695-2EB0-4D97-BC64-4C9F41D4A7A9}"/>
                  </a:ext>
                </a:extLst>
              </p:cNvPr>
              <p:cNvSpPr/>
              <p:nvPr/>
            </p:nvSpPr>
            <p:spPr>
              <a:xfrm>
                <a:off x="9118600" y="6307667"/>
                <a:ext cx="1168400"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00C682DC-89B9-4DBF-8166-03ED786EE64B}"/>
                  </a:ext>
                </a:extLst>
              </p:cNvPr>
              <p:cNvSpPr/>
              <p:nvPr/>
            </p:nvSpPr>
            <p:spPr>
              <a:xfrm rot="16200000">
                <a:off x="7240884" y="4921990"/>
                <a:ext cx="1168400" cy="2047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6" name="文字方塊 15">
                  <a:extLst>
                    <a:ext uri="{FF2B5EF4-FFF2-40B4-BE49-F238E27FC236}">
                      <a16:creationId xmlns:a16="http://schemas.microsoft.com/office/drawing/2014/main" id="{94D2F78B-01F1-4A03-8C6D-636168783D0B}"/>
                    </a:ext>
                  </a:extLst>
                </p:cNvPr>
                <p:cNvSpPr txBox="1"/>
                <p:nvPr/>
              </p:nvSpPr>
              <p:spPr>
                <a:xfrm>
                  <a:off x="8954879" y="6286381"/>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16" name="文字方塊 15">
                  <a:extLst>
                    <a:ext uri="{FF2B5EF4-FFF2-40B4-BE49-F238E27FC236}">
                      <a16:creationId xmlns:a16="http://schemas.microsoft.com/office/drawing/2014/main" id="{94D2F78B-01F1-4A03-8C6D-636168783D0B}"/>
                    </a:ext>
                  </a:extLst>
                </p:cNvPr>
                <p:cNvSpPr txBox="1">
                  <a:spLocks noRot="1" noChangeAspect="1" noMove="1" noResize="1" noEditPoints="1" noAdjustHandles="1" noChangeArrowheads="1" noChangeShapeType="1" noTextEdit="1"/>
                </p:cNvSpPr>
                <p:nvPr/>
              </p:nvSpPr>
              <p:spPr>
                <a:xfrm>
                  <a:off x="8954879" y="6286381"/>
                  <a:ext cx="1635832" cy="215444"/>
                </a:xfrm>
                <a:prstGeom prst="rect">
                  <a:avLst/>
                </a:prstGeom>
                <a:blipFill>
                  <a:blip r:embed="rId3"/>
                  <a:stretch>
                    <a:fillRect l="-2239" r="-746"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7" name="文字方塊 16">
                  <a:extLst>
                    <a:ext uri="{FF2B5EF4-FFF2-40B4-BE49-F238E27FC236}">
                      <a16:creationId xmlns:a16="http://schemas.microsoft.com/office/drawing/2014/main" id="{6EC923FC-9DE9-4A45-A9C7-EFD37D2DB83E}"/>
                    </a:ext>
                  </a:extLst>
                </p:cNvPr>
                <p:cNvSpPr txBox="1"/>
                <p:nvPr/>
              </p:nvSpPr>
              <p:spPr>
                <a:xfrm rot="16200000">
                  <a:off x="7174892" y="4804455"/>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17" name="文字方塊 16">
                  <a:extLst>
                    <a:ext uri="{FF2B5EF4-FFF2-40B4-BE49-F238E27FC236}">
                      <a16:creationId xmlns:a16="http://schemas.microsoft.com/office/drawing/2014/main" id="{6EC923FC-9DE9-4A45-A9C7-EFD37D2DB83E}"/>
                    </a:ext>
                  </a:extLst>
                </p:cNvPr>
                <p:cNvSpPr txBox="1">
                  <a:spLocks noRot="1" noChangeAspect="1" noMove="1" noResize="1" noEditPoints="1" noAdjustHandles="1" noChangeArrowheads="1" noChangeShapeType="1" noTextEdit="1"/>
                </p:cNvSpPr>
                <p:nvPr/>
              </p:nvSpPr>
              <p:spPr>
                <a:xfrm rot="16200000">
                  <a:off x="7174892" y="4804455"/>
                  <a:ext cx="1205458" cy="215444"/>
                </a:xfrm>
                <a:prstGeom prst="rect">
                  <a:avLst/>
                </a:prstGeom>
                <a:blipFill>
                  <a:blip r:embed="rId4"/>
                  <a:stretch>
                    <a:fillRect t="-4545" r="-30556" b="-4545"/>
                  </a:stretch>
                </a:blipFill>
              </p:spPr>
              <p:txBody>
                <a:bodyPr/>
                <a:lstStyle/>
                <a:p>
                  <a:r>
                    <a:rPr lang="zh-TW" altLang="en-US">
                      <a:noFill/>
                    </a:rPr>
                    <a:t> </a:t>
                  </a:r>
                </a:p>
              </p:txBody>
            </p:sp>
          </mc:Fallback>
        </mc:AlternateContent>
      </p:grpSp>
      <p:grpSp>
        <p:nvGrpSpPr>
          <p:cNvPr id="19" name="群組 18">
            <a:extLst>
              <a:ext uri="{FF2B5EF4-FFF2-40B4-BE49-F238E27FC236}">
                <a16:creationId xmlns:a16="http://schemas.microsoft.com/office/drawing/2014/main" id="{91074A97-F655-4CC8-8240-88103E751D04}"/>
              </a:ext>
            </a:extLst>
          </p:cNvPr>
          <p:cNvGrpSpPr/>
          <p:nvPr/>
        </p:nvGrpSpPr>
        <p:grpSpPr>
          <a:xfrm>
            <a:off x="7812315" y="573411"/>
            <a:ext cx="3375926" cy="2623360"/>
            <a:chOff x="7746747" y="482600"/>
            <a:chExt cx="3375926" cy="2623360"/>
          </a:xfrm>
        </p:grpSpPr>
        <p:grpSp>
          <p:nvGrpSpPr>
            <p:cNvPr id="18" name="群組 17">
              <a:extLst>
                <a:ext uri="{FF2B5EF4-FFF2-40B4-BE49-F238E27FC236}">
                  <a16:creationId xmlns:a16="http://schemas.microsoft.com/office/drawing/2014/main" id="{E8F57ECB-9B50-48EF-B523-7FD6AD731F8E}"/>
                </a:ext>
              </a:extLst>
            </p:cNvPr>
            <p:cNvGrpSpPr/>
            <p:nvPr/>
          </p:nvGrpSpPr>
          <p:grpSpPr>
            <a:xfrm>
              <a:off x="7812336" y="482600"/>
              <a:ext cx="3310337" cy="2620159"/>
              <a:chOff x="7812336" y="482600"/>
              <a:chExt cx="3310337" cy="2620159"/>
            </a:xfrm>
          </p:grpSpPr>
          <p:pic>
            <p:nvPicPr>
              <p:cNvPr id="13" name="圖片 12">
                <a:extLst>
                  <a:ext uri="{FF2B5EF4-FFF2-40B4-BE49-F238E27FC236}">
                    <a16:creationId xmlns:a16="http://schemas.microsoft.com/office/drawing/2014/main" id="{52F5C80F-25BA-4BD7-B503-5E32D545FD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12336" y="482600"/>
                <a:ext cx="3310337" cy="2598873"/>
              </a:xfrm>
              <a:prstGeom prst="rect">
                <a:avLst/>
              </a:prstGeom>
            </p:spPr>
          </p:pic>
          <p:sp>
            <p:nvSpPr>
              <p:cNvPr id="15" name="矩形 14">
                <a:extLst>
                  <a:ext uri="{FF2B5EF4-FFF2-40B4-BE49-F238E27FC236}">
                    <a16:creationId xmlns:a16="http://schemas.microsoft.com/office/drawing/2014/main" id="{5FAF4BAA-5680-4245-92A7-A064875FA737}"/>
                  </a:ext>
                </a:extLst>
              </p:cNvPr>
              <p:cNvSpPr/>
              <p:nvPr/>
            </p:nvSpPr>
            <p:spPr>
              <a:xfrm>
                <a:off x="9118600" y="2946400"/>
                <a:ext cx="1095393" cy="156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a:extLst>
                  <a:ext uri="{FF2B5EF4-FFF2-40B4-BE49-F238E27FC236}">
                    <a16:creationId xmlns:a16="http://schemas.microsoft.com/office/drawing/2014/main" id="{5D4A26E1-17A7-4F57-BBC0-770E6AD40212}"/>
                  </a:ext>
                </a:extLst>
              </p:cNvPr>
              <p:cNvSpPr/>
              <p:nvPr/>
            </p:nvSpPr>
            <p:spPr>
              <a:xfrm rot="16200000">
                <a:off x="7342819" y="1666172"/>
                <a:ext cx="1095393" cy="1563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41" name="文字方塊 40">
                  <a:extLst>
                    <a:ext uri="{FF2B5EF4-FFF2-40B4-BE49-F238E27FC236}">
                      <a16:creationId xmlns:a16="http://schemas.microsoft.com/office/drawing/2014/main" id="{02867522-04A5-42D3-BB4F-47F0FF031376}"/>
                    </a:ext>
                  </a:extLst>
                </p:cNvPr>
                <p:cNvSpPr txBox="1"/>
                <p:nvPr/>
              </p:nvSpPr>
              <p:spPr>
                <a:xfrm>
                  <a:off x="8859865" y="2890516"/>
                  <a:ext cx="16358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Residual</m:t>
                        </m:r>
                        <m:r>
                          <a:rPr lang="en-US" altLang="zh-TW" sz="1400" b="0" i="0" smtClean="0">
                            <a:latin typeface="Cambria Math" panose="02040503050406030204" pitchFamily="18" charset="0"/>
                          </a:rPr>
                          <m:t> </m:t>
                        </m:r>
                        <m:r>
                          <m:rPr>
                            <m:sty m:val="p"/>
                          </m:rPr>
                          <a:rPr lang="en-US" altLang="zh-TW" sz="1400" b="0" i="0" smtClean="0">
                            <a:latin typeface="Cambria Math" panose="02040503050406030204" pitchFamily="18" charset="0"/>
                          </a:rPr>
                          <m:t>error</m:t>
                        </m:r>
                        <m:r>
                          <a:rPr lang="en-US" altLang="zh-TW" sz="1400" b="0" i="0" smtClean="0">
                            <a:latin typeface="Cambria Math" panose="02040503050406030204" pitchFamily="18" charset="0"/>
                          </a:rPr>
                          <m:t> </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𝑚𝑇</m:t>
                        </m:r>
                        <m:r>
                          <a:rPr lang="en-US" altLang="zh-TW" sz="1400" b="0" i="1" smtClean="0">
                            <a:latin typeface="Cambria Math" panose="02040503050406030204" pitchFamily="18" charset="0"/>
                          </a:rPr>
                          <m:t>) </m:t>
                        </m:r>
                      </m:oMath>
                    </m:oMathPara>
                  </a14:m>
                  <a:endParaRPr lang="zh-TW" altLang="en-US" dirty="0"/>
                </a:p>
              </p:txBody>
            </p:sp>
          </mc:Choice>
          <mc:Fallback>
            <p:sp>
              <p:nvSpPr>
                <p:cNvPr id="41" name="文字方塊 40">
                  <a:extLst>
                    <a:ext uri="{FF2B5EF4-FFF2-40B4-BE49-F238E27FC236}">
                      <a16:creationId xmlns:a16="http://schemas.microsoft.com/office/drawing/2014/main" id="{02867522-04A5-42D3-BB4F-47F0FF031376}"/>
                    </a:ext>
                  </a:extLst>
                </p:cNvPr>
                <p:cNvSpPr txBox="1">
                  <a:spLocks noRot="1" noChangeAspect="1" noMove="1" noResize="1" noEditPoints="1" noAdjustHandles="1" noChangeArrowheads="1" noChangeShapeType="1" noTextEdit="1"/>
                </p:cNvSpPr>
                <p:nvPr/>
              </p:nvSpPr>
              <p:spPr>
                <a:xfrm>
                  <a:off x="8859865" y="2890516"/>
                  <a:ext cx="1635832" cy="215444"/>
                </a:xfrm>
                <a:prstGeom prst="rect">
                  <a:avLst/>
                </a:prstGeom>
                <a:blipFill>
                  <a:blip r:embed="rId6"/>
                  <a:stretch>
                    <a:fillRect l="-2239" r="-1119" b="-34286"/>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45" name="文字方塊 44">
                  <a:extLst>
                    <a:ext uri="{FF2B5EF4-FFF2-40B4-BE49-F238E27FC236}">
                      <a16:creationId xmlns:a16="http://schemas.microsoft.com/office/drawing/2014/main" id="{A1AA19C0-C7B6-479A-972F-14B3CD2E3BDD}"/>
                    </a:ext>
                  </a:extLst>
                </p:cNvPr>
                <p:cNvSpPr txBox="1"/>
                <p:nvPr/>
              </p:nvSpPr>
              <p:spPr>
                <a:xfrm rot="16200000">
                  <a:off x="7251740" y="1617244"/>
                  <a:ext cx="120545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b="0" i="0" smtClean="0">
                            <a:latin typeface="Cambria Math" panose="02040503050406030204" pitchFamily="18" charset="0"/>
                          </a:rPr>
                          <m:t>Percentage</m:t>
                        </m:r>
                        <m:r>
                          <a:rPr lang="en-US" altLang="zh-TW" sz="1400" b="0" i="1" smtClean="0">
                            <a:latin typeface="Cambria Math" panose="02040503050406030204" pitchFamily="18" charset="0"/>
                          </a:rPr>
                          <m:t>(%)</m:t>
                        </m:r>
                      </m:oMath>
                    </m:oMathPara>
                  </a14:m>
                  <a:endParaRPr lang="zh-TW" altLang="en-US" dirty="0"/>
                </a:p>
              </p:txBody>
            </p:sp>
          </mc:Choice>
          <mc:Fallback>
            <p:sp>
              <p:nvSpPr>
                <p:cNvPr id="45" name="文字方塊 44">
                  <a:extLst>
                    <a:ext uri="{FF2B5EF4-FFF2-40B4-BE49-F238E27FC236}">
                      <a16:creationId xmlns:a16="http://schemas.microsoft.com/office/drawing/2014/main" id="{A1AA19C0-C7B6-479A-972F-14B3CD2E3BDD}"/>
                    </a:ext>
                  </a:extLst>
                </p:cNvPr>
                <p:cNvSpPr txBox="1">
                  <a:spLocks noRot="1" noChangeAspect="1" noMove="1" noResize="1" noEditPoints="1" noAdjustHandles="1" noChangeArrowheads="1" noChangeShapeType="1" noTextEdit="1"/>
                </p:cNvSpPr>
                <p:nvPr/>
              </p:nvSpPr>
              <p:spPr>
                <a:xfrm rot="16200000">
                  <a:off x="7251740" y="1617244"/>
                  <a:ext cx="1205458" cy="215444"/>
                </a:xfrm>
                <a:prstGeom prst="rect">
                  <a:avLst/>
                </a:prstGeom>
                <a:blipFill>
                  <a:blip r:embed="rId7"/>
                  <a:stretch>
                    <a:fillRect t="-5051" r="-31429" b="-4545"/>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056572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B6964577-860D-4EB3-8219-1A6240335DA6}"/>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3" name="文字方塊 2">
                <a:extLst>
                  <a:ext uri="{FF2B5EF4-FFF2-40B4-BE49-F238E27FC236}">
                    <a16:creationId xmlns:a16="http://schemas.microsoft.com/office/drawing/2014/main" id="{B6964577-860D-4EB3-8219-1A6240335DA6}"/>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54C8E874-6E04-4F06-97C3-1C58F72C5F9C}"/>
                  </a:ext>
                </a:extLst>
              </p:cNvPr>
              <p:cNvSpPr txBox="1"/>
              <p:nvPr/>
            </p:nvSpPr>
            <p:spPr>
              <a:xfrm>
                <a:off x="5420171" y="1337731"/>
                <a:ext cx="6585562" cy="254165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dirty="0"/>
                  <a:t>This figure overlays the distributions of the two models. The red distribution is noticeably more concentrated than the blue one, indicating that the eighteen-parameter model performs better than the one-parameter model in fitting the magnetic field.</a:t>
                </a:r>
              </a:p>
              <a:p>
                <a:pPr marL="285750" indent="-285750">
                  <a:lnSpc>
                    <a:spcPct val="150000"/>
                  </a:lnSpc>
                  <a:buFont typeface="Arial" panose="020B0604020202020204" pitchFamily="34" charset="0"/>
                  <a:buChar char="•"/>
                </a:pPr>
                <a:endParaRPr lang="en-US" altLang="zh-TW" dirty="0"/>
              </a:p>
              <a:p>
                <a:pPr marL="285750" indent="-285750">
                  <a:lnSpc>
                    <a:spcPct val="150000"/>
                  </a:lnSpc>
                  <a:buFont typeface="Arial" panose="020B0604020202020204" pitchFamily="34" charset="0"/>
                  <a:buChar char="•"/>
                </a:pPr>
                <a:r>
                  <a:rPr lang="en-US" altLang="zh-TW" dirty="0"/>
                  <a:t>Sampling range:</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1" name="文字方塊 10">
                <a:extLst>
                  <a:ext uri="{FF2B5EF4-FFF2-40B4-BE49-F238E27FC236}">
                    <a16:creationId xmlns:a16="http://schemas.microsoft.com/office/drawing/2014/main" id="{54C8E874-6E04-4F06-97C3-1C58F72C5F9C}"/>
                  </a:ext>
                </a:extLst>
              </p:cNvPr>
              <p:cNvSpPr txBox="1">
                <a:spLocks noRot="1" noChangeAspect="1" noMove="1" noResize="1" noEditPoints="1" noAdjustHandles="1" noChangeArrowheads="1" noChangeShapeType="1" noTextEdit="1"/>
              </p:cNvSpPr>
              <p:nvPr/>
            </p:nvSpPr>
            <p:spPr>
              <a:xfrm>
                <a:off x="5420171" y="1337731"/>
                <a:ext cx="6585562" cy="2541658"/>
              </a:xfrm>
              <a:prstGeom prst="rect">
                <a:avLst/>
              </a:prstGeom>
              <a:blipFill>
                <a:blip r:embed="rId3"/>
                <a:stretch>
                  <a:fillRect l="-556" b="-2878"/>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204A2E2A-E217-4B63-B9CE-16D46BBE2CC3}"/>
              </a:ext>
            </a:extLst>
          </p:cNvPr>
          <p:cNvGrpSpPr/>
          <p:nvPr/>
        </p:nvGrpSpPr>
        <p:grpSpPr>
          <a:xfrm>
            <a:off x="427436" y="2101136"/>
            <a:ext cx="3467231" cy="2719202"/>
            <a:chOff x="427436" y="2101136"/>
            <a:chExt cx="3467231" cy="2719202"/>
          </a:xfrm>
        </p:grpSpPr>
        <p:sp>
          <p:nvSpPr>
            <p:cNvPr id="4" name="矩形 3">
              <a:extLst>
                <a:ext uri="{FF2B5EF4-FFF2-40B4-BE49-F238E27FC236}">
                  <a16:creationId xmlns:a16="http://schemas.microsoft.com/office/drawing/2014/main" id="{52A329CE-7079-4033-9D3B-A4C731D28382}"/>
                </a:ext>
              </a:extLst>
            </p:cNvPr>
            <p:cNvSpPr/>
            <p:nvPr/>
          </p:nvSpPr>
          <p:spPr>
            <a:xfrm>
              <a:off x="2353733" y="4546600"/>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E7D1ED05-08C1-4440-8C7B-332D3E92975C}"/>
                </a:ext>
              </a:extLst>
            </p:cNvPr>
            <p:cNvSpPr/>
            <p:nvPr/>
          </p:nvSpPr>
          <p:spPr>
            <a:xfrm rot="16200000">
              <a:off x="-206162" y="2734734"/>
              <a:ext cx="1540934" cy="273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7" name="群組 16">
            <a:extLst>
              <a:ext uri="{FF2B5EF4-FFF2-40B4-BE49-F238E27FC236}">
                <a16:creationId xmlns:a16="http://schemas.microsoft.com/office/drawing/2014/main" id="{B632C5C1-E9B3-4BA9-BF55-47BB9B62E7D7}"/>
              </a:ext>
            </a:extLst>
          </p:cNvPr>
          <p:cNvGrpSpPr/>
          <p:nvPr/>
        </p:nvGrpSpPr>
        <p:grpSpPr>
          <a:xfrm>
            <a:off x="765332" y="1328282"/>
            <a:ext cx="3795396" cy="3112773"/>
            <a:chOff x="765332" y="1328282"/>
            <a:chExt cx="3795396" cy="3112773"/>
          </a:xfrm>
        </p:grpSpPr>
        <p:grpSp>
          <p:nvGrpSpPr>
            <p:cNvPr id="15" name="群組 14">
              <a:extLst>
                <a:ext uri="{FF2B5EF4-FFF2-40B4-BE49-F238E27FC236}">
                  <a16:creationId xmlns:a16="http://schemas.microsoft.com/office/drawing/2014/main" id="{2464D740-1A30-4504-B2DB-15C73DA7E6C7}"/>
                </a:ext>
              </a:extLst>
            </p:cNvPr>
            <p:cNvGrpSpPr/>
            <p:nvPr/>
          </p:nvGrpSpPr>
          <p:grpSpPr>
            <a:xfrm>
              <a:off x="793913" y="1328282"/>
              <a:ext cx="3766815" cy="3112773"/>
              <a:chOff x="793913" y="1328282"/>
              <a:chExt cx="3766815" cy="3112773"/>
            </a:xfrm>
          </p:grpSpPr>
          <p:pic>
            <p:nvPicPr>
              <p:cNvPr id="10" name="圖片 9">
                <a:extLst>
                  <a:ext uri="{FF2B5EF4-FFF2-40B4-BE49-F238E27FC236}">
                    <a16:creationId xmlns:a16="http://schemas.microsoft.com/office/drawing/2014/main" id="{05E1294A-A8B7-4174-99AF-9CA84C5BDF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394" y="1328282"/>
                <a:ext cx="3725334" cy="3087373"/>
              </a:xfrm>
              <a:prstGeom prst="rect">
                <a:avLst/>
              </a:prstGeom>
            </p:spPr>
          </p:pic>
          <p:sp>
            <p:nvSpPr>
              <p:cNvPr id="14" name="矩形 13">
                <a:extLst>
                  <a:ext uri="{FF2B5EF4-FFF2-40B4-BE49-F238E27FC236}">
                    <a16:creationId xmlns:a16="http://schemas.microsoft.com/office/drawing/2014/main" id="{BE6F20F3-2FA3-4271-93B9-057EFCA90B77}"/>
                  </a:ext>
                </a:extLst>
              </p:cNvPr>
              <p:cNvSpPr/>
              <p:nvPr/>
            </p:nvSpPr>
            <p:spPr>
              <a:xfrm>
                <a:off x="2353733" y="4216400"/>
                <a:ext cx="1253067" cy="224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F5E19A09-F507-4464-A9E1-16630DF099E6}"/>
                  </a:ext>
                </a:extLst>
              </p:cNvPr>
              <p:cNvSpPr/>
              <p:nvPr/>
            </p:nvSpPr>
            <p:spPr>
              <a:xfrm rot="16200000">
                <a:off x="279707" y="2640742"/>
                <a:ext cx="1253067" cy="224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C6818569-D395-4F66-8618-ED26C17D8C4B}"/>
                    </a:ext>
                  </a:extLst>
                </p:cNvPr>
                <p:cNvSpPr txBox="1"/>
                <p:nvPr/>
              </p:nvSpPr>
              <p:spPr>
                <a:xfrm>
                  <a:off x="2034494" y="4182422"/>
                  <a:ext cx="18915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Residual</m:t>
                        </m:r>
                        <m:r>
                          <a:rPr lang="en-US" altLang="zh-TW" sz="1600" b="0" i="0" smtClean="0">
                            <a:latin typeface="Cambria Math" panose="02040503050406030204" pitchFamily="18" charset="0"/>
                          </a:rPr>
                          <m:t> </m:t>
                        </m:r>
                        <m:r>
                          <m:rPr>
                            <m:sty m:val="p"/>
                          </m:rPr>
                          <a:rPr lang="en-US" altLang="zh-TW" sz="1600" b="0" i="0" smtClean="0">
                            <a:latin typeface="Cambria Math" panose="02040503050406030204" pitchFamily="18" charset="0"/>
                          </a:rPr>
                          <m:t>error</m:t>
                        </m:r>
                        <m:r>
                          <a:rPr lang="en-US" altLang="zh-TW" sz="1600" b="1" i="0" smtClean="0">
                            <a:latin typeface="Cambria Math" panose="02040503050406030204" pitchFamily="18" charset="0"/>
                          </a:rPr>
                          <m:t> </m:t>
                        </m:r>
                        <m:r>
                          <a:rPr lang="en-US" altLang="zh-TW" sz="1600" b="1" i="1" smtClean="0">
                            <a:latin typeface="Cambria Math" panose="02040503050406030204" pitchFamily="18" charset="0"/>
                          </a:rPr>
                          <m:t>(</m:t>
                        </m:r>
                        <m:r>
                          <a:rPr lang="en-US" altLang="zh-TW" sz="1600" b="0" i="1" smtClean="0">
                            <a:latin typeface="Cambria Math" panose="02040503050406030204" pitchFamily="18" charset="0"/>
                          </a:rPr>
                          <m:t>𝑚𝑇</m:t>
                        </m:r>
                        <m:r>
                          <a:rPr lang="en-US" altLang="zh-TW" sz="1600" b="1" i="1" smtClean="0">
                            <a:latin typeface="Cambria Math" panose="02040503050406030204" pitchFamily="18" charset="0"/>
                          </a:rPr>
                          <m:t>) </m:t>
                        </m:r>
                      </m:oMath>
                    </m:oMathPara>
                  </a14:m>
                  <a:endParaRPr lang="zh-TW" altLang="en-US" sz="2000" b="1" dirty="0"/>
                </a:p>
              </p:txBody>
            </p:sp>
          </mc:Choice>
          <mc:Fallback>
            <p:sp>
              <p:nvSpPr>
                <p:cNvPr id="12" name="文字方塊 11">
                  <a:extLst>
                    <a:ext uri="{FF2B5EF4-FFF2-40B4-BE49-F238E27FC236}">
                      <a16:creationId xmlns:a16="http://schemas.microsoft.com/office/drawing/2014/main" id="{C6818569-D395-4F66-8618-ED26C17D8C4B}"/>
                    </a:ext>
                  </a:extLst>
                </p:cNvPr>
                <p:cNvSpPr txBox="1">
                  <a:spLocks noRot="1" noChangeAspect="1" noMove="1" noResize="1" noEditPoints="1" noAdjustHandles="1" noChangeArrowheads="1" noChangeShapeType="1" noTextEdit="1"/>
                </p:cNvSpPr>
                <p:nvPr/>
              </p:nvSpPr>
              <p:spPr>
                <a:xfrm>
                  <a:off x="2034494" y="4182422"/>
                  <a:ext cx="1891543" cy="246221"/>
                </a:xfrm>
                <a:prstGeom prst="rect">
                  <a:avLst/>
                </a:prstGeom>
                <a:blipFill>
                  <a:blip r:embed="rId5"/>
                  <a:stretch>
                    <a:fillRect l="-1613" r="-323" b="-3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00C082E8-A392-4B92-8E0E-834FE15234DA}"/>
                    </a:ext>
                  </a:extLst>
                </p:cNvPr>
                <p:cNvSpPr txBox="1"/>
                <p:nvPr/>
              </p:nvSpPr>
              <p:spPr>
                <a:xfrm rot="16200000">
                  <a:off x="201556" y="2619003"/>
                  <a:ext cx="137377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600" b="0" i="0" smtClean="0">
                            <a:latin typeface="Cambria Math" panose="02040503050406030204" pitchFamily="18" charset="0"/>
                          </a:rPr>
                          <m:t>Percentage</m:t>
                        </m:r>
                        <m:r>
                          <a:rPr lang="en-US" altLang="zh-TW" sz="1600" b="0" i="1" smtClean="0">
                            <a:latin typeface="Cambria Math" panose="02040503050406030204" pitchFamily="18" charset="0"/>
                          </a:rPr>
                          <m:t>(%)</m:t>
                        </m:r>
                      </m:oMath>
                    </m:oMathPara>
                  </a14:m>
                  <a:endParaRPr lang="zh-TW" altLang="en-US" sz="2000" dirty="0"/>
                </a:p>
              </p:txBody>
            </p:sp>
          </mc:Choice>
          <mc:Fallback>
            <p:sp>
              <p:nvSpPr>
                <p:cNvPr id="13" name="文字方塊 12">
                  <a:extLst>
                    <a:ext uri="{FF2B5EF4-FFF2-40B4-BE49-F238E27FC236}">
                      <a16:creationId xmlns:a16="http://schemas.microsoft.com/office/drawing/2014/main" id="{00C082E8-A392-4B92-8E0E-834FE15234DA}"/>
                    </a:ext>
                  </a:extLst>
                </p:cNvPr>
                <p:cNvSpPr txBox="1">
                  <a:spLocks noRot="1" noChangeAspect="1" noMove="1" noResize="1" noEditPoints="1" noAdjustHandles="1" noChangeArrowheads="1" noChangeShapeType="1" noTextEdit="1"/>
                </p:cNvSpPr>
                <p:nvPr/>
              </p:nvSpPr>
              <p:spPr>
                <a:xfrm rot="16200000">
                  <a:off x="201556" y="2619003"/>
                  <a:ext cx="1373773" cy="246221"/>
                </a:xfrm>
                <a:prstGeom prst="rect">
                  <a:avLst/>
                </a:prstGeom>
                <a:blipFill>
                  <a:blip r:embed="rId6"/>
                  <a:stretch>
                    <a:fillRect t="-4867" r="-32500" b="-3982"/>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963438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Current-based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40" name="文字方塊 39">
            <a:extLst>
              <a:ext uri="{FF2B5EF4-FFF2-40B4-BE49-F238E27FC236}">
                <a16:creationId xmlns:a16="http://schemas.microsoft.com/office/drawing/2014/main" id="{B1E82766-E1D8-4AA6-A2B9-6AEA170385C0}"/>
              </a:ext>
            </a:extLst>
          </p:cNvPr>
          <p:cNvSpPr txBox="1"/>
          <p:nvPr/>
        </p:nvSpPr>
        <p:spPr>
          <a:xfrm>
            <a:off x="0" y="324377"/>
            <a:ext cx="6324600" cy="390684"/>
          </a:xfrm>
          <a:prstGeom prst="rect">
            <a:avLst/>
          </a:prstGeom>
          <a:noFill/>
        </p:spPr>
        <p:txBody>
          <a:bodyPr wrap="square" rtlCol="0">
            <a:spAutoFit/>
          </a:bodyPr>
          <a:lstStyle/>
          <a:p>
            <a:pPr>
              <a:lnSpc>
                <a:spcPct val="115000"/>
              </a:lnSpc>
              <a:spcAft>
                <a:spcPts val="800"/>
              </a:spcAft>
            </a:pPr>
            <a:r>
              <a:rPr lang="en-US" altLang="zh-TW"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E</a:t>
            </a:r>
            <a:r>
              <a:rPr lang="en-US" altLang="zh-TW" kern="1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 </a:t>
            </a:r>
            <a:r>
              <a:rPr lang="en-US" altLang="zh-TW" i="1" kern="1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Validation</a:t>
            </a:r>
            <a:endParaRPr lang="zh-TW" altLang="zh-TW" kern="100" dirty="0">
              <a:effectLst/>
              <a:latin typeface="Aptos"/>
              <a:ea typeface="新細明體" panose="02020500000000000000" pitchFamily="18" charset="-120"/>
              <a:cs typeface="Times New Roman" panose="02020603050405020304" pitchFamily="18" charset="0"/>
            </a:endParaRPr>
          </a:p>
        </p:txBody>
      </p:sp>
      <p:sp>
        <p:nvSpPr>
          <p:cNvPr id="19" name="文字方塊 18">
            <a:extLst>
              <a:ext uri="{FF2B5EF4-FFF2-40B4-BE49-F238E27FC236}">
                <a16:creationId xmlns:a16="http://schemas.microsoft.com/office/drawing/2014/main" id="{7AEE1245-C1D7-468D-B66E-D359C98E02EC}"/>
              </a:ext>
            </a:extLst>
          </p:cNvPr>
          <p:cNvSpPr txBox="1"/>
          <p:nvPr/>
        </p:nvSpPr>
        <p:spPr>
          <a:xfrm>
            <a:off x="6885600" y="840717"/>
            <a:ext cx="5384798" cy="4801314"/>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These two figures show the differences in the calibrated magnetic charge locations between the two models. The upper row presents the magnetic charge locations calibrated by the one-parameter model, shown using side views of poles P1 and P2. It can be clearly seen that, for the lower pole, some of the magnetic charge locations are located outside the pole. This is because the one-parameter model constrains the magnetic charges to lie along the actuator coordinate axes. The lower row presents the results of the eighteen-parameter model, in which the magnetic charge locations of the lower pole move inside the pole. This is more consistent with the expected physical situation. Moreover, the error histograms shown above also indicate that these magnetic charge locations are more consistent with the theoretical positions.</a:t>
            </a:r>
            <a:endParaRPr lang="zh-TW" altLang="en-US" dirty="0"/>
          </a:p>
        </p:txBody>
      </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89A87B67-4717-4362-98CB-9141ED7DCE5C}"/>
                  </a:ext>
                </a:extLst>
              </p:cNvPr>
              <p:cNvSpPr txBox="1"/>
              <p:nvPr/>
            </p:nvSpPr>
            <p:spPr>
              <a:xfrm>
                <a:off x="8217453" y="423838"/>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xmlns="">
          <p:sp>
            <p:nvSpPr>
              <p:cNvPr id="29" name="文字方塊 28">
                <a:extLst>
                  <a:ext uri="{FF2B5EF4-FFF2-40B4-BE49-F238E27FC236}">
                    <a16:creationId xmlns:a16="http://schemas.microsoft.com/office/drawing/2014/main" id="{89A87B67-4717-4362-98CB-9141ED7DCE5C}"/>
                  </a:ext>
                </a:extLst>
              </p:cNvPr>
              <p:cNvSpPr txBox="1">
                <a:spLocks noRot="1" noChangeAspect="1" noMove="1" noResize="1" noEditPoints="1" noAdjustHandles="1" noChangeArrowheads="1" noChangeShapeType="1" noTextEdit="1"/>
              </p:cNvSpPr>
              <p:nvPr/>
            </p:nvSpPr>
            <p:spPr>
              <a:xfrm>
                <a:off x="8217453" y="423838"/>
                <a:ext cx="3564053" cy="321563"/>
              </a:xfrm>
              <a:prstGeom prst="rect">
                <a:avLst/>
              </a:prstGeom>
              <a:blipFill>
                <a:blip r:embed="rId2"/>
                <a:stretch>
                  <a:fillRect l="-1197" t="-15385" r="-5299" b="-25000"/>
                </a:stretch>
              </a:blipFill>
            </p:spPr>
            <p:txBody>
              <a:bodyPr/>
              <a:lstStyle/>
              <a:p>
                <a:r>
                  <a:rPr lang="zh-TW" altLang="en-US">
                    <a:noFill/>
                  </a:rPr>
                  <a:t> </a:t>
                </a:r>
              </a:p>
            </p:txBody>
          </p:sp>
        </mc:Fallback>
      </mc:AlternateContent>
      <p:grpSp>
        <p:nvGrpSpPr>
          <p:cNvPr id="6" name="群組 5">
            <a:extLst>
              <a:ext uri="{FF2B5EF4-FFF2-40B4-BE49-F238E27FC236}">
                <a16:creationId xmlns:a16="http://schemas.microsoft.com/office/drawing/2014/main" id="{C89A0346-8189-4276-A7F0-0B064B6352FC}"/>
              </a:ext>
            </a:extLst>
          </p:cNvPr>
          <p:cNvGrpSpPr/>
          <p:nvPr/>
        </p:nvGrpSpPr>
        <p:grpSpPr>
          <a:xfrm>
            <a:off x="67661" y="1215969"/>
            <a:ext cx="6937032" cy="3354715"/>
            <a:chOff x="101527" y="1144012"/>
            <a:chExt cx="6937032" cy="3354715"/>
          </a:xfrm>
        </p:grpSpPr>
        <p:pic>
          <p:nvPicPr>
            <p:cNvPr id="5" name="圖片 4">
              <a:extLst>
                <a:ext uri="{FF2B5EF4-FFF2-40B4-BE49-F238E27FC236}">
                  <a16:creationId xmlns:a16="http://schemas.microsoft.com/office/drawing/2014/main" id="{A95DCD7E-C4E0-481E-BB54-103FC9611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235" y="1144012"/>
              <a:ext cx="6503365" cy="3004655"/>
            </a:xfrm>
            <a:prstGeom prst="rect">
              <a:avLst/>
            </a:prstGeom>
          </p:spPr>
        </p:pic>
        <p:grpSp>
          <p:nvGrpSpPr>
            <p:cNvPr id="32" name="群組 31">
              <a:extLst>
                <a:ext uri="{FF2B5EF4-FFF2-40B4-BE49-F238E27FC236}">
                  <a16:creationId xmlns:a16="http://schemas.microsoft.com/office/drawing/2014/main" id="{00AAE3B7-7BF1-4B56-BAE2-3D620CD83099}"/>
                </a:ext>
              </a:extLst>
            </p:cNvPr>
            <p:cNvGrpSpPr/>
            <p:nvPr/>
          </p:nvGrpSpPr>
          <p:grpSpPr>
            <a:xfrm>
              <a:off x="101527" y="1345441"/>
              <a:ext cx="6937032" cy="3153286"/>
              <a:chOff x="1625800" y="1853204"/>
              <a:chExt cx="9002701" cy="3165128"/>
            </a:xfrm>
          </p:grpSpPr>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2518E20F-8820-4061-B1C1-9B2B8E6A835C}"/>
                      </a:ext>
                    </a:extLst>
                  </p:cNvPr>
                  <p:cNvSpPr txBox="1"/>
                  <p:nvPr/>
                </p:nvSpPr>
                <p:spPr>
                  <a:xfrm rot="16200000">
                    <a:off x="1059395" y="2788942"/>
                    <a:ext cx="1409810" cy="2770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3" name="文字方塊 32">
                    <a:extLst>
                      <a:ext uri="{FF2B5EF4-FFF2-40B4-BE49-F238E27FC236}">
                        <a16:creationId xmlns:a16="http://schemas.microsoft.com/office/drawing/2014/main" id="{2518E20F-8820-4061-B1C1-9B2B8E6A835C}"/>
                      </a:ext>
                    </a:extLst>
                  </p:cNvPr>
                  <p:cNvSpPr txBox="1">
                    <a:spLocks noRot="1" noChangeAspect="1" noMove="1" noResize="1" noEditPoints="1" noAdjustHandles="1" noChangeArrowheads="1" noChangeShapeType="1" noTextEdit="1"/>
                  </p:cNvSpPr>
                  <p:nvPr/>
                </p:nvSpPr>
                <p:spPr>
                  <a:xfrm rot="16200000">
                    <a:off x="1059395" y="2788942"/>
                    <a:ext cx="1409810" cy="277000"/>
                  </a:xfrm>
                  <a:prstGeom prst="rect">
                    <a:avLst/>
                  </a:prstGeom>
                  <a:blipFill>
                    <a:blip r:embed="rId4"/>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C76A7CE7-457D-4FFE-A3B1-39E0A8845413}"/>
                      </a:ext>
                    </a:extLst>
                  </p:cNvPr>
                  <p:cNvSpPr txBox="1"/>
                  <p:nvPr/>
                </p:nvSpPr>
                <p:spPr>
                  <a:xfrm>
                    <a:off x="3287298"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4" name="文字方塊 33">
                    <a:extLst>
                      <a:ext uri="{FF2B5EF4-FFF2-40B4-BE49-F238E27FC236}">
                        <a16:creationId xmlns:a16="http://schemas.microsoft.com/office/drawing/2014/main" id="{C76A7CE7-457D-4FFE-A3B1-39E0A8845413}"/>
                      </a:ext>
                    </a:extLst>
                  </p:cNvPr>
                  <p:cNvSpPr txBox="1">
                    <a:spLocks noRot="1" noChangeAspect="1" noMove="1" noResize="1" noEditPoints="1" noAdjustHandles="1" noChangeArrowheads="1" noChangeShapeType="1" noTextEdit="1"/>
                  </p:cNvSpPr>
                  <p:nvPr/>
                </p:nvSpPr>
                <p:spPr>
                  <a:xfrm>
                    <a:off x="3287298" y="4741333"/>
                    <a:ext cx="1436034" cy="276999"/>
                  </a:xfrm>
                  <a:prstGeom prst="rect">
                    <a:avLst/>
                  </a:prstGeom>
                  <a:blipFill>
                    <a:blip r:embed="rId5"/>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A2AF3DB8-6AEF-4EDC-934E-65275A38ABCE}"/>
                      </a:ext>
                    </a:extLst>
                  </p:cNvPr>
                  <p:cNvSpPr txBox="1"/>
                  <p:nvPr/>
                </p:nvSpPr>
                <p:spPr>
                  <a:xfrm>
                    <a:off x="7265875" y="4741333"/>
                    <a:ext cx="1436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35" name="文字方塊 34">
                    <a:extLst>
                      <a:ext uri="{FF2B5EF4-FFF2-40B4-BE49-F238E27FC236}">
                        <a16:creationId xmlns:a16="http://schemas.microsoft.com/office/drawing/2014/main" id="{A2AF3DB8-6AEF-4EDC-934E-65275A38ABCE}"/>
                      </a:ext>
                    </a:extLst>
                  </p:cNvPr>
                  <p:cNvSpPr txBox="1">
                    <a:spLocks noRot="1" noChangeAspect="1" noMove="1" noResize="1" noEditPoints="1" noAdjustHandles="1" noChangeArrowheads="1" noChangeShapeType="1" noTextEdit="1"/>
                  </p:cNvSpPr>
                  <p:nvPr/>
                </p:nvSpPr>
                <p:spPr>
                  <a:xfrm>
                    <a:off x="7265875" y="4741333"/>
                    <a:ext cx="1436034" cy="276999"/>
                  </a:xfrm>
                  <a:prstGeom prst="rect">
                    <a:avLst/>
                  </a:prstGeom>
                  <a:blipFill>
                    <a:blip r:embed="rId6"/>
                    <a:stretch>
                      <a:fillRect l="-5495" t="-2222" r="-33516"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B76B494B-9CE2-48D5-ABD5-138500987A43}"/>
                      </a:ext>
                    </a:extLst>
                  </p:cNvPr>
                  <p:cNvSpPr txBox="1"/>
                  <p:nvPr/>
                </p:nvSpPr>
                <p:spPr>
                  <a:xfrm>
                    <a:off x="2739450" y="2974322"/>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𝟐</m:t>
                              </m:r>
                            </m:sub>
                          </m:sSub>
                        </m:oMath>
                      </m:oMathPara>
                    </a14:m>
                    <a:endParaRPr lang="zh-TW" altLang="en-US" b="1" dirty="0"/>
                  </a:p>
                </p:txBody>
              </p:sp>
            </mc:Choice>
            <mc:Fallback xmlns="">
              <p:sp>
                <p:nvSpPr>
                  <p:cNvPr id="36" name="文字方塊 35">
                    <a:extLst>
                      <a:ext uri="{FF2B5EF4-FFF2-40B4-BE49-F238E27FC236}">
                        <a16:creationId xmlns:a16="http://schemas.microsoft.com/office/drawing/2014/main" id="{B76B494B-9CE2-48D5-ABD5-138500987A43}"/>
                      </a:ext>
                    </a:extLst>
                  </p:cNvPr>
                  <p:cNvSpPr txBox="1">
                    <a:spLocks noRot="1" noChangeAspect="1" noMove="1" noResize="1" noEditPoints="1" noAdjustHandles="1" noChangeArrowheads="1" noChangeShapeType="1" noTextEdit="1"/>
                  </p:cNvSpPr>
                  <p:nvPr/>
                </p:nvSpPr>
                <p:spPr>
                  <a:xfrm>
                    <a:off x="2739450" y="2974322"/>
                    <a:ext cx="516103" cy="369332"/>
                  </a:xfrm>
                  <a:prstGeom prst="rect">
                    <a:avLst/>
                  </a:prstGeom>
                  <a:blipFill>
                    <a:blip r:embed="rId7"/>
                    <a:stretch>
                      <a:fillRect l="-27692" r="-29231"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42FCE35B-7D7F-464A-AA8F-6154C7ED7B93}"/>
                      </a:ext>
                    </a:extLst>
                  </p:cNvPr>
                  <p:cNvSpPr txBox="1"/>
                  <p:nvPr/>
                </p:nvSpPr>
                <p:spPr>
                  <a:xfrm>
                    <a:off x="9075800" y="3612821"/>
                    <a:ext cx="5161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𝒒</m:t>
                              </m:r>
                            </m:e>
                            <m: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𝟏</m:t>
                              </m:r>
                            </m:sub>
                          </m:sSub>
                        </m:oMath>
                      </m:oMathPara>
                    </a14:m>
                    <a:endParaRPr lang="zh-TW" altLang="en-US" b="1" dirty="0"/>
                  </a:p>
                </p:txBody>
              </p:sp>
            </mc:Choice>
            <mc:Fallback xmlns="">
              <p:sp>
                <p:nvSpPr>
                  <p:cNvPr id="37" name="文字方塊 36">
                    <a:extLst>
                      <a:ext uri="{FF2B5EF4-FFF2-40B4-BE49-F238E27FC236}">
                        <a16:creationId xmlns:a16="http://schemas.microsoft.com/office/drawing/2014/main" id="{42FCE35B-7D7F-464A-AA8F-6154C7ED7B93}"/>
                      </a:ext>
                    </a:extLst>
                  </p:cNvPr>
                  <p:cNvSpPr txBox="1">
                    <a:spLocks noRot="1" noChangeAspect="1" noMove="1" noResize="1" noEditPoints="1" noAdjustHandles="1" noChangeArrowheads="1" noChangeShapeType="1" noTextEdit="1"/>
                  </p:cNvSpPr>
                  <p:nvPr/>
                </p:nvSpPr>
                <p:spPr>
                  <a:xfrm>
                    <a:off x="9075800" y="3612821"/>
                    <a:ext cx="516103" cy="369332"/>
                  </a:xfrm>
                  <a:prstGeom prst="rect">
                    <a:avLst/>
                  </a:prstGeom>
                  <a:blipFill>
                    <a:blip r:embed="rId8"/>
                    <a:stretch>
                      <a:fillRect l="-29231" r="-29231" b="-2623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6CFB1552-A472-4518-825F-20F0BCA04B3E}"/>
                      </a:ext>
                    </a:extLst>
                  </p:cNvPr>
                  <p:cNvSpPr txBox="1"/>
                  <p:nvPr/>
                </p:nvSpPr>
                <p:spPr>
                  <a:xfrm>
                    <a:off x="4602953" y="3561266"/>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8" name="文字方塊 37">
                    <a:extLst>
                      <a:ext uri="{FF2B5EF4-FFF2-40B4-BE49-F238E27FC236}">
                        <a16:creationId xmlns:a16="http://schemas.microsoft.com/office/drawing/2014/main" id="{6CFB1552-A472-4518-825F-20F0BCA04B3E}"/>
                      </a:ext>
                    </a:extLst>
                  </p:cNvPr>
                  <p:cNvSpPr txBox="1">
                    <a:spLocks noRot="1" noChangeAspect="1" noMove="1" noResize="1" noEditPoints="1" noAdjustHandles="1" noChangeArrowheads="1" noChangeShapeType="1" noTextEdit="1"/>
                  </p:cNvSpPr>
                  <p:nvPr/>
                </p:nvSpPr>
                <p:spPr>
                  <a:xfrm>
                    <a:off x="4602953" y="3561266"/>
                    <a:ext cx="388696" cy="369332"/>
                  </a:xfrm>
                  <a:prstGeom prst="rect">
                    <a:avLst/>
                  </a:prstGeom>
                  <a:blipFill>
                    <a:blip r:embed="rId9"/>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a:extLst>
                      <a:ext uri="{FF2B5EF4-FFF2-40B4-BE49-F238E27FC236}">
                        <a16:creationId xmlns:a16="http://schemas.microsoft.com/office/drawing/2014/main" id="{48CAC5C3-013E-4DAB-B73B-F3B88B959FF6}"/>
                      </a:ext>
                    </a:extLst>
                  </p:cNvPr>
                  <p:cNvSpPr txBox="1"/>
                  <p:nvPr/>
                </p:nvSpPr>
                <p:spPr>
                  <a:xfrm>
                    <a:off x="6913368" y="1853204"/>
                    <a:ext cx="38869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acc>
                                <m:accPr>
                                  <m:chr m:val="̂"/>
                                  <m:ctrlPr>
                                    <a:rPr lang="en-US" altLang="zh-TW" sz="2400" i="1" smtClean="0">
                                      <a:latin typeface="Cambria Math" panose="02040503050406030204" pitchFamily="18" charset="0"/>
                                    </a:rPr>
                                  </m:ctrlPr>
                                </m:accPr>
                                <m:e>
                                  <m:r>
                                    <a:rPr lang="en-US" altLang="zh-TW" sz="2400" b="0" i="1" smtClean="0">
                                      <a:latin typeface="Cambria Math" panose="02040503050406030204" pitchFamily="18" charset="0"/>
                                    </a:rPr>
                                    <m:t>𝑥</m:t>
                                  </m:r>
                                </m:e>
                              </m:acc>
                            </m:e>
                            <m:sub>
                              <m:r>
                                <a:rPr lang="en-US" altLang="zh-TW" sz="2400" b="0" i="1" smtClean="0">
                                  <a:latin typeface="Cambria Math" panose="02040503050406030204" pitchFamily="18" charset="0"/>
                                </a:rPr>
                                <m:t>𝑎</m:t>
                              </m:r>
                            </m:sub>
                          </m:sSub>
                        </m:oMath>
                      </m:oMathPara>
                    </a14:m>
                    <a:endParaRPr lang="zh-TW" altLang="en-US" dirty="0"/>
                  </a:p>
                </p:txBody>
              </p:sp>
            </mc:Choice>
            <mc:Fallback xmlns="">
              <p:sp>
                <p:nvSpPr>
                  <p:cNvPr id="39" name="文字方塊 38">
                    <a:extLst>
                      <a:ext uri="{FF2B5EF4-FFF2-40B4-BE49-F238E27FC236}">
                        <a16:creationId xmlns:a16="http://schemas.microsoft.com/office/drawing/2014/main" id="{48CAC5C3-013E-4DAB-B73B-F3B88B959FF6}"/>
                      </a:ext>
                    </a:extLst>
                  </p:cNvPr>
                  <p:cNvSpPr txBox="1">
                    <a:spLocks noRot="1" noChangeAspect="1" noMove="1" noResize="1" noEditPoints="1" noAdjustHandles="1" noChangeArrowheads="1" noChangeShapeType="1" noTextEdit="1"/>
                  </p:cNvSpPr>
                  <p:nvPr/>
                </p:nvSpPr>
                <p:spPr>
                  <a:xfrm>
                    <a:off x="6913368" y="1853204"/>
                    <a:ext cx="388696" cy="369332"/>
                  </a:xfrm>
                  <a:prstGeom prst="rect">
                    <a:avLst/>
                  </a:prstGeom>
                  <a:blipFill>
                    <a:blip r:embed="rId10"/>
                    <a:stretch>
                      <a:fillRect l="-26531" t="-18333" r="-48980" b="-1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D9CB3744-E5F2-475B-A7FA-C3CE15D1FA90}"/>
                      </a:ext>
                    </a:extLst>
                  </p:cNvPr>
                  <p:cNvSpPr txBox="1"/>
                  <p:nvPr/>
                </p:nvSpPr>
                <p:spPr>
                  <a:xfrm rot="16200000">
                    <a:off x="9940235" y="2958220"/>
                    <a:ext cx="1068754" cy="3077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41" name="文字方塊 40">
                    <a:extLst>
                      <a:ext uri="{FF2B5EF4-FFF2-40B4-BE49-F238E27FC236}">
                        <a16:creationId xmlns:a16="http://schemas.microsoft.com/office/drawing/2014/main" id="{D9CB3744-E5F2-475B-A7FA-C3CE15D1FA90}"/>
                      </a:ext>
                    </a:extLst>
                  </p:cNvPr>
                  <p:cNvSpPr txBox="1">
                    <a:spLocks noRot="1" noChangeAspect="1" noMove="1" noResize="1" noEditPoints="1" noAdjustHandles="1" noChangeArrowheads="1" noChangeShapeType="1" noTextEdit="1"/>
                  </p:cNvSpPr>
                  <p:nvPr/>
                </p:nvSpPr>
                <p:spPr>
                  <a:xfrm rot="16200000">
                    <a:off x="9940235" y="2958220"/>
                    <a:ext cx="1068754" cy="307778"/>
                  </a:xfrm>
                  <a:prstGeom prst="rect">
                    <a:avLst/>
                  </a:prstGeom>
                  <a:blipFill>
                    <a:blip r:embed="rId11"/>
                    <a:stretch>
                      <a:fillRect l="-2564" t="-8000" r="-74359"/>
                    </a:stretch>
                  </a:blipFill>
                </p:spPr>
                <p:txBody>
                  <a:bodyPr/>
                  <a:lstStyle/>
                  <a:p>
                    <a:r>
                      <a:rPr lang="zh-TW" altLang="en-US">
                        <a:noFill/>
                      </a:rPr>
                      <a:t> </a:t>
                    </a:r>
                  </a:p>
                </p:txBody>
              </p:sp>
            </mc:Fallback>
          </mc:AlternateContent>
        </p:grpSp>
      </p:grpSp>
    </p:spTree>
    <p:extLst>
      <p:ext uri="{BB962C8B-B14F-4D97-AF65-F5344CB8AC3E}">
        <p14:creationId xmlns:p14="http://schemas.microsoft.com/office/powerpoint/2010/main" val="1808899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9" name="群組 8">
            <a:extLst>
              <a:ext uri="{FF2B5EF4-FFF2-40B4-BE49-F238E27FC236}">
                <a16:creationId xmlns:a16="http://schemas.microsoft.com/office/drawing/2014/main" id="{25A00D6E-FD4E-4C44-90C8-33DF18B9660B}"/>
              </a:ext>
            </a:extLst>
          </p:cNvPr>
          <p:cNvGrpSpPr/>
          <p:nvPr/>
        </p:nvGrpSpPr>
        <p:grpSpPr>
          <a:xfrm>
            <a:off x="5805698" y="2065700"/>
            <a:ext cx="6256102" cy="4221833"/>
            <a:chOff x="5695631" y="1608499"/>
            <a:chExt cx="6256102" cy="4221833"/>
          </a:xfrm>
        </p:grpSpPr>
        <p:grpSp>
          <p:nvGrpSpPr>
            <p:cNvPr id="8" name="群組 7">
              <a:extLst>
                <a:ext uri="{FF2B5EF4-FFF2-40B4-BE49-F238E27FC236}">
                  <a16:creationId xmlns:a16="http://schemas.microsoft.com/office/drawing/2014/main" id="{9F80C108-027A-4201-8F65-42784A51CEDA}"/>
                </a:ext>
              </a:extLst>
            </p:cNvPr>
            <p:cNvGrpSpPr/>
            <p:nvPr/>
          </p:nvGrpSpPr>
          <p:grpSpPr>
            <a:xfrm>
              <a:off x="5695631" y="1608499"/>
              <a:ext cx="6256102" cy="4221833"/>
              <a:chOff x="5695631" y="1608499"/>
              <a:chExt cx="6256102" cy="4221833"/>
            </a:xfrm>
          </p:grpSpPr>
          <p:grpSp>
            <p:nvGrpSpPr>
              <p:cNvPr id="3" name="群組 2">
                <a:extLst>
                  <a:ext uri="{FF2B5EF4-FFF2-40B4-BE49-F238E27FC236}">
                    <a16:creationId xmlns:a16="http://schemas.microsoft.com/office/drawing/2014/main" id="{8EF352F0-E9DF-431D-860F-C569ABBF4B20}"/>
                  </a:ext>
                </a:extLst>
              </p:cNvPr>
              <p:cNvGrpSpPr/>
              <p:nvPr/>
            </p:nvGrpSpPr>
            <p:grpSpPr>
              <a:xfrm>
                <a:off x="5695631" y="1608499"/>
                <a:ext cx="6186529" cy="4221833"/>
                <a:chOff x="5695631" y="1608499"/>
                <a:chExt cx="6186529" cy="4221833"/>
              </a:xfrm>
            </p:grpSpPr>
            <p:pic>
              <p:nvPicPr>
                <p:cNvPr id="10" name="圖片 9">
                  <a:extLst>
                    <a:ext uri="{FF2B5EF4-FFF2-40B4-BE49-F238E27FC236}">
                      <a16:creationId xmlns:a16="http://schemas.microsoft.com/office/drawing/2014/main" id="{5CC497E2-F390-4154-8F1C-1D8764301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4962" y="1608499"/>
                  <a:ext cx="5817198" cy="3852501"/>
                </a:xfrm>
                <a:prstGeom prst="rect">
                  <a:avLst/>
                </a:prstGeom>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55A6AAFD-256B-4151-9263-E0EA11C874AB}"/>
                        </a:ext>
                      </a:extLst>
                    </p:cNvPr>
                    <p:cNvSpPr txBox="1"/>
                    <p:nvPr/>
                  </p:nvSpPr>
                  <p:spPr>
                    <a:xfrm>
                      <a:off x="7664062" y="5461000"/>
                      <a:ext cx="191148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4" name="文字方塊 3">
                      <a:extLst>
                        <a:ext uri="{FF2B5EF4-FFF2-40B4-BE49-F238E27FC236}">
                          <a16:creationId xmlns:a16="http://schemas.microsoft.com/office/drawing/2014/main" id="{55A6AAFD-256B-4151-9263-E0EA11C874AB}"/>
                        </a:ext>
                      </a:extLst>
                    </p:cNvPr>
                    <p:cNvSpPr txBox="1">
                      <a:spLocks noRot="1" noChangeAspect="1" noMove="1" noResize="1" noEditPoints="1" noAdjustHandles="1" noChangeArrowheads="1" noChangeShapeType="1" noTextEdit="1"/>
                    </p:cNvSpPr>
                    <p:nvPr/>
                  </p:nvSpPr>
                  <p:spPr>
                    <a:xfrm>
                      <a:off x="7664062" y="5461000"/>
                      <a:ext cx="1911485" cy="369332"/>
                    </a:xfrm>
                    <a:prstGeom prst="rect">
                      <a:avLst/>
                    </a:prstGeom>
                    <a:blipFill>
                      <a:blip r:embed="rId3"/>
                      <a:stretch>
                        <a:fillRect l="-1274" r="-5096" b="-3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27E30DC-6168-42BC-906D-F547A5F9D1F4}"/>
                        </a:ext>
                      </a:extLst>
                    </p:cNvPr>
                    <p:cNvSpPr txBox="1"/>
                    <p:nvPr/>
                  </p:nvSpPr>
                  <p:spPr>
                    <a:xfrm rot="16200000">
                      <a:off x="4910863" y="3350082"/>
                      <a:ext cx="1938867"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m:rPr>
                                <m:sty m:val="p"/>
                              </m:rPr>
                              <a:rPr lang="en-US" altLang="zh-TW" sz="2400" b="0" i="0" smtClean="0">
                                <a:latin typeface="Cambria Math" panose="02040503050406030204" pitchFamily="18" charset="0"/>
                              </a:rPr>
                              <m:t>axis</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𝑚𝑚</m:t>
                            </m:r>
                            <m:r>
                              <a:rPr lang="en-US" altLang="zh-TW" sz="2400" b="0" i="1" smtClean="0">
                                <a:latin typeface="Cambria Math" panose="02040503050406030204" pitchFamily="18" charset="0"/>
                              </a:rPr>
                              <m:t>)</m:t>
                            </m:r>
                          </m:oMath>
                        </m:oMathPara>
                      </a14:m>
                      <a:endParaRPr lang="zh-TW" altLang="en-US" sz="2400" i="1" dirty="0">
                        <a:latin typeface="Times New Roman" panose="02020603050405020304" pitchFamily="18" charset="0"/>
                        <a:cs typeface="Times New Roman" panose="02020603050405020304" pitchFamily="18" charset="0"/>
                      </a:endParaRPr>
                    </a:p>
                  </p:txBody>
                </p:sp>
              </mc:Choice>
              <mc:Fallback xmlns="">
                <p:sp>
                  <p:nvSpPr>
                    <p:cNvPr id="5" name="文字方塊 4">
                      <a:extLst>
                        <a:ext uri="{FF2B5EF4-FFF2-40B4-BE49-F238E27FC236}">
                          <a16:creationId xmlns:a16="http://schemas.microsoft.com/office/drawing/2014/main" id="{C27E30DC-6168-42BC-906D-F547A5F9D1F4}"/>
                        </a:ext>
                      </a:extLst>
                    </p:cNvPr>
                    <p:cNvSpPr txBox="1">
                      <a:spLocks noRot="1" noChangeAspect="1" noMove="1" noResize="1" noEditPoints="1" noAdjustHandles="1" noChangeArrowheads="1" noChangeShapeType="1" noTextEdit="1"/>
                    </p:cNvSpPr>
                    <p:nvPr/>
                  </p:nvSpPr>
                  <p:spPr>
                    <a:xfrm rot="16200000">
                      <a:off x="4910863" y="3350082"/>
                      <a:ext cx="1938867" cy="369332"/>
                    </a:xfrm>
                    <a:prstGeom prst="rect">
                      <a:avLst/>
                    </a:prstGeom>
                    <a:blipFill>
                      <a:blip r:embed="rId4"/>
                      <a:stretch>
                        <a:fillRect t="-4088" r="-36066" b="-314"/>
                      </a:stretch>
                    </a:blipFill>
                  </p:spPr>
                  <p:txBody>
                    <a:bodyPr/>
                    <a:lstStyle/>
                    <a:p>
                      <a:r>
                        <a:rPr lang="zh-TW" altLang="en-US">
                          <a:noFill/>
                        </a:rPr>
                        <a:t> </a:t>
                      </a:r>
                    </a:p>
                  </p:txBody>
                </p:sp>
              </mc:Fallback>
            </mc:AlternateContent>
          </p:grpSp>
          <p:sp>
            <p:nvSpPr>
              <p:cNvPr id="6" name="矩形 5">
                <a:extLst>
                  <a:ext uri="{FF2B5EF4-FFF2-40B4-BE49-F238E27FC236}">
                    <a16:creationId xmlns:a16="http://schemas.microsoft.com/office/drawing/2014/main" id="{5441C166-FB41-4404-9A7D-FEDB224D96EF}"/>
                  </a:ext>
                </a:extLst>
              </p:cNvPr>
              <p:cNvSpPr/>
              <p:nvPr/>
            </p:nvSpPr>
            <p:spPr>
              <a:xfrm>
                <a:off x="11582400" y="2810933"/>
                <a:ext cx="369333" cy="11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3263E904-C403-47A7-8195-AD15D1F1D8B1}"/>
                    </a:ext>
                  </a:extLst>
                </p:cNvPr>
                <p:cNvSpPr txBox="1"/>
                <p:nvPr/>
              </p:nvSpPr>
              <p:spPr>
                <a:xfrm rot="16200000">
                  <a:off x="11168601" y="3224732"/>
                  <a:ext cx="1064755" cy="2371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000" b="1" i="1" smtClean="0">
                                <a:latin typeface="Cambria Math" panose="02040503050406030204" pitchFamily="18" charset="0"/>
                              </a:rPr>
                            </m:ctrlPr>
                          </m:dPr>
                          <m:e>
                            <m:r>
                              <a:rPr lang="en-US" altLang="zh-TW" sz="2000" b="1" i="0" smtClean="0">
                                <a:latin typeface="Cambria Math" panose="02040503050406030204" pitchFamily="18" charset="0"/>
                              </a:rPr>
                              <m:t>𝐛</m:t>
                            </m:r>
                          </m:e>
                        </m:d>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𝑚𝑇</m:t>
                        </m:r>
                        <m:r>
                          <a:rPr lang="en-US" altLang="zh-TW" sz="2000" b="0" i="1" smtClean="0">
                            <a:latin typeface="Cambria Math" panose="02040503050406030204" pitchFamily="18" charset="0"/>
                          </a:rPr>
                          <m:t>)</m:t>
                        </m:r>
                      </m:oMath>
                    </m:oMathPara>
                  </a14:m>
                  <a:endParaRPr lang="zh-TW" altLang="en-US" sz="1600" dirty="0"/>
                </a:p>
              </p:txBody>
            </p:sp>
          </mc:Choice>
          <mc:Fallback xmlns="">
            <p:sp>
              <p:nvSpPr>
                <p:cNvPr id="7" name="文字方塊 6">
                  <a:extLst>
                    <a:ext uri="{FF2B5EF4-FFF2-40B4-BE49-F238E27FC236}">
                      <a16:creationId xmlns:a16="http://schemas.microsoft.com/office/drawing/2014/main" id="{3263E904-C403-47A7-8195-AD15D1F1D8B1}"/>
                    </a:ext>
                  </a:extLst>
                </p:cNvPr>
                <p:cNvSpPr txBox="1">
                  <a:spLocks noRot="1" noChangeAspect="1" noMove="1" noResize="1" noEditPoints="1" noAdjustHandles="1" noChangeArrowheads="1" noChangeShapeType="1" noTextEdit="1"/>
                </p:cNvSpPr>
                <p:nvPr/>
              </p:nvSpPr>
              <p:spPr>
                <a:xfrm rot="16200000">
                  <a:off x="11168601" y="3224732"/>
                  <a:ext cx="1064755" cy="237158"/>
                </a:xfrm>
                <a:prstGeom prst="rect">
                  <a:avLst/>
                </a:prstGeom>
                <a:blipFill>
                  <a:blip r:embed="rId5"/>
                  <a:stretch>
                    <a:fillRect l="-2564" t="-8000" r="-74359"/>
                  </a:stretch>
                </a:blipFill>
              </p:spPr>
              <p:txBody>
                <a:bodyPr/>
                <a:lstStyle/>
                <a:p>
                  <a:r>
                    <a:rPr lang="zh-TW" altLang="en-US">
                      <a:noFill/>
                    </a:rPr>
                    <a:t> </a:t>
                  </a:r>
                </a:p>
              </p:txBody>
            </p:sp>
          </mc:Fallback>
        </mc:AlternateContent>
      </p:grpSp>
      <p:sp>
        <p:nvSpPr>
          <p:cNvPr id="11" name="auto caption"/>
          <p:cNvSpPr txBox="1"/>
          <p:nvPr/>
        </p:nvSpPr>
        <p:spPr>
          <a:xfrm>
            <a:off x="411480" y="1645920"/>
            <a:ext cx="4389120" cy="3840480"/>
          </a:xfrm>
          <a:prstGeom prst="rect">
            <a:avLst/>
          </a:prstGeom>
          <a:noFill/>
        </p:spPr>
        <p:txBody>
          <a:bodyPr wrap="square" rtlCol="0">
            <a:normAutofit fontScale="92500" lnSpcReduction="20000"/>
          </a:bodyPr>
          <a:lstStyle/>
          <a:p>
            <a:pPr marL="285750" indent="-285750"/>
            <a:r>
              <a:rPr lang="en-US" altLang="zh-TW" dirty="0"/>
              <a:t>Setup: Magnetostatic FEM solution with the upper pole P2 excited at 1 A, on the y = 0 plane. Arrows give the direction of the flux density in the x-z plane, coloured by magnitude over 0-800 mT. The two Hall sensors sit flat on the cone flanks, with n+ the outward sensing normal.</a:t>
            </a:r>
          </a:p>
          <a:p>
            <a:pPr marL="285750" indent="-285750"/>
            <a:r>
              <a:rPr lang="en-US" altLang="zh-TW" dirty="0"/>
              <a:t>The flux stays almost entirely inside the excited pole. Both sensors sit in the leakage field outside the steel, roughly two orders of magnitude weaker; it is this leakage, projected onto n+, that the voltage-based model maps to the field at the workspace. The sensor on the excited pole sits in a visibly stronger leakage field than the one on the unexcited pole, which is the origin of the diagonal dominance of the voltage matrix.</a:t>
            </a:r>
          </a:p>
        </p:txBody>
      </p:sp>
    </p:spTree>
    <p:extLst>
      <p:ext uri="{BB962C8B-B14F-4D97-AF65-F5344CB8AC3E}">
        <p14:creationId xmlns:p14="http://schemas.microsoft.com/office/powerpoint/2010/main" val="3724064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5" name="群組 4">
            <a:extLst>
              <a:ext uri="{FF2B5EF4-FFF2-40B4-BE49-F238E27FC236}">
                <a16:creationId xmlns:a16="http://schemas.microsoft.com/office/drawing/2014/main" id="{8FE9ABEB-89BC-4168-B129-8FB78DC98D69}"/>
              </a:ext>
            </a:extLst>
          </p:cNvPr>
          <p:cNvGrpSpPr/>
          <p:nvPr/>
        </p:nvGrpSpPr>
        <p:grpSpPr>
          <a:xfrm>
            <a:off x="-34568" y="619043"/>
            <a:ext cx="3201548" cy="2629051"/>
            <a:chOff x="-34568" y="619043"/>
            <a:chExt cx="3201548" cy="2629051"/>
          </a:xfrm>
        </p:grpSpPr>
        <p:pic>
          <p:nvPicPr>
            <p:cNvPr id="4" name="圖片 3">
              <a:extLst>
                <a:ext uri="{FF2B5EF4-FFF2-40B4-BE49-F238E27FC236}">
                  <a16:creationId xmlns:a16="http://schemas.microsoft.com/office/drawing/2014/main" id="{8238E239-0659-4120-863F-786BD492D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461" y="619043"/>
              <a:ext cx="2955519" cy="2382835"/>
            </a:xfrm>
            <a:prstGeom prst="rect">
              <a:avLst/>
            </a:prstGeom>
          </p:spPr>
        </p:pic>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678E7078-A51C-4AA2-9EF8-D725CC6E86D4}"/>
                    </a:ext>
                  </a:extLst>
                </p:cNvPr>
                <p:cNvSpPr txBox="1"/>
                <p:nvPr/>
              </p:nvSpPr>
              <p:spPr>
                <a:xfrm>
                  <a:off x="1143000" y="297213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7" name="文字方塊 16">
                  <a:extLst>
                    <a:ext uri="{FF2B5EF4-FFF2-40B4-BE49-F238E27FC236}">
                      <a16:creationId xmlns:a16="http://schemas.microsoft.com/office/drawing/2014/main" id="{678E7078-A51C-4AA2-9EF8-D725CC6E86D4}"/>
                    </a:ext>
                  </a:extLst>
                </p:cNvPr>
                <p:cNvSpPr txBox="1">
                  <a:spLocks noRot="1" noChangeAspect="1" noMove="1" noResize="1" noEditPoints="1" noAdjustHandles="1" noChangeArrowheads="1" noChangeShapeType="1" noTextEdit="1"/>
                </p:cNvSpPr>
                <p:nvPr/>
              </p:nvSpPr>
              <p:spPr>
                <a:xfrm>
                  <a:off x="1143000" y="2972131"/>
                  <a:ext cx="1106536" cy="275963"/>
                </a:xfrm>
                <a:prstGeom prst="rect">
                  <a:avLst/>
                </a:prstGeom>
                <a:blipFill>
                  <a:blip r:embed="rId12"/>
                  <a:stretch>
                    <a:fillRect l="-5525" t="-2222" r="-33702"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EBE875F1-6D13-4A07-89C5-609C93B9D6B9}"/>
                    </a:ext>
                  </a:extLst>
                </p:cNvPr>
                <p:cNvSpPr txBox="1"/>
                <p:nvPr/>
              </p:nvSpPr>
              <p:spPr>
                <a:xfrm rot="16200000">
                  <a:off x="-630115" y="1518415"/>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EBE875F1-6D13-4A07-89C5-609C93B9D6B9}"/>
                    </a:ext>
                  </a:extLst>
                </p:cNvPr>
                <p:cNvSpPr txBox="1">
                  <a:spLocks noRot="1" noChangeAspect="1" noMove="1" noResize="1" noEditPoints="1" noAdjustHandles="1" noChangeArrowheads="1" noChangeShapeType="1" noTextEdit="1"/>
                </p:cNvSpPr>
                <p:nvPr/>
              </p:nvSpPr>
              <p:spPr>
                <a:xfrm rot="16200000">
                  <a:off x="-630115" y="1518415"/>
                  <a:ext cx="1404535" cy="213442"/>
                </a:xfrm>
                <a:prstGeom prst="rect">
                  <a:avLst/>
                </a:prstGeom>
                <a:blipFill>
                  <a:blip r:embed="rId13"/>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a:extLst>
                    <a:ext uri="{FF2B5EF4-FFF2-40B4-BE49-F238E27FC236}">
                      <a16:creationId xmlns:a16="http://schemas.microsoft.com/office/drawing/2014/main" id="{2759E233-A565-4C6B-A6FD-F1F3E04D8C52}"/>
                    </a:ext>
                  </a:extLst>
                </p:cNvPr>
                <p:cNvSpPr txBox="1"/>
                <p:nvPr/>
              </p:nvSpPr>
              <p:spPr>
                <a:xfrm rot="678839">
                  <a:off x="1715529" y="1447116"/>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 name="文字方塊 2">
                  <a:extLst>
                    <a:ext uri="{FF2B5EF4-FFF2-40B4-BE49-F238E27FC236}">
                      <a16:creationId xmlns:a16="http://schemas.microsoft.com/office/drawing/2014/main" id="{2759E233-A565-4C6B-A6FD-F1F3E04D8C52}"/>
                    </a:ext>
                  </a:extLst>
                </p:cNvPr>
                <p:cNvSpPr txBox="1">
                  <a:spLocks noRot="1" noChangeAspect="1" noMove="1" noResize="1" noEditPoints="1" noAdjustHandles="1" noChangeArrowheads="1" noChangeShapeType="1" noTextEdit="1"/>
                </p:cNvSpPr>
                <p:nvPr/>
              </p:nvSpPr>
              <p:spPr>
                <a:xfrm rot="678839">
                  <a:off x="1715529" y="1447116"/>
                  <a:ext cx="503343" cy="246221"/>
                </a:xfrm>
                <a:prstGeom prst="rect">
                  <a:avLst/>
                </a:prstGeom>
                <a:blipFill>
                  <a:blip r:embed="rId14"/>
                  <a:stretch>
                    <a:fillRect l="-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9396AD2F-D4FF-4431-83EF-21F2C68EA698}"/>
                    </a:ext>
                  </a:extLst>
                </p:cNvPr>
                <p:cNvSpPr txBox="1"/>
                <p:nvPr/>
              </p:nvSpPr>
              <p:spPr>
                <a:xfrm rot="16976090">
                  <a:off x="1930496" y="183926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6" name="文字方塊 25">
                  <a:extLst>
                    <a:ext uri="{FF2B5EF4-FFF2-40B4-BE49-F238E27FC236}">
                      <a16:creationId xmlns:a16="http://schemas.microsoft.com/office/drawing/2014/main" id="{9396AD2F-D4FF-4431-83EF-21F2C68EA698}"/>
                    </a:ext>
                  </a:extLst>
                </p:cNvPr>
                <p:cNvSpPr txBox="1">
                  <a:spLocks noRot="1" noChangeAspect="1" noMove="1" noResize="1" noEditPoints="1" noAdjustHandles="1" noChangeArrowheads="1" noChangeShapeType="1" noTextEdit="1"/>
                </p:cNvSpPr>
                <p:nvPr/>
              </p:nvSpPr>
              <p:spPr>
                <a:xfrm rot="16976090">
                  <a:off x="1930496" y="1839262"/>
                  <a:ext cx="843092" cy="246221"/>
                </a:xfrm>
                <a:prstGeom prst="rect">
                  <a:avLst/>
                </a:prstGeom>
                <a:blipFill>
                  <a:blip r:embed="rId15"/>
                  <a:stretch>
                    <a:fillRect b="-1379"/>
                  </a:stretch>
                </a:blipFill>
              </p:spPr>
              <p:txBody>
                <a:bodyPr/>
                <a:lstStyle/>
                <a:p>
                  <a:r>
                    <a:rPr lang="zh-TW" altLang="en-US">
                      <a:noFill/>
                    </a:rPr>
                    <a:t> </a:t>
                  </a:r>
                </a:p>
              </p:txBody>
            </p:sp>
          </mc:Fallback>
        </mc:AlternateContent>
      </p:grpSp>
      <p:grpSp>
        <p:nvGrpSpPr>
          <p:cNvPr id="8" name="群組 7">
            <a:extLst>
              <a:ext uri="{FF2B5EF4-FFF2-40B4-BE49-F238E27FC236}">
                <a16:creationId xmlns:a16="http://schemas.microsoft.com/office/drawing/2014/main" id="{1360E81E-E71E-45BA-B332-92C61EB72938}"/>
              </a:ext>
            </a:extLst>
          </p:cNvPr>
          <p:cNvGrpSpPr/>
          <p:nvPr/>
        </p:nvGrpSpPr>
        <p:grpSpPr>
          <a:xfrm>
            <a:off x="146812" y="3330318"/>
            <a:ext cx="2891829" cy="3254066"/>
            <a:chOff x="72152" y="3256196"/>
            <a:chExt cx="2891829" cy="3254066"/>
          </a:xfrm>
        </p:grpSpPr>
        <p:pic>
          <p:nvPicPr>
            <p:cNvPr id="6" name="圖片 5">
              <a:extLst>
                <a:ext uri="{FF2B5EF4-FFF2-40B4-BE49-F238E27FC236}">
                  <a16:creationId xmlns:a16="http://schemas.microsoft.com/office/drawing/2014/main" id="{988C42B5-FBD1-4FD8-BABE-1FCBE073D28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93065" y="3256196"/>
              <a:ext cx="2570916" cy="3005448"/>
            </a:xfrm>
            <a:prstGeom prst="rect">
              <a:avLst/>
            </a:prstGeom>
          </p:spPr>
        </p:pic>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EE65A446-91AE-48EC-8330-BB70D7D76434}"/>
                    </a:ext>
                  </a:extLst>
                </p:cNvPr>
                <p:cNvSpPr txBox="1"/>
                <p:nvPr/>
              </p:nvSpPr>
              <p:spPr>
                <a:xfrm>
                  <a:off x="1210733" y="6234299"/>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4" name="文字方塊 23">
                  <a:extLst>
                    <a:ext uri="{FF2B5EF4-FFF2-40B4-BE49-F238E27FC236}">
                      <a16:creationId xmlns:a16="http://schemas.microsoft.com/office/drawing/2014/main" id="{EE65A446-91AE-48EC-8330-BB70D7D76434}"/>
                    </a:ext>
                  </a:extLst>
                </p:cNvPr>
                <p:cNvSpPr txBox="1">
                  <a:spLocks noRot="1" noChangeAspect="1" noMove="1" noResize="1" noEditPoints="1" noAdjustHandles="1" noChangeArrowheads="1" noChangeShapeType="1" noTextEdit="1"/>
                </p:cNvSpPr>
                <p:nvPr/>
              </p:nvSpPr>
              <p:spPr>
                <a:xfrm>
                  <a:off x="1210733" y="6234299"/>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5B2FF76E-ACA6-4049-80D6-58C7F2BBDA09}"/>
                    </a:ext>
                  </a:extLst>
                </p:cNvPr>
                <p:cNvSpPr txBox="1"/>
                <p:nvPr/>
              </p:nvSpPr>
              <p:spPr>
                <a:xfrm rot="16200000">
                  <a:off x="-523395" y="4479791"/>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5" name="文字方塊 24">
                  <a:extLst>
                    <a:ext uri="{FF2B5EF4-FFF2-40B4-BE49-F238E27FC236}">
                      <a16:creationId xmlns:a16="http://schemas.microsoft.com/office/drawing/2014/main" id="{5B2FF76E-ACA6-4049-80D6-58C7F2BBDA09}"/>
                    </a:ext>
                  </a:extLst>
                </p:cNvPr>
                <p:cNvSpPr txBox="1">
                  <a:spLocks noRot="1" noChangeAspect="1" noMove="1" noResize="1" noEditPoints="1" noAdjustHandles="1" noChangeArrowheads="1" noChangeShapeType="1" noTextEdit="1"/>
                </p:cNvSpPr>
                <p:nvPr/>
              </p:nvSpPr>
              <p:spPr>
                <a:xfrm rot="16200000">
                  <a:off x="-523395" y="4479791"/>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F613DD2C-B023-4F35-91ED-EE1F51433D80}"/>
                    </a:ext>
                  </a:extLst>
                </p:cNvPr>
                <p:cNvSpPr txBox="1"/>
                <p:nvPr/>
              </p:nvSpPr>
              <p:spPr>
                <a:xfrm rot="2762795">
                  <a:off x="1512329" y="4595311"/>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0" i="0" smtClean="0">
                            <a:solidFill>
                              <a:schemeClr val="accent1"/>
                            </a:solidFill>
                            <a:latin typeface="Cambria Math" panose="02040503050406030204" pitchFamily="18" charset="0"/>
                          </a:rPr>
                          <m:t>3</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27" name="文字方塊 26">
                  <a:extLst>
                    <a:ext uri="{FF2B5EF4-FFF2-40B4-BE49-F238E27FC236}">
                      <a16:creationId xmlns:a16="http://schemas.microsoft.com/office/drawing/2014/main" id="{F613DD2C-B023-4F35-91ED-EE1F51433D80}"/>
                    </a:ext>
                  </a:extLst>
                </p:cNvPr>
                <p:cNvSpPr txBox="1">
                  <a:spLocks noRot="1" noChangeAspect="1" noMove="1" noResize="1" noEditPoints="1" noAdjustHandles="1" noChangeArrowheads="1" noChangeShapeType="1" noTextEdit="1"/>
                </p:cNvSpPr>
                <p:nvPr/>
              </p:nvSpPr>
              <p:spPr>
                <a:xfrm rot="2762795">
                  <a:off x="1512329" y="4595311"/>
                  <a:ext cx="503343" cy="246221"/>
                </a:xfrm>
                <a:prstGeom prst="rect">
                  <a:avLst/>
                </a:prstGeom>
                <a:blipFill>
                  <a:blip r:embed="rId19"/>
                  <a:stretch>
                    <a:fillRect l="-6897" t="-3409" r="-2299" b="-568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47113D68-EE0A-451D-89BE-43038D6F907C}"/>
                    </a:ext>
                  </a:extLst>
                </p:cNvPr>
                <p:cNvSpPr txBox="1"/>
                <p:nvPr/>
              </p:nvSpPr>
              <p:spPr>
                <a:xfrm rot="19242834">
                  <a:off x="1041020" y="4021896"/>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28" name="文字方塊 27">
                  <a:extLst>
                    <a:ext uri="{FF2B5EF4-FFF2-40B4-BE49-F238E27FC236}">
                      <a16:creationId xmlns:a16="http://schemas.microsoft.com/office/drawing/2014/main" id="{47113D68-EE0A-451D-89BE-43038D6F907C}"/>
                    </a:ext>
                  </a:extLst>
                </p:cNvPr>
                <p:cNvSpPr txBox="1">
                  <a:spLocks noRot="1" noChangeAspect="1" noMove="1" noResize="1" noEditPoints="1" noAdjustHandles="1" noChangeArrowheads="1" noChangeShapeType="1" noTextEdit="1"/>
                </p:cNvSpPr>
                <p:nvPr/>
              </p:nvSpPr>
              <p:spPr>
                <a:xfrm rot="19242834">
                  <a:off x="1041020" y="4021896"/>
                  <a:ext cx="843092" cy="246221"/>
                </a:xfrm>
                <a:prstGeom prst="rect">
                  <a:avLst/>
                </a:prstGeom>
                <a:blipFill>
                  <a:blip r:embed="rId20"/>
                  <a:stretch>
                    <a:fillRect b="-1667"/>
                  </a:stretch>
                </a:blipFill>
              </p:spPr>
              <p:txBody>
                <a:bodyPr/>
                <a:lstStyle/>
                <a:p>
                  <a:r>
                    <a:rPr lang="zh-TW" altLang="en-US">
                      <a:noFill/>
                    </a:rPr>
                    <a:t> </a:t>
                  </a:r>
                </a:p>
              </p:txBody>
            </p:sp>
          </mc:Fallback>
        </mc:AlternateContent>
      </p:grpSp>
      <mc:AlternateContent xmlns:mc="http://schemas.openxmlformats.org/markup-compatibility/2006">
        <mc:Choice xmlns:a14="http://schemas.microsoft.com/office/drawing/2010/main" Requires="a14">
          <p:sp>
            <p:nvSpPr>
              <p:cNvPr id="900" name="CalibV_s_mat"/>
              <p:cNvSpPr txBox="1"/>
              <p:nvPr/>
            </p:nvSpPr>
            <p:spPr>
              <a:xfrm>
                <a:off x="3200400" y="932688"/>
                <a:ext cx="39116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−0.4083</m:t>
                                </m:r>
                              </m:e>
                              <m:e>
                                <m:r>
                                  <a:rPr lang="en-US" sz="900" b="0" i="0">
                                    <a:latin typeface="Cambria Math" panose="02040503050406030204" pitchFamily="18" charset="0"/>
                                  </a:rPr>
                                  <m:t>−0.3163</m:t>
                                </m:r>
                              </m:e>
                              <m:e>
                                <m:r>
                                  <a:rPr lang="en-US" sz="900" b="0" i="0">
                                    <a:latin typeface="Cambria Math" panose="02040503050406030204" pitchFamily="18" charset="0"/>
                                  </a:rPr>
                                  <m:t>−0.3630</m:t>
                                </m:r>
                              </m:e>
                              <m:e>
                                <m:r>
                                  <a:rPr lang="en-US" sz="900" b="0" i="0">
                                    <a:latin typeface="Cambria Math" panose="02040503050406030204" pitchFamily="18" charset="0"/>
                                  </a:rPr>
                                  <m:t>−0.3634</m:t>
                                </m:r>
                              </m:e>
                              <m:e>
                                <m:r>
                                  <a:rPr lang="en-US" sz="900" b="0" i="0">
                                    <a:latin typeface="Cambria Math" panose="02040503050406030204" pitchFamily="18" charset="0"/>
                                  </a:rPr>
                                  <m:t>−0.3176</m:t>
                                </m:r>
                              </m:e>
                            </m:mr>
                            <m:mr>
                              <m:e>
                                <m:r>
                                  <a:rPr lang="en-US" sz="900" b="0" i="0">
                                    <a:latin typeface="Cambria Math" panose="02040503050406030204" pitchFamily="18" charset="0"/>
                                  </a:rPr>
                                  <m:t>−0.1427</m:t>
                                </m:r>
                              </m:e>
                              <m:e>
                                <m:r>
                                  <a:rPr lang="en-US" sz="900" b="0" i="0">
                                    <a:latin typeface="Cambria Math" panose="02040503050406030204" pitchFamily="18" charset="0"/>
                                  </a:rPr>
                                  <m:t>1.4021</m:t>
                                </m:r>
                              </m:e>
                              <m:e>
                                <m:r>
                                  <a:rPr lang="en-US" sz="900" b="0" i="0">
                                    <a:latin typeface="Cambria Math" panose="02040503050406030204" pitchFamily="18" charset="0"/>
                                  </a:rPr>
                                  <m:t>−0.0273</m:t>
                                </m:r>
                              </m:e>
                              <m:e>
                                <m:r>
                                  <a:rPr lang="en-US" sz="900" b="0" i="0">
                                    <a:latin typeface="Cambria Math" panose="02040503050406030204" pitchFamily="18" charset="0"/>
                                  </a:rPr>
                                  <m:t>0.3893</m:t>
                                </m:r>
                              </m:e>
                              <m:e>
                                <m:r>
                                  <a:rPr lang="en-US" sz="900" b="0" i="0">
                                    <a:latin typeface="Cambria Math" panose="02040503050406030204" pitchFamily="18" charset="0"/>
                                  </a:rPr>
                                  <m:t>0.3961</m:t>
                                </m:r>
                              </m:e>
                              <m:e>
                                <m:r>
                                  <a:rPr lang="en-US" sz="900" b="0" i="0">
                                    <a:latin typeface="Cambria Math" panose="02040503050406030204" pitchFamily="18" charset="0"/>
                                  </a:rPr>
                                  <m:t>−0.0284</m:t>
                                </m:r>
                              </m:e>
                            </m:mr>
                            <m:mr>
                              <m:e>
                                <m:r>
                                  <a:rPr lang="en-US" sz="900" b="0" i="0">
                                    <a:latin typeface="Cambria Math" panose="02040503050406030204" pitchFamily="18" charset="0"/>
                                  </a:rPr>
                                  <m:t>−0.3315</m:t>
                                </m:r>
                              </m:e>
                              <m:e>
                                <m:r>
                                  <a:rPr lang="en-US" sz="900" b="0" i="0">
                                    <a:latin typeface="Cambria Math" panose="02040503050406030204" pitchFamily="18" charset="0"/>
                                  </a:rPr>
                                  <m:t>−0.3893</m:t>
                                </m:r>
                              </m:e>
                              <m:e>
                                <m:r>
                                  <a:rPr lang="en-US" sz="900" b="0" i="0">
                                    <a:latin typeface="Cambria Math" panose="02040503050406030204" pitchFamily="18" charset="0"/>
                                  </a:rPr>
                                  <m:t>0.8231</m:t>
                                </m:r>
                              </m:e>
                              <m:e>
                                <m:r>
                                  <a:rPr lang="en-US" sz="900" b="0" i="0">
                                    <a:latin typeface="Cambria Math" panose="02040503050406030204" pitchFamily="18" charset="0"/>
                                  </a:rPr>
                                  <m:t>−0.4288</m:t>
                                </m:r>
                              </m:e>
                              <m:e>
                                <m:r>
                                  <a:rPr lang="en-US" sz="900" b="0" i="0">
                                    <a:latin typeface="Cambria Math" panose="02040503050406030204" pitchFamily="18" charset="0"/>
                                  </a:rPr>
                                  <m:t>−0.3898</m:t>
                                </m:r>
                              </m:e>
                              <m:e>
                                <m:r>
                                  <a:rPr lang="en-US" sz="900" b="0" i="0">
                                    <a:latin typeface="Cambria Math" panose="02040503050406030204" pitchFamily="18" charset="0"/>
                                  </a:rPr>
                                  <m:t>−0.3311</m:t>
                                </m:r>
                              </m:e>
                            </m:mr>
                            <m:mr>
                              <m:e>
                                <m:r>
                                  <a:rPr lang="en-US" sz="900" b="0" i="0">
                                    <a:latin typeface="Cambria Math" panose="02040503050406030204" pitchFamily="18" charset="0"/>
                                  </a:rPr>
                                  <m:t>0.0128</m:t>
                                </m:r>
                              </m:e>
                              <m:e>
                                <m:r>
                                  <a:rPr lang="en-US" sz="900" b="0" i="0">
                                    <a:latin typeface="Cambria Math" panose="02040503050406030204" pitchFamily="18" charset="0"/>
                                  </a:rPr>
                                  <m:t>0.4540</m:t>
                                </m:r>
                              </m:e>
                              <m:e>
                                <m:r>
                                  <a:rPr lang="en-US" sz="900" b="0" i="0">
                                    <a:latin typeface="Cambria Math" panose="02040503050406030204" pitchFamily="18" charset="0"/>
                                  </a:rPr>
                                  <m:t>−0.1088</m:t>
                                </m:r>
                              </m:e>
                              <m:e>
                                <m:r>
                                  <a:rPr lang="en-US" sz="900" b="0" i="0">
                                    <a:latin typeface="Cambria Math" panose="02040503050406030204" pitchFamily="18" charset="0"/>
                                  </a:rPr>
                                  <m:t>1.4513</m:t>
                                </m:r>
                              </m:e>
                              <m:e>
                                <m:r>
                                  <a:rPr lang="en-US" sz="900" b="0" i="0">
                                    <a:latin typeface="Cambria Math" panose="02040503050406030204" pitchFamily="18" charset="0"/>
                                  </a:rPr>
                                  <m:t>0.4551</m:t>
                                </m:r>
                              </m:e>
                              <m:e>
                                <m:r>
                                  <a:rPr lang="en-US" sz="900" b="0" i="0">
                                    <a:latin typeface="Cambria Math" panose="02040503050406030204" pitchFamily="18" charset="0"/>
                                  </a:rPr>
                                  <m:t>0.0011</m:t>
                                </m:r>
                              </m:e>
                            </m:mr>
                            <m:mr>
                              <m:e>
                                <m:r>
                                  <a:rPr lang="en-US" sz="900" b="0" i="0">
                                    <a:latin typeface="Cambria Math" panose="02040503050406030204" pitchFamily="18" charset="0"/>
                                  </a:rPr>
                                  <m:t>0.0106</m:t>
                                </m:r>
                              </m:e>
                              <m:e>
                                <m:r>
                                  <a:rPr lang="en-US" sz="900" b="0" i="0">
                                    <a:latin typeface="Cambria Math" panose="02040503050406030204" pitchFamily="18" charset="0"/>
                                  </a:rPr>
                                  <m:t>0.4403</m:t>
                                </m:r>
                              </m:e>
                              <m:e>
                                <m:r>
                                  <a:rPr lang="en-US" sz="900" b="0" i="0">
                                    <a:latin typeface="Cambria Math" panose="02040503050406030204" pitchFamily="18" charset="0"/>
                                  </a:rPr>
                                  <m:t>−0.0008</m:t>
                                </m:r>
                              </m:e>
                              <m:e>
                                <m:r>
                                  <a:rPr lang="en-US" sz="900" b="0" i="0">
                                    <a:latin typeface="Cambria Math" panose="02040503050406030204" pitchFamily="18" charset="0"/>
                                  </a:rPr>
                                  <m:t>0.4382</m:t>
                                </m:r>
                              </m:e>
                              <m:e>
                                <m:r>
                                  <a:rPr lang="en-US" sz="900" b="0" i="0">
                                    <a:latin typeface="Cambria Math" panose="02040503050406030204" pitchFamily="18" charset="0"/>
                                  </a:rPr>
                                  <m:t>1.4550</m:t>
                                </m:r>
                              </m:e>
                              <m:e>
                                <m:r>
                                  <a:rPr lang="en-US" sz="900" b="0" i="0">
                                    <a:latin typeface="Cambria Math" panose="02040503050406030204" pitchFamily="18" charset="0"/>
                                  </a:rPr>
                                  <m:t>−0.1216</m:t>
                                </m:r>
                              </m:e>
                            </m:mr>
                            <m:mr>
                              <m:e>
                                <m:r>
                                  <a:rPr lang="en-US" sz="900" b="0" i="0">
                                    <a:latin typeface="Cambria Math" panose="02040503050406030204" pitchFamily="18" charset="0"/>
                                  </a:rPr>
                                  <m:t>−0.3267</m:t>
                                </m:r>
                              </m:e>
                              <m:e>
                                <m:r>
                                  <a:rPr lang="en-US" sz="900" b="0" i="0">
                                    <a:latin typeface="Cambria Math" panose="02040503050406030204" pitchFamily="18" charset="0"/>
                                  </a:rPr>
                                  <m:t>−0.3703</m:t>
                                </m:r>
                              </m:e>
                              <m:e>
                                <m:r>
                                  <a:rPr lang="en-US" sz="900" b="0" i="0">
                                    <a:latin typeface="Cambria Math" panose="02040503050406030204" pitchFamily="18" charset="0"/>
                                  </a:rPr>
                                  <m:t>−0.3196</m:t>
                                </m:r>
                              </m:e>
                              <m:e>
                                <m:r>
                                  <a:rPr lang="en-US" sz="900" b="0" i="0">
                                    <a:latin typeface="Cambria Math" panose="02040503050406030204" pitchFamily="18" charset="0"/>
                                  </a:rPr>
                                  <m:t>−0.3732</m:t>
                                </m:r>
                              </m:e>
                              <m:e>
                                <m:r>
                                  <a:rPr lang="en-US" sz="900" b="0" i="0">
                                    <a:latin typeface="Cambria Math" panose="02040503050406030204" pitchFamily="18" charset="0"/>
                                  </a:rPr>
                                  <m:t>−0.4225</m:t>
                                </m:r>
                              </m:e>
                              <m:e>
                                <m:r>
                                  <a:rPr lang="en-US" sz="900" b="0" i="0">
                                    <a:latin typeface="Cambria Math" panose="02040503050406030204" pitchFamily="18" charset="0"/>
                                  </a:rPr>
                                  <m:t>0.8366</m:t>
                                </m:r>
                              </m:e>
                            </m:mr>
                          </m:m>
                        </m:e>
                      </m:d>
                      <m:r>
                        <a:rPr lang="en-US" sz="900" b="0" i="0">
                          <a:latin typeface="Cambria Math" panose="02040503050406030204" pitchFamily="18" charset="0"/>
                        </a:rPr>
                        <m:t>  </m:t>
                      </m:r>
                    </m:oMath>
                  </m:oMathPara>
                </a14:m>
                <a:endParaRPr lang="en-US" sz="900" dirty="0"/>
              </a:p>
            </p:txBody>
          </p:sp>
        </mc:Choice>
        <mc:Fallback>
          <p:sp>
            <p:nvSpPr>
              <p:cNvPr id="900" name="CalibV_s_mat"/>
              <p:cNvSpPr txBox="1">
                <a:spLocks noRot="1" noChangeAspect="1" noMove="1" noResize="1" noEditPoints="1" noAdjustHandles="1" noChangeArrowheads="1" noChangeShapeType="1" noTextEdit="1"/>
              </p:cNvSpPr>
              <p:nvPr/>
            </p:nvSpPr>
            <p:spPr>
              <a:xfrm>
                <a:off x="3200400" y="932688"/>
                <a:ext cx="3911600"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1" name="CalibV_s_sc"/>
              <p:cNvSpPr txBox="1"/>
              <p:nvPr/>
            </p:nvSpPr>
            <p:spPr>
              <a:xfrm>
                <a:off x="3200400" y="1865376"/>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875.1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5.0977×</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p:sp>
            <p:nvSpPr>
              <p:cNvPr id="901" name="CalibV_s_sc"/>
              <p:cNvSpPr txBox="1">
                <a:spLocks noRot="1" noChangeAspect="1" noMove="1" noResize="1" noEditPoints="1" noAdjustHandles="1" noChangeArrowheads="1" noChangeShapeType="1" noTextEdit="1"/>
              </p:cNvSpPr>
              <p:nvPr/>
            </p:nvSpPr>
            <p:spPr>
              <a:xfrm>
                <a:off x="3200400" y="1865376"/>
                <a:ext cx="3556000" cy="256032"/>
              </a:xfrm>
              <a:prstGeom prst="rect">
                <a:avLst/>
              </a:prstGeom>
              <a:blipFill>
                <a:blip r:embed="rId22"/>
                <a:stretch>
                  <a:fillRect t="-9524" b="-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2" name="CalibV_e_mat"/>
              <p:cNvSpPr txBox="1"/>
              <p:nvPr/>
            </p:nvSpPr>
            <p:spPr>
              <a:xfrm>
                <a:off x="3200400" y="2615184"/>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−0.4369</m:t>
                                </m:r>
                              </m:e>
                              <m:e>
                                <m:r>
                                  <a:rPr lang="en-US" sz="900" b="0" i="0">
                                    <a:latin typeface="Cambria Math" panose="02040503050406030204" pitchFamily="18" charset="0"/>
                                  </a:rPr>
                                  <m:t>−0.1751</m:t>
                                </m:r>
                              </m:e>
                              <m:e>
                                <m:r>
                                  <a:rPr lang="en-US" sz="900" b="0" i="0">
                                    <a:latin typeface="Cambria Math" panose="02040503050406030204" pitchFamily="18" charset="0"/>
                                  </a:rPr>
                                  <m:t>−0.3881</m:t>
                                </m:r>
                              </m:e>
                              <m:e>
                                <m:r>
                                  <a:rPr lang="en-US" sz="900" b="0" i="0">
                                    <a:latin typeface="Cambria Math" panose="02040503050406030204" pitchFamily="18" charset="0"/>
                                  </a:rPr>
                                  <m:t>−0.3887</m:t>
                                </m:r>
                              </m:e>
                              <m:e>
                                <m:r>
                                  <a:rPr lang="en-US" sz="900" b="0" i="0">
                                    <a:latin typeface="Cambria Math" panose="02040503050406030204" pitchFamily="18" charset="0"/>
                                  </a:rPr>
                                  <m:t>−0.1758</m:t>
                                </m:r>
                              </m:e>
                            </m:mr>
                            <m:mr>
                              <m:e>
                                <m:r>
                                  <a:rPr lang="en-US" sz="900" b="0" i="0">
                                    <a:latin typeface="Cambria Math" panose="02040503050406030204" pitchFamily="18" charset="0"/>
                                  </a:rPr>
                                  <m:t>−0.0073</m:t>
                                </m:r>
                              </m:e>
                              <m:e>
                                <m:r>
                                  <a:rPr lang="en-US" sz="900" b="0" i="0">
                                    <a:latin typeface="Cambria Math" panose="02040503050406030204" pitchFamily="18" charset="0"/>
                                  </a:rPr>
                                  <m:t>1.1554</m:t>
                                </m:r>
                              </m:e>
                              <m:e>
                                <m:r>
                                  <a:rPr lang="en-US" sz="900" b="0" i="0">
                                    <a:latin typeface="Cambria Math" panose="02040503050406030204" pitchFamily="18" charset="0"/>
                                  </a:rPr>
                                  <m:t>0.0111</m:t>
                                </m:r>
                              </m:e>
                              <m:e>
                                <m:r>
                                  <a:rPr lang="en-US" sz="900" b="0" i="0">
                                    <a:latin typeface="Cambria Math" panose="02040503050406030204" pitchFamily="18" charset="0"/>
                                  </a:rPr>
                                  <m:t>0.3521</m:t>
                                </m:r>
                              </m:e>
                              <m:e>
                                <m:r>
                                  <a:rPr lang="en-US" sz="900" b="0" i="0">
                                    <a:latin typeface="Cambria Math" panose="02040503050406030204" pitchFamily="18" charset="0"/>
                                  </a:rPr>
                                  <m:t>0.3581</m:t>
                                </m:r>
                              </m:e>
                              <m:e>
                                <m:r>
                                  <a:rPr lang="en-US" sz="900" b="0" i="0">
                                    <a:latin typeface="Cambria Math" panose="02040503050406030204" pitchFamily="18" charset="0"/>
                                  </a:rPr>
                                  <m:t>0.0094</m:t>
                                </m:r>
                              </m:e>
                            </m:mr>
                            <m:mr>
                              <m:e>
                                <m:r>
                                  <a:rPr lang="en-US" sz="900" b="0" i="0">
                                    <a:latin typeface="Cambria Math" panose="02040503050406030204" pitchFamily="18" charset="0"/>
                                  </a:rPr>
                                  <m:t>−0.1902</m:t>
                                </m:r>
                              </m:e>
                              <m:e>
                                <m:r>
                                  <a:rPr lang="en-US" sz="900" b="0" i="0">
                                    <a:latin typeface="Cambria Math" panose="02040503050406030204" pitchFamily="18" charset="0"/>
                                  </a:rPr>
                                  <m:t>−0.4085</m:t>
                                </m:r>
                              </m:e>
                              <m:e>
                                <m:r>
                                  <a:rPr lang="en-US" sz="900" b="0" i="0">
                                    <a:latin typeface="Cambria Math" panose="02040503050406030204" pitchFamily="18" charset="0"/>
                                  </a:rPr>
                                  <m:t>0.8240</m:t>
                                </m:r>
                              </m:e>
                              <m:e>
                                <m:r>
                                  <a:rPr lang="en-US" sz="900" b="0" i="0">
                                    <a:latin typeface="Cambria Math" panose="02040503050406030204" pitchFamily="18" charset="0"/>
                                  </a:rPr>
                                  <m:t>−0.4495</m:t>
                                </m:r>
                              </m:e>
                              <m:e>
                                <m:r>
                                  <a:rPr lang="en-US" sz="900" b="0" i="0">
                                    <a:latin typeface="Cambria Math" panose="02040503050406030204" pitchFamily="18" charset="0"/>
                                  </a:rPr>
                                  <m:t>−0.4089</m:t>
                                </m:r>
                              </m:e>
                              <m:e>
                                <m:r>
                                  <a:rPr lang="en-US" sz="900" b="0" i="0">
                                    <a:latin typeface="Cambria Math" panose="02040503050406030204" pitchFamily="18" charset="0"/>
                                  </a:rPr>
                                  <m:t>−0.1864</m:t>
                                </m:r>
                              </m:e>
                            </m:mr>
                            <m:mr>
                              <m:e>
                                <m:r>
                                  <a:rPr lang="en-US" sz="900" b="0" i="0">
                                    <a:latin typeface="Cambria Math" panose="02040503050406030204" pitchFamily="18" charset="0"/>
                                  </a:rPr>
                                  <m:t>0.0412</m:t>
                                </m:r>
                              </m:e>
                              <m:e>
                                <m:r>
                                  <a:rPr lang="en-US" sz="900" b="0" i="0">
                                    <a:latin typeface="Cambria Math" panose="02040503050406030204" pitchFamily="18" charset="0"/>
                                  </a:rPr>
                                  <m:t>0.4076</m:t>
                                </m:r>
                              </m:e>
                              <m:e>
                                <m:r>
                                  <a:rPr lang="en-US" sz="900" b="0" i="0">
                                    <a:latin typeface="Cambria Math" panose="02040503050406030204" pitchFamily="18" charset="0"/>
                                  </a:rPr>
                                  <m:t>0.0205</m:t>
                                </m:r>
                              </m:e>
                              <m:e>
                                <m:r>
                                  <a:rPr lang="en-US" sz="900" b="0" i="0">
                                    <a:latin typeface="Cambria Math" panose="02040503050406030204" pitchFamily="18" charset="0"/>
                                  </a:rPr>
                                  <m:t>1.2065</m:t>
                                </m:r>
                              </m:e>
                              <m:e>
                                <m:r>
                                  <a:rPr lang="en-US" sz="900" b="0" i="0">
                                    <a:latin typeface="Cambria Math" panose="02040503050406030204" pitchFamily="18" charset="0"/>
                                  </a:rPr>
                                  <m:t>0.4086</m:t>
                                </m:r>
                              </m:e>
                              <m:e>
                                <m:r>
                                  <a:rPr lang="en-US" sz="900" b="0" i="0">
                                    <a:latin typeface="Cambria Math" panose="02040503050406030204" pitchFamily="18" charset="0"/>
                                  </a:rPr>
                                  <m:t>0.0328</m:t>
                                </m:r>
                              </m:e>
                            </m:mr>
                            <m:mr>
                              <m:e>
                                <m:r>
                                  <a:rPr lang="en-US" sz="900" b="0" i="0">
                                    <a:latin typeface="Cambria Math" panose="02040503050406030204" pitchFamily="18" charset="0"/>
                                  </a:rPr>
                                  <m:t>0.0398</m:t>
                                </m:r>
                              </m:e>
                              <m:e>
                                <m:r>
                                  <a:rPr lang="en-US" sz="900" b="0" i="0">
                                    <a:latin typeface="Cambria Math" panose="02040503050406030204" pitchFamily="18" charset="0"/>
                                  </a:rPr>
                                  <m:t>0.3953</m:t>
                                </m:r>
                              </m:e>
                              <m:e>
                                <m:r>
                                  <a:rPr lang="en-US" sz="900" b="0" i="0">
                                    <a:latin typeface="Cambria Math" panose="02040503050406030204" pitchFamily="18" charset="0"/>
                                  </a:rPr>
                                  <m:t>0.0331</m:t>
                                </m:r>
                              </m:e>
                              <m:e>
                                <m:r>
                                  <a:rPr lang="en-US" sz="900" b="0" i="0">
                                    <a:latin typeface="Cambria Math" panose="02040503050406030204" pitchFamily="18" charset="0"/>
                                  </a:rPr>
                                  <m:t>0.3931</m:t>
                                </m:r>
                              </m:e>
                              <m:e>
                                <m:r>
                                  <a:rPr lang="en-US" sz="900" b="0" i="0">
                                    <a:latin typeface="Cambria Math" panose="02040503050406030204" pitchFamily="18" charset="0"/>
                                  </a:rPr>
                                  <m:t>1.2033</m:t>
                                </m:r>
                              </m:e>
                              <m:e>
                                <m:r>
                                  <a:rPr lang="en-US" sz="900" b="0" i="0">
                                    <a:latin typeface="Cambria Math" panose="02040503050406030204" pitchFamily="18" charset="0"/>
                                  </a:rPr>
                                  <m:t>0.0122</m:t>
                                </m:r>
                              </m:e>
                            </m:mr>
                            <m:mr>
                              <m:e>
                                <m:r>
                                  <a:rPr lang="en-US" sz="900" b="0" i="0">
                                    <a:latin typeface="Cambria Math" panose="02040503050406030204" pitchFamily="18" charset="0"/>
                                  </a:rPr>
                                  <m:t>−0.1873</m:t>
                                </m:r>
                              </m:e>
                              <m:e>
                                <m:r>
                                  <a:rPr lang="en-US" sz="900" b="0" i="0">
                                    <a:latin typeface="Cambria Math" panose="02040503050406030204" pitchFamily="18" charset="0"/>
                                  </a:rPr>
                                  <m:t>−0.3961</m:t>
                                </m:r>
                              </m:e>
                              <m:e>
                                <m:r>
                                  <a:rPr lang="en-US" sz="900" b="0" i="0">
                                    <a:latin typeface="Cambria Math" panose="02040503050406030204" pitchFamily="18" charset="0"/>
                                  </a:rPr>
                                  <m:t>−0.1785</m:t>
                                </m:r>
                              </m:e>
                              <m:e>
                                <m:r>
                                  <a:rPr lang="en-US" sz="900" b="0" i="0">
                                    <a:latin typeface="Cambria Math" panose="02040503050406030204" pitchFamily="18" charset="0"/>
                                  </a:rPr>
                                  <m:t>−0.3984</m:t>
                                </m:r>
                              </m:e>
                              <m:e>
                                <m:r>
                                  <a:rPr lang="en-US" sz="900" b="0" i="0">
                                    <a:latin typeface="Cambria Math" panose="02040503050406030204" pitchFamily="18" charset="0"/>
                                  </a:rPr>
                                  <m:t>−0.4500</m:t>
                                </m:r>
                              </m:e>
                              <m:e>
                                <m:r>
                                  <a:rPr lang="en-US" sz="900" b="0" i="0">
                                    <a:latin typeface="Cambria Math" panose="02040503050406030204" pitchFamily="18" charset="0"/>
                                  </a:rPr>
                                  <m:t>0.8429</m:t>
                                </m:r>
                              </m:e>
                            </m:mr>
                          </m:m>
                        </m:e>
                      </m:d>
                      <m:r>
                        <a:rPr lang="en-US" sz="900" b="0" i="0">
                          <a:latin typeface="Cambria Math" panose="02040503050406030204" pitchFamily="18" charset="0"/>
                        </a:rPr>
                        <m:t> </m:t>
                      </m:r>
                    </m:oMath>
                  </m:oMathPara>
                </a14:m>
                <a:endParaRPr lang="en-US" sz="900" dirty="0"/>
              </a:p>
            </p:txBody>
          </p:sp>
        </mc:Choice>
        <mc:Fallback>
          <p:sp>
            <p:nvSpPr>
              <p:cNvPr id="902" name="CalibV_e_mat"/>
              <p:cNvSpPr txBox="1">
                <a:spLocks noRot="1" noChangeAspect="1" noMove="1" noResize="1" noEditPoints="1" noAdjustHandles="1" noChangeArrowheads="1" noChangeShapeType="1" noTextEdit="1"/>
              </p:cNvSpPr>
              <p:nvPr/>
            </p:nvSpPr>
            <p:spPr>
              <a:xfrm>
                <a:off x="3200400" y="2615184"/>
                <a:ext cx="3793066"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3" name="CalibV_e_bias"/>
              <p:cNvSpPr txBox="1"/>
              <p:nvPr/>
            </p:nvSpPr>
            <p:spPr>
              <a:xfrm>
                <a:off x="3200400" y="3584448"/>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0.0185</m:t>
                                </m:r>
                              </m:e>
                              <m:e>
                                <m:r>
                                  <a:rPr lang="en-US" sz="900" b="0" i="0">
                                    <a:latin typeface="Cambria Math" panose="02040503050406030204" pitchFamily="18" charset="0"/>
                                  </a:rPr>
                                  <m:t>0.0203</m:t>
                                </m:r>
                              </m:e>
                              <m:e>
                                <m:r>
                                  <a:rPr lang="en-US" sz="900" b="0" i="0">
                                    <a:latin typeface="Cambria Math" panose="02040503050406030204" pitchFamily="18" charset="0"/>
                                  </a:rPr>
                                  <m:t>−0.1173</m:t>
                                </m:r>
                              </m:e>
                              <m:e>
                                <m:r>
                                  <a:rPr lang="en-US" sz="900" b="0" i="0">
                                    <a:latin typeface="Cambria Math" panose="02040503050406030204" pitchFamily="18" charset="0"/>
                                  </a:rPr>
                                  <m:t>0.0024</m:t>
                                </m:r>
                              </m:e>
                              <m:e>
                                <m:r>
                                  <a:rPr lang="en-US" sz="900" b="0" i="0">
                                    <a:latin typeface="Cambria Math" panose="02040503050406030204" pitchFamily="18" charset="0"/>
                                  </a:rPr>
                                  <m:t>0.0018</m:t>
                                </m:r>
                              </m:e>
                              <m:e>
                                <m:r>
                                  <a:rPr lang="en-US" sz="900" b="0" i="0">
                                    <a:latin typeface="Cambria Math" panose="02040503050406030204" pitchFamily="18" charset="0"/>
                                  </a:rPr>
                                  <m:t>−0.1186</m:t>
                                </m:r>
                              </m:e>
                            </m:mr>
                            <m:mr>
                              <m:e>
                                <m:r>
                                  <a:rPr lang="en-US" sz="900" b="0" i="0">
                                    <a:latin typeface="Cambria Math" panose="02040503050406030204" pitchFamily="18" charset="0"/>
                                  </a:rPr>
                                  <m:t>−0.1183</m:t>
                                </m:r>
                              </m:e>
                              <m:e>
                                <m:r>
                                  <a:rPr lang="en-US" sz="900" b="0" i="0">
                                    <a:latin typeface="Cambria Math" panose="02040503050406030204" pitchFamily="18" charset="0"/>
                                  </a:rPr>
                                  <m:t>0.0026</m:t>
                                </m:r>
                              </m:e>
                              <m:e>
                                <m:r>
                                  <a:rPr lang="en-US" sz="900" b="0" i="0">
                                    <a:latin typeface="Cambria Math" panose="02040503050406030204" pitchFamily="18" charset="0"/>
                                  </a:rPr>
                                  <m:t>0.0168</m:t>
                                </m:r>
                              </m:e>
                              <m:e>
                                <m:r>
                                  <a:rPr lang="en-US" sz="900" b="0" i="0">
                                    <a:latin typeface="Cambria Math" panose="02040503050406030204" pitchFamily="18" charset="0"/>
                                  </a:rPr>
                                  <m:t>0.0163</m:t>
                                </m:r>
                              </m:e>
                              <m:e>
                                <m:r>
                                  <a:rPr lang="en-US" sz="900" b="0" i="0">
                                    <a:latin typeface="Cambria Math" panose="02040503050406030204" pitchFamily="18" charset="0"/>
                                  </a:rPr>
                                  <m:t>0.0019</m:t>
                                </m:r>
                              </m:e>
                              <m:e>
                                <m:r>
                                  <a:rPr lang="en-US" sz="900" b="0" i="0">
                                    <a:latin typeface="Cambria Math" panose="02040503050406030204" pitchFamily="18" charset="0"/>
                                  </a:rPr>
                                  <m:t>−0.1185</m:t>
                                </m:r>
                              </m:e>
                            </m:mr>
                            <m:mr>
                              <m:e>
                                <m:r>
                                  <a:rPr lang="en-US" sz="900" b="0" i="0">
                                    <a:latin typeface="Cambria Math" panose="02040503050406030204" pitchFamily="18" charset="0"/>
                                  </a:rPr>
                                  <m:t>0.1182</m:t>
                                </m:r>
                              </m:e>
                              <m:e>
                                <m:r>
                                  <a:rPr lang="en-US" sz="900" b="0" i="0">
                                    <a:latin typeface="Cambria Math" panose="02040503050406030204" pitchFamily="18" charset="0"/>
                                  </a:rPr>
                                  <m:t>−0.0029</m:t>
                                </m:r>
                              </m:e>
                              <m:e>
                                <m:r>
                                  <a:rPr lang="en-US" sz="900" b="0" i="0">
                                    <a:latin typeface="Cambria Math" panose="02040503050406030204" pitchFamily="18" charset="0"/>
                                  </a:rPr>
                                  <m:t>0.1166</m:t>
                                </m:r>
                              </m:e>
                              <m:e>
                                <m:r>
                                  <a:rPr lang="en-US" sz="900" b="0" i="0">
                                    <a:latin typeface="Cambria Math" panose="02040503050406030204" pitchFamily="18" charset="0"/>
                                  </a:rPr>
                                  <m:t>−0.0029</m:t>
                                </m:r>
                              </m:e>
                              <m:e>
                                <m:r>
                                  <a:rPr lang="en-US" sz="900" b="0" i="0">
                                    <a:latin typeface="Cambria Math" panose="02040503050406030204" pitchFamily="18" charset="0"/>
                                  </a:rPr>
                                  <m:t>−0.0186</m:t>
                                </m:r>
                              </m:e>
                              <m:e>
                                <m:r>
                                  <a:rPr lang="en-US" sz="900" b="0" i="0">
                                    <a:latin typeface="Cambria Math" panose="02040503050406030204" pitchFamily="18" charset="0"/>
                                  </a:rPr>
                                  <m:t>−0.0199</m:t>
                                </m:r>
                              </m:e>
                            </m:mr>
                          </m:m>
                        </m:e>
                      </m:d>
                    </m:oMath>
                  </m:oMathPara>
                </a14:m>
                <a:endParaRPr lang="en-US" sz="900" dirty="0"/>
              </a:p>
            </p:txBody>
          </p:sp>
        </mc:Choice>
        <mc:Fallback>
          <p:sp>
            <p:nvSpPr>
              <p:cNvPr id="903" name="CalibV_e_bias"/>
              <p:cNvSpPr txBox="1">
                <a:spLocks noRot="1" noChangeAspect="1" noMove="1" noResize="1" noEditPoints="1" noAdjustHandles="1" noChangeArrowheads="1" noChangeShapeType="1" noTextEdit="1"/>
              </p:cNvSpPr>
              <p:nvPr/>
            </p:nvSpPr>
            <p:spPr>
              <a:xfrm>
                <a:off x="3200400" y="3584448"/>
                <a:ext cx="3632200" cy="457200"/>
              </a:xfrm>
              <a:prstGeom prst="rect">
                <a:avLst/>
              </a:prstGeom>
              <a:blipFill>
                <a:blip r:embed="rId24"/>
                <a:stretch>
                  <a:fillRect t="-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4" name="CalibV_e_sc"/>
              <p:cNvSpPr txBox="1"/>
              <p:nvPr/>
            </p:nvSpPr>
            <p:spPr>
              <a:xfrm>
                <a:off x="3200400" y="4114800"/>
                <a:ext cx="3208867"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873.0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6.0681×</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p:sp>
            <p:nvSpPr>
              <p:cNvPr id="904" name="CalibV_e_sc"/>
              <p:cNvSpPr txBox="1">
                <a:spLocks noRot="1" noChangeAspect="1" noMove="1" noResize="1" noEditPoints="1" noAdjustHandles="1" noChangeArrowheads="1" noChangeShapeType="1" noTextEdit="1"/>
              </p:cNvSpPr>
              <p:nvPr/>
            </p:nvSpPr>
            <p:spPr>
              <a:xfrm>
                <a:off x="3200400" y="4114800"/>
                <a:ext cx="3208867" cy="256032"/>
              </a:xfrm>
              <a:prstGeom prst="rect">
                <a:avLst/>
              </a:prstGeom>
              <a:blipFill>
                <a:blip r:embed="rId25"/>
                <a:stretch>
                  <a:fillRect t="-9524" b="-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0" name="文字方塊 29">
                <a:extLst>
                  <a:ext uri="{FF2B5EF4-FFF2-40B4-BE49-F238E27FC236}">
                    <a16:creationId xmlns:a16="http://schemas.microsoft.com/office/drawing/2014/main" id="{05D4D494-842A-47CF-AA77-F7674C9C2B84}"/>
                  </a:ext>
                </a:extLst>
              </p:cNvPr>
              <p:cNvSpPr txBox="1"/>
              <p:nvPr/>
            </p:nvSpPr>
            <p:spPr>
              <a:xfrm>
                <a:off x="6756400" y="83210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p:sp>
            <p:nvSpPr>
              <p:cNvPr id="30" name="文字方塊 29">
                <a:extLst>
                  <a:ext uri="{FF2B5EF4-FFF2-40B4-BE49-F238E27FC236}">
                    <a16:creationId xmlns:a16="http://schemas.microsoft.com/office/drawing/2014/main" id="{05D4D494-842A-47CF-AA77-F7674C9C2B84}"/>
                  </a:ext>
                </a:extLst>
              </p:cNvPr>
              <p:cNvSpPr txBox="1">
                <a:spLocks noRot="1" noChangeAspect="1" noMove="1" noResize="1" noEditPoints="1" noAdjustHandles="1" noChangeArrowheads="1" noChangeShapeType="1" noTextEdit="1"/>
              </p:cNvSpPr>
              <p:nvPr/>
            </p:nvSpPr>
            <p:spPr>
              <a:xfrm>
                <a:off x="6756400" y="832104"/>
                <a:ext cx="4191000" cy="549509"/>
              </a:xfrm>
              <a:prstGeom prst="rect">
                <a:avLst/>
              </a:prstGeom>
              <a:blipFill>
                <a:blip r:embed="rId26"/>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1" name="文字方塊 30">
                <a:extLst>
                  <a:ext uri="{FF2B5EF4-FFF2-40B4-BE49-F238E27FC236}">
                    <a16:creationId xmlns:a16="http://schemas.microsoft.com/office/drawing/2014/main" id="{2B0B5D14-C152-4D30-B0FA-C30458E0B274}"/>
                  </a:ext>
                </a:extLst>
              </p:cNvPr>
              <p:cNvSpPr txBox="1"/>
              <p:nvPr/>
            </p:nvSpPr>
            <p:spPr>
              <a:xfrm>
                <a:off x="8551747" y="409957"/>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p:sp>
            <p:nvSpPr>
              <p:cNvPr id="31" name="文字方塊 30">
                <a:extLst>
                  <a:ext uri="{FF2B5EF4-FFF2-40B4-BE49-F238E27FC236}">
                    <a16:creationId xmlns:a16="http://schemas.microsoft.com/office/drawing/2014/main" id="{2B0B5D14-C152-4D30-B0FA-C30458E0B274}"/>
                  </a:ext>
                </a:extLst>
              </p:cNvPr>
              <p:cNvSpPr txBox="1">
                <a:spLocks noRot="1" noChangeAspect="1" noMove="1" noResize="1" noEditPoints="1" noAdjustHandles="1" noChangeArrowheads="1" noChangeShapeType="1" noTextEdit="1"/>
              </p:cNvSpPr>
              <p:nvPr/>
            </p:nvSpPr>
            <p:spPr>
              <a:xfrm>
                <a:off x="8551747" y="409957"/>
                <a:ext cx="3564053" cy="321563"/>
              </a:xfrm>
              <a:prstGeom prst="rect">
                <a:avLst/>
              </a:prstGeom>
              <a:blipFill>
                <a:blip r:embed="rId27"/>
                <a:stretch>
                  <a:fillRect l="-1197" t="-13208" r="-5128" b="-22642"/>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2" name="文字方塊 31">
                <a:extLst>
                  <a:ext uri="{FF2B5EF4-FFF2-40B4-BE49-F238E27FC236}">
                    <a16:creationId xmlns:a16="http://schemas.microsoft.com/office/drawing/2014/main" id="{C685C6EE-EA50-4331-ADBB-49A0A8EDD3B1}"/>
                  </a:ext>
                </a:extLst>
              </p:cNvPr>
              <p:cNvSpPr txBox="1"/>
              <p:nvPr/>
            </p:nvSpPr>
            <p:spPr>
              <a:xfrm>
                <a:off x="6832600" y="2535112"/>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0.26</m:t>
                      </m:r>
                      <m:r>
                        <a:rPr lang="en-US" altLang="zh-TW" sz="1400" b="0" i="1" smtClean="0">
                          <a:latin typeface="Cambria Math" panose="02040503050406030204" pitchFamily="18" charset="0"/>
                        </a:rPr>
                        <m:t>%</m:t>
                      </m:r>
                    </m:oMath>
                  </m:oMathPara>
                </a14:m>
                <a:endParaRPr lang="zh-TW" altLang="en-US" sz="1400" dirty="0"/>
              </a:p>
            </p:txBody>
          </p:sp>
        </mc:Choice>
        <mc:Fallback>
          <p:sp>
            <p:nvSpPr>
              <p:cNvPr id="32" name="文字方塊 31">
                <a:extLst>
                  <a:ext uri="{FF2B5EF4-FFF2-40B4-BE49-F238E27FC236}">
                    <a16:creationId xmlns:a16="http://schemas.microsoft.com/office/drawing/2014/main" id="{C685C6EE-EA50-4331-ADBB-49A0A8EDD3B1}"/>
                  </a:ext>
                </a:extLst>
              </p:cNvPr>
              <p:cNvSpPr txBox="1">
                <a:spLocks noRot="1" noChangeAspect="1" noMove="1" noResize="1" noEditPoints="1" noAdjustHandles="1" noChangeArrowheads="1" noChangeShapeType="1" noTextEdit="1"/>
              </p:cNvSpPr>
              <p:nvPr/>
            </p:nvSpPr>
            <p:spPr>
              <a:xfrm>
                <a:off x="6832600" y="2535112"/>
                <a:ext cx="4191000" cy="549509"/>
              </a:xfrm>
              <a:prstGeom prst="rect">
                <a:avLst/>
              </a:prstGeom>
              <a:blipFill>
                <a:blip r:embed="rId28"/>
                <a:stretch>
                  <a:fillRect/>
                </a:stretch>
              </a:blipFill>
            </p:spPr>
            <p:txBody>
              <a:bodyPr/>
              <a:lstStyle/>
              <a:p>
                <a:r>
                  <a:rPr lang="zh-TW" altLang="en-US">
                    <a:noFill/>
                  </a:rPr>
                  <a:t> </a:t>
                </a:r>
              </a:p>
            </p:txBody>
          </p:sp>
        </mc:Fallback>
      </mc:AlternateContent>
      <p:sp xmlns:a14="http://schemas.microsoft.com/office/drawing/2010/main">
        <p:nvSpPr>
          <p:cNvPr id="950" name="CalibV_Vmat"/>
          <p:cNvSpPr txBox="1"/>
          <p:nvPr/>
        </p:nvSpPr>
        <p:spPr>
          <a:xfrm>
            <a:off x="3200400" y="4480560"/>
            <a:ext cx="5120640" cy="868680"/>
          </a:xfrm>
          <a:prstGeom prst="rect">
            <a:avLst/>
          </a:prstGeom>
          <a:noFill/>
        </p:spPr>
        <p:txBody>
          <a:bodyPr wrap="none" rtlCol="0" lIns="0" tIns="0" rIns="0" bIns="0" anchor="t"/>
          <a:lstStyle/>
          <a:p>
            <a:pPr algn="ctr"/>
            <a14:m>
              <m:oMath xmlns:m="http://schemas.openxmlformats.org/officeDocument/2006/math">
                <m:r>
                  <a:rPr lang="en-US" b="0" i="1" sz="900">
                    <a:latin typeface="Cambria Math" panose="02040503050406030204" pitchFamily="18" charset="0"/>
                  </a:rPr>
                  <m:t>𝑉</m:t>
                </m:r>
                <m:r>
                  <m:rPr>
                    <m:sty m:val="p"/>
                  </m:rPr>
                  <a:rPr lang="en-US" b="0" i="0" sz="900">
                    <a:latin typeface="Cambria Math" panose="02040503050406030204" pitchFamily="18" charset="0"/>
                  </a:rPr>
                  <m:t> (mV) = </m:t>
                </m:r>
                <m:d>
                  <m:dPr>
                    <m:begChr m:val="["/>
                    <m:endChr m:val="]"/>
                    <m:ctrlPr>
                      <a:rPr lang="en-US" b="0" i="1" sz="900">
                        <a:latin typeface="Cambria Math" panose="02040503050406030204" pitchFamily="18" charset="0"/>
                      </a:rPr>
                    </m:ctrlPr>
                  </m:dPr>
                  <m:e>
                    <m:m>
                      <m:mPr>
                        <m:mcs>
                          <m:mc>
                            <m:mcPr>
                              <m:count m:val="6"/>
                              <m:mcJc m:val="center"/>
                            </m:mcPr>
                          </m:mc>
                        </m:mcs>
                        <m:ctrlPr>
                          <a:rPr lang="en-US" b="0" i="1" sz="900">
                            <a:latin typeface="Cambria Math" panose="02040503050406030204" pitchFamily="18" charset="0"/>
                          </a:rPr>
                        </m:ctrlPr>
                      </m:mPr>
                      <m:mr>
                        <m:e>
                          <m:r>
                            <m:rPr>
                              <m:sty m:val="p"/>
                            </m:rPr>
                            <a:rPr lang="en-US" b="0" i="0" sz="900">
                              <a:latin typeface="Cambria Math" panose="02040503050406030204" pitchFamily="18" charset="0"/>
                            </a:rPr>
                            <m:t>1397.2735</m:t>
                          </m:r>
                        </m:e>
                        <m:e>
                          <m:r>
                            <m:rPr>
                              <m:sty m:val="p"/>
                            </m:rPr>
                            <a:rPr lang="en-US" b="0" i="0" sz="900">
                              <a:latin typeface="Cambria Math" panose="02040503050406030204" pitchFamily="18" charset="0"/>
                            </a:rPr>
                            <m:t>−44.8716</m:t>
                          </m:r>
                        </m:e>
                        <m:e>
                          <m:r>
                            <m:rPr>
                              <m:sty m:val="p"/>
                            </m:rPr>
                            <a:rPr lang="en-US" b="0" i="0" sz="900">
                              <a:latin typeface="Cambria Math" panose="02040503050406030204" pitchFamily="18" charset="0"/>
                            </a:rPr>
                            <m:t>−296.5495</m:t>
                          </m:r>
                        </m:e>
                        <m:e>
                          <m:r>
                            <m:rPr>
                              <m:sty m:val="p"/>
                            </m:rPr>
                            <a:rPr lang="en-US" b="0" i="0" sz="900">
                              <a:latin typeface="Cambria Math" panose="02040503050406030204" pitchFamily="18" charset="0"/>
                            </a:rPr>
                            <m:t>−238.8386</m:t>
                          </m:r>
                        </m:e>
                        <m:e>
                          <m:r>
                            <m:rPr>
                              <m:sty m:val="p"/>
                            </m:rPr>
                            <a:rPr lang="en-US" b="0" i="0" sz="900">
                              <a:latin typeface="Cambria Math" panose="02040503050406030204" pitchFamily="18" charset="0"/>
                            </a:rPr>
                            <m:t>−249.5774</m:t>
                          </m:r>
                        </m:e>
                        <m:e>
                          <m:r>
                            <m:rPr>
                              <m:sty m:val="p"/>
                            </m:rPr>
                            <a:rPr lang="en-US" b="0" i="0" sz="900">
                              <a:latin typeface="Cambria Math" panose="02040503050406030204" pitchFamily="18" charset="0"/>
                            </a:rPr>
                            <m:t>−294.4416</m:t>
                          </m:r>
                        </m:e>
                      </m:mr>
                      <m:mr>
                        <m:e>
                          <m:r>
                            <m:rPr>
                              <m:sty m:val="p"/>
                            </m:rPr>
                            <a:rPr lang="en-US" b="0" i="0" sz="900">
                              <a:latin typeface="Cambria Math" panose="02040503050406030204" pitchFamily="18" charset="0"/>
                            </a:rPr>
                            <m:t>−52.4580</m:t>
                          </m:r>
                        </m:e>
                        <m:e>
                          <m:r>
                            <m:rPr>
                              <m:sty m:val="p"/>
                            </m:rPr>
                            <a:rPr lang="en-US" b="0" i="0" sz="900">
                              <a:latin typeface="Cambria Math" panose="02040503050406030204" pitchFamily="18" charset="0"/>
                            </a:rPr>
                            <m:t>1598.5038</m:t>
                          </m:r>
                        </m:e>
                        <m:e>
                          <m:r>
                            <m:rPr>
                              <m:sty m:val="p"/>
                            </m:rPr>
                            <a:rPr lang="en-US" b="0" i="0" sz="900">
                              <a:latin typeface="Cambria Math" panose="02040503050406030204" pitchFamily="18" charset="0"/>
                            </a:rPr>
                            <m:t>−235.9132</m:t>
                          </m:r>
                        </m:e>
                        <m:e>
                          <m:r>
                            <m:rPr>
                              <m:sty m:val="p"/>
                            </m:rPr>
                            <a:rPr lang="en-US" b="0" i="0" sz="900">
                              <a:latin typeface="Cambria Math" panose="02040503050406030204" pitchFamily="18" charset="0"/>
                            </a:rPr>
                            <m:t>−508.5162</m:t>
                          </m:r>
                        </m:e>
                        <m:e>
                          <m:r>
                            <m:rPr>
                              <m:sty m:val="p"/>
                            </m:rPr>
                            <a:rPr lang="en-US" b="0" i="0" sz="900">
                              <a:latin typeface="Cambria Math" panose="02040503050406030204" pitchFamily="18" charset="0"/>
                            </a:rPr>
                            <m:t>−516.0957</m:t>
                          </m:r>
                        </m:e>
                        <m:e>
                          <m:r>
                            <m:rPr>
                              <m:sty m:val="p"/>
                            </m:rPr>
                            <a:rPr lang="en-US" b="0" i="0" sz="900">
                              <a:latin typeface="Cambria Math" panose="02040503050406030204" pitchFamily="18" charset="0"/>
                            </a:rPr>
                            <m:t>−237.4094</m:t>
                          </m:r>
                        </m:e>
                      </m:mr>
                      <m:mr>
                        <m:e>
                          <m:r>
                            <m:rPr>
                              <m:sty m:val="p"/>
                            </m:rPr>
                            <a:rPr lang="en-US" b="0" i="0" sz="900">
                              <a:latin typeface="Cambria Math" panose="02040503050406030204" pitchFamily="18" charset="0"/>
                            </a:rPr>
                            <m:t>−294.5096</m:t>
                          </m:r>
                        </m:e>
                        <m:e>
                          <m:r>
                            <m:rPr>
                              <m:sty m:val="p"/>
                            </m:rPr>
                            <a:rPr lang="en-US" b="0" i="0" sz="900">
                              <a:latin typeface="Cambria Math" panose="02040503050406030204" pitchFamily="18" charset="0"/>
                            </a:rPr>
                            <m:t>−234.5870</m:t>
                          </m:r>
                        </m:e>
                        <m:e>
                          <m:r>
                            <m:rPr>
                              <m:sty m:val="p"/>
                            </m:rPr>
                            <a:rPr lang="en-US" b="0" i="0" sz="900">
                              <a:latin typeface="Cambria Math" panose="02040503050406030204" pitchFamily="18" charset="0"/>
                            </a:rPr>
                            <m:t>1395.5988</m:t>
                          </m:r>
                        </m:e>
                        <m:e>
                          <m:r>
                            <m:rPr>
                              <m:sty m:val="p"/>
                            </m:rPr>
                            <a:rPr lang="en-US" b="0" i="0" sz="900">
                              <a:latin typeface="Cambria Math" panose="02040503050406030204" pitchFamily="18" charset="0"/>
                            </a:rPr>
                            <m:t>−46.2246</m:t>
                          </m:r>
                        </m:e>
                        <m:e>
                          <m:r>
                            <m:rPr>
                              <m:sty m:val="p"/>
                            </m:rPr>
                            <a:rPr lang="en-US" b="0" i="0" sz="900">
                              <a:latin typeface="Cambria Math" panose="02040503050406030204" pitchFamily="18" charset="0"/>
                            </a:rPr>
                            <m:t>−241.6162</m:t>
                          </m:r>
                        </m:e>
                        <m:e>
                          <m:r>
                            <m:rPr>
                              <m:sty m:val="p"/>
                            </m:rPr>
                            <a:rPr lang="en-US" b="0" i="0" sz="900">
                              <a:latin typeface="Cambria Math" panose="02040503050406030204" pitchFamily="18" charset="0"/>
                            </a:rPr>
                            <m:t>−294.7690</m:t>
                          </m:r>
                        </m:e>
                      </m:mr>
                      <m:mr>
                        <m:e>
                          <m:r>
                            <m:rPr>
                              <m:sty m:val="p"/>
                            </m:rPr>
                            <a:rPr lang="en-US" b="0" i="0" sz="900">
                              <a:latin typeface="Cambria Math" panose="02040503050406030204" pitchFamily="18" charset="0"/>
                            </a:rPr>
                            <m:t>−235.8573</m:t>
                          </m:r>
                        </m:e>
                        <m:e>
                          <m:r>
                            <m:rPr>
                              <m:sty m:val="p"/>
                            </m:rPr>
                            <a:rPr lang="en-US" b="0" i="0" sz="900">
                              <a:latin typeface="Cambria Math" panose="02040503050406030204" pitchFamily="18" charset="0"/>
                            </a:rPr>
                            <m:t>−530.9619</m:t>
                          </m:r>
                        </m:e>
                        <m:e>
                          <m:r>
                            <m:rPr>
                              <m:sty m:val="p"/>
                            </m:rPr>
                            <a:rPr lang="en-US" b="0" i="0" sz="900">
                              <a:latin typeface="Cambria Math" panose="02040503050406030204" pitchFamily="18" charset="0"/>
                            </a:rPr>
                            <m:t>−51.6032</m:t>
                          </m:r>
                        </m:e>
                        <m:e>
                          <m:r>
                            <m:rPr>
                              <m:sty m:val="p"/>
                            </m:rPr>
                            <a:rPr lang="en-US" b="0" i="0" sz="900">
                              <a:latin typeface="Cambria Math" panose="02040503050406030204" pitchFamily="18" charset="0"/>
                            </a:rPr>
                            <m:t>1587.2805</m:t>
                          </m:r>
                        </m:e>
                        <m:e>
                          <m:r>
                            <m:rPr>
                              <m:sty m:val="p"/>
                            </m:rPr>
                            <a:rPr lang="en-US" b="0" i="0" sz="900">
                              <a:latin typeface="Cambria Math" panose="02040503050406030204" pitchFamily="18" charset="0"/>
                            </a:rPr>
                            <m:t>−528.2991</m:t>
                          </m:r>
                        </m:e>
                        <m:e>
                          <m:r>
                            <m:rPr>
                              <m:sty m:val="p"/>
                            </m:rPr>
                            <a:rPr lang="en-US" b="0" i="0" sz="900">
                              <a:latin typeface="Cambria Math" panose="02040503050406030204" pitchFamily="18" charset="0"/>
                            </a:rPr>
                            <m:t>−225.8603</m:t>
                          </m:r>
                        </m:e>
                      </m:mr>
                      <m:mr>
                        <m:e>
                          <m:r>
                            <m:rPr>
                              <m:sty m:val="p"/>
                            </m:rPr>
                            <a:rPr lang="en-US" b="0" i="0" sz="900">
                              <a:latin typeface="Cambria Math" panose="02040503050406030204" pitchFamily="18" charset="0"/>
                            </a:rPr>
                            <m:t>−241.4100</m:t>
                          </m:r>
                        </m:e>
                        <m:e>
                          <m:r>
                            <m:rPr>
                              <m:sty m:val="p"/>
                            </m:rPr>
                            <a:rPr lang="en-US" b="0" i="0" sz="900">
                              <a:latin typeface="Cambria Math" panose="02040503050406030204" pitchFamily="18" charset="0"/>
                            </a:rPr>
                            <m:t>−521.1573</m:t>
                          </m:r>
                        </m:e>
                        <m:e>
                          <m:r>
                            <m:rPr>
                              <m:sty m:val="p"/>
                            </m:rPr>
                            <a:rPr lang="en-US" b="0" i="0" sz="900">
                              <a:latin typeface="Cambria Math" panose="02040503050406030204" pitchFamily="18" charset="0"/>
                            </a:rPr>
                            <m:t>−229.5505</m:t>
                          </m:r>
                        </m:e>
                        <m:e>
                          <m:r>
                            <m:rPr>
                              <m:sty m:val="p"/>
                            </m:rPr>
                            <a:rPr lang="en-US" b="0" i="0" sz="900">
                              <a:latin typeface="Cambria Math" panose="02040503050406030204" pitchFamily="18" charset="0"/>
                            </a:rPr>
                            <m:t>−520.2988</m:t>
                          </m:r>
                        </m:e>
                        <m:e>
                          <m:r>
                            <m:rPr>
                              <m:sty m:val="p"/>
                            </m:rPr>
                            <a:rPr lang="en-US" b="0" i="0" sz="900">
                              <a:latin typeface="Cambria Math" panose="02040503050406030204" pitchFamily="18" charset="0"/>
                            </a:rPr>
                            <m:t>1582.0741</m:t>
                          </m:r>
                        </m:e>
                        <m:e>
                          <m:r>
                            <m:rPr>
                              <m:sty m:val="p"/>
                            </m:rPr>
                            <a:rPr lang="en-US" b="0" i="0" sz="900">
                              <a:latin typeface="Cambria Math" panose="02040503050406030204" pitchFamily="18" charset="0"/>
                            </a:rPr>
                            <m:t>−48.2349</m:t>
                          </m:r>
                        </m:e>
                      </m:mr>
                      <m:mr>
                        <m:e>
                          <m:r>
                            <m:rPr>
                              <m:sty m:val="p"/>
                            </m:rPr>
                            <a:rPr lang="en-US" b="0" i="0" sz="900">
                              <a:latin typeface="Cambria Math" panose="02040503050406030204" pitchFamily="18" charset="0"/>
                            </a:rPr>
                            <m:t>−288.6527</m:t>
                          </m:r>
                        </m:e>
                        <m:e>
                          <m:r>
                            <m:rPr>
                              <m:sty m:val="p"/>
                            </m:rPr>
                            <a:rPr lang="en-US" b="0" i="0" sz="900">
                              <a:latin typeface="Cambria Math" panose="02040503050406030204" pitchFamily="18" charset="0"/>
                            </a:rPr>
                            <m:t>−244.1620</m:t>
                          </m:r>
                        </m:e>
                        <m:e>
                          <m:r>
                            <m:rPr>
                              <m:sty m:val="p"/>
                            </m:rPr>
                            <a:rPr lang="en-US" b="0" i="0" sz="900">
                              <a:latin typeface="Cambria Math" panose="02040503050406030204" pitchFamily="18" charset="0"/>
                            </a:rPr>
                            <m:t>−297.5548</m:t>
                          </m:r>
                        </m:e>
                        <m:e>
                          <m:r>
                            <m:rPr>
                              <m:sty m:val="p"/>
                            </m:rPr>
                            <a:rPr lang="en-US" b="0" i="0" sz="900">
                              <a:latin typeface="Cambria Math" panose="02040503050406030204" pitchFamily="18" charset="0"/>
                            </a:rPr>
                            <m:t>−236.1487</m:t>
                          </m:r>
                        </m:e>
                        <m:e>
                          <m:r>
                            <m:rPr>
                              <m:sty m:val="p"/>
                            </m:rPr>
                            <a:rPr lang="en-US" b="0" i="0" sz="900">
                              <a:latin typeface="Cambria Math" panose="02040503050406030204" pitchFamily="18" charset="0"/>
                            </a:rPr>
                            <m:t>−44.7574</m:t>
                          </m:r>
                        </m:e>
                        <m:e>
                          <m:r>
                            <m:rPr>
                              <m:sty m:val="p"/>
                            </m:rPr>
                            <a:rPr lang="en-US" b="0" i="0" sz="900">
                              <a:latin typeface="Cambria Math" panose="02040503050406030204" pitchFamily="18" charset="0"/>
                            </a:rPr>
                            <m:t>1386.8765</m:t>
                          </m:r>
                        </m:e>
                      </m:mr>
                    </m:m>
                  </m:e>
                </m:d>
              </m:oMath>
            </a14:m>
            <a:endParaRPr lang="en-US" sz="900"/>
          </a:p>
        </p:txBody>
      </p:sp>
    </p:spTree>
    <p:extLst>
      <p:ext uri="{BB962C8B-B14F-4D97-AF65-F5344CB8AC3E}">
        <p14:creationId xmlns:p14="http://schemas.microsoft.com/office/powerpoint/2010/main" val="136727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Hall-sensor-voltage-based lumped-parameter modeling and calibration</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7" name="文字方塊 6">
            <a:extLst>
              <a:ext uri="{FF2B5EF4-FFF2-40B4-BE49-F238E27FC236}">
                <a16:creationId xmlns:a16="http://schemas.microsoft.com/office/drawing/2014/main" id="{3B970DD4-BBB5-449B-A35D-ACB34E775395}"/>
              </a:ext>
            </a:extLst>
          </p:cNvPr>
          <p:cNvSpPr txBox="1"/>
          <p:nvPr/>
        </p:nvSpPr>
        <p:spPr>
          <a:xfrm>
            <a:off x="3141579" y="553537"/>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Single parameter</a:t>
            </a:r>
            <a:endParaRPr lang="zh-TW" altLang="en-US" dirty="0"/>
          </a:p>
        </p:txBody>
      </p:sp>
      <p:sp>
        <p:nvSpPr>
          <p:cNvPr id="9" name="文字方塊 8">
            <a:extLst>
              <a:ext uri="{FF2B5EF4-FFF2-40B4-BE49-F238E27FC236}">
                <a16:creationId xmlns:a16="http://schemas.microsoft.com/office/drawing/2014/main" id="{9FF4D34D-ECD2-4F94-BEEC-33EA0D199F4B}"/>
              </a:ext>
            </a:extLst>
          </p:cNvPr>
          <p:cNvSpPr txBox="1"/>
          <p:nvPr/>
        </p:nvSpPr>
        <p:spPr>
          <a:xfrm>
            <a:off x="3141579" y="2198624"/>
            <a:ext cx="3793066"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Eighteen parameters</a:t>
            </a:r>
            <a:endParaRPr lang="zh-TW" altLang="en-US" dirty="0"/>
          </a:p>
        </p:txBody>
      </p:sp>
      <p:grpSp>
        <p:nvGrpSpPr>
          <p:cNvPr id="11" name="群組 10">
            <a:extLst>
              <a:ext uri="{FF2B5EF4-FFF2-40B4-BE49-F238E27FC236}">
                <a16:creationId xmlns:a16="http://schemas.microsoft.com/office/drawing/2014/main" id="{F8B1ABB2-778A-49C9-AFA2-90D17FFE48E7}"/>
              </a:ext>
            </a:extLst>
          </p:cNvPr>
          <p:cNvGrpSpPr/>
          <p:nvPr/>
        </p:nvGrpSpPr>
        <p:grpSpPr>
          <a:xfrm>
            <a:off x="-34701" y="601115"/>
            <a:ext cx="3252483" cy="2344135"/>
            <a:chOff x="-34701" y="601115"/>
            <a:chExt cx="3252483" cy="2344135"/>
          </a:xfrm>
        </p:grpSpPr>
        <p:pic>
          <p:nvPicPr>
            <p:cNvPr id="10" name="圖片 9">
              <a:extLst>
                <a:ext uri="{FF2B5EF4-FFF2-40B4-BE49-F238E27FC236}">
                  <a16:creationId xmlns:a16="http://schemas.microsoft.com/office/drawing/2014/main" id="{0E1B2118-8979-445C-AE40-2D7B23093C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306" y="601115"/>
              <a:ext cx="3014476" cy="2058086"/>
            </a:xfrm>
            <a:prstGeom prst="rect">
              <a:avLst/>
            </a:prstGeom>
          </p:spPr>
        </p:pic>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72A2684-72C2-4C5B-8160-BCFB1EA46AC0}"/>
                    </a:ext>
                  </a:extLst>
                </p:cNvPr>
                <p:cNvSpPr txBox="1"/>
                <p:nvPr/>
              </p:nvSpPr>
              <p:spPr>
                <a:xfrm>
                  <a:off x="1045794" y="2669287"/>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6" name="文字方塊 25">
                  <a:extLst>
                    <a:ext uri="{FF2B5EF4-FFF2-40B4-BE49-F238E27FC236}">
                      <a16:creationId xmlns:a16="http://schemas.microsoft.com/office/drawing/2014/main" id="{472A2684-72C2-4C5B-8160-BCFB1EA46AC0}"/>
                    </a:ext>
                  </a:extLst>
                </p:cNvPr>
                <p:cNvSpPr txBox="1">
                  <a:spLocks noRot="1" noChangeAspect="1" noMove="1" noResize="1" noEditPoints="1" noAdjustHandles="1" noChangeArrowheads="1" noChangeShapeType="1" noTextEdit="1"/>
                </p:cNvSpPr>
                <p:nvPr/>
              </p:nvSpPr>
              <p:spPr>
                <a:xfrm>
                  <a:off x="1045794" y="2669287"/>
                  <a:ext cx="1106536" cy="275963"/>
                </a:xfrm>
                <a:prstGeom prst="rect">
                  <a:avLst/>
                </a:prstGeom>
                <a:blipFill>
                  <a:blip r:embed="rId12"/>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a:extLst>
                    <a:ext uri="{FF2B5EF4-FFF2-40B4-BE49-F238E27FC236}">
                      <a16:creationId xmlns:a16="http://schemas.microsoft.com/office/drawing/2014/main" id="{D2AA26C0-3566-4313-BBA8-98963FD7E103}"/>
                    </a:ext>
                  </a:extLst>
                </p:cNvPr>
                <p:cNvSpPr txBox="1"/>
                <p:nvPr/>
              </p:nvSpPr>
              <p:spPr>
                <a:xfrm rot="16200000">
                  <a:off x="-630248" y="1277868"/>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7" name="文字方塊 26">
                  <a:extLst>
                    <a:ext uri="{FF2B5EF4-FFF2-40B4-BE49-F238E27FC236}">
                      <a16:creationId xmlns:a16="http://schemas.microsoft.com/office/drawing/2014/main" id="{D2AA26C0-3566-4313-BBA8-98963FD7E103}"/>
                    </a:ext>
                  </a:extLst>
                </p:cNvPr>
                <p:cNvSpPr txBox="1">
                  <a:spLocks noRot="1" noChangeAspect="1" noMove="1" noResize="1" noEditPoints="1" noAdjustHandles="1" noChangeArrowheads="1" noChangeShapeType="1" noTextEdit="1"/>
                </p:cNvSpPr>
                <p:nvPr/>
              </p:nvSpPr>
              <p:spPr>
                <a:xfrm rot="16200000">
                  <a:off x="-630248" y="1277868"/>
                  <a:ext cx="1404535" cy="213442"/>
                </a:xfrm>
                <a:prstGeom prst="rect">
                  <a:avLst/>
                </a:prstGeom>
                <a:blipFill>
                  <a:blip r:embed="rId13"/>
                  <a:stretch>
                    <a:fillRect t="-6522" r="-77143" b="-260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7E2BA711-BDB0-46F6-B316-8F3387FD23F6}"/>
                    </a:ext>
                  </a:extLst>
                </p:cNvPr>
                <p:cNvSpPr txBox="1"/>
                <p:nvPr/>
              </p:nvSpPr>
              <p:spPr>
                <a:xfrm rot="16976090">
                  <a:off x="2108984" y="1768527"/>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0" name="文字方塊 29">
                  <a:extLst>
                    <a:ext uri="{FF2B5EF4-FFF2-40B4-BE49-F238E27FC236}">
                      <a16:creationId xmlns:a16="http://schemas.microsoft.com/office/drawing/2014/main" id="{7E2BA711-BDB0-46F6-B316-8F3387FD23F6}"/>
                    </a:ext>
                  </a:extLst>
                </p:cNvPr>
                <p:cNvSpPr txBox="1">
                  <a:spLocks noRot="1" noChangeAspect="1" noMove="1" noResize="1" noEditPoints="1" noAdjustHandles="1" noChangeArrowheads="1" noChangeShapeType="1" noTextEdit="1"/>
                </p:cNvSpPr>
                <p:nvPr/>
              </p:nvSpPr>
              <p:spPr>
                <a:xfrm rot="16976090">
                  <a:off x="2108984" y="1768527"/>
                  <a:ext cx="843092" cy="246221"/>
                </a:xfrm>
                <a:prstGeom prst="rect">
                  <a:avLst/>
                </a:prstGeom>
                <a:blipFill>
                  <a:blip r:embed="rId14"/>
                  <a:stretch>
                    <a:fillRect b="-6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4D476910-9804-4F30-902D-4DA6EC29C3BD}"/>
                    </a:ext>
                  </a:extLst>
                </p:cNvPr>
                <p:cNvSpPr txBox="1"/>
                <p:nvPr/>
              </p:nvSpPr>
              <p:spPr>
                <a:xfrm rot="678839">
                  <a:off x="1695937" y="1336955"/>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1" name="文字方塊 30">
                  <a:extLst>
                    <a:ext uri="{FF2B5EF4-FFF2-40B4-BE49-F238E27FC236}">
                      <a16:creationId xmlns:a16="http://schemas.microsoft.com/office/drawing/2014/main" id="{4D476910-9804-4F30-902D-4DA6EC29C3BD}"/>
                    </a:ext>
                  </a:extLst>
                </p:cNvPr>
                <p:cNvSpPr txBox="1">
                  <a:spLocks noRot="1" noChangeAspect="1" noMove="1" noResize="1" noEditPoints="1" noAdjustHandles="1" noChangeArrowheads="1" noChangeShapeType="1" noTextEdit="1"/>
                </p:cNvSpPr>
                <p:nvPr/>
              </p:nvSpPr>
              <p:spPr>
                <a:xfrm rot="678839">
                  <a:off x="1695937" y="1336955"/>
                  <a:ext cx="503343" cy="246221"/>
                </a:xfrm>
                <a:prstGeom prst="rect">
                  <a:avLst/>
                </a:prstGeom>
                <a:blipFill>
                  <a:blip r:embed="rId15"/>
                  <a:stretch>
                    <a:fillRect l="-8989" r="-1124"/>
                  </a:stretch>
                </a:blipFill>
              </p:spPr>
              <p:txBody>
                <a:bodyPr/>
                <a:lstStyle/>
                <a:p>
                  <a:r>
                    <a:rPr lang="zh-TW" altLang="en-US">
                      <a:noFill/>
                    </a:rPr>
                    <a:t> </a:t>
                  </a:r>
                </a:p>
              </p:txBody>
            </p:sp>
          </mc:Fallback>
        </mc:AlternateContent>
      </p:grpSp>
      <p:grpSp>
        <p:nvGrpSpPr>
          <p:cNvPr id="12" name="群組 11">
            <a:extLst>
              <a:ext uri="{FF2B5EF4-FFF2-40B4-BE49-F238E27FC236}">
                <a16:creationId xmlns:a16="http://schemas.microsoft.com/office/drawing/2014/main" id="{079819BA-2246-4E2F-8920-F8581BF37279}"/>
              </a:ext>
            </a:extLst>
          </p:cNvPr>
          <p:cNvGrpSpPr/>
          <p:nvPr/>
        </p:nvGrpSpPr>
        <p:grpSpPr>
          <a:xfrm>
            <a:off x="62717" y="3075736"/>
            <a:ext cx="2837834" cy="3392828"/>
            <a:chOff x="62717" y="3075736"/>
            <a:chExt cx="2837834" cy="3392828"/>
          </a:xfrm>
        </p:grpSpPr>
        <p:pic>
          <p:nvPicPr>
            <p:cNvPr id="5" name="圖片 4">
              <a:extLst>
                <a:ext uri="{FF2B5EF4-FFF2-40B4-BE49-F238E27FC236}">
                  <a16:creationId xmlns:a16="http://schemas.microsoft.com/office/drawing/2014/main" id="{0E31BFEE-D2A3-4622-B97C-397DAA2F63A5}"/>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66740" y="3075736"/>
              <a:ext cx="2533811" cy="3124361"/>
            </a:xfrm>
            <a:prstGeom prst="rect">
              <a:avLst/>
            </a:prstGeom>
          </p:spPr>
        </p:pic>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B1AB3FE2-4E70-4C38-BB01-9CD45BE7A717}"/>
                    </a:ext>
                  </a:extLst>
                </p:cNvPr>
                <p:cNvSpPr txBox="1"/>
                <p:nvPr/>
              </p:nvSpPr>
              <p:spPr>
                <a:xfrm>
                  <a:off x="1045794" y="6192601"/>
                  <a:ext cx="1106536" cy="2759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B1AB3FE2-4E70-4C38-BB01-9CD45BE7A717}"/>
                    </a:ext>
                  </a:extLst>
                </p:cNvPr>
                <p:cNvSpPr txBox="1">
                  <a:spLocks noRot="1" noChangeAspect="1" noMove="1" noResize="1" noEditPoints="1" noAdjustHandles="1" noChangeArrowheads="1" noChangeShapeType="1" noTextEdit="1"/>
                </p:cNvSpPr>
                <p:nvPr/>
              </p:nvSpPr>
              <p:spPr>
                <a:xfrm>
                  <a:off x="1045794" y="6192601"/>
                  <a:ext cx="1106536" cy="275963"/>
                </a:xfrm>
                <a:prstGeom prst="rect">
                  <a:avLst/>
                </a:prstGeom>
                <a:blipFill>
                  <a:blip r:embed="rId17"/>
                  <a:stretch>
                    <a:fillRect l="-5525" r="-34254" b="-3777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5F1F8972-9FD8-4880-8DDF-14A9664CB3D6}"/>
                    </a:ext>
                  </a:extLst>
                </p:cNvPr>
                <p:cNvSpPr txBox="1"/>
                <p:nvPr/>
              </p:nvSpPr>
              <p:spPr>
                <a:xfrm rot="16200000">
                  <a:off x="-532830" y="4664423"/>
                  <a:ext cx="1404535" cy="213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𝑚𝑚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9" name="文字方塊 28">
                  <a:extLst>
                    <a:ext uri="{FF2B5EF4-FFF2-40B4-BE49-F238E27FC236}">
                      <a16:creationId xmlns:a16="http://schemas.microsoft.com/office/drawing/2014/main" id="{5F1F8972-9FD8-4880-8DDF-14A9664CB3D6}"/>
                    </a:ext>
                  </a:extLst>
                </p:cNvPr>
                <p:cNvSpPr txBox="1">
                  <a:spLocks noRot="1" noChangeAspect="1" noMove="1" noResize="1" noEditPoints="1" noAdjustHandles="1" noChangeArrowheads="1" noChangeShapeType="1" noTextEdit="1"/>
                </p:cNvSpPr>
                <p:nvPr/>
              </p:nvSpPr>
              <p:spPr>
                <a:xfrm rot="16200000">
                  <a:off x="-532830" y="4664423"/>
                  <a:ext cx="1404535" cy="213442"/>
                </a:xfrm>
                <a:prstGeom prst="rect">
                  <a:avLst/>
                </a:prstGeom>
                <a:blipFill>
                  <a:blip r:embed="rId18"/>
                  <a:stretch>
                    <a:fillRect t="-6061" r="-77143" b="-25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文字方塊 31">
                  <a:extLst>
                    <a:ext uri="{FF2B5EF4-FFF2-40B4-BE49-F238E27FC236}">
                      <a16:creationId xmlns:a16="http://schemas.microsoft.com/office/drawing/2014/main" id="{00A1019C-F400-46B4-B8F7-E4096A6658C0}"/>
                    </a:ext>
                  </a:extLst>
                </p:cNvPr>
                <p:cNvSpPr txBox="1"/>
                <p:nvPr/>
              </p:nvSpPr>
              <p:spPr>
                <a:xfrm rot="2864554">
                  <a:off x="1435579" y="4378977"/>
                  <a:ext cx="503343"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a:solidFill>
                              <a:schemeClr val="accent1"/>
                            </a:solidFill>
                            <a:latin typeface="Cambria Math" panose="02040503050406030204" pitchFamily="18" charset="0"/>
                          </a:rPr>
                          <m:t>5</m:t>
                        </m:r>
                        <m:r>
                          <m:rPr>
                            <m:sty m:val="p"/>
                          </m:rPr>
                          <a:rPr lang="en-US" altLang="zh-TW" sz="1600" b="0" i="0" smtClean="0">
                            <a:solidFill>
                              <a:schemeClr val="accent1"/>
                            </a:solidFill>
                            <a:latin typeface="Cambria Math" panose="02040503050406030204" pitchFamily="18" charset="0"/>
                          </a:rPr>
                          <m:t>mm</m:t>
                        </m:r>
                      </m:oMath>
                    </m:oMathPara>
                  </a14:m>
                  <a:endParaRPr lang="zh-TW" altLang="en-US" sz="1600" dirty="0">
                    <a:solidFill>
                      <a:schemeClr val="accent1"/>
                    </a:solidFill>
                  </a:endParaRPr>
                </a:p>
              </p:txBody>
            </p:sp>
          </mc:Choice>
          <mc:Fallback xmlns="">
            <p:sp>
              <p:nvSpPr>
                <p:cNvPr id="32" name="文字方塊 31">
                  <a:extLst>
                    <a:ext uri="{FF2B5EF4-FFF2-40B4-BE49-F238E27FC236}">
                      <a16:creationId xmlns:a16="http://schemas.microsoft.com/office/drawing/2014/main" id="{00A1019C-F400-46B4-B8F7-E4096A6658C0}"/>
                    </a:ext>
                  </a:extLst>
                </p:cNvPr>
                <p:cNvSpPr txBox="1">
                  <a:spLocks noRot="1" noChangeAspect="1" noMove="1" noResize="1" noEditPoints="1" noAdjustHandles="1" noChangeArrowheads="1" noChangeShapeType="1" noTextEdit="1"/>
                </p:cNvSpPr>
                <p:nvPr/>
              </p:nvSpPr>
              <p:spPr>
                <a:xfrm rot="2864554">
                  <a:off x="1435579" y="4378977"/>
                  <a:ext cx="503343" cy="246221"/>
                </a:xfrm>
                <a:prstGeom prst="rect">
                  <a:avLst/>
                </a:prstGeom>
                <a:blipFill>
                  <a:blip r:embed="rId19"/>
                  <a:stretch>
                    <a:fillRect l="-8140" t="-4494" b="-112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033A328B-D4B6-483F-883D-D9A49E44841D}"/>
                    </a:ext>
                  </a:extLst>
                </p:cNvPr>
                <p:cNvSpPr txBox="1"/>
                <p:nvPr/>
              </p:nvSpPr>
              <p:spPr>
                <a:xfrm rot="18991667">
                  <a:off x="875084" y="3618042"/>
                  <a:ext cx="843092"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smtClean="0">
                            <a:solidFill>
                              <a:schemeClr val="accent2"/>
                            </a:solidFill>
                            <a:latin typeface="Cambria Math" panose="02040503050406030204" pitchFamily="18" charset="0"/>
                          </a:rPr>
                          <m:t>0</m:t>
                        </m:r>
                        <m:r>
                          <a:rPr lang="en-US" altLang="zh-TW" sz="1600" b="0" i="0" smtClean="0">
                            <a:solidFill>
                              <a:schemeClr val="accent2"/>
                            </a:solidFill>
                            <a:latin typeface="Cambria Math" panose="02040503050406030204" pitchFamily="18" charset="0"/>
                          </a:rPr>
                          <m:t>.41</m:t>
                        </m:r>
                        <m:r>
                          <m:rPr>
                            <m:sty m:val="p"/>
                          </m:rPr>
                          <a:rPr lang="en-US" altLang="zh-TW" sz="1600" b="0" i="0" smtClean="0">
                            <a:solidFill>
                              <a:schemeClr val="accent2"/>
                            </a:solidFill>
                            <a:latin typeface="Cambria Math" panose="02040503050406030204" pitchFamily="18" charset="0"/>
                          </a:rPr>
                          <m:t>mm</m:t>
                        </m:r>
                      </m:oMath>
                    </m:oMathPara>
                  </a14:m>
                  <a:endParaRPr lang="zh-TW" altLang="en-US" sz="1600" dirty="0">
                    <a:solidFill>
                      <a:schemeClr val="accent2"/>
                    </a:solidFill>
                  </a:endParaRPr>
                </a:p>
              </p:txBody>
            </p:sp>
          </mc:Choice>
          <mc:Fallback xmlns="">
            <p:sp>
              <p:nvSpPr>
                <p:cNvPr id="33" name="文字方塊 32">
                  <a:extLst>
                    <a:ext uri="{FF2B5EF4-FFF2-40B4-BE49-F238E27FC236}">
                      <a16:creationId xmlns:a16="http://schemas.microsoft.com/office/drawing/2014/main" id="{033A328B-D4B6-483F-883D-D9A49E44841D}"/>
                    </a:ext>
                  </a:extLst>
                </p:cNvPr>
                <p:cNvSpPr txBox="1">
                  <a:spLocks noRot="1" noChangeAspect="1" noMove="1" noResize="1" noEditPoints="1" noAdjustHandles="1" noChangeArrowheads="1" noChangeShapeType="1" noTextEdit="1"/>
                </p:cNvSpPr>
                <p:nvPr/>
              </p:nvSpPr>
              <p:spPr>
                <a:xfrm rot="18991667">
                  <a:off x="875084" y="3618042"/>
                  <a:ext cx="843092" cy="246221"/>
                </a:xfrm>
                <a:prstGeom prst="rect">
                  <a:avLst/>
                </a:prstGeom>
                <a:blipFill>
                  <a:blip r:embed="rId20"/>
                  <a:stretch>
                    <a:fillRect b="-1600"/>
                  </a:stretch>
                </a:blipFill>
              </p:spPr>
              <p:txBody>
                <a:bodyPr/>
                <a:lstStyle/>
                <a:p>
                  <a:r>
                    <a:rPr lang="zh-TW" altLang="en-US">
                      <a:noFill/>
                    </a:rPr>
                    <a:t> </a:t>
                  </a:r>
                </a:p>
              </p:txBody>
            </p:sp>
          </mc:Fallback>
        </mc:AlternateContent>
      </p:grpSp>
      <p:sp>
        <p:nvSpPr>
          <p:cNvPr id="34" name="auto caption"/>
          <p:cNvSpPr txBox="1"/>
          <p:nvPr/>
        </p:nvSpPr>
        <p:spPr>
          <a:xfrm>
            <a:off x="3108960" y="5303520"/>
            <a:ext cx="8778240" cy="1463040"/>
          </a:xfrm>
          <a:prstGeom prst="rect">
            <a:avLst/>
          </a:prstGeom>
          <a:noFill/>
        </p:spPr>
        <p:txBody>
          <a:bodyPr wrap="square" rtlCol="0">
            <a:normAutofit/>
          </a:bodyPr>
          <a:lstStyle/>
          <a:p>
            <a:pPr marL="285750" indent="-285750"/>
            <a:r>
              <a:rPr lang="en-US" altLang="zh-TW" dirty="0"/>
              <a:t>Moving the sensors from 3 mm to 5 mm along the pole flank leaves the workspace radius and the fit error unchanged (875.1 / 873.0 um, 2.85 / 0.26 percent, identical to the previous slide); only the voltage gain rescales. The predictive accuracy of the model is therefore independent of where the sensor is mounted, so the mounting position can be chosen with considerable freedom.</a:t>
            </a:r>
          </a:p>
        </p:txBody>
      </p:sp>
      <mc:AlternateContent xmlns:mc="http://schemas.openxmlformats.org/markup-compatibility/2006">
        <mc:Choice xmlns:a14="http://schemas.microsoft.com/office/drawing/2010/main" Requires="a14">
          <p:sp>
            <p:nvSpPr>
              <p:cNvPr id="900" name="CalibV_s_mat"/>
              <p:cNvSpPr txBox="1"/>
              <p:nvPr/>
            </p:nvSpPr>
            <p:spPr>
              <a:xfrm>
                <a:off x="3200400" y="932688"/>
                <a:ext cx="3793066"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−0.3397</m:t>
                                </m:r>
                              </m:e>
                              <m:e>
                                <m:r>
                                  <a:rPr lang="en-US" sz="900" b="0" i="0">
                                    <a:latin typeface="Cambria Math" panose="02040503050406030204" pitchFamily="18" charset="0"/>
                                  </a:rPr>
                                  <m:t>−0.2720</m:t>
                                </m:r>
                              </m:e>
                              <m:e>
                                <m:r>
                                  <a:rPr lang="en-US" sz="900" b="0" i="0">
                                    <a:latin typeface="Cambria Math" panose="02040503050406030204" pitchFamily="18" charset="0"/>
                                  </a:rPr>
                                  <m:t>−0.2776</m:t>
                                </m:r>
                              </m:e>
                              <m:e>
                                <m:r>
                                  <a:rPr lang="en-US" sz="900" b="0" i="0">
                                    <a:latin typeface="Cambria Math" panose="02040503050406030204" pitchFamily="18" charset="0"/>
                                  </a:rPr>
                                  <m:t>−0.2859</m:t>
                                </m:r>
                              </m:e>
                              <m:e>
                                <m:r>
                                  <a:rPr lang="en-US" sz="900" b="0" i="0">
                                    <a:latin typeface="Cambria Math" panose="02040503050406030204" pitchFamily="18" charset="0"/>
                                  </a:rPr>
                                  <m:t>−0.2699</m:t>
                                </m:r>
                              </m:e>
                            </m:mr>
                            <m:mr>
                              <m:e>
                                <m:r>
                                  <a:rPr lang="en-US" sz="900" b="0" i="0">
                                    <a:latin typeface="Cambria Math" panose="02040503050406030204" pitchFamily="18" charset="0"/>
                                  </a:rPr>
                                  <m:t>−0.2156</m:t>
                                </m:r>
                              </m:e>
                              <m:e>
                                <m:r>
                                  <a:rPr lang="en-US" sz="900" b="0" i="0">
                                    <a:latin typeface="Cambria Math" panose="02040503050406030204" pitchFamily="18" charset="0"/>
                                  </a:rPr>
                                  <m:t>1.2538</m:t>
                                </m:r>
                              </m:e>
                              <m:e>
                                <m:r>
                                  <a:rPr lang="en-US" sz="900" b="0" i="0">
                                    <a:latin typeface="Cambria Math" panose="02040503050406030204" pitchFamily="18" charset="0"/>
                                  </a:rPr>
                                  <m:t>−0.0841</m:t>
                                </m:r>
                              </m:e>
                              <m:e>
                                <m:r>
                                  <a:rPr lang="en-US" sz="900" b="0" i="0">
                                    <a:latin typeface="Cambria Math" panose="02040503050406030204" pitchFamily="18" charset="0"/>
                                  </a:rPr>
                                  <m:t>0.2478</m:t>
                                </m:r>
                              </m:e>
                              <m:e>
                                <m:r>
                                  <a:rPr lang="en-US" sz="900" b="0" i="0">
                                    <a:latin typeface="Cambria Math" panose="02040503050406030204" pitchFamily="18" charset="0"/>
                                  </a:rPr>
                                  <m:t>0.2600</m:t>
                                </m:r>
                              </m:e>
                              <m:e>
                                <m:r>
                                  <a:rPr lang="en-US" sz="900" b="0" i="0">
                                    <a:latin typeface="Cambria Math" panose="02040503050406030204" pitchFamily="18" charset="0"/>
                                  </a:rPr>
                                  <m:t>−0.0831</m:t>
                                </m:r>
                              </m:e>
                            </m:mr>
                            <m:mr>
                              <m:e>
                                <m:r>
                                  <a:rPr lang="en-US" sz="900" b="0" i="0">
                                    <a:latin typeface="Cambria Math" panose="02040503050406030204" pitchFamily="18" charset="0"/>
                                  </a:rPr>
                                  <m:t>−0.2777</m:t>
                                </m:r>
                              </m:e>
                              <m:e>
                                <m:r>
                                  <a:rPr lang="en-US" sz="900" b="0" i="0">
                                    <a:latin typeface="Cambria Math" panose="02040503050406030204" pitchFamily="18" charset="0"/>
                                  </a:rPr>
                                  <m:t>−0.2876</m:t>
                                </m:r>
                              </m:e>
                              <m:e>
                                <m:r>
                                  <a:rPr lang="en-US" sz="900" b="0" i="0">
                                    <a:latin typeface="Cambria Math" panose="02040503050406030204" pitchFamily="18" charset="0"/>
                                  </a:rPr>
                                  <m:t>0.8280</m:t>
                                </m:r>
                              </m:e>
                              <m:e>
                                <m:r>
                                  <a:rPr lang="en-US" sz="900" b="0" i="0">
                                    <a:latin typeface="Cambria Math" panose="02040503050406030204" pitchFamily="18" charset="0"/>
                                  </a:rPr>
                                  <m:t>−0.3490</m:t>
                                </m:r>
                              </m:e>
                              <m:e>
                                <m:r>
                                  <a:rPr lang="en-US" sz="900" b="0" i="0">
                                    <a:latin typeface="Cambria Math" panose="02040503050406030204" pitchFamily="18" charset="0"/>
                                  </a:rPr>
                                  <m:t>−0.2934</m:t>
                                </m:r>
                              </m:e>
                              <m:e>
                                <m:r>
                                  <a:rPr lang="en-US" sz="900" b="0" i="0">
                                    <a:latin typeface="Cambria Math" panose="02040503050406030204" pitchFamily="18" charset="0"/>
                                  </a:rPr>
                                  <m:t>−0.2791</m:t>
                                </m:r>
                              </m:e>
                            </m:mr>
                            <m:mr>
                              <m:e>
                                <m:r>
                                  <a:rPr lang="en-US" sz="900" b="0" i="0">
                                    <a:latin typeface="Cambria Math" panose="02040503050406030204" pitchFamily="18" charset="0"/>
                                  </a:rPr>
                                  <m:t>−0.0868</m:t>
                                </m:r>
                              </m:e>
                              <m:e>
                                <m:r>
                                  <a:rPr lang="en-US" sz="900" b="0" i="0">
                                    <a:latin typeface="Cambria Math" panose="02040503050406030204" pitchFamily="18" charset="0"/>
                                  </a:rPr>
                                  <m:t>0.2467</m:t>
                                </m:r>
                              </m:e>
                              <m:e>
                                <m:r>
                                  <a:rPr lang="en-US" sz="900" b="0" i="0">
                                    <a:latin typeface="Cambria Math" panose="02040503050406030204" pitchFamily="18" charset="0"/>
                                  </a:rPr>
                                  <m:t>−0.2180</m:t>
                                </m:r>
                              </m:e>
                              <m:e>
                                <m:r>
                                  <a:rPr lang="en-US" sz="900" b="0" i="0">
                                    <a:latin typeface="Cambria Math" panose="02040503050406030204" pitchFamily="18" charset="0"/>
                                  </a:rPr>
                                  <m:t>1.2360</m:t>
                                </m:r>
                              </m:e>
                              <m:e>
                                <m:r>
                                  <a:rPr lang="en-US" sz="900" b="0" i="0">
                                    <a:latin typeface="Cambria Math" panose="02040503050406030204" pitchFamily="18" charset="0"/>
                                  </a:rPr>
                                  <m:t>0.2479</m:t>
                                </m:r>
                              </m:e>
                              <m:e>
                                <m:r>
                                  <a:rPr lang="en-US" sz="900" b="0" i="0">
                                    <a:latin typeface="Cambria Math" panose="02040503050406030204" pitchFamily="18" charset="0"/>
                                  </a:rPr>
                                  <m:t>−0.0831</m:t>
                                </m:r>
                              </m:e>
                            </m:mr>
                            <m:mr>
                              <m:e>
                                <m:r>
                                  <a:rPr lang="en-US" sz="900" b="0" i="0">
                                    <a:latin typeface="Cambria Math" panose="02040503050406030204" pitchFamily="18" charset="0"/>
                                  </a:rPr>
                                  <m:t>−0.0926</m:t>
                                </m:r>
                              </m:e>
                              <m:e>
                                <m:r>
                                  <a:rPr lang="en-US" sz="900" b="0" i="0">
                                    <a:latin typeface="Cambria Math" panose="02040503050406030204" pitchFamily="18" charset="0"/>
                                  </a:rPr>
                                  <m:t>0.2354</m:t>
                                </m:r>
                              </m:e>
                              <m:e>
                                <m:r>
                                  <a:rPr lang="en-US" sz="900" b="0" i="0">
                                    <a:latin typeface="Cambria Math" panose="02040503050406030204" pitchFamily="18" charset="0"/>
                                  </a:rPr>
                                  <m:t>−0.0963</m:t>
                                </m:r>
                              </m:e>
                              <m:e>
                                <m:r>
                                  <a:rPr lang="en-US" sz="900" b="0" i="0">
                                    <a:latin typeface="Cambria Math" panose="02040503050406030204" pitchFamily="18" charset="0"/>
                                  </a:rPr>
                                  <m:t>0.2314</m:t>
                                </m:r>
                              </m:e>
                              <m:e>
                                <m:r>
                                  <a:rPr lang="en-US" sz="900" b="0" i="0">
                                    <a:latin typeface="Cambria Math" panose="02040503050406030204" pitchFamily="18" charset="0"/>
                                  </a:rPr>
                                  <m:t>1.2504</m:t>
                                </m:r>
                              </m:e>
                              <m:e>
                                <m:r>
                                  <a:rPr lang="en-US" sz="900" b="0" i="0">
                                    <a:latin typeface="Cambria Math" panose="02040503050406030204" pitchFamily="18" charset="0"/>
                                  </a:rPr>
                                  <m:t>−0.2260</m:t>
                                </m:r>
                              </m:e>
                            </m:mr>
                            <m:mr>
                              <m:e>
                                <m:r>
                                  <a:rPr lang="en-US" sz="900" b="0" i="0">
                                    <a:latin typeface="Cambria Math" panose="02040503050406030204" pitchFamily="18" charset="0"/>
                                  </a:rPr>
                                  <m:t>−0.2653</m:t>
                                </m:r>
                              </m:e>
                              <m:e>
                                <m:r>
                                  <a:rPr lang="en-US" sz="900" b="0" i="0">
                                    <a:latin typeface="Cambria Math" panose="02040503050406030204" pitchFamily="18" charset="0"/>
                                  </a:rPr>
                                  <m:t>−0.2714</m:t>
                                </m:r>
                              </m:e>
                              <m:e>
                                <m:r>
                                  <a:rPr lang="en-US" sz="900" b="0" i="0">
                                    <a:latin typeface="Cambria Math" panose="02040503050406030204" pitchFamily="18" charset="0"/>
                                  </a:rPr>
                                  <m:t>−0.2618</m:t>
                                </m:r>
                              </m:e>
                              <m:e>
                                <m:r>
                                  <a:rPr lang="en-US" sz="900" b="0" i="0">
                                    <a:latin typeface="Cambria Math" panose="02040503050406030204" pitchFamily="18" charset="0"/>
                                  </a:rPr>
                                  <m:t>−0.2669</m:t>
                                </m:r>
                              </m:e>
                              <m:e>
                                <m:r>
                                  <a:rPr lang="en-US" sz="900" b="0" i="0">
                                    <a:latin typeface="Cambria Math" panose="02040503050406030204" pitchFamily="18" charset="0"/>
                                  </a:rPr>
                                  <m:t>−0.3348</m:t>
                                </m:r>
                              </m:e>
                              <m:e>
                                <m:r>
                                  <a:rPr lang="en-US" sz="900" b="0" i="0">
                                    <a:latin typeface="Cambria Math" panose="02040503050406030204" pitchFamily="18" charset="0"/>
                                  </a:rPr>
                                  <m:t>0.8344</m:t>
                                </m:r>
                              </m:e>
                            </m:mr>
                          </m:m>
                        </m:e>
                      </m:d>
                      <m:r>
                        <a:rPr lang="en-US" sz="900" b="0" i="0">
                          <a:latin typeface="Cambria Math" panose="02040503050406030204" pitchFamily="18" charset="0"/>
                        </a:rPr>
                        <m:t> </m:t>
                      </m:r>
                    </m:oMath>
                  </m:oMathPara>
                </a14:m>
                <a:endParaRPr lang="en-US" sz="900" dirty="0"/>
              </a:p>
            </p:txBody>
          </p:sp>
        </mc:Choice>
        <mc:Fallback>
          <p:sp>
            <p:nvSpPr>
              <p:cNvPr id="900" name="CalibV_s_mat"/>
              <p:cNvSpPr txBox="1">
                <a:spLocks noRot="1" noChangeAspect="1" noMove="1" noResize="1" noEditPoints="1" noAdjustHandles="1" noChangeArrowheads="1" noChangeShapeType="1" noTextEdit="1"/>
              </p:cNvSpPr>
              <p:nvPr/>
            </p:nvSpPr>
            <p:spPr>
              <a:xfrm>
                <a:off x="3200400" y="932688"/>
                <a:ext cx="3793066" cy="868680"/>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1" name="CalibV_s_sc"/>
              <p:cNvSpPr txBox="1"/>
              <p:nvPr/>
            </p:nvSpPr>
            <p:spPr>
              <a:xfrm>
                <a:off x="3421089" y="1869440"/>
                <a:ext cx="3233712"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875.1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6.5534×</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oMath>
                  </m:oMathPara>
                </a14:m>
                <a:endParaRPr lang="en-US" sz="1100" dirty="0"/>
              </a:p>
            </p:txBody>
          </p:sp>
        </mc:Choice>
        <mc:Fallback>
          <p:sp>
            <p:nvSpPr>
              <p:cNvPr id="901" name="CalibV_s_sc"/>
              <p:cNvSpPr txBox="1">
                <a:spLocks noRot="1" noChangeAspect="1" noMove="1" noResize="1" noEditPoints="1" noAdjustHandles="1" noChangeArrowheads="1" noChangeShapeType="1" noTextEdit="1"/>
              </p:cNvSpPr>
              <p:nvPr/>
            </p:nvSpPr>
            <p:spPr>
              <a:xfrm>
                <a:off x="3421089" y="1869440"/>
                <a:ext cx="3233712" cy="256032"/>
              </a:xfrm>
              <a:prstGeom prst="rect">
                <a:avLst/>
              </a:prstGeom>
              <a:blipFill>
                <a:blip r:embed="rId22"/>
                <a:stretch>
                  <a:fillRect t="-11905" b="-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2" name="CalibV_e_mat"/>
              <p:cNvSpPr txBox="1"/>
              <p:nvPr/>
            </p:nvSpPr>
            <p:spPr>
              <a:xfrm>
                <a:off x="3200400" y="2615184"/>
                <a:ext cx="3556000" cy="86868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900" b="0" i="1">
                              <a:latin typeface="Cambria Math" panose="02040503050406030204" pitchFamily="18" charset="0"/>
                            </a:rPr>
                          </m:ctrlPr>
                        </m:accPr>
                        <m:e>
                          <m:r>
                            <a:rPr lang="en-US" sz="900" b="0" i="1">
                              <a:latin typeface="Cambria Math" panose="02040503050406030204" pitchFamily="18" charset="0"/>
                            </a:rPr>
                            <m:t>𝐷</m:t>
                          </m:r>
                        </m:e>
                      </m:acc>
                      <m:r>
                        <a:rPr lang="en-US" sz="900" b="0" i="0">
                          <a:latin typeface="Cambria Math" panose="02040503050406030204" pitchFamily="18" charset="0"/>
                        </a:rPr>
                        <m:t> =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0.8333</m:t>
                                </m:r>
                              </m:e>
                              <m:e>
                                <m:r>
                                  <a:rPr lang="en-US" sz="900" b="0" i="0">
                                    <a:latin typeface="Cambria Math" panose="02040503050406030204" pitchFamily="18" charset="0"/>
                                  </a:rPr>
                                  <m:t>−0.3794</m:t>
                                </m:r>
                              </m:e>
                              <m:e>
                                <m:r>
                                  <a:rPr lang="en-US" sz="900" b="0" i="0">
                                    <a:latin typeface="Cambria Math" panose="02040503050406030204" pitchFamily="18" charset="0"/>
                                  </a:rPr>
                                  <m:t>−0.1531</m:t>
                                </m:r>
                              </m:e>
                              <m:e>
                                <m:r>
                                  <a:rPr lang="en-US" sz="900" b="0" i="0">
                                    <a:latin typeface="Cambria Math" panose="02040503050406030204" pitchFamily="18" charset="0"/>
                                  </a:rPr>
                                  <m:t>−0.3142</m:t>
                                </m:r>
                              </m:e>
                              <m:e>
                                <m:r>
                                  <a:rPr lang="en-US" sz="900" b="0" i="0">
                                    <a:latin typeface="Cambria Math" panose="02040503050406030204" pitchFamily="18" charset="0"/>
                                  </a:rPr>
                                  <m:t>−0.3241</m:t>
                                </m:r>
                              </m:e>
                              <m:e>
                                <m:r>
                                  <a:rPr lang="en-US" sz="900" b="0" i="0">
                                    <a:latin typeface="Cambria Math" panose="02040503050406030204" pitchFamily="18" charset="0"/>
                                  </a:rPr>
                                  <m:t>−0.1516</m:t>
                                </m:r>
                              </m:e>
                            </m:mr>
                            <m:mr>
                              <m:e>
                                <m:r>
                                  <a:rPr lang="en-US" sz="900" b="0" i="0">
                                    <a:latin typeface="Cambria Math" panose="02040503050406030204" pitchFamily="18" charset="0"/>
                                  </a:rPr>
                                  <m:t>−0.0872</m:t>
                                </m:r>
                              </m:e>
                              <m:e>
                                <m:r>
                                  <a:rPr lang="en-US" sz="900" b="0" i="0">
                                    <a:latin typeface="Cambria Math" panose="02040503050406030204" pitchFamily="18" charset="0"/>
                                  </a:rPr>
                                  <m:t>1.0337</m:t>
                                </m:r>
                              </m:e>
                              <m:e>
                                <m:r>
                                  <a:rPr lang="en-US" sz="900" b="0" i="0">
                                    <a:latin typeface="Cambria Math" panose="02040503050406030204" pitchFamily="18" charset="0"/>
                                  </a:rPr>
                                  <m:t>−0.0527</m:t>
                                </m:r>
                              </m:e>
                              <m:e>
                                <m:r>
                                  <a:rPr lang="en-US" sz="900" b="0" i="0">
                                    <a:latin typeface="Cambria Math" panose="02040503050406030204" pitchFamily="18" charset="0"/>
                                  </a:rPr>
                                  <m:t>0.2244</m:t>
                                </m:r>
                              </m:e>
                              <m:e>
                                <m:r>
                                  <a:rPr lang="en-US" sz="900" b="0" i="0">
                                    <a:latin typeface="Cambria Math" panose="02040503050406030204" pitchFamily="18" charset="0"/>
                                  </a:rPr>
                                  <m:t>0.2338</m:t>
                                </m:r>
                              </m:e>
                              <m:e>
                                <m:r>
                                  <a:rPr lang="en-US" sz="900" b="0" i="0">
                                    <a:latin typeface="Cambria Math" panose="02040503050406030204" pitchFamily="18" charset="0"/>
                                  </a:rPr>
                                  <m:t>−0.0521</m:t>
                                </m:r>
                              </m:e>
                            </m:mr>
                            <m:mr>
                              <m:e>
                                <m:r>
                                  <a:rPr lang="en-US" sz="900" b="0" i="0">
                                    <a:latin typeface="Cambria Math" panose="02040503050406030204" pitchFamily="18" charset="0"/>
                                  </a:rPr>
                                  <m:t>−0.1589</m:t>
                                </m:r>
                              </m:e>
                              <m:e>
                                <m:r>
                                  <a:rPr lang="en-US" sz="900" b="0" i="0">
                                    <a:latin typeface="Cambria Math" panose="02040503050406030204" pitchFamily="18" charset="0"/>
                                  </a:rPr>
                                  <m:t>−0.3217</m:t>
                                </m:r>
                              </m:e>
                              <m:e>
                                <m:r>
                                  <a:rPr lang="en-US" sz="900" b="0" i="0">
                                    <a:latin typeface="Cambria Math" panose="02040503050406030204" pitchFamily="18" charset="0"/>
                                  </a:rPr>
                                  <m:t>0.8268</m:t>
                                </m:r>
                              </m:e>
                              <m:e>
                                <m:r>
                                  <a:rPr lang="en-US" sz="900" b="0" i="0">
                                    <a:latin typeface="Cambria Math" panose="02040503050406030204" pitchFamily="18" charset="0"/>
                                  </a:rPr>
                                  <m:t>−0.3820</m:t>
                                </m:r>
                              </m:e>
                              <m:e>
                                <m:r>
                                  <a:rPr lang="en-US" sz="900" b="0" i="0">
                                    <a:latin typeface="Cambria Math" panose="02040503050406030204" pitchFamily="18" charset="0"/>
                                  </a:rPr>
                                  <m:t>−0.3283</m:t>
                                </m:r>
                              </m:e>
                              <m:e>
                                <m:r>
                                  <a:rPr lang="en-US" sz="900" b="0" i="0">
                                    <a:latin typeface="Cambria Math" panose="02040503050406030204" pitchFamily="18" charset="0"/>
                                  </a:rPr>
                                  <m:t>−0.1590</m:t>
                                </m:r>
                              </m:e>
                            </m:mr>
                            <m:mr>
                              <m:e>
                                <m:r>
                                  <a:rPr lang="en-US" sz="900" b="0" i="0">
                                    <a:latin typeface="Cambria Math" panose="02040503050406030204" pitchFamily="18" charset="0"/>
                                  </a:rPr>
                                  <m:t>−0.0571</m:t>
                                </m:r>
                              </m:e>
                              <m:e>
                                <m:r>
                                  <a:rPr lang="en-US" sz="900" b="0" i="0">
                                    <a:latin typeface="Cambria Math" panose="02040503050406030204" pitchFamily="18" charset="0"/>
                                  </a:rPr>
                                  <m:t>0.2262</m:t>
                                </m:r>
                              </m:e>
                              <m:e>
                                <m:r>
                                  <a:rPr lang="en-US" sz="900" b="0" i="0">
                                    <a:latin typeface="Cambria Math" panose="02040503050406030204" pitchFamily="18" charset="0"/>
                                  </a:rPr>
                                  <m:t>−0.0893</m:t>
                                </m:r>
                              </m:e>
                              <m:e>
                                <m:r>
                                  <a:rPr lang="en-US" sz="900" b="0" i="0">
                                    <a:latin typeface="Cambria Math" panose="02040503050406030204" pitchFamily="18" charset="0"/>
                                  </a:rPr>
                                  <m:t>1.0301</m:t>
                                </m:r>
                              </m:e>
                              <m:e>
                                <m:r>
                                  <a:rPr lang="en-US" sz="900" b="0" i="0">
                                    <a:latin typeface="Cambria Math" panose="02040503050406030204" pitchFamily="18" charset="0"/>
                                  </a:rPr>
                                  <m:t>0.2266</m:t>
                                </m:r>
                              </m:e>
                              <m:e>
                                <m:r>
                                  <a:rPr lang="en-US" sz="900" b="0" i="0">
                                    <a:latin typeface="Cambria Math" panose="02040503050406030204" pitchFamily="18" charset="0"/>
                                  </a:rPr>
                                  <m:t>−0.0530</m:t>
                                </m:r>
                              </m:e>
                            </m:mr>
                            <m:mr>
                              <m:e>
                                <m:r>
                                  <a:rPr lang="en-US" sz="900" b="0" i="0">
                                    <a:latin typeface="Cambria Math" panose="02040503050406030204" pitchFamily="18" charset="0"/>
                                  </a:rPr>
                                  <m:t>−0.0605</m:t>
                                </m:r>
                              </m:e>
                              <m:e>
                                <m:r>
                                  <a:rPr lang="en-US" sz="900" b="0" i="0">
                                    <a:latin typeface="Cambria Math" panose="02040503050406030204" pitchFamily="18" charset="0"/>
                                  </a:rPr>
                                  <m:t>0.2165</m:t>
                                </m:r>
                              </m:e>
                              <m:e>
                                <m:r>
                                  <a:rPr lang="en-US" sz="900" b="0" i="0">
                                    <a:latin typeface="Cambria Math" panose="02040503050406030204" pitchFamily="18" charset="0"/>
                                  </a:rPr>
                                  <m:t>−0.0615</m:t>
                                </m:r>
                              </m:e>
                              <m:e>
                                <m:r>
                                  <a:rPr lang="en-US" sz="900" b="0" i="0">
                                    <a:latin typeface="Cambria Math" panose="02040503050406030204" pitchFamily="18" charset="0"/>
                                  </a:rPr>
                                  <m:t>0.2134</m:t>
                                </m:r>
                              </m:e>
                              <m:e>
                                <m:r>
                                  <a:rPr lang="en-US" sz="900" b="0" i="0">
                                    <a:latin typeface="Cambria Math" panose="02040503050406030204" pitchFamily="18" charset="0"/>
                                  </a:rPr>
                                  <m:t>1.0365</m:t>
                                </m:r>
                              </m:e>
                              <m:e>
                                <m:r>
                                  <a:rPr lang="en-US" sz="900" b="0" i="0">
                                    <a:latin typeface="Cambria Math" panose="02040503050406030204" pitchFamily="18" charset="0"/>
                                  </a:rPr>
                                  <m:t>−0.0936</m:t>
                                </m:r>
                              </m:e>
                            </m:mr>
                            <m:mr>
                              <m:e>
                                <m:r>
                                  <a:rPr lang="en-US" sz="900" b="0" i="0">
                                    <a:latin typeface="Cambria Math" panose="02040503050406030204" pitchFamily="18" charset="0"/>
                                  </a:rPr>
                                  <m:t>−0.1487</m:t>
                                </m:r>
                              </m:e>
                              <m:e>
                                <m:r>
                                  <a:rPr lang="en-US" sz="900" b="0" i="0">
                                    <a:latin typeface="Cambria Math" panose="02040503050406030204" pitchFamily="18" charset="0"/>
                                  </a:rPr>
                                  <m:t>−0.3104</m:t>
                                </m:r>
                              </m:e>
                              <m:e>
                                <m:r>
                                  <a:rPr lang="en-US" sz="900" b="0" i="0">
                                    <a:latin typeface="Cambria Math" panose="02040503050406030204" pitchFamily="18" charset="0"/>
                                  </a:rPr>
                                  <m:t>−0.1442</m:t>
                                </m:r>
                              </m:e>
                              <m:e>
                                <m:r>
                                  <a:rPr lang="en-US" sz="900" b="0" i="0">
                                    <a:latin typeface="Cambria Math" panose="02040503050406030204" pitchFamily="18" charset="0"/>
                                  </a:rPr>
                                  <m:t>−0.3054</m:t>
                                </m:r>
                              </m:e>
                              <m:e>
                                <m:r>
                                  <a:rPr lang="en-US" sz="900" b="0" i="0">
                                    <a:latin typeface="Cambria Math" panose="02040503050406030204" pitchFamily="18" charset="0"/>
                                  </a:rPr>
                                  <m:t>−0.3767</m:t>
                                </m:r>
                              </m:e>
                              <m:e>
                                <m:r>
                                  <a:rPr lang="en-US" sz="900" b="0" i="0">
                                    <a:latin typeface="Cambria Math" panose="02040503050406030204" pitchFamily="18" charset="0"/>
                                  </a:rPr>
                                  <m:t>0.8390</m:t>
                                </m:r>
                              </m:e>
                            </m:mr>
                          </m:m>
                        </m:e>
                      </m:d>
                    </m:oMath>
                  </m:oMathPara>
                </a14:m>
                <a:endParaRPr lang="en-US" sz="900" dirty="0"/>
              </a:p>
            </p:txBody>
          </p:sp>
        </mc:Choice>
        <mc:Fallback>
          <p:sp>
            <p:nvSpPr>
              <p:cNvPr id="902" name="CalibV_e_mat"/>
              <p:cNvSpPr txBox="1">
                <a:spLocks noRot="1" noChangeAspect="1" noMove="1" noResize="1" noEditPoints="1" noAdjustHandles="1" noChangeArrowheads="1" noChangeShapeType="1" noTextEdit="1"/>
              </p:cNvSpPr>
              <p:nvPr/>
            </p:nvSpPr>
            <p:spPr>
              <a:xfrm>
                <a:off x="3200400" y="2615184"/>
                <a:ext cx="3556000" cy="868680"/>
              </a:xfrm>
              <a:prstGeom prst="rect">
                <a:avLst/>
              </a:prstGeom>
              <a:blipFill>
                <a:blip r:embed="rId2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3" name="CalibV_e_bias"/>
              <p:cNvSpPr txBox="1"/>
              <p:nvPr/>
            </p:nvSpPr>
            <p:spPr>
              <a:xfrm>
                <a:off x="3200400" y="3584448"/>
                <a:ext cx="3632200" cy="457200"/>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altLang="zh-TW" sz="900" b="0" i="1" smtClean="0">
                              <a:latin typeface="Cambria Math" panose="02040503050406030204" pitchFamily="18" charset="0"/>
                            </a:rPr>
                          </m:ctrlPr>
                        </m:accPr>
                        <m:e>
                          <m:r>
                            <a:rPr lang="en-US" altLang="zh-TW" sz="900" b="0" i="1" smtClean="0">
                              <a:latin typeface="Cambria Math" panose="02040503050406030204" pitchFamily="18" charset="0"/>
                            </a:rPr>
                            <m:t>𝑒</m:t>
                          </m:r>
                        </m:e>
                      </m:acc>
                      <m:r>
                        <a:rPr lang="en-US" sz="900" b="0" i="0">
                          <a:latin typeface="Cambria Math" panose="02040503050406030204" pitchFamily="18" charset="0"/>
                        </a:rPr>
                        <m:t>= </m:t>
                      </m:r>
                      <m:d>
                        <m:dPr>
                          <m:begChr m:val="["/>
                          <m:endChr m:val="]"/>
                          <m:ctrlPr>
                            <a:rPr lang="en-US" sz="900" b="0" i="1">
                              <a:latin typeface="Cambria Math" panose="02040503050406030204" pitchFamily="18" charset="0"/>
                            </a:rPr>
                          </m:ctrlPr>
                        </m:dPr>
                        <m:e>
                          <m:m>
                            <m:mPr>
                              <m:mcs>
                                <m:mc>
                                  <m:mcPr>
                                    <m:count m:val="6"/>
                                    <m:mcJc m:val="center"/>
                                  </m:mcPr>
                                </m:mc>
                              </m:mcs>
                              <m:ctrlPr>
                                <a:rPr lang="en-US" sz="900" b="0" i="1">
                                  <a:latin typeface="Cambria Math" panose="02040503050406030204" pitchFamily="18" charset="0"/>
                                </a:rPr>
                              </m:ctrlPr>
                            </m:mPr>
                            <m:mr>
                              <m:e>
                                <m:r>
                                  <a:rPr lang="en-US" sz="900" b="0" i="0">
                                    <a:latin typeface="Cambria Math" panose="02040503050406030204" pitchFamily="18" charset="0"/>
                                  </a:rPr>
                                  <m:t>0.0185</m:t>
                                </m:r>
                              </m:e>
                              <m:e>
                                <m:r>
                                  <a:rPr lang="en-US" sz="900" b="0" i="0">
                                    <a:latin typeface="Cambria Math" panose="02040503050406030204" pitchFamily="18" charset="0"/>
                                  </a:rPr>
                                  <m:t>0.0203</m:t>
                                </m:r>
                              </m:e>
                              <m:e>
                                <m:r>
                                  <a:rPr lang="en-US" sz="900" b="0" i="0">
                                    <a:latin typeface="Cambria Math" panose="02040503050406030204" pitchFamily="18" charset="0"/>
                                  </a:rPr>
                                  <m:t>−0.1173</m:t>
                                </m:r>
                              </m:e>
                              <m:e>
                                <m:r>
                                  <a:rPr lang="en-US" sz="900" b="0" i="0">
                                    <a:latin typeface="Cambria Math" panose="02040503050406030204" pitchFamily="18" charset="0"/>
                                  </a:rPr>
                                  <m:t>0.0024</m:t>
                                </m:r>
                              </m:e>
                              <m:e>
                                <m:r>
                                  <a:rPr lang="en-US" sz="900" b="0" i="0">
                                    <a:latin typeface="Cambria Math" panose="02040503050406030204" pitchFamily="18" charset="0"/>
                                  </a:rPr>
                                  <m:t>0.0018</m:t>
                                </m:r>
                              </m:e>
                              <m:e>
                                <m:r>
                                  <a:rPr lang="en-US" sz="900" b="0" i="0">
                                    <a:latin typeface="Cambria Math" panose="02040503050406030204" pitchFamily="18" charset="0"/>
                                  </a:rPr>
                                  <m:t>−0.1186</m:t>
                                </m:r>
                              </m:e>
                            </m:mr>
                            <m:mr>
                              <m:e>
                                <m:r>
                                  <a:rPr lang="en-US" sz="900" b="0" i="0">
                                    <a:latin typeface="Cambria Math" panose="02040503050406030204" pitchFamily="18" charset="0"/>
                                  </a:rPr>
                                  <m:t>−0.1183</m:t>
                                </m:r>
                              </m:e>
                              <m:e>
                                <m:r>
                                  <a:rPr lang="en-US" sz="900" b="0" i="0">
                                    <a:latin typeface="Cambria Math" panose="02040503050406030204" pitchFamily="18" charset="0"/>
                                  </a:rPr>
                                  <m:t>0.0026</m:t>
                                </m:r>
                              </m:e>
                              <m:e>
                                <m:r>
                                  <a:rPr lang="en-US" sz="900" b="0" i="0">
                                    <a:latin typeface="Cambria Math" panose="02040503050406030204" pitchFamily="18" charset="0"/>
                                  </a:rPr>
                                  <m:t>0.0168</m:t>
                                </m:r>
                              </m:e>
                              <m:e>
                                <m:r>
                                  <a:rPr lang="en-US" sz="900" b="0" i="0">
                                    <a:latin typeface="Cambria Math" panose="02040503050406030204" pitchFamily="18" charset="0"/>
                                  </a:rPr>
                                  <m:t>0.0163</m:t>
                                </m:r>
                              </m:e>
                              <m:e>
                                <m:r>
                                  <a:rPr lang="en-US" sz="900" b="0" i="0">
                                    <a:latin typeface="Cambria Math" panose="02040503050406030204" pitchFamily="18" charset="0"/>
                                  </a:rPr>
                                  <m:t>0.0019</m:t>
                                </m:r>
                              </m:e>
                              <m:e>
                                <m:r>
                                  <a:rPr lang="en-US" sz="900" b="0" i="0">
                                    <a:latin typeface="Cambria Math" panose="02040503050406030204" pitchFamily="18" charset="0"/>
                                  </a:rPr>
                                  <m:t>−0.1185</m:t>
                                </m:r>
                              </m:e>
                            </m:mr>
                            <m:mr>
                              <m:e>
                                <m:r>
                                  <a:rPr lang="en-US" sz="900" b="0" i="0">
                                    <a:latin typeface="Cambria Math" panose="02040503050406030204" pitchFamily="18" charset="0"/>
                                  </a:rPr>
                                  <m:t>0.1182</m:t>
                                </m:r>
                              </m:e>
                              <m:e>
                                <m:r>
                                  <a:rPr lang="en-US" sz="900" b="0" i="0">
                                    <a:latin typeface="Cambria Math" panose="02040503050406030204" pitchFamily="18" charset="0"/>
                                  </a:rPr>
                                  <m:t>−0.0029</m:t>
                                </m:r>
                              </m:e>
                              <m:e>
                                <m:r>
                                  <a:rPr lang="en-US" sz="900" b="0" i="0">
                                    <a:latin typeface="Cambria Math" panose="02040503050406030204" pitchFamily="18" charset="0"/>
                                  </a:rPr>
                                  <m:t>0.1166</m:t>
                                </m:r>
                              </m:e>
                              <m:e>
                                <m:r>
                                  <a:rPr lang="en-US" sz="900" b="0" i="0">
                                    <a:latin typeface="Cambria Math" panose="02040503050406030204" pitchFamily="18" charset="0"/>
                                  </a:rPr>
                                  <m:t>−0.0029</m:t>
                                </m:r>
                              </m:e>
                              <m:e>
                                <m:r>
                                  <a:rPr lang="en-US" sz="900" b="0" i="0">
                                    <a:latin typeface="Cambria Math" panose="02040503050406030204" pitchFamily="18" charset="0"/>
                                  </a:rPr>
                                  <m:t>−0.0186</m:t>
                                </m:r>
                              </m:e>
                              <m:e>
                                <m:r>
                                  <a:rPr lang="en-US" sz="900" b="0" i="0">
                                    <a:latin typeface="Cambria Math" panose="02040503050406030204" pitchFamily="18" charset="0"/>
                                  </a:rPr>
                                  <m:t>−0.0199</m:t>
                                </m:r>
                              </m:e>
                            </m:mr>
                          </m:m>
                        </m:e>
                      </m:d>
                    </m:oMath>
                  </m:oMathPara>
                </a14:m>
                <a:endParaRPr lang="en-US" sz="900" dirty="0"/>
              </a:p>
            </p:txBody>
          </p:sp>
        </mc:Choice>
        <mc:Fallback>
          <p:sp>
            <p:nvSpPr>
              <p:cNvPr id="903" name="CalibV_e_bias"/>
              <p:cNvSpPr txBox="1">
                <a:spLocks noRot="1" noChangeAspect="1" noMove="1" noResize="1" noEditPoints="1" noAdjustHandles="1" noChangeArrowheads="1" noChangeShapeType="1" noTextEdit="1"/>
              </p:cNvSpPr>
              <p:nvPr/>
            </p:nvSpPr>
            <p:spPr>
              <a:xfrm>
                <a:off x="3200400" y="3584448"/>
                <a:ext cx="3632200" cy="457200"/>
              </a:xfrm>
              <a:prstGeom prst="rect">
                <a:avLst/>
              </a:prstGeom>
              <a:blipFill>
                <a:blip r:embed="rId24"/>
                <a:stretch>
                  <a:fillRect t="-2667"/>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904" name="CalibV_e_sc"/>
              <p:cNvSpPr txBox="1"/>
              <p:nvPr/>
            </p:nvSpPr>
            <p:spPr>
              <a:xfrm>
                <a:off x="3200401" y="4114800"/>
                <a:ext cx="3556000" cy="256032"/>
              </a:xfrm>
              <a:prstGeom prst="rect">
                <a:avLst/>
              </a:prstGeom>
              <a:noFill/>
            </p:spPr>
            <p:txBody>
              <a:bodyPr wrap="none" lIns="0" tIns="0" rIns="0" bIns="0" rtlCol="0" anchor="t"/>
              <a:lstStyle/>
              <a:p>
                <a:pPr algn="ctr"/>
                <a14:m>
                  <m:oMathPara xmlns:m="http://schemas.openxmlformats.org/officeDocument/2006/math">
                    <m:oMathParaPr>
                      <m:jc m:val="centerGroup"/>
                    </m:oMathParaPr>
                    <m:oMath xmlns:m="http://schemas.openxmlformats.org/officeDocument/2006/math">
                      <m:acc>
                        <m:accPr>
                          <m:chr m:val="̂"/>
                          <m:ctrlPr>
                            <a:rPr lang="en-US" sz="1100" b="0" i="1">
                              <a:latin typeface="Cambria Math" panose="02040503050406030204" pitchFamily="18" charset="0"/>
                            </a:rPr>
                          </m:ctrlPr>
                        </m:accPr>
                        <m:e>
                          <m:r>
                            <a:rPr lang="en-US" sz="1100" b="0" i="1">
                              <a:latin typeface="Cambria Math" panose="02040503050406030204" pitchFamily="18" charset="0"/>
                            </a:rPr>
                            <m:t>ℓ</m:t>
                          </m:r>
                        </m:e>
                      </m:acc>
                      <m:r>
                        <a:rPr lang="en-US" sz="1100" b="0" i="0">
                          <a:latin typeface="Cambria Math" panose="02040503050406030204" pitchFamily="18" charset="0"/>
                        </a:rPr>
                        <m:t> = 873.0 </m:t>
                      </m:r>
                      <m:r>
                        <m:rPr>
                          <m:sty m:val="p"/>
                        </m:rPr>
                        <a:rPr lang="en-US" sz="1100" b="0" i="0">
                          <a:latin typeface="Cambria Math" panose="02040503050406030204" pitchFamily="18" charset="0"/>
                        </a:rPr>
                        <m:t>μm</m:t>
                      </m:r>
                      <m:r>
                        <a:rPr lang="en-US" sz="1100" b="0" i="0">
                          <a:latin typeface="Cambria Math" panose="02040503050406030204" pitchFamily="18" charset="0"/>
                        </a:rPr>
                        <m:t>  </m:t>
                      </m:r>
                      <m:sPre>
                        <m:sPrePr>
                          <m:ctrlPr>
                            <a:rPr lang="en-US" sz="1100" b="0" i="1">
                              <a:latin typeface="Cambria Math" panose="02040503050406030204" pitchFamily="18" charset="0"/>
                            </a:rPr>
                          </m:ctrlPr>
                        </m:sPrePr>
                        <m:sub/>
                        <m:sup>
                          <m:r>
                            <a:rPr lang="en-US" sz="1100" b="0" i="1">
                              <a:latin typeface="Cambria Math" panose="02040503050406030204" pitchFamily="18" charset="0"/>
                            </a:rPr>
                            <m:t>𝐵</m:t>
                          </m:r>
                        </m:sup>
                        <m:e>
                          <m:sSub>
                            <m:sSubPr>
                              <m:ctrlPr>
                                <a:rPr lang="en-US" sz="1100" b="0" i="1">
                                  <a:latin typeface="Cambria Math" panose="02040503050406030204" pitchFamily="18" charset="0"/>
                                </a:rPr>
                              </m:ctrlPr>
                            </m:sSubPr>
                            <m:e>
                              <m:acc>
                                <m:accPr>
                                  <m:chr m:val="̂"/>
                                  <m:ctrlPr>
                                    <a:rPr lang="en-US" sz="1100" b="0" i="1">
                                      <a:latin typeface="Cambria Math" panose="02040503050406030204" pitchFamily="18" charset="0"/>
                                    </a:rPr>
                                  </m:ctrlPr>
                                </m:accPr>
                                <m:e>
                                  <m:r>
                                    <a:rPr lang="en-US" sz="1100" b="0" i="1">
                                      <a:latin typeface="Cambria Math" panose="02040503050406030204" pitchFamily="18" charset="0"/>
                                    </a:rPr>
                                    <m:t>𝑔</m:t>
                                  </m:r>
                                </m:e>
                              </m:acc>
                            </m:e>
                            <m:sub>
                              <m:r>
                                <a:rPr lang="en-US" sz="1100" b="0" i="1">
                                  <a:latin typeface="Cambria Math" panose="02040503050406030204" pitchFamily="18" charset="0"/>
                                </a:rPr>
                                <m:t>𝑉</m:t>
                              </m:r>
                            </m:sub>
                          </m:sSub>
                        </m:e>
                      </m:sPre>
                      <m:r>
                        <a:rPr lang="en-US" sz="1100" b="0" i="0">
                          <a:latin typeface="Cambria Math" panose="02040503050406030204" pitchFamily="18" charset="0"/>
                        </a:rPr>
                        <m:t> = 7.6781×</m:t>
                      </m:r>
                      <m:sSup>
                        <m:sSupPr>
                          <m:ctrlPr>
                            <a:rPr lang="en-US" sz="1100" b="0" i="1">
                              <a:latin typeface="Cambria Math" panose="02040503050406030204" pitchFamily="18" charset="0"/>
                            </a:rPr>
                          </m:ctrlPr>
                        </m:sSupPr>
                        <m:e>
                          <m:r>
                            <a:rPr lang="en-US" sz="1100" b="0" i="0">
                              <a:latin typeface="Cambria Math" panose="02040503050406030204" pitchFamily="18" charset="0"/>
                            </a:rPr>
                            <m:t>10</m:t>
                          </m:r>
                        </m:e>
                        <m:sup>
                          <m:r>
                            <a:rPr lang="en-US" sz="1100" b="0" i="0">
                              <a:latin typeface="Cambria Math" panose="02040503050406030204" pitchFamily="18" charset="0"/>
                            </a:rPr>
                            <m:t>−3</m:t>
                          </m:r>
                        </m:sup>
                      </m:sSup>
                      <m:r>
                        <a:rPr lang="en-US" sz="1100" b="0" i="0">
                          <a:latin typeface="Cambria Math" panose="02040503050406030204" pitchFamily="18" charset="0"/>
                        </a:rPr>
                        <m:t> </m:t>
                      </m:r>
                      <m:r>
                        <m:rPr>
                          <m:sty m:val="p"/>
                        </m:rPr>
                        <a:rPr lang="en-US" sz="1100" b="0" i="0">
                          <a:latin typeface="Cambria Math" panose="02040503050406030204" pitchFamily="18" charset="0"/>
                        </a:rPr>
                        <m:t>mT</m:t>
                      </m:r>
                      <m:r>
                        <a:rPr lang="en-US" sz="1100" b="0" i="0">
                          <a:latin typeface="Cambria Math" panose="02040503050406030204" pitchFamily="18" charset="0"/>
                        </a:rPr>
                        <m:t>/</m:t>
                      </m:r>
                      <m:r>
                        <m:rPr>
                          <m:sty m:val="p"/>
                        </m:rPr>
                        <a:rPr lang="en-US" sz="1100" b="0" i="0">
                          <a:latin typeface="Cambria Math" panose="02040503050406030204" pitchFamily="18" charset="0"/>
                        </a:rPr>
                        <m:t>mV</m:t>
                      </m:r>
                      <m:r>
                        <a:rPr lang="en-US" sz="1100" b="0" i="0">
                          <a:latin typeface="Cambria Math" panose="02040503050406030204" pitchFamily="18" charset="0"/>
                        </a:rPr>
                        <m:t> </m:t>
                      </m:r>
                    </m:oMath>
                  </m:oMathPara>
                </a14:m>
                <a:endParaRPr lang="en-US" sz="1100" dirty="0"/>
              </a:p>
            </p:txBody>
          </p:sp>
        </mc:Choice>
        <mc:Fallback>
          <p:sp>
            <p:nvSpPr>
              <p:cNvPr id="904" name="CalibV_e_sc"/>
              <p:cNvSpPr txBox="1">
                <a:spLocks noRot="1" noChangeAspect="1" noMove="1" noResize="1" noEditPoints="1" noAdjustHandles="1" noChangeArrowheads="1" noChangeShapeType="1" noTextEdit="1"/>
              </p:cNvSpPr>
              <p:nvPr/>
            </p:nvSpPr>
            <p:spPr>
              <a:xfrm>
                <a:off x="3200401" y="4114800"/>
                <a:ext cx="3556000" cy="256032"/>
              </a:xfrm>
              <a:prstGeom prst="rect">
                <a:avLst/>
              </a:prstGeom>
              <a:blipFill>
                <a:blip r:embed="rId25"/>
                <a:stretch>
                  <a:fillRect t="-9524" b="-714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3" name="文字方塊 22">
                <a:extLst>
                  <a:ext uri="{FF2B5EF4-FFF2-40B4-BE49-F238E27FC236}">
                    <a16:creationId xmlns:a16="http://schemas.microsoft.com/office/drawing/2014/main" id="{8AC383EA-779C-4C2C-B098-EF723DE49D7C}"/>
                  </a:ext>
                </a:extLst>
              </p:cNvPr>
              <p:cNvSpPr txBox="1"/>
              <p:nvPr/>
            </p:nvSpPr>
            <p:spPr>
              <a:xfrm>
                <a:off x="8551747" y="376422"/>
                <a:ext cx="3564053" cy="3215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𝐶𝑎𝑙𝑖𝑏𝑟𝑎𝑡𝑒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𝑚𝑜𝑑𝑒𝑙</m:t>
                      </m:r>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𝑏</m:t>
                          </m:r>
                        </m:e>
                        <m:sub>
                          <m:r>
                            <a:rPr lang="en-US" altLang="zh-TW" b="0" i="1" smtClean="0">
                              <a:latin typeface="Cambria Math" panose="02040503050406030204" pitchFamily="18" charset="0"/>
                              <a:ea typeface="Cambria Math" panose="02040503050406030204" pitchFamily="18" charset="0"/>
                            </a:rPr>
                            <m:t>𝑖𝑗</m:t>
                          </m:r>
                        </m:sub>
                      </m:sSub>
                      <m:r>
                        <a:rPr lang="en-US" altLang="zh-TW" b="0" i="1" smtClean="0">
                          <a:latin typeface="Cambria Math" panose="02040503050406030204" pitchFamily="18" charset="0"/>
                          <a:ea typeface="Cambria Math" panose="02040503050406030204" pitchFamily="18" charset="0"/>
                        </a:rPr>
                        <m:t>=</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𝑆</m:t>
                          </m:r>
                        </m:e>
                        <m:sub>
                          <m:r>
                            <a:rPr lang="en-US" altLang="zh-TW" b="0" i="1" smtClean="0">
                              <a:latin typeface="Cambria Math" panose="02040503050406030204" pitchFamily="18" charset="0"/>
                              <a:ea typeface="Cambria Math" panose="02040503050406030204" pitchFamily="18" charset="0"/>
                            </a:rPr>
                            <m:t>𝑖</m:t>
                          </m:r>
                        </m:sub>
                      </m:sSub>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sSub>
                        <m:sSubPr>
                          <m:ctrlPr>
                            <a:rPr lang="en-US" altLang="zh-TW" b="0"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𝑗</m:t>
                          </m:r>
                        </m:sub>
                      </m:sSub>
                    </m:oMath>
                  </m:oMathPara>
                </a14:m>
                <a:endParaRPr lang="zh-TW" altLang="en-US" dirty="0"/>
              </a:p>
            </p:txBody>
          </p:sp>
        </mc:Choice>
        <mc:Fallback>
          <p:sp>
            <p:nvSpPr>
              <p:cNvPr id="23" name="文字方塊 22">
                <a:extLst>
                  <a:ext uri="{FF2B5EF4-FFF2-40B4-BE49-F238E27FC236}">
                    <a16:creationId xmlns:a16="http://schemas.microsoft.com/office/drawing/2014/main" id="{8AC383EA-779C-4C2C-B098-EF723DE49D7C}"/>
                  </a:ext>
                </a:extLst>
              </p:cNvPr>
              <p:cNvSpPr txBox="1">
                <a:spLocks noRot="1" noChangeAspect="1" noMove="1" noResize="1" noEditPoints="1" noAdjustHandles="1" noChangeArrowheads="1" noChangeShapeType="1" noTextEdit="1"/>
              </p:cNvSpPr>
              <p:nvPr/>
            </p:nvSpPr>
            <p:spPr>
              <a:xfrm>
                <a:off x="8551747" y="376422"/>
                <a:ext cx="3564053" cy="321563"/>
              </a:xfrm>
              <a:prstGeom prst="rect">
                <a:avLst/>
              </a:prstGeom>
              <a:blipFill>
                <a:blip r:embed="rId26"/>
                <a:stretch>
                  <a:fillRect l="-1197" t="-15385" r="-5128" b="-25000"/>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 name="文字方塊 23">
                <a:extLst>
                  <a:ext uri="{FF2B5EF4-FFF2-40B4-BE49-F238E27FC236}">
                    <a16:creationId xmlns:a16="http://schemas.microsoft.com/office/drawing/2014/main" id="{0E47CCE1-4504-404E-836B-C65D993B87CC}"/>
                  </a:ext>
                </a:extLst>
              </p:cNvPr>
              <p:cNvSpPr txBox="1"/>
              <p:nvPr/>
            </p:nvSpPr>
            <p:spPr>
              <a:xfrm>
                <a:off x="6756400" y="832104"/>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%=2.85%</m:t>
                      </m:r>
                    </m:oMath>
                  </m:oMathPara>
                </a14:m>
                <a:endParaRPr lang="zh-TW" altLang="en-US" sz="1400" dirty="0"/>
              </a:p>
            </p:txBody>
          </p:sp>
        </mc:Choice>
        <mc:Fallback>
          <p:sp>
            <p:nvSpPr>
              <p:cNvPr id="24" name="文字方塊 23">
                <a:extLst>
                  <a:ext uri="{FF2B5EF4-FFF2-40B4-BE49-F238E27FC236}">
                    <a16:creationId xmlns:a16="http://schemas.microsoft.com/office/drawing/2014/main" id="{0E47CCE1-4504-404E-836B-C65D993B87CC}"/>
                  </a:ext>
                </a:extLst>
              </p:cNvPr>
              <p:cNvSpPr txBox="1">
                <a:spLocks noRot="1" noChangeAspect="1" noMove="1" noResize="1" noEditPoints="1" noAdjustHandles="1" noChangeArrowheads="1" noChangeShapeType="1" noTextEdit="1"/>
              </p:cNvSpPr>
              <p:nvPr/>
            </p:nvSpPr>
            <p:spPr>
              <a:xfrm>
                <a:off x="6756400" y="832104"/>
                <a:ext cx="4191000" cy="549509"/>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5" name="文字方塊 24">
                <a:extLst>
                  <a:ext uri="{FF2B5EF4-FFF2-40B4-BE49-F238E27FC236}">
                    <a16:creationId xmlns:a16="http://schemas.microsoft.com/office/drawing/2014/main" id="{EBA49798-FF6E-40E0-BBA9-161C19277A44}"/>
                  </a:ext>
                </a:extLst>
              </p:cNvPr>
              <p:cNvSpPr txBox="1"/>
              <p:nvPr/>
            </p:nvSpPr>
            <p:spPr>
              <a:xfrm>
                <a:off x="6832600" y="2583179"/>
                <a:ext cx="4191000" cy="5495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1400" smtClean="0">
                          <a:latin typeface="Cambria Math" panose="02040503050406030204" pitchFamily="18" charset="0"/>
                        </a:rPr>
                        <m:t>NMAE</m:t>
                      </m:r>
                      <m:r>
                        <a:rPr lang="en-US" altLang="zh-TW" sz="1400" i="1" smtClean="0">
                          <a:latin typeface="Cambria Math" panose="02040503050406030204" pitchFamily="18" charset="0"/>
                        </a:rPr>
                        <m:t>=</m:t>
                      </m:r>
                      <m:f>
                        <m:fPr>
                          <m:ctrlPr>
                            <a:rPr lang="en-US" altLang="zh-TW" sz="1400" i="1">
                              <a:latin typeface="Cambria Math" panose="02040503050406030204" pitchFamily="18" charset="0"/>
                            </a:rPr>
                          </m:ctrlPr>
                        </m:fPr>
                        <m:num>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r>
                                        <a:rPr lang="en-US" altLang="zh-TW" sz="1400" i="1">
                                          <a:latin typeface="Cambria Math" panose="02040503050406030204" pitchFamily="18" charset="0"/>
                                        </a:rPr>
                                        <m:t>−</m:t>
                                      </m:r>
                                      <m:sSub>
                                        <m:sSubPr>
                                          <m:ctrlPr>
                                            <a:rPr lang="en-US" altLang="zh-TW" sz="1400" i="1">
                                              <a:latin typeface="Cambria Math" panose="02040503050406030204" pitchFamily="18" charset="0"/>
                                              <a:ea typeface="Cambria Math" panose="02040503050406030204" pitchFamily="18" charset="0"/>
                                            </a:rPr>
                                          </m:ctrlPr>
                                        </m:sSubPr>
                                        <m:e>
                                          <m:r>
                                            <a:rPr lang="en-US" altLang="zh-TW" sz="1400" i="1">
                                              <a:latin typeface="Cambria Math" panose="02040503050406030204" pitchFamily="18" charset="0"/>
                                              <a:ea typeface="Cambria Math" panose="02040503050406030204" pitchFamily="18" charset="0"/>
                                            </a:rPr>
                                            <m:t>𝑆</m:t>
                                          </m:r>
                                        </m:e>
                                        <m:sub>
                                          <m:r>
                                            <a:rPr lang="en-US" altLang="zh-TW" sz="1400" i="1">
                                              <a:latin typeface="Cambria Math" panose="02040503050406030204" pitchFamily="18" charset="0"/>
                                              <a:ea typeface="Cambria Math" panose="02040503050406030204" pitchFamily="18" charset="0"/>
                                            </a:rPr>
                                            <m:t>𝑖</m:t>
                                          </m:r>
                                        </m:sub>
                                      </m:sSub>
                                      <m:sPre>
                                        <m:sPrePr>
                                          <m:ctrlPr>
                                            <a:rPr lang="en-US" altLang="zh-TW" sz="1400" i="1">
                                              <a:latin typeface="Cambria Math" panose="02040503050406030204" pitchFamily="18" charset="0"/>
                                              <a:ea typeface="Cambria Math" panose="02040503050406030204" pitchFamily="18" charset="0"/>
                                            </a:rPr>
                                          </m:ctrlPr>
                                        </m:sPrePr>
                                        <m:sub/>
                                        <m:sup>
                                          <m:r>
                                            <a:rPr lang="en-US" altLang="zh-TW" sz="1400" i="1">
                                              <a:latin typeface="Cambria Math" panose="02040503050406030204" pitchFamily="18" charset="0"/>
                                            </a:rPr>
                                            <m:t>𝐵</m:t>
                                          </m:r>
                                        </m:sup>
                                        <m:e>
                                          <m:sSub>
                                            <m:sSubPr>
                                              <m:ctrlPr>
                                                <a:rPr lang="en-US" altLang="zh-TW" sz="1400" i="1">
                                                  <a:latin typeface="Cambria Math" panose="02040503050406030204" pitchFamily="18" charset="0"/>
                                                </a:rPr>
                                              </m:ctrlPr>
                                            </m:sSubPr>
                                            <m:e>
                                              <m:acc>
                                                <m:accPr>
                                                  <m:chr m:val="̂"/>
                                                  <m:ctrlPr>
                                                    <a:rPr lang="en-US" altLang="zh-TW" sz="1400" i="1">
                                                      <a:latin typeface="Cambria Math" panose="02040503050406030204" pitchFamily="18" charset="0"/>
                                                    </a:rPr>
                                                  </m:ctrlPr>
                                                </m:accPr>
                                                <m:e>
                                                  <m:r>
                                                    <a:rPr lang="en-US" altLang="zh-TW" sz="1400" i="1">
                                                      <a:latin typeface="Cambria Math" panose="02040503050406030204" pitchFamily="18" charset="0"/>
                                                    </a:rPr>
                                                    <m:t>𝑔</m:t>
                                                  </m:r>
                                                </m:e>
                                              </m:acc>
                                            </m:e>
                                            <m:sub>
                                              <m:r>
                                                <a:rPr lang="en-US" altLang="zh-TW" sz="1400" i="1">
                                                  <a:latin typeface="Cambria Math" panose="02040503050406030204" pitchFamily="18" charset="0"/>
                                                </a:rPr>
                                                <m:t>𝑉</m:t>
                                              </m:r>
                                            </m:sub>
                                          </m:sSub>
                                        </m:e>
                                      </m:sPre>
                                      <m:acc>
                                        <m:accPr>
                                          <m:chr m:val="̅"/>
                                          <m:ctrlPr>
                                            <a:rPr lang="zh-TW" altLang="en-US" sz="1400" i="1">
                                              <a:latin typeface="Cambria Math" panose="02040503050406030204" pitchFamily="18" charset="0"/>
                                            </a:rPr>
                                          </m:ctrlPr>
                                        </m:accPr>
                                        <m:e>
                                          <m:r>
                                            <a:rPr lang="en-US" altLang="zh-TW" sz="1400" i="1">
                                              <a:latin typeface="Cambria Math" panose="02040503050406030204" pitchFamily="18" charset="0"/>
                                            </a:rPr>
                                            <m:t>𝐷</m:t>
                                          </m:r>
                                        </m:e>
                                      </m:acc>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𝑉</m:t>
                                          </m:r>
                                        </m:e>
                                        <m:sub>
                                          <m:r>
                                            <a:rPr lang="en-US" altLang="zh-TW" sz="1400" i="1">
                                              <a:latin typeface="Cambria Math" panose="02040503050406030204" pitchFamily="18" charset="0"/>
                                            </a:rPr>
                                            <m:t>𝑗</m:t>
                                          </m:r>
                                        </m:sub>
                                      </m:sSub>
                                    </m:e>
                                  </m:d>
                                </m:e>
                              </m:nary>
                            </m:e>
                          </m:nary>
                        </m:num>
                        <m:den>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𝑗</m:t>
                              </m:r>
                            </m:sub>
                            <m:sup/>
                            <m:e>
                              <m:nary>
                                <m:naryPr>
                                  <m:chr m:val="∑"/>
                                  <m:supHide m:val="on"/>
                                  <m:ctrlPr>
                                    <a:rPr lang="en-US" altLang="zh-TW" sz="1400" i="1">
                                      <a:latin typeface="Cambria Math" panose="02040503050406030204" pitchFamily="18" charset="0"/>
                                    </a:rPr>
                                  </m:ctrlPr>
                                </m:naryPr>
                                <m:sub>
                                  <m:r>
                                    <m:rPr>
                                      <m:brk m:alnAt="7"/>
                                    </m:rPr>
                                    <a:rPr lang="en-US" altLang="zh-TW" sz="1400" i="1">
                                      <a:latin typeface="Cambria Math" panose="02040503050406030204" pitchFamily="18" charset="0"/>
                                    </a:rPr>
                                    <m:t>𝑖</m:t>
                                  </m:r>
                                </m:sub>
                                <m:sup/>
                                <m:e>
                                  <m:d>
                                    <m:dPr>
                                      <m:begChr m:val="‖"/>
                                      <m:endChr m:val="‖"/>
                                      <m:ctrlPr>
                                        <a:rPr lang="en-US" altLang="zh-TW" sz="1400" i="1">
                                          <a:latin typeface="Cambria Math" panose="02040503050406030204" pitchFamily="18" charset="0"/>
                                        </a:rPr>
                                      </m:ctrlPr>
                                    </m:dPr>
                                    <m:e>
                                      <m:sSub>
                                        <m:sSubPr>
                                          <m:ctrlPr>
                                            <a:rPr lang="en-US" altLang="zh-TW" sz="1400" i="1">
                                              <a:latin typeface="Cambria Math" panose="02040503050406030204" pitchFamily="18" charset="0"/>
                                            </a:rPr>
                                          </m:ctrlPr>
                                        </m:sSubPr>
                                        <m:e>
                                          <m:r>
                                            <a:rPr lang="en-US" altLang="zh-TW" sz="1400" i="1">
                                              <a:latin typeface="Cambria Math" panose="02040503050406030204" pitchFamily="18" charset="0"/>
                                            </a:rPr>
                                            <m:t>𝑏</m:t>
                                          </m:r>
                                        </m:e>
                                        <m:sub>
                                          <m:r>
                                            <a:rPr lang="en-US" altLang="zh-TW" sz="1400" i="1">
                                              <a:latin typeface="Cambria Math" panose="02040503050406030204" pitchFamily="18" charset="0"/>
                                            </a:rPr>
                                            <m:t>𝑖𝑗</m:t>
                                          </m:r>
                                        </m:sub>
                                      </m:sSub>
                                    </m:e>
                                  </m:d>
                                </m:e>
                              </m:nary>
                            </m:e>
                          </m:nary>
                        </m:den>
                      </m:f>
                      <m:r>
                        <a:rPr lang="en-US" altLang="zh-TW" sz="1400" i="1">
                          <a:latin typeface="Cambria Math" panose="02040503050406030204" pitchFamily="18" charset="0"/>
                          <a:ea typeface="Cambria Math" panose="02040503050406030204" pitchFamily="18" charset="0"/>
                        </a:rPr>
                        <m:t>∙</m:t>
                      </m:r>
                      <m:r>
                        <a:rPr lang="en-US" altLang="zh-TW" sz="1400" i="1">
                          <a:latin typeface="Cambria Math" panose="02040503050406030204" pitchFamily="18" charset="0"/>
                        </a:rPr>
                        <m:t>100</m:t>
                      </m:r>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0.26</m:t>
                      </m:r>
                      <m:r>
                        <a:rPr lang="en-US" altLang="zh-TW" sz="1400" b="0" i="1" smtClean="0">
                          <a:latin typeface="Cambria Math" panose="02040503050406030204" pitchFamily="18" charset="0"/>
                        </a:rPr>
                        <m:t>%</m:t>
                      </m:r>
                    </m:oMath>
                  </m:oMathPara>
                </a14:m>
                <a:endParaRPr lang="zh-TW" altLang="en-US" sz="1400" dirty="0"/>
              </a:p>
            </p:txBody>
          </p:sp>
        </mc:Choice>
        <mc:Fallback>
          <p:sp>
            <p:nvSpPr>
              <p:cNvPr id="25" name="文字方塊 24">
                <a:extLst>
                  <a:ext uri="{FF2B5EF4-FFF2-40B4-BE49-F238E27FC236}">
                    <a16:creationId xmlns:a16="http://schemas.microsoft.com/office/drawing/2014/main" id="{EBA49798-FF6E-40E0-BBA9-161C19277A44}"/>
                  </a:ext>
                </a:extLst>
              </p:cNvPr>
              <p:cNvSpPr txBox="1">
                <a:spLocks noRot="1" noChangeAspect="1" noMove="1" noResize="1" noEditPoints="1" noAdjustHandles="1" noChangeArrowheads="1" noChangeShapeType="1" noTextEdit="1"/>
              </p:cNvSpPr>
              <p:nvPr/>
            </p:nvSpPr>
            <p:spPr>
              <a:xfrm>
                <a:off x="6832600" y="2583179"/>
                <a:ext cx="4191000" cy="549509"/>
              </a:xfrm>
              <a:prstGeom prst="rect">
                <a:avLst/>
              </a:prstGeom>
              <a:blipFill>
                <a:blip r:embed="rId28"/>
                <a:stretch>
                  <a:fillRect/>
                </a:stretch>
              </a:blipFill>
            </p:spPr>
            <p:txBody>
              <a:bodyPr/>
              <a:lstStyle/>
              <a:p>
                <a:r>
                  <a:rPr lang="zh-TW" altLang="en-US">
                    <a:noFill/>
                  </a:rPr>
                  <a:t> </a:t>
                </a:r>
              </a:p>
            </p:txBody>
          </p:sp>
        </mc:Fallback>
      </mc:AlternateContent>
      <p:sp xmlns:a14="http://schemas.microsoft.com/office/drawing/2010/main">
        <p:nvSpPr>
          <p:cNvPr id="950" name="CalibV_Vmat"/>
          <p:cNvSpPr txBox="1"/>
          <p:nvPr/>
        </p:nvSpPr>
        <p:spPr>
          <a:xfrm>
            <a:off x="3200400" y="4480560"/>
            <a:ext cx="5120640" cy="868680"/>
          </a:xfrm>
          <a:prstGeom prst="rect">
            <a:avLst/>
          </a:prstGeom>
          <a:noFill/>
        </p:spPr>
        <p:txBody>
          <a:bodyPr wrap="none" rtlCol="0" lIns="0" tIns="0" rIns="0" bIns="0" anchor="t"/>
          <a:lstStyle/>
          <a:p>
            <a:pPr algn="ctr"/>
            <a14:m>
              <m:oMath xmlns:m="http://schemas.openxmlformats.org/officeDocument/2006/math">
                <m:r>
                  <a:rPr lang="en-US" b="0" i="1" sz="900">
                    <a:latin typeface="Cambria Math" panose="02040503050406030204" pitchFamily="18" charset="0"/>
                  </a:rPr>
                  <m:t>𝑉</m:t>
                </m:r>
                <m:r>
                  <m:rPr>
                    <m:sty m:val="p"/>
                  </m:rPr>
                  <a:rPr lang="en-US" b="0" i="0" sz="900">
                    <a:latin typeface="Cambria Math" panose="02040503050406030204" pitchFamily="18" charset="0"/>
                  </a:rPr>
                  <m:t> (mV) = </m:t>
                </m:r>
                <m:d>
                  <m:dPr>
                    <m:begChr m:val="["/>
                    <m:endChr m:val="]"/>
                    <m:ctrlPr>
                      <a:rPr lang="en-US" b="0" i="1" sz="900">
                        <a:latin typeface="Cambria Math" panose="02040503050406030204" pitchFamily="18" charset="0"/>
                      </a:rPr>
                    </m:ctrlPr>
                  </m:dPr>
                  <m:e>
                    <m:m>
                      <m:mPr>
                        <m:mcs>
                          <m:mc>
                            <m:mcPr>
                              <m:count m:val="6"/>
                              <m:mcJc m:val="center"/>
                            </m:mcPr>
                          </m:mc>
                        </m:mcs>
                        <m:ctrlPr>
                          <a:rPr lang="en-US" b="0" i="1" sz="900">
                            <a:latin typeface="Cambria Math" panose="02040503050406030204" pitchFamily="18" charset="0"/>
                          </a:rPr>
                        </m:ctrlPr>
                      </m:mPr>
                      <m:mr>
                        <m:e>
                          <m:r>
                            <m:rPr>
                              <m:sty m:val="p"/>
                            </m:rPr>
                            <a:rPr lang="en-US" b="0" i="0" sz="900">
                              <a:latin typeface="Cambria Math" panose="02040503050406030204" pitchFamily="18" charset="0"/>
                            </a:rPr>
                            <m:t>1159.3260</m:t>
                          </m:r>
                        </m:e>
                        <m:e>
                          <m:r>
                            <m:rPr>
                              <m:sty m:val="p"/>
                            </m:rPr>
                            <a:rPr lang="en-US" b="0" i="0" sz="900">
                              <a:latin typeface="Cambria Math" panose="02040503050406030204" pitchFamily="18" charset="0"/>
                            </a:rPr>
                            <m:t>−23.5111</m:t>
                          </m:r>
                        </m:e>
                        <m:e>
                          <m:r>
                            <m:rPr>
                              <m:sty m:val="p"/>
                            </m:rPr>
                            <a:rPr lang="en-US" b="0" i="0" sz="900">
                              <a:latin typeface="Cambria Math" panose="02040503050406030204" pitchFamily="18" charset="0"/>
                            </a:rPr>
                            <m:t>−213.9402</m:t>
                          </m:r>
                        </m:e>
                        <m:e>
                          <m:r>
                            <m:rPr>
                              <m:sty m:val="p"/>
                            </m:rPr>
                            <a:rPr lang="en-US" b="0" i="0" sz="900">
                              <a:latin typeface="Cambria Math" panose="02040503050406030204" pitchFamily="18" charset="0"/>
                            </a:rPr>
                            <m:t>−208.5527</m:t>
                          </m:r>
                        </m:e>
                        <m:e>
                          <m:r>
                            <m:rPr>
                              <m:sty m:val="p"/>
                            </m:rPr>
                            <a:rPr lang="en-US" b="0" i="0" sz="900">
                              <a:latin typeface="Cambria Math" panose="02040503050406030204" pitchFamily="18" charset="0"/>
                            </a:rPr>
                            <m:t>−202.2786</m:t>
                          </m:r>
                        </m:e>
                        <m:e>
                          <m:r>
                            <m:rPr>
                              <m:sty m:val="p"/>
                            </m:rPr>
                            <a:rPr lang="en-US" b="0" i="0" sz="900">
                              <a:latin typeface="Cambria Math" panose="02040503050406030204" pitchFamily="18" charset="0"/>
                            </a:rPr>
                            <m:t>−217.2689</m:t>
                          </m:r>
                        </m:e>
                      </m:mr>
                      <m:mr>
                        <m:e>
                          <m:r>
                            <m:rPr>
                              <m:sty m:val="p"/>
                            </m:rPr>
                            <a:rPr lang="en-US" b="0" i="0" sz="900">
                              <a:latin typeface="Cambria Math" panose="02040503050406030204" pitchFamily="18" charset="0"/>
                            </a:rPr>
                            <m:t>−25.8981</m:t>
                          </m:r>
                        </m:e>
                        <m:e>
                          <m:r>
                            <m:rPr>
                              <m:sty m:val="p"/>
                            </m:rPr>
                            <a:rPr lang="en-US" b="0" i="0" sz="900">
                              <a:latin typeface="Cambria Math" panose="02040503050406030204" pitchFamily="18" charset="0"/>
                            </a:rPr>
                            <m:t>1271.3735</m:t>
                          </m:r>
                        </m:e>
                        <m:e>
                          <m:r>
                            <m:rPr>
                              <m:sty m:val="p"/>
                            </m:rPr>
                            <a:rPr lang="en-US" b="0" i="0" sz="900">
                              <a:latin typeface="Cambria Math" panose="02040503050406030204" pitchFamily="18" charset="0"/>
                            </a:rPr>
                            <m:t>−194.7679</m:t>
                          </m:r>
                        </m:e>
                        <m:e>
                          <m:r>
                            <m:rPr>
                              <m:sty m:val="p"/>
                            </m:rPr>
                            <a:rPr lang="en-US" b="0" i="0" sz="900">
                              <a:latin typeface="Cambria Math" panose="02040503050406030204" pitchFamily="18" charset="0"/>
                            </a:rPr>
                            <m:t>−385.7274</m:t>
                          </m:r>
                        </m:e>
                        <m:e>
                          <m:r>
                            <m:rPr>
                              <m:sty m:val="p"/>
                            </m:rPr>
                            <a:rPr lang="en-US" b="0" i="0" sz="900">
                              <a:latin typeface="Cambria Math" panose="02040503050406030204" pitchFamily="18" charset="0"/>
                            </a:rPr>
                            <m:t>−395.3148</m:t>
                          </m:r>
                        </m:e>
                        <m:e>
                          <m:r>
                            <m:rPr>
                              <m:sty m:val="p"/>
                            </m:rPr>
                            <a:rPr lang="en-US" b="0" i="0" sz="900">
                              <a:latin typeface="Cambria Math" panose="02040503050406030204" pitchFamily="18" charset="0"/>
                            </a:rPr>
                            <m:t>−196.1269</m:t>
                          </m:r>
                        </m:e>
                      </m:mr>
                      <m:mr>
                        <m:e>
                          <m:r>
                            <m:rPr>
                              <m:sty m:val="p"/>
                            </m:rPr>
                            <a:rPr lang="en-US" b="0" i="0" sz="900">
                              <a:latin typeface="Cambria Math" panose="02040503050406030204" pitchFamily="18" charset="0"/>
                            </a:rPr>
                            <m:t>−214.3757</m:t>
                          </m:r>
                        </m:e>
                        <m:e>
                          <m:r>
                            <m:rPr>
                              <m:sty m:val="p"/>
                            </m:rPr>
                            <a:rPr lang="en-US" b="0" i="0" sz="900">
                              <a:latin typeface="Cambria Math" panose="02040503050406030204" pitchFamily="18" charset="0"/>
                            </a:rPr>
                            <m:t>−207.4828</m:t>
                          </m:r>
                        </m:e>
                        <m:e>
                          <m:r>
                            <m:rPr>
                              <m:sty m:val="p"/>
                            </m:rPr>
                            <a:rPr lang="en-US" b="0" i="0" sz="900">
                              <a:latin typeface="Cambria Math" panose="02040503050406030204" pitchFamily="18" charset="0"/>
                            </a:rPr>
                            <m:t>1163.3877</m:t>
                          </m:r>
                        </m:e>
                        <m:e>
                          <m:r>
                            <m:rPr>
                              <m:sty m:val="p"/>
                            </m:rPr>
                            <a:rPr lang="en-US" b="0" i="0" sz="900">
                              <a:latin typeface="Cambria Math" panose="02040503050406030204" pitchFamily="18" charset="0"/>
                            </a:rPr>
                            <m:t>−23.2254</m:t>
                          </m:r>
                        </m:e>
                        <m:e>
                          <m:r>
                            <m:rPr>
                              <m:sty m:val="p"/>
                            </m:rPr>
                            <a:rPr lang="en-US" b="0" i="0" sz="900">
                              <a:latin typeface="Cambria Math" panose="02040503050406030204" pitchFamily="18" charset="0"/>
                            </a:rPr>
                            <m:t>−202.7188</m:t>
                          </m:r>
                        </m:e>
                        <m:e>
                          <m:r>
                            <m:rPr>
                              <m:sty m:val="p"/>
                            </m:rPr>
                            <a:rPr lang="en-US" b="0" i="0" sz="900">
                              <a:latin typeface="Cambria Math" panose="02040503050406030204" pitchFamily="18" charset="0"/>
                            </a:rPr>
                            <m:t>−213.5051</m:t>
                          </m:r>
                        </m:e>
                      </m:mr>
                      <m:mr>
                        <m:e>
                          <m:r>
                            <m:rPr>
                              <m:sty m:val="p"/>
                            </m:rPr>
                            <a:rPr lang="en-US" b="0" i="0" sz="900">
                              <a:latin typeface="Cambria Math" panose="02040503050406030204" pitchFamily="18" charset="0"/>
                            </a:rPr>
                            <m:t>−194.9926</m:t>
                          </m:r>
                        </m:e>
                        <m:e>
                          <m:r>
                            <m:rPr>
                              <m:sty m:val="p"/>
                            </m:rPr>
                            <a:rPr lang="en-US" b="0" i="0" sz="900">
                              <a:latin typeface="Cambria Math" panose="02040503050406030204" pitchFamily="18" charset="0"/>
                            </a:rPr>
                            <m:t>−391.1226</m:t>
                          </m:r>
                        </m:e>
                        <m:e>
                          <m:r>
                            <m:rPr>
                              <m:sty m:val="p"/>
                            </m:rPr>
                            <a:rPr lang="en-US" b="0" i="0" sz="900">
                              <a:latin typeface="Cambria Math" panose="02040503050406030204" pitchFamily="18" charset="0"/>
                            </a:rPr>
                            <m:t>−25.8255</m:t>
                          </m:r>
                        </m:e>
                        <m:e>
                          <m:r>
                            <m:rPr>
                              <m:sty m:val="p"/>
                            </m:rPr>
                            <a:rPr lang="en-US" b="0" i="0" sz="900">
                              <a:latin typeface="Cambria Math" panose="02040503050406030204" pitchFamily="18" charset="0"/>
                            </a:rPr>
                            <m:t>1276.7906</m:t>
                          </m:r>
                        </m:e>
                        <m:e>
                          <m:r>
                            <m:rPr>
                              <m:sty m:val="p"/>
                            </m:rPr>
                            <a:rPr lang="en-US" b="0" i="0" sz="900">
                              <a:latin typeface="Cambria Math" panose="02040503050406030204" pitchFamily="18" charset="0"/>
                            </a:rPr>
                            <m:t>−387.6908</m:t>
                          </m:r>
                        </m:e>
                        <m:e>
                          <m:r>
                            <m:rPr>
                              <m:sty m:val="p"/>
                            </m:rPr>
                            <a:rPr lang="en-US" b="0" i="0" sz="900">
                              <a:latin typeface="Cambria Math" panose="02040503050406030204" pitchFamily="18" charset="0"/>
                            </a:rPr>
                            <m:t>−199.5871</m:t>
                          </m:r>
                        </m:e>
                      </m:mr>
                      <m:mr>
                        <m:e>
                          <m:r>
                            <m:rPr>
                              <m:sty m:val="p"/>
                            </m:rPr>
                            <a:rPr lang="en-US" b="0" i="0" sz="900">
                              <a:latin typeface="Cambria Math" panose="02040503050406030204" pitchFamily="18" charset="0"/>
                            </a:rPr>
                            <m:t>−194.5579</m:t>
                          </m:r>
                        </m:e>
                        <m:e>
                          <m:r>
                            <m:rPr>
                              <m:sty m:val="p"/>
                            </m:rPr>
                            <a:rPr lang="en-US" b="0" i="0" sz="900">
                              <a:latin typeface="Cambria Math" panose="02040503050406030204" pitchFamily="18" charset="0"/>
                            </a:rPr>
                            <m:t>−382.2598</m:t>
                          </m:r>
                        </m:e>
                        <m:e>
                          <m:r>
                            <m:rPr>
                              <m:sty m:val="p"/>
                            </m:rPr>
                            <a:rPr lang="en-US" b="0" i="0" sz="900">
                              <a:latin typeface="Cambria Math" panose="02040503050406030204" pitchFamily="18" charset="0"/>
                            </a:rPr>
                            <m:t>−190.9707</m:t>
                          </m:r>
                        </m:e>
                        <m:e>
                          <m:r>
                            <m:rPr>
                              <m:sty m:val="p"/>
                            </m:rPr>
                            <a:rPr lang="en-US" b="0" i="0" sz="900">
                              <a:latin typeface="Cambria Math" panose="02040503050406030204" pitchFamily="18" charset="0"/>
                            </a:rPr>
                            <m:t>−380.6571</m:t>
                          </m:r>
                        </m:e>
                        <m:e>
                          <m:r>
                            <m:rPr>
                              <m:sty m:val="p"/>
                            </m:rPr>
                            <a:rPr lang="en-US" b="0" i="0" sz="900">
                              <a:latin typeface="Cambria Math" panose="02040503050406030204" pitchFamily="18" charset="0"/>
                            </a:rPr>
                            <m:t>1259.9296</m:t>
                          </m:r>
                        </m:e>
                        <m:e>
                          <m:r>
                            <m:rPr>
                              <m:sty m:val="p"/>
                            </m:rPr>
                            <a:rPr lang="en-US" b="0" i="0" sz="900">
                              <a:latin typeface="Cambria Math" panose="02040503050406030204" pitchFamily="18" charset="0"/>
                            </a:rPr>
                            <m:t>−25.0977</m:t>
                          </m:r>
                        </m:e>
                      </m:mr>
                      <m:mr>
                        <m:e>
                          <m:r>
                            <m:rPr>
                              <m:sty m:val="p"/>
                            </m:rPr>
                            <a:rPr lang="en-US" b="0" i="0" sz="900">
                              <a:latin typeface="Cambria Math" panose="02040503050406030204" pitchFamily="18" charset="0"/>
                            </a:rPr>
                            <m:t>−215.1316</m:t>
                          </m:r>
                        </m:e>
                        <m:e>
                          <m:r>
                            <m:rPr>
                              <m:sty m:val="p"/>
                            </m:rPr>
                            <a:rPr lang="en-US" b="0" i="0" sz="900">
                              <a:latin typeface="Cambria Math" panose="02040503050406030204" pitchFamily="18" charset="0"/>
                            </a:rPr>
                            <m:t>−206.2346</m:t>
                          </m:r>
                        </m:e>
                        <m:e>
                          <m:r>
                            <m:rPr>
                              <m:sty m:val="p"/>
                            </m:rPr>
                            <a:rPr lang="en-US" b="0" i="0" sz="900">
                              <a:latin typeface="Cambria Math" panose="02040503050406030204" pitchFamily="18" charset="0"/>
                            </a:rPr>
                            <m:t>−219.0374</m:t>
                          </m:r>
                        </m:e>
                        <m:e>
                          <m:r>
                            <m:rPr>
                              <m:sty m:val="p"/>
                            </m:rPr>
                            <a:rPr lang="en-US" b="0" i="0" sz="900">
                              <a:latin typeface="Cambria Math" panose="02040503050406030204" pitchFamily="18" charset="0"/>
                            </a:rPr>
                            <m:t>−212.7324</m:t>
                          </m:r>
                        </m:e>
                        <m:e>
                          <m:r>
                            <m:rPr>
                              <m:sty m:val="p"/>
                            </m:rPr>
                            <a:rPr lang="en-US" b="0" i="0" sz="900">
                              <a:latin typeface="Cambria Math" panose="02040503050406030204" pitchFamily="18" charset="0"/>
                            </a:rPr>
                            <m:t>−23.0967</m:t>
                          </m:r>
                        </m:e>
                        <m:e>
                          <m:r>
                            <m:rPr>
                              <m:sty m:val="p"/>
                            </m:rPr>
                            <a:rPr lang="en-US" b="0" i="0" sz="900">
                              <a:latin typeface="Cambria Math" panose="02040503050406030204" pitchFamily="18" charset="0"/>
                            </a:rPr>
                            <m:t>1164.8521</m:t>
                          </m:r>
                        </m:e>
                      </m:mr>
                    </m:m>
                  </m:e>
                </m:d>
              </m:oMath>
            </a14:m>
            <a:endParaRPr lang="en-US" sz="900"/>
          </a:p>
        </p:txBody>
      </p:sp>
    </p:spTree>
    <p:extLst>
      <p:ext uri="{BB962C8B-B14F-4D97-AF65-F5344CB8AC3E}">
        <p14:creationId xmlns:p14="http://schemas.microsoft.com/office/powerpoint/2010/main" val="14870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3" name="文字方塊 2">
            <a:extLst>
              <a:ext uri="{FF2B5EF4-FFF2-40B4-BE49-F238E27FC236}">
                <a16:creationId xmlns:a16="http://schemas.microsoft.com/office/drawing/2014/main" id="{8C7984F6-0281-4747-8F4D-3E7C18B8A63B}"/>
              </a:ext>
            </a:extLst>
          </p:cNvPr>
          <p:cNvSpPr txBox="1"/>
          <p:nvPr/>
        </p:nvSpPr>
        <p:spPr>
          <a:xfrm>
            <a:off x="135467" y="2683934"/>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DesignA</a:t>
            </a:r>
            <a:endParaRPr lang="zh-TW" altLang="en-US" dirty="0"/>
          </a:p>
        </p:txBody>
      </p:sp>
      <p:sp>
        <p:nvSpPr>
          <p:cNvPr id="5" name="文字方塊 4">
            <a:extLst>
              <a:ext uri="{FF2B5EF4-FFF2-40B4-BE49-F238E27FC236}">
                <a16:creationId xmlns:a16="http://schemas.microsoft.com/office/drawing/2014/main" id="{ABD4ECE5-F0B8-49EE-9F5A-DF43669489B7}"/>
              </a:ext>
            </a:extLst>
          </p:cNvPr>
          <p:cNvSpPr txBox="1"/>
          <p:nvPr/>
        </p:nvSpPr>
        <p:spPr>
          <a:xfrm>
            <a:off x="6350001" y="2683934"/>
            <a:ext cx="2480733"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err="1"/>
              <a:t>DesignB</a:t>
            </a:r>
            <a:endParaRPr lang="zh-TW" altLang="en-US" dirty="0"/>
          </a:p>
        </p:txBody>
      </p:sp>
      <p:grpSp>
        <p:nvGrpSpPr>
          <p:cNvPr id="6" name="群組 5">
            <a:extLst>
              <a:ext uri="{FF2B5EF4-FFF2-40B4-BE49-F238E27FC236}">
                <a16:creationId xmlns:a16="http://schemas.microsoft.com/office/drawing/2014/main" id="{09BCDCB1-9092-4EEE-B020-6AB25F6593D9}"/>
              </a:ext>
            </a:extLst>
          </p:cNvPr>
          <p:cNvGrpSpPr/>
          <p:nvPr/>
        </p:nvGrpSpPr>
        <p:grpSpPr>
          <a:xfrm>
            <a:off x="6546251" y="3375024"/>
            <a:ext cx="3410596" cy="2477943"/>
            <a:chOff x="373689" y="2613691"/>
            <a:chExt cx="3410596" cy="2477943"/>
          </a:xfrm>
        </p:grpSpPr>
        <p:pic>
          <p:nvPicPr>
            <p:cNvPr id="7" name="圖片 6">
              <a:extLst>
                <a:ext uri="{FF2B5EF4-FFF2-40B4-BE49-F238E27FC236}">
                  <a16:creationId xmlns:a16="http://schemas.microsoft.com/office/drawing/2014/main" id="{EAA45487-594C-4CAB-8051-280C7BD62FE4}"/>
                </a:ext>
              </a:extLst>
            </p:cNvPr>
            <p:cNvPicPr>
              <a:picLocks noChangeAspect="1"/>
            </p:cNvPicPr>
            <p:nvPr/>
          </p:nvPicPr>
          <p:blipFill rotWithShape="1">
            <a:blip r:embed="rId2">
              <a:extLst>
                <a:ext uri="{28A0092B-C50C-407E-A947-70E740481C1C}">
                  <a14:useLocalDpi xmlns:a14="http://schemas.microsoft.com/office/drawing/2010/main" val="0"/>
                </a:ext>
              </a:extLst>
            </a:blip>
            <a:srcRect l="21153" t="21077" r="17406" b="12392"/>
            <a:stretch/>
          </p:blipFill>
          <p:spPr>
            <a:xfrm>
              <a:off x="373689" y="2613691"/>
              <a:ext cx="3410596" cy="2477943"/>
            </a:xfrm>
            <a:prstGeom prst="rect">
              <a:avLst/>
            </a:prstGeom>
          </p:spPr>
        </p:pic>
        <p:grpSp>
          <p:nvGrpSpPr>
            <p:cNvPr id="9" name="群組 8">
              <a:extLst>
                <a:ext uri="{FF2B5EF4-FFF2-40B4-BE49-F238E27FC236}">
                  <a16:creationId xmlns:a16="http://schemas.microsoft.com/office/drawing/2014/main" id="{58CE3C77-D104-404F-82D4-0C83DAEED912}"/>
                </a:ext>
              </a:extLst>
            </p:cNvPr>
            <p:cNvGrpSpPr/>
            <p:nvPr/>
          </p:nvGrpSpPr>
          <p:grpSpPr>
            <a:xfrm>
              <a:off x="1463949" y="3191499"/>
              <a:ext cx="1332180" cy="1308983"/>
              <a:chOff x="2674094" y="2831212"/>
              <a:chExt cx="1332180" cy="1308983"/>
            </a:xfrm>
          </p:grpSpPr>
          <p:sp>
            <p:nvSpPr>
              <p:cNvPr id="13" name="文字方塊 12">
                <a:extLst>
                  <a:ext uri="{FF2B5EF4-FFF2-40B4-BE49-F238E27FC236}">
                    <a16:creationId xmlns:a16="http://schemas.microsoft.com/office/drawing/2014/main" id="{C0E75292-499D-410E-BCF9-A2D24F3B152B}"/>
                  </a:ext>
                </a:extLst>
              </p:cNvPr>
              <p:cNvSpPr txBox="1"/>
              <p:nvPr/>
            </p:nvSpPr>
            <p:spPr>
              <a:xfrm>
                <a:off x="3465828" y="3210976"/>
                <a:ext cx="434155"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P1</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4" name="文字方塊 13">
                <a:extLst>
                  <a:ext uri="{FF2B5EF4-FFF2-40B4-BE49-F238E27FC236}">
                    <a16:creationId xmlns:a16="http://schemas.microsoft.com/office/drawing/2014/main" id="{F88C5623-FFDF-438A-B840-17AF3FA5AA30}"/>
                  </a:ext>
                </a:extLst>
              </p:cNvPr>
              <p:cNvSpPr txBox="1"/>
              <p:nvPr/>
            </p:nvSpPr>
            <p:spPr>
              <a:xfrm>
                <a:off x="2764145" y="3474733"/>
                <a:ext cx="432013"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P2</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5" name="文字方塊 14">
                <a:extLst>
                  <a:ext uri="{FF2B5EF4-FFF2-40B4-BE49-F238E27FC236}">
                    <a16:creationId xmlns:a16="http://schemas.microsoft.com/office/drawing/2014/main" id="{EF756CA1-B35F-46FC-8E2D-8A602E20A801}"/>
                  </a:ext>
                </a:extLst>
              </p:cNvPr>
              <p:cNvSpPr txBox="1"/>
              <p:nvPr/>
            </p:nvSpPr>
            <p:spPr>
              <a:xfrm>
                <a:off x="2674094" y="2858567"/>
                <a:ext cx="531208"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P3</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6" name="文字方塊 15">
                <a:extLst>
                  <a:ext uri="{FF2B5EF4-FFF2-40B4-BE49-F238E27FC236}">
                    <a16:creationId xmlns:a16="http://schemas.microsoft.com/office/drawing/2014/main" id="{7ADAF09B-1C24-49E7-A12E-4FA623B349D7}"/>
                  </a:ext>
                </a:extLst>
              </p:cNvPr>
              <p:cNvSpPr txBox="1"/>
              <p:nvPr/>
            </p:nvSpPr>
            <p:spPr>
              <a:xfrm>
                <a:off x="3027532" y="3801641"/>
                <a:ext cx="584200"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P6</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C301C1-DDCC-438C-996B-2D11692E1DE3}"/>
                  </a:ext>
                </a:extLst>
              </p:cNvPr>
              <p:cNvSpPr txBox="1"/>
              <p:nvPr/>
            </p:nvSpPr>
            <p:spPr>
              <a:xfrm>
                <a:off x="3547622" y="3678843"/>
                <a:ext cx="45865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P4</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sp>
            <p:nvSpPr>
              <p:cNvPr id="18" name="文字方塊 17">
                <a:extLst>
                  <a:ext uri="{FF2B5EF4-FFF2-40B4-BE49-F238E27FC236}">
                    <a16:creationId xmlns:a16="http://schemas.microsoft.com/office/drawing/2014/main" id="{22A0295E-5236-4D9B-9E34-4666437E4B01}"/>
                  </a:ext>
                </a:extLst>
              </p:cNvPr>
              <p:cNvSpPr txBox="1"/>
              <p:nvPr/>
            </p:nvSpPr>
            <p:spPr>
              <a:xfrm>
                <a:off x="3235774" y="2831212"/>
                <a:ext cx="430822" cy="338554"/>
              </a:xfrm>
              <a:prstGeom prst="rect">
                <a:avLst/>
              </a:prstGeom>
              <a:noFill/>
            </p:spPr>
            <p:txBody>
              <a:bodyPr wrap="square" rtlCol="0">
                <a:spAutoFit/>
              </a:bodyPr>
              <a:lstStyle/>
              <a:p>
                <a:r>
                  <a:rPr lang="en-US" altLang="zh-TW" sz="1600" b="1" dirty="0">
                    <a:solidFill>
                      <a:srgbClr val="FF0000"/>
                    </a:solidFill>
                    <a:latin typeface="Times New Roman" panose="02020603050405020304" pitchFamily="18" charset="0"/>
                    <a:cs typeface="Times New Roman" panose="02020603050405020304" pitchFamily="18" charset="0"/>
                  </a:rPr>
                  <a:t>P5</a:t>
                </a:r>
                <a:endParaRPr lang="zh-TW" altLang="en-US" sz="1600" b="1" dirty="0">
                  <a:solidFill>
                    <a:srgbClr val="FF0000"/>
                  </a:solidFill>
                  <a:latin typeface="Times New Roman" panose="02020603050405020304" pitchFamily="18" charset="0"/>
                  <a:cs typeface="Times New Roman" panose="02020603050405020304" pitchFamily="18" charset="0"/>
                </a:endParaRPr>
              </a:p>
            </p:txBody>
          </p:sp>
        </p:grpSp>
      </p:grpSp>
      <p:grpSp>
        <p:nvGrpSpPr>
          <p:cNvPr id="4" name="群組 3">
            <a:extLst>
              <a:ext uri="{FF2B5EF4-FFF2-40B4-BE49-F238E27FC236}">
                <a16:creationId xmlns:a16="http://schemas.microsoft.com/office/drawing/2014/main" id="{1FDC83DC-92D9-4D5E-BBD7-36A1268AD8C9}"/>
              </a:ext>
            </a:extLst>
          </p:cNvPr>
          <p:cNvGrpSpPr/>
          <p:nvPr/>
        </p:nvGrpSpPr>
        <p:grpSpPr>
          <a:xfrm>
            <a:off x="592808" y="3375024"/>
            <a:ext cx="3509191" cy="2598287"/>
            <a:chOff x="667123" y="3381820"/>
            <a:chExt cx="3509191" cy="2598287"/>
          </a:xfrm>
        </p:grpSpPr>
        <p:pic>
          <p:nvPicPr>
            <p:cNvPr id="20" name="圖片 19">
              <a:extLst>
                <a:ext uri="{FF2B5EF4-FFF2-40B4-BE49-F238E27FC236}">
                  <a16:creationId xmlns:a16="http://schemas.microsoft.com/office/drawing/2014/main" id="{6A8FD489-3B78-4DCA-83AE-A0C17F587CFB}"/>
                </a:ext>
              </a:extLst>
            </p:cNvPr>
            <p:cNvPicPr>
              <a:picLocks noChangeAspect="1"/>
            </p:cNvPicPr>
            <p:nvPr/>
          </p:nvPicPr>
          <p:blipFill rotWithShape="1">
            <a:blip r:embed="rId3">
              <a:extLst>
                <a:ext uri="{28A0092B-C50C-407E-A947-70E740481C1C}">
                  <a14:useLocalDpi xmlns:a14="http://schemas.microsoft.com/office/drawing/2010/main" val="0"/>
                </a:ext>
              </a:extLst>
            </a:blip>
            <a:srcRect l="26359" t="20047" r="19666" b="12831"/>
            <a:stretch/>
          </p:blipFill>
          <p:spPr>
            <a:xfrm>
              <a:off x="667123" y="3381820"/>
              <a:ext cx="3509191" cy="2598287"/>
            </a:xfrm>
            <a:prstGeom prst="rect">
              <a:avLst/>
            </a:prstGeom>
          </p:spPr>
        </p:pic>
        <p:sp>
          <p:nvSpPr>
            <p:cNvPr id="21" name="文字方塊 20">
              <a:extLst>
                <a:ext uri="{FF2B5EF4-FFF2-40B4-BE49-F238E27FC236}">
                  <a16:creationId xmlns:a16="http://schemas.microsoft.com/office/drawing/2014/main" id="{E8C74A71-E267-4230-A329-BCD1C12EDE61}"/>
                </a:ext>
              </a:extLst>
            </p:cNvPr>
            <p:cNvSpPr txBox="1"/>
            <p:nvPr/>
          </p:nvSpPr>
          <p:spPr>
            <a:xfrm>
              <a:off x="2616200" y="4355330"/>
              <a:ext cx="580620"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P1</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79ED01CA-201F-4FBD-B1BE-8C7F2E5A57F6}"/>
                </a:ext>
              </a:extLst>
            </p:cNvPr>
            <p:cNvSpPr txBox="1"/>
            <p:nvPr/>
          </p:nvSpPr>
          <p:spPr>
            <a:xfrm>
              <a:off x="1684737" y="4708736"/>
              <a:ext cx="500058"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P2</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3" name="文字方塊 22">
              <a:extLst>
                <a:ext uri="{FF2B5EF4-FFF2-40B4-BE49-F238E27FC236}">
                  <a16:creationId xmlns:a16="http://schemas.microsoft.com/office/drawing/2014/main" id="{9B1A8B7B-69AC-402B-82C6-FA98B1FBEC36}"/>
                </a:ext>
              </a:extLst>
            </p:cNvPr>
            <p:cNvSpPr txBox="1"/>
            <p:nvPr/>
          </p:nvSpPr>
          <p:spPr>
            <a:xfrm>
              <a:off x="1636706" y="4227323"/>
              <a:ext cx="565348"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P3</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4" name="文字方塊 23">
              <a:extLst>
                <a:ext uri="{FF2B5EF4-FFF2-40B4-BE49-F238E27FC236}">
                  <a16:creationId xmlns:a16="http://schemas.microsoft.com/office/drawing/2014/main" id="{46769671-FF10-4489-9DC5-83CD62854141}"/>
                </a:ext>
              </a:extLst>
            </p:cNvPr>
            <p:cNvSpPr txBox="1"/>
            <p:nvPr/>
          </p:nvSpPr>
          <p:spPr>
            <a:xfrm>
              <a:off x="2682421" y="4786312"/>
              <a:ext cx="706843"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P4</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5" name="文字方塊 24">
              <a:extLst>
                <a:ext uri="{FF2B5EF4-FFF2-40B4-BE49-F238E27FC236}">
                  <a16:creationId xmlns:a16="http://schemas.microsoft.com/office/drawing/2014/main" id="{09D03EFE-B287-4CCF-94E7-84A1CD90A171}"/>
                </a:ext>
              </a:extLst>
            </p:cNvPr>
            <p:cNvSpPr txBox="1"/>
            <p:nvPr/>
          </p:nvSpPr>
          <p:spPr>
            <a:xfrm>
              <a:off x="2107544" y="5104926"/>
              <a:ext cx="716087"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P6</a:t>
              </a:r>
              <a:endParaRPr lang="zh-TW" altLang="en-US" b="1" dirty="0">
                <a:solidFill>
                  <a:srgbClr val="FF0000"/>
                </a:solidFill>
                <a:latin typeface="Times New Roman" panose="02020603050405020304" pitchFamily="18" charset="0"/>
                <a:cs typeface="Times New Roman" panose="02020603050405020304" pitchFamily="18" charset="0"/>
              </a:endParaRPr>
            </a:p>
          </p:txBody>
        </p:sp>
        <p:sp>
          <p:nvSpPr>
            <p:cNvPr id="26" name="文字方塊 25">
              <a:extLst>
                <a:ext uri="{FF2B5EF4-FFF2-40B4-BE49-F238E27FC236}">
                  <a16:creationId xmlns:a16="http://schemas.microsoft.com/office/drawing/2014/main" id="{1E74A96C-F4DC-406B-9866-99487CFE1AF9}"/>
                </a:ext>
              </a:extLst>
            </p:cNvPr>
            <p:cNvSpPr txBox="1"/>
            <p:nvPr/>
          </p:nvSpPr>
          <p:spPr>
            <a:xfrm>
              <a:off x="2184795" y="3899400"/>
              <a:ext cx="709497" cy="369332"/>
            </a:xfrm>
            <a:prstGeom prst="rect">
              <a:avLst/>
            </a:prstGeom>
            <a:noFill/>
          </p:spPr>
          <p:txBody>
            <a:bodyPr wrap="square" rtlCol="0">
              <a:spAutoFit/>
            </a:bodyPr>
            <a:lstStyle/>
            <a:p>
              <a:r>
                <a:rPr lang="en-US" altLang="zh-TW" b="1" dirty="0">
                  <a:solidFill>
                    <a:srgbClr val="FF0000"/>
                  </a:solidFill>
                  <a:latin typeface="Times New Roman" panose="02020603050405020304" pitchFamily="18" charset="0"/>
                  <a:cs typeface="Times New Roman" panose="02020603050405020304" pitchFamily="18" charset="0"/>
                </a:rPr>
                <a:t>P5</a:t>
              </a:r>
              <a:endParaRPr lang="zh-TW" altLang="en-US" b="1" dirty="0">
                <a:solidFill>
                  <a:srgbClr val="FF0000"/>
                </a:solidFill>
                <a:latin typeface="Times New Roman" panose="02020603050405020304" pitchFamily="18" charset="0"/>
                <a:cs typeface="Times New Roman" panose="02020603050405020304" pitchFamily="18" charset="0"/>
              </a:endParaRPr>
            </a:p>
          </p:txBody>
        </p:sp>
      </p:grpSp>
      <p:sp>
        <p:nvSpPr>
          <p:cNvPr id="27" name="auto caption"/>
          <p:cNvSpPr txBox="1"/>
          <p:nvPr/>
        </p:nvSpPr>
        <p:spPr>
          <a:xfrm>
            <a:off x="282787" y="583936"/>
            <a:ext cx="11155680" cy="1325880"/>
          </a:xfrm>
          <a:prstGeom prst="rect">
            <a:avLst/>
          </a:prstGeom>
          <a:noFill/>
        </p:spPr>
        <p:txBody>
          <a:bodyPr wrap="square" rtlCol="0">
            <a:normAutofit lnSpcReduction="10000"/>
          </a:bodyPr>
          <a:lstStyle/>
          <a:p>
            <a:pPr marL="285750" indent="-285750"/>
            <a:r>
              <a:rPr lang="en-US" altLang="zh-TW" dirty="0"/>
              <a:t>Setup: The assessment that follows compares two six-pole actuator designs, Design 1 on a circular yoke and Design 2 on a planar square frame. Both are described by the same lumped-parameter model and use the pole numbering P1-P6 shown here.</a:t>
            </a:r>
          </a:p>
          <a:p>
            <a:pPr marL="285750" indent="-285750"/>
            <a:r>
              <a:rPr lang="en-US" altLang="zh-TW" dirty="0"/>
              <a:t>Sharing the model form and the pole numbering, the two differ only in geometry, so their calibrated parameters can be compared directly in the following slides.</a:t>
            </a:r>
          </a:p>
        </p:txBody>
      </p:sp>
    </p:spTree>
    <p:extLst>
      <p:ext uri="{BB962C8B-B14F-4D97-AF65-F5344CB8AC3E}">
        <p14:creationId xmlns:p14="http://schemas.microsoft.com/office/powerpoint/2010/main" val="235154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grpSp>
        <p:nvGrpSpPr>
          <p:cNvPr id="24" name="群組 23">
            <a:extLst>
              <a:ext uri="{FF2B5EF4-FFF2-40B4-BE49-F238E27FC236}">
                <a16:creationId xmlns:a16="http://schemas.microsoft.com/office/drawing/2014/main" id="{ED620A4B-EA7F-4656-B38B-48E1958C7FF6}"/>
              </a:ext>
            </a:extLst>
          </p:cNvPr>
          <p:cNvGrpSpPr/>
          <p:nvPr/>
        </p:nvGrpSpPr>
        <p:grpSpPr>
          <a:xfrm>
            <a:off x="423333" y="2716200"/>
            <a:ext cx="4590502" cy="3750733"/>
            <a:chOff x="423333" y="2716200"/>
            <a:chExt cx="4590502" cy="3750733"/>
          </a:xfrm>
        </p:grpSpPr>
        <p:grpSp>
          <p:nvGrpSpPr>
            <p:cNvPr id="19" name="群組 18">
              <a:extLst>
                <a:ext uri="{FF2B5EF4-FFF2-40B4-BE49-F238E27FC236}">
                  <a16:creationId xmlns:a16="http://schemas.microsoft.com/office/drawing/2014/main" id="{C0238434-6F2B-484E-B4BB-B9C17B9783AB}"/>
                </a:ext>
              </a:extLst>
            </p:cNvPr>
            <p:cNvGrpSpPr/>
            <p:nvPr/>
          </p:nvGrpSpPr>
          <p:grpSpPr>
            <a:xfrm>
              <a:off x="423333" y="2716200"/>
              <a:ext cx="4590502" cy="3750733"/>
              <a:chOff x="423333" y="2716200"/>
              <a:chExt cx="4590502" cy="3750733"/>
            </a:xfrm>
          </p:grpSpPr>
          <p:grpSp>
            <p:nvGrpSpPr>
              <p:cNvPr id="11" name="群組 10">
                <a:extLst>
                  <a:ext uri="{FF2B5EF4-FFF2-40B4-BE49-F238E27FC236}">
                    <a16:creationId xmlns:a16="http://schemas.microsoft.com/office/drawing/2014/main" id="{ECE0DAE8-EE5B-4FAC-B226-43DA67A250A8}"/>
                  </a:ext>
                </a:extLst>
              </p:cNvPr>
              <p:cNvGrpSpPr/>
              <p:nvPr/>
            </p:nvGrpSpPr>
            <p:grpSpPr>
              <a:xfrm>
                <a:off x="569233" y="2716200"/>
                <a:ext cx="4444602" cy="3750733"/>
                <a:chOff x="561803" y="2743200"/>
                <a:chExt cx="4444602" cy="3750733"/>
              </a:xfrm>
            </p:grpSpPr>
            <p:pic>
              <p:nvPicPr>
                <p:cNvPr id="8" name="圖片 7">
                  <a:extLst>
                    <a:ext uri="{FF2B5EF4-FFF2-40B4-BE49-F238E27FC236}">
                      <a16:creationId xmlns:a16="http://schemas.microsoft.com/office/drawing/2014/main" id="{DA2AB9C2-B2D4-4B28-AFE2-4EC3AC1859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803" y="2743200"/>
                  <a:ext cx="4444602" cy="3657601"/>
                </a:xfrm>
                <a:prstGeom prst="rect">
                  <a:avLst/>
                </a:prstGeom>
              </p:spPr>
            </p:pic>
            <p:sp>
              <p:nvSpPr>
                <p:cNvPr id="9" name="矩形 8">
                  <a:extLst>
                    <a:ext uri="{FF2B5EF4-FFF2-40B4-BE49-F238E27FC236}">
                      <a16:creationId xmlns:a16="http://schemas.microsoft.com/office/drawing/2014/main" id="{D67302D7-2562-46B2-BA58-2E8FA84C165B}"/>
                    </a:ext>
                  </a:extLst>
                </p:cNvPr>
                <p:cNvSpPr/>
                <p:nvPr/>
              </p:nvSpPr>
              <p:spPr>
                <a:xfrm>
                  <a:off x="2252133" y="6155267"/>
                  <a:ext cx="1490133" cy="33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矩形 15">
                <a:extLst>
                  <a:ext uri="{FF2B5EF4-FFF2-40B4-BE49-F238E27FC236}">
                    <a16:creationId xmlns:a16="http://schemas.microsoft.com/office/drawing/2014/main" id="{8312A8EC-FD99-4B7C-9996-DCF28A33C1CD}"/>
                  </a:ext>
                </a:extLst>
              </p:cNvPr>
              <p:cNvSpPr/>
              <p:nvPr/>
            </p:nvSpPr>
            <p:spPr>
              <a:xfrm>
                <a:off x="423333" y="3716867"/>
                <a:ext cx="338667" cy="1515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712279B1-38E9-47F6-8CAD-41C5CF980CE1}"/>
                    </a:ext>
                  </a:extLst>
                </p:cNvPr>
                <p:cNvSpPr txBox="1"/>
                <p:nvPr/>
              </p:nvSpPr>
              <p:spPr>
                <a:xfrm>
                  <a:off x="1825241" y="6051035"/>
                  <a:ext cx="158538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r>
                              <a:rPr lang="en-US" altLang="zh-TW" b="0" i="1" smtClean="0">
                                <a:latin typeface="Cambria Math" panose="02040503050406030204" pitchFamily="18" charset="0"/>
                                <a:ea typeface="Cambria Math" panose="02040503050406030204" pitchFamily="18" charset="0"/>
                              </a:rPr>
                              <m:t>)</m:t>
                            </m:r>
                          </m:den>
                        </m:f>
                      </m:oMath>
                    </m:oMathPara>
                  </a14:m>
                  <a:endParaRPr lang="zh-TW" altLang="en-US" dirty="0"/>
                </a:p>
              </p:txBody>
            </p:sp>
          </mc:Choice>
          <mc:Fallback xmlns="">
            <p:sp>
              <p:nvSpPr>
                <p:cNvPr id="14" name="文字方塊 13">
                  <a:extLst>
                    <a:ext uri="{FF2B5EF4-FFF2-40B4-BE49-F238E27FC236}">
                      <a16:creationId xmlns:a16="http://schemas.microsoft.com/office/drawing/2014/main" id="{712279B1-38E9-47F6-8CAD-41C5CF980CE1}"/>
                    </a:ext>
                  </a:extLst>
                </p:cNvPr>
                <p:cNvSpPr txBox="1">
                  <a:spLocks noRot="1" noChangeAspect="1" noMove="1" noResize="1" noEditPoints="1" noAdjustHandles="1" noChangeArrowheads="1" noChangeShapeType="1" noTextEdit="1"/>
                </p:cNvSpPr>
                <p:nvPr/>
              </p:nvSpPr>
              <p:spPr>
                <a:xfrm>
                  <a:off x="1825241" y="6051035"/>
                  <a:ext cx="1585383" cy="369332"/>
                </a:xfrm>
                <a:prstGeom prst="rect">
                  <a:avLst/>
                </a:prstGeom>
                <a:blipFill>
                  <a:blip r:embed="rId3"/>
                  <a:stretch>
                    <a:fillRect t="-118333" r="-85000"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1D1936E5-9952-4C43-990E-EC381E771C42}"/>
                    </a:ext>
                  </a:extLst>
                </p:cNvPr>
                <p:cNvSpPr txBox="1"/>
                <p:nvPr/>
              </p:nvSpPr>
              <p:spPr>
                <a:xfrm rot="16200000">
                  <a:off x="-150750" y="4160794"/>
                  <a:ext cx="15485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en-US" altLang="zh-TW" b="0" i="1" smtClean="0">
                            <a:latin typeface="Cambria Math" panose="02040503050406030204" pitchFamily="18" charset="0"/>
                          </a:rPr>
                          <m:t>(%)</m:t>
                        </m:r>
                      </m:oMath>
                    </m:oMathPara>
                  </a14:m>
                  <a:endParaRPr lang="zh-TW" altLang="en-US" sz="2400" dirty="0"/>
                </a:p>
              </p:txBody>
            </p:sp>
          </mc:Choice>
          <mc:Fallback xmlns="">
            <p:sp>
              <p:nvSpPr>
                <p:cNvPr id="21" name="文字方塊 20">
                  <a:extLst>
                    <a:ext uri="{FF2B5EF4-FFF2-40B4-BE49-F238E27FC236}">
                      <a16:creationId xmlns:a16="http://schemas.microsoft.com/office/drawing/2014/main" id="{1D1936E5-9952-4C43-990E-EC381E771C42}"/>
                    </a:ext>
                  </a:extLst>
                </p:cNvPr>
                <p:cNvSpPr txBox="1">
                  <a:spLocks noRot="1" noChangeAspect="1" noMove="1" noResize="1" noEditPoints="1" noAdjustHandles="1" noChangeArrowheads="1" noChangeShapeType="1" noTextEdit="1"/>
                </p:cNvSpPr>
                <p:nvPr/>
              </p:nvSpPr>
              <p:spPr>
                <a:xfrm rot="16200000">
                  <a:off x="-150750" y="4160794"/>
                  <a:ext cx="1548501" cy="276999"/>
                </a:xfrm>
                <a:prstGeom prst="rect">
                  <a:avLst/>
                </a:prstGeom>
                <a:blipFill>
                  <a:blip r:embed="rId4"/>
                  <a:stretch>
                    <a:fillRect l="-4444" t="-5118" r="-35556" b="-5118"/>
                  </a:stretch>
                </a:blipFill>
              </p:spPr>
              <p:txBody>
                <a:bodyPr/>
                <a:lstStyle/>
                <a:p>
                  <a:r>
                    <a:rPr lang="zh-TW" altLang="en-US">
                      <a:noFill/>
                    </a:rPr>
                    <a:t> </a:t>
                  </a:r>
                </a:p>
              </p:txBody>
            </p:sp>
          </mc:Fallback>
        </mc:AlternateContent>
      </p:grpSp>
      <p:grpSp>
        <p:nvGrpSpPr>
          <p:cNvPr id="23" name="群組 22">
            <a:extLst>
              <a:ext uri="{FF2B5EF4-FFF2-40B4-BE49-F238E27FC236}">
                <a16:creationId xmlns:a16="http://schemas.microsoft.com/office/drawing/2014/main" id="{5ED3B990-0717-4AC9-89C0-C830001CFBDA}"/>
              </a:ext>
            </a:extLst>
          </p:cNvPr>
          <p:cNvGrpSpPr/>
          <p:nvPr/>
        </p:nvGrpSpPr>
        <p:grpSpPr>
          <a:xfrm>
            <a:off x="6303813" y="2667000"/>
            <a:ext cx="4602351" cy="3784600"/>
            <a:chOff x="6303813" y="2667000"/>
            <a:chExt cx="4602351" cy="3784600"/>
          </a:xfrm>
        </p:grpSpPr>
        <p:grpSp>
          <p:nvGrpSpPr>
            <p:cNvPr id="20" name="群組 19">
              <a:extLst>
                <a:ext uri="{FF2B5EF4-FFF2-40B4-BE49-F238E27FC236}">
                  <a16:creationId xmlns:a16="http://schemas.microsoft.com/office/drawing/2014/main" id="{6833D5CB-E5D2-4A5A-A037-207A707D30EC}"/>
                </a:ext>
              </a:extLst>
            </p:cNvPr>
            <p:cNvGrpSpPr/>
            <p:nvPr/>
          </p:nvGrpSpPr>
          <p:grpSpPr>
            <a:xfrm>
              <a:off x="6399097" y="2667000"/>
              <a:ext cx="4507067" cy="3784600"/>
              <a:chOff x="6399097" y="2667000"/>
              <a:chExt cx="4507067" cy="3784600"/>
            </a:xfrm>
          </p:grpSpPr>
          <p:grpSp>
            <p:nvGrpSpPr>
              <p:cNvPr id="12" name="群組 11">
                <a:extLst>
                  <a:ext uri="{FF2B5EF4-FFF2-40B4-BE49-F238E27FC236}">
                    <a16:creationId xmlns:a16="http://schemas.microsoft.com/office/drawing/2014/main" id="{ED250944-BEA1-485C-AAC1-946B7A1F84C8}"/>
                  </a:ext>
                </a:extLst>
              </p:cNvPr>
              <p:cNvGrpSpPr/>
              <p:nvPr/>
            </p:nvGrpSpPr>
            <p:grpSpPr>
              <a:xfrm>
                <a:off x="6485527" y="2667000"/>
                <a:ext cx="4420637" cy="3784600"/>
                <a:chOff x="6485527" y="2667000"/>
                <a:chExt cx="4420637" cy="3784600"/>
              </a:xfrm>
            </p:grpSpPr>
            <p:pic>
              <p:nvPicPr>
                <p:cNvPr id="6" name="圖片 5">
                  <a:extLst>
                    <a:ext uri="{FF2B5EF4-FFF2-40B4-BE49-F238E27FC236}">
                      <a16:creationId xmlns:a16="http://schemas.microsoft.com/office/drawing/2014/main" id="{EAC97A2A-6178-4E3C-9D6F-D6F6A6EE71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5527" y="2667000"/>
                  <a:ext cx="4420637" cy="3657600"/>
                </a:xfrm>
                <a:prstGeom prst="rect">
                  <a:avLst/>
                </a:prstGeom>
              </p:spPr>
            </p:pic>
            <p:sp>
              <p:nvSpPr>
                <p:cNvPr id="10" name="矩形 9">
                  <a:extLst>
                    <a:ext uri="{FF2B5EF4-FFF2-40B4-BE49-F238E27FC236}">
                      <a16:creationId xmlns:a16="http://schemas.microsoft.com/office/drawing/2014/main" id="{C493595B-4674-40B7-B46A-37BED0A0D223}"/>
                    </a:ext>
                  </a:extLst>
                </p:cNvPr>
                <p:cNvSpPr/>
                <p:nvPr/>
              </p:nvSpPr>
              <p:spPr>
                <a:xfrm>
                  <a:off x="8221133" y="6112934"/>
                  <a:ext cx="1490133" cy="3386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7" name="矩形 16">
                <a:extLst>
                  <a:ext uri="{FF2B5EF4-FFF2-40B4-BE49-F238E27FC236}">
                    <a16:creationId xmlns:a16="http://schemas.microsoft.com/office/drawing/2014/main" id="{67D4F157-1D53-4A4E-938E-3104CA865ADC}"/>
                  </a:ext>
                </a:extLst>
              </p:cNvPr>
              <p:cNvSpPr/>
              <p:nvPr/>
            </p:nvSpPr>
            <p:spPr>
              <a:xfrm>
                <a:off x="6399097" y="3632200"/>
                <a:ext cx="338667" cy="1515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42A6386D-4BB9-4910-B6B8-966CB639B85A}"/>
                    </a:ext>
                  </a:extLst>
                </p:cNvPr>
                <p:cNvSpPr txBox="1"/>
                <p:nvPr/>
              </p:nvSpPr>
              <p:spPr>
                <a:xfrm>
                  <a:off x="8314120" y="6057902"/>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18" name="文字方塊 17">
                  <a:extLst>
                    <a:ext uri="{FF2B5EF4-FFF2-40B4-BE49-F238E27FC236}">
                      <a16:creationId xmlns:a16="http://schemas.microsoft.com/office/drawing/2014/main" id="{42A6386D-4BB9-4910-B6B8-966CB639B85A}"/>
                    </a:ext>
                  </a:extLst>
                </p:cNvPr>
                <p:cNvSpPr txBox="1">
                  <a:spLocks noRot="1" noChangeAspect="1" noMove="1" noResize="1" noEditPoints="1" noAdjustHandles="1" noChangeArrowheads="1" noChangeShapeType="1" noTextEdit="1"/>
                </p:cNvSpPr>
                <p:nvPr/>
              </p:nvSpPr>
              <p:spPr>
                <a:xfrm>
                  <a:off x="8314120" y="6057902"/>
                  <a:ext cx="1171152" cy="369332"/>
                </a:xfrm>
                <a:prstGeom prst="rect">
                  <a:avLst/>
                </a:prstGeom>
                <a:blipFill>
                  <a:blip r:embed="rId6"/>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2561EAF1-A0FC-4CFD-9A40-D7DCB31B9EDE}"/>
                    </a:ext>
                  </a:extLst>
                </p:cNvPr>
                <p:cNvSpPr txBox="1"/>
                <p:nvPr/>
              </p:nvSpPr>
              <p:spPr>
                <a:xfrm rot="16200000">
                  <a:off x="5668062" y="4377143"/>
                  <a:ext cx="15485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b="0" i="0" smtClean="0">
                            <a:latin typeface="Cambria Math" panose="02040503050406030204" pitchFamily="18" charset="0"/>
                          </a:rPr>
                          <m:t>Percentage</m:t>
                        </m:r>
                        <m:r>
                          <a:rPr lang="en-US" altLang="zh-TW" b="0" i="1" smtClean="0">
                            <a:latin typeface="Cambria Math" panose="02040503050406030204" pitchFamily="18" charset="0"/>
                          </a:rPr>
                          <m:t>(%)</m:t>
                        </m:r>
                      </m:oMath>
                    </m:oMathPara>
                  </a14:m>
                  <a:endParaRPr lang="zh-TW" altLang="en-US" sz="2400" dirty="0"/>
                </a:p>
              </p:txBody>
            </p:sp>
          </mc:Choice>
          <mc:Fallback xmlns="">
            <p:sp>
              <p:nvSpPr>
                <p:cNvPr id="22" name="文字方塊 21">
                  <a:extLst>
                    <a:ext uri="{FF2B5EF4-FFF2-40B4-BE49-F238E27FC236}">
                      <a16:creationId xmlns:a16="http://schemas.microsoft.com/office/drawing/2014/main" id="{2561EAF1-A0FC-4CFD-9A40-D7DCB31B9EDE}"/>
                    </a:ext>
                  </a:extLst>
                </p:cNvPr>
                <p:cNvSpPr txBox="1">
                  <a:spLocks noRot="1" noChangeAspect="1" noMove="1" noResize="1" noEditPoints="1" noAdjustHandles="1" noChangeArrowheads="1" noChangeShapeType="1" noTextEdit="1"/>
                </p:cNvSpPr>
                <p:nvPr/>
              </p:nvSpPr>
              <p:spPr>
                <a:xfrm rot="16200000">
                  <a:off x="5668062" y="4377143"/>
                  <a:ext cx="1548501" cy="276999"/>
                </a:xfrm>
                <a:prstGeom prst="rect">
                  <a:avLst/>
                </a:prstGeom>
                <a:blipFill>
                  <a:blip r:embed="rId7"/>
                  <a:stretch>
                    <a:fillRect l="-2174" t="-5118" r="-32609" b="-4724"/>
                  </a:stretch>
                </a:blipFill>
              </p:spPr>
              <p:txBody>
                <a:bodyPr/>
                <a:lstStyle/>
                <a:p>
                  <a:r>
                    <a:rPr lang="zh-TW" altLang="en-US">
                      <a:noFill/>
                    </a:rPr>
                    <a:t> </a:t>
                  </a:r>
                </a:p>
              </p:txBody>
            </p:sp>
          </mc:Fallback>
        </mc:AlternateContent>
      </p:grpSp>
      <p:sp>
        <p:nvSpPr>
          <p:cNvPr id="25" name="auto caption"/>
          <p:cNvSpPr txBox="1"/>
          <p:nvPr/>
        </p:nvSpPr>
        <p:spPr>
          <a:xfrm>
            <a:off x="333586" y="489373"/>
            <a:ext cx="11155680" cy="1965960"/>
          </a:xfrm>
          <a:prstGeom prst="rect">
            <a:avLst/>
          </a:prstGeom>
          <a:noFill/>
        </p:spPr>
        <p:txBody>
          <a:bodyPr wrap="square" rtlCol="0">
            <a:normAutofit/>
          </a:bodyPr>
          <a:lstStyle/>
          <a:p>
            <a:pPr marL="285750" indent="-285750"/>
            <a:r>
              <a:rPr lang="en-US" altLang="zh-TW" sz="1400" dirty="0"/>
              <a:t>Setup: Both designs are put on the same footing. Each is calibrated with the single-parameter model on all field grid points inside R = 150 um, and the two control metrics are then evaluated point by point on that same sampling set. The actuation gain plotted here is the cube root of the actuation volume, so it carries the same unit as a field-per-current gain and the two designs are directly comparable. Blue = Design 1, red = Design 2.</a:t>
            </a:r>
          </a:p>
          <a:p>
            <a:pPr marL="285750" indent="-285750"/>
            <a:endParaRPr lang="en-US" altLang="zh-TW" sz="1400" dirty="0"/>
          </a:p>
          <a:p>
            <a:pPr marL="285750" indent="-285750"/>
            <a:r>
              <a:rPr lang="en-US" altLang="zh-TW" sz="1400" dirty="0"/>
              <a:t>Design 1 wins decisively on both counts: 14.625 mT/A against 5.092 mT/A, a factor of 2.9, and an isotropy of 0.884 against 0.179, a factor of 4.9. The isotropy gap is the larger of the two because isotropy measures the balance among the three actuator axes, and Design 2 is intrinsically unbalanced: its two poles on the x_a axis are about 2.2 times stronger than the other four, so one direction dominates everywhere. Both distributions are narrow (CV below 8 percent), so these are properties of the designs, not scatter.</a:t>
            </a:r>
          </a:p>
        </p:txBody>
      </p:sp>
    </p:spTree>
    <p:extLst>
      <p:ext uri="{BB962C8B-B14F-4D97-AF65-F5344CB8AC3E}">
        <p14:creationId xmlns:p14="http://schemas.microsoft.com/office/powerpoint/2010/main" val="1916231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Design1</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grpSp>
        <p:nvGrpSpPr>
          <p:cNvPr id="38" name="群組 37">
            <a:extLst>
              <a:ext uri="{FF2B5EF4-FFF2-40B4-BE49-F238E27FC236}">
                <a16:creationId xmlns:a16="http://schemas.microsoft.com/office/drawing/2014/main" id="{F5DDD331-4BA6-4F48-86BD-39EA9FFE2586}"/>
              </a:ext>
            </a:extLst>
          </p:cNvPr>
          <p:cNvGrpSpPr/>
          <p:nvPr/>
        </p:nvGrpSpPr>
        <p:grpSpPr>
          <a:xfrm>
            <a:off x="4780410" y="306957"/>
            <a:ext cx="3711657" cy="3441114"/>
            <a:chOff x="4780410" y="306957"/>
            <a:chExt cx="3711657" cy="3441114"/>
          </a:xfrm>
        </p:grpSpPr>
        <p:grpSp>
          <p:nvGrpSpPr>
            <p:cNvPr id="31" name="群組 30">
              <a:extLst>
                <a:ext uri="{FF2B5EF4-FFF2-40B4-BE49-F238E27FC236}">
                  <a16:creationId xmlns:a16="http://schemas.microsoft.com/office/drawing/2014/main" id="{0389B318-C6BF-4AFC-BC38-30856F91E281}"/>
                </a:ext>
              </a:extLst>
            </p:cNvPr>
            <p:cNvGrpSpPr/>
            <p:nvPr/>
          </p:nvGrpSpPr>
          <p:grpSpPr>
            <a:xfrm>
              <a:off x="4780410" y="622832"/>
              <a:ext cx="3711657" cy="3125239"/>
              <a:chOff x="4780410" y="622832"/>
              <a:chExt cx="3711657" cy="3125239"/>
            </a:xfrm>
          </p:grpSpPr>
          <p:pic>
            <p:nvPicPr>
              <p:cNvPr id="23" name="圖片 22">
                <a:extLst>
                  <a:ext uri="{FF2B5EF4-FFF2-40B4-BE49-F238E27FC236}">
                    <a16:creationId xmlns:a16="http://schemas.microsoft.com/office/drawing/2014/main" id="{9FDC125B-C5A4-4025-A60F-A023784B0B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80410" y="622832"/>
                <a:ext cx="3585600" cy="3125239"/>
              </a:xfrm>
              <a:prstGeom prst="rect">
                <a:avLst/>
              </a:prstGeom>
            </p:spPr>
          </p:pic>
          <p:sp>
            <p:nvSpPr>
              <p:cNvPr id="28" name="矩形 27">
                <a:extLst>
                  <a:ext uri="{FF2B5EF4-FFF2-40B4-BE49-F238E27FC236}">
                    <a16:creationId xmlns:a16="http://schemas.microsoft.com/office/drawing/2014/main" id="{DA44E449-4138-45E8-8A63-8B62301FF409}"/>
                  </a:ext>
                </a:extLst>
              </p:cNvPr>
              <p:cNvSpPr/>
              <p:nvPr/>
            </p:nvSpPr>
            <p:spPr>
              <a:xfrm>
                <a:off x="8195733" y="1854200"/>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5" name="文字方塊 34">
                  <a:extLst>
                    <a:ext uri="{FF2B5EF4-FFF2-40B4-BE49-F238E27FC236}">
                      <a16:creationId xmlns:a16="http://schemas.microsoft.com/office/drawing/2014/main" id="{8B526C34-C7B6-4F9A-AD6C-4389D2614FBB}"/>
                    </a:ext>
                  </a:extLst>
                </p:cNvPr>
                <p:cNvSpPr txBox="1"/>
                <p:nvPr/>
              </p:nvSpPr>
              <p:spPr>
                <a:xfrm rot="16200000">
                  <a:off x="6725572" y="1700300"/>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5" name="文字方塊 34">
                  <a:extLst>
                    <a:ext uri="{FF2B5EF4-FFF2-40B4-BE49-F238E27FC236}">
                      <a16:creationId xmlns:a16="http://schemas.microsoft.com/office/drawing/2014/main" id="{8B526C34-C7B6-4F9A-AD6C-4389D2614FBB}"/>
                    </a:ext>
                  </a:extLst>
                </p:cNvPr>
                <p:cNvSpPr txBox="1">
                  <a:spLocks noRot="1" noChangeAspect="1" noMove="1" noResize="1" noEditPoints="1" noAdjustHandles="1" noChangeArrowheads="1" noChangeShapeType="1" noTextEdit="1"/>
                </p:cNvSpPr>
                <p:nvPr/>
              </p:nvSpPr>
              <p:spPr>
                <a:xfrm rot="16200000">
                  <a:off x="6725572" y="1700300"/>
                  <a:ext cx="3125239" cy="338554"/>
                </a:xfrm>
                <a:prstGeom prst="rect">
                  <a:avLst/>
                </a:prstGeom>
                <a:blipFill>
                  <a:blip r:embed="rId7"/>
                  <a:stretch>
                    <a:fillRect l="-103636" r="-167273"/>
                  </a:stretch>
                </a:blipFill>
              </p:spPr>
              <p:txBody>
                <a:bodyPr/>
                <a:lstStyle/>
                <a:p>
                  <a:r>
                    <a:rPr lang="zh-TW" altLang="en-US">
                      <a:noFill/>
                    </a:rPr>
                    <a:t> </a:t>
                  </a:r>
                </a:p>
              </p:txBody>
            </p:sp>
          </mc:Fallback>
        </mc:AlternateContent>
      </p:grpSp>
      <p:grpSp>
        <p:nvGrpSpPr>
          <p:cNvPr id="39" name="群組 38">
            <a:extLst>
              <a:ext uri="{FF2B5EF4-FFF2-40B4-BE49-F238E27FC236}">
                <a16:creationId xmlns:a16="http://schemas.microsoft.com/office/drawing/2014/main" id="{08D53041-D635-40EA-980F-E898B4AD812B}"/>
              </a:ext>
            </a:extLst>
          </p:cNvPr>
          <p:cNvGrpSpPr/>
          <p:nvPr/>
        </p:nvGrpSpPr>
        <p:grpSpPr>
          <a:xfrm>
            <a:off x="8674984" y="609861"/>
            <a:ext cx="3279860" cy="2987416"/>
            <a:chOff x="8674984" y="609861"/>
            <a:chExt cx="3279860" cy="2987416"/>
          </a:xfrm>
        </p:grpSpPr>
        <p:grpSp>
          <p:nvGrpSpPr>
            <p:cNvPr id="32" name="群組 31">
              <a:extLst>
                <a:ext uri="{FF2B5EF4-FFF2-40B4-BE49-F238E27FC236}">
                  <a16:creationId xmlns:a16="http://schemas.microsoft.com/office/drawing/2014/main" id="{6264E0D5-0A6B-4565-820A-0C52D04EB127}"/>
                </a:ext>
              </a:extLst>
            </p:cNvPr>
            <p:cNvGrpSpPr/>
            <p:nvPr/>
          </p:nvGrpSpPr>
          <p:grpSpPr>
            <a:xfrm>
              <a:off x="8674984" y="609861"/>
              <a:ext cx="3258749" cy="2987416"/>
              <a:chOff x="8674984" y="609861"/>
              <a:chExt cx="3258749" cy="2987416"/>
            </a:xfrm>
          </p:grpSpPr>
          <p:pic>
            <p:nvPicPr>
              <p:cNvPr id="25" name="圖片 24">
                <a:extLst>
                  <a:ext uri="{FF2B5EF4-FFF2-40B4-BE49-F238E27FC236}">
                    <a16:creationId xmlns:a16="http://schemas.microsoft.com/office/drawing/2014/main" id="{A6B3AA33-4C44-46EE-BE93-53ADC765332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74984" y="609861"/>
                <a:ext cx="3208041" cy="2987416"/>
              </a:xfrm>
              <a:prstGeom prst="rect">
                <a:avLst/>
              </a:prstGeom>
            </p:spPr>
          </p:pic>
          <p:sp>
            <p:nvSpPr>
              <p:cNvPr id="29" name="矩形 28">
                <a:extLst>
                  <a:ext uri="{FF2B5EF4-FFF2-40B4-BE49-F238E27FC236}">
                    <a16:creationId xmlns:a16="http://schemas.microsoft.com/office/drawing/2014/main" id="{E2DDCDEE-B057-4FD6-8418-F615C2B86FB4}"/>
                  </a:ext>
                </a:extLst>
              </p:cNvPr>
              <p:cNvSpPr/>
              <p:nvPr/>
            </p:nvSpPr>
            <p:spPr>
              <a:xfrm>
                <a:off x="11637399" y="1728251"/>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6" name="文字方塊 35">
                  <a:extLst>
                    <a:ext uri="{FF2B5EF4-FFF2-40B4-BE49-F238E27FC236}">
                      <a16:creationId xmlns:a16="http://schemas.microsoft.com/office/drawing/2014/main" id="{39B8EDDF-D78B-4499-96CA-5AA73A4F89A0}"/>
                    </a:ext>
                  </a:extLst>
                </p:cNvPr>
                <p:cNvSpPr txBox="1"/>
                <p:nvPr/>
              </p:nvSpPr>
              <p:spPr>
                <a:xfrm rot="16200000">
                  <a:off x="10355228" y="1997661"/>
                  <a:ext cx="2860677"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6" name="文字方塊 35">
                  <a:extLst>
                    <a:ext uri="{FF2B5EF4-FFF2-40B4-BE49-F238E27FC236}">
                      <a16:creationId xmlns:a16="http://schemas.microsoft.com/office/drawing/2014/main" id="{39B8EDDF-D78B-4499-96CA-5AA73A4F89A0}"/>
                    </a:ext>
                  </a:extLst>
                </p:cNvPr>
                <p:cNvSpPr txBox="1">
                  <a:spLocks noRot="1" noChangeAspect="1" noMove="1" noResize="1" noEditPoints="1" noAdjustHandles="1" noChangeArrowheads="1" noChangeShapeType="1" noTextEdit="1"/>
                </p:cNvSpPr>
                <p:nvPr/>
              </p:nvSpPr>
              <p:spPr>
                <a:xfrm rot="16200000">
                  <a:off x="10355228" y="1997661"/>
                  <a:ext cx="2860677" cy="338554"/>
                </a:xfrm>
                <a:prstGeom prst="rect">
                  <a:avLst/>
                </a:prstGeom>
                <a:blipFill>
                  <a:blip r:embed="rId9"/>
                  <a:stretch>
                    <a:fillRect l="-103636" t="-853" r="-167273"/>
                  </a:stretch>
                </a:blipFill>
              </p:spPr>
              <p:txBody>
                <a:bodyPr/>
                <a:lstStyle/>
                <a:p>
                  <a:r>
                    <a:rPr lang="zh-TW" altLang="en-US">
                      <a:noFill/>
                    </a:rPr>
                    <a:t> </a:t>
                  </a:r>
                </a:p>
              </p:txBody>
            </p:sp>
          </mc:Fallback>
        </mc:AlternateContent>
      </p:grpSp>
      <p:grpSp>
        <p:nvGrpSpPr>
          <p:cNvPr id="40" name="群組 39">
            <a:extLst>
              <a:ext uri="{FF2B5EF4-FFF2-40B4-BE49-F238E27FC236}">
                <a16:creationId xmlns:a16="http://schemas.microsoft.com/office/drawing/2014/main" id="{2091CF3F-8F0A-4A77-AF46-77AD51032DF3}"/>
              </a:ext>
            </a:extLst>
          </p:cNvPr>
          <p:cNvGrpSpPr/>
          <p:nvPr/>
        </p:nvGrpSpPr>
        <p:grpSpPr>
          <a:xfrm>
            <a:off x="7052733" y="3510413"/>
            <a:ext cx="3331521" cy="3125239"/>
            <a:chOff x="7052733" y="3510413"/>
            <a:chExt cx="3331521" cy="3125239"/>
          </a:xfrm>
        </p:grpSpPr>
        <p:grpSp>
          <p:nvGrpSpPr>
            <p:cNvPr id="33" name="群組 32">
              <a:extLst>
                <a:ext uri="{FF2B5EF4-FFF2-40B4-BE49-F238E27FC236}">
                  <a16:creationId xmlns:a16="http://schemas.microsoft.com/office/drawing/2014/main" id="{5E26BCD0-8F4B-49DB-894C-47132C3DAF63}"/>
                </a:ext>
              </a:extLst>
            </p:cNvPr>
            <p:cNvGrpSpPr/>
            <p:nvPr/>
          </p:nvGrpSpPr>
          <p:grpSpPr>
            <a:xfrm>
              <a:off x="7052733" y="3937802"/>
              <a:ext cx="3289301" cy="2676712"/>
              <a:chOff x="7052733" y="3937802"/>
              <a:chExt cx="3289301" cy="2676712"/>
            </a:xfrm>
          </p:grpSpPr>
          <p:pic>
            <p:nvPicPr>
              <p:cNvPr id="27" name="圖片 26">
                <a:extLst>
                  <a:ext uri="{FF2B5EF4-FFF2-40B4-BE49-F238E27FC236}">
                    <a16:creationId xmlns:a16="http://schemas.microsoft.com/office/drawing/2014/main" id="{2FB4AC35-335D-4A97-B94D-2D7DAB21E59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52733" y="3937802"/>
                <a:ext cx="3141134" cy="2676712"/>
              </a:xfrm>
              <a:prstGeom prst="rect">
                <a:avLst/>
              </a:prstGeom>
            </p:spPr>
          </p:pic>
          <p:sp>
            <p:nvSpPr>
              <p:cNvPr id="30" name="矩形 29">
                <a:extLst>
                  <a:ext uri="{FF2B5EF4-FFF2-40B4-BE49-F238E27FC236}">
                    <a16:creationId xmlns:a16="http://schemas.microsoft.com/office/drawing/2014/main" id="{5C6D5FE6-50FE-43E5-9A66-003B32C19B35}"/>
                  </a:ext>
                </a:extLst>
              </p:cNvPr>
              <p:cNvSpPr/>
              <p:nvPr/>
            </p:nvSpPr>
            <p:spPr>
              <a:xfrm>
                <a:off x="10045700" y="4935275"/>
                <a:ext cx="296334"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2E374407-A735-4A8A-A9B0-CE6587CAACF5}"/>
                    </a:ext>
                  </a:extLst>
                </p:cNvPr>
                <p:cNvSpPr txBox="1"/>
                <p:nvPr/>
              </p:nvSpPr>
              <p:spPr>
                <a:xfrm rot="16200000">
                  <a:off x="8652357" y="4903756"/>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37" name="文字方塊 36">
                  <a:extLst>
                    <a:ext uri="{FF2B5EF4-FFF2-40B4-BE49-F238E27FC236}">
                      <a16:creationId xmlns:a16="http://schemas.microsoft.com/office/drawing/2014/main" id="{2E374407-A735-4A8A-A9B0-CE6587CAACF5}"/>
                    </a:ext>
                  </a:extLst>
                </p:cNvPr>
                <p:cNvSpPr txBox="1">
                  <a:spLocks noRot="1" noChangeAspect="1" noMove="1" noResize="1" noEditPoints="1" noAdjustHandles="1" noChangeArrowheads="1" noChangeShapeType="1" noTextEdit="1"/>
                </p:cNvSpPr>
                <p:nvPr/>
              </p:nvSpPr>
              <p:spPr>
                <a:xfrm rot="16200000">
                  <a:off x="8652357" y="4903756"/>
                  <a:ext cx="3125239" cy="338554"/>
                </a:xfrm>
                <a:prstGeom prst="rect">
                  <a:avLst/>
                </a:prstGeom>
                <a:blipFill>
                  <a:blip r:embed="rId11"/>
                  <a:stretch>
                    <a:fillRect l="-103636" r="-167273"/>
                  </a:stretch>
                </a:blipFill>
              </p:spPr>
              <p:txBody>
                <a:bodyPr/>
                <a:lstStyle/>
                <a:p>
                  <a:r>
                    <a:rPr lang="zh-TW" altLang="en-US">
                      <a:noFill/>
                    </a:rPr>
                    <a:t> </a:t>
                  </a:r>
                </a:p>
              </p:txBody>
            </p:sp>
          </mc:Fallback>
        </mc:AlternateContent>
      </p:grpSp>
      <p:sp>
        <p:nvSpPr>
          <p:cNvPr id="41" name="auto caption"/>
          <p:cNvSpPr txBox="1"/>
          <p:nvPr/>
        </p:nvSpPr>
        <p:spPr>
          <a:xfrm>
            <a:off x="118533" y="813850"/>
            <a:ext cx="4526280" cy="2280688"/>
          </a:xfrm>
          <a:prstGeom prst="rect">
            <a:avLst/>
          </a:prstGeom>
          <a:noFill/>
        </p:spPr>
        <p:txBody>
          <a:bodyPr wrap="square" rtlCol="0">
            <a:normAutofit/>
          </a:bodyPr>
          <a:lstStyle/>
          <a:p>
            <a:pPr marL="285750" indent="-285750"/>
            <a:r>
              <a:rPr lang="en-US" altLang="zh-TW" sz="1400" dirty="0"/>
              <a:t>Setup: Design 1. Actuation volume from the calibrated model on the three reference planes at left, out to the 500 um pole-tip sphere.</a:t>
            </a:r>
          </a:p>
          <a:p>
            <a:pPr marL="285750" indent="-285750"/>
            <a:endParaRPr lang="en-US" altLang="zh-TW" sz="1400" dirty="0"/>
          </a:p>
          <a:p>
            <a:pPr marL="285750" indent="-285750"/>
            <a:r>
              <a:rPr lang="en-US" altLang="zh-TW" sz="1400" dirty="0"/>
              <a:t>It rises from about 2500 at the centre to above 4500 near the poles, and the four-fold pattern is identical on all three planes. That repetition is the signature of a balanced design: the six poles are equally strong and form three mutually orthogonal pairs, so no plane is preferred.</a:t>
            </a:r>
          </a:p>
        </p:txBody>
      </p:sp>
    </p:spTree>
    <p:extLst>
      <p:ext uri="{BB962C8B-B14F-4D97-AF65-F5344CB8AC3E}">
        <p14:creationId xmlns:p14="http://schemas.microsoft.com/office/powerpoint/2010/main" val="45208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Design1</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sp>
        <p:nvSpPr>
          <p:cNvPr id="24" name="矩形 23">
            <a:extLst>
              <a:ext uri="{FF2B5EF4-FFF2-40B4-BE49-F238E27FC236}">
                <a16:creationId xmlns:a16="http://schemas.microsoft.com/office/drawing/2014/main" id="{5ECAF6AD-8DD4-4627-A1FD-CEEA914062EB}"/>
              </a:ext>
            </a:extLst>
          </p:cNvPr>
          <p:cNvSpPr/>
          <p:nvPr/>
        </p:nvSpPr>
        <p:spPr>
          <a:xfrm>
            <a:off x="9428540" y="5341459"/>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36ADEA62-D994-4FCE-80C5-3EB506601E6D}"/>
              </a:ext>
            </a:extLst>
          </p:cNvPr>
          <p:cNvGrpSpPr/>
          <p:nvPr/>
        </p:nvGrpSpPr>
        <p:grpSpPr>
          <a:xfrm>
            <a:off x="5042523" y="652997"/>
            <a:ext cx="3516875" cy="3052262"/>
            <a:chOff x="4711525" y="646050"/>
            <a:chExt cx="3516875" cy="3052262"/>
          </a:xfrm>
        </p:grpSpPr>
        <p:grpSp>
          <p:nvGrpSpPr>
            <p:cNvPr id="5" name="群組 4">
              <a:extLst>
                <a:ext uri="{FF2B5EF4-FFF2-40B4-BE49-F238E27FC236}">
                  <a16:creationId xmlns:a16="http://schemas.microsoft.com/office/drawing/2014/main" id="{625EC724-05E5-4FC6-B729-8EE7265852FC}"/>
                </a:ext>
              </a:extLst>
            </p:cNvPr>
            <p:cNvGrpSpPr/>
            <p:nvPr/>
          </p:nvGrpSpPr>
          <p:grpSpPr>
            <a:xfrm>
              <a:off x="4711525" y="646050"/>
              <a:ext cx="3471909" cy="3052262"/>
              <a:chOff x="4711525" y="646050"/>
              <a:chExt cx="3471909" cy="3052262"/>
            </a:xfrm>
          </p:grpSpPr>
          <p:pic>
            <p:nvPicPr>
              <p:cNvPr id="6" name="圖片 5">
                <a:extLst>
                  <a:ext uri="{FF2B5EF4-FFF2-40B4-BE49-F238E27FC236}">
                    <a16:creationId xmlns:a16="http://schemas.microsoft.com/office/drawing/2014/main" id="{5862DFA4-E3F4-459E-83D9-17BCFA78EF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11525" y="646050"/>
                <a:ext cx="3332209" cy="3052262"/>
              </a:xfrm>
              <a:prstGeom prst="rect">
                <a:avLst/>
              </a:prstGeom>
            </p:spPr>
          </p:pic>
          <p:sp>
            <p:nvSpPr>
              <p:cNvPr id="9" name="矩形 8">
                <a:extLst>
                  <a:ext uri="{FF2B5EF4-FFF2-40B4-BE49-F238E27FC236}">
                    <a16:creationId xmlns:a16="http://schemas.microsoft.com/office/drawing/2014/main" id="{7B2555E3-898A-435A-9CA9-B6575FB7B1AA}"/>
                  </a:ext>
                </a:extLst>
              </p:cNvPr>
              <p:cNvSpPr/>
              <p:nvPr/>
            </p:nvSpPr>
            <p:spPr>
              <a:xfrm>
                <a:off x="7904034" y="2119420"/>
                <a:ext cx="279400" cy="397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25218337-6B46-49F5-98A5-39A92555558F}"/>
                    </a:ext>
                  </a:extLst>
                </p:cNvPr>
                <p:cNvSpPr txBox="1"/>
                <p:nvPr/>
              </p:nvSpPr>
              <p:spPr>
                <a:xfrm rot="16200000">
                  <a:off x="7458158" y="1934754"/>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6" name="文字方塊 25">
                  <a:extLst>
                    <a:ext uri="{FF2B5EF4-FFF2-40B4-BE49-F238E27FC236}">
                      <a16:creationId xmlns:a16="http://schemas.microsoft.com/office/drawing/2014/main" id="{25218337-6B46-49F5-98A5-39A92555558F}"/>
                    </a:ext>
                  </a:extLst>
                </p:cNvPr>
                <p:cNvSpPr txBox="1">
                  <a:spLocks noRot="1" noChangeAspect="1" noMove="1" noResize="1" noEditPoints="1" noAdjustHandles="1" noChangeArrowheads="1" noChangeShapeType="1" noTextEdit="1"/>
                </p:cNvSpPr>
                <p:nvPr/>
              </p:nvSpPr>
              <p:spPr>
                <a:xfrm rot="16200000">
                  <a:off x="7458158" y="1934754"/>
                  <a:ext cx="1171152" cy="369332"/>
                </a:xfrm>
                <a:prstGeom prst="rect">
                  <a:avLst/>
                </a:prstGeom>
                <a:blipFill>
                  <a:blip r:embed="rId7"/>
                  <a:stretch>
                    <a:fillRect r="-13333"/>
                  </a:stretch>
                </a:blipFill>
              </p:spPr>
              <p:txBody>
                <a:bodyPr/>
                <a:lstStyle/>
                <a:p>
                  <a:r>
                    <a:rPr lang="zh-TW" altLang="en-US">
                      <a:noFill/>
                    </a:rPr>
                    <a:t> </a:t>
                  </a:r>
                </a:p>
              </p:txBody>
            </p:sp>
          </mc:Fallback>
        </mc:AlternateContent>
      </p:grpSp>
      <p:sp>
        <p:nvSpPr>
          <p:cNvPr id="33" name="矩形 32">
            <a:extLst>
              <a:ext uri="{FF2B5EF4-FFF2-40B4-BE49-F238E27FC236}">
                <a16:creationId xmlns:a16="http://schemas.microsoft.com/office/drawing/2014/main" id="{BB2FC3B6-34F2-47A5-A4AF-A882448CE798}"/>
              </a:ext>
            </a:extLst>
          </p:cNvPr>
          <p:cNvSpPr/>
          <p:nvPr/>
        </p:nvSpPr>
        <p:spPr>
          <a:xfrm>
            <a:off x="11647706" y="2231996"/>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7" name="群組 36">
            <a:extLst>
              <a:ext uri="{FF2B5EF4-FFF2-40B4-BE49-F238E27FC236}">
                <a16:creationId xmlns:a16="http://schemas.microsoft.com/office/drawing/2014/main" id="{CCF5A639-1F17-4B44-A5A5-9847507CF182}"/>
              </a:ext>
            </a:extLst>
          </p:cNvPr>
          <p:cNvGrpSpPr/>
          <p:nvPr/>
        </p:nvGrpSpPr>
        <p:grpSpPr>
          <a:xfrm>
            <a:off x="7346890" y="4054017"/>
            <a:ext cx="3017235" cy="2599722"/>
            <a:chOff x="6753663" y="4054017"/>
            <a:chExt cx="3017235" cy="2599722"/>
          </a:xfrm>
        </p:grpSpPr>
        <p:grpSp>
          <p:nvGrpSpPr>
            <p:cNvPr id="36" name="群組 35">
              <a:extLst>
                <a:ext uri="{FF2B5EF4-FFF2-40B4-BE49-F238E27FC236}">
                  <a16:creationId xmlns:a16="http://schemas.microsoft.com/office/drawing/2014/main" id="{643B0212-996A-4FB0-85EC-F91C0E017842}"/>
                </a:ext>
              </a:extLst>
            </p:cNvPr>
            <p:cNvGrpSpPr/>
            <p:nvPr/>
          </p:nvGrpSpPr>
          <p:grpSpPr>
            <a:xfrm>
              <a:off x="6753663" y="4054017"/>
              <a:ext cx="2859026" cy="2599722"/>
              <a:chOff x="6753663" y="4054017"/>
              <a:chExt cx="2859026" cy="2599722"/>
            </a:xfrm>
          </p:grpSpPr>
          <p:pic>
            <p:nvPicPr>
              <p:cNvPr id="8" name="圖片 7">
                <a:extLst>
                  <a:ext uri="{FF2B5EF4-FFF2-40B4-BE49-F238E27FC236}">
                    <a16:creationId xmlns:a16="http://schemas.microsoft.com/office/drawing/2014/main" id="{D586FBA1-4B47-44EE-A135-58711471EB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753663" y="4054017"/>
                <a:ext cx="2806110" cy="2599722"/>
              </a:xfrm>
              <a:prstGeom prst="rect">
                <a:avLst/>
              </a:prstGeom>
            </p:spPr>
          </p:pic>
          <p:sp>
            <p:nvSpPr>
              <p:cNvPr id="34" name="矩形 33">
                <a:extLst>
                  <a:ext uri="{FF2B5EF4-FFF2-40B4-BE49-F238E27FC236}">
                    <a16:creationId xmlns:a16="http://schemas.microsoft.com/office/drawing/2014/main" id="{666288C7-F5CB-48E4-8D76-163CDF4E1521}"/>
                  </a:ext>
                </a:extLst>
              </p:cNvPr>
              <p:cNvSpPr/>
              <p:nvPr/>
            </p:nvSpPr>
            <p:spPr>
              <a:xfrm>
                <a:off x="9423996" y="5229509"/>
                <a:ext cx="188693"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9" name="文字方塊 28">
                  <a:extLst>
                    <a:ext uri="{FF2B5EF4-FFF2-40B4-BE49-F238E27FC236}">
                      <a16:creationId xmlns:a16="http://schemas.microsoft.com/office/drawing/2014/main" id="{F1E8BAE9-56F9-41DD-99E5-4A21A0E14C11}"/>
                    </a:ext>
                  </a:extLst>
                </p:cNvPr>
                <p:cNvSpPr txBox="1"/>
                <p:nvPr/>
              </p:nvSpPr>
              <p:spPr>
                <a:xfrm rot="16200000">
                  <a:off x="9100423" y="5225059"/>
                  <a:ext cx="97161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9" name="文字方塊 28">
                  <a:extLst>
                    <a:ext uri="{FF2B5EF4-FFF2-40B4-BE49-F238E27FC236}">
                      <a16:creationId xmlns:a16="http://schemas.microsoft.com/office/drawing/2014/main" id="{F1E8BAE9-56F9-41DD-99E5-4A21A0E14C11}"/>
                    </a:ext>
                  </a:extLst>
                </p:cNvPr>
                <p:cNvSpPr txBox="1">
                  <a:spLocks noRot="1" noChangeAspect="1" noMove="1" noResize="1" noEditPoints="1" noAdjustHandles="1" noChangeArrowheads="1" noChangeShapeType="1" noTextEdit="1"/>
                </p:cNvSpPr>
                <p:nvPr/>
              </p:nvSpPr>
              <p:spPr>
                <a:xfrm rot="16200000">
                  <a:off x="9100423" y="5225059"/>
                  <a:ext cx="971617" cy="369332"/>
                </a:xfrm>
                <a:prstGeom prst="rect">
                  <a:avLst/>
                </a:prstGeom>
                <a:blipFill>
                  <a:blip r:embed="rId9"/>
                  <a:stretch>
                    <a:fillRect t="-12579" r="-11475" b="-1887"/>
                  </a:stretch>
                </a:blipFill>
              </p:spPr>
              <p:txBody>
                <a:bodyPr/>
                <a:lstStyle/>
                <a:p>
                  <a:r>
                    <a:rPr lang="zh-TW" altLang="en-US">
                      <a:noFill/>
                    </a:rPr>
                    <a:t> </a:t>
                  </a:r>
                </a:p>
              </p:txBody>
            </p:sp>
          </mc:Fallback>
        </mc:AlternateContent>
      </p:grpSp>
      <p:grpSp>
        <p:nvGrpSpPr>
          <p:cNvPr id="42" name="群組 41">
            <a:extLst>
              <a:ext uri="{FF2B5EF4-FFF2-40B4-BE49-F238E27FC236}">
                <a16:creationId xmlns:a16="http://schemas.microsoft.com/office/drawing/2014/main" id="{3D8E6480-F496-4383-8E74-4CA8381FF1B4}"/>
              </a:ext>
            </a:extLst>
          </p:cNvPr>
          <p:cNvGrpSpPr/>
          <p:nvPr/>
        </p:nvGrpSpPr>
        <p:grpSpPr>
          <a:xfrm>
            <a:off x="8774136" y="709175"/>
            <a:ext cx="3196928" cy="2886195"/>
            <a:chOff x="8431211" y="708531"/>
            <a:chExt cx="3196928" cy="2886195"/>
          </a:xfrm>
        </p:grpSpPr>
        <p:grpSp>
          <p:nvGrpSpPr>
            <p:cNvPr id="41" name="群組 40">
              <a:extLst>
                <a:ext uri="{FF2B5EF4-FFF2-40B4-BE49-F238E27FC236}">
                  <a16:creationId xmlns:a16="http://schemas.microsoft.com/office/drawing/2014/main" id="{8D6A6A94-191F-474F-94DB-75C341040006}"/>
                </a:ext>
              </a:extLst>
            </p:cNvPr>
            <p:cNvGrpSpPr/>
            <p:nvPr/>
          </p:nvGrpSpPr>
          <p:grpSpPr>
            <a:xfrm>
              <a:off x="8431211" y="708531"/>
              <a:ext cx="3088850" cy="2886195"/>
              <a:chOff x="8431211" y="708531"/>
              <a:chExt cx="3088850" cy="2886195"/>
            </a:xfrm>
          </p:grpSpPr>
          <p:pic>
            <p:nvPicPr>
              <p:cNvPr id="4" name="圖片 3">
                <a:extLst>
                  <a:ext uri="{FF2B5EF4-FFF2-40B4-BE49-F238E27FC236}">
                    <a16:creationId xmlns:a16="http://schemas.microsoft.com/office/drawing/2014/main" id="{7BC35DA1-4582-4345-8C03-E345C3861D1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31211" y="708531"/>
                <a:ext cx="3012262" cy="2886195"/>
              </a:xfrm>
              <a:prstGeom prst="rect">
                <a:avLst/>
              </a:prstGeom>
              <a:solidFill>
                <a:schemeClr val="bg1"/>
              </a:solidFill>
              <a:ln>
                <a:noFill/>
              </a:ln>
            </p:spPr>
          </p:pic>
          <p:sp>
            <p:nvSpPr>
              <p:cNvPr id="40" name="矩形 39">
                <a:extLst>
                  <a:ext uri="{FF2B5EF4-FFF2-40B4-BE49-F238E27FC236}">
                    <a16:creationId xmlns:a16="http://schemas.microsoft.com/office/drawing/2014/main" id="{9321510F-8BC5-4DA4-9CFD-39F0684CB8FE}"/>
                  </a:ext>
                </a:extLst>
              </p:cNvPr>
              <p:cNvSpPr/>
              <p:nvPr/>
            </p:nvSpPr>
            <p:spPr>
              <a:xfrm>
                <a:off x="11335395" y="2148963"/>
                <a:ext cx="184666" cy="2487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AD1E7746-1BF7-48A0-97B8-0C768F13FAD9}"/>
                    </a:ext>
                  </a:extLst>
                </p:cNvPr>
                <p:cNvSpPr txBox="1"/>
                <p:nvPr/>
              </p:nvSpPr>
              <p:spPr>
                <a:xfrm rot="16200000">
                  <a:off x="10819186" y="2133398"/>
                  <a:ext cx="1248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8" name="文字方塊 27">
                  <a:extLst>
                    <a:ext uri="{FF2B5EF4-FFF2-40B4-BE49-F238E27FC236}">
                      <a16:creationId xmlns:a16="http://schemas.microsoft.com/office/drawing/2014/main" id="{AD1E7746-1BF7-48A0-97B8-0C768F13FAD9}"/>
                    </a:ext>
                  </a:extLst>
                </p:cNvPr>
                <p:cNvSpPr txBox="1">
                  <a:spLocks noRot="1" noChangeAspect="1" noMove="1" noResize="1" noEditPoints="1" noAdjustHandles="1" noChangeArrowheads="1" noChangeShapeType="1" noTextEdit="1"/>
                </p:cNvSpPr>
                <p:nvPr/>
              </p:nvSpPr>
              <p:spPr>
                <a:xfrm rot="16200000">
                  <a:off x="10819186" y="2133398"/>
                  <a:ext cx="1248574" cy="369332"/>
                </a:xfrm>
                <a:prstGeom prst="rect">
                  <a:avLst/>
                </a:prstGeom>
                <a:blipFill>
                  <a:blip r:embed="rId11"/>
                  <a:stretch>
                    <a:fillRect r="-11475"/>
                  </a:stretch>
                </a:blipFill>
              </p:spPr>
              <p:txBody>
                <a:bodyPr/>
                <a:lstStyle/>
                <a:p>
                  <a:r>
                    <a:rPr lang="zh-TW" altLang="en-US">
                      <a:noFill/>
                    </a:rPr>
                    <a:t> </a:t>
                  </a:r>
                </a:p>
              </p:txBody>
            </p:sp>
          </mc:Fallback>
        </mc:AlternateContent>
      </p:grpSp>
      <p:sp>
        <p:nvSpPr>
          <p:cNvPr id="43" name="auto caption"/>
          <p:cNvSpPr txBox="1"/>
          <p:nvPr/>
        </p:nvSpPr>
        <p:spPr>
          <a:xfrm>
            <a:off x="118533" y="929150"/>
            <a:ext cx="4622800" cy="2084983"/>
          </a:xfrm>
          <a:prstGeom prst="rect">
            <a:avLst/>
          </a:prstGeom>
          <a:noFill/>
        </p:spPr>
        <p:txBody>
          <a:bodyPr wrap="square" rtlCol="0">
            <a:normAutofit/>
          </a:bodyPr>
          <a:lstStyle/>
          <a:p>
            <a:pPr marL="285750" indent="-285750"/>
            <a:r>
              <a:rPr lang="en-US" altLang="zh-TW" sz="1400" dirty="0"/>
              <a:t>Setup: Design 1, same planes and model, now the isotropy.</a:t>
            </a:r>
          </a:p>
          <a:p>
            <a:pPr marL="285750" indent="-285750"/>
            <a:endParaRPr lang="en-US" altLang="zh-TW" sz="1400" dirty="0"/>
          </a:p>
          <a:p>
            <a:pPr marL="285750" indent="-285750"/>
            <a:r>
              <a:rPr lang="en-US" altLang="zh-TW" sz="1400" dirty="0"/>
              <a:t>It peaks near 0.9 at the centre and falls to about 0.2 at the rim. The peak sits at the centre because all six poles are equidistant there, so the three singular values are nearly equal; moving outward you approach one pair and recede from the other two, which collapses the ratio. The well-conditioned core therefore reaches about 250 um, half the tip radius.</a:t>
            </a:r>
          </a:p>
        </p:txBody>
      </p:sp>
    </p:spTree>
    <p:extLst>
      <p:ext uri="{BB962C8B-B14F-4D97-AF65-F5344CB8AC3E}">
        <p14:creationId xmlns:p14="http://schemas.microsoft.com/office/powerpoint/2010/main" val="1413084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Design2</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grpSp>
        <p:nvGrpSpPr>
          <p:cNvPr id="27" name="群組 26">
            <a:extLst>
              <a:ext uri="{FF2B5EF4-FFF2-40B4-BE49-F238E27FC236}">
                <a16:creationId xmlns:a16="http://schemas.microsoft.com/office/drawing/2014/main" id="{7AE9CE24-8DD0-4EF4-9E52-A23CE7D386CE}"/>
              </a:ext>
            </a:extLst>
          </p:cNvPr>
          <p:cNvGrpSpPr/>
          <p:nvPr/>
        </p:nvGrpSpPr>
        <p:grpSpPr>
          <a:xfrm>
            <a:off x="5272614" y="306957"/>
            <a:ext cx="3253319" cy="3323046"/>
            <a:chOff x="5272614" y="306957"/>
            <a:chExt cx="3253319" cy="3323046"/>
          </a:xfrm>
        </p:grpSpPr>
        <p:grpSp>
          <p:nvGrpSpPr>
            <p:cNvPr id="14" name="群組 13">
              <a:extLst>
                <a:ext uri="{FF2B5EF4-FFF2-40B4-BE49-F238E27FC236}">
                  <a16:creationId xmlns:a16="http://schemas.microsoft.com/office/drawing/2014/main" id="{8C9F1F03-C595-4D8C-AAA1-8446AFFD62ED}"/>
                </a:ext>
              </a:extLst>
            </p:cNvPr>
            <p:cNvGrpSpPr/>
            <p:nvPr/>
          </p:nvGrpSpPr>
          <p:grpSpPr>
            <a:xfrm>
              <a:off x="5272614" y="885799"/>
              <a:ext cx="3253319" cy="2744204"/>
              <a:chOff x="5272614" y="885799"/>
              <a:chExt cx="3253319" cy="2744204"/>
            </a:xfrm>
          </p:grpSpPr>
          <p:pic>
            <p:nvPicPr>
              <p:cNvPr id="5" name="圖片 4">
                <a:extLst>
                  <a:ext uri="{FF2B5EF4-FFF2-40B4-BE49-F238E27FC236}">
                    <a16:creationId xmlns:a16="http://schemas.microsoft.com/office/drawing/2014/main" id="{4BB20D2D-B33F-4853-88DF-99DF2C8290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72614" y="885799"/>
                <a:ext cx="3073692" cy="2744204"/>
              </a:xfrm>
              <a:prstGeom prst="rect">
                <a:avLst/>
              </a:prstGeom>
            </p:spPr>
          </p:pic>
          <p:sp>
            <p:nvSpPr>
              <p:cNvPr id="13" name="矩形 12">
                <a:extLst>
                  <a:ext uri="{FF2B5EF4-FFF2-40B4-BE49-F238E27FC236}">
                    <a16:creationId xmlns:a16="http://schemas.microsoft.com/office/drawing/2014/main" id="{7257C9A4-9C06-485B-9C2B-20A320AC0BE0}"/>
                  </a:ext>
                </a:extLst>
              </p:cNvPr>
              <p:cNvSpPr/>
              <p:nvPr/>
            </p:nvSpPr>
            <p:spPr>
              <a:xfrm>
                <a:off x="8204200" y="1947333"/>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1853BA8F-3B92-4CF6-86D4-1065CEF80CC6}"/>
                    </a:ext>
                  </a:extLst>
                </p:cNvPr>
                <p:cNvSpPr txBox="1"/>
                <p:nvPr/>
              </p:nvSpPr>
              <p:spPr>
                <a:xfrm rot="16200000">
                  <a:off x="6725573" y="1700300"/>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4" name="文字方塊 23">
                  <a:extLst>
                    <a:ext uri="{FF2B5EF4-FFF2-40B4-BE49-F238E27FC236}">
                      <a16:creationId xmlns:a16="http://schemas.microsoft.com/office/drawing/2014/main" id="{1853BA8F-3B92-4CF6-86D4-1065CEF80CC6}"/>
                    </a:ext>
                  </a:extLst>
                </p:cNvPr>
                <p:cNvSpPr txBox="1">
                  <a:spLocks noRot="1" noChangeAspect="1" noMove="1" noResize="1" noEditPoints="1" noAdjustHandles="1" noChangeArrowheads="1" noChangeShapeType="1" noTextEdit="1"/>
                </p:cNvSpPr>
                <p:nvPr/>
              </p:nvSpPr>
              <p:spPr>
                <a:xfrm rot="16200000">
                  <a:off x="6725573" y="1700300"/>
                  <a:ext cx="3125239" cy="338554"/>
                </a:xfrm>
                <a:prstGeom prst="rect">
                  <a:avLst/>
                </a:prstGeom>
                <a:blipFill>
                  <a:blip r:embed="rId7"/>
                  <a:stretch>
                    <a:fillRect l="-103636" r="-167273"/>
                  </a:stretch>
                </a:blipFill>
              </p:spPr>
              <p:txBody>
                <a:bodyPr/>
                <a:lstStyle/>
                <a:p>
                  <a:r>
                    <a:rPr lang="zh-TW" altLang="en-US">
                      <a:noFill/>
                    </a:rPr>
                    <a:t> </a:t>
                  </a:r>
                </a:p>
              </p:txBody>
            </p:sp>
          </mc:Fallback>
        </mc:AlternateContent>
      </p:grpSp>
      <p:grpSp>
        <p:nvGrpSpPr>
          <p:cNvPr id="28" name="群組 27">
            <a:extLst>
              <a:ext uri="{FF2B5EF4-FFF2-40B4-BE49-F238E27FC236}">
                <a16:creationId xmlns:a16="http://schemas.microsoft.com/office/drawing/2014/main" id="{75F08CEE-002C-439C-8E25-276AA904B1F5}"/>
              </a:ext>
            </a:extLst>
          </p:cNvPr>
          <p:cNvGrpSpPr/>
          <p:nvPr/>
        </p:nvGrpSpPr>
        <p:grpSpPr>
          <a:xfrm>
            <a:off x="8864253" y="384713"/>
            <a:ext cx="3006764" cy="3146417"/>
            <a:chOff x="8864253" y="384713"/>
            <a:chExt cx="3006764" cy="3146417"/>
          </a:xfrm>
        </p:grpSpPr>
        <p:grpSp>
          <p:nvGrpSpPr>
            <p:cNvPr id="15" name="群組 14">
              <a:extLst>
                <a:ext uri="{FF2B5EF4-FFF2-40B4-BE49-F238E27FC236}">
                  <a16:creationId xmlns:a16="http://schemas.microsoft.com/office/drawing/2014/main" id="{CC8F127D-7B4C-47C5-B8F1-0FAA7C60A810}"/>
                </a:ext>
              </a:extLst>
            </p:cNvPr>
            <p:cNvGrpSpPr/>
            <p:nvPr/>
          </p:nvGrpSpPr>
          <p:grpSpPr>
            <a:xfrm>
              <a:off x="8864253" y="984671"/>
              <a:ext cx="3006764" cy="2546459"/>
              <a:chOff x="8864253" y="984671"/>
              <a:chExt cx="3006764" cy="2546459"/>
            </a:xfrm>
          </p:grpSpPr>
          <p:pic>
            <p:nvPicPr>
              <p:cNvPr id="12" name="圖片 11">
                <a:extLst>
                  <a:ext uri="{FF2B5EF4-FFF2-40B4-BE49-F238E27FC236}">
                    <a16:creationId xmlns:a16="http://schemas.microsoft.com/office/drawing/2014/main" id="{47F36DF7-5F13-49B2-BA81-57FEB38F956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64253" y="984671"/>
                <a:ext cx="2820844" cy="2546459"/>
              </a:xfrm>
              <a:prstGeom prst="rect">
                <a:avLst/>
              </a:prstGeom>
            </p:spPr>
          </p:pic>
          <p:sp>
            <p:nvSpPr>
              <p:cNvPr id="22" name="矩形 21">
                <a:extLst>
                  <a:ext uri="{FF2B5EF4-FFF2-40B4-BE49-F238E27FC236}">
                    <a16:creationId xmlns:a16="http://schemas.microsoft.com/office/drawing/2014/main" id="{A899FC81-D95B-4815-970B-C8E3A7DAC2C3}"/>
                  </a:ext>
                </a:extLst>
              </p:cNvPr>
              <p:cNvSpPr/>
              <p:nvPr/>
            </p:nvSpPr>
            <p:spPr>
              <a:xfrm>
                <a:off x="11549284" y="1867695"/>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2A666FCE-BD73-49A6-B4BF-454B7E52A565}"/>
                    </a:ext>
                  </a:extLst>
                </p:cNvPr>
                <p:cNvSpPr txBox="1"/>
                <p:nvPr/>
              </p:nvSpPr>
              <p:spPr>
                <a:xfrm rot="16200000">
                  <a:off x="10110617" y="1778056"/>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5" name="文字方塊 24">
                  <a:extLst>
                    <a:ext uri="{FF2B5EF4-FFF2-40B4-BE49-F238E27FC236}">
                      <a16:creationId xmlns:a16="http://schemas.microsoft.com/office/drawing/2014/main" id="{2A666FCE-BD73-49A6-B4BF-454B7E52A565}"/>
                    </a:ext>
                  </a:extLst>
                </p:cNvPr>
                <p:cNvSpPr txBox="1">
                  <a:spLocks noRot="1" noChangeAspect="1" noMove="1" noResize="1" noEditPoints="1" noAdjustHandles="1" noChangeArrowheads="1" noChangeShapeType="1" noTextEdit="1"/>
                </p:cNvSpPr>
                <p:nvPr/>
              </p:nvSpPr>
              <p:spPr>
                <a:xfrm rot="16200000">
                  <a:off x="10110617" y="1778056"/>
                  <a:ext cx="3125239" cy="338554"/>
                </a:xfrm>
                <a:prstGeom prst="rect">
                  <a:avLst/>
                </a:prstGeom>
                <a:blipFill>
                  <a:blip r:embed="rId9"/>
                  <a:stretch>
                    <a:fillRect l="-101786" r="-162500"/>
                  </a:stretch>
                </a:blipFill>
              </p:spPr>
              <p:txBody>
                <a:bodyPr/>
                <a:lstStyle/>
                <a:p>
                  <a:r>
                    <a:rPr lang="zh-TW" altLang="en-US">
                      <a:noFill/>
                    </a:rPr>
                    <a:t> </a:t>
                  </a:r>
                </a:p>
              </p:txBody>
            </p:sp>
          </mc:Fallback>
        </mc:AlternateContent>
      </p:grpSp>
      <p:grpSp>
        <p:nvGrpSpPr>
          <p:cNvPr id="29" name="群組 28">
            <a:extLst>
              <a:ext uri="{FF2B5EF4-FFF2-40B4-BE49-F238E27FC236}">
                <a16:creationId xmlns:a16="http://schemas.microsoft.com/office/drawing/2014/main" id="{34491CB4-D91D-4B0F-B188-CA18C8DA0BD4}"/>
              </a:ext>
            </a:extLst>
          </p:cNvPr>
          <p:cNvGrpSpPr/>
          <p:nvPr/>
        </p:nvGrpSpPr>
        <p:grpSpPr>
          <a:xfrm>
            <a:off x="5401460" y="3372655"/>
            <a:ext cx="3029512" cy="3125239"/>
            <a:chOff x="5401460" y="3372655"/>
            <a:chExt cx="3029512" cy="3125239"/>
          </a:xfrm>
        </p:grpSpPr>
        <p:grpSp>
          <p:nvGrpSpPr>
            <p:cNvPr id="17" name="群組 16">
              <a:extLst>
                <a:ext uri="{FF2B5EF4-FFF2-40B4-BE49-F238E27FC236}">
                  <a16:creationId xmlns:a16="http://schemas.microsoft.com/office/drawing/2014/main" id="{3F4853A3-1AD9-48BB-A4E9-3E2432208217}"/>
                </a:ext>
              </a:extLst>
            </p:cNvPr>
            <p:cNvGrpSpPr/>
            <p:nvPr/>
          </p:nvGrpSpPr>
          <p:grpSpPr>
            <a:xfrm>
              <a:off x="5401460" y="3835400"/>
              <a:ext cx="3029512" cy="2561138"/>
              <a:chOff x="5401460" y="3835400"/>
              <a:chExt cx="3029512" cy="2561138"/>
            </a:xfrm>
          </p:grpSpPr>
          <p:pic>
            <p:nvPicPr>
              <p:cNvPr id="9" name="圖片 8">
                <a:extLst>
                  <a:ext uri="{FF2B5EF4-FFF2-40B4-BE49-F238E27FC236}">
                    <a16:creationId xmlns:a16="http://schemas.microsoft.com/office/drawing/2014/main" id="{E470E67E-5157-4CE8-B132-CE8E93F8351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01460" y="3835400"/>
                <a:ext cx="2868646" cy="2561138"/>
              </a:xfrm>
              <a:prstGeom prst="rect">
                <a:avLst/>
              </a:prstGeom>
            </p:spPr>
          </p:pic>
          <p:sp>
            <p:nvSpPr>
              <p:cNvPr id="23" name="矩形 22">
                <a:extLst>
                  <a:ext uri="{FF2B5EF4-FFF2-40B4-BE49-F238E27FC236}">
                    <a16:creationId xmlns:a16="http://schemas.microsoft.com/office/drawing/2014/main" id="{9096441A-5505-4018-B5F8-B62C53C49239}"/>
                  </a:ext>
                </a:extLst>
              </p:cNvPr>
              <p:cNvSpPr/>
              <p:nvPr/>
            </p:nvSpPr>
            <p:spPr>
              <a:xfrm>
                <a:off x="8109239" y="4778576"/>
                <a:ext cx="321733" cy="8371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455563F4-1992-49AB-8F15-6A2F142313FA}"/>
                    </a:ext>
                  </a:extLst>
                </p:cNvPr>
                <p:cNvSpPr txBox="1"/>
                <p:nvPr/>
              </p:nvSpPr>
              <p:spPr>
                <a:xfrm rot="16200000">
                  <a:off x="6669992" y="4765998"/>
                  <a:ext cx="3125239" cy="338554"/>
                </a:xfrm>
                <a:prstGeom prst="rect">
                  <a:avLst/>
                </a:prstGeom>
                <a:noFill/>
              </p:spPr>
              <p:txBody>
                <a:bodyPr wrap="square">
                  <a:spAutoFit/>
                </a:bodyPr>
                <a:lstStyle/>
                <a:p>
                  <a14:m>
                    <m:oMath xmlns:m="http://schemas.openxmlformats.org/officeDocument/2006/math">
                      <m:r>
                        <a:rPr lang="en-US" altLang="zh-TW" sz="1600" b="0" i="1" smtClean="0">
                          <a:latin typeface="Cambria Math" panose="02040503050406030204" pitchFamily="18" charset="0"/>
                          <a:ea typeface="Cambria Math" panose="02040503050406030204" pitchFamily="18" charset="0"/>
                        </a:rPr>
                        <m:t>𝐴𝑐𝑡𝑢𝑎𝑡𝑖𝑜𝑛</m:t>
                      </m:r>
                      <m:r>
                        <a:rPr lang="en-US" altLang="zh-TW" sz="1600" b="0" i="1" smtClean="0">
                          <a:latin typeface="Cambria Math" panose="02040503050406030204" pitchFamily="18" charset="0"/>
                          <a:ea typeface="Cambria Math" panose="02040503050406030204" pitchFamily="18" charset="0"/>
                        </a:rPr>
                        <m:t> </m:t>
                      </m:r>
                      <m:r>
                        <a:rPr lang="en-US" altLang="zh-TW" sz="1600" b="0" i="1" smtClean="0">
                          <a:latin typeface="Cambria Math" panose="02040503050406030204" pitchFamily="18" charset="0"/>
                          <a:ea typeface="Cambria Math" panose="02040503050406030204" pitchFamily="18" charset="0"/>
                        </a:rPr>
                        <m:t>𝑣𝑜𝑙𝑢𝑚𝑒</m:t>
                      </m:r>
                    </m:oMath>
                  </a14:m>
                  <a:r>
                    <a:rPr lang="en-US" altLang="zh-TW" sz="1600" i="1" dirty="0">
                      <a:ea typeface="Cambria Math" panose="02040503050406030204" pitchFamily="18" charset="0"/>
                    </a:rPr>
                    <a:t> </a:t>
                  </a:r>
                  <a14:m>
                    <m:oMath xmlns:m="http://schemas.openxmlformats.org/officeDocument/2006/math">
                      <m:r>
                        <a:rPr lang="en-US" altLang="zh-TW" sz="1600" i="1">
                          <a:latin typeface="Cambria Math" panose="02040503050406030204" pitchFamily="18" charset="0"/>
                          <a:ea typeface="Cambria Math" panose="02040503050406030204" pitchFamily="18" charset="0"/>
                        </a:rPr>
                        <m:t>(</m:t>
                      </m:r>
                      <m:sSup>
                        <m:sSupPr>
                          <m:ctrlPr>
                            <a:rPr lang="en-US" altLang="zh-TW" sz="1600" i="1">
                              <a:latin typeface="Cambria Math" panose="02040503050406030204" pitchFamily="18" charset="0"/>
                              <a:ea typeface="Cambria Math" panose="02040503050406030204" pitchFamily="18" charset="0"/>
                            </a:rPr>
                          </m:ctrlPr>
                        </m:sSupPr>
                        <m:e>
                          <m:f>
                            <m:fPr>
                              <m:type m:val="lin"/>
                              <m:ctrlPr>
                                <a:rPr lang="en-US" altLang="zh-TW" sz="1600" i="1">
                                  <a:latin typeface="Cambria Math" panose="02040503050406030204" pitchFamily="18" charset="0"/>
                                  <a:ea typeface="Cambria Math" panose="02040503050406030204" pitchFamily="18" charset="0"/>
                                </a:rPr>
                              </m:ctrlPr>
                            </m:fPr>
                            <m:num>
                              <m:r>
                                <a:rPr lang="en-US" altLang="zh-TW" sz="1600" i="1">
                                  <a:latin typeface="Cambria Math" panose="02040503050406030204" pitchFamily="18" charset="0"/>
                                  <a:ea typeface="Cambria Math" panose="02040503050406030204" pitchFamily="18" charset="0"/>
                                </a:rPr>
                                <m:t>𝑚𝑇</m:t>
                              </m:r>
                            </m:num>
                            <m:den>
                              <m:r>
                                <a:rPr lang="en-US" altLang="zh-TW" sz="1600" i="1">
                                  <a:latin typeface="Cambria Math" panose="02040503050406030204" pitchFamily="18" charset="0"/>
                                  <a:ea typeface="Cambria Math" panose="02040503050406030204" pitchFamily="18" charset="0"/>
                                </a:rPr>
                                <m:t>𝐴</m:t>
                              </m:r>
                            </m:den>
                          </m:f>
                          <m:r>
                            <a:rPr lang="en-US" altLang="zh-TW" sz="1600" i="1">
                              <a:latin typeface="Cambria Math" panose="02040503050406030204" pitchFamily="18" charset="0"/>
                              <a:ea typeface="Cambria Math" panose="02040503050406030204" pitchFamily="18" charset="0"/>
                            </a:rPr>
                            <m:t>)</m:t>
                          </m:r>
                        </m:e>
                        <m:sup>
                          <m:r>
                            <a:rPr lang="en-US" altLang="zh-TW" sz="1600" i="1">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26" name="文字方塊 25">
                  <a:extLst>
                    <a:ext uri="{FF2B5EF4-FFF2-40B4-BE49-F238E27FC236}">
                      <a16:creationId xmlns:a16="http://schemas.microsoft.com/office/drawing/2014/main" id="{455563F4-1992-49AB-8F15-6A2F142313FA}"/>
                    </a:ext>
                  </a:extLst>
                </p:cNvPr>
                <p:cNvSpPr txBox="1">
                  <a:spLocks noRot="1" noChangeAspect="1" noMove="1" noResize="1" noEditPoints="1" noAdjustHandles="1" noChangeArrowheads="1" noChangeShapeType="1" noTextEdit="1"/>
                </p:cNvSpPr>
                <p:nvPr/>
              </p:nvSpPr>
              <p:spPr>
                <a:xfrm rot="16200000">
                  <a:off x="6669992" y="4765998"/>
                  <a:ext cx="3125239" cy="338554"/>
                </a:xfrm>
                <a:prstGeom prst="rect">
                  <a:avLst/>
                </a:prstGeom>
                <a:blipFill>
                  <a:blip r:embed="rId11"/>
                  <a:stretch>
                    <a:fillRect l="-103636" r="-167273"/>
                  </a:stretch>
                </a:blipFill>
              </p:spPr>
              <p:txBody>
                <a:bodyPr/>
                <a:lstStyle/>
                <a:p>
                  <a:r>
                    <a:rPr lang="zh-TW" altLang="en-US">
                      <a:noFill/>
                    </a:rPr>
                    <a:t> </a:t>
                  </a:r>
                </a:p>
              </p:txBody>
            </p:sp>
          </mc:Fallback>
        </mc:AlternateContent>
      </p:grpSp>
      <p:sp>
        <p:nvSpPr>
          <p:cNvPr id="30" name="auto caption"/>
          <p:cNvSpPr txBox="1"/>
          <p:nvPr/>
        </p:nvSpPr>
        <p:spPr>
          <a:xfrm>
            <a:off x="122344" y="876036"/>
            <a:ext cx="4935532" cy="2062897"/>
          </a:xfrm>
          <a:prstGeom prst="rect">
            <a:avLst/>
          </a:prstGeom>
          <a:noFill/>
        </p:spPr>
        <p:txBody>
          <a:bodyPr wrap="square" rtlCol="0">
            <a:normAutofit/>
          </a:bodyPr>
          <a:lstStyle/>
          <a:p>
            <a:pPr marL="285750" indent="-285750"/>
            <a:r>
              <a:rPr lang="en-US" altLang="zh-TW" sz="1400" dirty="0"/>
              <a:t>Setup: Design 2, same quantity and planes, out to its own 594 um pole-tip sphere.</a:t>
            </a:r>
          </a:p>
          <a:p>
            <a:pPr marL="285750" indent="-285750"/>
            <a:endParaRPr lang="en-US" altLang="zh-TW" sz="1400" dirty="0"/>
          </a:p>
          <a:p>
            <a:pPr marL="285750" indent="-285750"/>
            <a:r>
              <a:rPr lang="en-US" altLang="zh-TW" sz="1400" dirty="0"/>
              <a:t>It runs from about 120 at the centre to 287 near the poles, roughly 24 times below Design 1. That factor is just the per-axis deficit cubed: the actuation volume is a product of three gains, so a gain ratio of 2.9 becomes 2.9 cubed, or 24. The pattern is two-fold rather than four-fold because the P1-P2 pair is about 2.2 times stronger than the other four poles.</a:t>
            </a:r>
          </a:p>
        </p:txBody>
      </p:sp>
    </p:spTree>
    <p:extLst>
      <p:ext uri="{BB962C8B-B14F-4D97-AF65-F5344CB8AC3E}">
        <p14:creationId xmlns:p14="http://schemas.microsoft.com/office/powerpoint/2010/main" val="1741391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204261"/>
            <a:ext cx="12192000" cy="837142"/>
          </a:xfrm>
        </p:spPr>
        <p:txBody>
          <a:bodyPr>
            <a:normAutofit fontScale="90000"/>
          </a:bodyPr>
          <a:lstStyle/>
          <a:p>
            <a:r>
              <a:rPr lang="en-US" altLang="zh-TW" sz="3600" b="1" kern="100" dirty="0">
                <a:solidFill>
                  <a:srgbClr val="000000"/>
                </a:solidFill>
                <a:latin typeface="Aptos"/>
                <a:ea typeface="新細明體" panose="02020500000000000000" pitchFamily="18" charset="-120"/>
                <a:cs typeface="Times New Roman" panose="02020603050405020304" pitchFamily="18" charset="0"/>
              </a:rPr>
              <a:t>Quantitative Assessment of Multi-Pole Actuators</a:t>
            </a:r>
            <a:br>
              <a:rPr lang="zh-TW" altLang="zh-TW" sz="1800" kern="100" dirty="0">
                <a:effectLst/>
                <a:latin typeface="Aptos"/>
                <a:ea typeface="新細明體" panose="02020500000000000000" pitchFamily="18" charset="-120"/>
                <a:cs typeface="Times New Roman" panose="02020603050405020304" pitchFamily="18" charset="0"/>
              </a:rPr>
            </a:b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6" name="文字方塊 15">
            <a:extLst>
              <a:ext uri="{FF2B5EF4-FFF2-40B4-BE49-F238E27FC236}">
                <a16:creationId xmlns:a16="http://schemas.microsoft.com/office/drawing/2014/main" id="{6BA9955A-92B3-406A-93D9-E13D8B8C100E}"/>
              </a:ext>
            </a:extLst>
          </p:cNvPr>
          <p:cNvSpPr txBox="1"/>
          <p:nvPr/>
        </p:nvSpPr>
        <p:spPr>
          <a:xfrm>
            <a:off x="118533" y="516467"/>
            <a:ext cx="3588625" cy="369332"/>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t>Design2</a:t>
            </a:r>
            <a:endParaRPr lang="zh-TW" altLang="en-US" dirty="0"/>
          </a:p>
        </p:txBody>
      </p:sp>
      <p:grpSp>
        <p:nvGrpSpPr>
          <p:cNvPr id="21" name="群組 20">
            <a:extLst>
              <a:ext uri="{FF2B5EF4-FFF2-40B4-BE49-F238E27FC236}">
                <a16:creationId xmlns:a16="http://schemas.microsoft.com/office/drawing/2014/main" id="{E7A4EB50-D5AE-4046-B396-A193B8E19B6C}"/>
              </a:ext>
            </a:extLst>
          </p:cNvPr>
          <p:cNvGrpSpPr/>
          <p:nvPr/>
        </p:nvGrpSpPr>
        <p:grpSpPr>
          <a:xfrm>
            <a:off x="308975" y="3094538"/>
            <a:ext cx="4001909" cy="3440500"/>
            <a:chOff x="153803" y="1778000"/>
            <a:chExt cx="4001909" cy="3440500"/>
          </a:xfrm>
        </p:grpSpPr>
        <p:pic>
          <p:nvPicPr>
            <p:cNvPr id="18" name="圖片 17">
              <a:extLst>
                <a:ext uri="{FF2B5EF4-FFF2-40B4-BE49-F238E27FC236}">
                  <a16:creationId xmlns:a16="http://schemas.microsoft.com/office/drawing/2014/main" id="{81308EA3-A0F0-4EC9-B079-45A2C40EA4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14" y="1778000"/>
              <a:ext cx="3318710" cy="3302000"/>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73C9FCA6-6258-42E6-9B59-A8AA4128A3F4}"/>
                    </a:ext>
                  </a:extLst>
                </p:cNvPr>
                <p:cNvSpPr txBox="1"/>
                <p:nvPr/>
              </p:nvSpPr>
              <p:spPr>
                <a:xfrm rot="866049">
                  <a:off x="798196" y="4941501"/>
                  <a:ext cx="14200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73C9FCA6-6258-42E6-9B59-A8AA4128A3F4}"/>
                    </a:ext>
                  </a:extLst>
                </p:cNvPr>
                <p:cNvSpPr txBox="1">
                  <a:spLocks noRot="1" noChangeAspect="1" noMove="1" noResize="1" noEditPoints="1" noAdjustHandles="1" noChangeArrowheads="1" noChangeShapeType="1" noTextEdit="1"/>
                </p:cNvSpPr>
                <p:nvPr/>
              </p:nvSpPr>
              <p:spPr>
                <a:xfrm rot="866049">
                  <a:off x="798196" y="4941501"/>
                  <a:ext cx="1420004" cy="276999"/>
                </a:xfrm>
                <a:prstGeom prst="rect">
                  <a:avLst/>
                </a:prstGeom>
                <a:blipFill>
                  <a:blip r:embed="rId3"/>
                  <a:stretch>
                    <a:fillRect l="-420" r="-3361" b="-174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F1437522-B05F-4B31-B5C6-5DA807A3886F}"/>
                    </a:ext>
                  </a:extLst>
                </p:cNvPr>
                <p:cNvSpPr txBox="1"/>
                <p:nvPr/>
              </p:nvSpPr>
              <p:spPr>
                <a:xfrm rot="19253996">
                  <a:off x="2777193" y="4716439"/>
                  <a:ext cx="137851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𝑦</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19" name="文字方塊 18">
                  <a:extLst>
                    <a:ext uri="{FF2B5EF4-FFF2-40B4-BE49-F238E27FC236}">
                      <a16:creationId xmlns:a16="http://schemas.microsoft.com/office/drawing/2014/main" id="{F1437522-B05F-4B31-B5C6-5DA807A3886F}"/>
                    </a:ext>
                  </a:extLst>
                </p:cNvPr>
                <p:cNvSpPr txBox="1">
                  <a:spLocks noRot="1" noChangeAspect="1" noMove="1" noResize="1" noEditPoints="1" noAdjustHandles="1" noChangeArrowheads="1" noChangeShapeType="1" noTextEdit="1"/>
                </p:cNvSpPr>
                <p:nvPr/>
              </p:nvSpPr>
              <p:spPr>
                <a:xfrm rot="19253996">
                  <a:off x="2777193" y="4716439"/>
                  <a:ext cx="1378519" cy="276999"/>
                </a:xfrm>
                <a:prstGeom prst="rect">
                  <a:avLst/>
                </a:prstGeom>
                <a:blipFill>
                  <a:blip r:embed="rId4"/>
                  <a:stretch>
                    <a:fillRect t="-4469" r="-9268" b="-782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8EC340F8-82FB-45D4-8EFE-B8337B9FBAF1}"/>
                    </a:ext>
                  </a:extLst>
                </p:cNvPr>
                <p:cNvSpPr txBox="1"/>
                <p:nvPr/>
              </p:nvSpPr>
              <p:spPr>
                <a:xfrm rot="16200000">
                  <a:off x="-388140" y="3480238"/>
                  <a:ext cx="13608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𝑧</m:t>
                        </m:r>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axis</m:t>
                        </m:r>
                        <m:r>
                          <a:rPr lang="en-US" altLang="zh-TW" b="0" i="1" smtClean="0">
                            <a:latin typeface="Cambria Math" panose="02040503050406030204" pitchFamily="18" charset="0"/>
                          </a:rPr>
                          <m:t>(</m:t>
                        </m:r>
                        <m:r>
                          <a:rPr lang="en-US" altLang="zh-TW" b="0" i="1" smtClean="0">
                            <a:latin typeface="Cambria Math" panose="02040503050406030204" pitchFamily="18" charset="0"/>
                          </a:rPr>
                          <m:t>𝑢𝑚</m:t>
                        </m:r>
                        <m:r>
                          <a:rPr lang="en-US" altLang="zh-TW" b="0" i="1" smtClean="0">
                            <a:latin typeface="Cambria Math" panose="02040503050406030204" pitchFamily="18" charset="0"/>
                          </a:rPr>
                          <m:t>)</m:t>
                        </m:r>
                      </m:oMath>
                    </m:oMathPara>
                  </a14:m>
                  <a:endParaRPr lang="zh-TW" altLang="en-US" i="1" dirty="0">
                    <a:latin typeface="Times New Roman" panose="02020603050405020304" pitchFamily="18" charset="0"/>
                    <a:cs typeface="Times New Roman" panose="02020603050405020304" pitchFamily="18" charset="0"/>
                  </a:endParaRPr>
                </a:p>
              </p:txBody>
            </p:sp>
          </mc:Choice>
          <mc:Fallback xmlns="">
            <p:sp>
              <p:nvSpPr>
                <p:cNvPr id="20" name="文字方塊 19">
                  <a:extLst>
                    <a:ext uri="{FF2B5EF4-FFF2-40B4-BE49-F238E27FC236}">
                      <a16:creationId xmlns:a16="http://schemas.microsoft.com/office/drawing/2014/main" id="{8EC340F8-82FB-45D4-8EFE-B8337B9FBAF1}"/>
                    </a:ext>
                  </a:extLst>
                </p:cNvPr>
                <p:cNvSpPr txBox="1">
                  <a:spLocks noRot="1" noChangeAspect="1" noMove="1" noResize="1" noEditPoints="1" noAdjustHandles="1" noChangeArrowheads="1" noChangeShapeType="1" noTextEdit="1"/>
                </p:cNvSpPr>
                <p:nvPr/>
              </p:nvSpPr>
              <p:spPr>
                <a:xfrm rot="16200000">
                  <a:off x="-388140" y="3480238"/>
                  <a:ext cx="1360885" cy="276999"/>
                </a:xfrm>
                <a:prstGeom prst="rect">
                  <a:avLst/>
                </a:prstGeom>
                <a:blipFill>
                  <a:blip r:embed="rId5"/>
                  <a:stretch>
                    <a:fillRect l="-2222" t="-5830" r="-37778" b="-1794"/>
                  </a:stretch>
                </a:blipFill>
              </p:spPr>
              <p:txBody>
                <a:bodyPr/>
                <a:lstStyle/>
                <a:p>
                  <a:r>
                    <a:rPr lang="zh-TW" altLang="en-US">
                      <a:noFill/>
                    </a:rPr>
                    <a:t> </a:t>
                  </a:r>
                </a:p>
              </p:txBody>
            </p:sp>
          </mc:Fallback>
        </mc:AlternateContent>
      </p:grpSp>
      <p:sp>
        <p:nvSpPr>
          <p:cNvPr id="15" name="矩形 14">
            <a:extLst>
              <a:ext uri="{FF2B5EF4-FFF2-40B4-BE49-F238E27FC236}">
                <a16:creationId xmlns:a16="http://schemas.microsoft.com/office/drawing/2014/main" id="{6BF00FC6-6E26-40B0-A792-2D6329B98B3D}"/>
              </a:ext>
            </a:extLst>
          </p:cNvPr>
          <p:cNvSpPr/>
          <p:nvPr/>
        </p:nvSpPr>
        <p:spPr>
          <a:xfrm>
            <a:off x="8314062" y="1981200"/>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a:extLst>
              <a:ext uri="{FF2B5EF4-FFF2-40B4-BE49-F238E27FC236}">
                <a16:creationId xmlns:a16="http://schemas.microsoft.com/office/drawing/2014/main" id="{FFA1F033-E32F-4EEE-87A7-33AA55104BBD}"/>
              </a:ext>
            </a:extLst>
          </p:cNvPr>
          <p:cNvSpPr/>
          <p:nvPr/>
        </p:nvSpPr>
        <p:spPr>
          <a:xfrm>
            <a:off x="11921067" y="1981200"/>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矩形 30">
            <a:extLst>
              <a:ext uri="{FF2B5EF4-FFF2-40B4-BE49-F238E27FC236}">
                <a16:creationId xmlns:a16="http://schemas.microsoft.com/office/drawing/2014/main" id="{796E02D1-9AC6-4C9C-A4C3-EB5DC95F9421}"/>
              </a:ext>
            </a:extLst>
          </p:cNvPr>
          <p:cNvSpPr/>
          <p:nvPr/>
        </p:nvSpPr>
        <p:spPr>
          <a:xfrm>
            <a:off x="8211296" y="5248294"/>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5" name="群組 34">
            <a:extLst>
              <a:ext uri="{FF2B5EF4-FFF2-40B4-BE49-F238E27FC236}">
                <a16:creationId xmlns:a16="http://schemas.microsoft.com/office/drawing/2014/main" id="{9F24AA07-BAF0-4B3A-A61A-4F54E1430820}"/>
              </a:ext>
            </a:extLst>
          </p:cNvPr>
          <p:cNvGrpSpPr/>
          <p:nvPr/>
        </p:nvGrpSpPr>
        <p:grpSpPr>
          <a:xfrm>
            <a:off x="4840074" y="474528"/>
            <a:ext cx="3664997" cy="3227359"/>
            <a:chOff x="4898066" y="454291"/>
            <a:chExt cx="3664997" cy="3227359"/>
          </a:xfrm>
        </p:grpSpPr>
        <p:grpSp>
          <p:nvGrpSpPr>
            <p:cNvPr id="32" name="群組 31">
              <a:extLst>
                <a:ext uri="{FF2B5EF4-FFF2-40B4-BE49-F238E27FC236}">
                  <a16:creationId xmlns:a16="http://schemas.microsoft.com/office/drawing/2014/main" id="{C7143E67-4008-42E9-A94A-CE4C2560A02E}"/>
                </a:ext>
              </a:extLst>
            </p:cNvPr>
            <p:cNvGrpSpPr/>
            <p:nvPr/>
          </p:nvGrpSpPr>
          <p:grpSpPr>
            <a:xfrm>
              <a:off x="4898066" y="454291"/>
              <a:ext cx="3544667" cy="3227359"/>
              <a:chOff x="4898066" y="454291"/>
              <a:chExt cx="3544667" cy="3227359"/>
            </a:xfrm>
          </p:grpSpPr>
          <p:pic>
            <p:nvPicPr>
              <p:cNvPr id="5" name="圖片 4">
                <a:extLst>
                  <a:ext uri="{FF2B5EF4-FFF2-40B4-BE49-F238E27FC236}">
                    <a16:creationId xmlns:a16="http://schemas.microsoft.com/office/drawing/2014/main" id="{AA6A23A9-40CC-4520-A455-BFE0CC8160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8066" y="454291"/>
                <a:ext cx="3523365" cy="3227359"/>
              </a:xfrm>
              <a:prstGeom prst="rect">
                <a:avLst/>
              </a:prstGeom>
            </p:spPr>
          </p:pic>
          <p:sp>
            <p:nvSpPr>
              <p:cNvPr id="29" name="矩形 28">
                <a:extLst>
                  <a:ext uri="{FF2B5EF4-FFF2-40B4-BE49-F238E27FC236}">
                    <a16:creationId xmlns:a16="http://schemas.microsoft.com/office/drawing/2014/main" id="{57F8D0DE-9FE9-4A9F-B204-9A60718399AC}"/>
                  </a:ext>
                </a:extLst>
              </p:cNvPr>
              <p:cNvSpPr/>
              <p:nvPr/>
            </p:nvSpPr>
            <p:spPr>
              <a:xfrm>
                <a:off x="8314062" y="1981200"/>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E190197-3D49-4725-8875-B81CD46FC75D}"/>
                    </a:ext>
                  </a:extLst>
                </p:cNvPr>
                <p:cNvSpPr txBox="1"/>
                <p:nvPr/>
              </p:nvSpPr>
              <p:spPr>
                <a:xfrm rot="16200000">
                  <a:off x="7792821" y="1957400"/>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4" name="文字方塊 23">
                  <a:extLst>
                    <a:ext uri="{FF2B5EF4-FFF2-40B4-BE49-F238E27FC236}">
                      <a16:creationId xmlns:a16="http://schemas.microsoft.com/office/drawing/2014/main" id="{BE190197-3D49-4725-8875-B81CD46FC75D}"/>
                    </a:ext>
                  </a:extLst>
                </p:cNvPr>
                <p:cNvSpPr txBox="1">
                  <a:spLocks noRot="1" noChangeAspect="1" noMove="1" noResize="1" noEditPoints="1" noAdjustHandles="1" noChangeArrowheads="1" noChangeShapeType="1" noTextEdit="1"/>
                </p:cNvSpPr>
                <p:nvPr/>
              </p:nvSpPr>
              <p:spPr>
                <a:xfrm rot="16200000">
                  <a:off x="7792821" y="1957400"/>
                  <a:ext cx="1171152" cy="369332"/>
                </a:xfrm>
                <a:prstGeom prst="rect">
                  <a:avLst/>
                </a:prstGeom>
                <a:blipFill>
                  <a:blip r:embed="rId7"/>
                  <a:stretch>
                    <a:fillRect r="-11475"/>
                  </a:stretch>
                </a:blipFill>
              </p:spPr>
              <p:txBody>
                <a:bodyPr/>
                <a:lstStyle/>
                <a:p>
                  <a:r>
                    <a:rPr lang="zh-TW" altLang="en-US">
                      <a:noFill/>
                    </a:rPr>
                    <a:t> </a:t>
                  </a:r>
                </a:p>
              </p:txBody>
            </p:sp>
          </mc:Fallback>
        </mc:AlternateContent>
      </p:grpSp>
      <p:grpSp>
        <p:nvGrpSpPr>
          <p:cNvPr id="36" name="群組 35">
            <a:extLst>
              <a:ext uri="{FF2B5EF4-FFF2-40B4-BE49-F238E27FC236}">
                <a16:creationId xmlns:a16="http://schemas.microsoft.com/office/drawing/2014/main" id="{CEB28701-FCA0-4FA1-BB92-35FCC29BC953}"/>
              </a:ext>
            </a:extLst>
          </p:cNvPr>
          <p:cNvGrpSpPr/>
          <p:nvPr/>
        </p:nvGrpSpPr>
        <p:grpSpPr>
          <a:xfrm>
            <a:off x="8528800" y="516467"/>
            <a:ext cx="3630734" cy="3148799"/>
            <a:chOff x="8550102" y="516467"/>
            <a:chExt cx="3630734" cy="3148799"/>
          </a:xfrm>
        </p:grpSpPr>
        <p:grpSp>
          <p:nvGrpSpPr>
            <p:cNvPr id="33" name="群組 32">
              <a:extLst>
                <a:ext uri="{FF2B5EF4-FFF2-40B4-BE49-F238E27FC236}">
                  <a16:creationId xmlns:a16="http://schemas.microsoft.com/office/drawing/2014/main" id="{DC90FB89-730D-44BC-8611-F73914BDA6E7}"/>
                </a:ext>
              </a:extLst>
            </p:cNvPr>
            <p:cNvGrpSpPr/>
            <p:nvPr/>
          </p:nvGrpSpPr>
          <p:grpSpPr>
            <a:xfrm>
              <a:off x="8550102" y="516467"/>
              <a:ext cx="3554534" cy="3148799"/>
              <a:chOff x="8550102" y="516467"/>
              <a:chExt cx="3554534" cy="3148799"/>
            </a:xfrm>
          </p:grpSpPr>
          <p:pic>
            <p:nvPicPr>
              <p:cNvPr id="14" name="圖片 13">
                <a:extLst>
                  <a:ext uri="{FF2B5EF4-FFF2-40B4-BE49-F238E27FC236}">
                    <a16:creationId xmlns:a16="http://schemas.microsoft.com/office/drawing/2014/main" id="{890F95FE-F276-46AD-9247-BCA77793C8D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50102" y="516467"/>
                <a:ext cx="3523365" cy="3148799"/>
              </a:xfrm>
              <a:prstGeom prst="rect">
                <a:avLst/>
              </a:prstGeom>
            </p:spPr>
          </p:pic>
          <p:sp>
            <p:nvSpPr>
              <p:cNvPr id="30" name="矩形 29">
                <a:extLst>
                  <a:ext uri="{FF2B5EF4-FFF2-40B4-BE49-F238E27FC236}">
                    <a16:creationId xmlns:a16="http://schemas.microsoft.com/office/drawing/2014/main" id="{9CA350C6-B758-4CE2-9272-34E45AA6C3C4}"/>
                  </a:ext>
                </a:extLst>
              </p:cNvPr>
              <p:cNvSpPr/>
              <p:nvPr/>
            </p:nvSpPr>
            <p:spPr>
              <a:xfrm>
                <a:off x="11975965" y="2025636"/>
                <a:ext cx="128671"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76CB8592-D471-460D-AD7D-93AE75852F15}"/>
                    </a:ext>
                  </a:extLst>
                </p:cNvPr>
                <p:cNvSpPr txBox="1"/>
                <p:nvPr/>
              </p:nvSpPr>
              <p:spPr>
                <a:xfrm rot="16200000">
                  <a:off x="11410594" y="1883304"/>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5" name="文字方塊 24">
                  <a:extLst>
                    <a:ext uri="{FF2B5EF4-FFF2-40B4-BE49-F238E27FC236}">
                      <a16:creationId xmlns:a16="http://schemas.microsoft.com/office/drawing/2014/main" id="{76CB8592-D471-460D-AD7D-93AE75852F15}"/>
                    </a:ext>
                  </a:extLst>
                </p:cNvPr>
                <p:cNvSpPr txBox="1">
                  <a:spLocks noRot="1" noChangeAspect="1" noMove="1" noResize="1" noEditPoints="1" noAdjustHandles="1" noChangeArrowheads="1" noChangeShapeType="1" noTextEdit="1"/>
                </p:cNvSpPr>
                <p:nvPr/>
              </p:nvSpPr>
              <p:spPr>
                <a:xfrm rot="16200000">
                  <a:off x="11410594" y="1883304"/>
                  <a:ext cx="1171152" cy="369332"/>
                </a:xfrm>
                <a:prstGeom prst="rect">
                  <a:avLst/>
                </a:prstGeom>
                <a:blipFill>
                  <a:blip r:embed="rId9"/>
                  <a:stretch>
                    <a:fillRect r="-13333"/>
                  </a:stretch>
                </a:blipFill>
              </p:spPr>
              <p:txBody>
                <a:bodyPr/>
                <a:lstStyle/>
                <a:p>
                  <a:r>
                    <a:rPr lang="zh-TW" altLang="en-US">
                      <a:noFill/>
                    </a:rPr>
                    <a:t> </a:t>
                  </a:r>
                </a:p>
              </p:txBody>
            </p:sp>
          </mc:Fallback>
        </mc:AlternateContent>
      </p:grpSp>
      <p:grpSp>
        <p:nvGrpSpPr>
          <p:cNvPr id="40" name="群組 39">
            <a:extLst>
              <a:ext uri="{FF2B5EF4-FFF2-40B4-BE49-F238E27FC236}">
                <a16:creationId xmlns:a16="http://schemas.microsoft.com/office/drawing/2014/main" id="{27264197-7A6E-42E4-AEB3-A7308359437F}"/>
              </a:ext>
            </a:extLst>
          </p:cNvPr>
          <p:cNvGrpSpPr/>
          <p:nvPr/>
        </p:nvGrpSpPr>
        <p:grpSpPr>
          <a:xfrm>
            <a:off x="5004606" y="3774226"/>
            <a:ext cx="3481160" cy="3032182"/>
            <a:chOff x="5004606" y="3774226"/>
            <a:chExt cx="3481160" cy="3032182"/>
          </a:xfrm>
        </p:grpSpPr>
        <p:grpSp>
          <p:nvGrpSpPr>
            <p:cNvPr id="39" name="群組 38">
              <a:extLst>
                <a:ext uri="{FF2B5EF4-FFF2-40B4-BE49-F238E27FC236}">
                  <a16:creationId xmlns:a16="http://schemas.microsoft.com/office/drawing/2014/main" id="{E00C05D4-1F98-4DC8-9498-2416163AB032}"/>
                </a:ext>
              </a:extLst>
            </p:cNvPr>
            <p:cNvGrpSpPr/>
            <p:nvPr/>
          </p:nvGrpSpPr>
          <p:grpSpPr>
            <a:xfrm>
              <a:off x="5004606" y="3774226"/>
              <a:ext cx="3419962" cy="3032182"/>
              <a:chOff x="5004606" y="3774226"/>
              <a:chExt cx="3419962" cy="3032182"/>
            </a:xfrm>
          </p:grpSpPr>
          <p:grpSp>
            <p:nvGrpSpPr>
              <p:cNvPr id="34" name="群組 33">
                <a:extLst>
                  <a:ext uri="{FF2B5EF4-FFF2-40B4-BE49-F238E27FC236}">
                    <a16:creationId xmlns:a16="http://schemas.microsoft.com/office/drawing/2014/main" id="{AB129ACF-90B6-4820-8B99-C230DC1AFB7C}"/>
                  </a:ext>
                </a:extLst>
              </p:cNvPr>
              <p:cNvGrpSpPr/>
              <p:nvPr/>
            </p:nvGrpSpPr>
            <p:grpSpPr>
              <a:xfrm>
                <a:off x="5004606" y="3774226"/>
                <a:ext cx="3419962" cy="3032182"/>
                <a:chOff x="5004606" y="3774226"/>
                <a:chExt cx="3419962" cy="3032182"/>
              </a:xfrm>
            </p:grpSpPr>
            <p:sp>
              <p:nvSpPr>
                <p:cNvPr id="23" name="矩形 22">
                  <a:extLst>
                    <a:ext uri="{FF2B5EF4-FFF2-40B4-BE49-F238E27FC236}">
                      <a16:creationId xmlns:a16="http://schemas.microsoft.com/office/drawing/2014/main" id="{8D5F4B80-1280-4AAE-ABC9-EB0A0C224429}"/>
                    </a:ext>
                  </a:extLst>
                </p:cNvPr>
                <p:cNvSpPr/>
                <p:nvPr/>
              </p:nvSpPr>
              <p:spPr>
                <a:xfrm>
                  <a:off x="8209830" y="5248294"/>
                  <a:ext cx="214738" cy="43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C5FACB31-2C10-4878-8434-6767ED98D71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04606" y="3774226"/>
                  <a:ext cx="3310286" cy="3032182"/>
                </a:xfrm>
                <a:prstGeom prst="rect">
                  <a:avLst/>
                </a:prstGeom>
              </p:spPr>
            </p:pic>
          </p:grpSp>
          <p:sp>
            <p:nvSpPr>
              <p:cNvPr id="38" name="矩形 37">
                <a:extLst>
                  <a:ext uri="{FF2B5EF4-FFF2-40B4-BE49-F238E27FC236}">
                    <a16:creationId xmlns:a16="http://schemas.microsoft.com/office/drawing/2014/main" id="{6310F408-3ABA-424C-A45B-BA3A7AA7029D}"/>
                  </a:ext>
                </a:extLst>
              </p:cNvPr>
              <p:cNvSpPr/>
              <p:nvPr/>
            </p:nvSpPr>
            <p:spPr>
              <a:xfrm>
                <a:off x="8193731" y="5290317"/>
                <a:ext cx="214738" cy="279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26" name="文字方塊 25">
                  <a:extLst>
                    <a:ext uri="{FF2B5EF4-FFF2-40B4-BE49-F238E27FC236}">
                      <a16:creationId xmlns:a16="http://schemas.microsoft.com/office/drawing/2014/main" id="{E5CB4996-34D5-4347-9BE5-88C6929D5302}"/>
                    </a:ext>
                  </a:extLst>
                </p:cNvPr>
                <p:cNvSpPr txBox="1"/>
                <p:nvPr/>
              </p:nvSpPr>
              <p:spPr>
                <a:xfrm rot="16200000">
                  <a:off x="7715524" y="5063628"/>
                  <a:ext cx="1171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ea typeface="Cambria Math" panose="02040503050406030204" pitchFamily="18" charset="0"/>
                          </a:rPr>
                          <m:t>𝐼𝑠𝑜𝑡𝑟𝑜𝑝𝑦</m:t>
                        </m:r>
                      </m:oMath>
                    </m:oMathPara>
                  </a14:m>
                  <a:endParaRPr lang="zh-TW" altLang="en-US" dirty="0"/>
                </a:p>
              </p:txBody>
            </p:sp>
          </mc:Choice>
          <mc:Fallback xmlns="">
            <p:sp>
              <p:nvSpPr>
                <p:cNvPr id="26" name="文字方塊 25">
                  <a:extLst>
                    <a:ext uri="{FF2B5EF4-FFF2-40B4-BE49-F238E27FC236}">
                      <a16:creationId xmlns:a16="http://schemas.microsoft.com/office/drawing/2014/main" id="{E5CB4996-34D5-4347-9BE5-88C6929D5302}"/>
                    </a:ext>
                  </a:extLst>
                </p:cNvPr>
                <p:cNvSpPr txBox="1">
                  <a:spLocks noRot="1" noChangeAspect="1" noMove="1" noResize="1" noEditPoints="1" noAdjustHandles="1" noChangeArrowheads="1" noChangeShapeType="1" noTextEdit="1"/>
                </p:cNvSpPr>
                <p:nvPr/>
              </p:nvSpPr>
              <p:spPr>
                <a:xfrm rot="16200000">
                  <a:off x="7715524" y="5063628"/>
                  <a:ext cx="1171152" cy="369332"/>
                </a:xfrm>
                <a:prstGeom prst="rect">
                  <a:avLst/>
                </a:prstGeom>
                <a:blipFill>
                  <a:blip r:embed="rId11"/>
                  <a:stretch>
                    <a:fillRect r="-11475"/>
                  </a:stretch>
                </a:blipFill>
              </p:spPr>
              <p:txBody>
                <a:bodyPr/>
                <a:lstStyle/>
                <a:p>
                  <a:r>
                    <a:rPr lang="zh-TW" altLang="en-US">
                      <a:noFill/>
                    </a:rPr>
                    <a:t> </a:t>
                  </a:r>
                </a:p>
              </p:txBody>
            </p:sp>
          </mc:Fallback>
        </mc:AlternateContent>
      </p:grpSp>
      <p:sp>
        <p:nvSpPr>
          <p:cNvPr id="41" name="auto caption"/>
          <p:cNvSpPr txBox="1"/>
          <p:nvPr/>
        </p:nvSpPr>
        <p:spPr>
          <a:xfrm>
            <a:off x="118533" y="916539"/>
            <a:ext cx="4682067" cy="2088698"/>
          </a:xfrm>
          <a:prstGeom prst="rect">
            <a:avLst/>
          </a:prstGeom>
          <a:noFill/>
        </p:spPr>
        <p:txBody>
          <a:bodyPr wrap="square" rtlCol="0">
            <a:normAutofit/>
          </a:bodyPr>
          <a:lstStyle/>
          <a:p>
            <a:pPr marL="285750" indent="-285750"/>
            <a:r>
              <a:rPr lang="en-US" altLang="zh-TW" sz="1400" dirty="0"/>
              <a:t>Setup: Design 2, same planes, isotropy.</a:t>
            </a:r>
          </a:p>
          <a:p>
            <a:pPr marL="285750" indent="-285750"/>
            <a:endParaRPr lang="en-US" altLang="zh-TW" sz="1400" dirty="0"/>
          </a:p>
          <a:p>
            <a:pPr marL="285750" indent="-285750"/>
            <a:r>
              <a:rPr lang="en-US" altLang="zh-TW" sz="1400" dirty="0"/>
              <a:t>It stays between 0.07 and 0.33 everywhere and does not peak at the centre; the maxima sit off-centre near 396 um (six lobes on the y_a-z_a plane, two on the other two). The cause is the same pole imbalance: with the x_a pair about 2.2 times stronger, one singular direction dominates at every point, so the ratio never recovers and there is no isotropic core in which to place a workspace.</a:t>
            </a:r>
          </a:p>
        </p:txBody>
      </p:sp>
    </p:spTree>
    <p:extLst>
      <p:ext uri="{BB962C8B-B14F-4D97-AF65-F5344CB8AC3E}">
        <p14:creationId xmlns:p14="http://schemas.microsoft.com/office/powerpoint/2010/main" val="3875535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527AD032-2BCD-42FA-94F3-08857DF7AF3A}"/>
                  </a:ext>
                </a:extLst>
              </p:cNvPr>
              <p:cNvSpPr txBox="1"/>
              <p:nvPr/>
            </p:nvSpPr>
            <p:spPr>
              <a:xfrm>
                <a:off x="110067" y="552085"/>
                <a:ext cx="11763465" cy="383567"/>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𝑊𝑜𝑟𝑘𝑠𝑝𝑎𝑐𝑒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𝑟𝑎𝑑𝑖𝑢𝑠</m:t>
                    </m:r>
                    <m:r>
                      <a:rPr lang="en-US" altLang="zh-TW" b="0" i="1" smtClean="0">
                        <a:latin typeface="Cambria Math" panose="02040503050406030204" pitchFamily="18" charset="0"/>
                      </a:rPr>
                      <m:t>=</m:t>
                    </m:r>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ea typeface="Cambria Math" panose="02040503050406030204" pitchFamily="18" charset="0"/>
                          </a:rPr>
                          <m:t>ℓ</m:t>
                        </m:r>
                      </m:e>
                    </m:acc>
                  </m:oMath>
                </a14:m>
                <a:endParaRPr lang="zh-TW" altLang="en-US" dirty="0"/>
              </a:p>
            </p:txBody>
          </p:sp>
        </mc:Choice>
        <mc:Fallback xmlns="">
          <p:sp>
            <p:nvSpPr>
              <p:cNvPr id="21" name="文字方塊 20">
                <a:extLst>
                  <a:ext uri="{FF2B5EF4-FFF2-40B4-BE49-F238E27FC236}">
                    <a16:creationId xmlns:a16="http://schemas.microsoft.com/office/drawing/2014/main" id="{527AD032-2BCD-42FA-94F3-08857DF7AF3A}"/>
                  </a:ext>
                </a:extLst>
              </p:cNvPr>
              <p:cNvSpPr txBox="1">
                <a:spLocks noRot="1" noChangeAspect="1" noMove="1" noResize="1" noEditPoints="1" noAdjustHandles="1" noChangeArrowheads="1" noChangeShapeType="1" noTextEdit="1"/>
              </p:cNvSpPr>
              <p:nvPr/>
            </p:nvSpPr>
            <p:spPr>
              <a:xfrm>
                <a:off x="110067" y="552085"/>
                <a:ext cx="11763465" cy="383567"/>
              </a:xfrm>
              <a:prstGeom prst="rect">
                <a:avLst/>
              </a:prstGeom>
              <a:blipFill>
                <a:blip r:embed="rId2"/>
                <a:stretch>
                  <a:fillRect l="-311" t="-1613" b="-209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2DEABB3D-9062-4DA4-A120-2766352A3F4C}"/>
                  </a:ext>
                </a:extLst>
              </p:cNvPr>
              <p:cNvSpPr txBox="1"/>
              <p:nvPr/>
            </p:nvSpPr>
            <p:spPr>
              <a:xfrm>
                <a:off x="110067" y="1103976"/>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𝐹𝑙𝑢𝑥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𝑑𝑖𝑠𝑡𝑟𝑖𝑏𝑢𝑡𝑖𝑜𝑛</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𝑚𝑎𝑡𝑟𝑖𝑥</m:t>
                    </m:r>
                    <m:r>
                      <a:rPr lang="en-US" altLang="zh-TW" b="0" i="1" smtClean="0">
                        <a:latin typeface="Cambria Math" panose="02040503050406030204" pitchFamily="18" charset="0"/>
                        <a:ea typeface="Cambria Math" panose="02040503050406030204" pitchFamily="18" charset="0"/>
                      </a:rPr>
                      <m:t>=</m:t>
                    </m:r>
                    <m:sSub>
                      <m:sSubPr>
                        <m:ctrlPr>
                          <a:rPr lang="en-US" altLang="zh-TW" i="1" smtClean="0">
                            <a:latin typeface="Cambria Math" panose="02040503050406030204" pitchFamily="18" charset="0"/>
                          </a:rPr>
                        </m:ctrlPr>
                      </m:sSubPr>
                      <m:e>
                        <m:acc>
                          <m:accPr>
                            <m:chr m:val="̅"/>
                            <m:ctrlPr>
                              <a:rPr lang="en-US" altLang="zh-TW" i="1" smtClean="0">
                                <a:latin typeface="Cambria Math" panose="02040503050406030204" pitchFamily="18" charset="0"/>
                              </a:rPr>
                            </m:ctrlPr>
                          </m:accPr>
                          <m:e>
                            <m:r>
                              <a:rPr lang="en-US" altLang="zh-TW" b="0" i="1" smtClean="0">
                                <a:latin typeface="Cambria Math" panose="02040503050406030204" pitchFamily="18" charset="0"/>
                              </a:rPr>
                              <m:t>𝐾</m:t>
                            </m:r>
                          </m:e>
                        </m:acc>
                      </m:e>
                      <m:sub>
                        <m:r>
                          <a:rPr lang="en-US" altLang="zh-TW" b="0" i="1" smtClean="0">
                            <a:latin typeface="Cambria Math" panose="02040503050406030204" pitchFamily="18" charset="0"/>
                          </a:rPr>
                          <m:t>𝐼</m:t>
                        </m:r>
                      </m:sub>
                    </m:sSub>
                  </m:oMath>
                </a14:m>
                <a:endParaRPr lang="zh-TW" altLang="en-US" dirty="0"/>
              </a:p>
            </p:txBody>
          </p:sp>
        </mc:Choice>
        <mc:Fallback xmlns="">
          <p:sp>
            <p:nvSpPr>
              <p:cNvPr id="14" name="文字方塊 13">
                <a:extLst>
                  <a:ext uri="{FF2B5EF4-FFF2-40B4-BE49-F238E27FC236}">
                    <a16:creationId xmlns:a16="http://schemas.microsoft.com/office/drawing/2014/main" id="{2DEABB3D-9062-4DA4-A120-2766352A3F4C}"/>
                  </a:ext>
                </a:extLst>
              </p:cNvPr>
              <p:cNvSpPr txBox="1">
                <a:spLocks noRot="1" noChangeAspect="1" noMove="1" noResize="1" noEditPoints="1" noAdjustHandles="1" noChangeArrowheads="1" noChangeShapeType="1" noTextEdit="1"/>
              </p:cNvSpPr>
              <p:nvPr/>
            </p:nvSpPr>
            <p:spPr>
              <a:xfrm>
                <a:off x="110067" y="1103976"/>
                <a:ext cx="4258733" cy="369332"/>
              </a:xfrm>
              <a:prstGeom prst="rect">
                <a:avLst/>
              </a:prstGeom>
              <a:blipFill>
                <a:blip r:embed="rId3"/>
                <a:stretch>
                  <a:fillRect l="-858" t="-3279" b="-180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a:extLst>
                  <a:ext uri="{FF2B5EF4-FFF2-40B4-BE49-F238E27FC236}">
                    <a16:creationId xmlns:a16="http://schemas.microsoft.com/office/drawing/2014/main" id="{7423A256-C166-4717-91CD-2EEEBEC6306E}"/>
                  </a:ext>
                </a:extLst>
              </p:cNvPr>
              <p:cNvSpPr txBox="1"/>
              <p:nvPr/>
            </p:nvSpPr>
            <p:spPr>
              <a:xfrm>
                <a:off x="110067" y="1641632"/>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𝐶𝑢𝑟𝑟𝑒𝑛𝑡</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𝐼</m:t>
                            </m:r>
                          </m:sub>
                        </m:sSub>
                      </m:e>
                    </m:sPre>
                  </m:oMath>
                </a14:m>
                <a:endParaRPr lang="zh-TW" altLang="en-US" dirty="0"/>
              </a:p>
            </p:txBody>
          </p:sp>
        </mc:Choice>
        <mc:Fallback xmlns="">
          <p:sp>
            <p:nvSpPr>
              <p:cNvPr id="15" name="文字方塊 14">
                <a:extLst>
                  <a:ext uri="{FF2B5EF4-FFF2-40B4-BE49-F238E27FC236}">
                    <a16:creationId xmlns:a16="http://schemas.microsoft.com/office/drawing/2014/main" id="{7423A256-C166-4717-91CD-2EEEBEC6306E}"/>
                  </a:ext>
                </a:extLst>
              </p:cNvPr>
              <p:cNvSpPr txBox="1">
                <a:spLocks noRot="1" noChangeAspect="1" noMove="1" noResize="1" noEditPoints="1" noAdjustHandles="1" noChangeArrowheads="1" noChangeShapeType="1" noTextEdit="1"/>
              </p:cNvSpPr>
              <p:nvPr/>
            </p:nvSpPr>
            <p:spPr>
              <a:xfrm>
                <a:off x="110067" y="1641632"/>
                <a:ext cx="4258733" cy="397673"/>
              </a:xfrm>
              <a:prstGeom prst="rect">
                <a:avLst/>
              </a:prstGeom>
              <a:blipFill>
                <a:blip r:embed="rId4"/>
                <a:stretch>
                  <a:fillRect l="-858" b="-151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594BBAD5-0B9C-40E7-A139-CD14DD1A069D}"/>
                  </a:ext>
                </a:extLst>
              </p:cNvPr>
              <p:cNvSpPr txBox="1"/>
              <p:nvPr/>
            </p:nvSpPr>
            <p:spPr>
              <a:xfrm>
                <a:off x="110065" y="2855412"/>
                <a:ext cx="4258733" cy="65601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𝑅𝑒𝑠𝑖𝑑𝑢𝑎𝑙</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𝑓𝑖𝑒𝑙𝑑</m:t>
                    </m:r>
                    <m:r>
                      <a:rPr lang="en-US" altLang="zh-TW" b="0" i="1" smtClean="0">
                        <a:latin typeface="Cambria Math" panose="02040503050406030204" pitchFamily="18" charset="0"/>
                        <a:ea typeface="Cambria Math" panose="02040503050406030204" pitchFamily="18" charset="0"/>
                      </a:rPr>
                      <m:t>=</m:t>
                    </m:r>
                    <m:rad>
                      <m:radPr>
                        <m:degHide m:val="on"/>
                        <m:ctrlPr>
                          <a:rPr lang="en-US" altLang="zh-TW" b="0" i="1" smtClean="0">
                            <a:latin typeface="Cambria Math" panose="02040503050406030204" pitchFamily="18" charset="0"/>
                            <a:ea typeface="Cambria Math" panose="02040503050406030204" pitchFamily="18" charset="0"/>
                          </a:rPr>
                        </m:ctrlPr>
                      </m:radPr>
                      <m:deg/>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𝑚𝑖𝑛𝐽</m:t>
                            </m:r>
                          </m:num>
                          <m:den>
                            <m:r>
                              <a:rPr lang="en-US" altLang="zh-TW" b="0" i="1" smtClean="0">
                                <a:latin typeface="Cambria Math" panose="02040503050406030204" pitchFamily="18" charset="0"/>
                                <a:ea typeface="Cambria Math" panose="02040503050406030204" pitchFamily="18" charset="0"/>
                              </a:rPr>
                              <m:t>𝑁</m:t>
                            </m:r>
                          </m:den>
                        </m:f>
                      </m:e>
                    </m:rad>
                  </m:oMath>
                </a14:m>
                <a:endParaRPr lang="zh-TW" altLang="en-US" dirty="0"/>
              </a:p>
            </p:txBody>
          </p:sp>
        </mc:Choice>
        <mc:Fallback xmlns="">
          <p:sp>
            <p:nvSpPr>
              <p:cNvPr id="20" name="文字方塊 19">
                <a:extLst>
                  <a:ext uri="{FF2B5EF4-FFF2-40B4-BE49-F238E27FC236}">
                    <a16:creationId xmlns:a16="http://schemas.microsoft.com/office/drawing/2014/main" id="{594BBAD5-0B9C-40E7-A139-CD14DD1A069D}"/>
                  </a:ext>
                </a:extLst>
              </p:cNvPr>
              <p:cNvSpPr txBox="1">
                <a:spLocks noRot="1" noChangeAspect="1" noMove="1" noResize="1" noEditPoints="1" noAdjustHandles="1" noChangeArrowheads="1" noChangeShapeType="1" noTextEdit="1"/>
              </p:cNvSpPr>
              <p:nvPr/>
            </p:nvSpPr>
            <p:spPr>
              <a:xfrm>
                <a:off x="110065" y="2855412"/>
                <a:ext cx="4258733" cy="656013"/>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8A78908F-5D56-4921-90CE-19234A5F3BEB}"/>
                  </a:ext>
                </a:extLst>
              </p:cNvPr>
              <p:cNvSpPr txBox="1"/>
              <p:nvPr/>
            </p:nvSpPr>
            <p:spPr>
              <a:xfrm>
                <a:off x="110064" y="3631058"/>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i="1" smtClean="0">
                        <a:latin typeface="Cambria Math" panose="02040503050406030204" pitchFamily="18" charset="0"/>
                        <a:ea typeface="Cambria Math" panose="02040503050406030204" pitchFamily="18" charset="0"/>
                      </a:rPr>
                      <m:t>𝑣𝑜𝑙𝑢𝑚𝑒</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𝒞</m:t>
                    </m:r>
                    <m:r>
                      <a:rPr lang="en-US" altLang="zh-TW" b="0" i="1" smtClean="0">
                        <a:latin typeface="Cambria Math" panose="02040503050406030204" pitchFamily="18" charset="0"/>
                        <a:ea typeface="Cambria Math" panose="02040503050406030204" pitchFamily="18" charset="0"/>
                      </a:rPr>
                      <m:t> (</m:t>
                    </m:r>
                    <m:sSup>
                      <m:sSupPr>
                        <m:ctrlPr>
                          <a:rPr lang="en-US" altLang="zh-TW" b="0" i="1" smtClean="0">
                            <a:latin typeface="Cambria Math" panose="02040503050406030204" pitchFamily="18" charset="0"/>
                            <a:ea typeface="Cambria Math" panose="02040503050406030204" pitchFamily="18" charset="0"/>
                          </a:rPr>
                        </m:ctrlPr>
                      </m:sSupPr>
                      <m:e>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e>
                      <m:sup>
                        <m:r>
                          <a:rPr lang="en-US" altLang="zh-TW" b="0" i="1" smtClean="0">
                            <a:latin typeface="Cambria Math" panose="02040503050406030204" pitchFamily="18" charset="0"/>
                            <a:ea typeface="Cambria Math" panose="02040503050406030204" pitchFamily="18" charset="0"/>
                          </a:rPr>
                          <m:t>3</m:t>
                        </m:r>
                      </m:sup>
                    </m:sSup>
                  </m:oMath>
                </a14:m>
                <a:endParaRPr lang="zh-TW" altLang="en-US" dirty="0"/>
              </a:p>
            </p:txBody>
          </p:sp>
        </mc:Choice>
        <mc:Fallback xmlns="">
          <p:sp>
            <p:nvSpPr>
              <p:cNvPr id="13" name="文字方塊 12">
                <a:extLst>
                  <a:ext uri="{FF2B5EF4-FFF2-40B4-BE49-F238E27FC236}">
                    <a16:creationId xmlns:a16="http://schemas.microsoft.com/office/drawing/2014/main" id="{8A78908F-5D56-4921-90CE-19234A5F3BEB}"/>
                  </a:ext>
                </a:extLst>
              </p:cNvPr>
              <p:cNvSpPr txBox="1">
                <a:spLocks noRot="1" noChangeAspect="1" noMove="1" noResize="1" noEditPoints="1" noAdjustHandles="1" noChangeArrowheads="1" noChangeShapeType="1" noTextEdit="1"/>
              </p:cNvSpPr>
              <p:nvPr/>
            </p:nvSpPr>
            <p:spPr>
              <a:xfrm>
                <a:off x="110064" y="3631058"/>
                <a:ext cx="4258733" cy="369332"/>
              </a:xfrm>
              <a:prstGeom prst="rect">
                <a:avLst/>
              </a:prstGeom>
              <a:blipFill>
                <a:blip r:embed="rId6"/>
                <a:stretch>
                  <a:fillRect l="-858" t="-118333" b="-18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32777E16-0C9E-41F4-89C8-D87B57A3B331}"/>
                  </a:ext>
                </a:extLst>
              </p:cNvPr>
              <p:cNvSpPr txBox="1"/>
              <p:nvPr/>
            </p:nvSpPr>
            <p:spPr>
              <a:xfrm>
                <a:off x="110066" y="2289415"/>
                <a:ext cx="4258733" cy="397673"/>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rPr>
                      <m:t>𝑉𝑜𝑙𝑡𝑎𝑔𝑒</m:t>
                    </m:r>
                    <m:r>
                      <a:rPr lang="en-US" altLang="zh-TW" b="0" i="1" smtClean="0">
                        <a:latin typeface="Cambria Math" panose="02040503050406030204" pitchFamily="18" charset="0"/>
                      </a:rPr>
                      <m:t> </m:t>
                    </m:r>
                    <m:r>
                      <a:rPr lang="en-US" altLang="zh-TW" b="0" i="1" smtClean="0">
                        <a:latin typeface="Cambria Math" panose="02040503050406030204" pitchFamily="18" charset="0"/>
                      </a:rPr>
                      <m:t>𝑡𝑜</m:t>
                    </m:r>
                    <m:r>
                      <a:rPr lang="en-US" altLang="zh-TW" b="0" i="1" smtClean="0">
                        <a:latin typeface="Cambria Math" panose="02040503050406030204" pitchFamily="18" charset="0"/>
                      </a:rPr>
                      <m:t> </m:t>
                    </m:r>
                    <m:r>
                      <a:rPr lang="en-US" altLang="zh-TW" b="0" i="1" smtClean="0">
                        <a:latin typeface="Cambria Math" panose="02040503050406030204" pitchFamily="18" charset="0"/>
                      </a:rPr>
                      <m:t>𝑓𝑖𝑒𝑙𝑑</m:t>
                    </m:r>
                    <m:r>
                      <a:rPr lang="en-US" altLang="zh-TW" b="0" i="1" smtClean="0">
                        <a:latin typeface="Cambria Math" panose="02040503050406030204" pitchFamily="18" charset="0"/>
                      </a:rPr>
                      <m:t> </m:t>
                    </m:r>
                    <m:r>
                      <a:rPr lang="en-US" altLang="zh-TW" b="0" i="1" smtClean="0">
                        <a:latin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Pre>
                      <m:sPrePr>
                        <m:ctrlPr>
                          <a:rPr lang="en-US" altLang="zh-TW" b="0" i="1" smtClean="0">
                            <a:latin typeface="Cambria Math" panose="02040503050406030204" pitchFamily="18" charset="0"/>
                            <a:ea typeface="Cambria Math" panose="02040503050406030204" pitchFamily="18" charset="0"/>
                          </a:rPr>
                        </m:ctrlPr>
                      </m:sPrePr>
                      <m:sub/>
                      <m:sup>
                        <m:r>
                          <a:rPr lang="en-US" altLang="zh-TW" b="0" i="1" smtClean="0">
                            <a:latin typeface="Cambria Math" panose="02040503050406030204" pitchFamily="18" charset="0"/>
                          </a:rPr>
                          <m:t>𝐵</m:t>
                        </m:r>
                      </m:sup>
                      <m:e>
                        <m:sSub>
                          <m:sSubPr>
                            <m:ctrlPr>
                              <a:rPr lang="en-US" altLang="zh-TW" i="1" smtClean="0">
                                <a:latin typeface="Cambria Math" panose="02040503050406030204" pitchFamily="18" charset="0"/>
                              </a:rPr>
                            </m:ctrlPr>
                          </m:sSubPr>
                          <m:e>
                            <m:acc>
                              <m:accPr>
                                <m:chr m:val="̂"/>
                                <m:ctrlPr>
                                  <a:rPr lang="en-US" altLang="zh-TW" b="0" i="1" smtClean="0">
                                    <a:latin typeface="Cambria Math" panose="02040503050406030204" pitchFamily="18" charset="0"/>
                                  </a:rPr>
                                </m:ctrlPr>
                              </m:accPr>
                              <m:e>
                                <m:r>
                                  <a:rPr lang="en-US" altLang="zh-TW" b="0" i="1" smtClean="0">
                                    <a:latin typeface="Cambria Math" panose="02040503050406030204" pitchFamily="18" charset="0"/>
                                  </a:rPr>
                                  <m:t>𝑔</m:t>
                                </m:r>
                              </m:e>
                            </m:acc>
                          </m:e>
                          <m:sub>
                            <m:r>
                              <a:rPr lang="en-US" altLang="zh-TW" b="0" i="1" smtClean="0">
                                <a:latin typeface="Cambria Math" panose="02040503050406030204" pitchFamily="18" charset="0"/>
                              </a:rPr>
                              <m:t>𝑉</m:t>
                            </m:r>
                          </m:sub>
                        </m:sSub>
                      </m:e>
                    </m:sPre>
                  </m:oMath>
                </a14:m>
                <a:endParaRPr lang="zh-TW" altLang="en-US" dirty="0"/>
              </a:p>
            </p:txBody>
          </p:sp>
        </mc:Choice>
        <mc:Fallback xmlns="">
          <p:sp>
            <p:nvSpPr>
              <p:cNvPr id="16" name="文字方塊 15">
                <a:extLst>
                  <a:ext uri="{FF2B5EF4-FFF2-40B4-BE49-F238E27FC236}">
                    <a16:creationId xmlns:a16="http://schemas.microsoft.com/office/drawing/2014/main" id="{32777E16-0C9E-41F4-89C8-D87B57A3B331}"/>
                  </a:ext>
                </a:extLst>
              </p:cNvPr>
              <p:cNvSpPr txBox="1">
                <a:spLocks noRot="1" noChangeAspect="1" noMove="1" noResize="1" noEditPoints="1" noAdjustHandles="1" noChangeArrowheads="1" noChangeShapeType="1" noTextEdit="1"/>
              </p:cNvSpPr>
              <p:nvPr/>
            </p:nvSpPr>
            <p:spPr>
              <a:xfrm>
                <a:off x="110066" y="2289415"/>
                <a:ext cx="4258733" cy="397673"/>
              </a:xfrm>
              <a:prstGeom prst="rect">
                <a:avLst/>
              </a:prstGeom>
              <a:blipFill>
                <a:blip r:embed="rId7"/>
                <a:stretch>
                  <a:fillRect l="-858" b="-1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7A83D49E-FBA0-44F1-BA58-A7ED9A0C3CBA}"/>
                  </a:ext>
                </a:extLst>
              </p:cNvPr>
              <p:cNvSpPr txBox="1"/>
              <p:nvPr/>
            </p:nvSpPr>
            <p:spPr>
              <a:xfrm>
                <a:off x="110063" y="4893529"/>
                <a:ext cx="4258733" cy="369332"/>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b="0" i="1" smtClean="0">
                        <a:latin typeface="Cambria Math" panose="02040503050406030204" pitchFamily="18" charset="0"/>
                        <a:ea typeface="Cambria Math" panose="02040503050406030204" pitchFamily="18" charset="0"/>
                      </a:rPr>
                      <m:t>𝐼𝑠𝑜𝑡𝑟𝑜𝑝𝑦</m:t>
                    </m:r>
                    <m:r>
                      <a:rPr lang="en-US" altLang="zh-TW" b="0" i="1" smtClean="0">
                        <a:latin typeface="Cambria Math" panose="02040503050406030204" pitchFamily="18" charset="0"/>
                        <a:ea typeface="Cambria Math" panose="02040503050406030204" pitchFamily="18" charset="0"/>
                      </a:rPr>
                      <m:t>=</m:t>
                    </m:r>
                    <m:r>
                      <a:rPr lang="zh-TW" altLang="en-US" b="0" i="1" smtClean="0">
                        <a:latin typeface="Cambria Math" panose="02040503050406030204" pitchFamily="18" charset="0"/>
                        <a:ea typeface="Cambria Math" panose="02040503050406030204" pitchFamily="18" charset="0"/>
                      </a:rPr>
                      <m:t>𝜅</m:t>
                    </m:r>
                  </m:oMath>
                </a14:m>
                <a:endParaRPr lang="zh-TW" altLang="en-US" dirty="0"/>
              </a:p>
            </p:txBody>
          </p:sp>
        </mc:Choice>
        <mc:Fallback xmlns="">
          <p:sp>
            <p:nvSpPr>
              <p:cNvPr id="10" name="文字方塊 9">
                <a:extLst>
                  <a:ext uri="{FF2B5EF4-FFF2-40B4-BE49-F238E27FC236}">
                    <a16:creationId xmlns:a16="http://schemas.microsoft.com/office/drawing/2014/main" id="{7A83D49E-FBA0-44F1-BA58-A7ED9A0C3CBA}"/>
                  </a:ext>
                </a:extLst>
              </p:cNvPr>
              <p:cNvSpPr txBox="1">
                <a:spLocks noRot="1" noChangeAspect="1" noMove="1" noResize="1" noEditPoints="1" noAdjustHandles="1" noChangeArrowheads="1" noChangeShapeType="1" noTextEdit="1"/>
              </p:cNvSpPr>
              <p:nvPr/>
            </p:nvSpPr>
            <p:spPr>
              <a:xfrm>
                <a:off x="110063" y="4893529"/>
                <a:ext cx="4258733" cy="369332"/>
              </a:xfrm>
              <a:prstGeom prst="rect">
                <a:avLst/>
              </a:prstGeom>
              <a:blipFill>
                <a:blip r:embed="rId8"/>
                <a:stretch>
                  <a:fillRect l="-858" t="-5000" b="-20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C97BA21-92F0-4A4F-926E-5D3A151931D0}"/>
                  </a:ext>
                </a:extLst>
              </p:cNvPr>
              <p:cNvSpPr txBox="1"/>
              <p:nvPr/>
            </p:nvSpPr>
            <p:spPr>
              <a:xfrm>
                <a:off x="110063" y="4237516"/>
                <a:ext cx="4258733" cy="470385"/>
              </a:xfrm>
              <a:prstGeom prst="rect">
                <a:avLst/>
              </a:prstGeom>
              <a:no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TW" i="1" smtClean="0">
                        <a:latin typeface="Cambria Math" panose="02040503050406030204" pitchFamily="18" charset="0"/>
                        <a:ea typeface="Cambria Math" panose="02040503050406030204" pitchFamily="18" charset="0"/>
                      </a:rPr>
                      <m:t>𝐴𝑐𝑡𝑢𝑎𝑡𝑖𝑜𝑛</m:t>
                    </m:r>
                    <m:r>
                      <a:rPr lang="en-US" altLang="zh-TW"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𝑔𝑎𝑖𝑛</m:t>
                    </m:r>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r>
                          <a:rPr lang="zh-TW" altLang="en-US" i="1">
                            <a:latin typeface="Cambria Math" panose="02040503050406030204" pitchFamily="18" charset="0"/>
                            <a:ea typeface="Cambria Math" panose="02040503050406030204" pitchFamily="18" charset="0"/>
                          </a:rPr>
                          <m:t>𝒞</m:t>
                        </m:r>
                      </m:e>
                      <m:sup>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3</m:t>
                            </m:r>
                          </m:den>
                        </m:f>
                      </m:sup>
                    </m:sSup>
                    <m:r>
                      <a:rPr lang="en-US" altLang="zh-TW" b="0" i="1" smtClean="0">
                        <a:latin typeface="Cambria Math" panose="02040503050406030204" pitchFamily="18" charset="0"/>
                        <a:ea typeface="Cambria Math" panose="02040503050406030204" pitchFamily="18" charset="0"/>
                      </a:rPr>
                      <m:t>(</m:t>
                    </m:r>
                    <m:sSup>
                      <m:sSupPr>
                        <m:ctrlPr>
                          <a:rPr lang="en-US" altLang="zh-TW" b="0" i="1" smtClean="0">
                            <a:latin typeface="Cambria Math" panose="02040503050406030204" pitchFamily="18" charset="0"/>
                            <a:ea typeface="Cambria Math" panose="02040503050406030204" pitchFamily="18" charset="0"/>
                          </a:rPr>
                        </m:ctrlPr>
                      </m:sSupPr>
                      <m:e>
                        <m:f>
                          <m:fPr>
                            <m:type m:val="lin"/>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𝑚𝑇</m:t>
                            </m:r>
                          </m:num>
                          <m:den>
                            <m:r>
                              <a:rPr lang="en-US" altLang="zh-TW" b="0" i="1" smtClean="0">
                                <a:latin typeface="Cambria Math" panose="02040503050406030204" pitchFamily="18" charset="0"/>
                                <a:ea typeface="Cambria Math" panose="02040503050406030204" pitchFamily="18" charset="0"/>
                              </a:rPr>
                              <m:t>𝐴</m:t>
                            </m:r>
                          </m:den>
                        </m:f>
                        <m:r>
                          <a:rPr lang="en-US" altLang="zh-TW" b="0" i="1" smtClean="0">
                            <a:latin typeface="Cambria Math" panose="02040503050406030204" pitchFamily="18" charset="0"/>
                            <a:ea typeface="Cambria Math" panose="02040503050406030204" pitchFamily="18" charset="0"/>
                          </a:rPr>
                          <m:t>)</m:t>
                        </m:r>
                      </m:e>
                      <m:sup/>
                    </m:sSup>
                  </m:oMath>
                </a14:m>
                <a:endParaRPr lang="zh-TW" altLang="en-US" dirty="0"/>
              </a:p>
            </p:txBody>
          </p:sp>
        </mc:Choice>
        <mc:Fallback xmlns="">
          <p:sp>
            <p:nvSpPr>
              <p:cNvPr id="11" name="文字方塊 10">
                <a:extLst>
                  <a:ext uri="{FF2B5EF4-FFF2-40B4-BE49-F238E27FC236}">
                    <a16:creationId xmlns:a16="http://schemas.microsoft.com/office/drawing/2014/main" id="{CC97BA21-92F0-4A4F-926E-5D3A151931D0}"/>
                  </a:ext>
                </a:extLst>
              </p:cNvPr>
              <p:cNvSpPr txBox="1">
                <a:spLocks noRot="1" noChangeAspect="1" noMove="1" noResize="1" noEditPoints="1" noAdjustHandles="1" noChangeArrowheads="1" noChangeShapeType="1" noTextEdit="1"/>
              </p:cNvSpPr>
              <p:nvPr/>
            </p:nvSpPr>
            <p:spPr>
              <a:xfrm>
                <a:off x="110063" y="4237516"/>
                <a:ext cx="4258733" cy="470385"/>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19403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7" name="群組 6">
            <a:extLst>
              <a:ext uri="{FF2B5EF4-FFF2-40B4-BE49-F238E27FC236}">
                <a16:creationId xmlns:a16="http://schemas.microsoft.com/office/drawing/2014/main" id="{65F2A41B-725D-4691-A888-BD566828C0BF}"/>
              </a:ext>
            </a:extLst>
          </p:cNvPr>
          <p:cNvGrpSpPr/>
          <p:nvPr/>
        </p:nvGrpSpPr>
        <p:grpSpPr>
          <a:xfrm>
            <a:off x="741919" y="2866223"/>
            <a:ext cx="4015388" cy="3538797"/>
            <a:chOff x="967368" y="530752"/>
            <a:chExt cx="4015388" cy="3538797"/>
          </a:xfrm>
        </p:grpSpPr>
        <p:pic>
          <p:nvPicPr>
            <p:cNvPr id="4" name="圖片 3">
              <a:extLst>
                <a:ext uri="{FF2B5EF4-FFF2-40B4-BE49-F238E27FC236}">
                  <a16:creationId xmlns:a16="http://schemas.microsoft.com/office/drawing/2014/main" id="{1EEE4D68-B5BE-487E-BBF1-46844455B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201" y="530752"/>
              <a:ext cx="3662318" cy="3429000"/>
            </a:xfrm>
            <a:prstGeom prst="rect">
              <a:avLst/>
            </a:prstGeom>
          </p:spPr>
        </p:pic>
        <p:grpSp>
          <p:nvGrpSpPr>
            <p:cNvPr id="36" name="群組 35">
              <a:extLst>
                <a:ext uri="{FF2B5EF4-FFF2-40B4-BE49-F238E27FC236}">
                  <a16:creationId xmlns:a16="http://schemas.microsoft.com/office/drawing/2014/main" id="{15E80B7E-9DD7-4929-979E-9D6BF07411DD}"/>
                </a:ext>
              </a:extLst>
            </p:cNvPr>
            <p:cNvGrpSpPr/>
            <p:nvPr/>
          </p:nvGrpSpPr>
          <p:grpSpPr>
            <a:xfrm>
              <a:off x="967368" y="1364300"/>
              <a:ext cx="4015388" cy="2705249"/>
              <a:chOff x="6274804" y="3726263"/>
              <a:chExt cx="4015388" cy="2705249"/>
            </a:xfrm>
          </p:grpSpPr>
          <mc:AlternateContent xmlns:mc="http://schemas.openxmlformats.org/markup-compatibility/2006" xmlns:a14="http://schemas.microsoft.com/office/drawing/2010/main">
            <mc:Choice Requires="a14">
              <p:sp>
                <p:nvSpPr>
                  <p:cNvPr id="34" name="文字方塊 33">
                    <a:extLst>
                      <a:ext uri="{FF2B5EF4-FFF2-40B4-BE49-F238E27FC236}">
                        <a16:creationId xmlns:a16="http://schemas.microsoft.com/office/drawing/2014/main" id="{3702C2C7-99C1-4D7E-89F7-BCF75F5869AB}"/>
                      </a:ext>
                    </a:extLst>
                  </p:cNvPr>
                  <p:cNvSpPr txBox="1"/>
                  <p:nvPr/>
                </p:nvSpPr>
                <p:spPr>
                  <a:xfrm rot="2191537">
                    <a:off x="6357579" y="5987255"/>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4" name="文字方塊 33">
                    <a:extLst>
                      <a:ext uri="{FF2B5EF4-FFF2-40B4-BE49-F238E27FC236}">
                        <a16:creationId xmlns:a16="http://schemas.microsoft.com/office/drawing/2014/main" id="{3702C2C7-99C1-4D7E-89F7-BCF75F5869AB}"/>
                      </a:ext>
                    </a:extLst>
                  </p:cNvPr>
                  <p:cNvSpPr txBox="1">
                    <a:spLocks noRot="1" noChangeAspect="1" noMove="1" noResize="1" noEditPoints="1" noAdjustHandles="1" noChangeArrowheads="1" noChangeShapeType="1" noTextEdit="1"/>
                  </p:cNvSpPr>
                  <p:nvPr/>
                </p:nvSpPr>
                <p:spPr>
                  <a:xfrm rot="2191537">
                    <a:off x="6357579" y="5987255"/>
                    <a:ext cx="1434688" cy="215444"/>
                  </a:xfrm>
                  <a:prstGeom prst="rect">
                    <a:avLst/>
                  </a:prstGeom>
                  <a:blipFill>
                    <a:blip r:embed="rId9"/>
                    <a:stretch>
                      <a:fillRect l="-472" r="-2830"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a:extLst>
                      <a:ext uri="{FF2B5EF4-FFF2-40B4-BE49-F238E27FC236}">
                        <a16:creationId xmlns:a16="http://schemas.microsoft.com/office/drawing/2014/main" id="{CB4204C0-DCA9-46A8-B644-32781D062DEC}"/>
                      </a:ext>
                    </a:extLst>
                  </p:cNvPr>
                  <p:cNvSpPr txBox="1"/>
                  <p:nvPr/>
                </p:nvSpPr>
                <p:spPr>
                  <a:xfrm rot="20909962">
                    <a:off x="8852298" y="6216068"/>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7" name="文字方塊 36">
                    <a:extLst>
                      <a:ext uri="{FF2B5EF4-FFF2-40B4-BE49-F238E27FC236}">
                        <a16:creationId xmlns:a16="http://schemas.microsoft.com/office/drawing/2014/main" id="{CB4204C0-DCA9-46A8-B644-32781D062DEC}"/>
                      </a:ext>
                    </a:extLst>
                  </p:cNvPr>
                  <p:cNvSpPr txBox="1">
                    <a:spLocks noRot="1" noChangeAspect="1" noMove="1" noResize="1" noEditPoints="1" noAdjustHandles="1" noChangeArrowheads="1" noChangeShapeType="1" noTextEdit="1"/>
                  </p:cNvSpPr>
                  <p:nvPr/>
                </p:nvSpPr>
                <p:spPr>
                  <a:xfrm rot="20909962">
                    <a:off x="8852298" y="6216068"/>
                    <a:ext cx="1437894" cy="215444"/>
                  </a:xfrm>
                  <a:prstGeom prst="rect">
                    <a:avLst/>
                  </a:prstGeom>
                  <a:blipFill>
                    <a:blip r:embed="rId10"/>
                    <a:stretch>
                      <a:fillRect l="-1674" t="-1220" r="-4184" b="-1097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a:extLst>
                      <a:ext uri="{FF2B5EF4-FFF2-40B4-BE49-F238E27FC236}">
                        <a16:creationId xmlns:a16="http://schemas.microsoft.com/office/drawing/2014/main" id="{FCA38618-BB47-441E-9C40-E111A4916DC0}"/>
                      </a:ext>
                    </a:extLst>
                  </p:cNvPr>
                  <p:cNvSpPr txBox="1"/>
                  <p:nvPr/>
                </p:nvSpPr>
                <p:spPr>
                  <a:xfrm rot="16200000">
                    <a:off x="5670792" y="4330275"/>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38" name="文字方塊 37">
                    <a:extLst>
                      <a:ext uri="{FF2B5EF4-FFF2-40B4-BE49-F238E27FC236}">
                        <a16:creationId xmlns:a16="http://schemas.microsoft.com/office/drawing/2014/main" id="{FCA38618-BB47-441E-9C40-E111A4916DC0}"/>
                      </a:ext>
                    </a:extLst>
                  </p:cNvPr>
                  <p:cNvSpPr txBox="1">
                    <a:spLocks noRot="1" noChangeAspect="1" noMove="1" noResize="1" noEditPoints="1" noAdjustHandles="1" noChangeArrowheads="1" noChangeShapeType="1" noTextEdit="1"/>
                  </p:cNvSpPr>
                  <p:nvPr/>
                </p:nvSpPr>
                <p:spPr>
                  <a:xfrm rot="16200000">
                    <a:off x="5670792" y="4330275"/>
                    <a:ext cx="1423467" cy="215444"/>
                  </a:xfrm>
                  <a:prstGeom prst="rect">
                    <a:avLst/>
                  </a:prstGeom>
                  <a:blipFill>
                    <a:blip r:embed="rId11"/>
                    <a:stretch>
                      <a:fillRect t="-3863" r="-31429" b="-1717"/>
                    </a:stretch>
                  </a:blipFill>
                </p:spPr>
                <p:txBody>
                  <a:bodyPr/>
                  <a:lstStyle/>
                  <a:p>
                    <a:r>
                      <a:rPr lang="zh-TW" altLang="en-US">
                        <a:noFill/>
                      </a:rPr>
                      <a:t> </a:t>
                    </a:r>
                  </a:p>
                </p:txBody>
              </p:sp>
            </mc:Fallback>
          </mc:AlternateContent>
        </p:grpSp>
      </p:grpSp>
      <p:grpSp>
        <p:nvGrpSpPr>
          <p:cNvPr id="10" name="群組 9">
            <a:extLst>
              <a:ext uri="{FF2B5EF4-FFF2-40B4-BE49-F238E27FC236}">
                <a16:creationId xmlns:a16="http://schemas.microsoft.com/office/drawing/2014/main" id="{A8049C67-2F5C-458C-9E5B-805BD4365486}"/>
              </a:ext>
            </a:extLst>
          </p:cNvPr>
          <p:cNvGrpSpPr/>
          <p:nvPr/>
        </p:nvGrpSpPr>
        <p:grpSpPr>
          <a:xfrm>
            <a:off x="6886486" y="2952061"/>
            <a:ext cx="4020935" cy="3492977"/>
            <a:chOff x="7047353" y="2596461"/>
            <a:chExt cx="4020935" cy="3492977"/>
          </a:xfrm>
        </p:grpSpPr>
        <p:pic>
          <p:nvPicPr>
            <p:cNvPr id="9" name="圖片 8">
              <a:extLst>
                <a:ext uri="{FF2B5EF4-FFF2-40B4-BE49-F238E27FC236}">
                  <a16:creationId xmlns:a16="http://schemas.microsoft.com/office/drawing/2014/main" id="{3F3EADE4-A8F9-4A89-AB2F-D04039759C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365451" y="2596461"/>
              <a:ext cx="3571891" cy="3344333"/>
            </a:xfrm>
            <a:prstGeom prst="rect">
              <a:avLst/>
            </a:prstGeom>
          </p:spPr>
        </p:pic>
        <p:grpSp>
          <p:nvGrpSpPr>
            <p:cNvPr id="39" name="群組 38">
              <a:extLst>
                <a:ext uri="{FF2B5EF4-FFF2-40B4-BE49-F238E27FC236}">
                  <a16:creationId xmlns:a16="http://schemas.microsoft.com/office/drawing/2014/main" id="{8B513186-9F34-4BD2-867D-6D8BEB64811B}"/>
                </a:ext>
              </a:extLst>
            </p:cNvPr>
            <p:cNvGrpSpPr/>
            <p:nvPr/>
          </p:nvGrpSpPr>
          <p:grpSpPr>
            <a:xfrm>
              <a:off x="7047353" y="3455826"/>
              <a:ext cx="4020935" cy="2633612"/>
              <a:chOff x="9104754" y="3705699"/>
              <a:chExt cx="4020935" cy="2633612"/>
            </a:xfrm>
          </p:grpSpPr>
          <mc:AlternateContent xmlns:mc="http://schemas.openxmlformats.org/markup-compatibility/2006" xmlns:a14="http://schemas.microsoft.com/office/drawing/2010/main">
            <mc:Choice Requires="a14">
              <p:sp>
                <p:nvSpPr>
                  <p:cNvPr id="41" name="文字方塊 40">
                    <a:extLst>
                      <a:ext uri="{FF2B5EF4-FFF2-40B4-BE49-F238E27FC236}">
                        <a16:creationId xmlns:a16="http://schemas.microsoft.com/office/drawing/2014/main" id="{B4B8D663-0DD9-4CD7-952F-C56EBF46FDE1}"/>
                      </a:ext>
                    </a:extLst>
                  </p:cNvPr>
                  <p:cNvSpPr txBox="1"/>
                  <p:nvPr/>
                </p:nvSpPr>
                <p:spPr>
                  <a:xfrm rot="20909962">
                    <a:off x="11687795" y="6123867"/>
                    <a:ext cx="143789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𝒚</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1" name="文字方塊 40">
                    <a:extLst>
                      <a:ext uri="{FF2B5EF4-FFF2-40B4-BE49-F238E27FC236}">
                        <a16:creationId xmlns:a16="http://schemas.microsoft.com/office/drawing/2014/main" id="{B4B8D663-0DD9-4CD7-952F-C56EBF46FDE1}"/>
                      </a:ext>
                    </a:extLst>
                  </p:cNvPr>
                  <p:cNvSpPr txBox="1">
                    <a:spLocks noRot="1" noChangeAspect="1" noMove="1" noResize="1" noEditPoints="1" noAdjustHandles="1" noChangeArrowheads="1" noChangeShapeType="1" noTextEdit="1"/>
                  </p:cNvSpPr>
                  <p:nvPr/>
                </p:nvSpPr>
                <p:spPr>
                  <a:xfrm rot="20909962">
                    <a:off x="11687795" y="6123867"/>
                    <a:ext cx="1437894" cy="215444"/>
                  </a:xfrm>
                  <a:prstGeom prst="rect">
                    <a:avLst/>
                  </a:prstGeom>
                  <a:blipFill>
                    <a:blip r:embed="rId13"/>
                    <a:stretch>
                      <a:fillRect l="-2092" t="-1205" r="-4184" b="-1084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a:extLst>
                      <a:ext uri="{FF2B5EF4-FFF2-40B4-BE49-F238E27FC236}">
                        <a16:creationId xmlns:a16="http://schemas.microsoft.com/office/drawing/2014/main" id="{5DD23914-830D-482A-9335-95AE8D0BD2AB}"/>
                      </a:ext>
                    </a:extLst>
                  </p:cNvPr>
                  <p:cNvSpPr txBox="1"/>
                  <p:nvPr/>
                </p:nvSpPr>
                <p:spPr>
                  <a:xfrm rot="2191537">
                    <a:off x="9243419" y="5934552"/>
                    <a:ext cx="143468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𝒙</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2" name="文字方塊 41">
                    <a:extLst>
                      <a:ext uri="{FF2B5EF4-FFF2-40B4-BE49-F238E27FC236}">
                        <a16:creationId xmlns:a16="http://schemas.microsoft.com/office/drawing/2014/main" id="{5DD23914-830D-482A-9335-95AE8D0BD2AB}"/>
                      </a:ext>
                    </a:extLst>
                  </p:cNvPr>
                  <p:cNvSpPr txBox="1">
                    <a:spLocks noRot="1" noChangeAspect="1" noMove="1" noResize="1" noEditPoints="1" noAdjustHandles="1" noChangeArrowheads="1" noChangeShapeType="1" noTextEdit="1"/>
                  </p:cNvSpPr>
                  <p:nvPr/>
                </p:nvSpPr>
                <p:spPr>
                  <a:xfrm rot="2191537">
                    <a:off x="9243419" y="5934552"/>
                    <a:ext cx="1434688" cy="215444"/>
                  </a:xfrm>
                  <a:prstGeom prst="rect">
                    <a:avLst/>
                  </a:prstGeom>
                  <a:blipFill>
                    <a:blip r:embed="rId14"/>
                    <a:stretch>
                      <a:fillRect l="-948" r="-2844" b="-828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a:extLst>
                      <a:ext uri="{FF2B5EF4-FFF2-40B4-BE49-F238E27FC236}">
                        <a16:creationId xmlns:a16="http://schemas.microsoft.com/office/drawing/2014/main" id="{46C1BC31-7B3E-4129-B06A-513DA35E134F}"/>
                      </a:ext>
                    </a:extLst>
                  </p:cNvPr>
                  <p:cNvSpPr txBox="1"/>
                  <p:nvPr/>
                </p:nvSpPr>
                <p:spPr>
                  <a:xfrm rot="16200000">
                    <a:off x="8500742" y="4309711"/>
                    <a:ext cx="142346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400" b="1" i="1" smtClean="0">
                              <a:latin typeface="Cambria Math" panose="02040503050406030204" pitchFamily="18" charset="0"/>
                            </a:rPr>
                            <m:t>𝒛</m:t>
                          </m:r>
                          <m:r>
                            <a:rPr lang="en-US" altLang="zh-TW" sz="1400" b="1" i="1" smtClean="0">
                              <a:latin typeface="Cambria Math" panose="02040503050406030204" pitchFamily="18" charset="0"/>
                            </a:rPr>
                            <m:t> </m:t>
                          </m:r>
                          <m:r>
                            <a:rPr lang="en-US" altLang="zh-TW" sz="1400" b="1" i="0" smtClean="0">
                              <a:latin typeface="Cambria Math" panose="02040503050406030204" pitchFamily="18" charset="0"/>
                            </a:rPr>
                            <m:t>(</m:t>
                          </m:r>
                          <m:r>
                            <a:rPr lang="en-US" altLang="zh-TW" sz="1400" b="1" i="1" smtClean="0">
                              <a:latin typeface="Cambria Math" panose="02040503050406030204" pitchFamily="18" charset="0"/>
                            </a:rPr>
                            <m:t>𝒎𝒊𝒄𝒓𝒐</m:t>
                          </m:r>
                          <m:r>
                            <a:rPr lang="en-US" altLang="zh-TW" sz="1400" b="1" i="1" smtClean="0">
                              <a:latin typeface="Cambria Math" panose="02040503050406030204" pitchFamily="18" charset="0"/>
                            </a:rPr>
                            <m:t> </m:t>
                          </m:r>
                          <m:r>
                            <a:rPr lang="en-US" altLang="zh-TW" sz="1400" b="1" i="1" smtClean="0">
                              <a:latin typeface="Cambria Math" panose="02040503050406030204" pitchFamily="18" charset="0"/>
                            </a:rPr>
                            <m:t>𝒎𝒆𝒕𝒆𝒓</m:t>
                          </m:r>
                          <m:r>
                            <a:rPr lang="en-US" altLang="zh-TW" sz="1400" b="1" i="0" smtClean="0">
                              <a:latin typeface="Cambria Math" panose="02040503050406030204" pitchFamily="18" charset="0"/>
                            </a:rPr>
                            <m:t>)</m:t>
                          </m:r>
                        </m:oMath>
                      </m:oMathPara>
                    </a14:m>
                    <a:endParaRPr lang="zh-TW" altLang="en-US" sz="1400" b="1" dirty="0"/>
                  </a:p>
                </p:txBody>
              </p:sp>
            </mc:Choice>
            <mc:Fallback xmlns="">
              <p:sp>
                <p:nvSpPr>
                  <p:cNvPr id="43" name="文字方塊 42">
                    <a:extLst>
                      <a:ext uri="{FF2B5EF4-FFF2-40B4-BE49-F238E27FC236}">
                        <a16:creationId xmlns:a16="http://schemas.microsoft.com/office/drawing/2014/main" id="{46C1BC31-7B3E-4129-B06A-513DA35E134F}"/>
                      </a:ext>
                    </a:extLst>
                  </p:cNvPr>
                  <p:cNvSpPr txBox="1">
                    <a:spLocks noRot="1" noChangeAspect="1" noMove="1" noResize="1" noEditPoints="1" noAdjustHandles="1" noChangeArrowheads="1" noChangeShapeType="1" noTextEdit="1"/>
                  </p:cNvSpPr>
                  <p:nvPr/>
                </p:nvSpPr>
                <p:spPr>
                  <a:xfrm rot="16200000">
                    <a:off x="8500742" y="4309711"/>
                    <a:ext cx="1423467" cy="215444"/>
                  </a:xfrm>
                  <a:prstGeom prst="rect">
                    <a:avLst/>
                  </a:prstGeom>
                  <a:blipFill>
                    <a:blip r:embed="rId4"/>
                    <a:stretch>
                      <a:fillRect t="-3846" r="-31429" b="-1282"/>
                    </a:stretch>
                  </a:blipFill>
                </p:spPr>
                <p:txBody>
                  <a:bodyPr/>
                  <a:lstStyle/>
                  <a:p>
                    <a:r>
                      <a:rPr lang="zh-TW" altLang="en-US">
                        <a:noFill/>
                      </a:rPr>
                      <a:t> </a:t>
                    </a:r>
                  </a:p>
                </p:txBody>
              </p:sp>
            </mc:Fallback>
          </mc:AlternateContent>
        </p:grpSp>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9E89BE06-C9DE-4E43-8EE5-11DEB7CC01E1}"/>
                  </a:ext>
                </a:extLst>
              </p:cNvPr>
              <p:cNvSpPr txBox="1"/>
              <p:nvPr/>
            </p:nvSpPr>
            <p:spPr>
              <a:xfrm>
                <a:off x="110067" y="552353"/>
                <a:ext cx="10666408" cy="369332"/>
              </a:xfrm>
              <a:prstGeom prst="rect">
                <a:avLst/>
              </a:prstGeom>
              <a:noFill/>
            </p:spPr>
            <p:txBody>
              <a:bodyPr wrap="square">
                <a:spAutoFit/>
              </a:bodyPr>
              <a:lstStyle/>
              <a:p>
                <a:pPr marL="285750" indent="-285750">
                  <a:buFont typeface="Arial" panose="020B0604020202020204" pitchFamily="34" charset="0"/>
                  <a:buChar char="•"/>
                </a:pPr>
                <a:r>
                  <a:rPr lang="zh-TW" altLang="en-US" dirty="0"/>
                  <a:t>The blue plot on the left shows the 528 points required by the single-parameter model </a:t>
                </a:r>
                <a:r>
                  <a:rPr lang="en-US" altLang="zh-TW" dirty="0"/>
                  <a:t>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7" name="文字方塊 16">
                <a:extLst>
                  <a:ext uri="{FF2B5EF4-FFF2-40B4-BE49-F238E27FC236}">
                    <a16:creationId xmlns:a16="http://schemas.microsoft.com/office/drawing/2014/main" id="{9E89BE06-C9DE-4E43-8EE5-11DEB7CC01E1}"/>
                  </a:ext>
                </a:extLst>
              </p:cNvPr>
              <p:cNvSpPr txBox="1">
                <a:spLocks noRot="1" noChangeAspect="1" noMove="1" noResize="1" noEditPoints="1" noAdjustHandles="1" noChangeArrowheads="1" noChangeShapeType="1" noTextEdit="1"/>
              </p:cNvSpPr>
              <p:nvPr/>
            </p:nvSpPr>
            <p:spPr>
              <a:xfrm>
                <a:off x="110067" y="552353"/>
                <a:ext cx="10666408" cy="369332"/>
              </a:xfrm>
              <a:prstGeom prst="rect">
                <a:avLst/>
              </a:prstGeom>
              <a:blipFill>
                <a:blip r:embed="rId15"/>
                <a:stretch>
                  <a:fillRect l="-343"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CEEF32AD-A489-447D-93AA-7071B82FF98E}"/>
                  </a:ext>
                </a:extLst>
              </p:cNvPr>
              <p:cNvSpPr txBox="1"/>
              <p:nvPr/>
            </p:nvSpPr>
            <p:spPr>
              <a:xfrm>
                <a:off x="110067" y="1238356"/>
                <a:ext cx="10666408" cy="369332"/>
              </a:xfrm>
              <a:prstGeom prst="rect">
                <a:avLst/>
              </a:prstGeom>
              <a:noFill/>
            </p:spPr>
            <p:txBody>
              <a:bodyPr wrap="square">
                <a:spAutoFit/>
              </a:bodyPr>
              <a:lstStyle/>
              <a:p>
                <a:pPr marL="285750" indent="-285750">
                  <a:buFont typeface="Arial" panose="020B0604020202020204" pitchFamily="34" charset="0"/>
                  <a:buChar char="•"/>
                </a:pPr>
                <a:r>
                  <a:rPr lang="en-US" altLang="zh-TW" dirty="0"/>
                  <a:t>The red plot on the right shows the 80 points of the eighteen-parameter model for </a:t>
                </a:r>
                <a14:m>
                  <m:oMath xmlns:m="http://schemas.openxmlformats.org/officeDocument/2006/math">
                    <m:r>
                      <a:rPr lang="en-US" altLang="zh-TW" b="0" i="1" smtClean="0">
                        <a:latin typeface="Cambria Math" panose="02040503050406030204" pitchFamily="18" charset="0"/>
                      </a:rPr>
                      <m:t>𝑅</m:t>
                    </m:r>
                    <m:r>
                      <a:rPr lang="en-US" altLang="zh-TW" b="0" i="1" smtClean="0">
                        <a:latin typeface="Cambria Math" panose="02040503050406030204" pitchFamily="18" charset="0"/>
                        <a:ea typeface="Cambria Math" panose="02040503050406030204" pitchFamily="18" charset="0"/>
                      </a:rPr>
                      <m:t>≤150</m:t>
                    </m:r>
                    <m:r>
                      <a:rPr lang="en-US" altLang="zh-TW" b="0" i="1" smtClean="0">
                        <a:latin typeface="Cambria Math" panose="02040503050406030204" pitchFamily="18" charset="0"/>
                        <a:ea typeface="Cambria Math" panose="02040503050406030204" pitchFamily="18" charset="0"/>
                      </a:rPr>
                      <m:t>𝑢𝑚</m:t>
                    </m:r>
                  </m:oMath>
                </a14:m>
                <a:endParaRPr lang="zh-TW" altLang="en-US" dirty="0"/>
              </a:p>
            </p:txBody>
          </p:sp>
        </mc:Choice>
        <mc:Fallback xmlns="">
          <p:sp>
            <p:nvSpPr>
              <p:cNvPr id="19" name="文字方塊 18">
                <a:extLst>
                  <a:ext uri="{FF2B5EF4-FFF2-40B4-BE49-F238E27FC236}">
                    <a16:creationId xmlns:a16="http://schemas.microsoft.com/office/drawing/2014/main" id="{CEEF32AD-A489-447D-93AA-7071B82FF98E}"/>
                  </a:ext>
                </a:extLst>
              </p:cNvPr>
              <p:cNvSpPr txBox="1">
                <a:spLocks noRot="1" noChangeAspect="1" noMove="1" noResize="1" noEditPoints="1" noAdjustHandles="1" noChangeArrowheads="1" noChangeShapeType="1" noTextEdit="1"/>
              </p:cNvSpPr>
              <p:nvPr/>
            </p:nvSpPr>
            <p:spPr>
              <a:xfrm>
                <a:off x="110067" y="1238356"/>
                <a:ext cx="10666408" cy="369332"/>
              </a:xfrm>
              <a:prstGeom prst="rect">
                <a:avLst/>
              </a:prstGeom>
              <a:blipFill>
                <a:blip r:embed="rId16"/>
                <a:stretch>
                  <a:fillRect l="-343" t="-8197"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7210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2" name="群組 11">
            <a:extLst>
              <a:ext uri="{FF2B5EF4-FFF2-40B4-BE49-F238E27FC236}">
                <a16:creationId xmlns:a16="http://schemas.microsoft.com/office/drawing/2014/main" id="{77D535E6-AAFE-4013-B46D-9C13356FC6B2}"/>
              </a:ext>
            </a:extLst>
          </p:cNvPr>
          <p:cNvGrpSpPr/>
          <p:nvPr/>
        </p:nvGrpSpPr>
        <p:grpSpPr>
          <a:xfrm>
            <a:off x="315007" y="2262135"/>
            <a:ext cx="4900460" cy="4231798"/>
            <a:chOff x="315007" y="2262135"/>
            <a:chExt cx="4900460" cy="4231798"/>
          </a:xfrm>
        </p:grpSpPr>
        <p:grpSp>
          <p:nvGrpSpPr>
            <p:cNvPr id="6" name="群組 5">
              <a:extLst>
                <a:ext uri="{FF2B5EF4-FFF2-40B4-BE49-F238E27FC236}">
                  <a16:creationId xmlns:a16="http://schemas.microsoft.com/office/drawing/2014/main" id="{00578A4A-7171-48CC-9F30-0E10914EC1E9}"/>
                </a:ext>
              </a:extLst>
            </p:cNvPr>
            <p:cNvGrpSpPr/>
            <p:nvPr/>
          </p:nvGrpSpPr>
          <p:grpSpPr>
            <a:xfrm>
              <a:off x="315007" y="2262135"/>
              <a:ext cx="4900460" cy="4231798"/>
              <a:chOff x="315007" y="2262135"/>
              <a:chExt cx="4900460" cy="4231798"/>
            </a:xfrm>
          </p:grpSpPr>
          <p:pic>
            <p:nvPicPr>
              <p:cNvPr id="8" name="圖片 7">
                <a:extLst>
                  <a:ext uri="{FF2B5EF4-FFF2-40B4-BE49-F238E27FC236}">
                    <a16:creationId xmlns:a16="http://schemas.microsoft.com/office/drawing/2014/main" id="{2B3EB8BC-DD4C-4667-990B-280610E35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536" y="2262135"/>
                <a:ext cx="4781931" cy="4138664"/>
              </a:xfrm>
              <a:prstGeom prst="rect">
                <a:avLst/>
              </a:prstGeom>
            </p:spPr>
          </p:pic>
          <p:sp>
            <p:nvSpPr>
              <p:cNvPr id="3" name="矩形 2">
                <a:extLst>
                  <a:ext uri="{FF2B5EF4-FFF2-40B4-BE49-F238E27FC236}">
                    <a16:creationId xmlns:a16="http://schemas.microsoft.com/office/drawing/2014/main" id="{EF0097E5-3183-40AD-A011-1D53B4ABCBC1}"/>
                  </a:ext>
                </a:extLst>
              </p:cNvPr>
              <p:cNvSpPr/>
              <p:nvPr/>
            </p:nvSpPr>
            <p:spPr>
              <a:xfrm>
                <a:off x="1625600" y="6180667"/>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1A80923D-D331-4A06-9EAF-0149AB1C73CD}"/>
                  </a:ext>
                </a:extLst>
              </p:cNvPr>
              <p:cNvSpPr/>
              <p:nvPr/>
            </p:nvSpPr>
            <p:spPr>
              <a:xfrm rot="16200000">
                <a:off x="-1035427" y="3970869"/>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7BF57618-4A44-458F-82B7-469ABA778258}"/>
                    </a:ext>
                  </a:extLst>
                </p:cNvPr>
                <p:cNvSpPr txBox="1"/>
                <p:nvPr/>
              </p:nvSpPr>
              <p:spPr>
                <a:xfrm>
                  <a:off x="1641873" y="6091079"/>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3" name="文字方塊 12">
                  <a:extLst>
                    <a:ext uri="{FF2B5EF4-FFF2-40B4-BE49-F238E27FC236}">
                      <a16:creationId xmlns:a16="http://schemas.microsoft.com/office/drawing/2014/main" id="{7BF57618-4A44-458F-82B7-469ABA778258}"/>
                    </a:ext>
                  </a:extLst>
                </p:cNvPr>
                <p:cNvSpPr txBox="1">
                  <a:spLocks noRot="1" noChangeAspect="1" noMove="1" noResize="1" noEditPoints="1" noAdjustHandles="1" noChangeArrowheads="1" noChangeShapeType="1" noTextEdit="1"/>
                </p:cNvSpPr>
                <p:nvPr/>
              </p:nvSpPr>
              <p:spPr>
                <a:xfrm>
                  <a:off x="1641873" y="6091079"/>
                  <a:ext cx="2981585" cy="246221"/>
                </a:xfrm>
                <a:prstGeom prst="rect">
                  <a:avLst/>
                </a:prstGeom>
                <a:blipFill>
                  <a:blip r:embed="rId3"/>
                  <a:stretch>
                    <a:fillRect l="-2045" t="-2439" r="-2045"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C4F75ADE-E012-4E44-949F-FC9A573005A1}"/>
                    </a:ext>
                  </a:extLst>
                </p:cNvPr>
                <p:cNvSpPr txBox="1"/>
                <p:nvPr/>
              </p:nvSpPr>
              <p:spPr>
                <a:xfrm rot="16200000">
                  <a:off x="-406871" y="4004391"/>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4" name="文字方塊 13">
                  <a:extLst>
                    <a:ext uri="{FF2B5EF4-FFF2-40B4-BE49-F238E27FC236}">
                      <a16:creationId xmlns:a16="http://schemas.microsoft.com/office/drawing/2014/main" id="{C4F75ADE-E012-4E44-949F-FC9A573005A1}"/>
                    </a:ext>
                  </a:extLst>
                </p:cNvPr>
                <p:cNvSpPr txBox="1">
                  <a:spLocks noRot="1" noChangeAspect="1" noMove="1" noResize="1" noEditPoints="1" noAdjustHandles="1" noChangeArrowheads="1" noChangeShapeType="1" noTextEdit="1"/>
                </p:cNvSpPr>
                <p:nvPr/>
              </p:nvSpPr>
              <p:spPr>
                <a:xfrm rot="16200000">
                  <a:off x="-406871" y="4004391"/>
                  <a:ext cx="1757019" cy="246221"/>
                </a:xfrm>
                <a:prstGeom prst="rect">
                  <a:avLst/>
                </a:prstGeom>
                <a:blipFill>
                  <a:blip r:embed="rId4"/>
                  <a:stretch>
                    <a:fillRect l="-156098" t="-2083" r="-241463" b="-9028"/>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49E3BF34-27DC-4061-992B-2E309F38657F}"/>
              </a:ext>
            </a:extLst>
          </p:cNvPr>
          <p:cNvGrpSpPr/>
          <p:nvPr/>
        </p:nvGrpSpPr>
        <p:grpSpPr>
          <a:xfrm>
            <a:off x="5782735" y="2262135"/>
            <a:ext cx="5528731" cy="4357046"/>
            <a:chOff x="5782735" y="2262135"/>
            <a:chExt cx="5528731" cy="4357046"/>
          </a:xfrm>
        </p:grpSpPr>
        <p:grpSp>
          <p:nvGrpSpPr>
            <p:cNvPr id="11" name="群組 10">
              <a:extLst>
                <a:ext uri="{FF2B5EF4-FFF2-40B4-BE49-F238E27FC236}">
                  <a16:creationId xmlns:a16="http://schemas.microsoft.com/office/drawing/2014/main" id="{96A2C0DF-5CDC-4349-AF1E-A7FD047A3BB5}"/>
                </a:ext>
              </a:extLst>
            </p:cNvPr>
            <p:cNvGrpSpPr/>
            <p:nvPr/>
          </p:nvGrpSpPr>
          <p:grpSpPr>
            <a:xfrm>
              <a:off x="5782735" y="2262135"/>
              <a:ext cx="5528731" cy="4357046"/>
              <a:chOff x="5782735" y="2262135"/>
              <a:chExt cx="5528731" cy="4357046"/>
            </a:xfrm>
          </p:grpSpPr>
          <p:pic>
            <p:nvPicPr>
              <p:cNvPr id="5" name="圖片 4">
                <a:extLst>
                  <a:ext uri="{FF2B5EF4-FFF2-40B4-BE49-F238E27FC236}">
                    <a16:creationId xmlns:a16="http://schemas.microsoft.com/office/drawing/2014/main" id="{920BAA76-F89D-4105-B5FB-419D8CD7CEB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3533" y="2262135"/>
                <a:ext cx="5477933" cy="4309533"/>
              </a:xfrm>
              <a:prstGeom prst="rect">
                <a:avLst/>
              </a:prstGeom>
            </p:spPr>
          </p:pic>
          <p:sp>
            <p:nvSpPr>
              <p:cNvPr id="7" name="矩形 6">
                <a:extLst>
                  <a:ext uri="{FF2B5EF4-FFF2-40B4-BE49-F238E27FC236}">
                    <a16:creationId xmlns:a16="http://schemas.microsoft.com/office/drawing/2014/main" id="{4E6C42D8-29CA-4611-B0D9-33563F7C1657}"/>
                  </a:ext>
                </a:extLst>
              </p:cNvPr>
              <p:cNvSpPr/>
              <p:nvPr/>
            </p:nvSpPr>
            <p:spPr>
              <a:xfrm>
                <a:off x="7179734" y="6305915"/>
                <a:ext cx="3386666"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D49A6795-56F5-4D64-9C5E-74F53402F104}"/>
                  </a:ext>
                </a:extLst>
              </p:cNvPr>
              <p:cNvSpPr/>
              <p:nvPr/>
            </p:nvSpPr>
            <p:spPr>
              <a:xfrm rot="16200000">
                <a:off x="4432301" y="4078452"/>
                <a:ext cx="3014133" cy="3132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6" name="文字方塊 15">
                  <a:extLst>
                    <a:ext uri="{FF2B5EF4-FFF2-40B4-BE49-F238E27FC236}">
                      <a16:creationId xmlns:a16="http://schemas.microsoft.com/office/drawing/2014/main" id="{904E5CD8-98E7-4BA4-A1EF-6B3F61C2A7A5}"/>
                    </a:ext>
                  </a:extLst>
                </p:cNvPr>
                <p:cNvSpPr txBox="1"/>
                <p:nvPr/>
              </p:nvSpPr>
              <p:spPr>
                <a:xfrm rot="16200000">
                  <a:off x="5029073" y="4111974"/>
                  <a:ext cx="1757019"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1600" b="1" i="1" smtClean="0">
                                <a:latin typeface="Cambria Math" panose="02040503050406030204" pitchFamily="18" charset="0"/>
                                <a:ea typeface="Cambria Math" panose="02040503050406030204" pitchFamily="18" charset="0"/>
                              </a:rPr>
                            </m:ctrlPr>
                          </m:fPr>
                          <m:num>
                            <m:r>
                              <a:rPr lang="en-US" altLang="zh-TW" sz="1600" b="1" i="0" smtClean="0">
                                <a:latin typeface="Cambria Math" panose="02040503050406030204" pitchFamily="18" charset="0"/>
                                <a:ea typeface="Cambria Math" panose="02040503050406030204" pitchFamily="18" charset="0"/>
                              </a:rPr>
                              <m:t>𝐍</m:t>
                            </m:r>
                          </m:num>
                          <m:den>
                            <m:sSub>
                              <m:sSubPr>
                                <m:ctrlPr>
                                  <a:rPr lang="en-US" altLang="zh-TW" sz="1600" b="1" i="1" smtClean="0">
                                    <a:latin typeface="Cambria Math" panose="02040503050406030204" pitchFamily="18" charset="0"/>
                                    <a:ea typeface="Cambria Math" panose="02040503050406030204" pitchFamily="18" charset="0"/>
                                  </a:rPr>
                                </m:ctrlPr>
                              </m:sSubPr>
                              <m:e>
                                <m:r>
                                  <a:rPr lang="en-US" altLang="zh-TW" sz="1600" b="1" i="0" smtClean="0">
                                    <a:latin typeface="Cambria Math" panose="02040503050406030204" pitchFamily="18" charset="0"/>
                                    <a:ea typeface="Cambria Math" panose="02040503050406030204" pitchFamily="18" charset="0"/>
                                  </a:rPr>
                                  <m:t>𝐍</m:t>
                                </m:r>
                              </m:e>
                              <m:sub>
                                <m:r>
                                  <a:rPr lang="en-US" altLang="zh-TW" sz="1600" b="1" i="0" smtClean="0">
                                    <a:latin typeface="Cambria Math" panose="02040503050406030204" pitchFamily="18" charset="0"/>
                                    <a:ea typeface="Cambria Math" panose="02040503050406030204" pitchFamily="18" charset="0"/>
                                  </a:rPr>
                                  <m:t>𝐭𝐨𝐭𝐚𝐥</m:t>
                                </m:r>
                              </m:sub>
                            </m:sSub>
                          </m:den>
                        </m:f>
                        <m:r>
                          <a:rPr lang="en-US" altLang="zh-TW" sz="1600" b="1" i="1" smtClean="0">
                            <a:latin typeface="Cambria Math" panose="02040503050406030204" pitchFamily="18" charset="0"/>
                            <a:ea typeface="Cambria Math" panose="02040503050406030204" pitchFamily="18" charset="0"/>
                          </a:rPr>
                          <m:t>∙</m:t>
                        </m:r>
                        <m:r>
                          <a:rPr lang="en-US" altLang="zh-TW" sz="1600" b="1" i="1" smtClean="0">
                            <a:latin typeface="Cambria Math" panose="02040503050406030204" pitchFamily="18" charset="0"/>
                            <a:ea typeface="Cambria Math" panose="02040503050406030204" pitchFamily="18" charset="0"/>
                          </a:rPr>
                          <m:t>𝟏𝟎𝟎</m:t>
                        </m:r>
                        <m:r>
                          <a:rPr lang="en-US" altLang="zh-TW" sz="1600" b="1" i="1" smtClean="0">
                            <a:latin typeface="Cambria Math" panose="02040503050406030204" pitchFamily="18" charset="0"/>
                          </a:rPr>
                          <m:t> (%)</m:t>
                        </m:r>
                      </m:oMath>
                    </m:oMathPara>
                  </a14:m>
                  <a:endParaRPr lang="zh-TW" altLang="en-US" sz="2000" b="1" dirty="0"/>
                </a:p>
              </p:txBody>
            </p:sp>
          </mc:Choice>
          <mc:Fallback xmlns="">
            <p:sp>
              <p:nvSpPr>
                <p:cNvPr id="16" name="文字方塊 15">
                  <a:extLst>
                    <a:ext uri="{FF2B5EF4-FFF2-40B4-BE49-F238E27FC236}">
                      <a16:creationId xmlns:a16="http://schemas.microsoft.com/office/drawing/2014/main" id="{904E5CD8-98E7-4BA4-A1EF-6B3F61C2A7A5}"/>
                    </a:ext>
                  </a:extLst>
                </p:cNvPr>
                <p:cNvSpPr txBox="1">
                  <a:spLocks noRot="1" noChangeAspect="1" noMove="1" noResize="1" noEditPoints="1" noAdjustHandles="1" noChangeArrowheads="1" noChangeShapeType="1" noTextEdit="1"/>
                </p:cNvSpPr>
                <p:nvPr/>
              </p:nvSpPr>
              <p:spPr>
                <a:xfrm rot="16200000">
                  <a:off x="5029073" y="4111974"/>
                  <a:ext cx="1757019" cy="246221"/>
                </a:xfrm>
                <a:prstGeom prst="rect">
                  <a:avLst/>
                </a:prstGeom>
                <a:blipFill>
                  <a:blip r:embed="rId6"/>
                  <a:stretch>
                    <a:fillRect l="-162500" t="-2431" r="-247500" b="-868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05AF3486-E272-4BE4-BE02-43EF87A530D1}"/>
                    </a:ext>
                  </a:extLst>
                </p:cNvPr>
                <p:cNvSpPr txBox="1"/>
                <p:nvPr/>
              </p:nvSpPr>
              <p:spPr>
                <a:xfrm>
                  <a:off x="7633876" y="6211481"/>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7" name="文字方塊 16">
                  <a:extLst>
                    <a:ext uri="{FF2B5EF4-FFF2-40B4-BE49-F238E27FC236}">
                      <a16:creationId xmlns:a16="http://schemas.microsoft.com/office/drawing/2014/main" id="{05AF3486-E272-4BE4-BE02-43EF87A530D1}"/>
                    </a:ext>
                  </a:extLst>
                </p:cNvPr>
                <p:cNvSpPr txBox="1">
                  <a:spLocks noRot="1" noChangeAspect="1" noMove="1" noResize="1" noEditPoints="1" noAdjustHandles="1" noChangeArrowheads="1" noChangeShapeType="1" noTextEdit="1"/>
                </p:cNvSpPr>
                <p:nvPr/>
              </p:nvSpPr>
              <p:spPr>
                <a:xfrm>
                  <a:off x="7633876" y="6211481"/>
                  <a:ext cx="2981585" cy="246221"/>
                </a:xfrm>
                <a:prstGeom prst="rect">
                  <a:avLst/>
                </a:prstGeom>
                <a:blipFill>
                  <a:blip r:embed="rId7"/>
                  <a:stretch>
                    <a:fillRect l="-2045" t="-2500" r="-2045" b="-35000"/>
                  </a:stretch>
                </a:blipFill>
              </p:spPr>
              <p:txBody>
                <a:bodyPr/>
                <a:lstStyle/>
                <a:p>
                  <a:r>
                    <a:rPr lang="zh-TW" altLang="en-US">
                      <a:noFill/>
                    </a:rPr>
                    <a:t> </a:t>
                  </a:r>
                </a:p>
              </p:txBody>
            </p:sp>
          </mc:Fallback>
        </mc:AlternateContent>
      </p:grpSp>
      <p:sp>
        <p:nvSpPr>
          <p:cNvPr id="20" name="文字方塊 19">
            <a:extLst>
              <a:ext uri="{FF2B5EF4-FFF2-40B4-BE49-F238E27FC236}">
                <a16:creationId xmlns:a16="http://schemas.microsoft.com/office/drawing/2014/main" id="{51F70BAE-D924-48C9-8036-D86345E1B99E}"/>
              </a:ext>
            </a:extLst>
          </p:cNvPr>
          <p:cNvSpPr txBox="1"/>
          <p:nvPr/>
        </p:nvSpPr>
        <p:spPr>
          <a:xfrm>
            <a:off x="110067" y="498484"/>
            <a:ext cx="11853333" cy="1754326"/>
          </a:xfrm>
          <a:prstGeom prst="rect">
            <a:avLst/>
          </a:prstGeom>
          <a:noFill/>
        </p:spPr>
        <p:txBody>
          <a:bodyPr wrap="square">
            <a:spAutoFit/>
          </a:bodyPr>
          <a:lstStyle/>
          <a:p>
            <a:pPr marL="285750" indent="-285750">
              <a:buFont typeface="Arial" panose="020B0604020202020204" pitchFamily="34" charset="0"/>
              <a:buChar char="•"/>
            </a:pPr>
            <a:r>
              <a:rPr lang="zh-TW" altLang="en-US" dirty="0"/>
              <a:t>Both models need less than 1% of the available points over the intermediate range, which is highly efficient; but both ends degrade — small R suffers from insufficient information and large R from the model itself beginning to fail, requiring large numbers of points to compensate.</a:t>
            </a:r>
            <a:r>
              <a:rPr lang="en-US" altLang="zh-TW" dirty="0"/>
              <a:t> The single-parameter curve starts at 140 µm because at smaller radii the number of points it requires exceeds the number of real grid points the region actually contains</a:t>
            </a:r>
            <a:r>
              <a:rPr lang="zh-TW" altLang="en-US" dirty="0"/>
              <a:t>，</a:t>
            </a:r>
            <a:r>
              <a:rPr lang="en-US" altLang="zh-TW" dirty="0"/>
              <a:t> since the information it needs exceeds the measurement points the region can supply, whereas the eighteen-parameter model requires less than a quarter of the available grid points over the same region and can therefore be plotted from 80 µm.</a:t>
            </a:r>
            <a:endParaRPr lang="zh-TW" altLang="en-US" dirty="0"/>
          </a:p>
        </p:txBody>
      </p:sp>
    </p:spTree>
    <p:extLst>
      <p:ext uri="{BB962C8B-B14F-4D97-AF65-F5344CB8AC3E}">
        <p14:creationId xmlns:p14="http://schemas.microsoft.com/office/powerpoint/2010/main" val="30388269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6117A0-A94B-49AB-92D6-B22FD0AF0753}"/>
              </a:ext>
            </a:extLst>
          </p:cNvPr>
          <p:cNvSpPr>
            <a:spLocks noGrp="1"/>
          </p:cNvSpPr>
          <p:nvPr>
            <p:ph type="title"/>
          </p:nvPr>
        </p:nvSpPr>
        <p:spPr>
          <a:xfrm>
            <a:off x="0" y="85727"/>
            <a:ext cx="12081933" cy="837142"/>
          </a:xfrm>
        </p:spPr>
        <p:txBody>
          <a:bodyPr>
            <a:normAutofit fontScale="90000"/>
          </a:bodyPr>
          <a:lstStyle/>
          <a:p>
            <a:r>
              <a:rPr lang="en-US" altLang="zh-TW" sz="4000" b="1" kern="100" dirty="0">
                <a:solidFill>
                  <a:srgbClr val="000000"/>
                </a:solidFill>
                <a:latin typeface="Aptos"/>
                <a:ea typeface="新細明體" panose="02020500000000000000" pitchFamily="18" charset="-120"/>
                <a:cs typeface="Times New Roman" panose="02020603050405020304" pitchFamily="18" charset="0"/>
              </a:rPr>
              <a:t>Reference</a:t>
            </a:r>
            <a:br>
              <a:rPr lang="zh-TW" altLang="zh-TW" sz="1800" kern="100" dirty="0">
                <a:effectLst/>
                <a:latin typeface="Aptos"/>
                <a:ea typeface="新細明體" panose="02020500000000000000" pitchFamily="18" charset="-120"/>
                <a:cs typeface="Times New Roman" panose="02020603050405020304" pitchFamily="18" charset="0"/>
              </a:rPr>
            </a:br>
            <a:endParaRPr lang="zh-TW" altLang="en-US" dirty="0"/>
          </a:p>
        </p:txBody>
      </p:sp>
      <p:sp>
        <p:nvSpPr>
          <p:cNvPr id="18" name="矩形 17">
            <a:extLst>
              <a:ext uri="{FF2B5EF4-FFF2-40B4-BE49-F238E27FC236}">
                <a16:creationId xmlns:a16="http://schemas.microsoft.com/office/drawing/2014/main" id="{D626DE7A-F9C6-47BF-9503-E4D79EF03BB4}"/>
              </a:ext>
            </a:extLst>
          </p:cNvPr>
          <p:cNvSpPr/>
          <p:nvPr/>
        </p:nvSpPr>
        <p:spPr>
          <a:xfrm rot="21166399">
            <a:off x="8390467" y="5858933"/>
            <a:ext cx="1877540" cy="33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7" name="群組 16">
            <a:extLst>
              <a:ext uri="{FF2B5EF4-FFF2-40B4-BE49-F238E27FC236}">
                <a16:creationId xmlns:a16="http://schemas.microsoft.com/office/drawing/2014/main" id="{789E8715-06E5-4C54-AF2E-31A9102C0866}"/>
              </a:ext>
            </a:extLst>
          </p:cNvPr>
          <p:cNvGrpSpPr/>
          <p:nvPr/>
        </p:nvGrpSpPr>
        <p:grpSpPr>
          <a:xfrm>
            <a:off x="136324" y="1141590"/>
            <a:ext cx="5435165" cy="4381840"/>
            <a:chOff x="364924" y="2171360"/>
            <a:chExt cx="5435165" cy="4381840"/>
          </a:xfrm>
        </p:grpSpPr>
        <p:grpSp>
          <p:nvGrpSpPr>
            <p:cNvPr id="16" name="群組 15">
              <a:extLst>
                <a:ext uri="{FF2B5EF4-FFF2-40B4-BE49-F238E27FC236}">
                  <a16:creationId xmlns:a16="http://schemas.microsoft.com/office/drawing/2014/main" id="{7767643A-3691-4476-8BE9-8F4F7169A512}"/>
                </a:ext>
              </a:extLst>
            </p:cNvPr>
            <p:cNvGrpSpPr/>
            <p:nvPr/>
          </p:nvGrpSpPr>
          <p:grpSpPr>
            <a:xfrm>
              <a:off x="394809" y="2423160"/>
              <a:ext cx="4953012" cy="4130040"/>
              <a:chOff x="394809" y="2423160"/>
              <a:chExt cx="4953012" cy="4130040"/>
            </a:xfrm>
          </p:grpSpPr>
          <p:pic>
            <p:nvPicPr>
              <p:cNvPr id="4" name="圖片 3">
                <a:extLst>
                  <a:ext uri="{FF2B5EF4-FFF2-40B4-BE49-F238E27FC236}">
                    <a16:creationId xmlns:a16="http://schemas.microsoft.com/office/drawing/2014/main" id="{069B5A38-E655-4020-96BB-D6465EBAD6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809" y="2423160"/>
                <a:ext cx="4953012" cy="4059936"/>
              </a:xfrm>
              <a:prstGeom prst="rect">
                <a:avLst/>
              </a:prstGeom>
            </p:spPr>
          </p:pic>
          <p:sp>
            <p:nvSpPr>
              <p:cNvPr id="6" name="矩形 5">
                <a:extLst>
                  <a:ext uri="{FF2B5EF4-FFF2-40B4-BE49-F238E27FC236}">
                    <a16:creationId xmlns:a16="http://schemas.microsoft.com/office/drawing/2014/main" id="{3C62A111-FBCE-4A96-AF3A-3C229299F8F1}"/>
                  </a:ext>
                </a:extLst>
              </p:cNvPr>
              <p:cNvSpPr/>
              <p:nvPr/>
            </p:nvSpPr>
            <p:spPr>
              <a:xfrm>
                <a:off x="2328333" y="6231467"/>
                <a:ext cx="1524000" cy="3217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4B6FB3BF-DC73-4C39-B669-4899A765A7D1}"/>
                  </a:ext>
                </a:extLst>
              </p:cNvPr>
              <p:cNvSpPr/>
              <p:nvPr/>
            </p:nvSpPr>
            <p:spPr>
              <a:xfrm>
                <a:off x="394810" y="3826933"/>
                <a:ext cx="231724" cy="8466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id="{44F63BD1-3D20-4341-9A13-D8BB4B110D1D}"/>
                    </a:ext>
                  </a:extLst>
                </p:cNvPr>
                <p:cNvSpPr txBox="1"/>
                <p:nvPr/>
              </p:nvSpPr>
              <p:spPr>
                <a:xfrm>
                  <a:off x="1506088" y="6141054"/>
                  <a:ext cx="29815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𝐒𝐚𝐦𝐩𝐥𝐢𝐧𝐠</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𝐫𝐚𝐧𝐠𝐞</m:t>
                        </m:r>
                        <m:r>
                          <a:rPr lang="en-US" altLang="zh-TW" sz="1600" b="1" i="1" smtClean="0">
                            <a:latin typeface="Cambria Math" panose="02040503050406030204" pitchFamily="18" charset="0"/>
                          </a:rPr>
                          <m:t>(</m:t>
                        </m:r>
                        <m:r>
                          <a:rPr lang="en-US" altLang="zh-TW" sz="1600" b="1" i="1" smtClean="0">
                            <a:latin typeface="Cambria Math" panose="02040503050406030204" pitchFamily="18" charset="0"/>
                          </a:rPr>
                          <m:t>𝒎𝒊𝒄𝒓𝒐</m:t>
                        </m:r>
                        <m:r>
                          <a:rPr lang="en-US" altLang="zh-TW" sz="1600" b="1" i="1" smtClean="0">
                            <a:latin typeface="Cambria Math" panose="02040503050406030204" pitchFamily="18" charset="0"/>
                          </a:rPr>
                          <m:t> </m:t>
                        </m:r>
                        <m:r>
                          <a:rPr lang="en-US" altLang="zh-TW" sz="1600" b="1" i="1" smtClean="0">
                            <a:latin typeface="Cambria Math" panose="02040503050406030204" pitchFamily="18" charset="0"/>
                          </a:rPr>
                          <m:t>𝒎𝒆𝒕𝒆𝒓</m:t>
                        </m:r>
                        <m:r>
                          <a:rPr lang="en-US" altLang="zh-TW" sz="1600" b="1" i="1" smtClean="0">
                            <a:latin typeface="Cambria Math" panose="02040503050406030204" pitchFamily="18" charset="0"/>
                          </a:rPr>
                          <m:t>)</m:t>
                        </m:r>
                      </m:oMath>
                    </m:oMathPara>
                  </a14:m>
                  <a:endParaRPr lang="zh-TW" altLang="en-US" sz="2000" b="1" dirty="0"/>
                </a:p>
              </p:txBody>
            </p:sp>
          </mc:Choice>
          <mc:Fallback xmlns="">
            <p:sp>
              <p:nvSpPr>
                <p:cNvPr id="10" name="文字方塊 9">
                  <a:extLst>
                    <a:ext uri="{FF2B5EF4-FFF2-40B4-BE49-F238E27FC236}">
                      <a16:creationId xmlns:a16="http://schemas.microsoft.com/office/drawing/2014/main" id="{44F63BD1-3D20-4341-9A13-D8BB4B110D1D}"/>
                    </a:ext>
                  </a:extLst>
                </p:cNvPr>
                <p:cNvSpPr txBox="1">
                  <a:spLocks noRot="1" noChangeAspect="1" noMove="1" noResize="1" noEditPoints="1" noAdjustHandles="1" noChangeArrowheads="1" noChangeShapeType="1" noTextEdit="1"/>
                </p:cNvSpPr>
                <p:nvPr/>
              </p:nvSpPr>
              <p:spPr>
                <a:xfrm>
                  <a:off x="1506088" y="6141054"/>
                  <a:ext cx="2981585" cy="246221"/>
                </a:xfrm>
                <a:prstGeom prst="rect">
                  <a:avLst/>
                </a:prstGeom>
                <a:blipFill>
                  <a:blip r:embed="rId3"/>
                  <a:stretch>
                    <a:fillRect l="-2045" t="-2439" r="-1840" b="-317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63659279-B06E-4F24-BD19-93CB504D5CE7}"/>
                    </a:ext>
                  </a:extLst>
                </p:cNvPr>
                <p:cNvSpPr txBox="1"/>
                <p:nvPr/>
              </p:nvSpPr>
              <p:spPr>
                <a:xfrm rot="16200000">
                  <a:off x="-384801" y="4211822"/>
                  <a:ext cx="174567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0" smtClean="0">
                            <a:latin typeface="Cambria Math" panose="02040503050406030204" pitchFamily="18" charset="0"/>
                          </a:rPr>
                          <m:t>𝐍𝐮𝐦𝐛𝐞𝐫</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𝐨𝐟</m:t>
                        </m:r>
                        <m:r>
                          <a:rPr lang="en-US" altLang="zh-TW" sz="1600" b="1" i="0" smtClean="0">
                            <a:latin typeface="Cambria Math" panose="02040503050406030204" pitchFamily="18" charset="0"/>
                          </a:rPr>
                          <m:t> </m:t>
                        </m:r>
                        <m:r>
                          <a:rPr lang="en-US" altLang="zh-TW" sz="1600" b="1" i="0" smtClean="0">
                            <a:latin typeface="Cambria Math" panose="02040503050406030204" pitchFamily="18" charset="0"/>
                          </a:rPr>
                          <m:t>𝐩𝐨𝐢𝐧𝐭𝐬</m:t>
                        </m:r>
                      </m:oMath>
                    </m:oMathPara>
                  </a14:m>
                  <a:endParaRPr lang="zh-TW" altLang="en-US" sz="1600" b="1" dirty="0"/>
                </a:p>
              </p:txBody>
            </p:sp>
          </mc:Choice>
          <mc:Fallback xmlns="">
            <p:sp>
              <p:nvSpPr>
                <p:cNvPr id="13" name="文字方塊 12">
                  <a:extLst>
                    <a:ext uri="{FF2B5EF4-FFF2-40B4-BE49-F238E27FC236}">
                      <a16:creationId xmlns:a16="http://schemas.microsoft.com/office/drawing/2014/main" id="{63659279-B06E-4F24-BD19-93CB504D5CE7}"/>
                    </a:ext>
                  </a:extLst>
                </p:cNvPr>
                <p:cNvSpPr txBox="1">
                  <a:spLocks noRot="1" noChangeAspect="1" noMove="1" noResize="1" noEditPoints="1" noAdjustHandles="1" noChangeArrowheads="1" noChangeShapeType="1" noTextEdit="1"/>
                </p:cNvSpPr>
                <p:nvPr/>
              </p:nvSpPr>
              <p:spPr>
                <a:xfrm rot="16200000">
                  <a:off x="-384801" y="4211822"/>
                  <a:ext cx="1745671" cy="246221"/>
                </a:xfrm>
                <a:prstGeom prst="rect">
                  <a:avLst/>
                </a:prstGeom>
                <a:blipFill>
                  <a:blip r:embed="rId4"/>
                  <a:stretch>
                    <a:fillRect t="-3147" r="-29268" b="-279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1EB4FB6D-96F5-4D84-BCF3-F4D50FB6A07F}"/>
                    </a:ext>
                  </a:extLst>
                </p:cNvPr>
                <p:cNvSpPr txBox="1"/>
                <p:nvPr/>
              </p:nvSpPr>
              <p:spPr>
                <a:xfrm>
                  <a:off x="5216981" y="5616828"/>
                  <a:ext cx="583108" cy="25064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𝟕</m:t>
                            </m:r>
                          </m:sup>
                        </m:sSup>
                      </m:oMath>
                    </m:oMathPara>
                  </a14:m>
                  <a:endParaRPr lang="zh-TW" altLang="en-US" sz="1600" b="1" dirty="0"/>
                </a:p>
              </p:txBody>
            </p:sp>
          </mc:Choice>
          <mc:Fallback xmlns="">
            <p:sp>
              <p:nvSpPr>
                <p:cNvPr id="11" name="文字方塊 10">
                  <a:extLst>
                    <a:ext uri="{FF2B5EF4-FFF2-40B4-BE49-F238E27FC236}">
                      <a16:creationId xmlns:a16="http://schemas.microsoft.com/office/drawing/2014/main" id="{1EB4FB6D-96F5-4D84-BCF3-F4D50FB6A07F}"/>
                    </a:ext>
                  </a:extLst>
                </p:cNvPr>
                <p:cNvSpPr txBox="1">
                  <a:spLocks noRot="1" noChangeAspect="1" noMove="1" noResize="1" noEditPoints="1" noAdjustHandles="1" noChangeArrowheads="1" noChangeShapeType="1" noTextEdit="1"/>
                </p:cNvSpPr>
                <p:nvPr/>
              </p:nvSpPr>
              <p:spPr>
                <a:xfrm>
                  <a:off x="5216981" y="5616828"/>
                  <a:ext cx="583108" cy="250646"/>
                </a:xfrm>
                <a:prstGeom prst="rect">
                  <a:avLst/>
                </a:prstGeom>
                <a:blipFill>
                  <a:blip r:embed="rId5"/>
                  <a:stretch>
                    <a:fillRect l="-5208" r="-2083" b="-476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271DA3D8-FE97-4605-890B-79D6B86B5163}"/>
                    </a:ext>
                  </a:extLst>
                </p:cNvPr>
                <p:cNvSpPr txBox="1"/>
                <p:nvPr/>
              </p:nvSpPr>
              <p:spPr>
                <a:xfrm>
                  <a:off x="626534" y="2171360"/>
                  <a:ext cx="583108" cy="2518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1600" b="1" i="1" smtClean="0">
                            <a:latin typeface="Cambria Math" panose="02040503050406030204" pitchFamily="18" charset="0"/>
                            <a:ea typeface="Cambria Math" panose="02040503050406030204" pitchFamily="18" charset="0"/>
                          </a:rPr>
                          <m:t>×</m:t>
                        </m:r>
                        <m:sSup>
                          <m:sSupPr>
                            <m:ctrlPr>
                              <a:rPr lang="en-US" altLang="zh-TW" sz="1600" b="1" i="1" smtClean="0">
                                <a:latin typeface="Cambria Math" panose="02040503050406030204" pitchFamily="18" charset="0"/>
                                <a:ea typeface="Cambria Math" panose="02040503050406030204" pitchFamily="18" charset="0"/>
                              </a:rPr>
                            </m:ctrlPr>
                          </m:sSupPr>
                          <m:e>
                            <m:r>
                              <a:rPr lang="en-US" altLang="zh-TW" sz="1600" b="1" i="1" smtClean="0">
                                <a:latin typeface="Cambria Math" panose="02040503050406030204" pitchFamily="18" charset="0"/>
                                <a:ea typeface="Cambria Math" panose="02040503050406030204" pitchFamily="18" charset="0"/>
                              </a:rPr>
                              <m:t>𝟏𝟎</m:t>
                            </m:r>
                          </m:e>
                          <m:sup>
                            <m:r>
                              <a:rPr lang="en-US" altLang="zh-TW" sz="1600" b="1" i="1" smtClean="0">
                                <a:latin typeface="Cambria Math" panose="02040503050406030204" pitchFamily="18" charset="0"/>
                                <a:ea typeface="Cambria Math" panose="02040503050406030204" pitchFamily="18" charset="0"/>
                              </a:rPr>
                              <m:t>𝟑</m:t>
                            </m:r>
                          </m:sup>
                        </m:sSup>
                      </m:oMath>
                    </m:oMathPara>
                  </a14:m>
                  <a:endParaRPr lang="zh-TW" altLang="en-US" sz="1600" b="1" dirty="0"/>
                </a:p>
              </p:txBody>
            </p:sp>
          </mc:Choice>
          <mc:Fallback xmlns="">
            <p:sp>
              <p:nvSpPr>
                <p:cNvPr id="19" name="文字方塊 18">
                  <a:extLst>
                    <a:ext uri="{FF2B5EF4-FFF2-40B4-BE49-F238E27FC236}">
                      <a16:creationId xmlns:a16="http://schemas.microsoft.com/office/drawing/2014/main" id="{271DA3D8-FE97-4605-890B-79D6B86B5163}"/>
                    </a:ext>
                  </a:extLst>
                </p:cNvPr>
                <p:cNvSpPr txBox="1">
                  <a:spLocks noRot="1" noChangeAspect="1" noMove="1" noResize="1" noEditPoints="1" noAdjustHandles="1" noChangeArrowheads="1" noChangeShapeType="1" noTextEdit="1"/>
                </p:cNvSpPr>
                <p:nvPr/>
              </p:nvSpPr>
              <p:spPr>
                <a:xfrm>
                  <a:off x="626534" y="2171360"/>
                  <a:ext cx="583108" cy="251800"/>
                </a:xfrm>
                <a:prstGeom prst="rect">
                  <a:avLst/>
                </a:prstGeom>
                <a:blipFill>
                  <a:blip r:embed="rId6"/>
                  <a:stretch>
                    <a:fillRect l="-5208" r="-2083" b="-4762"/>
                  </a:stretch>
                </a:blipFill>
              </p:spPr>
              <p:txBody>
                <a:bodyPr/>
                <a:lstStyle/>
                <a:p>
                  <a:r>
                    <a:rPr lang="zh-TW" altLang="en-US">
                      <a:noFill/>
                    </a:rPr>
                    <a:t> </a:t>
                  </a:r>
                </a:p>
              </p:txBody>
            </p:sp>
          </mc:Fallback>
        </mc:AlternateContent>
      </p:grpSp>
      <p:sp>
        <p:nvSpPr>
          <p:cNvPr id="21" name="文字方塊 20">
            <a:extLst>
              <a:ext uri="{FF2B5EF4-FFF2-40B4-BE49-F238E27FC236}">
                <a16:creationId xmlns:a16="http://schemas.microsoft.com/office/drawing/2014/main" id="{527AD032-2BCD-42FA-94F3-08857DF7AF3A}"/>
              </a:ext>
            </a:extLst>
          </p:cNvPr>
          <p:cNvSpPr txBox="1"/>
          <p:nvPr/>
        </p:nvSpPr>
        <p:spPr>
          <a:xfrm>
            <a:off x="5279935" y="922869"/>
            <a:ext cx="6443120" cy="1200329"/>
          </a:xfrm>
          <a:prstGeom prst="rect">
            <a:avLst/>
          </a:prstGeom>
          <a:noFill/>
        </p:spPr>
        <p:txBody>
          <a:bodyPr wrap="square">
            <a:spAutoFit/>
          </a:bodyPr>
          <a:lstStyle/>
          <a:p>
            <a:pPr marL="285750" indent="-285750">
              <a:buFont typeface="Arial" panose="020B0604020202020204" pitchFamily="34" charset="0"/>
              <a:buChar char="•"/>
            </a:pPr>
            <a:r>
              <a:rPr lang="zh-TW" altLang="en-US" dirty="0"/>
              <a:t>The number of available sampling points is indeed proportional to the sphere volume,  the FEM mesh is of uniform density in this region. All the preceding discussion of "point count" can therefore be converted directly into "sampling radius"</a:t>
            </a:r>
          </a:p>
        </p:txBody>
      </p:sp>
    </p:spTree>
    <p:extLst>
      <p:ext uri="{BB962C8B-B14F-4D97-AF65-F5344CB8AC3E}">
        <p14:creationId xmlns:p14="http://schemas.microsoft.com/office/powerpoint/2010/main" val="69523286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19982</TotalTime>
  <Words>2768</Words>
  <Application>Microsoft Office PowerPoint</Application>
  <PresentationFormat>寬螢幕</PresentationFormat>
  <Paragraphs>241</Paragraphs>
  <Slides>22</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22</vt:i4>
      </vt:variant>
    </vt:vector>
  </HeadingPairs>
  <TitlesOfParts>
    <vt:vector size="30" baseType="lpstr">
      <vt:lpstr>Aptos</vt:lpstr>
      <vt:lpstr>Arial</vt:lpstr>
      <vt:lpstr>Calibri</vt:lpstr>
      <vt:lpstr>Calibri Light</vt:lpstr>
      <vt:lpstr>Cambria Math</vt:lpstr>
      <vt:lpstr>Times New Roman</vt:lpstr>
      <vt:lpstr>Wingdings</vt:lpstr>
      <vt:lpstr>Office 佈景主題</vt:lpstr>
      <vt:lpstr>A Lumped-Parameter Modeling, Calibration, and Capacity-Measure Framework for Flux Generation in Symmetric Multipole Electromagnetic Actuators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Current-based lumped-parameter modeling and calibration </vt:lpstr>
      <vt:lpstr>Hall-sensor-voltage-based lumped-parameter modeling and calibration </vt:lpstr>
      <vt:lpstr>Hall-sensor-voltage-based lumped-parameter modeling and calibration </vt:lpstr>
      <vt:lpstr>Hall-sensor-voltage-based lumped-parameter modeling and calibration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Quantitative Assessment of Multi-Pole Actuators  </vt:lpstr>
      <vt:lpstr>Reference </vt:lpstr>
      <vt:lpstr>Reference </vt:lpstr>
      <vt:lpstr>Reference </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Lumped-Parameter Modeling, Calibration, and Capacity-Measure Framework for Flux Generation in Symmetric Multipole Electromagnetic Actuators</dc:title>
  <dc:creator>郭建棋</dc:creator>
  <cp:lastModifiedBy>郭建棋</cp:lastModifiedBy>
  <cp:revision>252</cp:revision>
  <dcterms:created xsi:type="dcterms:W3CDTF">2026-07-23T11:39:15Z</dcterms:created>
  <dcterms:modified xsi:type="dcterms:W3CDTF">2026-08-18T02:24:03Z</dcterms:modified>
</cp:coreProperties>
</file>