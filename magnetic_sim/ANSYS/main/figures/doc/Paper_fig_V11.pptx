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316" r:id="rId4"/>
    <p:sldId id="285" r:id="rId5"/>
    <p:sldId id="312" r:id="rId6"/>
    <p:sldId id="269" r:id="rId7"/>
    <p:sldId id="290" r:id="rId8"/>
    <p:sldId id="272" r:id="rId9"/>
    <p:sldId id="291" r:id="rId10"/>
    <p:sldId id="313" r:id="rId11"/>
    <p:sldId id="273" r:id="rId12"/>
    <p:sldId id="293" r:id="rId13"/>
    <p:sldId id="311" r:id="rId14"/>
    <p:sldId id="310" r:id="rId15"/>
    <p:sldId id="294" r:id="rId16"/>
    <p:sldId id="296" r:id="rId17"/>
    <p:sldId id="297" r:id="rId18"/>
    <p:sldId id="300" r:id="rId19"/>
    <p:sldId id="301" r:id="rId20"/>
    <p:sldId id="302" r:id="rId21"/>
    <p:sldId id="304" r:id="rId22"/>
    <p:sldId id="305" r:id="rId23"/>
    <p:sldId id="307" r:id="rId24"/>
    <p:sldId id="308" r:id="rId25"/>
    <p:sldId id="292" r:id="rId26"/>
    <p:sldId id="309"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2026/8/28</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7"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61.png"/><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9.png"/><Relationship Id="rId7" Type="http://schemas.openxmlformats.org/officeDocument/2006/relationships/image" Target="../media/image290.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4.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2.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3.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9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500.png"/><Relationship Id="rId18" Type="http://schemas.openxmlformats.org/officeDocument/2006/relationships/image" Target="../media/image570.png"/><Relationship Id="rId26" Type="http://schemas.openxmlformats.org/officeDocument/2006/relationships/image" Target="../media/image411.png"/><Relationship Id="rId21" Type="http://schemas.openxmlformats.org/officeDocument/2006/relationships/image" Target="../media/image350.png"/><Relationship Id="rId12" Type="http://schemas.openxmlformats.org/officeDocument/2006/relationships/image" Target="../media/image491.png"/><Relationship Id="rId17" Type="http://schemas.openxmlformats.org/officeDocument/2006/relationships/image" Target="../media/image560.png"/><Relationship Id="rId25" Type="http://schemas.openxmlformats.org/officeDocument/2006/relationships/image" Target="../media/image400.png"/><Relationship Id="rId2" Type="http://schemas.openxmlformats.org/officeDocument/2006/relationships/image" Target="../media/image57.png"/><Relationship Id="rId16" Type="http://schemas.openxmlformats.org/officeDocument/2006/relationships/image" Target="../media/image58.png"/><Relationship Id="rId20" Type="http://schemas.openxmlformats.org/officeDocument/2006/relationships/image" Target="../media/image59.png"/><Relationship Id="rId29" Type="http://schemas.openxmlformats.org/officeDocument/2006/relationships/image" Target="../media/image440.png"/><Relationship Id="rId1" Type="http://schemas.openxmlformats.org/officeDocument/2006/relationships/slideLayout" Target="../slideLayouts/slideLayout2.xml"/><Relationship Id="rId24" Type="http://schemas.openxmlformats.org/officeDocument/2006/relationships/image" Target="../media/image420.png"/><Relationship Id="rId15" Type="http://schemas.openxmlformats.org/officeDocument/2006/relationships/image" Target="../media/image520.png"/><Relationship Id="rId23" Type="http://schemas.openxmlformats.org/officeDocument/2006/relationships/image" Target="../media/image380.png"/><Relationship Id="rId28" Type="http://schemas.openxmlformats.org/officeDocument/2006/relationships/image" Target="../media/image430.png"/><Relationship Id="rId19" Type="http://schemas.openxmlformats.org/officeDocument/2006/relationships/image" Target="../media/image580.png"/><Relationship Id="rId14" Type="http://schemas.openxmlformats.org/officeDocument/2006/relationships/image" Target="../media/image510.png"/><Relationship Id="rId22" Type="http://schemas.openxmlformats.org/officeDocument/2006/relationships/image" Target="../media/image360.png"/><Relationship Id="rId27" Type="http://schemas.openxmlformats.org/officeDocument/2006/relationships/image" Target="../media/image431.png"/></Relationships>
</file>

<file path=ppt/slides/_rels/slide16.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440.png"/><Relationship Id="rId21" Type="http://schemas.openxmlformats.org/officeDocument/2006/relationships/image" Target="../media/image460.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530.png"/><Relationship Id="rId2" Type="http://schemas.openxmlformats.org/officeDocument/2006/relationships/image" Target="../media/image60.png"/><Relationship Id="rId16" Type="http://schemas.openxmlformats.org/officeDocument/2006/relationships/image" Target="../media/image61.png"/><Relationship Id="rId20" Type="http://schemas.openxmlformats.org/officeDocument/2006/relationships/image" Target="../media/image75.png"/><Relationship Id="rId29" Type="http://schemas.openxmlformats.org/officeDocument/2006/relationships/image" Target="../media/image540.png"/><Relationship Id="rId1" Type="http://schemas.openxmlformats.org/officeDocument/2006/relationships/slideLayout" Target="../slideLayouts/slideLayout2.xml"/><Relationship Id="rId24" Type="http://schemas.openxmlformats.org/officeDocument/2006/relationships/image" Target="../media/image390.png"/><Relationship Id="rId15" Type="http://schemas.openxmlformats.org/officeDocument/2006/relationships/image" Target="../media/image70.png"/><Relationship Id="rId23" Type="http://schemas.openxmlformats.org/officeDocument/2006/relationships/image" Target="../media/image481.png"/><Relationship Id="rId28" Type="http://schemas.openxmlformats.org/officeDocument/2006/relationships/image" Target="../media/image550.png"/><Relationship Id="rId19" Type="http://schemas.openxmlformats.org/officeDocument/2006/relationships/image" Target="../media/image74.png"/><Relationship Id="rId14" Type="http://schemas.openxmlformats.org/officeDocument/2006/relationships/image" Target="../media/image69.png"/><Relationship Id="rId22" Type="http://schemas.openxmlformats.org/officeDocument/2006/relationships/image" Target="../media/image471.png"/><Relationship Id="rId27" Type="http://schemas.openxmlformats.org/officeDocument/2006/relationships/image" Target="../media/image410.png"/></Relationships>
</file>

<file path=ppt/slides/_rels/slide1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660.png"/><Relationship Id="rId3" Type="http://schemas.openxmlformats.org/officeDocument/2006/relationships/image" Target="../media/image65.png"/><Relationship Id="rId12" Type="http://schemas.openxmlformats.org/officeDocument/2006/relationships/image" Target="../media/image78.png"/><Relationship Id="rId2" Type="http://schemas.openxmlformats.org/officeDocument/2006/relationships/image" Target="../media/image64.png"/><Relationship Id="rId1" Type="http://schemas.openxmlformats.org/officeDocument/2006/relationships/slideLayout" Target="../slideLayouts/slideLayout2.xml"/><Relationship Id="rId11" Type="http://schemas.openxmlformats.org/officeDocument/2006/relationships/image" Target="../media/image71.png"/><Relationship Id="rId15" Type="http://schemas.openxmlformats.org/officeDocument/2006/relationships/image" Target="../media/image79.png"/><Relationship Id="rId10" Type="http://schemas.openxmlformats.org/officeDocument/2006/relationships/image" Target="../media/image66.png"/><Relationship Id="rId9" Type="http://schemas.openxmlformats.org/officeDocument/2006/relationships/image" Target="../media/image77.png"/><Relationship Id="rId14" Type="http://schemas.openxmlformats.org/officeDocument/2006/relationships/image" Target="../media/image82.png"/></Relationships>
</file>

<file path=ppt/slides/_rels/slide1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1.png"/><Relationship Id="rId7"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7.png"/><Relationship Id="rId5" Type="http://schemas.openxmlformats.org/officeDocument/2006/relationships/image" Target="../media/image810.png"/><Relationship Id="rId10" Type="http://schemas.openxmlformats.org/officeDocument/2006/relationships/image" Target="../media/image86.png"/><Relationship Id="rId4" Type="http://schemas.openxmlformats.org/officeDocument/2006/relationships/image" Target="../media/image66.png"/><Relationship Id="rId9" Type="http://schemas.openxmlformats.org/officeDocument/2006/relationships/image" Target="../media/image85.png"/></Relationships>
</file>

<file path=ppt/slides/_rels/slide2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21.xml.rels><?xml version="1.0" encoding="UTF-8" standalone="yes"?>
<Relationships xmlns="http://schemas.openxmlformats.org/package/2006/relationships"><Relationship Id="rId13" Type="http://schemas.openxmlformats.org/officeDocument/2006/relationships/image" Target="../media/image93.png"/><Relationship Id="rId18" Type="http://schemas.openxmlformats.org/officeDocument/2006/relationships/image" Target="../media/image97.png"/><Relationship Id="rId12" Type="http://schemas.openxmlformats.org/officeDocument/2006/relationships/image" Target="../media/image103.png"/><Relationship Id="rId17" Type="http://schemas.openxmlformats.org/officeDocument/2006/relationships/image" Target="../media/image96.png"/><Relationship Id="rId2" Type="http://schemas.openxmlformats.org/officeDocument/2006/relationships/image" Target="../media/image90.png"/><Relationship Id="rId16" Type="http://schemas.openxmlformats.org/officeDocument/2006/relationships/image" Target="../media/image65.png"/><Relationship Id="rId20" Type="http://schemas.openxmlformats.org/officeDocument/2006/relationships/image" Target="../media/image99.png"/><Relationship Id="rId1" Type="http://schemas.openxmlformats.org/officeDocument/2006/relationships/slideLayout" Target="../slideLayouts/slideLayout2.xml"/><Relationship Id="rId15" Type="http://schemas.openxmlformats.org/officeDocument/2006/relationships/image" Target="../media/image95.png"/><Relationship Id="rId19" Type="http://schemas.openxmlformats.org/officeDocument/2006/relationships/image" Target="../media/image98.png"/><Relationship Id="rId14" Type="http://schemas.openxmlformats.org/officeDocument/2006/relationships/image" Target="../media/image94.png"/></Relationships>
</file>

<file path=ppt/slides/_rels/slide2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01.png"/><Relationship Id="rId7" Type="http://schemas.openxmlformats.org/officeDocument/2006/relationships/image" Target="../media/image108.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990.png"/><Relationship Id="rId11"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960.png"/><Relationship Id="rId4" Type="http://schemas.openxmlformats.org/officeDocument/2006/relationships/image" Target="../media/image107.png"/><Relationship Id="rId9" Type="http://schemas.openxmlformats.org/officeDocument/2006/relationships/image" Target="../media/image1002.png"/></Relationships>
</file>

<file path=ppt/slides/_rels/slide2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70.png"/><Relationship Id="rId1" Type="http://schemas.openxmlformats.org/officeDocument/2006/relationships/slideLayout" Target="../slideLayouts/slideLayout2.xml"/><Relationship Id="rId5" Type="http://schemas.openxmlformats.org/officeDocument/2006/relationships/image" Target="../media/image1001.png"/><Relationship Id="rId4" Type="http://schemas.openxmlformats.org/officeDocument/2006/relationships/image" Target="../media/image991.png"/></Relationships>
</file>

<file path=ppt/slides/_rels/slide24.xml.rels><?xml version="1.0" encoding="UTF-8" standalone="yes"?>
<Relationships xmlns="http://schemas.openxmlformats.org/package/2006/relationships"><Relationship Id="rId8" Type="http://schemas.openxmlformats.org/officeDocument/2006/relationships/image" Target="../media/image1070.png"/><Relationship Id="rId3" Type="http://schemas.openxmlformats.org/officeDocument/2006/relationships/image" Target="../media/image106.png"/><Relationship Id="rId7" Type="http://schemas.openxmlformats.org/officeDocument/2006/relationships/image" Target="../media/image1061.png"/><Relationship Id="rId2" Type="http://schemas.openxmlformats.org/officeDocument/2006/relationships/image" Target="../media/image101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40.png"/><Relationship Id="rId4" Type="http://schemas.openxmlformats.org/officeDocument/2006/relationships/image" Target="../media/image1030.png"/></Relationships>
</file>

<file path=ppt/slides/_rels/slide25.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110.png"/><Relationship Id="rId10" Type="http://schemas.openxmlformats.org/officeDocument/2006/relationships/image" Target="../media/image1020.png"/><Relationship Id="rId4" Type="http://schemas.openxmlformats.org/officeDocument/2006/relationships/image" Target="../media/image490.png"/><Relationship Id="rId9" Type="http://schemas.openxmlformats.org/officeDocument/2006/relationships/image" Target="../media/image1010.png"/></Relationships>
</file>

<file path=ppt/slides/_rels/slide26.xml.rels><?xml version="1.0" encoding="UTF-8" standalone="yes"?>
<Relationships xmlns="http://schemas.openxmlformats.org/package/2006/relationships"><Relationship Id="rId8" Type="http://schemas.openxmlformats.org/officeDocument/2006/relationships/image" Target="../media/image1100.png"/><Relationship Id="rId3" Type="http://schemas.openxmlformats.org/officeDocument/2006/relationships/image" Target="../media/image1050.png"/><Relationship Id="rId7" Type="http://schemas.openxmlformats.org/officeDocument/2006/relationships/image" Target="../media/image1101.png"/><Relationship Id="rId2" Type="http://schemas.openxmlformats.org/officeDocument/2006/relationships/image" Target="../media/image1080.png"/><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image" Target="../media/image1140.png"/><Relationship Id="rId5" Type="http://schemas.openxmlformats.org/officeDocument/2006/relationships/image" Target="../media/image1091.png"/><Relationship Id="rId10" Type="http://schemas.openxmlformats.org/officeDocument/2006/relationships/image" Target="../media/image1130.png"/><Relationship Id="rId4" Type="http://schemas.openxmlformats.org/officeDocument/2006/relationships/image" Target="../media/image1060.png"/><Relationship Id="rId9" Type="http://schemas.openxmlformats.org/officeDocument/2006/relationships/image" Target="../media/image1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628372"/>
                <a:ext cx="11882359" cy="1505669"/>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a:t>Long</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628372"/>
                <a:ext cx="11882359" cy="1505669"/>
              </a:xfrm>
              <a:prstGeom prst="rect">
                <a:avLst/>
              </a:prstGeom>
              <a:blipFill>
                <a:blip r:embed="rId2"/>
                <a:stretch>
                  <a:fillRect l="-308" t="-405"/>
                </a:stretch>
              </a:blipFill>
            </p:spPr>
            <p:txBody>
              <a:bodyPr/>
              <a:lstStyle/>
              <a:p>
                <a:r>
                  <a:rPr lang="zh-TW" altLang="en-US">
                    <a:noFill/>
                  </a:rPr>
                  <a:t> </a:t>
                </a:r>
              </a:p>
            </p:txBody>
          </p:sp>
        </mc:Fallback>
      </mc:AlternateContent>
      <p:grpSp>
        <p:nvGrpSpPr>
          <p:cNvPr id="75" name="群組 74">
            <a:extLst>
              <a:ext uri="{FF2B5EF4-FFF2-40B4-BE49-F238E27FC236}">
                <a16:creationId xmlns:a16="http://schemas.microsoft.com/office/drawing/2014/main" id="{D86FAF83-6C71-44F2-A9A9-CE37D91D3FDD}"/>
              </a:ext>
            </a:extLst>
          </p:cNvPr>
          <p:cNvGrpSpPr/>
          <p:nvPr/>
        </p:nvGrpSpPr>
        <p:grpSpPr>
          <a:xfrm>
            <a:off x="1513277" y="1408280"/>
            <a:ext cx="3465817" cy="2487639"/>
            <a:chOff x="996116" y="1515785"/>
            <a:chExt cx="3040806" cy="2354480"/>
          </a:xfrm>
        </p:grpSpPr>
        <p:pic>
          <p:nvPicPr>
            <p:cNvPr id="74" name="圖片 73">
              <a:extLst>
                <a:ext uri="{FF2B5EF4-FFF2-40B4-BE49-F238E27FC236}">
                  <a16:creationId xmlns:a16="http://schemas.microsoft.com/office/drawing/2014/main" id="{FD354B1E-5AC4-48E2-9ABD-405B30C34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113" y="1515785"/>
              <a:ext cx="2937809" cy="2336800"/>
            </a:xfrm>
            <a:prstGeom prst="rect">
              <a:avLst/>
            </a:prstGeom>
          </p:spPr>
        </p:pic>
        <p:grpSp>
          <p:nvGrpSpPr>
            <p:cNvPr id="27" name="群組 26">
              <a:extLst>
                <a:ext uri="{FF2B5EF4-FFF2-40B4-BE49-F238E27FC236}">
                  <a16:creationId xmlns:a16="http://schemas.microsoft.com/office/drawing/2014/main" id="{720736BF-05DC-4FA3-BD2A-D5906CF89058}"/>
                </a:ext>
              </a:extLst>
            </p:cNvPr>
            <p:cNvGrpSpPr/>
            <p:nvPr/>
          </p:nvGrpSpPr>
          <p:grpSpPr>
            <a:xfrm>
              <a:off x="996116" y="2009108"/>
              <a:ext cx="2379855" cy="1861157"/>
              <a:chOff x="1389288" y="4640962"/>
              <a:chExt cx="2680142" cy="1935001"/>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92194" y="4640962"/>
                <a:ext cx="2465105" cy="1935001"/>
                <a:chOff x="1486147" y="4539197"/>
                <a:chExt cx="2147943" cy="1632863"/>
              </a:xfrm>
            </p:grpSpPr>
            <p:sp>
              <p:nvSpPr>
                <p:cNvPr id="25" name="矩形 24">
                  <a:extLst>
                    <a:ext uri="{FF2B5EF4-FFF2-40B4-BE49-F238E27FC236}">
                      <a16:creationId xmlns:a16="http://schemas.microsoft.com/office/drawing/2014/main" id="{50ABEE23-C0F3-4396-A9CE-84BD3E69946C}"/>
                    </a:ext>
                  </a:extLst>
                </p:cNvPr>
                <p:cNvSpPr/>
                <p:nvPr/>
              </p:nvSpPr>
              <p:spPr>
                <a:xfrm>
                  <a:off x="2554490"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1030464" y="4994880"/>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687641" y="6360519"/>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687641" y="6360519"/>
                    <a:ext cx="1381789" cy="215444"/>
                  </a:xfrm>
                  <a:prstGeom prst="rect">
                    <a:avLst/>
                  </a:prstGeom>
                  <a:blipFill>
                    <a:blip r:embed="rId4"/>
                    <a:stretch>
                      <a:fillRect l="-2183" r="-3057" b="-2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06263" y="5209718"/>
                    <a:ext cx="1192585" cy="2265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06263" y="5209718"/>
                    <a:ext cx="1192585" cy="226536"/>
                  </a:xfrm>
                  <a:prstGeom prst="rect">
                    <a:avLst/>
                  </a:prstGeom>
                  <a:blipFill>
                    <a:blip r:embed="rId5"/>
                    <a:stretch>
                      <a:fillRect l="-23684" r="-28947"/>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2784125808"/>
                  </p:ext>
                </p:extLst>
              </p:nvPr>
            </p:nvGraphicFramePr>
            <p:xfrm>
              <a:off x="141513" y="4074743"/>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85910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(31)</m:t>
                                  </m:r>
                                </m:e>
                              </m:sPre>
                              <m:r>
                                <a:rPr lang="zh-TW" altLang="en-US" i="1" smtClean="0">
                                  <a:latin typeface="Cambria Math" panose="02040503050406030204" pitchFamily="18" charset="0"/>
                                </a:rPr>
                                <m:t>→</m:t>
                              </m:r>
                              <m:r>
                                <a:rPr lang="en-US" altLang="zh-TW" b="0" i="1" smtClean="0">
                                  <a:latin typeface="Cambria Math" panose="02040503050406030204" pitchFamily="18" charset="0"/>
                                </a:rPr>
                                <m:t>31</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870.59</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874.25</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871.52</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9.68</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9.67</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9.69</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(25)</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(25)</m:t>
                                  </m:r>
                                </m:e>
                              </m:sPre>
                              <m:r>
                                <a:rPr lang="zh-TW" altLang="en-US" i="1" smtClean="0">
                                  <a:latin typeface="Cambria Math" panose="02040503050406030204" pitchFamily="18" charset="0"/>
                                </a:rPr>
                                <m:t>→</m:t>
                              </m:r>
                              <m:r>
                                <a:rPr lang="en-US" altLang="zh-TW" b="0" i="1" smtClean="0">
                                  <a:latin typeface="Cambria Math" panose="02040503050406030204" pitchFamily="18" charset="0"/>
                                </a:rPr>
                                <m:t>25</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867.88</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873.96</a:t>
                          </a:r>
                          <a14:m>
                            <m:oMath xmlns:m="http://schemas.openxmlformats.org/officeDocument/2006/math">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869.30</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10.65</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10.75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10.65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2784125808"/>
                  </p:ext>
                </p:extLst>
              </p:nvPr>
            </p:nvGraphicFramePr>
            <p:xfrm>
              <a:off x="141513" y="4074743"/>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91440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6"/>
                          <a:stretch>
                            <a:fillRect l="-89951" t="-109155" r="-262990" b="-172535"/>
                          </a:stretch>
                        </a:blipFill>
                      </a:tcPr>
                    </a:tc>
                    <a:tc>
                      <a:txBody>
                        <a:bodyPr/>
                        <a:lstStyle/>
                        <a:p>
                          <a:endParaRPr lang="zh-TW"/>
                        </a:p>
                      </a:txBody>
                      <a:tcPr>
                        <a:blipFill>
                          <a:blip r:embed="rId6"/>
                          <a:stretch>
                            <a:fillRect l="-237730" t="-218310" r="-229141" b="-445070"/>
                          </a:stretch>
                        </a:blipFill>
                      </a:tcPr>
                    </a:tc>
                    <a:tc>
                      <a:txBody>
                        <a:bodyPr/>
                        <a:lstStyle/>
                        <a:p>
                          <a:endParaRPr lang="zh-TW"/>
                        </a:p>
                      </a:txBody>
                      <a:tcPr>
                        <a:blipFill>
                          <a:blip r:embed="rId6"/>
                          <a:stretch>
                            <a:fillRect l="-342991" t="-218310" r="-132710" b="-445070"/>
                          </a:stretch>
                        </a:blipFill>
                      </a:tcPr>
                    </a:tc>
                    <a:tc>
                      <a:txBody>
                        <a:bodyPr/>
                        <a:lstStyle/>
                        <a:p>
                          <a:endParaRPr lang="zh-TW"/>
                        </a:p>
                      </a:txBody>
                      <a:tcPr>
                        <a:blipFill>
                          <a:blip r:embed="rId6"/>
                          <a:stretch>
                            <a:fillRect l="-335377" t="-218310" r="-472" b="-445070"/>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6"/>
                          <a:stretch>
                            <a:fillRect l="-237730" t="-318310" r="-229141" b="-345070"/>
                          </a:stretch>
                        </a:blipFill>
                      </a:tcPr>
                    </a:tc>
                    <a:tc>
                      <a:txBody>
                        <a:bodyPr/>
                        <a:lstStyle/>
                        <a:p>
                          <a:endParaRPr lang="zh-TW"/>
                        </a:p>
                      </a:txBody>
                      <a:tcPr>
                        <a:blipFill>
                          <a:blip r:embed="rId6"/>
                          <a:stretch>
                            <a:fillRect l="-342991" t="-318310" r="-132710" b="-345070"/>
                          </a:stretch>
                        </a:blipFill>
                      </a:tcPr>
                    </a:tc>
                    <a:tc>
                      <a:txBody>
                        <a:bodyPr/>
                        <a:lstStyle/>
                        <a:p>
                          <a:endParaRPr lang="zh-TW"/>
                        </a:p>
                      </a:txBody>
                      <a:tcPr>
                        <a:blipFill>
                          <a:blip r:embed="rId6"/>
                          <a:stretch>
                            <a:fillRect l="-335377" t="-318310" r="-472"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6"/>
                          <a:stretch>
                            <a:fillRect l="-89951" t="-170690" r="-262990" b="-40805"/>
                          </a:stretch>
                        </a:blipFill>
                      </a:tcPr>
                    </a:tc>
                    <a:tc>
                      <a:txBody>
                        <a:bodyPr/>
                        <a:lstStyle/>
                        <a:p>
                          <a:endParaRPr lang="zh-TW"/>
                        </a:p>
                      </a:txBody>
                      <a:tcPr>
                        <a:blipFill>
                          <a:blip r:embed="rId6"/>
                          <a:stretch>
                            <a:fillRect l="-237730" t="-385714" r="-229141" b="-218182"/>
                          </a:stretch>
                        </a:blipFill>
                      </a:tcPr>
                    </a:tc>
                    <a:tc>
                      <a:txBody>
                        <a:bodyPr/>
                        <a:lstStyle/>
                        <a:p>
                          <a:endParaRPr lang="zh-TW"/>
                        </a:p>
                      </a:txBody>
                      <a:tcPr>
                        <a:blipFill>
                          <a:blip r:embed="rId6"/>
                          <a:stretch>
                            <a:fillRect l="-342991" t="-385714" r="-132710" b="-218182"/>
                          </a:stretch>
                        </a:blipFill>
                      </a:tcPr>
                    </a:tc>
                    <a:tc>
                      <a:txBody>
                        <a:bodyPr/>
                        <a:lstStyle/>
                        <a:p>
                          <a:endParaRPr lang="zh-TW"/>
                        </a:p>
                      </a:txBody>
                      <a:tcPr>
                        <a:blipFill>
                          <a:blip r:embed="rId6"/>
                          <a:stretch>
                            <a:fillRect l="-335377" t="-385714" r="-472" b="-218182"/>
                          </a:stretch>
                        </a:blipFill>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6"/>
                          <a:stretch>
                            <a:fillRect l="-237730" t="-385567" r="-229141" b="-73196"/>
                          </a:stretch>
                        </a:blipFill>
                      </a:tcPr>
                    </a:tc>
                    <a:tc>
                      <a:txBody>
                        <a:bodyPr/>
                        <a:lstStyle/>
                        <a:p>
                          <a:endParaRPr lang="zh-TW"/>
                        </a:p>
                      </a:txBody>
                      <a:tcPr>
                        <a:blipFill>
                          <a:blip r:embed="rId6"/>
                          <a:stretch>
                            <a:fillRect l="-342991" t="-385567" r="-132710" b="-73196"/>
                          </a:stretch>
                        </a:blipFill>
                      </a:tcPr>
                    </a:tc>
                    <a:tc>
                      <a:txBody>
                        <a:bodyPr/>
                        <a:lstStyle/>
                        <a:p>
                          <a:endParaRPr lang="zh-TW"/>
                        </a:p>
                      </a:txBody>
                      <a:tcPr>
                        <a:blipFill>
                          <a:blip r:embed="rId6"/>
                          <a:stretch>
                            <a:fillRect l="-335377" t="-385567" r="-472" b="-73196"/>
                          </a:stretch>
                        </a:blipFill>
                      </a:tcPr>
                    </a:tc>
                    <a:extLst>
                      <a:ext uri="{0D108BD9-81ED-4DB2-BD59-A6C34878D82A}">
                        <a16:rowId xmlns:a16="http://schemas.microsoft.com/office/drawing/2014/main" val="2179688753"/>
                      </a:ext>
                    </a:extLst>
                  </a:tr>
                </a:tbl>
              </a:graphicData>
            </a:graphic>
          </p:graphicFrame>
        </mc:Fallback>
      </mc:AlternateContent>
      <p:grpSp>
        <p:nvGrpSpPr>
          <p:cNvPr id="80" name="群組 79">
            <a:extLst>
              <a:ext uri="{FF2B5EF4-FFF2-40B4-BE49-F238E27FC236}">
                <a16:creationId xmlns:a16="http://schemas.microsoft.com/office/drawing/2014/main" id="{07E1DE7F-8667-4E40-9FF9-EC0BF03225E2}"/>
              </a:ext>
            </a:extLst>
          </p:cNvPr>
          <p:cNvGrpSpPr/>
          <p:nvPr/>
        </p:nvGrpSpPr>
        <p:grpSpPr>
          <a:xfrm>
            <a:off x="6790269" y="1397253"/>
            <a:ext cx="3280915" cy="2635137"/>
            <a:chOff x="6790269" y="1397253"/>
            <a:chExt cx="3280915" cy="2635137"/>
          </a:xfrm>
        </p:grpSpPr>
        <p:pic>
          <p:nvPicPr>
            <p:cNvPr id="81" name="圖片 80">
              <a:extLst>
                <a:ext uri="{FF2B5EF4-FFF2-40B4-BE49-F238E27FC236}">
                  <a16:creationId xmlns:a16="http://schemas.microsoft.com/office/drawing/2014/main" id="{7C682775-00F5-4A51-8677-0CD28E1377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39009" y="1397253"/>
              <a:ext cx="3232175" cy="2576963"/>
            </a:xfrm>
            <a:prstGeom prst="rect">
              <a:avLst/>
            </a:prstGeom>
          </p:spPr>
        </p:pic>
        <p:grpSp>
          <p:nvGrpSpPr>
            <p:cNvPr id="82" name="群組 81">
              <a:extLst>
                <a:ext uri="{FF2B5EF4-FFF2-40B4-BE49-F238E27FC236}">
                  <a16:creationId xmlns:a16="http://schemas.microsoft.com/office/drawing/2014/main" id="{E2651C6C-43D7-465C-B5AD-321BE42BEEFE}"/>
                </a:ext>
              </a:extLst>
            </p:cNvPr>
            <p:cNvGrpSpPr/>
            <p:nvPr/>
          </p:nvGrpSpPr>
          <p:grpSpPr>
            <a:xfrm>
              <a:off x="6790269" y="1894187"/>
              <a:ext cx="2438388" cy="2138203"/>
              <a:chOff x="7266335" y="3894155"/>
              <a:chExt cx="3140977" cy="2586756"/>
            </a:xfrm>
          </p:grpSpPr>
          <p:grpSp>
            <p:nvGrpSpPr>
              <p:cNvPr id="83" name="群組 82">
                <a:extLst>
                  <a:ext uri="{FF2B5EF4-FFF2-40B4-BE49-F238E27FC236}">
                    <a16:creationId xmlns:a16="http://schemas.microsoft.com/office/drawing/2014/main" id="{0CEFA7DD-E438-48D2-A83A-E0A11F19CCC5}"/>
                  </a:ext>
                </a:extLst>
              </p:cNvPr>
              <p:cNvGrpSpPr/>
              <p:nvPr/>
            </p:nvGrpSpPr>
            <p:grpSpPr>
              <a:xfrm>
                <a:off x="7266335" y="3894155"/>
                <a:ext cx="3140977" cy="2586756"/>
                <a:chOff x="7266335" y="3894155"/>
                <a:chExt cx="3140977" cy="2586756"/>
              </a:xfrm>
            </p:grpSpPr>
            <p:sp>
              <p:nvSpPr>
                <p:cNvPr id="86" name="矩形 85">
                  <a:extLst>
                    <a:ext uri="{FF2B5EF4-FFF2-40B4-BE49-F238E27FC236}">
                      <a16:creationId xmlns:a16="http://schemas.microsoft.com/office/drawing/2014/main" id="{30F3B9D2-A051-4B9E-ACC6-FEDC90BD9567}"/>
                    </a:ext>
                  </a:extLst>
                </p:cNvPr>
                <p:cNvSpPr/>
                <p:nvPr/>
              </p:nvSpPr>
              <p:spPr>
                <a:xfrm>
                  <a:off x="8529773" y="6150711"/>
                  <a:ext cx="1877539"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a:extLst>
                    <a:ext uri="{FF2B5EF4-FFF2-40B4-BE49-F238E27FC236}">
                      <a16:creationId xmlns:a16="http://schemas.microsoft.com/office/drawing/2014/main" id="{8F0EB494-A255-4B02-9B67-D255F74EE699}"/>
                    </a:ext>
                  </a:extLst>
                </p:cNvPr>
                <p:cNvSpPr/>
                <p:nvPr/>
              </p:nvSpPr>
              <p:spPr>
                <a:xfrm rot="16200000">
                  <a:off x="6492665" y="4667825"/>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961C4197-04ED-4E39-A665-743311B9C9C4}"/>
                      </a:ext>
                    </a:extLst>
                  </p:cNvPr>
                  <p:cNvSpPr txBox="1"/>
                  <p:nvPr/>
                </p:nvSpPr>
                <p:spPr>
                  <a:xfrm>
                    <a:off x="8759268" y="6133630"/>
                    <a:ext cx="138179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84" name="文字方塊 83">
                    <a:extLst>
                      <a:ext uri="{FF2B5EF4-FFF2-40B4-BE49-F238E27FC236}">
                        <a16:creationId xmlns:a16="http://schemas.microsoft.com/office/drawing/2014/main" id="{961C4197-04ED-4E39-A665-743311B9C9C4}"/>
                      </a:ext>
                    </a:extLst>
                  </p:cNvPr>
                  <p:cNvSpPr txBox="1">
                    <a:spLocks noRot="1" noChangeAspect="1" noMove="1" noResize="1" noEditPoints="1" noAdjustHandles="1" noChangeArrowheads="1" noChangeShapeType="1" noTextEdit="1"/>
                  </p:cNvSpPr>
                  <p:nvPr/>
                </p:nvSpPr>
                <p:spPr>
                  <a:xfrm>
                    <a:off x="8759268" y="6133630"/>
                    <a:ext cx="1381790" cy="215444"/>
                  </a:xfrm>
                  <a:prstGeom prst="rect">
                    <a:avLst/>
                  </a:prstGeom>
                  <a:blipFill>
                    <a:blip r:embed="rId8"/>
                    <a:stretch>
                      <a:fillRect l="-5682" r="-30682" b="-5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B5CC545B-EFF3-4D2D-831B-790E602EA4C6}"/>
                      </a:ext>
                    </a:extLst>
                  </p:cNvPr>
                  <p:cNvSpPr txBox="1"/>
                  <p:nvPr/>
                </p:nvSpPr>
                <p:spPr>
                  <a:xfrm rot="16200000">
                    <a:off x="6931619" y="4658774"/>
                    <a:ext cx="999633" cy="237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85" name="文字方塊 84">
                    <a:extLst>
                      <a:ext uri="{FF2B5EF4-FFF2-40B4-BE49-F238E27FC236}">
                        <a16:creationId xmlns:a16="http://schemas.microsoft.com/office/drawing/2014/main" id="{B5CC545B-EFF3-4D2D-831B-790E602EA4C6}"/>
                      </a:ext>
                    </a:extLst>
                  </p:cNvPr>
                  <p:cNvSpPr txBox="1">
                    <a:spLocks noRot="1" noChangeAspect="1" noMove="1" noResize="1" noEditPoints="1" noAdjustHandles="1" noChangeArrowheads="1" noChangeShapeType="1" noTextEdit="1"/>
                  </p:cNvSpPr>
                  <p:nvPr/>
                </p:nvSpPr>
                <p:spPr>
                  <a:xfrm rot="16200000">
                    <a:off x="6931619" y="4658774"/>
                    <a:ext cx="999633" cy="237502"/>
                  </a:xfrm>
                  <a:prstGeom prst="rect">
                    <a:avLst/>
                  </a:prstGeom>
                  <a:blipFill>
                    <a:blip r:embed="rId9"/>
                    <a:stretch>
                      <a:fillRect l="-173333" t="-59259" r="-313333" b="-741"/>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2843024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628372"/>
                <a:ext cx="11882359" cy="1228670"/>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err="1"/>
                  <a:t>Zhi</a:t>
                </a:r>
                <a:r>
                  <a:rPr lang="en-US" altLang="zh-TW" dirty="0"/>
                  <a:t> </a:t>
                </a:r>
                <a:r>
                  <a:rPr lang="en-US" altLang="zh-TW" dirty="0" err="1"/>
                  <a:t>peng</a:t>
                </a: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628372"/>
                <a:ext cx="11882359" cy="1228670"/>
              </a:xfrm>
              <a:prstGeom prst="rect">
                <a:avLst/>
              </a:prstGeom>
              <a:blipFill>
                <a:blip r:embed="rId2"/>
                <a:stretch>
                  <a:fillRect l="-308" t="-495"/>
                </a:stretch>
              </a:blipFill>
            </p:spPr>
            <p:txBody>
              <a:bodyPr/>
              <a:lstStyle/>
              <a:p>
                <a:r>
                  <a:rPr lang="zh-TW" altLang="en-US">
                    <a:noFill/>
                  </a:rPr>
                  <a:t> </a:t>
                </a:r>
              </a:p>
            </p:txBody>
          </p:sp>
        </mc:Fallback>
      </mc:AlternateContent>
      <p:grpSp>
        <p:nvGrpSpPr>
          <p:cNvPr id="27" name="群組 26">
            <a:extLst>
              <a:ext uri="{FF2B5EF4-FFF2-40B4-BE49-F238E27FC236}">
                <a16:creationId xmlns:a16="http://schemas.microsoft.com/office/drawing/2014/main" id="{720736BF-05DC-4FA3-BD2A-D5906CF89058}"/>
              </a:ext>
            </a:extLst>
          </p:cNvPr>
          <p:cNvGrpSpPr/>
          <p:nvPr/>
        </p:nvGrpSpPr>
        <p:grpSpPr>
          <a:xfrm>
            <a:off x="996116" y="2009108"/>
            <a:ext cx="2379855" cy="1861157"/>
            <a:chOff x="1389288" y="4640962"/>
            <a:chExt cx="2680142" cy="1935001"/>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92194" y="4640962"/>
              <a:ext cx="2465105" cy="1935001"/>
              <a:chOff x="1486147" y="4539197"/>
              <a:chExt cx="2147943" cy="1632863"/>
            </a:xfrm>
          </p:grpSpPr>
          <p:sp>
            <p:nvSpPr>
              <p:cNvPr id="25" name="矩形 24">
                <a:extLst>
                  <a:ext uri="{FF2B5EF4-FFF2-40B4-BE49-F238E27FC236}">
                    <a16:creationId xmlns:a16="http://schemas.microsoft.com/office/drawing/2014/main" id="{50ABEE23-C0F3-4396-A9CE-84BD3E69946C}"/>
                  </a:ext>
                </a:extLst>
              </p:cNvPr>
              <p:cNvSpPr/>
              <p:nvPr/>
            </p:nvSpPr>
            <p:spPr>
              <a:xfrm>
                <a:off x="2554490"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1030464" y="4994880"/>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687641" y="6360519"/>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687641" y="6360519"/>
                  <a:ext cx="1381789" cy="215444"/>
                </a:xfrm>
                <a:prstGeom prst="rect">
                  <a:avLst/>
                </a:prstGeom>
                <a:blipFill>
                  <a:blip r:embed="rId3"/>
                  <a:stretch>
                    <a:fillRect l="-5473" r="-14428" b="-352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06263" y="5209718"/>
                  <a:ext cx="1192585" cy="2265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06263" y="5209718"/>
                  <a:ext cx="1192585" cy="226536"/>
                </a:xfrm>
                <a:prstGeom prst="rect">
                  <a:avLst/>
                </a:prstGeom>
                <a:blipFill>
                  <a:blip r:embed="rId4"/>
                  <a:stretch>
                    <a:fillRect l="-27273" r="-48485"/>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id="{CA03B68E-6DE4-4661-8AF0-D6EB397A3943}"/>
              </a:ext>
            </a:extLst>
          </p:cNvPr>
          <p:cNvGrpSpPr/>
          <p:nvPr/>
        </p:nvGrpSpPr>
        <p:grpSpPr>
          <a:xfrm>
            <a:off x="6790269" y="1894187"/>
            <a:ext cx="2438388" cy="2138203"/>
            <a:chOff x="7266335" y="3894155"/>
            <a:chExt cx="3140977" cy="2586756"/>
          </a:xfrm>
        </p:grpSpPr>
        <p:grpSp>
          <p:nvGrpSpPr>
            <p:cNvPr id="32" name="群組 31">
              <a:extLst>
                <a:ext uri="{FF2B5EF4-FFF2-40B4-BE49-F238E27FC236}">
                  <a16:creationId xmlns:a16="http://schemas.microsoft.com/office/drawing/2014/main" id="{FADE59AD-F7C1-43E5-87D0-AF71B5D8F8DE}"/>
                </a:ext>
              </a:extLst>
            </p:cNvPr>
            <p:cNvGrpSpPr/>
            <p:nvPr/>
          </p:nvGrpSpPr>
          <p:grpSpPr>
            <a:xfrm>
              <a:off x="7266335" y="3894155"/>
              <a:ext cx="3140977" cy="2586756"/>
              <a:chOff x="7266335" y="3894155"/>
              <a:chExt cx="3140977" cy="2586756"/>
            </a:xfrm>
          </p:grpSpPr>
          <p:sp>
            <p:nvSpPr>
              <p:cNvPr id="18" name="矩形 17">
                <a:extLst>
                  <a:ext uri="{FF2B5EF4-FFF2-40B4-BE49-F238E27FC236}">
                    <a16:creationId xmlns:a16="http://schemas.microsoft.com/office/drawing/2014/main" id="{D626DE7A-F9C6-47BF-9503-E4D79EF03BB4}"/>
                  </a:ext>
                </a:extLst>
              </p:cNvPr>
              <p:cNvSpPr/>
              <p:nvPr/>
            </p:nvSpPr>
            <p:spPr>
              <a:xfrm>
                <a:off x="8529773" y="6150711"/>
                <a:ext cx="1877539"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40789712-EA39-472C-851C-CF16838DED38}"/>
                  </a:ext>
                </a:extLst>
              </p:cNvPr>
              <p:cNvSpPr/>
              <p:nvPr/>
            </p:nvSpPr>
            <p:spPr>
              <a:xfrm rot="16200000">
                <a:off x="6492665" y="4667825"/>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25B04E1-24E0-409C-A4AE-39A474367A3E}"/>
                    </a:ext>
                  </a:extLst>
                </p:cNvPr>
                <p:cNvSpPr txBox="1"/>
                <p:nvPr/>
              </p:nvSpPr>
              <p:spPr>
                <a:xfrm>
                  <a:off x="8759268" y="6133630"/>
                  <a:ext cx="138179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8759268" y="6133630"/>
                  <a:ext cx="1381790" cy="215444"/>
                </a:xfrm>
                <a:prstGeom prst="rect">
                  <a:avLst/>
                </a:prstGeom>
                <a:blipFill>
                  <a:blip r:embed="rId5"/>
                  <a:stretch>
                    <a:fillRect l="-5682" r="-30682" b="-5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826BDEB-84BE-4C7C-A660-0692872B3F34}"/>
                    </a:ext>
                  </a:extLst>
                </p:cNvPr>
                <p:cNvSpPr txBox="1"/>
                <p:nvPr/>
              </p:nvSpPr>
              <p:spPr>
                <a:xfrm rot="16200000">
                  <a:off x="6931619" y="4658774"/>
                  <a:ext cx="999633" cy="237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4" name="文字方塊 33">
                  <a:extLst>
                    <a:ext uri="{FF2B5EF4-FFF2-40B4-BE49-F238E27FC236}">
                      <a16:creationId xmlns:a16="http://schemas.microsoft.com/office/drawing/2014/main" id="{8826BDEB-84BE-4C7C-A660-0692872B3F34}"/>
                    </a:ext>
                  </a:extLst>
                </p:cNvPr>
                <p:cNvSpPr txBox="1">
                  <a:spLocks noRot="1" noChangeAspect="1" noMove="1" noResize="1" noEditPoints="1" noAdjustHandles="1" noChangeArrowheads="1" noChangeShapeType="1" noTextEdit="1"/>
                </p:cNvSpPr>
                <p:nvPr/>
              </p:nvSpPr>
              <p:spPr>
                <a:xfrm rot="16200000">
                  <a:off x="6931619" y="4658774"/>
                  <a:ext cx="999633" cy="237502"/>
                </a:xfrm>
                <a:prstGeom prst="rect">
                  <a:avLst/>
                </a:prstGeom>
                <a:blipFill>
                  <a:blip r:embed="rId6"/>
                  <a:stretch>
                    <a:fillRect l="-173333" t="-59259" r="-313333" b="-74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4245707660"/>
                  </p:ext>
                </p:extLst>
              </p:nvPr>
            </p:nvGraphicFramePr>
            <p:xfrm>
              <a:off x="226180" y="4011360"/>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85910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(31)</m:t>
                                  </m:r>
                                </m:e>
                              </m:sPre>
                              <m:r>
                                <a:rPr lang="zh-TW" altLang="en-US" i="1" smtClean="0">
                                  <a:latin typeface="Cambria Math" panose="02040503050406030204" pitchFamily="18" charset="0"/>
                                </a:rPr>
                                <m:t>→</m:t>
                              </m:r>
                              <m:r>
                                <a:rPr lang="en-US" altLang="zh-TW" b="0" i="1" smtClean="0">
                                  <a:latin typeface="Cambria Math" panose="02040503050406030204" pitchFamily="18" charset="0"/>
                                </a:rPr>
                                <m:t>31</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870.59</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874.25</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871.52</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9.68</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9.67</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9.69</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(25)</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(25)</m:t>
                                  </m:r>
                                </m:e>
                              </m:sPre>
                              <m:r>
                                <a:rPr lang="zh-TW" altLang="en-US" i="1" smtClean="0">
                                  <a:latin typeface="Cambria Math" panose="02040503050406030204" pitchFamily="18" charset="0"/>
                                </a:rPr>
                                <m:t>→</m:t>
                              </m:r>
                              <m:r>
                                <a:rPr lang="en-US" altLang="zh-TW" b="0" i="1" smtClean="0">
                                  <a:latin typeface="Cambria Math" panose="02040503050406030204" pitchFamily="18" charset="0"/>
                                </a:rPr>
                                <m:t>25</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867.88</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873.96</a:t>
                          </a:r>
                          <a14:m>
                            <m:oMath xmlns:m="http://schemas.openxmlformats.org/officeDocument/2006/math">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869.30</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10.65</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10.75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10.65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4245707660"/>
                  </p:ext>
                </p:extLst>
              </p:nvPr>
            </p:nvGraphicFramePr>
            <p:xfrm>
              <a:off x="226180" y="4011360"/>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91440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7"/>
                          <a:stretch>
                            <a:fillRect l="-89951" t="-109929" r="-262990" b="-173759"/>
                          </a:stretch>
                        </a:blipFill>
                      </a:tcPr>
                    </a:tc>
                    <a:tc>
                      <a:txBody>
                        <a:bodyPr/>
                        <a:lstStyle/>
                        <a:p>
                          <a:endParaRPr lang="zh-TW"/>
                        </a:p>
                      </a:txBody>
                      <a:tcPr>
                        <a:blipFill>
                          <a:blip r:embed="rId7"/>
                          <a:stretch>
                            <a:fillRect l="-237730" t="-221429" r="-229141" b="-451429"/>
                          </a:stretch>
                        </a:blipFill>
                      </a:tcPr>
                    </a:tc>
                    <a:tc>
                      <a:txBody>
                        <a:bodyPr/>
                        <a:lstStyle/>
                        <a:p>
                          <a:endParaRPr lang="zh-TW"/>
                        </a:p>
                      </a:txBody>
                      <a:tcPr>
                        <a:blipFill>
                          <a:blip r:embed="rId7"/>
                          <a:stretch>
                            <a:fillRect l="-342991" t="-221429" r="-132710" b="-451429"/>
                          </a:stretch>
                        </a:blipFill>
                      </a:tcPr>
                    </a:tc>
                    <a:tc>
                      <a:txBody>
                        <a:bodyPr/>
                        <a:lstStyle/>
                        <a:p>
                          <a:endParaRPr lang="zh-TW"/>
                        </a:p>
                      </a:txBody>
                      <a:tcPr>
                        <a:blipFill>
                          <a:blip r:embed="rId7"/>
                          <a:stretch>
                            <a:fillRect l="-335377" t="-221429" r="-472" b="-451429"/>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7"/>
                          <a:stretch>
                            <a:fillRect l="-237730" t="-316901" r="-229141" b="-345070"/>
                          </a:stretch>
                        </a:blipFill>
                      </a:tcPr>
                    </a:tc>
                    <a:tc>
                      <a:txBody>
                        <a:bodyPr/>
                        <a:lstStyle/>
                        <a:p>
                          <a:endParaRPr lang="zh-TW"/>
                        </a:p>
                      </a:txBody>
                      <a:tcPr>
                        <a:blipFill>
                          <a:blip r:embed="rId7"/>
                          <a:stretch>
                            <a:fillRect l="-342991" t="-316901" r="-132710" b="-345070"/>
                          </a:stretch>
                        </a:blipFill>
                      </a:tcPr>
                    </a:tc>
                    <a:tc>
                      <a:txBody>
                        <a:bodyPr/>
                        <a:lstStyle/>
                        <a:p>
                          <a:endParaRPr lang="zh-TW"/>
                        </a:p>
                      </a:txBody>
                      <a:tcPr>
                        <a:blipFill>
                          <a:blip r:embed="rId7"/>
                          <a:stretch>
                            <a:fillRect l="-335377" t="-316901" r="-472"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7"/>
                          <a:stretch>
                            <a:fillRect l="-89951" t="-170115" r="-262990" b="-40805"/>
                          </a:stretch>
                        </a:blipFill>
                      </a:tcPr>
                    </a:tc>
                    <a:tc>
                      <a:txBody>
                        <a:bodyPr/>
                        <a:lstStyle/>
                        <a:p>
                          <a:endParaRPr lang="zh-TW"/>
                        </a:p>
                      </a:txBody>
                      <a:tcPr>
                        <a:blipFill>
                          <a:blip r:embed="rId7"/>
                          <a:stretch>
                            <a:fillRect l="-237730" t="-384416" r="-229141" b="-218182"/>
                          </a:stretch>
                        </a:blipFill>
                      </a:tcPr>
                    </a:tc>
                    <a:tc>
                      <a:txBody>
                        <a:bodyPr/>
                        <a:lstStyle/>
                        <a:p>
                          <a:endParaRPr lang="zh-TW"/>
                        </a:p>
                      </a:txBody>
                      <a:tcPr>
                        <a:blipFill>
                          <a:blip r:embed="rId7"/>
                          <a:stretch>
                            <a:fillRect l="-342991" t="-384416" r="-132710" b="-218182"/>
                          </a:stretch>
                        </a:blipFill>
                      </a:tcPr>
                    </a:tc>
                    <a:tc>
                      <a:txBody>
                        <a:bodyPr/>
                        <a:lstStyle/>
                        <a:p>
                          <a:endParaRPr lang="zh-TW"/>
                        </a:p>
                      </a:txBody>
                      <a:tcPr>
                        <a:blipFill>
                          <a:blip r:embed="rId7"/>
                          <a:stretch>
                            <a:fillRect l="-335377" t="-384416" r="-472" b="-218182"/>
                          </a:stretch>
                        </a:blipFill>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7"/>
                          <a:stretch>
                            <a:fillRect l="-237730" t="-384536" r="-229141" b="-73196"/>
                          </a:stretch>
                        </a:blipFill>
                      </a:tcPr>
                    </a:tc>
                    <a:tc>
                      <a:txBody>
                        <a:bodyPr/>
                        <a:lstStyle/>
                        <a:p>
                          <a:endParaRPr lang="zh-TW"/>
                        </a:p>
                      </a:txBody>
                      <a:tcPr>
                        <a:blipFill>
                          <a:blip r:embed="rId7"/>
                          <a:stretch>
                            <a:fillRect l="-342991" t="-384536" r="-132710" b="-73196"/>
                          </a:stretch>
                        </a:blipFill>
                      </a:tcPr>
                    </a:tc>
                    <a:tc>
                      <a:txBody>
                        <a:bodyPr/>
                        <a:lstStyle/>
                        <a:p>
                          <a:endParaRPr lang="zh-TW"/>
                        </a:p>
                      </a:txBody>
                      <a:tcPr>
                        <a:blipFill>
                          <a:blip r:embed="rId7"/>
                          <a:stretch>
                            <a:fillRect l="-335377" t="-384536" r="-472" b="-73196"/>
                          </a:stretch>
                        </a:blipFill>
                      </a:tcPr>
                    </a:tc>
                    <a:extLst>
                      <a:ext uri="{0D108BD9-81ED-4DB2-BD59-A6C34878D82A}">
                        <a16:rowId xmlns:a16="http://schemas.microsoft.com/office/drawing/2014/main" val="2179688753"/>
                      </a:ext>
                    </a:extLst>
                  </a:tr>
                </a:tbl>
              </a:graphicData>
            </a:graphic>
          </p:graphicFrame>
        </mc:Fallback>
      </mc:AlternateContent>
    </p:spTree>
    <p:extLst>
      <p:ext uri="{BB962C8B-B14F-4D97-AF65-F5344CB8AC3E}">
        <p14:creationId xmlns:p14="http://schemas.microsoft.com/office/powerpoint/2010/main" val="3602862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parameter(25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4066794"/>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parameters(25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a:t>Long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LF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−0.0275</m:t>
                                </m:r>
                              </m:e>
                              <m:e>
                                <m:r>
                                  <a:rPr lang="en-US" sz="1200" b="0" i="0">
                                    <a:latin typeface="Cambria Math" panose="02040503050406030204" pitchFamily="18" charset="0"/>
                                  </a:rPr>
                                  <m:t>−0.2621</m:t>
                                </m:r>
                              </m:e>
                              <m:e>
                                <m:r>
                                  <a:rPr lang="en-US" sz="1200" b="0" i="0">
                                    <a:latin typeface="Cambria Math" panose="02040503050406030204" pitchFamily="18" charset="0"/>
                                  </a:rPr>
                                  <m:t>−0.1369</m:t>
                                </m:r>
                              </m:e>
                              <m:e>
                                <m:r>
                                  <a:rPr lang="en-US" sz="1200" b="0" i="0">
                                    <a:latin typeface="Cambria Math" panose="02040503050406030204" pitchFamily="18" charset="0"/>
                                  </a:rPr>
                                  <m:t>−0.1245</m:t>
                                </m:r>
                              </m:e>
                              <m:e>
                                <m:r>
                                  <a:rPr lang="en-US" sz="1200" b="0" i="0">
                                    <a:latin typeface="Cambria Math" panose="02040503050406030204" pitchFamily="18" charset="0"/>
                                  </a:rPr>
                                  <m:t>−0.2658</m:t>
                                </m:r>
                              </m:e>
                            </m:mr>
                            <m:mr>
                              <m:e>
                                <m:r>
                                  <a:rPr lang="en-US" sz="1200" b="0" i="0">
                                    <a:latin typeface="Cambria Math" panose="02040503050406030204" pitchFamily="18" charset="0"/>
                                  </a:rPr>
                                  <m:t>−0.2048</m:t>
                                </m:r>
                              </m:e>
                              <m:e>
                                <m:r>
                                  <a:rPr lang="en-US" sz="1200" b="0" i="0">
                                    <a:latin typeface="Cambria Math" panose="02040503050406030204" pitchFamily="18" charset="0"/>
                                  </a:rPr>
                                  <m:t>1.0189</m:t>
                                </m:r>
                              </m:e>
                              <m:e>
                                <m:r>
                                  <a:rPr lang="en-US" sz="1200" b="0" i="0">
                                    <a:latin typeface="Cambria Math" panose="02040503050406030204" pitchFamily="18" charset="0"/>
                                  </a:rPr>
                                  <m:t>−0.2795</m:t>
                                </m:r>
                              </m:e>
                              <m:e>
                                <m:r>
                                  <a:rPr lang="en-US" sz="1200" b="0" i="0">
                                    <a:latin typeface="Cambria Math" panose="02040503050406030204" pitchFamily="18" charset="0"/>
                                  </a:rPr>
                                  <m:t>−0.1212</m:t>
                                </m:r>
                              </m:e>
                              <m:e>
                                <m:r>
                                  <a:rPr lang="en-US" sz="1200" b="0" i="0">
                                    <a:latin typeface="Cambria Math" panose="02040503050406030204" pitchFamily="18" charset="0"/>
                                  </a:rPr>
                                  <m:t>−0.1086</m:t>
                                </m:r>
                              </m:e>
                              <m:e>
                                <m:r>
                                  <a:rPr lang="en-US" sz="1200" b="0" i="0">
                                    <a:latin typeface="Cambria Math" panose="02040503050406030204" pitchFamily="18" charset="0"/>
                                  </a:rPr>
                                  <m:t>−0.2829</m:t>
                                </m:r>
                              </m:e>
                            </m:mr>
                            <m:mr>
                              <m:e>
                                <m:r>
                                  <a:rPr lang="en-US" sz="1200" b="0" i="0">
                                    <a:latin typeface="Cambria Math" panose="02040503050406030204" pitchFamily="18" charset="0"/>
                                  </a:rPr>
                                  <m:t>−0.1794</m:t>
                                </m:r>
                              </m:e>
                              <m:e>
                                <m:r>
                                  <a:rPr lang="en-US" sz="1200" b="0" i="0">
                                    <a:latin typeface="Cambria Math" panose="02040503050406030204" pitchFamily="18" charset="0"/>
                                  </a:rPr>
                                  <m:t>−0.0974</m:t>
                                </m:r>
                              </m:e>
                              <m:e>
                                <m:r>
                                  <a:rPr lang="en-US" sz="1200" b="0" i="0">
                                    <a:latin typeface="Cambria Math" panose="02040503050406030204" pitchFamily="18" charset="0"/>
                                  </a:rPr>
                                  <m:t>0.7548</m:t>
                                </m:r>
                              </m:e>
                              <m:e>
                                <m:r>
                                  <a:rPr lang="en-US" sz="1200" b="0" i="0">
                                    <a:latin typeface="Cambria Math" panose="02040503050406030204" pitchFamily="18" charset="0"/>
                                  </a:rPr>
                                  <m:t>−0.0691</m:t>
                                </m:r>
                              </m:e>
                              <m:e>
                                <m:r>
                                  <a:rPr lang="en-US" sz="1200" b="0" i="0">
                                    <a:latin typeface="Cambria Math" panose="02040503050406030204" pitchFamily="18" charset="0"/>
                                  </a:rPr>
                                  <m:t>−0.1240</m:t>
                                </m:r>
                              </m:e>
                              <m:e>
                                <m:r>
                                  <a:rPr lang="en-US" sz="1200" b="0" i="0">
                                    <a:latin typeface="Cambria Math" panose="02040503050406030204" pitchFamily="18" charset="0"/>
                                  </a:rPr>
                                  <m:t>−0.2661</m:t>
                                </m:r>
                              </m:e>
                            </m:mr>
                            <m:mr>
                              <m:e>
                                <m:r>
                                  <a:rPr lang="en-US" sz="1200" b="0" i="0">
                                    <a:latin typeface="Cambria Math" panose="02040503050406030204" pitchFamily="18" charset="0"/>
                                  </a:rPr>
                                  <m:t>−0.1961</m:t>
                                </m:r>
                              </m:e>
                              <m:e>
                                <m:r>
                                  <a:rPr lang="en-US" sz="1200" b="0" i="0">
                                    <a:latin typeface="Cambria Math" panose="02040503050406030204" pitchFamily="18" charset="0"/>
                                  </a:rPr>
                                  <m:t>−0.0809</m:t>
                                </m:r>
                              </m:e>
                              <m:e>
                                <m:r>
                                  <a:rPr lang="en-US" sz="1200" b="0" i="0">
                                    <a:latin typeface="Cambria Math" panose="02040503050406030204" pitchFamily="18" charset="0"/>
                                  </a:rPr>
                                  <m:t>−0.2855</m:t>
                                </m:r>
                              </m:e>
                              <m:e>
                                <m:r>
                                  <a:rPr lang="en-US" sz="1200" b="0" i="0">
                                    <a:latin typeface="Cambria Math" panose="02040503050406030204" pitchFamily="18" charset="0"/>
                                  </a:rPr>
                                  <m:t>0.9744</m:t>
                                </m:r>
                              </m:e>
                              <m:e>
                                <m:r>
                                  <a:rPr lang="en-US" sz="1200" b="0" i="0">
                                    <a:latin typeface="Cambria Math" panose="02040503050406030204" pitchFamily="18" charset="0"/>
                                  </a:rPr>
                                  <m:t>−0.1071</m:t>
                                </m:r>
                              </m:e>
                              <m:e>
                                <m:r>
                                  <a:rPr lang="en-US" sz="1200" b="0" i="0">
                                    <a:latin typeface="Cambria Math" panose="02040503050406030204" pitchFamily="18" charset="0"/>
                                  </a:rPr>
                                  <m:t>−0.2825</m:t>
                                </m:r>
                              </m:e>
                            </m:mr>
                            <m:mr>
                              <m:e>
                                <m:r>
                                  <a:rPr lang="en-US" sz="1200" b="0" i="0">
                                    <a:latin typeface="Cambria Math" panose="02040503050406030204" pitchFamily="18" charset="0"/>
                                  </a:rPr>
                                  <m:t>−0.1965</m:t>
                                </m:r>
                              </m:e>
                              <m:e>
                                <m:r>
                                  <a:rPr lang="en-US" sz="1200" b="0" i="0">
                                    <a:latin typeface="Cambria Math" panose="02040503050406030204" pitchFamily="18" charset="0"/>
                                  </a:rPr>
                                  <m:t>−0.0811</m:t>
                                </m:r>
                              </m:e>
                              <m:e>
                                <m:r>
                                  <a:rPr lang="en-US" sz="1200" b="0" i="0">
                                    <a:latin typeface="Cambria Math" panose="02040503050406030204" pitchFamily="18" charset="0"/>
                                  </a:rPr>
                                  <m:t>−0.2796</m:t>
                                </m:r>
                              </m:e>
                              <m:e>
                                <m:r>
                                  <a:rPr lang="en-US" sz="1200" b="0" i="0">
                                    <a:latin typeface="Cambria Math" panose="02040503050406030204" pitchFamily="18" charset="0"/>
                                  </a:rPr>
                                  <m:t>−0.1207</m:t>
                                </m:r>
                              </m:e>
                              <m:e>
                                <m:r>
                                  <a:rPr lang="en-US" sz="1200" b="0" i="0">
                                    <a:latin typeface="Cambria Math" panose="02040503050406030204" pitchFamily="18" charset="0"/>
                                  </a:rPr>
                                  <m:t>0.9920</m:t>
                                </m:r>
                              </m:e>
                              <m:e>
                                <m:r>
                                  <a:rPr lang="en-US" sz="1200" b="0" i="0">
                                    <a:latin typeface="Cambria Math" panose="02040503050406030204" pitchFamily="18" charset="0"/>
                                  </a:rPr>
                                  <m:t>−0.2904</m:t>
                                </m:r>
                              </m:e>
                            </m:mr>
                            <m:mr>
                              <m:e>
                                <m:r>
                                  <a:rPr lang="en-US" sz="1200" b="0" i="0">
                                    <a:latin typeface="Cambria Math" panose="02040503050406030204" pitchFamily="18" charset="0"/>
                                  </a:rPr>
                                  <m:t>−0.1792</m:t>
                                </m:r>
                              </m:e>
                              <m:e>
                                <m:r>
                                  <a:rPr lang="en-US" sz="1200" b="0" i="0">
                                    <a:latin typeface="Cambria Math" panose="02040503050406030204" pitchFamily="18" charset="0"/>
                                  </a:rPr>
                                  <m:t>−0.0973</m:t>
                                </m:r>
                              </m:e>
                              <m:e>
                                <m:r>
                                  <a:rPr lang="en-US" sz="1200" b="0" i="0">
                                    <a:latin typeface="Cambria Math" panose="02040503050406030204" pitchFamily="18" charset="0"/>
                                  </a:rPr>
                                  <m:t>−0.2620</m:t>
                                </m:r>
                              </m:e>
                              <m:e>
                                <m:r>
                                  <a:rPr lang="en-US" sz="1200" b="0" i="0">
                                    <a:latin typeface="Cambria Math" panose="02040503050406030204" pitchFamily="18" charset="0"/>
                                  </a:rPr>
                                  <m:t>−0.1362</m:t>
                                </m:r>
                              </m:e>
                              <m:e>
                                <m:r>
                                  <a:rPr lang="en-US" sz="1200" b="0" i="0">
                                    <a:latin typeface="Cambria Math" panose="02040503050406030204" pitchFamily="18" charset="0"/>
                                  </a:rPr>
                                  <m:t>−0.0553</m:t>
                                </m:r>
                              </m:e>
                              <m:e>
                                <m:r>
                                  <a:rPr lang="en-US" sz="1200" b="0" i="0">
                                    <a:latin typeface="Cambria Math" panose="02040503050406030204" pitchFamily="18" charset="0"/>
                                  </a:rPr>
                                  <m:t>0.7483</m:t>
                                </m:r>
                              </m:e>
                            </m:mr>
                          </m:m>
                        </m:e>
                      </m:d>
                      <m:r>
                        <a:rPr lang="en-US" sz="1200" b="0" i="0">
                          <a:latin typeface="Cambria Math" panose="02040503050406030204" pitchFamily="18" charset="0"/>
                        </a:rPr>
                        <m:t> </m:t>
                      </m:r>
                    </m:oMath>
                  </m:oMathPara>
                </a14:m>
                <a:endParaRPr lang="en-US" sz="1100" dirty="0"/>
              </a:p>
            </p:txBody>
          </p:sp>
        </mc:Choice>
        <mc:Fallback xmlns="">
          <p:sp>
            <p:nvSpPr>
              <p:cNvPr id="48" name="LF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LF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875.1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9.7618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LF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LF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50" name="LF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LF_e_mat"/>
              <p:cNvSpPr txBox="1"/>
              <p:nvPr/>
            </p:nvSpPr>
            <p:spPr>
              <a:xfrm>
                <a:off x="460000" y="448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−0.1354</m:t>
                                </m:r>
                              </m:e>
                              <m:e>
                                <m:r>
                                  <a:rPr lang="en-US" sz="1200" b="0" i="0">
                                    <a:latin typeface="Cambria Math" panose="02040503050406030204" pitchFamily="18" charset="0"/>
                                  </a:rPr>
                                  <m:t>−0.1290</m:t>
                                </m:r>
                              </m:e>
                              <m:e>
                                <m:r>
                                  <a:rPr lang="en-US" sz="1200" b="0" i="0">
                                    <a:latin typeface="Cambria Math" panose="02040503050406030204" pitchFamily="18" charset="0"/>
                                  </a:rPr>
                                  <m:t>−0.1948</m:t>
                                </m:r>
                              </m:e>
                              <m:e>
                                <m:r>
                                  <a:rPr lang="en-US" sz="1200" b="0" i="0">
                                    <a:latin typeface="Cambria Math" panose="02040503050406030204" pitchFamily="18" charset="0"/>
                                  </a:rPr>
                                  <m:t>−0.1935</m:t>
                                </m:r>
                              </m:e>
                              <m:e>
                                <m:r>
                                  <a:rPr lang="en-US" sz="1200" b="0" i="0">
                                    <a:latin typeface="Cambria Math" panose="02040503050406030204" pitchFamily="18" charset="0"/>
                                  </a:rPr>
                                  <m:t>−0.1300</m:t>
                                </m:r>
                              </m:e>
                            </m:mr>
                            <m:mr>
                              <m:e>
                                <m:r>
                                  <a:rPr lang="en-US" sz="1200" b="0" i="0">
                                    <a:latin typeface="Cambria Math" panose="02040503050406030204" pitchFamily="18" charset="0"/>
                                  </a:rPr>
                                  <m:t>−0.1407</m:t>
                                </m:r>
                              </m:e>
                              <m:e>
                                <m:r>
                                  <a:rPr lang="en-US" sz="1200" b="0" i="0">
                                    <a:latin typeface="Cambria Math" panose="02040503050406030204" pitchFamily="18" charset="0"/>
                                  </a:rPr>
                                  <m:t>0.8375</m:t>
                                </m:r>
                              </m:e>
                              <m:e>
                                <m:r>
                                  <a:rPr lang="en-US" sz="1200" b="0" i="0">
                                    <a:latin typeface="Cambria Math" panose="02040503050406030204" pitchFamily="18" charset="0"/>
                                  </a:rPr>
                                  <m:t>−0.2040</m:t>
                                </m:r>
                              </m:e>
                              <m:e>
                                <m:r>
                                  <a:rPr lang="en-US" sz="1200" b="0" i="0">
                                    <a:latin typeface="Cambria Math" panose="02040503050406030204" pitchFamily="18" charset="0"/>
                                  </a:rPr>
                                  <m:t>−0.1241</m:t>
                                </m:r>
                              </m:e>
                              <m:e>
                                <m:r>
                                  <a:rPr lang="en-US" sz="1200" b="0" i="0">
                                    <a:latin typeface="Cambria Math" panose="02040503050406030204" pitchFamily="18" charset="0"/>
                                  </a:rPr>
                                  <m:t>−0.1243</m:t>
                                </m:r>
                              </m:e>
                              <m:e>
                                <m:r>
                                  <a:rPr lang="en-US" sz="1200" b="0" i="0">
                                    <a:latin typeface="Cambria Math" panose="02040503050406030204" pitchFamily="18" charset="0"/>
                                  </a:rPr>
                                  <m:t>−0.2053</m:t>
                                </m:r>
                              </m:e>
                            </m:mr>
                            <m:mr>
                              <m:e>
                                <m:r>
                                  <a:rPr lang="en-US" sz="1200" b="0" i="0">
                                    <a:latin typeface="Cambria Math" panose="02040503050406030204" pitchFamily="18" charset="0"/>
                                  </a:rPr>
                                  <m:t>−0.1293</m:t>
                                </m:r>
                              </m:e>
                              <m:e>
                                <m:r>
                                  <a:rPr lang="en-US" sz="1200" b="0" i="0">
                                    <a:latin typeface="Cambria Math" panose="02040503050406030204" pitchFamily="18" charset="0"/>
                                  </a:rPr>
                                  <m:t>−0.1912</m:t>
                                </m:r>
                              </m:e>
                              <m:e>
                                <m:r>
                                  <a:rPr lang="en-US" sz="1200" b="0" i="0">
                                    <a:latin typeface="Cambria Math" panose="02040503050406030204" pitchFamily="18" charset="0"/>
                                  </a:rPr>
                                  <m:t>0.8307</m:t>
                                </m:r>
                              </m:e>
                              <m:e>
                                <m:r>
                                  <a:rPr lang="en-US" sz="1200" b="0" i="0">
                                    <a:latin typeface="Cambria Math" panose="02040503050406030204" pitchFamily="18" charset="0"/>
                                  </a:rPr>
                                  <m:t>−0.1372</m:t>
                                </m:r>
                              </m:e>
                              <m:e>
                                <m:r>
                                  <a:rPr lang="en-US" sz="1200" b="0" i="0">
                                    <a:latin typeface="Cambria Math" panose="02040503050406030204" pitchFamily="18" charset="0"/>
                                  </a:rPr>
                                  <m:t>−0.1916</m:t>
                                </m:r>
                              </m:e>
                              <m:e>
                                <m:r>
                                  <a:rPr lang="en-US" sz="1200" b="0" i="0">
                                    <a:latin typeface="Cambria Math" panose="02040503050406030204" pitchFamily="18" charset="0"/>
                                  </a:rPr>
                                  <m:t>−0.1291</m:t>
                                </m:r>
                              </m:e>
                            </m:mr>
                            <m:mr>
                              <m:e>
                                <m:r>
                                  <a:rPr lang="en-US" sz="1200" b="0" i="0">
                                    <a:latin typeface="Cambria Math" panose="02040503050406030204" pitchFamily="18" charset="0"/>
                                  </a:rPr>
                                  <m:t>−0.2052</m:t>
                                </m:r>
                              </m:e>
                              <m:e>
                                <m:r>
                                  <a:rPr lang="en-US" sz="1200" b="0" i="0">
                                    <a:latin typeface="Cambria Math" panose="02040503050406030204" pitchFamily="18" charset="0"/>
                                  </a:rPr>
                                  <m:t>−0.1223</m:t>
                                </m:r>
                              </m:e>
                              <m:e>
                                <m:r>
                                  <a:rPr lang="en-US" sz="1200" b="0" i="0">
                                    <a:latin typeface="Cambria Math" panose="02040503050406030204" pitchFamily="18" charset="0"/>
                                  </a:rPr>
                                  <m:t>−0.1396</m:t>
                                </m:r>
                              </m:e>
                              <m:e>
                                <m:r>
                                  <a:rPr lang="en-US" sz="1200" b="0" i="0">
                                    <a:latin typeface="Cambria Math" panose="02040503050406030204" pitchFamily="18" charset="0"/>
                                  </a:rPr>
                                  <m:t>0.8352</m:t>
                                </m:r>
                              </m:e>
                              <m:e>
                                <m:r>
                                  <a:rPr lang="en-US" sz="1200" b="0" i="0">
                                    <a:latin typeface="Cambria Math" panose="02040503050406030204" pitchFamily="18" charset="0"/>
                                  </a:rPr>
                                  <m:t>−0.1228</m:t>
                                </m:r>
                              </m:e>
                              <m:e>
                                <m:r>
                                  <a:rPr lang="en-US" sz="1200" b="0" i="0">
                                    <a:latin typeface="Cambria Math" panose="02040503050406030204" pitchFamily="18" charset="0"/>
                                  </a:rPr>
                                  <m:t>−0.2056</m:t>
                                </m:r>
                              </m:e>
                            </m:mr>
                            <m:mr>
                              <m:e>
                                <m:r>
                                  <a:rPr lang="en-US" sz="1200" b="0" i="0">
                                    <a:latin typeface="Cambria Math" panose="02040503050406030204" pitchFamily="18" charset="0"/>
                                  </a:rPr>
                                  <m:t>−0.2060</m:t>
                                </m:r>
                              </m:e>
                              <m:e>
                                <m:r>
                                  <a:rPr lang="en-US" sz="1200" b="0" i="0">
                                    <a:latin typeface="Cambria Math" panose="02040503050406030204" pitchFamily="18" charset="0"/>
                                  </a:rPr>
                                  <m:t>−0.1231</m:t>
                                </m:r>
                              </m:e>
                              <m:e>
                                <m:r>
                                  <a:rPr lang="en-US" sz="1200" b="0" i="0">
                                    <a:latin typeface="Cambria Math" panose="02040503050406030204" pitchFamily="18" charset="0"/>
                                  </a:rPr>
                                  <m:t>−0.2047</m:t>
                                </m:r>
                              </m:e>
                              <m:e>
                                <m:r>
                                  <a:rPr lang="en-US" sz="1200" b="0" i="0">
                                    <a:latin typeface="Cambria Math" panose="02040503050406030204" pitchFamily="18" charset="0"/>
                                  </a:rPr>
                                  <m:t>−0.1239</m:t>
                                </m:r>
                              </m:e>
                              <m:e>
                                <m:r>
                                  <a:rPr lang="en-US" sz="1200" b="0" i="0">
                                    <a:latin typeface="Cambria Math" panose="02040503050406030204" pitchFamily="18" charset="0"/>
                                  </a:rPr>
                                  <m:t>0.8392</m:t>
                                </m:r>
                              </m:e>
                              <m:e>
                                <m:r>
                                  <a:rPr lang="en-US" sz="1200" b="0" i="0">
                                    <a:latin typeface="Cambria Math" panose="02040503050406030204" pitchFamily="18" charset="0"/>
                                  </a:rPr>
                                  <m:t>−0.1404</m:t>
                                </m:r>
                              </m:e>
                            </m:mr>
                            <m:mr>
                              <m:e>
                                <m:r>
                                  <a:rPr lang="en-US" sz="1200" b="0" i="0">
                                    <a:latin typeface="Cambria Math" panose="02040503050406030204" pitchFamily="18" charset="0"/>
                                  </a:rPr>
                                  <m:t>−0.1302</m:t>
                                </m:r>
                              </m:e>
                              <m:e>
                                <m:r>
                                  <a:rPr lang="en-US" sz="1200" b="0" i="0">
                                    <a:latin typeface="Cambria Math" panose="02040503050406030204" pitchFamily="18" charset="0"/>
                                  </a:rPr>
                                  <m:t>−0.1930</m:t>
                                </m:r>
                              </m:e>
                              <m:e>
                                <m:r>
                                  <a:rPr lang="en-US" sz="1200" b="0" i="0">
                                    <a:latin typeface="Cambria Math" panose="02040503050406030204" pitchFamily="18" charset="0"/>
                                  </a:rPr>
                                  <m:t>−0.1291</m:t>
                                </m:r>
                              </m:e>
                              <m:e>
                                <m:r>
                                  <a:rPr lang="en-US" sz="1200" b="0" i="0">
                                    <a:latin typeface="Cambria Math" panose="02040503050406030204" pitchFamily="18" charset="0"/>
                                  </a:rPr>
                                  <m:t>−0.1946</m:t>
                                </m:r>
                              </m:e>
                              <m:e>
                                <m:r>
                                  <a:rPr lang="en-US" sz="1200" b="0" i="0">
                                    <a:latin typeface="Cambria Math" panose="02040503050406030204" pitchFamily="18" charset="0"/>
                                  </a:rPr>
                                  <m:t>−0.1365</m:t>
                                </m:r>
                              </m:e>
                              <m:e>
                                <m:r>
                                  <a:rPr lang="en-US" sz="1200" b="0" i="0">
                                    <a:latin typeface="Cambria Math" panose="02040503050406030204" pitchFamily="18" charset="0"/>
                                  </a:rPr>
                                  <m:t>0.8358</m:t>
                                </m:r>
                              </m:e>
                            </m:mr>
                          </m:m>
                        </m:e>
                      </m:d>
                      <m:r>
                        <a:rPr lang="en-US" sz="1200" b="0" i="0">
                          <a:latin typeface="Cambria Math" panose="02040503050406030204" pitchFamily="18" charset="0"/>
                        </a:rPr>
                        <m:t> </m:t>
                      </m:r>
                    </m:oMath>
                  </m:oMathPara>
                </a14:m>
                <a:endParaRPr lang="en-US" sz="1100" dirty="0"/>
              </a:p>
            </p:txBody>
          </p:sp>
        </mc:Choice>
        <mc:Fallback xmlns="">
          <p:sp>
            <p:nvSpPr>
              <p:cNvPr id="51" name="LF_e_mat"/>
              <p:cNvSpPr txBox="1">
                <a:spLocks noRot="1" noChangeAspect="1" noMove="1" noResize="1" noEditPoints="1" noAdjustHandles="1" noChangeArrowheads="1" noChangeShapeType="1" noTextEdit="1"/>
              </p:cNvSpPr>
              <p:nvPr/>
            </p:nvSpPr>
            <p:spPr>
              <a:xfrm>
                <a:off x="460000" y="448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LF_e_sc"/>
              <p:cNvSpPr txBox="1"/>
              <p:nvPr/>
            </p:nvSpPr>
            <p:spPr>
              <a:xfrm>
                <a:off x="5300000" y="463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873.3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10.7181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LF_e_sc"/>
              <p:cNvSpPr txBox="1">
                <a:spLocks noRot="1" noChangeAspect="1" noMove="1" noResize="1" noEditPoints="1" noAdjustHandles="1" noChangeArrowheads="1" noChangeShapeType="1" noTextEdit="1"/>
              </p:cNvSpPr>
              <p:nvPr/>
            </p:nvSpPr>
            <p:spPr>
              <a:xfrm>
                <a:off x="5300000" y="4630000"/>
                <a:ext cx="3457787" cy="310896"/>
              </a:xfrm>
              <a:prstGeom prst="rect">
                <a:avLst/>
              </a:prstGeom>
              <a:blipFill>
                <a:blip r:embed=""/>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LF_e_nmae"/>
              <p:cNvSpPr txBox="1"/>
              <p:nvPr/>
            </p:nvSpPr>
            <p:spPr>
              <a:xfrm>
                <a:off x="5235787" y="5155433"/>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%=0.27%</m:t>
                      </m:r>
                    </m:oMath>
                  </m:oMathPara>
                </a14:m>
                <a:endParaRPr lang="zh-TW" altLang="en-US" sz="1400" dirty="0"/>
              </a:p>
            </p:txBody>
          </p:sp>
        </mc:Choice>
        <mc:Fallback xmlns="">
          <p:sp>
            <p:nvSpPr>
              <p:cNvPr id="53" name="LF_e_nmae"/>
              <p:cNvSpPr txBox="1">
                <a:spLocks noRot="1" noChangeAspect="1" noMove="1" noResize="1" noEditPoints="1" noAdjustHandles="1" noChangeArrowheads="1" noChangeShapeType="1" noTextEdit="1"/>
              </p:cNvSpPr>
              <p:nvPr/>
            </p:nvSpPr>
            <p:spPr>
              <a:xfrm>
                <a:off x="5235787" y="5155433"/>
                <a:ext cx="4191000" cy="54950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LF_e_bias"/>
              <p:cNvSpPr txBox="1"/>
              <p:nvPr/>
            </p:nvSpPr>
            <p:spPr>
              <a:xfrm>
                <a:off x="0" y="5847727"/>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0.0181</m:t>
                                </m:r>
                              </m:e>
                              <m:e>
                                <m:r>
                                  <a:rPr lang="en-US" sz="1200" b="0" i="0">
                                    <a:latin typeface="Cambria Math" panose="02040503050406030204" pitchFamily="18" charset="0"/>
                                  </a:rPr>
                                  <m:t>0.0179</m:t>
                                </m:r>
                              </m:e>
                              <m:e>
                                <m:r>
                                  <a:rPr lang="en-US" sz="1200" b="0" i="0">
                                    <a:latin typeface="Cambria Math" panose="02040503050406030204" pitchFamily="18" charset="0"/>
                                  </a:rPr>
                                  <m:t>−0.1169</m:t>
                                </m:r>
                              </m:e>
                              <m:e>
                                <m:r>
                                  <a:rPr lang="en-US" sz="1200" b="0" i="0">
                                    <a:latin typeface="Cambria Math" panose="02040503050406030204" pitchFamily="18" charset="0"/>
                                  </a:rPr>
                                  <m:t>0.0025</m:t>
                                </m:r>
                              </m:e>
                              <m:e>
                                <m:r>
                                  <a:rPr lang="en-US" sz="1200" b="0" i="0">
                                    <a:latin typeface="Cambria Math" panose="02040503050406030204" pitchFamily="18" charset="0"/>
                                  </a:rPr>
                                  <m:t>0.0013</m:t>
                                </m:r>
                              </m:e>
                              <m:e>
                                <m:r>
                                  <a:rPr lang="en-US" sz="1200" b="0" i="0">
                                    <a:latin typeface="Cambria Math" panose="02040503050406030204" pitchFamily="18" charset="0"/>
                                  </a:rPr>
                                  <m:t>−0.1184</m:t>
                                </m:r>
                              </m:e>
                            </m:mr>
                            <m:mr>
                              <m:e>
                                <m:r>
                                  <a:rPr lang="en-US" sz="1200" b="0" i="0">
                                    <a:latin typeface="Cambria Math" panose="02040503050406030204" pitchFamily="18" charset="0"/>
                                  </a:rPr>
                                  <m:t>−0.1182</m:t>
                                </m:r>
                              </m:e>
                              <m:e>
                                <m:r>
                                  <a:rPr lang="en-US" sz="1200" b="0" i="0">
                                    <a:latin typeface="Cambria Math" panose="02040503050406030204" pitchFamily="18" charset="0"/>
                                  </a:rPr>
                                  <m:t>0.0022</m:t>
                                </m:r>
                              </m:e>
                              <m:e>
                                <m:r>
                                  <a:rPr lang="en-US" sz="1200" b="0" i="0">
                                    <a:latin typeface="Cambria Math" panose="02040503050406030204" pitchFamily="18" charset="0"/>
                                  </a:rPr>
                                  <m:t>0.0146</m:t>
                                </m:r>
                              </m:e>
                              <m:e>
                                <m:r>
                                  <a:rPr lang="en-US" sz="1200" b="0" i="0">
                                    <a:latin typeface="Cambria Math" panose="02040503050406030204" pitchFamily="18" charset="0"/>
                                  </a:rPr>
                                  <m:t>0.0166</m:t>
                                </m:r>
                              </m:e>
                              <m:e>
                                <m:r>
                                  <a:rPr lang="en-US" sz="1200" b="0" i="0">
                                    <a:latin typeface="Cambria Math" panose="02040503050406030204" pitchFamily="18" charset="0"/>
                                  </a:rPr>
                                  <m:t>0.0015</m:t>
                                </m:r>
                              </m:e>
                              <m:e>
                                <m:r>
                                  <a:rPr lang="en-US" sz="1200" b="0" i="0">
                                    <a:latin typeface="Cambria Math" panose="02040503050406030204" pitchFamily="18" charset="0"/>
                                  </a:rPr>
                                  <m:t>−0.1189</m:t>
                                </m:r>
                              </m:e>
                            </m:mr>
                            <m:mr>
                              <m:e>
                                <m:r>
                                  <a:rPr lang="en-US" sz="1200" b="0" i="0">
                                    <a:latin typeface="Cambria Math" panose="02040503050406030204" pitchFamily="18" charset="0"/>
                                  </a:rPr>
                                  <m:t>0.1183</m:t>
                                </m:r>
                              </m:e>
                              <m:e>
                                <m:r>
                                  <a:rPr lang="en-US" sz="1200" b="0" i="0">
                                    <a:latin typeface="Cambria Math" panose="02040503050406030204" pitchFamily="18" charset="0"/>
                                  </a:rPr>
                                  <m:t>−0.0024</m:t>
                                </m:r>
                              </m:e>
                              <m:e>
                                <m:r>
                                  <a:rPr lang="en-US" sz="1200" b="0" i="0">
                                    <a:latin typeface="Cambria Math" panose="02040503050406030204" pitchFamily="18" charset="0"/>
                                  </a:rPr>
                                  <m:t>0.1167</m:t>
                                </m:r>
                              </m:e>
                              <m:e>
                                <m:r>
                                  <a:rPr lang="en-US" sz="1200" b="0" i="0">
                                    <a:latin typeface="Cambria Math" panose="02040503050406030204" pitchFamily="18" charset="0"/>
                                  </a:rPr>
                                  <m:t>−0.0031</m:t>
                                </m:r>
                              </m:e>
                              <m:e>
                                <m:r>
                                  <a:rPr lang="en-US" sz="1200" b="0" i="0">
                                    <a:latin typeface="Cambria Math" panose="02040503050406030204" pitchFamily="18" charset="0"/>
                                  </a:rPr>
                                  <m:t>−0.0167</m:t>
                                </m:r>
                              </m:e>
                              <m:e>
                                <m:r>
                                  <a:rPr lang="en-US" sz="1200" b="0" i="0">
                                    <a:latin typeface="Cambria Math" panose="02040503050406030204" pitchFamily="18" charset="0"/>
                                  </a:rPr>
                                  <m:t>−0.0185</m:t>
                                </m:r>
                              </m:e>
                            </m:mr>
                          </m:m>
                        </m:e>
                      </m:d>
                    </m:oMath>
                  </m:oMathPara>
                </a14:m>
                <a:endParaRPr lang="en-US" sz="1100" dirty="0"/>
              </a:p>
            </p:txBody>
          </p:sp>
        </mc:Choice>
        <mc:Fallback xmlns="">
          <p:sp>
            <p:nvSpPr>
              <p:cNvPr id="54" name="LF_e_bias"/>
              <p:cNvSpPr txBox="1">
                <a:spLocks noRot="1" noChangeAspect="1" noMove="1" noResize="1" noEditPoints="1" noAdjustHandles="1" noChangeArrowheads="1" noChangeShapeType="1" noTextEdit="1"/>
              </p:cNvSpPr>
              <p:nvPr/>
            </p:nvSpPr>
            <p:spPr>
              <a:xfrm>
                <a:off x="0" y="5847727"/>
                <a:ext cx="5235787" cy="566928"/>
              </a:xfrm>
              <a:prstGeom prst="rect">
                <a:avLst/>
              </a:prstGeom>
              <a:blipFill>
                <a:blip r:embed="rId5"/>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parameter(35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32720" y="4251460"/>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parameters(35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err="1"/>
                  <a:t>Zhi</a:t>
                </a:r>
                <a:r>
                  <a:rPr lang="en-US" altLang="zh-TW" dirty="0"/>
                  <a:t> </a:t>
                </a:r>
                <a:r>
                  <a:rPr lang="en-US" altLang="zh-TW" dirty="0" err="1"/>
                  <a:t>peng</a:t>
                </a:r>
                <a:r>
                  <a:rPr lang="en-US" altLang="zh-TW" dirty="0"/>
                  <a:t>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ZP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−0.0480</m:t>
                                </m:r>
                              </m:e>
                              <m:e>
                                <m:r>
                                  <a:rPr lang="en-US" sz="1200" b="0" i="0">
                                    <a:latin typeface="Cambria Math" panose="02040503050406030204" pitchFamily="18" charset="0"/>
                                  </a:rPr>
                                  <m:t>−0.2315</m:t>
                                </m:r>
                              </m:e>
                              <m:e>
                                <m:r>
                                  <a:rPr lang="en-US" sz="1200" b="0" i="0">
                                    <a:latin typeface="Cambria Math" panose="02040503050406030204" pitchFamily="18" charset="0"/>
                                  </a:rPr>
                                  <m:t>−0.0873</m:t>
                                </m:r>
                              </m:e>
                              <m:e>
                                <m:r>
                                  <a:rPr lang="en-US" sz="1200" b="0" i="0">
                                    <a:latin typeface="Cambria Math" panose="02040503050406030204" pitchFamily="18" charset="0"/>
                                  </a:rPr>
                                  <m:t>−0.0853</m:t>
                                </m:r>
                              </m:e>
                              <m:e>
                                <m:r>
                                  <a:rPr lang="en-US" sz="1200" b="0" i="0">
                                    <a:latin typeface="Cambria Math" panose="02040503050406030204" pitchFamily="18" charset="0"/>
                                  </a:rPr>
                                  <m:t>−0.2303</m:t>
                                </m:r>
                              </m:e>
                            </m:mr>
                            <m:mr>
                              <m:e>
                                <m:r>
                                  <a:rPr lang="en-US" sz="1200" b="0" i="0">
                                    <a:latin typeface="Cambria Math" panose="02040503050406030204" pitchFamily="18" charset="0"/>
                                  </a:rPr>
                                  <m:t>−0.0842</m:t>
                                </m:r>
                              </m:e>
                              <m:e>
                                <m:r>
                                  <a:rPr lang="en-US" sz="1200" b="0" i="0">
                                    <a:latin typeface="Cambria Math" panose="02040503050406030204" pitchFamily="18" charset="0"/>
                                  </a:rPr>
                                  <m:t>0.8625</m:t>
                                </m:r>
                              </m:e>
                              <m:e>
                                <m:r>
                                  <a:rPr lang="en-US" sz="1200" b="0" i="0">
                                    <a:latin typeface="Cambria Math" panose="02040503050406030204" pitchFamily="18" charset="0"/>
                                  </a:rPr>
                                  <m:t>−0.1198</m:t>
                                </m:r>
                              </m:e>
                              <m:e>
                                <m:r>
                                  <a:rPr lang="en-US" sz="1200" b="0" i="0">
                                    <a:latin typeface="Cambria Math" panose="02040503050406030204" pitchFamily="18" charset="0"/>
                                  </a:rPr>
                                  <m:t>−0.2032</m:t>
                                </m:r>
                              </m:e>
                              <m:e>
                                <m:r>
                                  <a:rPr lang="en-US" sz="1200" b="0" i="0">
                                    <a:latin typeface="Cambria Math" panose="02040503050406030204" pitchFamily="18" charset="0"/>
                                  </a:rPr>
                                  <m:t>−0.2014</m:t>
                                </m:r>
                              </m:e>
                              <m:e>
                                <m:r>
                                  <a:rPr lang="en-US" sz="1200" b="0" i="0">
                                    <a:latin typeface="Cambria Math" panose="02040503050406030204" pitchFamily="18" charset="0"/>
                                  </a:rPr>
                                  <m:t>−0.1185</m:t>
                                </m:r>
                              </m:e>
                            </m:mr>
                            <m:mr>
                              <m:e>
                                <m:r>
                                  <a:rPr lang="en-US" sz="1200" b="0" i="0">
                                    <a:latin typeface="Cambria Math" panose="02040503050406030204" pitchFamily="18" charset="0"/>
                                  </a:rPr>
                                  <m:t>−0.2645</m:t>
                                </m:r>
                              </m:e>
                              <m:e>
                                <m:r>
                                  <a:rPr lang="en-US" sz="1200" b="0" i="0">
                                    <a:latin typeface="Cambria Math" panose="02040503050406030204" pitchFamily="18" charset="0"/>
                                  </a:rPr>
                                  <m:t>−0.0755</m:t>
                                </m:r>
                              </m:e>
                              <m:e>
                                <m:r>
                                  <a:rPr lang="en-US" sz="1200" b="0" i="0">
                                    <a:latin typeface="Cambria Math" panose="02040503050406030204" pitchFamily="18" charset="0"/>
                                  </a:rPr>
                                  <m:t>0.7436</m:t>
                                </m:r>
                              </m:e>
                              <m:e>
                                <m:r>
                                  <a:rPr lang="en-US" sz="1200" b="0" i="0">
                                    <a:latin typeface="Cambria Math" panose="02040503050406030204" pitchFamily="18" charset="0"/>
                                  </a:rPr>
                                  <m:t>−0.0436</m:t>
                                </m:r>
                              </m:e>
                              <m:e>
                                <m:r>
                                  <a:rPr lang="en-US" sz="1200" b="0" i="0">
                                    <a:latin typeface="Cambria Math" panose="02040503050406030204" pitchFamily="18" charset="0"/>
                                  </a:rPr>
                                  <m:t>−0.0481</m:t>
                                </m:r>
                              </m:e>
                              <m:e>
                                <m:r>
                                  <a:rPr lang="en-US" sz="1200" b="0" i="0">
                                    <a:latin typeface="Cambria Math" panose="02040503050406030204" pitchFamily="18" charset="0"/>
                                  </a:rPr>
                                  <m:t>−0.2480</m:t>
                                </m:r>
                              </m:e>
                            </m:mr>
                            <m:mr>
                              <m:e>
                                <m:r>
                                  <a:rPr lang="en-US" sz="1200" b="0" i="0">
                                    <a:latin typeface="Cambria Math" panose="02040503050406030204" pitchFamily="18" charset="0"/>
                                  </a:rPr>
                                  <m:t>−0.1121</m:t>
                                </m:r>
                              </m:e>
                              <m:e>
                                <m:r>
                                  <a:rPr lang="en-US" sz="1200" b="0" i="0">
                                    <a:latin typeface="Cambria Math" panose="02040503050406030204" pitchFamily="18" charset="0"/>
                                  </a:rPr>
                                  <m:t>−0.2322</m:t>
                                </m:r>
                              </m:e>
                              <m:e>
                                <m:r>
                                  <a:rPr lang="en-US" sz="1200" b="0" i="0">
                                    <a:latin typeface="Cambria Math" panose="02040503050406030204" pitchFamily="18" charset="0"/>
                                  </a:rPr>
                                  <m:t>−0.0759</m:t>
                                </m:r>
                              </m:e>
                              <m:e>
                                <m:r>
                                  <a:rPr lang="en-US" sz="1200" b="0" i="0">
                                    <a:latin typeface="Cambria Math" panose="02040503050406030204" pitchFamily="18" charset="0"/>
                                  </a:rPr>
                                  <m:t>0.7685</m:t>
                                </m:r>
                              </m:e>
                              <m:e>
                                <m:r>
                                  <a:rPr lang="en-US" sz="1200" b="0" i="0">
                                    <a:latin typeface="Cambria Math" panose="02040503050406030204" pitchFamily="18" charset="0"/>
                                  </a:rPr>
                                  <m:t>−0.2192</m:t>
                                </m:r>
                              </m:e>
                              <m:e>
                                <m:r>
                                  <a:rPr lang="en-US" sz="1200" b="0" i="0">
                                    <a:latin typeface="Cambria Math" panose="02040503050406030204" pitchFamily="18" charset="0"/>
                                  </a:rPr>
                                  <m:t>−0.0821</m:t>
                                </m:r>
                              </m:e>
                            </m:mr>
                            <m:mr>
                              <m:e>
                                <m:r>
                                  <a:rPr lang="en-US" sz="1200" b="0" i="0">
                                    <a:latin typeface="Cambria Math" panose="02040503050406030204" pitchFamily="18" charset="0"/>
                                  </a:rPr>
                                  <m:t>−0.1121</m:t>
                                </m:r>
                              </m:e>
                              <m:e>
                                <m:r>
                                  <a:rPr lang="en-US" sz="1200" b="0" i="0">
                                    <a:latin typeface="Cambria Math" panose="02040503050406030204" pitchFamily="18" charset="0"/>
                                  </a:rPr>
                                  <m:t>−0.2321</m:t>
                                </m:r>
                              </m:e>
                              <m:e>
                                <m:r>
                                  <a:rPr lang="en-US" sz="1200" b="0" i="0">
                                    <a:latin typeface="Cambria Math" panose="02040503050406030204" pitchFamily="18" charset="0"/>
                                  </a:rPr>
                                  <m:t>−0.0830</m:t>
                                </m:r>
                              </m:e>
                              <m:e>
                                <m:r>
                                  <a:rPr lang="en-US" sz="1200" b="0" i="0">
                                    <a:latin typeface="Cambria Math" panose="02040503050406030204" pitchFamily="18" charset="0"/>
                                  </a:rPr>
                                  <m:t>−0.2211</m:t>
                                </m:r>
                              </m:e>
                              <m:e>
                                <m:r>
                                  <a:rPr lang="en-US" sz="1200" b="0" i="0">
                                    <a:latin typeface="Cambria Math" panose="02040503050406030204" pitchFamily="18" charset="0"/>
                                  </a:rPr>
                                  <m:t>0.7695</m:t>
                                </m:r>
                              </m:e>
                              <m:e>
                                <m:r>
                                  <a:rPr lang="en-US" sz="1200" b="0" i="0">
                                    <a:latin typeface="Cambria Math" panose="02040503050406030204" pitchFamily="18" charset="0"/>
                                  </a:rPr>
                                  <m:t>−0.0744</m:t>
                                </m:r>
                              </m:e>
                            </m:mr>
                            <m:mr>
                              <m:e>
                                <m:r>
                                  <a:rPr lang="en-US" sz="1200" b="0" i="0">
                                    <a:latin typeface="Cambria Math" panose="02040503050406030204" pitchFamily="18" charset="0"/>
                                  </a:rPr>
                                  <m:t>−0.2645</m:t>
                                </m:r>
                              </m:e>
                              <m:e>
                                <m:r>
                                  <a:rPr lang="en-US" sz="1200" b="0" i="0">
                                    <a:latin typeface="Cambria Math" panose="02040503050406030204" pitchFamily="18" charset="0"/>
                                  </a:rPr>
                                  <m:t>−0.0755</m:t>
                                </m:r>
                              </m:e>
                              <m:e>
                                <m:r>
                                  <a:rPr lang="en-US" sz="1200" b="0" i="0">
                                    <a:latin typeface="Cambria Math" panose="02040503050406030204" pitchFamily="18" charset="0"/>
                                  </a:rPr>
                                  <m:t>−0.2491</m:t>
                                </m:r>
                              </m:e>
                              <m:e>
                                <m:r>
                                  <a:rPr lang="en-US" sz="1200" b="0" i="0">
                                    <a:latin typeface="Cambria Math" panose="02040503050406030204" pitchFamily="18" charset="0"/>
                                  </a:rPr>
                                  <m:t>−0.0502</m:t>
                                </m:r>
                              </m:e>
                              <m:e>
                                <m:r>
                                  <a:rPr lang="en-US" sz="1200" b="0" i="0">
                                    <a:latin typeface="Cambria Math" panose="02040503050406030204" pitchFamily="18" charset="0"/>
                                  </a:rPr>
                                  <m:t>−0.0420</m:t>
                                </m:r>
                              </m:e>
                              <m:e>
                                <m:r>
                                  <a:rPr lang="en-US" sz="1200" b="0" i="0">
                                    <a:latin typeface="Cambria Math" panose="02040503050406030204" pitchFamily="18" charset="0"/>
                                  </a:rPr>
                                  <m:t>0.7454</m:t>
                                </m:r>
                              </m:e>
                            </m:mr>
                          </m:m>
                        </m:e>
                      </m:d>
                      <m:r>
                        <a:rPr lang="en-US" sz="1200" b="0" i="0">
                          <a:latin typeface="Cambria Math" panose="02040503050406030204" pitchFamily="18" charset="0"/>
                        </a:rPr>
                        <m:t> </m:t>
                      </m:r>
                    </m:oMath>
                  </m:oMathPara>
                </a14:m>
                <a:endParaRPr lang="en-US" sz="1100" dirty="0"/>
              </a:p>
            </p:txBody>
          </p:sp>
        </mc:Choice>
        <mc:Fallback xmlns="">
          <p:sp>
            <p:nvSpPr>
              <p:cNvPr id="48" name="ZP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ZP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744.9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32.7350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ZP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ZP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%=10.50%</m:t>
                      </m:r>
                    </m:oMath>
                  </m:oMathPara>
                </a14:m>
                <a:endParaRPr lang="zh-TW" altLang="en-US" sz="1400" dirty="0"/>
              </a:p>
            </p:txBody>
          </p:sp>
        </mc:Choice>
        <mc:Fallback xmlns="">
          <p:sp>
            <p:nvSpPr>
              <p:cNvPr id="50" name="ZP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ZP_e_mat"/>
              <p:cNvSpPr txBox="1"/>
              <p:nvPr/>
            </p:nvSpPr>
            <p:spPr>
              <a:xfrm>
                <a:off x="460000" y="466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−0.1068</m:t>
                                </m:r>
                              </m:e>
                              <m:e>
                                <m:r>
                                  <a:rPr lang="en-US" sz="1200" b="0" i="0">
                                    <a:latin typeface="Cambria Math" panose="02040503050406030204" pitchFamily="18" charset="0"/>
                                  </a:rPr>
                                  <m:t>−0.1150</m:t>
                                </m:r>
                              </m:e>
                              <m:e>
                                <m:r>
                                  <a:rPr lang="en-US" sz="1200" b="0" i="0">
                                    <a:latin typeface="Cambria Math" panose="02040503050406030204" pitchFamily="18" charset="0"/>
                                  </a:rPr>
                                  <m:t>−0.1881</m:t>
                                </m:r>
                              </m:e>
                              <m:e>
                                <m:r>
                                  <a:rPr lang="en-US" sz="1200" b="0" i="0">
                                    <a:latin typeface="Cambria Math" panose="02040503050406030204" pitchFamily="18" charset="0"/>
                                  </a:rPr>
                                  <m:t>−0.1875</m:t>
                                </m:r>
                              </m:e>
                              <m:e>
                                <m:r>
                                  <a:rPr lang="en-US" sz="1200" b="0" i="0">
                                    <a:latin typeface="Cambria Math" panose="02040503050406030204" pitchFamily="18" charset="0"/>
                                  </a:rPr>
                                  <m:t>−0.1150</m:t>
                                </m:r>
                              </m:e>
                            </m:mr>
                            <m:mr>
                              <m:e>
                                <m:r>
                                  <a:rPr lang="en-US" sz="1200" b="0" i="0">
                                    <a:latin typeface="Cambria Math" panose="02040503050406030204" pitchFamily="18" charset="0"/>
                                  </a:rPr>
                                  <m:t>−0.1114</m:t>
                                </m:r>
                              </m:e>
                              <m:e>
                                <m:r>
                                  <a:rPr lang="en-US" sz="1200" b="0" i="0">
                                    <a:latin typeface="Cambria Math" panose="02040503050406030204" pitchFamily="18" charset="0"/>
                                  </a:rPr>
                                  <m:t>0.8296</m:t>
                                </m:r>
                              </m:e>
                              <m:e>
                                <m:r>
                                  <a:rPr lang="en-US" sz="1200" b="0" i="0">
                                    <a:latin typeface="Cambria Math" panose="02040503050406030204" pitchFamily="18" charset="0"/>
                                  </a:rPr>
                                  <m:t>−0.1932</m:t>
                                </m:r>
                              </m:e>
                              <m:e>
                                <m:r>
                                  <a:rPr lang="en-US" sz="1200" b="0" i="0">
                                    <a:latin typeface="Cambria Math" panose="02040503050406030204" pitchFamily="18" charset="0"/>
                                  </a:rPr>
                                  <m:t>−0.1195</m:t>
                                </m:r>
                              </m:e>
                              <m:e>
                                <m:r>
                                  <a:rPr lang="en-US" sz="1200" b="0" i="0">
                                    <a:latin typeface="Cambria Math" panose="02040503050406030204" pitchFamily="18" charset="0"/>
                                  </a:rPr>
                                  <m:t>−0.1193</m:t>
                                </m:r>
                              </m:e>
                              <m:e>
                                <m:r>
                                  <a:rPr lang="en-US" sz="1200" b="0" i="0">
                                    <a:latin typeface="Cambria Math" panose="02040503050406030204" pitchFamily="18" charset="0"/>
                                  </a:rPr>
                                  <m:t>−0.1928</m:t>
                                </m:r>
                              </m:e>
                            </m:mr>
                            <m:mr>
                              <m:e>
                                <m:r>
                                  <a:rPr lang="en-US" sz="1200" b="0" i="0">
                                    <a:latin typeface="Cambria Math" panose="02040503050406030204" pitchFamily="18" charset="0"/>
                                  </a:rPr>
                                  <m:t>−0.1336</m:t>
                                </m:r>
                              </m:e>
                              <m:e>
                                <m:r>
                                  <a:rPr lang="en-US" sz="1200" b="0" i="0">
                                    <a:latin typeface="Cambria Math" panose="02040503050406030204" pitchFamily="18" charset="0"/>
                                  </a:rPr>
                                  <m:t>−0.1957</m:t>
                                </m:r>
                              </m:e>
                              <m:e>
                                <m:r>
                                  <a:rPr lang="en-US" sz="1200" b="0" i="0">
                                    <a:latin typeface="Cambria Math" panose="02040503050406030204" pitchFamily="18" charset="0"/>
                                  </a:rPr>
                                  <m:t>0.7488</m:t>
                                </m:r>
                              </m:e>
                              <m:e>
                                <m:r>
                                  <a:rPr lang="en-US" sz="1200" b="0" i="0">
                                    <a:latin typeface="Cambria Math" panose="02040503050406030204" pitchFamily="18" charset="0"/>
                                  </a:rPr>
                                  <m:t>−0.0923</m:t>
                                </m:r>
                              </m:e>
                              <m:e>
                                <m:r>
                                  <a:rPr lang="en-US" sz="1200" b="0" i="0">
                                    <a:latin typeface="Cambria Math" panose="02040503050406030204" pitchFamily="18" charset="0"/>
                                  </a:rPr>
                                  <m:t>−0.1578</m:t>
                                </m:r>
                              </m:e>
                              <m:e>
                                <m:r>
                                  <a:rPr lang="en-US" sz="1200" b="0" i="0">
                                    <a:latin typeface="Cambria Math" panose="02040503050406030204" pitchFamily="18" charset="0"/>
                                  </a:rPr>
                                  <m:t>−0.1300</m:t>
                                </m:r>
                              </m:e>
                            </m:mr>
                            <m:mr>
                              <m:e>
                                <m:r>
                                  <a:rPr lang="en-US" sz="1200" b="0" i="0">
                                    <a:latin typeface="Cambria Math" panose="02040503050406030204" pitchFamily="18" charset="0"/>
                                  </a:rPr>
                                  <m:t>−0.2009</m:t>
                                </m:r>
                              </m:e>
                              <m:e>
                                <m:r>
                                  <a:rPr lang="en-US" sz="1200" b="0" i="0">
                                    <a:latin typeface="Cambria Math" panose="02040503050406030204" pitchFamily="18" charset="0"/>
                                  </a:rPr>
                                  <m:t>−0.1382</m:t>
                                </m:r>
                              </m:e>
                              <m:e>
                                <m:r>
                                  <a:rPr lang="en-US" sz="1200" b="0" i="0">
                                    <a:latin typeface="Cambria Math" panose="02040503050406030204" pitchFamily="18" charset="0"/>
                                  </a:rPr>
                                  <m:t>−0.0977</m:t>
                                </m:r>
                              </m:e>
                              <m:e>
                                <m:r>
                                  <a:rPr lang="en-US" sz="1200" b="0" i="0">
                                    <a:latin typeface="Cambria Math" panose="02040503050406030204" pitchFamily="18" charset="0"/>
                                  </a:rPr>
                                  <m:t>0.7452</m:t>
                                </m:r>
                              </m:e>
                              <m:e>
                                <m:r>
                                  <a:rPr lang="en-US" sz="1200" b="0" i="0">
                                    <a:latin typeface="Cambria Math" panose="02040503050406030204" pitchFamily="18" charset="0"/>
                                  </a:rPr>
                                  <m:t>−0.1346</m:t>
                                </m:r>
                              </m:e>
                              <m:e>
                                <m:r>
                                  <a:rPr lang="en-US" sz="1200" b="0" i="0">
                                    <a:latin typeface="Cambria Math" panose="02040503050406030204" pitchFamily="18" charset="0"/>
                                  </a:rPr>
                                  <m:t>−0.1634</m:t>
                                </m:r>
                              </m:e>
                            </m:mr>
                            <m:mr>
                              <m:e>
                                <m:r>
                                  <a:rPr lang="en-US" sz="1200" b="0" i="0">
                                    <a:latin typeface="Cambria Math" panose="02040503050406030204" pitchFamily="18" charset="0"/>
                                  </a:rPr>
                                  <m:t>−0.2002</m:t>
                                </m:r>
                              </m:e>
                              <m:e>
                                <m:r>
                                  <a:rPr lang="en-US" sz="1200" b="0" i="0">
                                    <a:latin typeface="Cambria Math" panose="02040503050406030204" pitchFamily="18" charset="0"/>
                                  </a:rPr>
                                  <m:t>−0.1378</m:t>
                                </m:r>
                              </m:e>
                              <m:e>
                                <m:r>
                                  <a:rPr lang="en-US" sz="1200" b="0" i="0">
                                    <a:latin typeface="Cambria Math" panose="02040503050406030204" pitchFamily="18" charset="0"/>
                                  </a:rPr>
                                  <m:t>−0.1631</m:t>
                                </m:r>
                              </m:e>
                              <m:e>
                                <m:r>
                                  <a:rPr lang="en-US" sz="1200" b="0" i="0">
                                    <a:latin typeface="Cambria Math" panose="02040503050406030204" pitchFamily="18" charset="0"/>
                                  </a:rPr>
                                  <m:t>−0.1345</m:t>
                                </m:r>
                              </m:e>
                              <m:e>
                                <m:r>
                                  <a:rPr lang="en-US" sz="1200" b="0" i="0">
                                    <a:latin typeface="Cambria Math" panose="02040503050406030204" pitchFamily="18" charset="0"/>
                                  </a:rPr>
                                  <m:t>0.7427</m:t>
                                </m:r>
                              </m:e>
                              <m:e>
                                <m:r>
                                  <a:rPr lang="en-US" sz="1200" b="0" i="0">
                                    <a:latin typeface="Cambria Math" panose="02040503050406030204" pitchFamily="18" charset="0"/>
                                  </a:rPr>
                                  <m:t>−0.0970</m:t>
                                </m:r>
                              </m:e>
                            </m:mr>
                            <m:mr>
                              <m:e>
                                <m:r>
                                  <a:rPr lang="en-US" sz="1200" b="0" i="0">
                                    <a:latin typeface="Cambria Math" panose="02040503050406030204" pitchFamily="18" charset="0"/>
                                  </a:rPr>
                                  <m:t>−0.1335</m:t>
                                </m:r>
                              </m:e>
                              <m:e>
                                <m:r>
                                  <a:rPr lang="en-US" sz="1200" b="0" i="0">
                                    <a:latin typeface="Cambria Math" panose="02040503050406030204" pitchFamily="18" charset="0"/>
                                  </a:rPr>
                                  <m:t>−0.1954</m:t>
                                </m:r>
                              </m:e>
                              <m:e>
                                <m:r>
                                  <a:rPr lang="en-US" sz="1200" b="0" i="0">
                                    <a:latin typeface="Cambria Math" panose="02040503050406030204" pitchFamily="18" charset="0"/>
                                  </a:rPr>
                                  <m:t>−0.1298</m:t>
                                </m:r>
                              </m:e>
                              <m:e>
                                <m:r>
                                  <a:rPr lang="en-US" sz="1200" b="0" i="0">
                                    <a:latin typeface="Cambria Math" panose="02040503050406030204" pitchFamily="18" charset="0"/>
                                  </a:rPr>
                                  <m:t>−0.1585</m:t>
                                </m:r>
                              </m:e>
                              <m:e>
                                <m:r>
                                  <a:rPr lang="en-US" sz="1200" b="0" i="0">
                                    <a:latin typeface="Cambria Math" panose="02040503050406030204" pitchFamily="18" charset="0"/>
                                  </a:rPr>
                                  <m:t>−0.0925</m:t>
                                </m:r>
                              </m:e>
                              <m:e>
                                <m:r>
                                  <a:rPr lang="en-US" sz="1200" b="0" i="0">
                                    <a:latin typeface="Cambria Math" panose="02040503050406030204" pitchFamily="18" charset="0"/>
                                  </a:rPr>
                                  <m:t>0.7492</m:t>
                                </m:r>
                              </m:e>
                            </m:mr>
                          </m:m>
                        </m:e>
                      </m:d>
                      <m:r>
                        <a:rPr lang="en-US" sz="1200" b="0" i="0">
                          <a:latin typeface="Cambria Math" panose="02040503050406030204" pitchFamily="18" charset="0"/>
                        </a:rPr>
                        <m:t> </m:t>
                      </m:r>
                    </m:oMath>
                  </m:oMathPara>
                </a14:m>
                <a:endParaRPr lang="en-US" sz="1100" dirty="0"/>
              </a:p>
            </p:txBody>
          </p:sp>
        </mc:Choice>
        <mc:Fallback xmlns="">
          <p:sp>
            <p:nvSpPr>
              <p:cNvPr id="51" name="ZP_e_mat"/>
              <p:cNvSpPr txBox="1">
                <a:spLocks noRot="1" noChangeAspect="1" noMove="1" noResize="1" noEditPoints="1" noAdjustHandles="1" noChangeArrowheads="1" noChangeShapeType="1" noTextEdit="1"/>
              </p:cNvSpPr>
              <p:nvPr/>
            </p:nvSpPr>
            <p:spPr>
              <a:xfrm>
                <a:off x="460000" y="466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ZP_e_sc"/>
              <p:cNvSpPr txBox="1"/>
              <p:nvPr/>
            </p:nvSpPr>
            <p:spPr>
              <a:xfrm>
                <a:off x="5300000" y="481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604.8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37.3928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ZP_e_sc"/>
              <p:cNvSpPr txBox="1">
                <a:spLocks noRot="1" noChangeAspect="1" noMove="1" noResize="1" noEditPoints="1" noAdjustHandles="1" noChangeArrowheads="1" noChangeShapeType="1" noTextEdit="1"/>
              </p:cNvSpPr>
              <p:nvPr/>
            </p:nvSpPr>
            <p:spPr>
              <a:xfrm>
                <a:off x="5300000" y="4810000"/>
                <a:ext cx="3457787" cy="310896"/>
              </a:xfrm>
              <a:prstGeom prst="rect">
                <a:avLst/>
              </a:prstGeom>
              <a:blipFill>
                <a:blip r:embed=""/>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ZP_e_nmae"/>
              <p:cNvSpPr txBox="1"/>
              <p:nvPr/>
            </p:nvSpPr>
            <p:spPr>
              <a:xfrm>
                <a:off x="5300000" y="526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%=0.68%</m:t>
                      </m:r>
                    </m:oMath>
                  </m:oMathPara>
                </a14:m>
                <a:endParaRPr lang="zh-TW" altLang="en-US" sz="1400" dirty="0"/>
              </a:p>
            </p:txBody>
          </p:sp>
        </mc:Choice>
        <mc:Fallback xmlns="">
          <p:sp>
            <p:nvSpPr>
              <p:cNvPr id="53" name="ZP_e_nmae"/>
              <p:cNvSpPr txBox="1">
                <a:spLocks noRot="1" noChangeAspect="1" noMove="1" noResize="1" noEditPoints="1" noAdjustHandles="1" noChangeArrowheads="1" noChangeShapeType="1" noTextEdit="1"/>
              </p:cNvSpPr>
              <p:nvPr/>
            </p:nvSpPr>
            <p:spPr>
              <a:xfrm>
                <a:off x="5300000" y="5260000"/>
                <a:ext cx="4191000" cy="549509"/>
              </a:xfrm>
              <a:prstGeom prst="rect">
                <a:avLst/>
              </a:prstGeom>
              <a:blipFill>
                <a:blip r:embed=""/>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ZP_e_bias"/>
              <p:cNvSpPr txBox="1"/>
              <p:nvPr/>
            </p:nvSpPr>
            <p:spPr>
              <a:xfrm>
                <a:off x="-168970" y="5946040"/>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−0.0024</m:t>
                                </m:r>
                              </m:e>
                              <m:e>
                                <m:r>
                                  <a:rPr lang="en-US" sz="1200" b="0" i="0">
                                    <a:latin typeface="Cambria Math" panose="02040503050406030204" pitchFamily="18" charset="0"/>
                                  </a:rPr>
                                  <m:t>0.0010</m:t>
                                </m:r>
                              </m:e>
                              <m:e>
                                <m:r>
                                  <a:rPr lang="en-US" sz="1200" b="0" i="0">
                                    <a:latin typeface="Cambria Math" panose="02040503050406030204" pitchFamily="18" charset="0"/>
                                  </a:rPr>
                                  <m:t>−0.2168</m:t>
                                </m:r>
                              </m:e>
                              <m:e>
                                <m:r>
                                  <a:rPr lang="en-US" sz="1200" b="0" i="0">
                                    <a:latin typeface="Cambria Math" panose="02040503050406030204" pitchFamily="18" charset="0"/>
                                  </a:rPr>
                                  <m:t>0.2168</m:t>
                                </m:r>
                              </m:e>
                              <m:e>
                                <m:r>
                                  <a:rPr lang="en-US" sz="1200" b="0" i="0">
                                    <a:latin typeface="Cambria Math" panose="02040503050406030204" pitchFamily="18" charset="0"/>
                                  </a:rPr>
                                  <m:t>0.2165</m:t>
                                </m:r>
                              </m:e>
                              <m:e>
                                <m:r>
                                  <a:rPr lang="en-US" sz="1200" b="0" i="0">
                                    <a:latin typeface="Cambria Math" panose="02040503050406030204" pitchFamily="18" charset="0"/>
                                  </a:rPr>
                                  <m:t>−0.2164</m:t>
                                </m:r>
                              </m:e>
                            </m:mr>
                            <m:mr>
                              <m:e>
                                <m:r>
                                  <a:rPr lang="en-US" sz="1200" b="0" i="0">
                                    <a:latin typeface="Cambria Math" panose="02040503050406030204" pitchFamily="18" charset="0"/>
                                  </a:rPr>
                                  <m:t>−0.2162</m:t>
                                </m:r>
                              </m:e>
                              <m:e>
                                <m:r>
                                  <a:rPr lang="en-US" sz="1200" b="0" i="0">
                                    <a:latin typeface="Cambria Math" panose="02040503050406030204" pitchFamily="18" charset="0"/>
                                  </a:rPr>
                                  <m:t>0.2166</m:t>
                                </m:r>
                              </m:e>
                              <m:e>
                                <m:r>
                                  <a:rPr lang="en-US" sz="1200" b="0" i="0">
                                    <a:latin typeface="Cambria Math" panose="02040503050406030204" pitchFamily="18" charset="0"/>
                                  </a:rPr>
                                  <m:t>0.0001</m:t>
                                </m:r>
                              </m:e>
                              <m:e>
                                <m:r>
                                  <a:rPr lang="en-US" sz="1200" b="0" i="0">
                                    <a:latin typeface="Cambria Math" panose="02040503050406030204" pitchFamily="18" charset="0"/>
                                  </a:rPr>
                                  <m:t>−0.0020</m:t>
                                </m:r>
                              </m:e>
                              <m:e>
                                <m:r>
                                  <a:rPr lang="en-US" sz="1200" b="0" i="0">
                                    <a:latin typeface="Cambria Math" panose="02040503050406030204" pitchFamily="18" charset="0"/>
                                  </a:rPr>
                                  <m:t>0.2173</m:t>
                                </m:r>
                              </m:e>
                              <m:e>
                                <m:r>
                                  <a:rPr lang="en-US" sz="1200" b="0" i="0">
                                    <a:latin typeface="Cambria Math" panose="02040503050406030204" pitchFamily="18" charset="0"/>
                                  </a:rPr>
                                  <m:t>−0.2162</m:t>
                                </m:r>
                              </m:e>
                            </m:mr>
                            <m:mr>
                              <m:e>
                                <m:r>
                                  <a:rPr lang="en-US" sz="1200" b="0" i="0">
                                    <a:latin typeface="Cambria Math" panose="02040503050406030204" pitchFamily="18" charset="0"/>
                                  </a:rPr>
                                  <m:t>0.2159</m:t>
                                </m:r>
                              </m:e>
                              <m:e>
                                <m:r>
                                  <a:rPr lang="en-US" sz="1200" b="0" i="0">
                                    <a:latin typeface="Cambria Math" panose="02040503050406030204" pitchFamily="18" charset="0"/>
                                  </a:rPr>
                                  <m:t>−0.2162</m:t>
                                </m:r>
                              </m:e>
                              <m:e>
                                <m:r>
                                  <a:rPr lang="en-US" sz="1200" b="0" i="0">
                                    <a:latin typeface="Cambria Math" panose="02040503050406030204" pitchFamily="18" charset="0"/>
                                  </a:rPr>
                                  <m:t>0.2165</m:t>
                                </m:r>
                              </m:e>
                              <m:e>
                                <m:r>
                                  <a:rPr lang="en-US" sz="1200" b="0" i="0">
                                    <a:latin typeface="Cambria Math" panose="02040503050406030204" pitchFamily="18" charset="0"/>
                                  </a:rPr>
                                  <m:t>−0.2176</m:t>
                                </m:r>
                              </m:e>
                              <m:e>
                                <m:r>
                                  <a:rPr lang="en-US" sz="1200" b="0" i="0">
                                    <a:latin typeface="Cambria Math" panose="02040503050406030204" pitchFamily="18" charset="0"/>
                                  </a:rPr>
                                  <m:t>0.0010</m:t>
                                </m:r>
                              </m:e>
                              <m:e>
                                <m:r>
                                  <a:rPr lang="en-US" sz="1200" b="0" i="0">
                                    <a:latin typeface="Cambria Math" panose="02040503050406030204" pitchFamily="18" charset="0"/>
                                  </a:rPr>
                                  <m:t>−0.0003</m:t>
                                </m:r>
                              </m:e>
                            </m:mr>
                          </m:m>
                        </m:e>
                      </m:d>
                    </m:oMath>
                  </m:oMathPara>
                </a14:m>
                <a:endParaRPr lang="en-US" sz="1100" dirty="0"/>
              </a:p>
            </p:txBody>
          </p:sp>
        </mc:Choice>
        <mc:Fallback xmlns="">
          <p:sp>
            <p:nvSpPr>
              <p:cNvPr id="54" name="ZP_e_bias"/>
              <p:cNvSpPr txBox="1">
                <a:spLocks noRot="1" noChangeAspect="1" noMove="1" noResize="1" noEditPoints="1" noAdjustHandles="1" noChangeArrowheads="1" noChangeShapeType="1" noTextEdit="1"/>
              </p:cNvSpPr>
              <p:nvPr/>
            </p:nvSpPr>
            <p:spPr>
              <a:xfrm>
                <a:off x="-168970" y="5946040"/>
                <a:ext cx="5235787" cy="566928"/>
              </a:xfrm>
              <a:prstGeom prst="rect">
                <a:avLst/>
              </a:prstGeom>
              <a:blipFill>
                <a:blip r:embed="rId4"/>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098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5" name="群組 44">
            <a:extLst>
              <a:ext uri="{FF2B5EF4-FFF2-40B4-BE49-F238E27FC236}">
                <a16:creationId xmlns:a16="http://schemas.microsoft.com/office/drawing/2014/main" id="{A3D947F2-8229-4806-BE45-32E5E6615941}"/>
              </a:ext>
            </a:extLst>
          </p:cNvPr>
          <p:cNvGrpSpPr/>
          <p:nvPr/>
        </p:nvGrpSpPr>
        <p:grpSpPr>
          <a:xfrm>
            <a:off x="276145" y="3891300"/>
            <a:ext cx="4798671" cy="2144835"/>
            <a:chOff x="309729" y="3931595"/>
            <a:chExt cx="4798671" cy="2144835"/>
          </a:xfrm>
        </p:grpSpPr>
        <p:pic>
          <p:nvPicPr>
            <p:cNvPr id="44" name="圖片 43">
              <a:extLst>
                <a:ext uri="{FF2B5EF4-FFF2-40B4-BE49-F238E27FC236}">
                  <a16:creationId xmlns:a16="http://schemas.microsoft.com/office/drawing/2014/main" id="{FC5D0334-2399-4A8B-9F65-C21D179B7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252" y="3931595"/>
              <a:ext cx="4595095" cy="1912142"/>
            </a:xfrm>
            <a:prstGeom prst="rect">
              <a:avLst/>
            </a:prstGeom>
          </p:spPr>
        </p:pic>
        <p:grpSp>
          <p:nvGrpSpPr>
            <p:cNvPr id="20" name="群組 19">
              <a:extLst>
                <a:ext uri="{FF2B5EF4-FFF2-40B4-BE49-F238E27FC236}">
                  <a16:creationId xmlns:a16="http://schemas.microsoft.com/office/drawing/2014/main" id="{06015091-5680-4CA7-94EE-CCD4D232374B}"/>
                </a:ext>
              </a:extLst>
            </p:cNvPr>
            <p:cNvGrpSpPr/>
            <p:nvPr/>
          </p:nvGrpSpPr>
          <p:grpSpPr>
            <a:xfrm>
              <a:off x="309729" y="4186477"/>
              <a:ext cx="4798671" cy="1889953"/>
              <a:chOff x="2740425" y="4108197"/>
              <a:chExt cx="4389992" cy="1669711"/>
            </a:xfrm>
          </p:grpSpPr>
          <p:grpSp>
            <p:nvGrpSpPr>
              <p:cNvPr id="19" name="群組 18">
                <a:extLst>
                  <a:ext uri="{FF2B5EF4-FFF2-40B4-BE49-F238E27FC236}">
                    <a16:creationId xmlns:a16="http://schemas.microsoft.com/office/drawing/2014/main" id="{61BCF2E1-081B-4366-95C9-547A338F5AA5}"/>
                  </a:ext>
                </a:extLst>
              </p:cNvPr>
              <p:cNvGrpSpPr/>
              <p:nvPr/>
            </p:nvGrpSpPr>
            <p:grpSpPr>
              <a:xfrm>
                <a:off x="2841595" y="4206736"/>
                <a:ext cx="4288822" cy="1571172"/>
                <a:chOff x="2841595" y="4206736"/>
                <a:chExt cx="4288822" cy="1571172"/>
              </a:xfrm>
            </p:grpSpPr>
            <p:sp>
              <p:nvSpPr>
                <p:cNvPr id="9" name="矩形 8">
                  <a:extLst>
                    <a:ext uri="{FF2B5EF4-FFF2-40B4-BE49-F238E27FC236}">
                      <a16:creationId xmlns:a16="http://schemas.microsoft.com/office/drawing/2014/main" id="{F5B0EBB1-6AB8-48EE-BC7C-3B87A1F01F92}"/>
                    </a:ext>
                  </a:extLst>
                </p:cNvPr>
                <p:cNvSpPr/>
                <p:nvPr/>
              </p:nvSpPr>
              <p:spPr>
                <a:xfrm rot="16200000">
                  <a:off x="4612414" y="4609270"/>
                  <a:ext cx="950411" cy="1453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39A8314-EAC6-4F5A-BED0-BFEBA3939728}"/>
                    </a:ext>
                  </a:extLst>
                </p:cNvPr>
                <p:cNvSpPr/>
                <p:nvPr/>
              </p:nvSpPr>
              <p:spPr>
                <a:xfrm>
                  <a:off x="5085716" y="5468474"/>
                  <a:ext cx="2044701"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89AC422D-71C0-4090-ABCE-0B69D83E54AC}"/>
                    </a:ext>
                  </a:extLst>
                </p:cNvPr>
                <p:cNvSpPr/>
                <p:nvPr/>
              </p:nvSpPr>
              <p:spPr>
                <a:xfrm>
                  <a:off x="2938300" y="5452561"/>
                  <a:ext cx="2076646" cy="215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3EA903BB-C827-4FD7-88CD-461937614CB9}"/>
                    </a:ext>
                  </a:extLst>
                </p:cNvPr>
                <p:cNvSpPr/>
                <p:nvPr/>
              </p:nvSpPr>
              <p:spPr>
                <a:xfrm rot="5400000">
                  <a:off x="2463612" y="4647256"/>
                  <a:ext cx="879730" cy="1237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87081C-210E-415F-A6F2-E8AE31E2131C}"/>
                      </a:ext>
                    </a:extLst>
                  </p:cNvPr>
                  <p:cNvSpPr txBox="1"/>
                  <p:nvPr/>
                </p:nvSpPr>
                <p:spPr>
                  <a:xfrm>
                    <a:off x="3063776" y="5429900"/>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3063776" y="5429900"/>
                    <a:ext cx="1825693" cy="215444"/>
                  </a:xfrm>
                  <a:prstGeom prst="rect">
                    <a:avLst/>
                  </a:prstGeom>
                  <a:blipFill>
                    <a:blip r:embed="rId3"/>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1D18A8-F93B-4D42-A49A-87F8D1B61E60}"/>
                      </a:ext>
                    </a:extLst>
                  </p:cNvPr>
                  <p:cNvSpPr txBox="1"/>
                  <p:nvPr/>
                </p:nvSpPr>
                <p:spPr>
                  <a:xfrm>
                    <a:off x="5281623" y="5428080"/>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5281623" y="5428080"/>
                    <a:ext cx="1825693" cy="215444"/>
                  </a:xfrm>
                  <a:prstGeom prst="rect">
                    <a:avLst/>
                  </a:prstGeom>
                  <a:blipFill>
                    <a:blip r:embed="rId4"/>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7094952-35E6-43E5-BE17-A85B6FDD4727}"/>
                      </a:ext>
                    </a:extLst>
                  </p:cNvPr>
                  <p:cNvSpPr txBox="1"/>
                  <p:nvPr/>
                </p:nvSpPr>
                <p:spPr>
                  <a:xfrm rot="16200000">
                    <a:off x="2257401" y="4591221"/>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6" name="文字方塊 15">
                    <a:extLst>
                      <a:ext uri="{FF2B5EF4-FFF2-40B4-BE49-F238E27FC236}">
                        <a16:creationId xmlns:a16="http://schemas.microsoft.com/office/drawing/2014/main" id="{C7094952-35E6-43E5-BE17-A85B6FDD4727}"/>
                      </a:ext>
                    </a:extLst>
                  </p:cNvPr>
                  <p:cNvSpPr txBox="1">
                    <a:spLocks noRot="1" noChangeAspect="1" noMove="1" noResize="1" noEditPoints="1" noAdjustHandles="1" noChangeArrowheads="1" noChangeShapeType="1" noTextEdit="1"/>
                  </p:cNvSpPr>
                  <p:nvPr/>
                </p:nvSpPr>
                <p:spPr>
                  <a:xfrm rot="16200000">
                    <a:off x="2257401" y="4591221"/>
                    <a:ext cx="1192585" cy="226537"/>
                  </a:xfrm>
                  <a:prstGeom prst="rect">
                    <a:avLst/>
                  </a:prstGeom>
                  <a:blipFill>
                    <a:blip r:embed="rId5"/>
                    <a:stretch>
                      <a:fillRect l="-21951" r="-195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F01E71D-583C-4777-894D-8568132157A9}"/>
                      </a:ext>
                    </a:extLst>
                  </p:cNvPr>
                  <p:cNvSpPr txBox="1"/>
                  <p:nvPr/>
                </p:nvSpPr>
                <p:spPr>
                  <a:xfrm rot="16200000">
                    <a:off x="4579532" y="4565067"/>
                    <a:ext cx="950408" cy="2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17" name="文字方塊 16">
                    <a:extLst>
                      <a:ext uri="{FF2B5EF4-FFF2-40B4-BE49-F238E27FC236}">
                        <a16:creationId xmlns:a16="http://schemas.microsoft.com/office/drawing/2014/main" id="{CF01E71D-583C-4777-894D-8568132157A9}"/>
                      </a:ext>
                    </a:extLst>
                  </p:cNvPr>
                  <p:cNvSpPr txBox="1">
                    <a:spLocks noRot="1" noChangeAspect="1" noMove="1" noResize="1" noEditPoints="1" noAdjustHandles="1" noChangeArrowheads="1" noChangeShapeType="1" noTextEdit="1"/>
                  </p:cNvSpPr>
                  <p:nvPr/>
                </p:nvSpPr>
                <p:spPr>
                  <a:xfrm rot="16200000">
                    <a:off x="4579532" y="4565067"/>
                    <a:ext cx="950408" cy="221040"/>
                  </a:xfrm>
                  <a:prstGeom prst="rect">
                    <a:avLst/>
                  </a:prstGeom>
                  <a:blipFill>
                    <a:blip r:embed="rId6"/>
                    <a:stretch>
                      <a:fillRect l="-127500" t="-28249" r="-212500"/>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9E37473-7A2F-4A05-A742-3A32544C9789}"/>
                  </a:ext>
                </a:extLst>
              </p:cNvPr>
              <p:cNvSpPr txBox="1"/>
              <p:nvPr/>
            </p:nvSpPr>
            <p:spPr>
              <a:xfrm>
                <a:off x="0" y="574720"/>
                <a:ext cx="11722945" cy="2369816"/>
              </a:xfrm>
              <a:prstGeom prst="rect">
                <a:avLst/>
              </a:prstGeom>
              <a:noFill/>
            </p:spPr>
            <p:txBody>
              <a:bodyPr wrap="square">
                <a:spAutoFit/>
              </a:bodyPr>
              <a:lstStyle/>
              <a:p>
                <a:pPr marL="285750" indent="-285750">
                  <a:buFont typeface="Wingdings" panose="05000000000000000000" pitchFamily="2" charset="2"/>
                  <a:buChar char="l"/>
                </a:pPr>
                <a:r>
                  <a:rPr lang="en-US" altLang="zh-TW" dirty="0"/>
                  <a:t>This figure shows the trends of the calibration results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for </a:t>
                </a:r>
                <a:r>
                  <a:rPr lang="en-US" altLang="zh-TW" b="1" dirty="0"/>
                  <a:t>Long-Fei and </a:t>
                </a:r>
                <a:r>
                  <a:rPr lang="en-US" altLang="zh-TW" b="1" dirty="0" err="1"/>
                  <a:t>Zhi</a:t>
                </a:r>
                <a:r>
                  <a:rPr lang="en-US" altLang="zh-TW" b="1" dirty="0"/>
                  <a:t>-Peng</a:t>
                </a:r>
                <a:r>
                  <a:rPr lang="en-US" altLang="zh-TW" dirty="0"/>
                  <a:t>, using the </a:t>
                </a:r>
                <a:r>
                  <a:rPr lang="en-US" altLang="zh-TW" b="1" dirty="0"/>
                  <a:t>minimum number of points required for each working range</a:t>
                </a:r>
                <a:r>
                  <a:rPr lang="en-US" altLang="zh-TW" dirty="0"/>
                  <a:t>.</a:t>
                </a:r>
              </a:p>
              <a:p>
                <a:pPr marL="285750" indent="-285750">
                  <a:buFont typeface="Wingdings" panose="05000000000000000000" pitchFamily="2" charset="2"/>
                  <a:buChar char="l"/>
                </a:pPr>
                <a:r>
                  <a:rPr lang="en-US" altLang="zh-TW" dirty="0"/>
                  <a:t>If no convergence point can be found within a given range for either the </a:t>
                </a:r>
                <a:r>
                  <a:rPr lang="en-US" altLang="zh-TW" b="1" dirty="0"/>
                  <a:t>single-parameter model</a:t>
                </a:r>
                <a:r>
                  <a:rPr lang="en-US" altLang="zh-TW" dirty="0"/>
                  <a:t> or the </a:t>
                </a:r>
                <a:r>
                  <a:rPr lang="en-US" altLang="zh-TW" b="1" dirty="0"/>
                  <a:t>eighteen-parameter model</a:t>
                </a:r>
                <a:r>
                  <a:rPr lang="en-US" altLang="zh-TW" dirty="0"/>
                  <a:t>, all nodes within that range are used for calibration instead. </a:t>
                </a:r>
                <a:r>
                  <a:rPr lang="en-US" altLang="zh-TW" b="1" dirty="0"/>
                  <a:t>This is used only to illustrate the trend, and the values within that range are not used as a basis for calibration.</a:t>
                </a:r>
              </a:p>
              <a:p>
                <a:pPr marL="285750" indent="-285750">
                  <a:buFont typeface="Wingdings" panose="05000000000000000000" pitchFamily="2" charset="2"/>
                  <a:buChar char="l"/>
                </a:pPr>
                <a:endParaRPr lang="en-US" altLang="zh-TW" b="1" dirty="0"/>
              </a:p>
              <a:p>
                <a:pPr marL="285750" indent="-285750">
                  <a:buFont typeface="Wingdings" panose="05000000000000000000" pitchFamily="2" charset="2"/>
                  <a:buChar char="l"/>
                </a:pPr>
                <a:r>
                  <a:rPr lang="en-US" altLang="zh-TW" dirty="0" err="1"/>
                  <a:t>Zhi</a:t>
                </a:r>
                <a:r>
                  <a:rPr lang="en-US" altLang="zh-TW" dirty="0"/>
                  <a:t>-Peng’s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shows a rebound after 440 </a:t>
                </a:r>
                <a:r>
                  <a:rPr lang="en-US" altLang="zh-TW" dirty="0" err="1"/>
                  <a:t>μm</a:t>
                </a:r>
                <a:r>
                  <a:rPr lang="en-US" altLang="zh-TW" dirty="0"/>
                  <a:t>. This occurs because, beyond this range, the workspace extends outside the magnetic poles, moreover, the region beyond 440 </a:t>
                </a:r>
                <a:r>
                  <a:rPr lang="en-US" altLang="zh-TW" dirty="0" err="1"/>
                  <a:t>μm</a:t>
                </a:r>
                <a:r>
                  <a:rPr lang="en-US" altLang="zh-TW" dirty="0"/>
                  <a:t> is no longer considered a valid workspace.</a:t>
                </a:r>
              </a:p>
            </p:txBody>
          </p:sp>
        </mc:Choice>
        <mc:Fallback xmlns="">
          <p:sp>
            <p:nvSpPr>
              <p:cNvPr id="24" name="文字方塊 23">
                <a:extLst>
                  <a:ext uri="{FF2B5EF4-FFF2-40B4-BE49-F238E27FC236}">
                    <a16:creationId xmlns:a16="http://schemas.microsoft.com/office/drawing/2014/main" id="{B9E37473-7A2F-4A05-A742-3A32544C9789}"/>
                  </a:ext>
                </a:extLst>
              </p:cNvPr>
              <p:cNvSpPr txBox="1">
                <a:spLocks noRot="1" noChangeAspect="1" noMove="1" noResize="1" noEditPoints="1" noAdjustHandles="1" noChangeArrowheads="1" noChangeShapeType="1" noTextEdit="1"/>
              </p:cNvSpPr>
              <p:nvPr/>
            </p:nvSpPr>
            <p:spPr>
              <a:xfrm>
                <a:off x="0" y="574720"/>
                <a:ext cx="11722945" cy="2369816"/>
              </a:xfrm>
              <a:prstGeom prst="rect">
                <a:avLst/>
              </a:prstGeom>
              <a:blipFill>
                <a:blip r:embed="rId7"/>
                <a:stretch>
                  <a:fillRect l="-312" t="-257" b="-2314"/>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A1506DC-3DFA-49FB-A652-CF9232BDCE5B}"/>
              </a:ext>
            </a:extLst>
          </p:cNvPr>
          <p:cNvSpPr txBox="1"/>
          <p:nvPr/>
        </p:nvSpPr>
        <p:spPr>
          <a:xfrm>
            <a:off x="172456" y="3429000"/>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26" name="文字方塊 25">
            <a:extLst>
              <a:ext uri="{FF2B5EF4-FFF2-40B4-BE49-F238E27FC236}">
                <a16:creationId xmlns:a16="http://schemas.microsoft.com/office/drawing/2014/main" id="{B1117A74-E07B-4040-B287-EBE1D09422F7}"/>
              </a:ext>
            </a:extLst>
          </p:cNvPr>
          <p:cNvSpPr txBox="1"/>
          <p:nvPr/>
        </p:nvSpPr>
        <p:spPr>
          <a:xfrm>
            <a:off x="5297294" y="3429000"/>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48" name="群組 47">
            <a:extLst>
              <a:ext uri="{FF2B5EF4-FFF2-40B4-BE49-F238E27FC236}">
                <a16:creationId xmlns:a16="http://schemas.microsoft.com/office/drawing/2014/main" id="{FA179B73-C201-4EF3-8F5F-F65C02FAEF25}"/>
              </a:ext>
            </a:extLst>
          </p:cNvPr>
          <p:cNvGrpSpPr/>
          <p:nvPr/>
        </p:nvGrpSpPr>
        <p:grpSpPr>
          <a:xfrm>
            <a:off x="6076974" y="3899767"/>
            <a:ext cx="4973673" cy="2106757"/>
            <a:chOff x="6076974" y="3899767"/>
            <a:chExt cx="4973673" cy="2106757"/>
          </a:xfrm>
        </p:grpSpPr>
        <p:pic>
          <p:nvPicPr>
            <p:cNvPr id="47" name="圖片 46">
              <a:extLst>
                <a:ext uri="{FF2B5EF4-FFF2-40B4-BE49-F238E27FC236}">
                  <a16:creationId xmlns:a16="http://schemas.microsoft.com/office/drawing/2014/main" id="{9582F202-42D5-4F9B-A7F7-7E3D8097E16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00862" y="3899767"/>
              <a:ext cx="4849785" cy="2018125"/>
            </a:xfrm>
            <a:prstGeom prst="rect">
              <a:avLst/>
            </a:prstGeom>
          </p:spPr>
        </p:pic>
        <p:grpSp>
          <p:nvGrpSpPr>
            <p:cNvPr id="30" name="群組 29">
              <a:extLst>
                <a:ext uri="{FF2B5EF4-FFF2-40B4-BE49-F238E27FC236}">
                  <a16:creationId xmlns:a16="http://schemas.microsoft.com/office/drawing/2014/main" id="{99E29170-BDE8-45BB-BB9C-94ADBE69F77B}"/>
                </a:ext>
              </a:extLst>
            </p:cNvPr>
            <p:cNvGrpSpPr/>
            <p:nvPr/>
          </p:nvGrpSpPr>
          <p:grpSpPr>
            <a:xfrm>
              <a:off x="6076974" y="4159086"/>
              <a:ext cx="4973673" cy="1847438"/>
              <a:chOff x="6113680" y="2940075"/>
              <a:chExt cx="4973673" cy="1847438"/>
            </a:xfrm>
          </p:grpSpPr>
          <p:grpSp>
            <p:nvGrpSpPr>
              <p:cNvPr id="29" name="群組 28">
                <a:extLst>
                  <a:ext uri="{FF2B5EF4-FFF2-40B4-BE49-F238E27FC236}">
                    <a16:creationId xmlns:a16="http://schemas.microsoft.com/office/drawing/2014/main" id="{78B83DBC-958B-4296-99D3-39147EB47BBC}"/>
                  </a:ext>
                </a:extLst>
              </p:cNvPr>
              <p:cNvGrpSpPr/>
              <p:nvPr/>
            </p:nvGrpSpPr>
            <p:grpSpPr>
              <a:xfrm>
                <a:off x="6183506" y="3153826"/>
                <a:ext cx="4857507" cy="1592411"/>
                <a:chOff x="6183506" y="3153826"/>
                <a:chExt cx="4857507" cy="1592411"/>
              </a:xfrm>
            </p:grpSpPr>
            <p:sp>
              <p:nvSpPr>
                <p:cNvPr id="28" name="矩形 27">
                  <a:extLst>
                    <a:ext uri="{FF2B5EF4-FFF2-40B4-BE49-F238E27FC236}">
                      <a16:creationId xmlns:a16="http://schemas.microsoft.com/office/drawing/2014/main" id="{A2E1A4B1-2FAB-4A01-9344-D9C1A234839B}"/>
                    </a:ext>
                  </a:extLst>
                </p:cNvPr>
                <p:cNvSpPr/>
                <p:nvPr/>
              </p:nvSpPr>
              <p:spPr>
                <a:xfrm>
                  <a:off x="6183506" y="3161961"/>
                  <a:ext cx="177800" cy="880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64AD7295-A762-4DDB-ABCA-AC0546CF09E8}"/>
                    </a:ext>
                  </a:extLst>
                </p:cNvPr>
                <p:cNvSpPr/>
                <p:nvPr/>
              </p:nvSpPr>
              <p:spPr>
                <a:xfrm rot="5400000">
                  <a:off x="7533386" y="3812957"/>
                  <a:ext cx="161309" cy="1705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D646CE7E-99BA-4CE0-A636-6DC8B9E1C9B2}"/>
                    </a:ext>
                  </a:extLst>
                </p:cNvPr>
                <p:cNvSpPr/>
                <p:nvPr/>
              </p:nvSpPr>
              <p:spPr>
                <a:xfrm rot="5400000">
                  <a:off x="10041106" y="3732995"/>
                  <a:ext cx="147973" cy="1851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975E40F1-46D3-4536-9403-05CD76B172B7}"/>
                    </a:ext>
                  </a:extLst>
                </p:cNvPr>
                <p:cNvSpPr/>
                <p:nvPr/>
              </p:nvSpPr>
              <p:spPr>
                <a:xfrm>
                  <a:off x="8678333" y="3153826"/>
                  <a:ext cx="177800" cy="800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34EE9EBD-9191-4518-8A53-87D33DB4E841}"/>
                      </a:ext>
                    </a:extLst>
                  </p:cNvPr>
                  <p:cNvSpPr txBox="1"/>
                  <p:nvPr/>
                </p:nvSpPr>
                <p:spPr>
                  <a:xfrm>
                    <a:off x="6630639" y="4543651"/>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35" name="文字方塊 34">
                    <a:extLst>
                      <a:ext uri="{FF2B5EF4-FFF2-40B4-BE49-F238E27FC236}">
                        <a16:creationId xmlns:a16="http://schemas.microsoft.com/office/drawing/2014/main" id="{34EE9EBD-9191-4518-8A53-87D33DB4E841}"/>
                      </a:ext>
                    </a:extLst>
                  </p:cNvPr>
                  <p:cNvSpPr txBox="1">
                    <a:spLocks noRot="1" noChangeAspect="1" noMove="1" noResize="1" noEditPoints="1" noAdjustHandles="1" noChangeArrowheads="1" noChangeShapeType="1" noTextEdit="1"/>
                  </p:cNvSpPr>
                  <p:nvPr/>
                </p:nvSpPr>
                <p:spPr>
                  <a:xfrm>
                    <a:off x="6630639" y="4543651"/>
                    <a:ext cx="1995653" cy="243862"/>
                  </a:xfrm>
                  <a:prstGeom prst="rect">
                    <a:avLst/>
                  </a:prstGeom>
                  <a:blipFill>
                    <a:blip r:embed="rId4"/>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C6F440E5-2FB8-4033-BA97-698A0B685A33}"/>
                      </a:ext>
                    </a:extLst>
                  </p:cNvPr>
                  <p:cNvSpPr txBox="1"/>
                  <p:nvPr/>
                </p:nvSpPr>
                <p:spPr>
                  <a:xfrm>
                    <a:off x="9091700" y="4536984"/>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36" name="文字方塊 35">
                    <a:extLst>
                      <a:ext uri="{FF2B5EF4-FFF2-40B4-BE49-F238E27FC236}">
                        <a16:creationId xmlns:a16="http://schemas.microsoft.com/office/drawing/2014/main" id="{C6F440E5-2FB8-4033-BA97-698A0B685A33}"/>
                      </a:ext>
                    </a:extLst>
                  </p:cNvPr>
                  <p:cNvSpPr txBox="1">
                    <a:spLocks noRot="1" noChangeAspect="1" noMove="1" noResize="1" noEditPoints="1" noAdjustHandles="1" noChangeArrowheads="1" noChangeShapeType="1" noTextEdit="1"/>
                  </p:cNvSpPr>
                  <p:nvPr/>
                </p:nvSpPr>
                <p:spPr>
                  <a:xfrm>
                    <a:off x="9091700" y="4536984"/>
                    <a:ext cx="1995653" cy="243862"/>
                  </a:xfrm>
                  <a:prstGeom prst="rect">
                    <a:avLst/>
                  </a:prstGeom>
                  <a:blipFill>
                    <a:blip r:embed="rId9"/>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212CB569-B16A-494F-B833-A667D8AEDD89}"/>
                      </a:ext>
                    </a:extLst>
                  </p:cNvPr>
                  <p:cNvSpPr txBox="1"/>
                  <p:nvPr/>
                </p:nvSpPr>
                <p:spPr>
                  <a:xfrm rot="16200000">
                    <a:off x="5562547" y="3491208"/>
                    <a:ext cx="1349892" cy="2476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7" name="文字方塊 36">
                    <a:extLst>
                      <a:ext uri="{FF2B5EF4-FFF2-40B4-BE49-F238E27FC236}">
                        <a16:creationId xmlns:a16="http://schemas.microsoft.com/office/drawing/2014/main" id="{212CB569-B16A-494F-B833-A667D8AEDD89}"/>
                      </a:ext>
                    </a:extLst>
                  </p:cNvPr>
                  <p:cNvSpPr txBox="1">
                    <a:spLocks noRot="1" noChangeAspect="1" noMove="1" noResize="1" noEditPoints="1" noAdjustHandles="1" noChangeArrowheads="1" noChangeShapeType="1" noTextEdit="1"/>
                  </p:cNvSpPr>
                  <p:nvPr/>
                </p:nvSpPr>
                <p:spPr>
                  <a:xfrm rot="16200000">
                    <a:off x="5562547" y="3491208"/>
                    <a:ext cx="1349892" cy="247626"/>
                  </a:xfrm>
                  <a:prstGeom prst="rect">
                    <a:avLst/>
                  </a:prstGeom>
                  <a:blipFill>
                    <a:blip r:embed="rId10"/>
                    <a:stretch>
                      <a:fillRect l="-24390" r="-170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F00F6D9-F022-45AB-8A84-EF2854F4829E}"/>
                      </a:ext>
                    </a:extLst>
                  </p:cNvPr>
                  <p:cNvSpPr txBox="1"/>
                  <p:nvPr/>
                </p:nvSpPr>
                <p:spPr>
                  <a:xfrm rot="16200000">
                    <a:off x="8209215" y="3569009"/>
                    <a:ext cx="1075771" cy="2416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8" name="文字方塊 37">
                    <a:extLst>
                      <a:ext uri="{FF2B5EF4-FFF2-40B4-BE49-F238E27FC236}">
                        <a16:creationId xmlns:a16="http://schemas.microsoft.com/office/drawing/2014/main" id="{BF00F6D9-F022-45AB-8A84-EF2854F4829E}"/>
                      </a:ext>
                    </a:extLst>
                  </p:cNvPr>
                  <p:cNvSpPr txBox="1">
                    <a:spLocks noRot="1" noChangeAspect="1" noMove="1" noResize="1" noEditPoints="1" noAdjustHandles="1" noChangeArrowheads="1" noChangeShapeType="1" noTextEdit="1"/>
                  </p:cNvSpPr>
                  <p:nvPr/>
                </p:nvSpPr>
                <p:spPr>
                  <a:xfrm rot="16200000">
                    <a:off x="8209215" y="3569009"/>
                    <a:ext cx="1075771" cy="241617"/>
                  </a:xfrm>
                  <a:prstGeom prst="rect">
                    <a:avLst/>
                  </a:prstGeom>
                  <a:blipFill>
                    <a:blip r:embed="rId11"/>
                    <a:stretch>
                      <a:fillRect l="-127500" t="-28409" r="-212500"/>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427831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5" name="群組 4">
            <a:extLst>
              <a:ext uri="{FF2B5EF4-FFF2-40B4-BE49-F238E27FC236}">
                <a16:creationId xmlns:a16="http://schemas.microsoft.com/office/drawing/2014/main" id="{E73C6DB4-FFCE-4B74-A22D-3447285A5BE2}"/>
              </a:ext>
            </a:extLst>
          </p:cNvPr>
          <p:cNvGrpSpPr/>
          <p:nvPr/>
        </p:nvGrpSpPr>
        <p:grpSpPr>
          <a:xfrm>
            <a:off x="7128967" y="2388388"/>
            <a:ext cx="3281223" cy="2819400"/>
            <a:chOff x="7048110" y="2472267"/>
            <a:chExt cx="3281223" cy="2819400"/>
          </a:xfrm>
        </p:grpSpPr>
        <p:sp>
          <p:nvSpPr>
            <p:cNvPr id="3" name="矩形 2">
              <a:extLst>
                <a:ext uri="{FF2B5EF4-FFF2-40B4-BE49-F238E27FC236}">
                  <a16:creationId xmlns:a16="http://schemas.microsoft.com/office/drawing/2014/main" id="{F66BDAD5-FC86-474B-922D-6119A5E142BE}"/>
                </a:ext>
              </a:extLst>
            </p:cNvPr>
            <p:cNvSpPr/>
            <p:nvPr/>
          </p:nvSpPr>
          <p:spPr>
            <a:xfrm>
              <a:off x="8796867" y="4995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4BF8DC2-75C9-420A-9713-1C412FAEB073}"/>
                </a:ext>
              </a:extLst>
            </p:cNvPr>
            <p:cNvSpPr/>
            <p:nvPr/>
          </p:nvSpPr>
          <p:spPr>
            <a:xfrm rot="16200000">
              <a:off x="6430044" y="3090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8" name="群組 17">
            <a:extLst>
              <a:ext uri="{FF2B5EF4-FFF2-40B4-BE49-F238E27FC236}">
                <a16:creationId xmlns:a16="http://schemas.microsoft.com/office/drawing/2014/main" id="{65AA3CA2-3CB0-4F66-B044-6983DCA834E8}"/>
              </a:ext>
            </a:extLst>
          </p:cNvPr>
          <p:cNvGrpSpPr/>
          <p:nvPr/>
        </p:nvGrpSpPr>
        <p:grpSpPr>
          <a:xfrm>
            <a:off x="372815" y="2457712"/>
            <a:ext cx="3188237" cy="2541981"/>
            <a:chOff x="542148" y="2643979"/>
            <a:chExt cx="3188237" cy="2541981"/>
          </a:xfrm>
        </p:grpSpPr>
        <p:pic>
          <p:nvPicPr>
            <p:cNvPr id="16" name="圖片 15">
              <a:extLst>
                <a:ext uri="{FF2B5EF4-FFF2-40B4-BE49-F238E27FC236}">
                  <a16:creationId xmlns:a16="http://schemas.microsoft.com/office/drawing/2014/main" id="{3400B80D-291C-48ED-AEBA-4297351B6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447" y="2643980"/>
              <a:ext cx="3073938" cy="2393813"/>
            </a:xfrm>
            <a:prstGeom prst="rect">
              <a:avLst/>
            </a:prstGeom>
          </p:spPr>
        </p:pic>
        <p:grpSp>
          <p:nvGrpSpPr>
            <p:cNvPr id="14" name="群組 13">
              <a:extLst>
                <a:ext uri="{FF2B5EF4-FFF2-40B4-BE49-F238E27FC236}">
                  <a16:creationId xmlns:a16="http://schemas.microsoft.com/office/drawing/2014/main" id="{2DD737F1-79D0-498C-AD2E-96B6E991F4B2}"/>
                </a:ext>
              </a:extLst>
            </p:cNvPr>
            <p:cNvGrpSpPr/>
            <p:nvPr/>
          </p:nvGrpSpPr>
          <p:grpSpPr>
            <a:xfrm>
              <a:off x="542148" y="2643979"/>
              <a:ext cx="2911894" cy="2541981"/>
              <a:chOff x="7680335" y="1586098"/>
              <a:chExt cx="2911894" cy="2541981"/>
            </a:xfrm>
          </p:grpSpPr>
          <p:grpSp>
            <p:nvGrpSpPr>
              <p:cNvPr id="13" name="群組 12">
                <a:extLst>
                  <a:ext uri="{FF2B5EF4-FFF2-40B4-BE49-F238E27FC236}">
                    <a16:creationId xmlns:a16="http://schemas.microsoft.com/office/drawing/2014/main" id="{9E044CCD-18A9-4ED0-803D-09C25E2DC084}"/>
                  </a:ext>
                </a:extLst>
              </p:cNvPr>
              <p:cNvGrpSpPr/>
              <p:nvPr/>
            </p:nvGrpSpPr>
            <p:grpSpPr>
              <a:xfrm>
                <a:off x="7680335" y="2147782"/>
                <a:ext cx="2620152" cy="1980297"/>
                <a:chOff x="7680335" y="2147782"/>
                <a:chExt cx="2620152" cy="1980297"/>
              </a:xfrm>
            </p:grpSpPr>
            <p:sp>
              <p:nvSpPr>
                <p:cNvPr id="12" name="矩形 11">
                  <a:extLst>
                    <a:ext uri="{FF2B5EF4-FFF2-40B4-BE49-F238E27FC236}">
                      <a16:creationId xmlns:a16="http://schemas.microsoft.com/office/drawing/2014/main" id="{D0CE3E51-43DC-4E17-866A-933141C91C15}"/>
                    </a:ext>
                  </a:extLst>
                </p:cNvPr>
                <p:cNvSpPr/>
                <p:nvPr/>
              </p:nvSpPr>
              <p:spPr>
                <a:xfrm>
                  <a:off x="7680335" y="2147782"/>
                  <a:ext cx="296334" cy="1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F767F21-8108-48BC-9FF8-4D48706CC9E8}"/>
                    </a:ext>
                  </a:extLst>
                </p:cNvPr>
                <p:cNvSpPr/>
                <p:nvPr/>
              </p:nvSpPr>
              <p:spPr>
                <a:xfrm rot="5400000">
                  <a:off x="9376302" y="3203894"/>
                  <a:ext cx="296334" cy="1552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6796352" y="2485471"/>
                    <a:ext cx="213729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ea typeface="Cambria Math" panose="02040503050406030204" pitchFamily="18" charset="0"/>
                            </a:rPr>
                            <m:t>P</m:t>
                          </m:r>
                          <m:r>
                            <m:rPr>
                              <m:sty m:val="p"/>
                            </m:rPr>
                            <a:rPr lang="en-US" altLang="zh-TW" sz="1600" b="0" i="0" smtClean="0">
                              <a:latin typeface="Cambria Math" panose="02040503050406030204" pitchFamily="18" charset="0"/>
                              <a:ea typeface="Cambria Math" panose="02040503050406030204" pitchFamily="18" charset="0"/>
                            </a:rPr>
                            <m:t>redict</m:t>
                          </m:r>
                          <m:r>
                            <a:rPr lang="en-US" altLang="zh-TW" sz="1600" b="0" i="0" smtClean="0">
                              <a:latin typeface="Cambria Math" panose="02040503050406030204" pitchFamily="18" charset="0"/>
                              <a:ea typeface="Cambria Math" panose="02040503050406030204" pitchFamily="18" charset="0"/>
                            </a:rPr>
                            <m:t> </m:t>
                          </m:r>
                          <m:r>
                            <m:rPr>
                              <m:sty m:val="p"/>
                            </m:rPr>
                            <a:rPr lang="en-US" altLang="zh-TW" sz="1600" b="0" i="0" smtClean="0">
                              <a:latin typeface="Cambria Math" panose="02040503050406030204" pitchFamily="18" charset="0"/>
                              <a:ea typeface="Cambria Math" panose="02040503050406030204" pitchFamily="18" charset="0"/>
                            </a:rPr>
                            <m:t>error</m:t>
                          </m:r>
                          <m:r>
                            <a:rPr lang="en-US" altLang="zh-TW" sz="1600" b="0" i="0"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𝑚𝑇</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6796352" y="2485471"/>
                    <a:ext cx="2137299" cy="338554"/>
                  </a:xfrm>
                  <a:prstGeom prst="rect">
                    <a:avLst/>
                  </a:prstGeom>
                  <a:blipFill>
                    <a:blip r:embed="rId3"/>
                    <a:stretch>
                      <a:fillRect r="-1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2506FCA-AD85-4D09-9F6E-FA92DD820306}"/>
                      </a:ext>
                    </a:extLst>
                  </p:cNvPr>
                  <p:cNvSpPr txBox="1"/>
                  <p:nvPr/>
                </p:nvSpPr>
                <p:spPr>
                  <a:xfrm>
                    <a:off x="8456708" y="3831745"/>
                    <a:ext cx="213552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rPr>
                            <m:t>W</m:t>
                          </m:r>
                          <m:r>
                            <m:rPr>
                              <m:sty m:val="p"/>
                            </m:rPr>
                            <a:rPr lang="en-US" altLang="zh-TW" sz="1600">
                              <a:latin typeface="Cambria Math" panose="02040503050406030204" pitchFamily="18" charset="0"/>
                            </a:rPr>
                            <m:t>orkspace</m:t>
                          </m:r>
                          <m:r>
                            <a:rPr lang="en-US" altLang="zh-TW" sz="1600">
                              <a:latin typeface="Cambria Math" panose="02040503050406030204" pitchFamily="18" charset="0"/>
                            </a:rPr>
                            <m:t> </m:t>
                          </m:r>
                          <m:r>
                            <m:rPr>
                              <m:sty m:val="p"/>
                            </m:rPr>
                            <a:rPr lang="en-US" altLang="zh-TW" sz="1600">
                              <a:latin typeface="Cambria Math" panose="02040503050406030204" pitchFamily="18" charset="0"/>
                            </a:rPr>
                            <m:t>radius</m:t>
                          </m:r>
                          <m:r>
                            <a:rPr lang="en-US" altLang="zh-TW" sz="1600" b="0" i="0" smtClean="0">
                              <a:latin typeface="Cambria Math" panose="02040503050406030204" pitchFamily="18" charset="0"/>
                            </a:rPr>
                            <m:t> (</m:t>
                          </m:r>
                          <m:r>
                            <a:rPr lang="zh-TW" altLang="en-US" sz="1600" b="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0" smtClean="0">
                              <a:latin typeface="Cambria Math" panose="02040503050406030204" pitchFamily="18" charset="0"/>
                            </a:rPr>
                            <m:t>)</m:t>
                          </m:r>
                        </m:oMath>
                      </m:oMathPara>
                    </a14:m>
                    <a:endParaRPr lang="zh-TW" altLang="en-US" sz="1600" dirty="0"/>
                  </a:p>
                </p:txBody>
              </p:sp>
            </mc:Choice>
            <mc:Fallback xmlns="">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456708" y="3831745"/>
                    <a:ext cx="2135521" cy="246221"/>
                  </a:xfrm>
                  <a:prstGeom prst="rect">
                    <a:avLst/>
                  </a:prstGeom>
                  <a:blipFill>
                    <a:blip r:embed="rId4"/>
                    <a:stretch>
                      <a:fillRect l="-2000" r="-2857" b="-32500"/>
                    </a:stretch>
                  </a:blipFill>
                </p:spPr>
                <p:txBody>
                  <a:bodyPr/>
                  <a:lstStyle/>
                  <a:p>
                    <a:r>
                      <a:rPr lang="zh-TW" altLang="en-US">
                        <a:noFill/>
                      </a:rPr>
                      <a:t> </a:t>
                    </a:r>
                  </a:p>
                </p:txBody>
              </p:sp>
            </mc:Fallback>
          </mc:AlternateContent>
        </p:grpSp>
      </p:grpSp>
      <p:sp>
        <p:nvSpPr>
          <p:cNvPr id="41" name="auto caption"/>
          <p:cNvSpPr txBox="1"/>
          <p:nvPr/>
        </p:nvSpPr>
        <p:spPr>
          <a:xfrm>
            <a:off x="1" y="699641"/>
            <a:ext cx="11844866" cy="1366226"/>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The calibration side is identical to the previous slide: the same R sweep, the same converged reduced design at each R. What changes is the evaluation: the predict is computed on every real FEM node inside R.</a:t>
            </a:r>
          </a:p>
          <a:p>
            <a:endParaRPr lang="en-US" altLang="zh-TW" dirty="0"/>
          </a:p>
        </p:txBody>
      </p:sp>
      <p:sp>
        <p:nvSpPr>
          <p:cNvPr id="6" name="文字方塊 5">
            <a:extLst>
              <a:ext uri="{FF2B5EF4-FFF2-40B4-BE49-F238E27FC236}">
                <a16:creationId xmlns:a16="http://schemas.microsoft.com/office/drawing/2014/main" id="{12652E72-3406-4432-8BF0-0119B9DB77DB}"/>
              </a:ext>
            </a:extLst>
          </p:cNvPr>
          <p:cNvSpPr txBox="1"/>
          <p:nvPr/>
        </p:nvSpPr>
        <p:spPr>
          <a:xfrm>
            <a:off x="245176" y="1810061"/>
            <a:ext cx="30395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17" name="文字方塊 16">
            <a:extLst>
              <a:ext uri="{FF2B5EF4-FFF2-40B4-BE49-F238E27FC236}">
                <a16:creationId xmlns:a16="http://schemas.microsoft.com/office/drawing/2014/main" id="{E7AB5F81-21C3-48CC-BC07-150DF9DA0D59}"/>
              </a:ext>
            </a:extLst>
          </p:cNvPr>
          <p:cNvSpPr txBox="1"/>
          <p:nvPr/>
        </p:nvSpPr>
        <p:spPr>
          <a:xfrm>
            <a:off x="5922434" y="1857795"/>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23" name="群組 22">
            <a:extLst>
              <a:ext uri="{FF2B5EF4-FFF2-40B4-BE49-F238E27FC236}">
                <a16:creationId xmlns:a16="http://schemas.microsoft.com/office/drawing/2014/main" id="{E2090C20-5C4B-4A7A-8587-551906EFD493}"/>
              </a:ext>
            </a:extLst>
          </p:cNvPr>
          <p:cNvGrpSpPr/>
          <p:nvPr/>
        </p:nvGrpSpPr>
        <p:grpSpPr>
          <a:xfrm>
            <a:off x="5926724" y="2367886"/>
            <a:ext cx="3352743" cy="2576481"/>
            <a:chOff x="5926724" y="2367886"/>
            <a:chExt cx="3352743" cy="2576481"/>
          </a:xfrm>
        </p:grpSpPr>
        <p:grpSp>
          <p:nvGrpSpPr>
            <p:cNvPr id="22" name="群組 21">
              <a:extLst>
                <a:ext uri="{FF2B5EF4-FFF2-40B4-BE49-F238E27FC236}">
                  <a16:creationId xmlns:a16="http://schemas.microsoft.com/office/drawing/2014/main" id="{63DFB3A9-2DCF-43D9-82D7-15699FEC83E7}"/>
                </a:ext>
              </a:extLst>
            </p:cNvPr>
            <p:cNvGrpSpPr/>
            <p:nvPr/>
          </p:nvGrpSpPr>
          <p:grpSpPr>
            <a:xfrm>
              <a:off x="6029623" y="2367886"/>
              <a:ext cx="3249844" cy="2564760"/>
              <a:chOff x="6029623" y="2367886"/>
              <a:chExt cx="3249844" cy="2564760"/>
            </a:xfrm>
          </p:grpSpPr>
          <p:pic>
            <p:nvPicPr>
              <p:cNvPr id="20" name="圖片 19">
                <a:extLst>
                  <a:ext uri="{FF2B5EF4-FFF2-40B4-BE49-F238E27FC236}">
                    <a16:creationId xmlns:a16="http://schemas.microsoft.com/office/drawing/2014/main" id="{04A0C08D-B782-4BAC-BFD5-F394DC5B1B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9623" y="2367886"/>
                <a:ext cx="3249844" cy="2543568"/>
              </a:xfrm>
              <a:prstGeom prst="rect">
                <a:avLst/>
              </a:prstGeom>
            </p:spPr>
          </p:pic>
          <p:sp>
            <p:nvSpPr>
              <p:cNvPr id="21" name="矩形 20">
                <a:extLst>
                  <a:ext uri="{FF2B5EF4-FFF2-40B4-BE49-F238E27FC236}">
                    <a16:creationId xmlns:a16="http://schemas.microsoft.com/office/drawing/2014/main" id="{31CB3A90-5BD7-4CF5-82D9-2301A91E1E82}"/>
                  </a:ext>
                </a:extLst>
              </p:cNvPr>
              <p:cNvSpPr/>
              <p:nvPr/>
            </p:nvSpPr>
            <p:spPr>
              <a:xfrm>
                <a:off x="7180105" y="4766733"/>
                <a:ext cx="1336486" cy="165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5FF63D5A-F320-4CA5-AABD-80BA0EF39FDD}"/>
                  </a:ext>
                </a:extLst>
              </p:cNvPr>
              <p:cNvSpPr/>
              <p:nvPr/>
            </p:nvSpPr>
            <p:spPr>
              <a:xfrm rot="16200000">
                <a:off x="5575020" y="3474002"/>
                <a:ext cx="1109134" cy="199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B6149C6C-5FD2-4FAD-BB35-648BAD90BE8C}"/>
                    </a:ext>
                  </a:extLst>
                </p:cNvPr>
                <p:cNvSpPr txBox="1"/>
                <p:nvPr/>
              </p:nvSpPr>
              <p:spPr>
                <a:xfrm rot="16200000">
                  <a:off x="5027351" y="3319384"/>
                  <a:ext cx="213729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ea typeface="Cambria Math" panose="02040503050406030204" pitchFamily="18" charset="0"/>
                          </a:rPr>
                          <m:t>P</m:t>
                        </m:r>
                        <m:r>
                          <m:rPr>
                            <m:sty m:val="p"/>
                          </m:rPr>
                          <a:rPr lang="en-US" altLang="zh-TW" sz="1600" b="0" i="0" smtClean="0">
                            <a:latin typeface="Cambria Math" panose="02040503050406030204" pitchFamily="18" charset="0"/>
                            <a:ea typeface="Cambria Math" panose="02040503050406030204" pitchFamily="18" charset="0"/>
                          </a:rPr>
                          <m:t>redict</m:t>
                        </m:r>
                        <m:r>
                          <a:rPr lang="en-US" altLang="zh-TW" sz="1600" b="0" i="0" smtClean="0">
                            <a:latin typeface="Cambria Math" panose="02040503050406030204" pitchFamily="18" charset="0"/>
                            <a:ea typeface="Cambria Math" panose="02040503050406030204" pitchFamily="18" charset="0"/>
                          </a:rPr>
                          <m:t> </m:t>
                        </m:r>
                        <m:r>
                          <m:rPr>
                            <m:sty m:val="p"/>
                          </m:rPr>
                          <a:rPr lang="en-US" altLang="zh-TW" sz="1600" b="0" i="0" smtClean="0">
                            <a:latin typeface="Cambria Math" panose="02040503050406030204" pitchFamily="18" charset="0"/>
                            <a:ea typeface="Cambria Math" panose="02040503050406030204" pitchFamily="18" charset="0"/>
                          </a:rPr>
                          <m:t>error</m:t>
                        </m:r>
                        <m:r>
                          <a:rPr lang="en-US" altLang="zh-TW" sz="1600" b="0" i="0"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𝑚𝑇</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6" name="文字方塊 25">
                  <a:extLst>
                    <a:ext uri="{FF2B5EF4-FFF2-40B4-BE49-F238E27FC236}">
                      <a16:creationId xmlns:a16="http://schemas.microsoft.com/office/drawing/2014/main" id="{B6149C6C-5FD2-4FAD-BB35-648BAD90BE8C}"/>
                    </a:ext>
                  </a:extLst>
                </p:cNvPr>
                <p:cNvSpPr txBox="1">
                  <a:spLocks noRot="1" noChangeAspect="1" noMove="1" noResize="1" noEditPoints="1" noAdjustHandles="1" noChangeArrowheads="1" noChangeShapeType="1" noTextEdit="1"/>
                </p:cNvSpPr>
                <p:nvPr/>
              </p:nvSpPr>
              <p:spPr>
                <a:xfrm rot="16200000">
                  <a:off x="5027351" y="3319384"/>
                  <a:ext cx="2137299" cy="338554"/>
                </a:xfrm>
                <a:prstGeom prst="rect">
                  <a:avLst/>
                </a:prstGeom>
                <a:blipFill>
                  <a:blip r:embed="rId6"/>
                  <a:stretch>
                    <a:fillRect r="-89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08F9969-FF92-4564-9352-5CEA74EA8E63}"/>
                    </a:ext>
                  </a:extLst>
                </p:cNvPr>
                <p:cNvSpPr txBox="1"/>
                <p:nvPr/>
              </p:nvSpPr>
              <p:spPr>
                <a:xfrm>
                  <a:off x="6881121" y="4698146"/>
                  <a:ext cx="213552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rPr>
                          <m:t>W</m:t>
                        </m:r>
                        <m:r>
                          <m:rPr>
                            <m:sty m:val="p"/>
                          </m:rPr>
                          <a:rPr lang="en-US" altLang="zh-TW" sz="1600">
                            <a:latin typeface="Cambria Math" panose="02040503050406030204" pitchFamily="18" charset="0"/>
                          </a:rPr>
                          <m:t>orkspace</m:t>
                        </m:r>
                        <m:r>
                          <a:rPr lang="en-US" altLang="zh-TW" sz="1600">
                            <a:latin typeface="Cambria Math" panose="02040503050406030204" pitchFamily="18" charset="0"/>
                          </a:rPr>
                          <m:t> </m:t>
                        </m:r>
                        <m:r>
                          <m:rPr>
                            <m:sty m:val="p"/>
                          </m:rPr>
                          <a:rPr lang="en-US" altLang="zh-TW" sz="1600">
                            <a:latin typeface="Cambria Math" panose="02040503050406030204" pitchFamily="18" charset="0"/>
                          </a:rPr>
                          <m:t>radius</m:t>
                        </m:r>
                        <m:r>
                          <a:rPr lang="en-US" altLang="zh-TW" sz="1600" b="0" i="0" smtClean="0">
                            <a:latin typeface="Cambria Math" panose="02040503050406030204" pitchFamily="18" charset="0"/>
                          </a:rPr>
                          <m:t> (</m:t>
                        </m:r>
                        <m:r>
                          <a:rPr lang="zh-TW" altLang="en-US" sz="1600" b="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0" smtClean="0">
                            <a:latin typeface="Cambria Math" panose="02040503050406030204" pitchFamily="18" charset="0"/>
                          </a:rPr>
                          <m:t>)</m:t>
                        </m:r>
                      </m:oMath>
                    </m:oMathPara>
                  </a14:m>
                  <a:endParaRPr lang="zh-TW" altLang="en-US" sz="1600" dirty="0"/>
                </a:p>
              </p:txBody>
            </p:sp>
          </mc:Choice>
          <mc:Fallback xmlns="">
            <p:sp>
              <p:nvSpPr>
                <p:cNvPr id="27" name="文字方塊 26">
                  <a:extLst>
                    <a:ext uri="{FF2B5EF4-FFF2-40B4-BE49-F238E27FC236}">
                      <a16:creationId xmlns:a16="http://schemas.microsoft.com/office/drawing/2014/main" id="{C08F9969-FF92-4564-9352-5CEA74EA8E63}"/>
                    </a:ext>
                  </a:extLst>
                </p:cNvPr>
                <p:cNvSpPr txBox="1">
                  <a:spLocks noRot="1" noChangeAspect="1" noMove="1" noResize="1" noEditPoints="1" noAdjustHandles="1" noChangeArrowheads="1" noChangeShapeType="1" noTextEdit="1"/>
                </p:cNvSpPr>
                <p:nvPr/>
              </p:nvSpPr>
              <p:spPr>
                <a:xfrm>
                  <a:off x="6881121" y="4698146"/>
                  <a:ext cx="2135521" cy="246221"/>
                </a:xfrm>
                <a:prstGeom prst="rect">
                  <a:avLst/>
                </a:prstGeom>
                <a:blipFill>
                  <a:blip r:embed="rId7"/>
                  <a:stretch>
                    <a:fillRect l="-2000" r="-2857" b="-3250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38644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2" y="595362"/>
                <a:ext cx="12081933" cy="135101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TW" sz="1400" b="1" dirty="0"/>
                  <a:t>This figure shows the fitting results for the FEM nodes within R≤150μm after both models were calibrated over the same region using their respective convergence </a:t>
                </a:r>
                <a:r>
                  <a:rPr lang="en-US" altLang="zh-TW" sz="1400" b="1" dirty="0" err="1"/>
                  <a:t>points</a:t>
                </a:r>
                <a:r>
                  <a:rPr lang="en-US" altLang="zh-TW" sz="1400" dirty="0" err="1"/>
                  <a:t>.This</a:t>
                </a:r>
                <a:r>
                  <a:rPr lang="en-US" altLang="zh-TW" sz="1400"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Wingdings" panose="05000000000000000000" pitchFamily="2" charset="2"/>
                  <a:buChar char="l"/>
                </a:pPr>
                <a:r>
                  <a:rPr lang="en-US" altLang="zh-TW" sz="1400" dirty="0"/>
                  <a:t>Workspace radius:</a:t>
                </a:r>
                <a14:m>
                  <m:oMath xmlns:m="http://schemas.openxmlformats.org/officeDocument/2006/math">
                    <m:r>
                      <a:rPr lang="en-US" altLang="zh-TW" sz="1400" b="0" i="1" smtClean="0">
                        <a:latin typeface="Cambria Math" panose="02040503050406030204" pitchFamily="18" charset="0"/>
                      </a:rPr>
                      <m:t>𝑅</m:t>
                    </m:r>
                    <m:r>
                      <a:rPr lang="en-US" altLang="zh-TW" sz="1400" b="0" i="1" smtClean="0">
                        <a:latin typeface="Cambria Math" panose="02040503050406030204" pitchFamily="18" charset="0"/>
                        <a:ea typeface="Cambria Math" panose="02040503050406030204" pitchFamily="18" charset="0"/>
                      </a:rPr>
                      <m:t>≤150</m:t>
                    </m:r>
                    <m:r>
                      <a:rPr lang="zh-TW" altLang="en-US" sz="1400" b="0" i="1" smtClean="0">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oMath>
                </a14:m>
                <a:endParaRPr lang="zh-TW" altLang="en-US" sz="1400"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2" y="595362"/>
                <a:ext cx="12081933" cy="1351011"/>
              </a:xfrm>
              <a:prstGeom prst="rect">
                <a:avLst/>
              </a:prstGeom>
              <a:blipFill>
                <a:blip r:embed="rId3"/>
                <a:stretch>
                  <a:fillRect l="-50" b="-4072"/>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D2BCDF9D-528A-483B-AC05-A40D79AAA6CB}"/>
              </a:ext>
            </a:extLst>
          </p:cNvPr>
          <p:cNvGrpSpPr/>
          <p:nvPr/>
        </p:nvGrpSpPr>
        <p:grpSpPr>
          <a:xfrm>
            <a:off x="136112" y="2474317"/>
            <a:ext cx="3250803" cy="2661619"/>
            <a:chOff x="280926" y="993884"/>
            <a:chExt cx="3250803" cy="2661619"/>
          </a:xfrm>
        </p:grpSpPr>
        <p:pic>
          <p:nvPicPr>
            <p:cNvPr id="6" name="圖片 5">
              <a:extLst>
                <a:ext uri="{FF2B5EF4-FFF2-40B4-BE49-F238E27FC236}">
                  <a16:creationId xmlns:a16="http://schemas.microsoft.com/office/drawing/2014/main" id="{1231AF64-B8F0-4966-BBD8-6426F09E4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949" y="993884"/>
              <a:ext cx="3139780" cy="2544035"/>
            </a:xfrm>
            <a:prstGeom prst="rect">
              <a:avLst/>
            </a:prstGeom>
          </p:spPr>
        </p:pic>
        <p:grpSp>
          <p:nvGrpSpPr>
            <p:cNvPr id="24" name="群組 23">
              <a:extLst>
                <a:ext uri="{FF2B5EF4-FFF2-40B4-BE49-F238E27FC236}">
                  <a16:creationId xmlns:a16="http://schemas.microsoft.com/office/drawing/2014/main" id="{736B9DAB-E3B5-4F04-9A4C-16D89A3418FB}"/>
                </a:ext>
              </a:extLst>
            </p:cNvPr>
            <p:cNvGrpSpPr/>
            <p:nvPr/>
          </p:nvGrpSpPr>
          <p:grpSpPr>
            <a:xfrm>
              <a:off x="280926" y="1091828"/>
              <a:ext cx="2751701" cy="2563675"/>
              <a:chOff x="672731" y="1311500"/>
              <a:chExt cx="2955842" cy="2714777"/>
            </a:xfrm>
          </p:grpSpPr>
          <p:grpSp>
            <p:nvGrpSpPr>
              <p:cNvPr id="22" name="群組 21">
                <a:extLst>
                  <a:ext uri="{FF2B5EF4-FFF2-40B4-BE49-F238E27FC236}">
                    <a16:creationId xmlns:a16="http://schemas.microsoft.com/office/drawing/2014/main" id="{A4A560D3-71C7-4CB4-8189-12B276A02F3D}"/>
                  </a:ext>
                </a:extLst>
              </p:cNvPr>
              <p:cNvGrpSpPr/>
              <p:nvPr/>
            </p:nvGrpSpPr>
            <p:grpSpPr>
              <a:xfrm>
                <a:off x="672731" y="1714784"/>
                <a:ext cx="2699294" cy="2311493"/>
                <a:chOff x="672731" y="1714784"/>
                <a:chExt cx="2699294" cy="2311493"/>
              </a:xfrm>
            </p:grpSpPr>
            <p:sp>
              <p:nvSpPr>
                <p:cNvPr id="19" name="矩形 18">
                  <a:extLst>
                    <a:ext uri="{FF2B5EF4-FFF2-40B4-BE49-F238E27FC236}">
                      <a16:creationId xmlns:a16="http://schemas.microsoft.com/office/drawing/2014/main" id="{43ED5006-814D-4846-B24D-AE6159A9C482}"/>
                    </a:ext>
                  </a:extLst>
                </p:cNvPr>
                <p:cNvSpPr/>
                <p:nvPr/>
              </p:nvSpPr>
              <p:spPr>
                <a:xfrm>
                  <a:off x="672731" y="1714784"/>
                  <a:ext cx="287866" cy="143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2D0C6A87-3CD1-4B1B-A571-0BAF86B0C5C6}"/>
                    </a:ext>
                  </a:extLst>
                </p:cNvPr>
                <p:cNvSpPr/>
                <p:nvPr/>
              </p:nvSpPr>
              <p:spPr>
                <a:xfrm rot="5400000">
                  <a:off x="2390108" y="3044359"/>
                  <a:ext cx="287866" cy="1675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A2DF51AA-0F9C-4EED-9B62-90FB9ABAA407}"/>
                      </a:ext>
                    </a:extLst>
                  </p:cNvPr>
                  <p:cNvSpPr txBox="1"/>
                  <p:nvPr/>
                </p:nvSpPr>
                <p:spPr>
                  <a:xfrm>
                    <a:off x="1755463" y="3655540"/>
                    <a:ext cx="1873110" cy="2607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Predict</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5" name="文字方塊 24">
                    <a:extLst>
                      <a:ext uri="{FF2B5EF4-FFF2-40B4-BE49-F238E27FC236}">
                        <a16:creationId xmlns:a16="http://schemas.microsoft.com/office/drawing/2014/main" id="{A2DF51AA-0F9C-4EED-9B62-90FB9ABAA407}"/>
                      </a:ext>
                    </a:extLst>
                  </p:cNvPr>
                  <p:cNvSpPr txBox="1">
                    <a:spLocks noRot="1" noChangeAspect="1" noMove="1" noResize="1" noEditPoints="1" noAdjustHandles="1" noChangeArrowheads="1" noChangeShapeType="1" noTextEdit="1"/>
                  </p:cNvSpPr>
                  <p:nvPr/>
                </p:nvSpPr>
                <p:spPr>
                  <a:xfrm>
                    <a:off x="1755463" y="3655540"/>
                    <a:ext cx="1873110" cy="260733"/>
                  </a:xfrm>
                  <a:prstGeom prst="rect">
                    <a:avLst/>
                  </a:prstGeom>
                  <a:blipFill>
                    <a:blip r:embed="rId5"/>
                    <a:stretch>
                      <a:fillRect l="-2448" r="-1049"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958413D-FBA3-41F1-A1D7-B896CB461548}"/>
                      </a:ext>
                    </a:extLst>
                  </p:cNvPr>
                  <p:cNvSpPr txBox="1"/>
                  <p:nvPr/>
                </p:nvSpPr>
                <p:spPr>
                  <a:xfrm rot="16200000">
                    <a:off x="-212113" y="2208033"/>
                    <a:ext cx="2057554" cy="264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6" name="文字方塊 25">
                    <a:extLst>
                      <a:ext uri="{FF2B5EF4-FFF2-40B4-BE49-F238E27FC236}">
                        <a16:creationId xmlns:a16="http://schemas.microsoft.com/office/drawing/2014/main" id="{3958413D-FBA3-41F1-A1D7-B896CB461548}"/>
                      </a:ext>
                    </a:extLst>
                  </p:cNvPr>
                  <p:cNvSpPr txBox="1">
                    <a:spLocks noRot="1" noChangeAspect="1" noMove="1" noResize="1" noEditPoints="1" noAdjustHandles="1" noChangeArrowheads="1" noChangeShapeType="1" noTextEdit="1"/>
                  </p:cNvSpPr>
                  <p:nvPr/>
                </p:nvSpPr>
                <p:spPr>
                  <a:xfrm rot="16200000">
                    <a:off x="-212113" y="2208033"/>
                    <a:ext cx="2057554" cy="264487"/>
                  </a:xfrm>
                  <a:prstGeom prst="rect">
                    <a:avLst/>
                  </a:prstGeom>
                  <a:blipFill>
                    <a:blip r:embed="rId6"/>
                    <a:stretch>
                      <a:fillRect t="-2508" r="-31707" b="-2194"/>
                    </a:stretch>
                  </a:blipFill>
                </p:spPr>
                <p:txBody>
                  <a:bodyPr/>
                  <a:lstStyle/>
                  <a:p>
                    <a:r>
                      <a:rPr lang="zh-TW" altLang="en-US">
                        <a:noFill/>
                      </a:rPr>
                      <a:t> </a:t>
                    </a:r>
                  </a:p>
                </p:txBody>
              </p:sp>
            </mc:Fallback>
          </mc:AlternateContent>
        </p:grpSp>
      </p:grpSp>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1536563465"/>
              </p:ext>
            </p:extLst>
          </p:nvPr>
        </p:nvGraphicFramePr>
        <p:xfrm>
          <a:off x="59267" y="5557074"/>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0.2880mT</a:t>
                      </a:r>
                      <a:endParaRPr lang="zh-TW" altLang="en-US" dirty="0"/>
                    </a:p>
                  </a:txBody>
                  <a:tcPr/>
                </a:tc>
                <a:tc>
                  <a:txBody>
                    <a:bodyPr/>
                    <a:lstStyle/>
                    <a:p>
                      <a:pPr algn="ctr"/>
                      <a:r>
                        <a:rPr lang="en-US" altLang="zh-TW" dirty="0"/>
                        <a:t>0.0301mT</a:t>
                      </a:r>
                      <a:endParaRPr lang="zh-TW" altLang="en-US" dirty="0"/>
                    </a:p>
                  </a:txBody>
                  <a:tcPr/>
                </a:tc>
                <a:extLst>
                  <a:ext uri="{0D108BD9-81ED-4DB2-BD59-A6C34878D82A}">
                    <a16:rowId xmlns:a16="http://schemas.microsoft.com/office/drawing/2014/main" val="2702200097"/>
                  </a:ext>
                </a:extLst>
              </a:tr>
            </a:tbl>
          </a:graphicData>
        </a:graphic>
      </p:graphicFrame>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1142553D-29A4-4C0B-9077-BB416D4C17BA}"/>
                  </a:ext>
                </a:extLst>
              </p:cNvPr>
              <p:cNvSpPr txBox="1"/>
              <p:nvPr/>
            </p:nvSpPr>
            <p:spPr>
              <a:xfrm>
                <a:off x="-2" y="2055648"/>
                <a:ext cx="4182535"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:1771)</a:t>
                </a:r>
                <a:endParaRPr lang="zh-TW" altLang="en-US" dirty="0"/>
              </a:p>
            </p:txBody>
          </p:sp>
        </mc:Choice>
        <mc:Fallback xmlns="">
          <p:sp>
            <p:nvSpPr>
              <p:cNvPr id="4" name="文字方塊 3">
                <a:extLst>
                  <a:ext uri="{FF2B5EF4-FFF2-40B4-BE49-F238E27FC236}">
                    <a16:creationId xmlns:a16="http://schemas.microsoft.com/office/drawing/2014/main" id="{1142553D-29A4-4C0B-9077-BB416D4C17BA}"/>
                  </a:ext>
                </a:extLst>
              </p:cNvPr>
              <p:cNvSpPr txBox="1">
                <a:spLocks noRot="1" noChangeAspect="1" noMove="1" noResize="1" noEditPoints="1" noAdjustHandles="1" noChangeArrowheads="1" noChangeShapeType="1" noTextEdit="1"/>
              </p:cNvSpPr>
              <p:nvPr/>
            </p:nvSpPr>
            <p:spPr>
              <a:xfrm>
                <a:off x="-2" y="2055648"/>
                <a:ext cx="4182535" cy="390748"/>
              </a:xfrm>
              <a:prstGeom prst="rect">
                <a:avLst/>
              </a:prstGeom>
              <a:blipFill>
                <a:blip r:embed="rId7"/>
                <a:stretch>
                  <a:fillRect l="-875" t="-6250"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032F8A4F-A6DD-425A-957D-E730D45A7FFC}"/>
                  </a:ext>
                </a:extLst>
              </p:cNvPr>
              <p:cNvSpPr txBox="1"/>
              <p:nvPr/>
            </p:nvSpPr>
            <p:spPr>
              <a:xfrm>
                <a:off x="5564032" y="2055648"/>
                <a:ext cx="4748367"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:1791)</a:t>
                </a:r>
                <a:endParaRPr lang="zh-TW" altLang="en-US" dirty="0"/>
              </a:p>
            </p:txBody>
          </p:sp>
        </mc:Choice>
        <mc:Fallback xmlns="">
          <p:sp>
            <p:nvSpPr>
              <p:cNvPr id="20" name="文字方塊 19">
                <a:extLst>
                  <a:ext uri="{FF2B5EF4-FFF2-40B4-BE49-F238E27FC236}">
                    <a16:creationId xmlns:a16="http://schemas.microsoft.com/office/drawing/2014/main" id="{032F8A4F-A6DD-425A-957D-E730D45A7FFC}"/>
                  </a:ext>
                </a:extLst>
              </p:cNvPr>
              <p:cNvSpPr txBox="1">
                <a:spLocks noRot="1" noChangeAspect="1" noMove="1" noResize="1" noEditPoints="1" noAdjustHandles="1" noChangeArrowheads="1" noChangeShapeType="1" noTextEdit="1"/>
              </p:cNvSpPr>
              <p:nvPr/>
            </p:nvSpPr>
            <p:spPr>
              <a:xfrm>
                <a:off x="5564032" y="2055648"/>
                <a:ext cx="4748367" cy="390748"/>
              </a:xfrm>
              <a:prstGeom prst="rect">
                <a:avLst/>
              </a:prstGeom>
              <a:blipFill>
                <a:blip r:embed="rId8"/>
                <a:stretch>
                  <a:fillRect l="-899" t="-6250" b="-20313"/>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83C46DA0-26FB-4386-B4A4-2257E4A89D3A}"/>
              </a:ext>
            </a:extLst>
          </p:cNvPr>
          <p:cNvSpPr txBox="1"/>
          <p:nvPr/>
        </p:nvSpPr>
        <p:spPr>
          <a:xfrm>
            <a:off x="-93133" y="5185273"/>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sp>
        <p:nvSpPr>
          <p:cNvPr id="27" name="文字方塊 26">
            <a:extLst>
              <a:ext uri="{FF2B5EF4-FFF2-40B4-BE49-F238E27FC236}">
                <a16:creationId xmlns:a16="http://schemas.microsoft.com/office/drawing/2014/main" id="{04338258-6120-45D6-A40D-58A718F65647}"/>
              </a:ext>
            </a:extLst>
          </p:cNvPr>
          <p:cNvSpPr txBox="1"/>
          <p:nvPr/>
        </p:nvSpPr>
        <p:spPr>
          <a:xfrm>
            <a:off x="5664200" y="5139537"/>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p:graphicFrame>
        <p:nvGraphicFramePr>
          <p:cNvPr id="28" name="表格 14">
            <a:extLst>
              <a:ext uri="{FF2B5EF4-FFF2-40B4-BE49-F238E27FC236}">
                <a16:creationId xmlns:a16="http://schemas.microsoft.com/office/drawing/2014/main" id="{9BC0D067-8E63-4387-9F47-6B1D924C32A7}"/>
              </a:ext>
            </a:extLst>
          </p:cNvPr>
          <p:cNvGraphicFramePr>
            <a:graphicFrameLocks noGrp="1"/>
          </p:cNvGraphicFramePr>
          <p:nvPr>
            <p:extLst>
              <p:ext uri="{D42A27DB-BD31-4B8C-83A1-F6EECF244321}">
                <p14:modId xmlns:p14="http://schemas.microsoft.com/office/powerpoint/2010/main" val="2422088676"/>
              </p:ext>
            </p:extLst>
          </p:nvPr>
        </p:nvGraphicFramePr>
        <p:xfrm>
          <a:off x="5728415" y="5549159"/>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3.0555mT</a:t>
                      </a:r>
                      <a:endParaRPr lang="zh-TW" altLang="en-US" dirty="0"/>
                    </a:p>
                  </a:txBody>
                  <a:tcPr/>
                </a:tc>
                <a:tc>
                  <a:txBody>
                    <a:bodyPr/>
                    <a:lstStyle/>
                    <a:p>
                      <a:pPr algn="ctr"/>
                      <a:r>
                        <a:rPr lang="en-US" altLang="zh-TW" dirty="0"/>
                        <a:t>0.1991mT</a:t>
                      </a:r>
                      <a:endParaRPr lang="zh-TW" altLang="en-US" dirty="0"/>
                    </a:p>
                  </a:txBody>
                  <a:tcPr/>
                </a:tc>
                <a:extLst>
                  <a:ext uri="{0D108BD9-81ED-4DB2-BD59-A6C34878D82A}">
                    <a16:rowId xmlns:a16="http://schemas.microsoft.com/office/drawing/2014/main" val="2702200097"/>
                  </a:ext>
                </a:extLst>
              </a:tr>
            </a:tbl>
          </a:graphicData>
        </a:graphic>
      </p:graphicFrame>
      <p:grpSp>
        <p:nvGrpSpPr>
          <p:cNvPr id="21" name="群組 20">
            <a:extLst>
              <a:ext uri="{FF2B5EF4-FFF2-40B4-BE49-F238E27FC236}">
                <a16:creationId xmlns:a16="http://schemas.microsoft.com/office/drawing/2014/main" id="{D44F999E-8D95-49B7-9F12-0234B4AB9934}"/>
              </a:ext>
            </a:extLst>
          </p:cNvPr>
          <p:cNvGrpSpPr/>
          <p:nvPr/>
        </p:nvGrpSpPr>
        <p:grpSpPr>
          <a:xfrm>
            <a:off x="5742192" y="2430754"/>
            <a:ext cx="3459722" cy="2740825"/>
            <a:chOff x="5742192" y="2430754"/>
            <a:chExt cx="3459722" cy="2740825"/>
          </a:xfrm>
        </p:grpSpPr>
        <p:grpSp>
          <p:nvGrpSpPr>
            <p:cNvPr id="18" name="群組 17">
              <a:extLst>
                <a:ext uri="{FF2B5EF4-FFF2-40B4-BE49-F238E27FC236}">
                  <a16:creationId xmlns:a16="http://schemas.microsoft.com/office/drawing/2014/main" id="{6931D5A7-ACC8-4EE7-8486-2C85374A810D}"/>
                </a:ext>
              </a:extLst>
            </p:cNvPr>
            <p:cNvGrpSpPr/>
            <p:nvPr/>
          </p:nvGrpSpPr>
          <p:grpSpPr>
            <a:xfrm>
              <a:off x="5776072" y="2430754"/>
              <a:ext cx="3425842" cy="2740825"/>
              <a:chOff x="5776072" y="2430754"/>
              <a:chExt cx="3425842" cy="2740825"/>
            </a:xfrm>
          </p:grpSpPr>
          <p:pic>
            <p:nvPicPr>
              <p:cNvPr id="16" name="圖片 15">
                <a:extLst>
                  <a:ext uri="{FF2B5EF4-FFF2-40B4-BE49-F238E27FC236}">
                    <a16:creationId xmlns:a16="http://schemas.microsoft.com/office/drawing/2014/main" id="{7172BED6-340B-4A22-8EF5-584495C6E18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47678" y="2430754"/>
                <a:ext cx="3354236" cy="2717800"/>
              </a:xfrm>
              <a:prstGeom prst="rect">
                <a:avLst/>
              </a:prstGeom>
            </p:spPr>
          </p:pic>
          <p:sp>
            <p:nvSpPr>
              <p:cNvPr id="17" name="矩形 16">
                <a:extLst>
                  <a:ext uri="{FF2B5EF4-FFF2-40B4-BE49-F238E27FC236}">
                    <a16:creationId xmlns:a16="http://schemas.microsoft.com/office/drawing/2014/main" id="{B83CBE7F-4474-4567-A73B-01C32163BF8F}"/>
                  </a:ext>
                </a:extLst>
              </p:cNvPr>
              <p:cNvSpPr/>
              <p:nvPr/>
            </p:nvSpPr>
            <p:spPr>
              <a:xfrm>
                <a:off x="7069667" y="4925358"/>
                <a:ext cx="1269999" cy="2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D02A921D-58AA-4FA2-AC94-92F1D96D61DA}"/>
                  </a:ext>
                </a:extLst>
              </p:cNvPr>
              <p:cNvSpPr/>
              <p:nvPr/>
            </p:nvSpPr>
            <p:spPr>
              <a:xfrm rot="16200000">
                <a:off x="5215640" y="3502879"/>
                <a:ext cx="1367085" cy="2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9CA0D22B-D7A3-4BF1-81EA-A45EB383091B}"/>
                    </a:ext>
                  </a:extLst>
                </p:cNvPr>
                <p:cNvSpPr txBox="1"/>
                <p:nvPr/>
              </p:nvSpPr>
              <p:spPr>
                <a:xfrm>
                  <a:off x="7001933" y="4900447"/>
                  <a:ext cx="17437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Predict</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0" name="文字方塊 29">
                  <a:extLst>
                    <a:ext uri="{FF2B5EF4-FFF2-40B4-BE49-F238E27FC236}">
                      <a16:creationId xmlns:a16="http://schemas.microsoft.com/office/drawing/2014/main" id="{9CA0D22B-D7A3-4BF1-81EA-A45EB383091B}"/>
                    </a:ext>
                  </a:extLst>
                </p:cNvPr>
                <p:cNvSpPr txBox="1">
                  <a:spLocks noRot="1" noChangeAspect="1" noMove="1" noResize="1" noEditPoints="1" noAdjustHandles="1" noChangeArrowheads="1" noChangeShapeType="1" noTextEdit="1"/>
                </p:cNvSpPr>
                <p:nvPr/>
              </p:nvSpPr>
              <p:spPr>
                <a:xfrm>
                  <a:off x="7001933" y="4900447"/>
                  <a:ext cx="1743746" cy="246221"/>
                </a:xfrm>
                <a:prstGeom prst="rect">
                  <a:avLst/>
                </a:prstGeom>
                <a:blipFill>
                  <a:blip r:embed="rId10"/>
                  <a:stretch>
                    <a:fillRect l="-2448" r="-1049" b="-3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810F8E4-06BA-4B75-9E31-F9B423B88DEA}"/>
                    </a:ext>
                  </a:extLst>
                </p:cNvPr>
                <p:cNvSpPr txBox="1"/>
                <p:nvPr/>
              </p:nvSpPr>
              <p:spPr>
                <a:xfrm rot="16200000">
                  <a:off x="4893787" y="3434649"/>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1" name="文字方塊 30">
                  <a:extLst>
                    <a:ext uri="{FF2B5EF4-FFF2-40B4-BE49-F238E27FC236}">
                      <a16:creationId xmlns:a16="http://schemas.microsoft.com/office/drawing/2014/main" id="{6810F8E4-06BA-4B75-9E31-F9B423B88DEA}"/>
                    </a:ext>
                  </a:extLst>
                </p:cNvPr>
                <p:cNvSpPr txBox="1">
                  <a:spLocks noRot="1" noChangeAspect="1" noMove="1" noResize="1" noEditPoints="1" noAdjustHandles="1" noChangeArrowheads="1" noChangeShapeType="1" noTextEdit="1"/>
                </p:cNvSpPr>
                <p:nvPr/>
              </p:nvSpPr>
              <p:spPr>
                <a:xfrm rot="16200000">
                  <a:off x="4893787" y="3434649"/>
                  <a:ext cx="1943032" cy="246221"/>
                </a:xfrm>
                <a:prstGeom prst="rect">
                  <a:avLst/>
                </a:prstGeom>
                <a:blipFill>
                  <a:blip r:embed="rId11"/>
                  <a:stretch>
                    <a:fillRect t="-2508" r="-32500" b="-219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96343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p:grpSp>
        <p:nvGrpSpPr>
          <p:cNvPr id="7" name="群組 6">
            <a:extLst>
              <a:ext uri="{FF2B5EF4-FFF2-40B4-BE49-F238E27FC236}">
                <a16:creationId xmlns:a16="http://schemas.microsoft.com/office/drawing/2014/main" id="{1A57641D-CBE1-4432-8C00-731CC992BCF2}"/>
              </a:ext>
            </a:extLst>
          </p:cNvPr>
          <p:cNvGrpSpPr/>
          <p:nvPr/>
        </p:nvGrpSpPr>
        <p:grpSpPr>
          <a:xfrm>
            <a:off x="753837" y="1687636"/>
            <a:ext cx="3182860" cy="2401605"/>
            <a:chOff x="1340933" y="1869139"/>
            <a:chExt cx="3182860" cy="2401605"/>
          </a:xfrm>
        </p:grpSpPr>
        <p:pic>
          <p:nvPicPr>
            <p:cNvPr id="6" name="圖片 5">
              <a:extLst>
                <a:ext uri="{FF2B5EF4-FFF2-40B4-BE49-F238E27FC236}">
                  <a16:creationId xmlns:a16="http://schemas.microsoft.com/office/drawing/2014/main" id="{0CF78D33-EF3B-42BB-9EB8-F73771C04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332" y="1881498"/>
              <a:ext cx="3084461" cy="2335398"/>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1340933" y="1869139"/>
              <a:ext cx="2690589" cy="2401605"/>
              <a:chOff x="8282563" y="733431"/>
              <a:chExt cx="2690589" cy="2401605"/>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282563" y="1184952"/>
                <a:ext cx="2343963" cy="1882785"/>
                <a:chOff x="8282563" y="1184952"/>
                <a:chExt cx="2343963" cy="1882785"/>
              </a:xfrm>
            </p:grpSpPr>
            <p:sp>
              <p:nvSpPr>
                <p:cNvPr id="13" name="矩形 12">
                  <a:extLst>
                    <a:ext uri="{FF2B5EF4-FFF2-40B4-BE49-F238E27FC236}">
                      <a16:creationId xmlns:a16="http://schemas.microsoft.com/office/drawing/2014/main" id="{62D9AAFB-45CB-41B6-A7DA-A163C76C7C70}"/>
                    </a:ext>
                  </a:extLst>
                </p:cNvPr>
                <p:cNvSpPr/>
                <p:nvPr/>
              </p:nvSpPr>
              <p:spPr>
                <a:xfrm>
                  <a:off x="9381066" y="2926271"/>
                  <a:ext cx="1245460" cy="141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7859574" y="1607941"/>
                  <a:ext cx="1092200"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76C41D3C-8E9A-426D-BF6B-D03547810A62}"/>
                      </a:ext>
                    </a:extLst>
                  </p:cNvPr>
                  <p:cNvSpPr txBox="1"/>
                  <p:nvPr/>
                </p:nvSpPr>
                <p:spPr>
                  <a:xfrm>
                    <a:off x="9102768" y="288881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6" name="文字方塊 35">
                    <a:extLst>
                      <a:ext uri="{FF2B5EF4-FFF2-40B4-BE49-F238E27FC236}">
                        <a16:creationId xmlns:a16="http://schemas.microsoft.com/office/drawing/2014/main" id="{76C41D3C-8E9A-426D-BF6B-D03547810A62}"/>
                      </a:ext>
                    </a:extLst>
                  </p:cNvPr>
                  <p:cNvSpPr txBox="1">
                    <a:spLocks noRot="1" noChangeAspect="1" noMove="1" noResize="1" noEditPoints="1" noAdjustHandles="1" noChangeArrowheads="1" noChangeShapeType="1" noTextEdit="1"/>
                  </p:cNvSpPr>
                  <p:nvPr/>
                </p:nvSpPr>
                <p:spPr>
                  <a:xfrm>
                    <a:off x="9102768" y="2888815"/>
                    <a:ext cx="1870384" cy="246221"/>
                  </a:xfrm>
                  <a:prstGeom prst="rect">
                    <a:avLst/>
                  </a:prstGeom>
                  <a:blipFill>
                    <a:blip r:embed="rId4"/>
                    <a:stretch>
                      <a:fillRect l="-2280" r="-1303"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440171" y="1581836"/>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440171" y="1581836"/>
                    <a:ext cx="1943032" cy="246221"/>
                  </a:xfrm>
                  <a:prstGeom prst="rect">
                    <a:avLst/>
                  </a:prstGeom>
                  <a:blipFill>
                    <a:blip r:embed="rId5"/>
                    <a:stretch>
                      <a:fillRect t="-2508" r="-32500" b="-2194"/>
                    </a:stretch>
                  </a:blipFill>
                </p:spPr>
                <p:txBody>
                  <a:bodyPr/>
                  <a:lstStyle/>
                  <a:p>
                    <a:r>
                      <a:rPr lang="zh-TW" altLang="en-US">
                        <a:noFill/>
                      </a:rPr>
                      <a:t> </a:t>
                    </a:r>
                  </a:p>
                </p:txBody>
              </p:sp>
            </mc:Fallback>
          </mc:AlternateContent>
        </p:grpSp>
      </p:grpSp>
      <p:grpSp>
        <p:nvGrpSpPr>
          <p:cNvPr id="11" name="群組 10">
            <a:extLst>
              <a:ext uri="{FF2B5EF4-FFF2-40B4-BE49-F238E27FC236}">
                <a16:creationId xmlns:a16="http://schemas.microsoft.com/office/drawing/2014/main" id="{9955B404-B828-4EF7-B046-6001D78D953B}"/>
              </a:ext>
            </a:extLst>
          </p:cNvPr>
          <p:cNvGrpSpPr/>
          <p:nvPr/>
        </p:nvGrpSpPr>
        <p:grpSpPr>
          <a:xfrm>
            <a:off x="7042130" y="1793174"/>
            <a:ext cx="2998621" cy="2330799"/>
            <a:chOff x="7262264" y="1568643"/>
            <a:chExt cx="2998621" cy="2330799"/>
          </a:xfrm>
        </p:grpSpPr>
        <p:pic>
          <p:nvPicPr>
            <p:cNvPr id="9" name="圖片 8">
              <a:extLst>
                <a:ext uri="{FF2B5EF4-FFF2-40B4-BE49-F238E27FC236}">
                  <a16:creationId xmlns:a16="http://schemas.microsoft.com/office/drawing/2014/main" id="{829ACE8A-3CF1-4D85-B593-3C47560ECE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91388" y="1568643"/>
              <a:ext cx="2869497" cy="2252133"/>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7262264" y="1578037"/>
              <a:ext cx="2863425" cy="2321405"/>
              <a:chOff x="8322241" y="3703869"/>
              <a:chExt cx="2863425" cy="2321405"/>
            </a:xfrm>
          </p:grpSpPr>
          <p:grpSp>
            <p:nvGrpSpPr>
              <p:cNvPr id="27" name="群組 26">
                <a:extLst>
                  <a:ext uri="{FF2B5EF4-FFF2-40B4-BE49-F238E27FC236}">
                    <a16:creationId xmlns:a16="http://schemas.microsoft.com/office/drawing/2014/main" id="{AC662A1D-67BC-4890-A4F8-3F3FC002A9EE}"/>
                  </a:ext>
                </a:extLst>
              </p:cNvPr>
              <p:cNvGrpSpPr/>
              <p:nvPr/>
            </p:nvGrpSpPr>
            <p:grpSpPr>
              <a:xfrm>
                <a:off x="8422394" y="4059169"/>
                <a:ext cx="2763272" cy="1966105"/>
                <a:chOff x="8422394" y="4059169"/>
                <a:chExt cx="2763272" cy="1966105"/>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422394" y="4059169"/>
                  <a:ext cx="2252657" cy="1924666"/>
                  <a:chOff x="8422394" y="4059169"/>
                  <a:chExt cx="2252657" cy="1924666"/>
                </a:xfrm>
              </p:grpSpPr>
              <p:sp>
                <p:nvSpPr>
                  <p:cNvPr id="32" name="矩形 31">
                    <a:extLst>
                      <a:ext uri="{FF2B5EF4-FFF2-40B4-BE49-F238E27FC236}">
                        <a16:creationId xmlns:a16="http://schemas.microsoft.com/office/drawing/2014/main" id="{121C5590-E60E-40CA-90CE-72EB5B131EAA}"/>
                      </a:ext>
                    </a:extLst>
                  </p:cNvPr>
                  <p:cNvSpPr/>
                  <p:nvPr/>
                </p:nvSpPr>
                <p:spPr>
                  <a:xfrm rot="16200000">
                    <a:off x="7956531" y="4525032"/>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10538" y="5779053"/>
                    <a:ext cx="1264513"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6B367B9D-C1D1-403F-8DEB-C37529FC5139}"/>
                        </a:ext>
                      </a:extLst>
                    </p:cNvPr>
                    <p:cNvSpPr txBox="1"/>
                    <p:nvPr/>
                  </p:nvSpPr>
                  <p:spPr>
                    <a:xfrm>
                      <a:off x="9315282" y="5779053"/>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9" name="文字方塊 38">
                      <a:extLst>
                        <a:ext uri="{FF2B5EF4-FFF2-40B4-BE49-F238E27FC236}">
                          <a16:creationId xmlns:a16="http://schemas.microsoft.com/office/drawing/2014/main" id="{6B367B9D-C1D1-403F-8DEB-C37529FC5139}"/>
                        </a:ext>
                      </a:extLst>
                    </p:cNvPr>
                    <p:cNvSpPr txBox="1">
                      <a:spLocks noRot="1" noChangeAspect="1" noMove="1" noResize="1" noEditPoints="1" noAdjustHandles="1" noChangeArrowheads="1" noChangeShapeType="1" noTextEdit="1"/>
                    </p:cNvSpPr>
                    <p:nvPr/>
                  </p:nvSpPr>
                  <p:spPr>
                    <a:xfrm>
                      <a:off x="9315282" y="5779053"/>
                      <a:ext cx="1870384" cy="246221"/>
                    </a:xfrm>
                    <a:prstGeom prst="rect">
                      <a:avLst/>
                    </a:prstGeom>
                    <a:blipFill>
                      <a:blip r:embed="rId7"/>
                      <a:stretch>
                        <a:fillRect l="-2280" r="-1303" b="-3170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473836" y="4552274"/>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473836" y="4552274"/>
                    <a:ext cx="1943032" cy="246221"/>
                  </a:xfrm>
                  <a:prstGeom prst="rect">
                    <a:avLst/>
                  </a:prstGeom>
                  <a:blipFill>
                    <a:blip r:embed="rId8"/>
                    <a:stretch>
                      <a:fillRect t="-2516" r="-31707" b="-2201"/>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1206902352"/>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p>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7.1993%</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0.0301mT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0.6995%</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0.0441mT</a:t>
                          </a:r>
                        </a:p>
                        <a:p>
                          <a:pPr algn="ctr"/>
                          <a:r>
                            <a:rPr lang="en-US" altLang="zh-TW" sz="1600" dirty="0"/>
                            <a:t>(</a:t>
                          </a:r>
                          <a14:m>
                            <m:oMath xmlns:m="http://schemas.openxmlformats.org/officeDocument/2006/math">
                              <m:r>
                                <a:rPr lang="en-US" altLang="zh-TW" sz="1600" b="0" i="1" smtClean="0">
                                  <a:latin typeface="Cambria Math" panose="02040503050406030204" pitchFamily="18" charset="0"/>
                                </a:rPr>
                                <m:t>𝑅</m:t>
                              </m:r>
                              <m:r>
                                <a:rPr lang="en-US" altLang="zh-TW" sz="1600" b="0" i="1" smtClean="0">
                                  <a:latin typeface="Cambria Math" panose="02040503050406030204" pitchFamily="18" charset="0"/>
                                </a:rPr>
                                <m:t>≤150</m:t>
                              </m:r>
                              <m:r>
                                <a:rPr lang="en-US" altLang="zh-TW" sz="1600" b="0" i="1" smtClean="0">
                                  <a:latin typeface="Cambria Math" panose="02040503050406030204" pitchFamily="18" charset="0"/>
                                </a:rPr>
                                <m:t>𝑢𝑚</m:t>
                              </m:r>
                              <m:r>
                                <a:rPr lang="en-US" altLang="zh-TW" sz="1600" b="0" i="1" smtClean="0">
                                  <a:latin typeface="Cambria Math" panose="02040503050406030204" pitchFamily="18" charset="0"/>
                                </a:rPr>
                                <m:t>)</m:t>
                              </m:r>
                            </m:oMath>
                          </a14:m>
                          <a:endParaRPr lang="zh-TW" altLang="en-US" dirty="0"/>
                        </a:p>
                      </a:txBody>
                      <a:tcPr/>
                    </a:tc>
                    <a:tc>
                      <a:txBody>
                        <a:bodyPr/>
                        <a:lstStyle/>
                        <a:p>
                          <a:pPr algn="ctr"/>
                          <a:r>
                            <a:rPr lang="en-US" altLang="zh-TW" dirty="0"/>
                            <a:t>0.1993mT</a:t>
                          </a:r>
                        </a:p>
                        <a:p>
                          <a:pPr algn="ctr"/>
                          <a:r>
                            <a:rPr lang="en-US" altLang="zh-TW" dirty="0"/>
                            <a:t>(</a:t>
                          </a:r>
                          <a14:m>
                            <m:oMath xmlns:m="http://schemas.openxmlformats.org/officeDocument/2006/math">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≤300</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a14:m>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1206902352"/>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640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523" t="-4762" r="-779397" b="-219048"/>
                          </a:stretch>
                        </a:blipFill>
                      </a:tcPr>
                    </a:tc>
                    <a:tc>
                      <a:txBody>
                        <a:bodyPr/>
                        <a:lstStyle/>
                        <a:p>
                          <a:endParaRPr lang="zh-TW"/>
                        </a:p>
                      </a:txBody>
                      <a:tcPr>
                        <a:blipFill>
                          <a:blip r:embed="rId9"/>
                          <a:stretch>
                            <a:fillRect l="-70660" t="-4762" r="-169271" b="-219048"/>
                          </a:stretch>
                        </a:blipFill>
                      </a:tcPr>
                    </a:tc>
                    <a:tc>
                      <a:txBody>
                        <a:bodyPr/>
                        <a:lstStyle/>
                        <a:p>
                          <a:endParaRPr lang="zh-TW"/>
                        </a:p>
                      </a:txBody>
                      <a:tcPr>
                        <a:blipFill>
                          <a:blip r:embed="rId9"/>
                          <a:stretch>
                            <a:fillRect l="-385490" t="-4762" r="-282353" b="-219048"/>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7.1993%</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0.0301mT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0.6995%</a:t>
                          </a:r>
                          <a:endParaRPr lang="zh-TW" altLang="en-US" dirty="0"/>
                        </a:p>
                      </a:txBody>
                      <a:tcPr/>
                    </a:tc>
                    <a:tc>
                      <a:txBody>
                        <a:bodyPr/>
                        <a:lstStyle/>
                        <a:p>
                          <a:pPr algn="ctr"/>
                          <a:r>
                            <a:rPr lang="en-US" altLang="zh-TW" dirty="0"/>
                            <a:t>10.4684mT</a:t>
                          </a:r>
                          <a:endParaRPr lang="zh-TW" altLang="en-US" dirty="0"/>
                        </a:p>
                      </a:txBody>
                      <a:tcPr/>
                    </a:tc>
                    <a:tc>
                      <a:txBody>
                        <a:bodyPr/>
                        <a:lstStyle/>
                        <a:p>
                          <a:endParaRPr lang="zh-TW"/>
                        </a:p>
                      </a:txBody>
                      <a:tcPr>
                        <a:blipFill>
                          <a:blip r:embed="rId9"/>
                          <a:stretch>
                            <a:fillRect l="-432867" t="-200917" r="-151748" b="-11009"/>
                          </a:stretch>
                        </a:blipFill>
                      </a:tcPr>
                    </a:tc>
                    <a:tc>
                      <a:txBody>
                        <a:bodyPr/>
                        <a:lstStyle/>
                        <a:p>
                          <a:endParaRPr lang="zh-TW"/>
                        </a:p>
                      </a:txBody>
                      <a:tcPr>
                        <a:blipFill>
                          <a:blip r:embed="rId9"/>
                          <a:stretch>
                            <a:fillRect l="-352778" t="-200917" r="-463" b="-11009"/>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35" name="文字方塊 34">
            <a:extLst>
              <a:ext uri="{FF2B5EF4-FFF2-40B4-BE49-F238E27FC236}">
                <a16:creationId xmlns:a16="http://schemas.microsoft.com/office/drawing/2014/main" id="{92E6675A-32D5-438E-ABBA-19CCC6EFA221}"/>
              </a:ext>
            </a:extLst>
          </p:cNvPr>
          <p:cNvSpPr txBox="1"/>
          <p:nvPr/>
        </p:nvSpPr>
        <p:spPr>
          <a:xfrm>
            <a:off x="-33943" y="6359094"/>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spTree>
    <p:extLst>
      <p:ext uri="{BB962C8B-B14F-4D97-AF65-F5344CB8AC3E}">
        <p14:creationId xmlns:p14="http://schemas.microsoft.com/office/powerpoint/2010/main" val="305657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p:grpSp>
        <p:nvGrpSpPr>
          <p:cNvPr id="15" name="群組 14">
            <a:extLst>
              <a:ext uri="{FF2B5EF4-FFF2-40B4-BE49-F238E27FC236}">
                <a16:creationId xmlns:a16="http://schemas.microsoft.com/office/drawing/2014/main" id="{48B4F2B3-05C1-491D-8C3C-1846CAB7E13D}"/>
              </a:ext>
            </a:extLst>
          </p:cNvPr>
          <p:cNvGrpSpPr/>
          <p:nvPr/>
        </p:nvGrpSpPr>
        <p:grpSpPr>
          <a:xfrm>
            <a:off x="1046456" y="1703343"/>
            <a:ext cx="3355538" cy="2558892"/>
            <a:chOff x="1046456" y="1703343"/>
            <a:chExt cx="3355538" cy="2558892"/>
          </a:xfrm>
        </p:grpSpPr>
        <p:pic>
          <p:nvPicPr>
            <p:cNvPr id="12" name="圖片 11">
              <a:extLst>
                <a:ext uri="{FF2B5EF4-FFF2-40B4-BE49-F238E27FC236}">
                  <a16:creationId xmlns:a16="http://schemas.microsoft.com/office/drawing/2014/main" id="{033F903C-1837-475A-ACDC-1C4914C3E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296" y="1703343"/>
              <a:ext cx="3278698" cy="2547489"/>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1046456" y="1951925"/>
              <a:ext cx="2690447" cy="2310310"/>
              <a:chOff x="8521503" y="743031"/>
              <a:chExt cx="2836058" cy="2546939"/>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531399" y="1088481"/>
                <a:ext cx="2513700" cy="2189392"/>
                <a:chOff x="8531399" y="1088481"/>
                <a:chExt cx="2513700" cy="2189392"/>
              </a:xfrm>
            </p:grpSpPr>
            <p:sp>
              <p:nvSpPr>
                <p:cNvPr id="13" name="矩形 12">
                  <a:extLst>
                    <a:ext uri="{FF2B5EF4-FFF2-40B4-BE49-F238E27FC236}">
                      <a16:creationId xmlns:a16="http://schemas.microsoft.com/office/drawing/2014/main" id="{62D9AAFB-45CB-41B6-A7DA-A163C76C7C70}"/>
                    </a:ext>
                  </a:extLst>
                </p:cNvPr>
                <p:cNvSpPr/>
                <p:nvPr/>
              </p:nvSpPr>
              <p:spPr>
                <a:xfrm>
                  <a:off x="9799639" y="3094975"/>
                  <a:ext cx="1245460" cy="182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8070705" y="1549175"/>
                  <a:ext cx="1167609"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76C41D3C-8E9A-426D-BF6B-D03547810A62}"/>
                      </a:ext>
                    </a:extLst>
                  </p:cNvPr>
                  <p:cNvSpPr txBox="1"/>
                  <p:nvPr/>
                </p:nvSpPr>
                <p:spPr>
                  <a:xfrm>
                    <a:off x="9487177" y="3043749"/>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6" name="文字方塊 35">
                    <a:extLst>
                      <a:ext uri="{FF2B5EF4-FFF2-40B4-BE49-F238E27FC236}">
                        <a16:creationId xmlns:a16="http://schemas.microsoft.com/office/drawing/2014/main" id="{76C41D3C-8E9A-426D-BF6B-D03547810A62}"/>
                      </a:ext>
                    </a:extLst>
                  </p:cNvPr>
                  <p:cNvSpPr txBox="1">
                    <a:spLocks noRot="1" noChangeAspect="1" noMove="1" noResize="1" noEditPoints="1" noAdjustHandles="1" noChangeArrowheads="1" noChangeShapeType="1" noTextEdit="1"/>
                  </p:cNvSpPr>
                  <p:nvPr/>
                </p:nvSpPr>
                <p:spPr>
                  <a:xfrm>
                    <a:off x="9487177" y="3043749"/>
                    <a:ext cx="1870384" cy="246221"/>
                  </a:xfrm>
                  <a:prstGeom prst="rect">
                    <a:avLst/>
                  </a:prstGeom>
                  <a:blipFill>
                    <a:blip r:embed="rId3"/>
                    <a:stretch>
                      <a:fillRect l="-4124" r="-4467" b="-47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673098" y="1591436"/>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673098" y="1591436"/>
                    <a:ext cx="1943032" cy="246221"/>
                  </a:xfrm>
                  <a:prstGeom prst="rect">
                    <a:avLst/>
                  </a:prstGeom>
                  <a:blipFill>
                    <a:blip r:embed="rId4"/>
                    <a:stretch>
                      <a:fillRect t="-10381" r="-39474" b="-5190"/>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CBD2BFE1-9FA6-4B41-B7B0-5BA128716C2C}"/>
              </a:ext>
            </a:extLst>
          </p:cNvPr>
          <p:cNvGrpSpPr/>
          <p:nvPr/>
        </p:nvGrpSpPr>
        <p:grpSpPr>
          <a:xfrm>
            <a:off x="6758249" y="1715012"/>
            <a:ext cx="3063084" cy="2370346"/>
            <a:chOff x="6751658" y="1562778"/>
            <a:chExt cx="3625301" cy="2756726"/>
          </a:xfrm>
        </p:grpSpPr>
        <p:pic>
          <p:nvPicPr>
            <p:cNvPr id="9" name="圖片 8">
              <a:extLst>
                <a:ext uri="{FF2B5EF4-FFF2-40B4-BE49-F238E27FC236}">
                  <a16:creationId xmlns:a16="http://schemas.microsoft.com/office/drawing/2014/main" id="{A97A2E74-1672-4147-A9AB-1303DC2975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4769" y="1562778"/>
              <a:ext cx="3502190" cy="2748704"/>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6751658" y="1781483"/>
              <a:ext cx="3114079" cy="2538021"/>
              <a:chOff x="8020823" y="3788485"/>
              <a:chExt cx="3114079" cy="2538021"/>
            </a:xfrm>
          </p:grpSpPr>
          <p:grpSp>
            <p:nvGrpSpPr>
              <p:cNvPr id="27" name="群組 26">
                <a:extLst>
                  <a:ext uri="{FF2B5EF4-FFF2-40B4-BE49-F238E27FC236}">
                    <a16:creationId xmlns:a16="http://schemas.microsoft.com/office/drawing/2014/main" id="{AC662A1D-67BC-4890-A4F8-3F3FC002A9EE}"/>
                  </a:ext>
                </a:extLst>
              </p:cNvPr>
              <p:cNvGrpSpPr/>
              <p:nvPr/>
            </p:nvGrpSpPr>
            <p:grpSpPr>
              <a:xfrm>
                <a:off x="8110869" y="4183903"/>
                <a:ext cx="3024033" cy="2142603"/>
                <a:chOff x="8110869" y="4183903"/>
                <a:chExt cx="3024033" cy="2142603"/>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110869" y="4183903"/>
                  <a:ext cx="2583220" cy="2137883"/>
                  <a:chOff x="8110869" y="4183903"/>
                  <a:chExt cx="2583220" cy="2137883"/>
                </a:xfrm>
              </p:grpSpPr>
              <p:sp>
                <p:nvSpPr>
                  <p:cNvPr id="32" name="矩形 31">
                    <a:extLst>
                      <a:ext uri="{FF2B5EF4-FFF2-40B4-BE49-F238E27FC236}">
                        <a16:creationId xmlns:a16="http://schemas.microsoft.com/office/drawing/2014/main" id="{121C5590-E60E-40CA-90CE-72EB5B131EAA}"/>
                      </a:ext>
                    </a:extLst>
                  </p:cNvPr>
                  <p:cNvSpPr/>
                  <p:nvPr/>
                </p:nvSpPr>
                <p:spPr>
                  <a:xfrm rot="16200000">
                    <a:off x="7628435" y="4666337"/>
                    <a:ext cx="1158966" cy="194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29576" y="6117004"/>
                    <a:ext cx="1264513"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6B367B9D-C1D1-403F-8DEB-C37529FC5139}"/>
                        </a:ext>
                      </a:extLst>
                    </p:cNvPr>
                    <p:cNvSpPr txBox="1"/>
                    <p:nvPr/>
                  </p:nvSpPr>
                  <p:spPr>
                    <a:xfrm>
                      <a:off x="9264518" y="608028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9" name="文字方塊 38">
                      <a:extLst>
                        <a:ext uri="{FF2B5EF4-FFF2-40B4-BE49-F238E27FC236}">
                          <a16:creationId xmlns:a16="http://schemas.microsoft.com/office/drawing/2014/main" id="{6B367B9D-C1D1-403F-8DEB-C37529FC5139}"/>
                        </a:ext>
                      </a:extLst>
                    </p:cNvPr>
                    <p:cNvSpPr txBox="1">
                      <a:spLocks noRot="1" noChangeAspect="1" noMove="1" noResize="1" noEditPoints="1" noAdjustHandles="1" noChangeArrowheads="1" noChangeShapeType="1" noTextEdit="1"/>
                    </p:cNvSpPr>
                    <p:nvPr/>
                  </p:nvSpPr>
                  <p:spPr>
                    <a:xfrm>
                      <a:off x="9264518" y="6080285"/>
                      <a:ext cx="1870384" cy="246221"/>
                    </a:xfrm>
                    <a:prstGeom prst="rect">
                      <a:avLst/>
                    </a:prstGeom>
                    <a:blipFill>
                      <a:blip r:embed="rId7"/>
                      <a:stretch>
                        <a:fillRect l="-2280" r="-1303" b="-325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172418" y="4636890"/>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172418" y="4636890"/>
                    <a:ext cx="1943032" cy="246221"/>
                  </a:xfrm>
                  <a:prstGeom prst="rect">
                    <a:avLst/>
                  </a:prstGeom>
                  <a:blipFill>
                    <a:blip r:embed="rId8"/>
                    <a:stretch>
                      <a:fillRect t="-16423" r="-55882" b="-5474"/>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51520884"/>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6.2535%</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0.1991mT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0.8271%</a:t>
                          </a:r>
                          <a:endParaRPr lang="zh-TW" altLang="en-US" dirty="0"/>
                        </a:p>
                      </a:txBody>
                      <a:tcPr/>
                    </a:tc>
                    <a:tc>
                      <a:txBody>
                        <a:bodyPr/>
                        <a:lstStyle/>
                        <a:p>
                          <a:pPr algn="ctr"/>
                          <a:r>
                            <a:rPr lang="en-US" altLang="zh-TW" dirty="0"/>
                            <a:t>30.7330mT</a:t>
                          </a:r>
                          <a:endParaRPr lang="zh-TW" altLang="en-US" dirty="0"/>
                        </a:p>
                      </a:txBody>
                      <a:tcPr/>
                    </a:tc>
                    <a:tc>
                      <a:txBody>
                        <a:bodyPr/>
                        <a:lstStyle/>
                        <a:p>
                          <a:pPr algn="ctr"/>
                          <a:r>
                            <a:rPr lang="en-US" altLang="zh-TW" dirty="0"/>
                            <a:t>0.2190mT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≤150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tc>
                      <a:txBody>
                        <a:bodyPr/>
                        <a:lstStyle/>
                        <a:p>
                          <a:pPr algn="ctr"/>
                          <a:r>
                            <a:rPr lang="en-US" altLang="zh-TW" dirty="0"/>
                            <a:t>1.0631mT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0" smtClean="0">
                                  <a:latin typeface="Cambria Math" panose="02040503050406030204" pitchFamily="18" charset="0"/>
                                </a:rPr>
                                <m:t>150</m:t>
                              </m:r>
                              <m:r>
                                <m:rPr>
                                  <m:sty m:val="p"/>
                                </m:rPr>
                                <a:rPr lang="en-US" altLang="zh-TW" sz="1200" b="0" i="0" smtClean="0">
                                  <a:latin typeface="Cambria Math" panose="02040503050406030204" pitchFamily="18" charset="0"/>
                                </a:rPr>
                                <m:t>um</m:t>
                              </m:r>
                              <m:r>
                                <a:rPr lang="en-US" altLang="zh-TW" sz="1200" b="0" i="0" smtClean="0">
                                  <a:latin typeface="Cambria Math" panose="02040503050406030204" pitchFamily="18" charset="0"/>
                                </a:rPr>
                                <m:t>≤</m:t>
                              </m:r>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≤300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51520884"/>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23977" t="-6667" r="-881871" b="-328000"/>
                          </a:stretch>
                        </a:blipFill>
                      </a:tcPr>
                    </a:tc>
                    <a:tc>
                      <a:txBody>
                        <a:bodyPr/>
                        <a:lstStyle/>
                        <a:p>
                          <a:endParaRPr lang="zh-TW"/>
                        </a:p>
                      </a:txBody>
                      <a:tcPr>
                        <a:blipFill>
                          <a:blip r:embed="rId9"/>
                          <a:stretch>
                            <a:fillRect l="-83442" t="-6667" r="-228540" b="-328000"/>
                          </a:stretch>
                        </a:blipFill>
                      </a:tcPr>
                    </a:tc>
                    <a:tc>
                      <a:txBody>
                        <a:bodyPr/>
                        <a:lstStyle/>
                        <a:p>
                          <a:endParaRPr lang="zh-TW"/>
                        </a:p>
                      </a:txBody>
                      <a:tcPr>
                        <a:blipFill>
                          <a:blip r:embed="rId9"/>
                          <a:stretch>
                            <a:fillRect l="-190068" t="-6667" r="-136795" b="-328000"/>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6.2535%</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0.1991mT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822960">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0.8271%</a:t>
                          </a:r>
                          <a:endParaRPr lang="zh-TW" altLang="en-US" dirty="0"/>
                        </a:p>
                      </a:txBody>
                      <a:tcPr/>
                    </a:tc>
                    <a:tc>
                      <a:txBody>
                        <a:bodyPr/>
                        <a:lstStyle/>
                        <a:p>
                          <a:pPr algn="ctr"/>
                          <a:r>
                            <a:rPr lang="en-US" altLang="zh-TW" dirty="0"/>
                            <a:t>30.7330mT</a:t>
                          </a:r>
                          <a:endParaRPr lang="zh-TW" altLang="en-US" dirty="0"/>
                        </a:p>
                      </a:txBody>
                      <a:tcPr/>
                    </a:tc>
                    <a:tc>
                      <a:txBody>
                        <a:bodyPr/>
                        <a:lstStyle/>
                        <a:p>
                          <a:endParaRPr lang="zh-TW"/>
                        </a:p>
                      </a:txBody>
                      <a:tcPr>
                        <a:blipFill>
                          <a:blip r:embed="rId9"/>
                          <a:stretch>
                            <a:fillRect l="-418567" t="-138235" r="-97394" b="-1471"/>
                          </a:stretch>
                        </a:blipFill>
                      </a:tcPr>
                    </a:tc>
                    <a:tc>
                      <a:txBody>
                        <a:bodyPr/>
                        <a:lstStyle/>
                        <a:p>
                          <a:endParaRPr lang="zh-TW"/>
                        </a:p>
                      </a:txBody>
                      <a:tcPr>
                        <a:blipFill>
                          <a:blip r:embed="rId9"/>
                          <a:stretch>
                            <a:fillRect l="-536027" t="-138235" r="-673" b="-1471"/>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sp>
        <p:nvSpPr>
          <p:cNvPr id="35" name="文字方塊 34">
            <a:extLst>
              <a:ext uri="{FF2B5EF4-FFF2-40B4-BE49-F238E27FC236}">
                <a16:creationId xmlns:a16="http://schemas.microsoft.com/office/drawing/2014/main" id="{ABCA9A95-3FE0-4A15-B1F8-0C4668E5E092}"/>
              </a:ext>
            </a:extLst>
          </p:cNvPr>
          <p:cNvSpPr txBox="1"/>
          <p:nvPr/>
        </p:nvSpPr>
        <p:spPr>
          <a:xfrm>
            <a:off x="0" y="6488668"/>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p:spTree>
    <p:extLst>
      <p:ext uri="{BB962C8B-B14F-4D97-AF65-F5344CB8AC3E}">
        <p14:creationId xmlns:p14="http://schemas.microsoft.com/office/powerpoint/2010/main" val="3049432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 area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789F05BF-8DE1-4EC6-87D7-D20943E065CD}"/>
                  </a:ext>
                </a:extLst>
              </p:cNvPr>
              <p:cNvSpPr txBox="1"/>
              <p:nvPr/>
            </p:nvSpPr>
            <p:spPr>
              <a:xfrm>
                <a:off x="152401" y="922869"/>
                <a:ext cx="5232404" cy="6586931"/>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oMath>
                </a14:m>
                <a:r>
                  <a:rPr lang="en-US" altLang="zh-TW" dirty="0"/>
                  <a:t>,</a:t>
                </a:r>
                <a:r>
                  <a:rPr lang="zh-TW" altLang="en-US" dirty="0"/>
                  <a:t>，</a:t>
                </a:r>
                <a:r>
                  <a:rPr lang="en-US" altLang="zh-TW" dirty="0"/>
                  <a:t> These represent the numbers of divisions required along the three actuation axes </a:t>
                </a:r>
                <a14:m>
                  <m:oMath xmlns:m="http://schemas.openxmlformats.org/officeDocument/2006/math">
                    <m:r>
                      <a:rPr lang="en-US" altLang="zh-TW" b="0" i="0"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Divided along its three actuation axes according to the following .</a:t>
                </a:r>
              </a:p>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𝑅</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𝑎</m:t>
                                        </m:r>
                                      </m:sub>
                                    </m:sSub>
                                  </m:den>
                                </m:f>
                                <m:r>
                                  <m:rPr>
                                    <m:brk m:alnAt="7"/>
                                  </m:rPr>
                                  <a:rPr lang="en-US" altLang="zh-TW" b="0" i="1" smtClean="0">
                                    <a:latin typeface="Cambria Math" panose="02040503050406030204" pitchFamily="18" charset="0"/>
                                    <a:ea typeface="Cambria Math" panose="02040503050406030204" pitchFamily="18" charset="0"/>
                                  </a:rPr>
                                  <m:t>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r>
                                        <a:rPr lang="en-US" altLang="zh-TW" b="0" i="1" smtClean="0">
                                          <a:latin typeface="Cambria Math" panose="02040503050406030204" pitchFamily="18" charset="0"/>
                                          <a:ea typeface="Cambria Math" panose="02040503050406030204" pitchFamily="18" charset="0"/>
                                        </a:rPr>
                                        <m:t>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0</m:t>
                                            </m:r>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    0</m:t>
                                                  </m:r>
                                                </m:e>
                                              </m:mr>
                                            </m:m>
                                            <m:r>
                                              <a:rPr lang="en-US" altLang="zh-TW" b="0" i="1" smtClean="0">
                                                <a:latin typeface="Cambria Math" panose="02040503050406030204" pitchFamily="18" charset="0"/>
                                                <a:ea typeface="Cambria Math" panose="02040503050406030204" pitchFamily="18" charset="0"/>
                                              </a:rPr>
                                              <m:t> </m:t>
                                            </m:r>
                                          </m:e>
                                        </m:mr>
                                      </m:m>
                                    </m:e>
                                  </m:mr>
                                </m:m>
                              </m:e>
                            </m:mr>
                            <m:mr>
                              <m:e>
                                <m:r>
                                  <a:rPr lang="en-US" altLang="zh-TW" b="0" i="1" smtClean="0">
                                    <a:latin typeface="Cambria Math" panose="02040503050406030204" pitchFamily="18" charset="0"/>
                                    <a:ea typeface="Cambria Math" panose="02040503050406030204" pitchFamily="18" charset="0"/>
                                  </a:rPr>
                                  <m:t>     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0</m:t>
                                      </m:r>
                                    </m:e>
                                    <m:e>
                                      <m:r>
                                        <a:rPr lang="en-US" altLang="zh-TW" b="0" i="1" smtClean="0">
                                          <a:latin typeface="Cambria Math" panose="02040503050406030204" pitchFamily="18" charset="0"/>
                                          <a:ea typeface="Cambria Math" panose="02040503050406030204" pitchFamily="18" charset="0"/>
                                        </a:rPr>
                                        <m:t>  </m:t>
                                      </m:r>
                                    </m:e>
                                  </m:mr>
                                </m:m>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0</m:t>
                                            </m:r>
                                          </m:e>
                                        </m:mr>
                                      </m:m>
                                    </m:e>
                                  </m:mr>
                                </m:m>
                              </m:e>
                            </m:mr>
                            <m:mr>
                              <m:e>
                                <m:r>
                                  <a:rPr lang="en-US" altLang="zh-TW" b="0" i="1" smtClean="0">
                                    <a:latin typeface="Cambria Math" panose="02040503050406030204" pitchFamily="18" charset="0"/>
                                    <a:ea typeface="Cambria Math" panose="02040503050406030204" pitchFamily="18" charset="0"/>
                                  </a:rPr>
                                  <m:t>        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0</m:t>
                                      </m:r>
                                    </m:e>
                                    <m:e>
                                      <m:r>
                                        <a:rPr lang="en-US" altLang="zh-TW" b="0" i="1" smtClean="0">
                                          <a:latin typeface="Cambria Math" panose="02040503050406030204" pitchFamily="18" charset="0"/>
                                          <a:ea typeface="Cambria Math" panose="02040503050406030204" pitchFamily="18" charset="0"/>
                                        </a:rPr>
                                        <m:t>   0</m:t>
                                      </m:r>
                                    </m:e>
                                  </m:mr>
                                </m:m>
                                <m:r>
                                  <a:rPr lang="en-US" altLang="zh-TW" b="0" i="1" smtClean="0">
                                    <a:latin typeface="Cambria Math" panose="02040503050406030204" pitchFamily="18" charset="0"/>
                                    <a:ea typeface="Cambria Math" panose="02040503050406030204" pitchFamily="18" charset="0"/>
                                  </a:rPr>
                                  <m:t>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0</m:t>
                                      </m:r>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mr>
                                      </m:m>
                                      <m:r>
                                        <a:rPr lang="en-US" altLang="zh-TW" b="0" i="1" smtClean="0">
                                          <a:latin typeface="Cambria Math" panose="02040503050406030204" pitchFamily="18" charset="0"/>
                                          <a:ea typeface="Cambria Math" panose="02040503050406030204" pitchFamily="18" charset="0"/>
                                        </a:rPr>
                                        <m:t>   </m:t>
                                      </m:r>
                                    </m:e>
                                  </m:mr>
                                </m:m>
                              </m:e>
                            </m:mr>
                          </m:m>
                        </m:e>
                      </m:d>
                    </m:oMath>
                  </m:oMathPara>
                </a14:m>
                <a:endParaRPr lang="en-US" altLang="zh-TW" dirty="0"/>
              </a:p>
              <a:p>
                <a:pPr/>
                <a:endParaRPr lang="en-US" altLang="zh-TW" dirty="0"/>
              </a:p>
              <a:p>
                <a:pPr lvl="1"/>
                <a:r>
                  <a:rPr lang="en-US" altLang="zh-TW" dirty="0"/>
                  <a:t>with an additional center point</a:t>
                </a:r>
              </a:p>
              <a:p>
                <a:pPr lvl="1"/>
                <a:r>
                  <a:rPr lang="en-US" altLang="zh-TW" dirty="0"/>
                  <a:t>Therefore, the total number of points is </a:t>
                </a:r>
              </a:p>
              <a:p>
                <a:pPr lvl="1"/>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𝑡𝑜𝑡</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e>
                      </m:d>
                      <m:r>
                        <a:rPr lang="en-US" altLang="zh-TW" b="0" i="1" smtClean="0">
                          <a:latin typeface="Cambria Math" panose="02040503050406030204" pitchFamily="18" charset="0"/>
                        </a:rPr>
                        <m:t>=1+6</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oMath>
                  </m:oMathPara>
                </a14:m>
                <a:endParaRPr lang="en-US" altLang="zh-TW" dirty="0"/>
              </a:p>
              <a:p>
                <a:pPr lvl="1"/>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p:sp>
            <p:nvSpPr>
              <p:cNvPr id="5" name="文字方塊 4">
                <a:extLst>
                  <a:ext uri="{FF2B5EF4-FFF2-40B4-BE49-F238E27FC236}">
                    <a16:creationId xmlns:a16="http://schemas.microsoft.com/office/drawing/2014/main" id="{789F05BF-8DE1-4EC6-87D7-D20943E065CD}"/>
                  </a:ext>
                </a:extLst>
              </p:cNvPr>
              <p:cNvSpPr txBox="1">
                <a:spLocks noRot="1" noChangeAspect="1" noMove="1" noResize="1" noEditPoints="1" noAdjustHandles="1" noChangeArrowheads="1" noChangeShapeType="1" noTextEdit="1"/>
              </p:cNvSpPr>
              <p:nvPr/>
            </p:nvSpPr>
            <p:spPr>
              <a:xfrm>
                <a:off x="152401" y="922869"/>
                <a:ext cx="5232404" cy="6586931"/>
              </a:xfrm>
              <a:prstGeom prst="rect">
                <a:avLst/>
              </a:prstGeom>
              <a:blipFill>
                <a:blip r:embed="rId2"/>
                <a:stretch>
                  <a:fillRect l="-932" t="-463" r="-139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CE49929-F69A-421F-B19A-AE8B11C06BB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6" name="文字方塊 5">
                <a:extLst>
                  <a:ext uri="{FF2B5EF4-FFF2-40B4-BE49-F238E27FC236}">
                    <a16:creationId xmlns:a16="http://schemas.microsoft.com/office/drawing/2014/main" id="{2CE49929-F69A-421F-B19A-AE8B11C06BB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51972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2D307D2-6DAC-4D7E-9C83-F22C31911AA3}"/>
                  </a:ext>
                </a:extLst>
              </p:cNvPr>
              <p:cNvSpPr txBox="1"/>
              <p:nvPr/>
            </p:nvSpPr>
            <p:spPr>
              <a:xfrm>
                <a:off x="146051" y="795045"/>
                <a:ext cx="11430000" cy="3624775"/>
              </a:xfrm>
              <a:prstGeom prst="rect">
                <a:avLst/>
              </a:prstGeom>
              <a:noFill/>
            </p:spPr>
            <p:txBody>
              <a:bodyPr wrap="square" rtlCol="0">
                <a:spAutoFit/>
              </a:bodyPr>
              <a:lstStyle/>
              <a:p>
                <a:pPr marL="342900" indent="-342900">
                  <a:buFont typeface="+mj-lt"/>
                  <a:buAutoNum type="arabicPeriod"/>
                </a:pPr>
                <a:r>
                  <a:rPr lang="en-US" altLang="zh-TW" dirty="0"/>
                  <a:t>Initial Setup</a:t>
                </a:r>
                <a:r>
                  <a:rPr lang="zh-TW" altLang="en-US" dirty="0"/>
                  <a:t> </a:t>
                </a:r>
                <a14:m>
                  <m:oMath xmlns:m="http://schemas.openxmlformats.org/officeDocument/2006/math">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b="0" i="1" smtClean="0">
                        <a:latin typeface="Cambria Math" panose="02040503050406030204" pitchFamily="18" charset="0"/>
                      </a:rPr>
                      <m:t>]=[1 3 2]</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Ratio of the Three Parameters</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i="1">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 1 2</m:t>
                        </m:r>
                        <m:r>
                          <a:rPr lang="zh-TW" altLang="en-US" b="0" i="1" smtClean="0">
                            <a:latin typeface="Cambria Math" panose="02040503050406030204" pitchFamily="18" charset="0"/>
                            <a:ea typeface="Cambria Math" panose="02040503050406030204" pitchFamily="18" charset="0"/>
                          </a:rPr>
                          <m:t>𝜋</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𝐻</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𝑅</m:t>
                                </m:r>
                              </m:e>
                              <m:sub>
                                <m:r>
                                  <a:rPr lang="en-US" altLang="zh-TW" b="0" i="1" smtClean="0">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r>
                                  <a:rPr lang="en-US" altLang="zh-TW" b="0" i="1" smtClean="0">
                                    <a:latin typeface="Cambria Math" panose="02040503050406030204" pitchFamily="18" charset="0"/>
                                    <a:ea typeface="Cambria Math" panose="02040503050406030204" pitchFamily="18" charset="0"/>
                                  </a:rPr>
                                  <m:t>2</m:t>
                                </m:r>
                              </m:e>
                            </m:rad>
                          </m:den>
                        </m:f>
                      </m:e>
                    </m:d>
                  </m:oMath>
                </a14:m>
                <a:r>
                  <a:rPr lang="zh-TW" altLang="en-US" b="0" dirty="0">
                    <a:ea typeface="Cambria Math" panose="02040503050406030204" pitchFamily="18" charset="0"/>
                  </a:rPr>
                  <a:t>，</a:t>
                </a:r>
                <a:r>
                  <a:rPr lang="en-US" altLang="zh-TW" dirty="0"/>
                  <a:t>where H=0.1mm is the height of the sensing region, and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 </m:t>
                    </m:r>
                  </m:oMath>
                </a14:m>
                <a:r>
                  <a:rPr lang="en-US" altLang="zh-TW" dirty="0"/>
                  <a:t>=0.15mm is the radius of the sensing region.</a:t>
                </a:r>
                <a:endParaRPr lang="en-US" altLang="zh-TW" b="0" dirty="0">
                  <a:ea typeface="Cambria Math" panose="02040503050406030204" pitchFamily="18" charset="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Calculation at Each Step </a:t>
                </a:r>
                <a14:m>
                  <m:oMath xmlns:m="http://schemas.openxmlformats.org/officeDocument/2006/math">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num>
                      <m:den>
                        <m:r>
                          <a:rPr lang="en-US" altLang="zh-TW" b="0" i="1" smtClean="0">
                            <a:latin typeface="Cambria Math" panose="02040503050406030204" pitchFamily="18" charset="0"/>
                          </a:rPr>
                          <m:t>1</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𝜃</m:t>
                            </m:r>
                          </m:sub>
                        </m:sSub>
                      </m:num>
                      <m:den>
                        <m:r>
                          <a:rPr lang="en-US" altLang="zh-TW" b="0" i="1" smtClean="0">
                            <a:latin typeface="Cambria Math" panose="02040503050406030204" pitchFamily="18" charset="0"/>
                          </a:rPr>
                          <m:t>2</m:t>
                        </m:r>
                        <m:r>
                          <a:rPr lang="zh-TW" altLang="en-US" i="1">
                            <a:latin typeface="Cambria Math" panose="02040503050406030204" pitchFamily="18" charset="0"/>
                            <a:ea typeface="Cambria Math" panose="02040503050406030204" pitchFamily="18" charset="0"/>
                          </a:rPr>
                          <m:t>𝜋</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num>
                      <m:den>
                        <m:r>
                          <a:rPr lang="en-US" altLang="zh-TW" i="1">
                            <a:latin typeface="Cambria Math" panose="02040503050406030204" pitchFamily="18" charset="0"/>
                            <a:ea typeface="Cambria Math" panose="02040503050406030204" pitchFamily="18" charset="0"/>
                          </a:rPr>
                          <m:t>(</m:t>
                        </m:r>
                        <m:f>
                          <m:fPr>
                            <m:type m:val="lin"/>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𝐻</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m:t>
                            </m:r>
                            <m:rad>
                              <m:radPr>
                                <m:degHide m:val="on"/>
                                <m:ctrlPr>
                                  <a:rPr lang="en-US" altLang="zh-TW" i="1">
                                    <a:latin typeface="Cambria Math" panose="02040503050406030204" pitchFamily="18" charset="0"/>
                                    <a:ea typeface="Cambria Math" panose="02040503050406030204" pitchFamily="18" charset="0"/>
                                  </a:rPr>
                                </m:ctrlPr>
                              </m:radPr>
                              <m:deg/>
                              <m:e>
                                <m:r>
                                  <a:rPr lang="en-US" altLang="zh-TW" i="1">
                                    <a:latin typeface="Cambria Math" panose="02040503050406030204" pitchFamily="18" charset="0"/>
                                    <a:ea typeface="Cambria Math" panose="02040503050406030204" pitchFamily="18" charset="0"/>
                                  </a:rPr>
                                  <m:t>2</m:t>
                                </m:r>
                              </m:e>
                            </m:rad>
                          </m:den>
                        </m:f>
                      </m:den>
                    </m:f>
                    <m:r>
                      <a:rPr lang="en-US" altLang="zh-TW" b="0" i="1" smtClean="0">
                        <a:latin typeface="Cambria Math" panose="02040503050406030204" pitchFamily="18" charset="0"/>
                      </a:rPr>
                      <m:t>]</m:t>
                    </m:r>
                    <m:r>
                      <a:rPr lang="zh-TW" altLang="en-US" i="1">
                        <a:latin typeface="Cambria Math" panose="02040503050406030204" pitchFamily="18" charset="0"/>
                      </a:rPr>
                      <m:t>，</m:t>
                    </m:r>
                    <m:r>
                      <m:rPr>
                        <m:nor/>
                      </m:rPr>
                      <a:rPr lang="en-US" altLang="zh-TW"/>
                      <m:t>Increment</m:t>
                    </m:r>
                    <m:r>
                      <m:rPr>
                        <m:nor/>
                      </m:rPr>
                      <a:rPr lang="en-US" altLang="zh-TW"/>
                      <m:t> </m:t>
                    </m:r>
                    <m:r>
                      <m:rPr>
                        <m:nor/>
                      </m:rPr>
                      <a:rPr lang="en-US" altLang="zh-TW"/>
                      <m:t>the</m:t>
                    </m:r>
                    <m:r>
                      <m:rPr>
                        <m:nor/>
                      </m:rPr>
                      <a:rPr lang="en-US" altLang="zh-TW"/>
                      <m:t> </m:t>
                    </m:r>
                    <m:r>
                      <m:rPr>
                        <m:nor/>
                      </m:rPr>
                      <a:rPr lang="en-US" altLang="zh-TW"/>
                      <m:t>field</m:t>
                    </m:r>
                    <m:r>
                      <m:rPr>
                        <m:nor/>
                      </m:rPr>
                      <a:rPr lang="en-US" altLang="zh-TW"/>
                      <m:t> </m:t>
                    </m:r>
                    <m:r>
                      <m:rPr>
                        <m:nor/>
                      </m:rPr>
                      <a:rPr lang="en-US" altLang="zh-TW"/>
                      <m:t>corresponding</m:t>
                    </m:r>
                    <m:r>
                      <m:rPr>
                        <m:nor/>
                      </m:rPr>
                      <a:rPr lang="en-US" altLang="zh-TW"/>
                      <m:t> </m:t>
                    </m:r>
                    <m:r>
                      <m:rPr>
                        <m:nor/>
                      </m:rPr>
                      <a:rPr lang="en-US" altLang="zh-TW"/>
                      <m:t>to</m:t>
                    </m:r>
                    <m:r>
                      <m:rPr>
                        <m:nor/>
                      </m:rPr>
                      <a:rPr lang="en-US" altLang="zh-TW"/>
                      <m:t> </m:t>
                    </m:r>
                    <m:r>
                      <m:rPr>
                        <m:nor/>
                      </m:rPr>
                      <a:rPr lang="en-US" altLang="zh-TW"/>
                      <m:t>the</m:t>
                    </m:r>
                    <m:r>
                      <m:rPr>
                        <m:nor/>
                      </m:rPr>
                      <a:rPr lang="en-US" altLang="zh-TW"/>
                      <m:t> </m:t>
                    </m:r>
                    <m:r>
                      <m:rPr>
                        <m:nor/>
                      </m:rPr>
                      <a:rPr lang="en-US" altLang="zh-TW"/>
                      <m:t>smallest</m:t>
                    </m:r>
                    <m:r>
                      <m:rPr>
                        <m:nor/>
                      </m:rPr>
                      <a:rPr lang="en-US" altLang="zh-TW"/>
                      <m:t> </m:t>
                    </m:r>
                    <m:r>
                      <m:rPr>
                        <m:nor/>
                      </m:rPr>
                      <a:rPr lang="en-US" altLang="zh-TW"/>
                      <m:t>quotient</m:t>
                    </m:r>
                    <m:r>
                      <m:rPr>
                        <m:nor/>
                      </m:rPr>
                      <a:rPr lang="en-US" altLang="zh-TW"/>
                      <m:t> </m:t>
                    </m:r>
                    <m:r>
                      <m:rPr>
                        <m:nor/>
                      </m:rPr>
                      <a:rPr lang="en-US" altLang="zh-TW"/>
                      <m:t>by</m:t>
                    </m:r>
                    <m:r>
                      <m:rPr>
                        <m:nor/>
                      </m:rPr>
                      <a:rPr lang="en-US" altLang="zh-TW"/>
                      <m:t> 1 </m:t>
                    </m:r>
                    <m:r>
                      <m:rPr>
                        <m:nor/>
                      </m:rPr>
                      <a:rPr lang="en-US" altLang="zh-TW"/>
                      <m:t>until</m:t>
                    </m:r>
                    <m:r>
                      <m:rPr>
                        <m:nor/>
                      </m:rPr>
                      <a:rPr lang="en-US" altLang="zh-TW"/>
                      <m:t> </m:t>
                    </m:r>
                    <m:r>
                      <m:rPr>
                        <m:nor/>
                      </m:rPr>
                      <a:rPr lang="en-US" altLang="zh-TW"/>
                      <m:t>a</m:t>
                    </m:r>
                    <m:r>
                      <m:rPr>
                        <m:nor/>
                      </m:rPr>
                      <a:rPr lang="en-US" altLang="zh-TW"/>
                      <m:t> </m:t>
                    </m:r>
                    <m:r>
                      <m:rPr>
                        <m:nor/>
                      </m:rPr>
                      <a:rPr lang="en-US" altLang="zh-TW"/>
                      <m:t>point</m:t>
                    </m:r>
                    <m:r>
                      <m:rPr>
                        <m:nor/>
                      </m:rPr>
                      <a:rPr lang="en-US" altLang="zh-TW"/>
                      <m:t>−</m:t>
                    </m:r>
                    <m:r>
                      <m:rPr>
                        <m:nor/>
                      </m:rPr>
                      <a:rPr lang="en-US" altLang="zh-TW"/>
                      <m:t>count</m:t>
                    </m:r>
                    <m:r>
                      <m:rPr>
                        <m:nor/>
                      </m:rPr>
                      <a:rPr lang="en-US" altLang="zh-TW"/>
                      <m:t> </m:t>
                    </m:r>
                    <m:r>
                      <m:rPr>
                        <m:nor/>
                      </m:rPr>
                      <a:rPr lang="en-US" altLang="zh-TW"/>
                      <m:t>combination</m:t>
                    </m:r>
                    <m:r>
                      <m:rPr>
                        <m:nor/>
                      </m:rPr>
                      <a:rPr lang="en-US" altLang="zh-TW"/>
                      <m:t> </m:t>
                    </m:r>
                    <m:r>
                      <m:rPr>
                        <m:nor/>
                      </m:rPr>
                      <a:rPr lang="en-US" altLang="zh-TW"/>
                      <m:t>satisfying</m:t>
                    </m:r>
                    <m:r>
                      <m:rPr>
                        <m:nor/>
                      </m:rPr>
                      <a:rPr lang="en-US" altLang="zh-TW"/>
                      <m:t> </m:t>
                    </m:r>
                    <m:r>
                      <m:rPr>
                        <m:nor/>
                      </m:rPr>
                      <a:rPr lang="en-US" altLang="zh-TW"/>
                      <m:t>the</m:t>
                    </m:r>
                    <m:r>
                      <m:rPr>
                        <m:nor/>
                      </m:rPr>
                      <a:rPr lang="en-US" altLang="zh-TW"/>
                      <m:t> </m:t>
                    </m:r>
                    <m:r>
                      <m:rPr>
                        <m:nor/>
                      </m:rPr>
                      <a:rPr lang="en-US" altLang="zh-TW"/>
                      <m:t>criteria</m:t>
                    </m:r>
                    <m:r>
                      <m:rPr>
                        <m:nor/>
                      </m:rPr>
                      <a:rPr lang="en-US" altLang="zh-TW"/>
                      <m:t> </m:t>
                    </m:r>
                    <m:r>
                      <m:rPr>
                        <m:nor/>
                      </m:rPr>
                      <a:rPr lang="en-US" altLang="zh-TW"/>
                      <m:t>is</m:t>
                    </m:r>
                    <m:r>
                      <m:rPr>
                        <m:nor/>
                      </m:rPr>
                      <a:rPr lang="en-US" altLang="zh-TW"/>
                      <m:t> </m:t>
                    </m:r>
                    <m:r>
                      <m:rPr>
                        <m:nor/>
                      </m:rPr>
                      <a:rPr lang="en-US" altLang="zh-TW"/>
                      <m:t>found</m:t>
                    </m:r>
                    <m:r>
                      <m:rPr>
                        <m:nor/>
                      </m:rPr>
                      <a:rPr lang="en-US" altLang="zh-TW"/>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zh-TW" altLang="en-US" dirty="0"/>
              </a:p>
            </p:txBody>
          </p:sp>
        </mc:Choice>
        <mc:Fallback xmlns="">
          <p:sp>
            <p:nvSpPr>
              <p:cNvPr id="14" name="文字方塊 13">
                <a:extLst>
                  <a:ext uri="{FF2B5EF4-FFF2-40B4-BE49-F238E27FC236}">
                    <a16:creationId xmlns:a16="http://schemas.microsoft.com/office/drawing/2014/main" id="{82D307D2-6DAC-4D7E-9C83-F22C31911AA3}"/>
                  </a:ext>
                </a:extLst>
              </p:cNvPr>
              <p:cNvSpPr txBox="1">
                <a:spLocks noRot="1" noChangeAspect="1" noMove="1" noResize="1" noEditPoints="1" noAdjustHandles="1" noChangeArrowheads="1" noChangeShapeType="1" noTextEdit="1"/>
              </p:cNvSpPr>
              <p:nvPr/>
            </p:nvSpPr>
            <p:spPr>
              <a:xfrm>
                <a:off x="146051" y="795045"/>
                <a:ext cx="11430000" cy="3624775"/>
              </a:xfrm>
              <a:prstGeom prst="rect">
                <a:avLst/>
              </a:prstGeom>
              <a:blipFill>
                <a:blip r:embed="rId2"/>
                <a:stretch>
                  <a:fillRect l="-480" t="-84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293AAAAC-AC97-4CF7-96F2-DD265BF6B6E2}"/>
              </a:ext>
            </a:extLst>
          </p:cNvPr>
          <p:cNvSpPr txBox="1"/>
          <p:nvPr/>
        </p:nvSpPr>
        <p:spPr>
          <a:xfrm>
            <a:off x="233892" y="3860800"/>
            <a:ext cx="11254318" cy="646331"/>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A checkpoint is considered a convergence point if the rates of change of the subsequent ten points relative to their respective preceding points are all less than 0.5%.</a:t>
            </a:r>
            <a:endParaRPr lang="zh-TW" altLang="en-US" dirty="0"/>
          </a:p>
        </p:txBody>
      </p:sp>
    </p:spTree>
    <p:extLst>
      <p:ext uri="{BB962C8B-B14F-4D97-AF65-F5344CB8AC3E}">
        <p14:creationId xmlns:p14="http://schemas.microsoft.com/office/powerpoint/2010/main" val="335783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34568" y="619043"/>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46812" y="3330318"/>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0" name="CalibV_s_mat"/>
              <p:cNvSpPr txBox="1"/>
              <p:nvPr/>
            </p:nvSpPr>
            <p:spPr>
              <a:xfrm>
                <a:off x="3540707" y="907742"/>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𝐷</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−0.4091</m:t>
                                </m:r>
                              </m:e>
                              <m:e>
                                <m:r>
                                  <a:rPr lang="en-US" sz="1050" b="0" i="0">
                                    <a:latin typeface="Cambria Math" panose="02040503050406030204" pitchFamily="18" charset="0"/>
                                  </a:rPr>
                                  <m:t>−0.3164</m:t>
                                </m:r>
                              </m:e>
                              <m:e>
                                <m:r>
                                  <a:rPr lang="en-US" sz="1050" b="0" i="0">
                                    <a:latin typeface="Cambria Math" panose="02040503050406030204" pitchFamily="18" charset="0"/>
                                  </a:rPr>
                                  <m:t>−0.3630</m:t>
                                </m:r>
                              </m:e>
                              <m:e>
                                <m:r>
                                  <a:rPr lang="en-US" sz="1050" b="0" i="0">
                                    <a:latin typeface="Cambria Math" panose="02040503050406030204" pitchFamily="18" charset="0"/>
                                  </a:rPr>
                                  <m:t>−0.3643</m:t>
                                </m:r>
                              </m:e>
                              <m:e>
                                <m:r>
                                  <a:rPr lang="en-US" sz="1050" b="0" i="0">
                                    <a:latin typeface="Cambria Math" panose="02040503050406030204" pitchFamily="18" charset="0"/>
                                  </a:rPr>
                                  <m:t>−0.3180</m:t>
                                </m:r>
                              </m:e>
                            </m:mr>
                            <m:mr>
                              <m:e>
                                <m:r>
                                  <a:rPr lang="en-US" sz="1050" b="0" i="0">
                                    <a:latin typeface="Cambria Math" panose="02040503050406030204" pitchFamily="18" charset="0"/>
                                  </a:rPr>
                                  <m:t>−0.1435</m:t>
                                </m:r>
                              </m:e>
                              <m:e>
                                <m:r>
                                  <a:rPr lang="en-US" sz="1050" b="0" i="0">
                                    <a:latin typeface="Cambria Math" panose="02040503050406030204" pitchFamily="18" charset="0"/>
                                  </a:rPr>
                                  <m:t>1.4020</m:t>
                                </m:r>
                              </m:e>
                              <m:e>
                                <m:r>
                                  <a:rPr lang="en-US" sz="1050" b="0" i="0">
                                    <a:latin typeface="Cambria Math" panose="02040503050406030204" pitchFamily="18" charset="0"/>
                                  </a:rPr>
                                  <m:t>−0.0278</m:t>
                                </m:r>
                              </m:e>
                              <m:e>
                                <m:r>
                                  <a:rPr lang="en-US" sz="1050" b="0" i="0">
                                    <a:latin typeface="Cambria Math" panose="02040503050406030204" pitchFamily="18" charset="0"/>
                                  </a:rPr>
                                  <m:t>0.3880</m:t>
                                </m:r>
                              </m:e>
                              <m:e>
                                <m:r>
                                  <a:rPr lang="en-US" sz="1050" b="0" i="0">
                                    <a:latin typeface="Cambria Math" panose="02040503050406030204" pitchFamily="18" charset="0"/>
                                  </a:rPr>
                                  <m:t>0.3952</m:t>
                                </m:r>
                              </m:e>
                              <m:e>
                                <m:r>
                                  <a:rPr lang="en-US" sz="1050" b="0" i="0">
                                    <a:latin typeface="Cambria Math" panose="02040503050406030204" pitchFamily="18" charset="0"/>
                                  </a:rPr>
                                  <m:t>−0.0290</m:t>
                                </m:r>
                              </m:e>
                            </m:mr>
                            <m:mr>
                              <m:e>
                                <m:r>
                                  <a:rPr lang="en-US" sz="1050" b="0" i="0">
                                    <a:latin typeface="Cambria Math" panose="02040503050406030204" pitchFamily="18" charset="0"/>
                                  </a:rPr>
                                  <m:t>−0.3316</m:t>
                                </m:r>
                              </m:e>
                              <m:e>
                                <m:r>
                                  <a:rPr lang="en-US" sz="1050" b="0" i="0">
                                    <a:latin typeface="Cambria Math" panose="02040503050406030204" pitchFamily="18" charset="0"/>
                                  </a:rPr>
                                  <m:t>−0.3895</m:t>
                                </m:r>
                              </m:e>
                              <m:e>
                                <m:r>
                                  <a:rPr lang="en-US" sz="1050" b="0" i="0">
                                    <a:latin typeface="Cambria Math" panose="02040503050406030204" pitchFamily="18" charset="0"/>
                                  </a:rPr>
                                  <m:t>0.8224</m:t>
                                </m:r>
                              </m:e>
                              <m:e>
                                <m:r>
                                  <a:rPr lang="en-US" sz="1050" b="0" i="0">
                                    <a:latin typeface="Cambria Math" panose="02040503050406030204" pitchFamily="18" charset="0"/>
                                  </a:rPr>
                                  <m:t>−0.4285</m:t>
                                </m:r>
                              </m:e>
                              <m:e>
                                <m:r>
                                  <a:rPr lang="en-US" sz="1050" b="0" i="0">
                                    <a:latin typeface="Cambria Math" panose="02040503050406030204" pitchFamily="18" charset="0"/>
                                  </a:rPr>
                                  <m:t>−0.3899</m:t>
                                </m:r>
                              </m:e>
                              <m:e>
                                <m:r>
                                  <a:rPr lang="en-US" sz="1050" b="0" i="0">
                                    <a:latin typeface="Cambria Math" panose="02040503050406030204" pitchFamily="18" charset="0"/>
                                  </a:rPr>
                                  <m:t>−0.3315</m:t>
                                </m:r>
                              </m:e>
                            </m:mr>
                            <m:mr>
                              <m:e>
                                <m:r>
                                  <a:rPr lang="en-US" sz="1050" b="0" i="0">
                                    <a:latin typeface="Cambria Math" panose="02040503050406030204" pitchFamily="18" charset="0"/>
                                  </a:rPr>
                                  <m:t>0.0136</m:t>
                                </m:r>
                              </m:e>
                              <m:e>
                                <m:r>
                                  <a:rPr lang="en-US" sz="1050" b="0" i="0">
                                    <a:latin typeface="Cambria Math" panose="02040503050406030204" pitchFamily="18" charset="0"/>
                                  </a:rPr>
                                  <m:t>0.4566</m:t>
                                </m:r>
                              </m:e>
                              <m:e>
                                <m:r>
                                  <a:rPr lang="en-US" sz="1050" b="0" i="0">
                                    <a:latin typeface="Cambria Math" panose="02040503050406030204" pitchFamily="18" charset="0"/>
                                  </a:rPr>
                                  <m:t>−0.1075</m:t>
                                </m:r>
                              </m:e>
                              <m:e>
                                <m:r>
                                  <a:rPr lang="en-US" sz="1050" b="0" i="0">
                                    <a:latin typeface="Cambria Math" panose="02040503050406030204" pitchFamily="18" charset="0"/>
                                  </a:rPr>
                                  <m:t>1.4521</m:t>
                                </m:r>
                              </m:e>
                              <m:e>
                                <m:r>
                                  <a:rPr lang="en-US" sz="1050" b="0" i="0">
                                    <a:latin typeface="Cambria Math" panose="02040503050406030204" pitchFamily="18" charset="0"/>
                                  </a:rPr>
                                  <m:t>0.4570</m:t>
                                </m:r>
                              </m:e>
                              <m:e>
                                <m:r>
                                  <a:rPr lang="en-US" sz="1050" b="0" i="0">
                                    <a:latin typeface="Cambria Math" panose="02040503050406030204" pitchFamily="18" charset="0"/>
                                  </a:rPr>
                                  <m:t>0.0024</m:t>
                                </m:r>
                              </m:e>
                            </m:mr>
                            <m:mr>
                              <m:e>
                                <m:r>
                                  <a:rPr lang="en-US" sz="1050" b="0" i="0">
                                    <a:latin typeface="Cambria Math" panose="02040503050406030204" pitchFamily="18" charset="0"/>
                                  </a:rPr>
                                  <m:t>0.0122</m:t>
                                </m:r>
                              </m:e>
                              <m:e>
                                <m:r>
                                  <a:rPr lang="en-US" sz="1050" b="0" i="0">
                                    <a:latin typeface="Cambria Math" panose="02040503050406030204" pitchFamily="18" charset="0"/>
                                  </a:rPr>
                                  <m:t>0.4436</m:t>
                                </m:r>
                              </m:e>
                              <m:e>
                                <m:r>
                                  <a:rPr lang="en-US" sz="1050" b="0" i="0">
                                    <a:latin typeface="Cambria Math" panose="02040503050406030204" pitchFamily="18" charset="0"/>
                                  </a:rPr>
                                  <m:t>0.0012</m:t>
                                </m:r>
                              </m:e>
                              <m:e>
                                <m:r>
                                  <a:rPr lang="en-US" sz="1050" b="0" i="0">
                                    <a:latin typeface="Cambria Math" panose="02040503050406030204" pitchFamily="18" charset="0"/>
                                  </a:rPr>
                                  <m:t>0.4406</m:t>
                                </m:r>
                              </m:e>
                              <m:e>
                                <m:r>
                                  <a:rPr lang="en-US" sz="1050" b="0" i="0">
                                    <a:latin typeface="Cambria Math" panose="02040503050406030204" pitchFamily="18" charset="0"/>
                                  </a:rPr>
                                  <m:t>1.4588</m:t>
                                </m:r>
                              </m:e>
                              <m:e>
                                <m:r>
                                  <a:rPr lang="en-US" sz="1050" b="0" i="0">
                                    <a:latin typeface="Cambria Math" panose="02040503050406030204" pitchFamily="18" charset="0"/>
                                  </a:rPr>
                                  <m:t>−0.1197</m:t>
                                </m:r>
                              </m:e>
                            </m:mr>
                            <m:mr>
                              <m:e>
                                <m:r>
                                  <a:rPr lang="en-US" sz="1050" b="0" i="0">
                                    <a:latin typeface="Cambria Math" panose="02040503050406030204" pitchFamily="18" charset="0"/>
                                  </a:rPr>
                                  <m:t>−0.3275</m:t>
                                </m:r>
                              </m:e>
                              <m:e>
                                <m:r>
                                  <a:rPr lang="en-US" sz="1050" b="0" i="0">
                                    <a:latin typeface="Cambria Math" panose="02040503050406030204" pitchFamily="18" charset="0"/>
                                  </a:rPr>
                                  <m:t>−0.3723</m:t>
                                </m:r>
                              </m:e>
                              <m:e>
                                <m:r>
                                  <a:rPr lang="en-US" sz="1050" b="0" i="0">
                                    <a:latin typeface="Cambria Math" panose="02040503050406030204" pitchFamily="18" charset="0"/>
                                  </a:rPr>
                                  <m:t>−0.3205</m:t>
                                </m:r>
                              </m:e>
                              <m:e>
                                <m:r>
                                  <a:rPr lang="en-US" sz="1050" b="0" i="0">
                                    <a:latin typeface="Cambria Math" panose="02040503050406030204" pitchFamily="18" charset="0"/>
                                  </a:rPr>
                                  <m:t>−0.3744</m:t>
                                </m:r>
                              </m:e>
                              <m:e>
                                <m:r>
                                  <a:rPr lang="en-US" sz="1050" b="0" i="0">
                                    <a:latin typeface="Cambria Math" panose="02040503050406030204" pitchFamily="18" charset="0"/>
                                  </a:rPr>
                                  <m:t>−0.4241</m:t>
                                </m:r>
                              </m:e>
                              <m:e>
                                <m:r>
                                  <a:rPr lang="en-US" sz="1050" b="0" i="0">
                                    <a:latin typeface="Cambria Math" panose="02040503050406030204" pitchFamily="18" charset="0"/>
                                  </a:rPr>
                                  <m:t>0.8360</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40707" y="907742"/>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72812" y="1938976"/>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875.1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5.0964×</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72812" y="1938976"/>
                <a:ext cx="3556000" cy="256032"/>
              </a:xfrm>
              <a:prstGeom prst="rect">
                <a:avLst/>
              </a:prstGeom>
              <a:blipFill>
                <a:blip r:embed="rId22"/>
                <a:stretch>
                  <a:fillRect l="-686" t="-11905" r="-1029"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716769" y="2520139"/>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𝐷</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−0.4379</m:t>
                                </m:r>
                              </m:e>
                              <m:e>
                                <m:r>
                                  <a:rPr lang="en-US" sz="1200" b="0" i="0">
                                    <a:latin typeface="Cambria Math" panose="02040503050406030204" pitchFamily="18" charset="0"/>
                                  </a:rPr>
                                  <m:t>−0.1755</m:t>
                                </m:r>
                              </m:e>
                              <m:e>
                                <m:r>
                                  <a:rPr lang="en-US" sz="1200" b="0" i="0">
                                    <a:latin typeface="Cambria Math" panose="02040503050406030204" pitchFamily="18" charset="0"/>
                                  </a:rPr>
                                  <m:t>−0.3883</m:t>
                                </m:r>
                              </m:e>
                              <m:e>
                                <m:r>
                                  <a:rPr lang="en-US" sz="1200" b="0" i="0">
                                    <a:latin typeface="Cambria Math" panose="02040503050406030204" pitchFamily="18" charset="0"/>
                                  </a:rPr>
                                  <m:t>−0.3898</m:t>
                                </m:r>
                              </m:e>
                              <m:e>
                                <m:r>
                                  <a:rPr lang="en-US" sz="1200" b="0" i="0">
                                    <a:latin typeface="Cambria Math" panose="02040503050406030204" pitchFamily="18" charset="0"/>
                                  </a:rPr>
                                  <m:t>−0.1761</m:t>
                                </m:r>
                              </m:e>
                            </m:mr>
                            <m:mr>
                              <m:e>
                                <m:r>
                                  <a:rPr lang="en-US" sz="1200" b="0" i="0">
                                    <a:latin typeface="Cambria Math" panose="02040503050406030204" pitchFamily="18" charset="0"/>
                                  </a:rPr>
                                  <m:t>−0.0079</m:t>
                                </m:r>
                              </m:e>
                              <m:e>
                                <m:r>
                                  <a:rPr lang="en-US" sz="1200" b="0" i="0">
                                    <a:latin typeface="Cambria Math" panose="02040503050406030204" pitchFamily="18" charset="0"/>
                                  </a:rPr>
                                  <m:t>1.1555</m:t>
                                </m:r>
                              </m:e>
                              <m:e>
                                <m:r>
                                  <a:rPr lang="en-US" sz="1200" b="0" i="0">
                                    <a:latin typeface="Cambria Math" panose="02040503050406030204" pitchFamily="18" charset="0"/>
                                  </a:rPr>
                                  <m:t>0.0106</m:t>
                                </m:r>
                              </m:e>
                              <m:e>
                                <m:r>
                                  <a:rPr lang="en-US" sz="1200" b="0" i="0">
                                    <a:latin typeface="Cambria Math" panose="02040503050406030204" pitchFamily="18" charset="0"/>
                                  </a:rPr>
                                  <m:t>0.3511</m:t>
                                </m:r>
                              </m:e>
                              <m:e>
                                <m:r>
                                  <a:rPr lang="en-US" sz="1200" b="0" i="0">
                                    <a:latin typeface="Cambria Math" panose="02040503050406030204" pitchFamily="18" charset="0"/>
                                  </a:rPr>
                                  <m:t>0.3574</m:t>
                                </m:r>
                              </m:e>
                              <m:e>
                                <m:r>
                                  <a:rPr lang="en-US" sz="1200" b="0" i="0">
                                    <a:latin typeface="Cambria Math" panose="02040503050406030204" pitchFamily="18" charset="0"/>
                                  </a:rPr>
                                  <m:t>0.0090</m:t>
                                </m:r>
                              </m:e>
                            </m:mr>
                            <m:mr>
                              <m:e>
                                <m:r>
                                  <a:rPr lang="en-US" sz="1200" b="0" i="0">
                                    <a:latin typeface="Cambria Math" panose="02040503050406030204" pitchFamily="18" charset="0"/>
                                  </a:rPr>
                                  <m:t>−0.1904</m:t>
                                </m:r>
                              </m:e>
                              <m:e>
                                <m:r>
                                  <a:rPr lang="en-US" sz="1200" b="0" i="0">
                                    <a:latin typeface="Cambria Math" panose="02040503050406030204" pitchFamily="18" charset="0"/>
                                  </a:rPr>
                                  <m:t>−0.4090</m:t>
                                </m:r>
                              </m:e>
                              <m:e>
                                <m:r>
                                  <a:rPr lang="en-US" sz="1200" b="0" i="0">
                                    <a:latin typeface="Cambria Math" panose="02040503050406030204" pitchFamily="18" charset="0"/>
                                  </a:rPr>
                                  <m:t>0.8233</m:t>
                                </m:r>
                              </m:e>
                              <m:e>
                                <m:r>
                                  <a:rPr lang="en-US" sz="1200" b="0" i="0">
                                    <a:latin typeface="Cambria Math" panose="02040503050406030204" pitchFamily="18" charset="0"/>
                                  </a:rPr>
                                  <m:t>−0.4494</m:t>
                                </m:r>
                              </m:e>
                              <m:e>
                                <m:r>
                                  <a:rPr lang="en-US" sz="1200" b="0" i="0">
                                    <a:latin typeface="Cambria Math" panose="02040503050406030204" pitchFamily="18" charset="0"/>
                                  </a:rPr>
                                  <m:t>−0.4093</m:t>
                                </m:r>
                              </m:e>
                              <m:e>
                                <m:r>
                                  <a:rPr lang="en-US" sz="1200" b="0" i="0">
                                    <a:latin typeface="Cambria Math" panose="02040503050406030204" pitchFamily="18" charset="0"/>
                                  </a:rPr>
                                  <m:t>−0.1868</m:t>
                                </m:r>
                              </m:e>
                            </m:mr>
                            <m:mr>
                              <m:e>
                                <m:r>
                                  <a:rPr lang="en-US" sz="1200" b="0" i="0">
                                    <a:latin typeface="Cambria Math" panose="02040503050406030204" pitchFamily="18" charset="0"/>
                                  </a:rPr>
                                  <m:t>0.0418</m:t>
                                </m:r>
                              </m:e>
                              <m:e>
                                <m:r>
                                  <a:rPr lang="en-US" sz="1200" b="0" i="0">
                                    <a:latin typeface="Cambria Math" panose="02040503050406030204" pitchFamily="18" charset="0"/>
                                  </a:rPr>
                                  <m:t>0.4099</m:t>
                                </m:r>
                              </m:e>
                              <m:e>
                                <m:r>
                                  <a:rPr lang="en-US" sz="1200" b="0" i="0">
                                    <a:latin typeface="Cambria Math" panose="02040503050406030204" pitchFamily="18" charset="0"/>
                                  </a:rPr>
                                  <m:t>0.0215</m:t>
                                </m:r>
                              </m:e>
                              <m:e>
                                <m:r>
                                  <a:rPr lang="en-US" sz="1200" b="0" i="0">
                                    <a:latin typeface="Cambria Math" panose="02040503050406030204" pitchFamily="18" charset="0"/>
                                  </a:rPr>
                                  <m:t>1.2072</m:t>
                                </m:r>
                              </m:e>
                              <m:e>
                                <m:r>
                                  <a:rPr lang="en-US" sz="1200" b="0" i="0">
                                    <a:latin typeface="Cambria Math" panose="02040503050406030204" pitchFamily="18" charset="0"/>
                                  </a:rPr>
                                  <m:t>0.4102</m:t>
                                </m:r>
                              </m:e>
                              <m:e>
                                <m:r>
                                  <a:rPr lang="en-US" sz="1200" b="0" i="0">
                                    <a:latin typeface="Cambria Math" panose="02040503050406030204" pitchFamily="18" charset="0"/>
                                  </a:rPr>
                                  <m:t>0.0339</m:t>
                                </m:r>
                              </m:e>
                            </m:mr>
                            <m:mr>
                              <m:e>
                                <m:r>
                                  <a:rPr lang="en-US" sz="1200" b="0" i="0">
                                    <a:latin typeface="Cambria Math" panose="02040503050406030204" pitchFamily="18" charset="0"/>
                                  </a:rPr>
                                  <m:t>0.0411</m:t>
                                </m:r>
                              </m:e>
                              <m:e>
                                <m:r>
                                  <a:rPr lang="en-US" sz="1200" b="0" i="0">
                                    <a:latin typeface="Cambria Math" panose="02040503050406030204" pitchFamily="18" charset="0"/>
                                  </a:rPr>
                                  <m:t>0.3980</m:t>
                                </m:r>
                              </m:e>
                              <m:e>
                                <m:r>
                                  <a:rPr lang="en-US" sz="1200" b="0" i="0">
                                    <a:latin typeface="Cambria Math" panose="02040503050406030204" pitchFamily="18" charset="0"/>
                                  </a:rPr>
                                  <m:t>0.0345</m:t>
                                </m:r>
                              </m:e>
                              <m:e>
                                <m:r>
                                  <a:rPr lang="en-US" sz="1200" b="0" i="0">
                                    <a:latin typeface="Cambria Math" panose="02040503050406030204" pitchFamily="18" charset="0"/>
                                  </a:rPr>
                                  <m:t>0.3950</m:t>
                                </m:r>
                              </m:e>
                              <m:e>
                                <m:r>
                                  <a:rPr lang="en-US" sz="1200" b="0" i="0">
                                    <a:latin typeface="Cambria Math" panose="02040503050406030204" pitchFamily="18" charset="0"/>
                                  </a:rPr>
                                  <m:t>1.2064</m:t>
                                </m:r>
                              </m:e>
                              <m:e>
                                <m:r>
                                  <a:rPr lang="en-US" sz="1200" b="0" i="0">
                                    <a:latin typeface="Cambria Math" panose="02040503050406030204" pitchFamily="18" charset="0"/>
                                  </a:rPr>
                                  <m:t>0.0138</m:t>
                                </m:r>
                              </m:e>
                            </m:mr>
                            <m:mr>
                              <m:e>
                                <m:r>
                                  <a:rPr lang="en-US" sz="1200" b="0" i="0">
                                    <a:latin typeface="Cambria Math" panose="02040503050406030204" pitchFamily="18" charset="0"/>
                                  </a:rPr>
                                  <m:t>−0.1882</m:t>
                                </m:r>
                              </m:e>
                              <m:e>
                                <m:r>
                                  <a:rPr lang="en-US" sz="1200" b="0" i="0">
                                    <a:latin typeface="Cambria Math" panose="02040503050406030204" pitchFamily="18" charset="0"/>
                                  </a:rPr>
                                  <m:t>−0.3982</m:t>
                                </m:r>
                              </m:e>
                              <m:e>
                                <m:r>
                                  <a:rPr lang="en-US" sz="1200" b="0" i="0">
                                    <a:latin typeface="Cambria Math" panose="02040503050406030204" pitchFamily="18" charset="0"/>
                                  </a:rPr>
                                  <m:t>−0.1795</m:t>
                                </m:r>
                              </m:e>
                              <m:e>
                                <m:r>
                                  <a:rPr lang="en-US" sz="1200" b="0" i="0">
                                    <a:latin typeface="Cambria Math" panose="02040503050406030204" pitchFamily="18" charset="0"/>
                                  </a:rPr>
                                  <m:t>−0.3997</m:t>
                                </m:r>
                              </m:e>
                              <m:e>
                                <m:r>
                                  <a:rPr lang="en-US" sz="1200" b="0" i="0">
                                    <a:latin typeface="Cambria Math" panose="02040503050406030204" pitchFamily="18" charset="0"/>
                                  </a:rPr>
                                  <m:t>−0.4518</m:t>
                                </m:r>
                              </m:e>
                              <m:e>
                                <m:r>
                                  <a:rPr lang="en-US" sz="1200" b="0" i="0">
                                    <a:latin typeface="Cambria Math" panose="02040503050406030204" pitchFamily="18" charset="0"/>
                                  </a:rPr>
                                  <m:t>0.8425</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716769" y="2520139"/>
                <a:ext cx="3793066" cy="868680"/>
              </a:xfrm>
              <a:prstGeom prst="rect">
                <a:avLst/>
              </a:prstGeom>
              <a:blipFill>
                <a:blip r:embed="rId23"/>
                <a:stretch>
                  <a:fillRect l="-13666" r="-8842" b="-181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73966" y="3740867"/>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0.0185</m:t>
                                </m:r>
                              </m:e>
                              <m:e>
                                <m:r>
                                  <a:rPr lang="en-US" sz="1050" b="0" i="0">
                                    <a:latin typeface="Cambria Math" panose="02040503050406030204" pitchFamily="18" charset="0"/>
                                  </a:rPr>
                                  <m:t>0.0203</m:t>
                                </m:r>
                              </m:e>
                              <m:e>
                                <m:r>
                                  <a:rPr lang="en-US" sz="1050" b="0" i="0">
                                    <a:latin typeface="Cambria Math" panose="02040503050406030204" pitchFamily="18" charset="0"/>
                                  </a:rPr>
                                  <m:t>−0.1173</m:t>
                                </m:r>
                              </m:e>
                              <m:e>
                                <m:r>
                                  <a:rPr lang="en-US" sz="1050" b="0" i="0">
                                    <a:latin typeface="Cambria Math" panose="02040503050406030204" pitchFamily="18" charset="0"/>
                                  </a:rPr>
                                  <m:t>0.0024</m:t>
                                </m:r>
                              </m:e>
                              <m:e>
                                <m:r>
                                  <a:rPr lang="en-US" sz="1050" b="0" i="0">
                                    <a:latin typeface="Cambria Math" panose="02040503050406030204" pitchFamily="18" charset="0"/>
                                  </a:rPr>
                                  <m:t>0.0018</m:t>
                                </m:r>
                              </m:e>
                              <m:e>
                                <m:r>
                                  <a:rPr lang="en-US" sz="1050" b="0" i="0">
                                    <a:latin typeface="Cambria Math" panose="02040503050406030204" pitchFamily="18" charset="0"/>
                                  </a:rPr>
                                  <m:t>−0.1186</m:t>
                                </m:r>
                              </m:e>
                            </m:mr>
                            <m:mr>
                              <m:e>
                                <m:r>
                                  <a:rPr lang="en-US" sz="1050" b="0" i="0">
                                    <a:latin typeface="Cambria Math" panose="02040503050406030204" pitchFamily="18" charset="0"/>
                                  </a:rPr>
                                  <m:t>−0.1183</m:t>
                                </m:r>
                              </m:e>
                              <m:e>
                                <m:r>
                                  <a:rPr lang="en-US" sz="1050" b="0" i="0">
                                    <a:latin typeface="Cambria Math" panose="02040503050406030204" pitchFamily="18" charset="0"/>
                                  </a:rPr>
                                  <m:t>0.0026</m:t>
                                </m:r>
                              </m:e>
                              <m:e>
                                <m:r>
                                  <a:rPr lang="en-US" sz="1050" b="0" i="0">
                                    <a:latin typeface="Cambria Math" panose="02040503050406030204" pitchFamily="18" charset="0"/>
                                  </a:rPr>
                                  <m:t>0.0168</m:t>
                                </m:r>
                              </m:e>
                              <m:e>
                                <m:r>
                                  <a:rPr lang="en-US" sz="1050" b="0" i="0">
                                    <a:latin typeface="Cambria Math" panose="02040503050406030204" pitchFamily="18" charset="0"/>
                                  </a:rPr>
                                  <m:t>0.0163</m:t>
                                </m:r>
                              </m:e>
                              <m:e>
                                <m:r>
                                  <a:rPr lang="en-US" sz="1050" b="0" i="0">
                                    <a:latin typeface="Cambria Math" panose="02040503050406030204" pitchFamily="18" charset="0"/>
                                  </a:rPr>
                                  <m:t>0.0019</m:t>
                                </m:r>
                              </m:e>
                              <m:e>
                                <m:r>
                                  <a:rPr lang="en-US" sz="1050" b="0" i="0">
                                    <a:latin typeface="Cambria Math" panose="02040503050406030204" pitchFamily="18" charset="0"/>
                                  </a:rPr>
                                  <m:t>−0.1185</m:t>
                                </m:r>
                              </m:e>
                            </m:mr>
                            <m:mr>
                              <m:e>
                                <m:r>
                                  <a:rPr lang="en-US" sz="1050" b="0" i="0">
                                    <a:latin typeface="Cambria Math" panose="02040503050406030204" pitchFamily="18" charset="0"/>
                                  </a:rPr>
                                  <m:t>0.1182</m:t>
                                </m:r>
                              </m:e>
                              <m:e>
                                <m:r>
                                  <a:rPr lang="en-US" sz="1050" b="0" i="0">
                                    <a:latin typeface="Cambria Math" panose="02040503050406030204" pitchFamily="18" charset="0"/>
                                  </a:rPr>
                                  <m:t>−0.0029</m:t>
                                </m:r>
                              </m:e>
                              <m:e>
                                <m:r>
                                  <a:rPr lang="en-US" sz="1050" b="0" i="0">
                                    <a:latin typeface="Cambria Math" panose="02040503050406030204" pitchFamily="18" charset="0"/>
                                  </a:rPr>
                                  <m:t>0.1166</m:t>
                                </m:r>
                              </m:e>
                              <m:e>
                                <m:r>
                                  <a:rPr lang="en-US" sz="1050" b="0" i="0">
                                    <a:latin typeface="Cambria Math" panose="02040503050406030204" pitchFamily="18" charset="0"/>
                                  </a:rPr>
                                  <m:t>−0.0029</m:t>
                                </m:r>
                              </m:e>
                              <m:e>
                                <m:r>
                                  <a:rPr lang="en-US" sz="1050" b="0" i="0">
                                    <a:latin typeface="Cambria Math" panose="02040503050406030204" pitchFamily="18" charset="0"/>
                                  </a:rPr>
                                  <m:t>−0.0186</m:t>
                                </m:r>
                              </m:e>
                              <m:e>
                                <m:r>
                                  <a:rPr lang="en-US" sz="1050" b="0" i="0">
                                    <a:latin typeface="Cambria Math" panose="02040503050406030204" pitchFamily="18" charset="0"/>
                                  </a:rPr>
                                  <m:t>−0.0199</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73966" y="3740867"/>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73966" y="4442331"/>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873.0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6.0657×</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73966" y="4442331"/>
                <a:ext cx="3208867" cy="256032"/>
              </a:xfrm>
              <a:prstGeom prst="rect">
                <a:avLst/>
              </a:prstGeom>
              <a:blipFill>
                <a:blip r:embed="rId25"/>
                <a:stretch>
                  <a:fillRect l="-360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826034" y="951888"/>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826034" y="951888"/>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826034" y="252013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826034" y="252013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88287" y="5042291"/>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1397.5153</m:t>
                                </m:r>
                              </m:e>
                              <m:e>
                                <m:r>
                                  <a:rPr lang="en-US" sz="1100" b="0" i="0">
                                    <a:latin typeface="Cambria Math" panose="02040503050406030204" pitchFamily="18" charset="0"/>
                                  </a:rPr>
                                  <m:t>−44.8949</m:t>
                                </m:r>
                              </m:e>
                              <m:e>
                                <m:r>
                                  <a:rPr lang="en-US" sz="1100" b="0" i="0">
                                    <a:latin typeface="Cambria Math" panose="02040503050406030204" pitchFamily="18" charset="0"/>
                                  </a:rPr>
                                  <m:t>−296.4434</m:t>
                                </m:r>
                              </m:e>
                              <m:e>
                                <m:r>
                                  <a:rPr lang="en-US" sz="1100" b="0" i="0">
                                    <a:latin typeface="Cambria Math" panose="02040503050406030204" pitchFamily="18" charset="0"/>
                                  </a:rPr>
                                  <m:t>−239.1196</m:t>
                                </m:r>
                              </m:e>
                              <m:e>
                                <m:r>
                                  <a:rPr lang="en-US" sz="1100" b="0" i="0">
                                    <a:latin typeface="Cambria Math" panose="02040503050406030204" pitchFamily="18" charset="0"/>
                                  </a:rPr>
                                  <m:t>−249.0026</m:t>
                                </m:r>
                              </m:e>
                              <m:e>
                                <m:r>
                                  <a:rPr lang="en-US" sz="1100" b="0" i="0">
                                    <a:latin typeface="Cambria Math" panose="02040503050406030204" pitchFamily="18" charset="0"/>
                                  </a:rPr>
                                  <m:t>−294.9264</m:t>
                                </m:r>
                              </m:e>
                            </m:mr>
                            <m:mr>
                              <m:e>
                                <m:r>
                                  <a:rPr lang="en-US" sz="1100" b="0" i="0">
                                    <a:latin typeface="Cambria Math" panose="02040503050406030204" pitchFamily="18" charset="0"/>
                                  </a:rPr>
                                  <m:t>−52.3899</m:t>
                                </m:r>
                              </m:e>
                              <m:e>
                                <m:r>
                                  <a:rPr lang="en-US" sz="1100" b="0" i="0">
                                    <a:latin typeface="Cambria Math" panose="02040503050406030204" pitchFamily="18" charset="0"/>
                                  </a:rPr>
                                  <m:t>1598.4115</m:t>
                                </m:r>
                              </m:e>
                              <m:e>
                                <m:r>
                                  <a:rPr lang="en-US" sz="1100" b="0" i="0">
                                    <a:latin typeface="Cambria Math" panose="02040503050406030204" pitchFamily="18" charset="0"/>
                                  </a:rPr>
                                  <m:t>−236.0011</m:t>
                                </m:r>
                              </m:e>
                              <m:e>
                                <m:r>
                                  <a:rPr lang="en-US" sz="1100" b="0" i="0">
                                    <a:latin typeface="Cambria Math" panose="02040503050406030204" pitchFamily="18" charset="0"/>
                                  </a:rPr>
                                  <m:t>−508.1098</m:t>
                                </m:r>
                              </m:e>
                              <m:e>
                                <m:r>
                                  <a:rPr lang="en-US" sz="1100" b="0" i="0">
                                    <a:latin typeface="Cambria Math" panose="02040503050406030204" pitchFamily="18" charset="0"/>
                                  </a:rPr>
                                  <m:t>−515.4042</m:t>
                                </m:r>
                              </m:e>
                              <m:e>
                                <m:r>
                                  <a:rPr lang="en-US" sz="1100" b="0" i="0">
                                    <a:latin typeface="Cambria Math" panose="02040503050406030204" pitchFamily="18" charset="0"/>
                                  </a:rPr>
                                  <m:t>−237.3949</m:t>
                                </m:r>
                              </m:e>
                            </m:mr>
                            <m:mr>
                              <m:e>
                                <m:r>
                                  <a:rPr lang="en-US" sz="1100" b="0" i="0">
                                    <a:latin typeface="Cambria Math" panose="02040503050406030204" pitchFamily="18" charset="0"/>
                                  </a:rPr>
                                  <m:t>−294.5246</m:t>
                                </m:r>
                              </m:e>
                              <m:e>
                                <m:r>
                                  <a:rPr lang="en-US" sz="1100" b="0" i="0">
                                    <a:latin typeface="Cambria Math" panose="02040503050406030204" pitchFamily="18" charset="0"/>
                                  </a:rPr>
                                  <m:t>−235.2099</m:t>
                                </m:r>
                              </m:e>
                              <m:e>
                                <m:r>
                                  <a:rPr lang="en-US" sz="1100" b="0" i="0">
                                    <a:latin typeface="Cambria Math" panose="02040503050406030204" pitchFamily="18" charset="0"/>
                                  </a:rPr>
                                  <m:t>1397.1511</m:t>
                                </m:r>
                              </m:e>
                              <m:e>
                                <m:r>
                                  <a:rPr lang="en-US" sz="1100" b="0" i="0">
                                    <a:latin typeface="Cambria Math" panose="02040503050406030204" pitchFamily="18" charset="0"/>
                                  </a:rPr>
                                  <m:t>−46.2959</m:t>
                                </m:r>
                              </m:e>
                              <m:e>
                                <m:r>
                                  <a:rPr lang="en-US" sz="1100" b="0" i="0">
                                    <a:latin typeface="Cambria Math" panose="02040503050406030204" pitchFamily="18" charset="0"/>
                                  </a:rPr>
                                  <m:t>−241.8620</m:t>
                                </m:r>
                              </m:e>
                              <m:e>
                                <m:r>
                                  <a:rPr lang="en-US" sz="1100" b="0" i="0">
                                    <a:latin typeface="Cambria Math" panose="02040503050406030204" pitchFamily="18" charset="0"/>
                                  </a:rPr>
                                  <m:t>−295.1847</m:t>
                                </m:r>
                              </m:e>
                            </m:mr>
                            <m:mr>
                              <m:e>
                                <m:r>
                                  <a:rPr lang="en-US" sz="1100" b="0" i="0">
                                    <a:latin typeface="Cambria Math" panose="02040503050406030204" pitchFamily="18" charset="0"/>
                                  </a:rPr>
                                  <m:t>−235.7501</m:t>
                                </m:r>
                              </m:e>
                              <m:e>
                                <m:r>
                                  <a:rPr lang="en-US" sz="1100" b="0" i="0">
                                    <a:latin typeface="Cambria Math" panose="02040503050406030204" pitchFamily="18" charset="0"/>
                                  </a:rPr>
                                  <m:t>−532.4126</m:t>
                                </m:r>
                              </m:e>
                              <m:e>
                                <m:r>
                                  <a:rPr lang="en-US" sz="1100" b="0" i="0">
                                    <a:latin typeface="Cambria Math" panose="02040503050406030204" pitchFamily="18" charset="0"/>
                                  </a:rPr>
                                  <m:t>−51.6440</m:t>
                                </m:r>
                              </m:e>
                              <m:e>
                                <m:r>
                                  <a:rPr lang="en-US" sz="1100" b="0" i="0">
                                    <a:latin typeface="Cambria Math" panose="02040503050406030204" pitchFamily="18" charset="0"/>
                                  </a:rPr>
                                  <m:t>1588.6363</m:t>
                                </m:r>
                              </m:e>
                              <m:e>
                                <m:r>
                                  <a:rPr lang="en-US" sz="1100" b="0" i="0">
                                    <a:latin typeface="Cambria Math" panose="02040503050406030204" pitchFamily="18" charset="0"/>
                                  </a:rPr>
                                  <m:t>−528.6298</m:t>
                                </m:r>
                              </m:e>
                              <m:e>
                                <m:r>
                                  <a:rPr lang="en-US" sz="1100" b="0" i="0">
                                    <a:latin typeface="Cambria Math" panose="02040503050406030204" pitchFamily="18" charset="0"/>
                                  </a:rPr>
                                  <m:t>−226.1507</m:t>
                                </m:r>
                              </m:e>
                            </m:mr>
                            <m:mr>
                              <m:e>
                                <m:r>
                                  <a:rPr lang="en-US" sz="1100" b="0" i="0">
                                    <a:latin typeface="Cambria Math" panose="02040503050406030204" pitchFamily="18" charset="0"/>
                                  </a:rPr>
                                  <m:t>−241.2077</m:t>
                                </m:r>
                              </m:e>
                              <m:e>
                                <m:r>
                                  <a:rPr lang="en-US" sz="1100" b="0" i="0">
                                    <a:latin typeface="Cambria Math" panose="02040503050406030204" pitchFamily="18" charset="0"/>
                                  </a:rPr>
                                  <m:t>−521.3975</m:t>
                                </m:r>
                              </m:e>
                              <m:e>
                                <m:r>
                                  <a:rPr lang="en-US" sz="1100" b="0" i="0">
                                    <a:latin typeface="Cambria Math" panose="02040503050406030204" pitchFamily="18" charset="0"/>
                                  </a:rPr>
                                  <m:t>−229.4493</m:t>
                                </m:r>
                              </m:e>
                              <m:e>
                                <m:r>
                                  <a:rPr lang="en-US" sz="1100" b="0" i="0">
                                    <a:latin typeface="Cambria Math" panose="02040503050406030204" pitchFamily="18" charset="0"/>
                                  </a:rPr>
                                  <m:t>−520.3586</m:t>
                                </m:r>
                              </m:e>
                              <m:e>
                                <m:r>
                                  <a:rPr lang="en-US" sz="1100" b="0" i="0">
                                    <a:latin typeface="Cambria Math" panose="02040503050406030204" pitchFamily="18" charset="0"/>
                                  </a:rPr>
                                  <m:t>1580.8644</m:t>
                                </m:r>
                              </m:e>
                              <m:e>
                                <m:r>
                                  <a:rPr lang="en-US" sz="1100" b="0" i="0">
                                    <a:latin typeface="Cambria Math" panose="02040503050406030204" pitchFamily="18" charset="0"/>
                                  </a:rPr>
                                  <m:t>−48.3108</m:t>
                                </m:r>
                              </m:e>
                            </m:mr>
                            <m:mr>
                              <m:e>
                                <m:r>
                                  <a:rPr lang="en-US" sz="1100" b="0" i="0">
                                    <a:latin typeface="Cambria Math" panose="02040503050406030204" pitchFamily="18" charset="0"/>
                                  </a:rPr>
                                  <m:t>−288.5384</m:t>
                                </m:r>
                              </m:e>
                              <m:e>
                                <m:r>
                                  <a:rPr lang="en-US" sz="1100" b="0" i="0">
                                    <a:latin typeface="Cambria Math" panose="02040503050406030204" pitchFamily="18" charset="0"/>
                                  </a:rPr>
                                  <m:t>−243.6843</m:t>
                                </m:r>
                              </m:e>
                              <m:e>
                                <m:r>
                                  <a:rPr lang="en-US" sz="1100" b="0" i="0">
                                    <a:latin typeface="Cambria Math" panose="02040503050406030204" pitchFamily="18" charset="0"/>
                                  </a:rPr>
                                  <m:t>−297.2197</m:t>
                                </m:r>
                              </m:e>
                              <m:e>
                                <m:r>
                                  <a:rPr lang="en-US" sz="1100" b="0" i="0">
                                    <a:latin typeface="Cambria Math" panose="02040503050406030204" pitchFamily="18" charset="0"/>
                                  </a:rPr>
                                  <m:t>−235.9084</m:t>
                                </m:r>
                              </m:e>
                              <m:e>
                                <m:r>
                                  <a:rPr lang="en-US" sz="1100" b="0" i="0">
                                    <a:latin typeface="Cambria Math" panose="02040503050406030204" pitchFamily="18" charset="0"/>
                                  </a:rPr>
                                  <m:t>−44.7064</m:t>
                                </m:r>
                              </m:e>
                              <m:e>
                                <m:r>
                                  <a:rPr lang="en-US" sz="1100" b="0" i="0">
                                    <a:latin typeface="Cambria Math" panose="02040503050406030204" pitchFamily="18" charset="0"/>
                                  </a:rPr>
                                  <m:t>1386.2112</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88287" y="5042291"/>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8CD6E91D-DA9C-48D6-8E1D-D3024F8E65AA}"/>
              </a:ext>
            </a:extLst>
          </p:cNvPr>
          <p:cNvSpPr txBox="1"/>
          <p:nvPr/>
        </p:nvSpPr>
        <p:spPr>
          <a:xfrm>
            <a:off x="8155400" y="6292513"/>
            <a:ext cx="3869266" cy="307777"/>
          </a:xfrm>
          <a:prstGeom prst="rect">
            <a:avLst/>
          </a:prstGeom>
          <a:noFill/>
        </p:spPr>
        <p:txBody>
          <a:bodyPr wrap="square" rtlCol="0">
            <a:spAutoFit/>
          </a:bodyPr>
          <a:lstStyle/>
          <a:p>
            <a:pPr marL="285750" indent="-285750">
              <a:buFont typeface="Wingdings" panose="05000000000000000000" pitchFamily="2" charset="2"/>
              <a:buChar char="Ø"/>
            </a:pPr>
            <a:r>
              <a:rPr lang="en-US" altLang="zh-TW" sz="1400" dirty="0"/>
              <a:t>Number of Interpolation Points:180(six sensor)</a:t>
            </a:r>
            <a:endParaRPr lang="zh-TW" altLang="en-US" sz="1400" dirty="0"/>
          </a:p>
        </p:txBody>
      </p:sp>
    </p:spTree>
    <p:extLst>
      <p:ext uri="{BB962C8B-B14F-4D97-AF65-F5344CB8AC3E}">
        <p14:creationId xmlns:p14="http://schemas.microsoft.com/office/powerpoint/2010/main" val="1367279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34701" y="601115"/>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62717" y="3075736"/>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3047020" y="5318739"/>
            <a:ext cx="8778240" cy="1463040"/>
          </a:xfrm>
          <a:prstGeom prst="rect">
            <a:avLst/>
          </a:prstGeom>
          <a:noFill/>
        </p:spPr>
        <p:txBody>
          <a:bodyPr wrap="square" rtlCol="0">
            <a:normAutofit fontScale="77500" lnSpcReduction="20000"/>
          </a:bodyPr>
          <a:lstStyle/>
          <a:p>
            <a:pPr marL="285750" indent="-285750"/>
            <a:r>
              <a:rPr lang="en-US" altLang="zh-TW"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200400" y="932688"/>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−0.3405</m:t>
                                </m:r>
                              </m:e>
                              <m:e>
                                <m:r>
                                  <a:rPr lang="en-US" sz="900" b="0" i="0">
                                    <a:latin typeface="Cambria Math" panose="02040503050406030204" pitchFamily="18" charset="0"/>
                                  </a:rPr>
                                  <m:t>−0.2722</m:t>
                                </m:r>
                              </m:e>
                              <m:e>
                                <m:r>
                                  <a:rPr lang="en-US" sz="900" b="0" i="0">
                                    <a:latin typeface="Cambria Math" panose="02040503050406030204" pitchFamily="18" charset="0"/>
                                  </a:rPr>
                                  <m:t>−0.2776</m:t>
                                </m:r>
                              </m:e>
                              <m:e>
                                <m:r>
                                  <a:rPr lang="en-US" sz="900" b="0" i="0">
                                    <a:latin typeface="Cambria Math" panose="02040503050406030204" pitchFamily="18" charset="0"/>
                                  </a:rPr>
                                  <m:t>−0.2864</m:t>
                                </m:r>
                              </m:e>
                              <m:e>
                                <m:r>
                                  <a:rPr lang="en-US" sz="900" b="0" i="0">
                                    <a:latin typeface="Cambria Math" panose="02040503050406030204" pitchFamily="18" charset="0"/>
                                  </a:rPr>
                                  <m:t>−0.2702</m:t>
                                </m:r>
                              </m:e>
                            </m:mr>
                            <m:mr>
                              <m:e>
                                <m:r>
                                  <a:rPr lang="en-US" sz="900" b="0" i="0">
                                    <a:latin typeface="Cambria Math" panose="02040503050406030204" pitchFamily="18" charset="0"/>
                                  </a:rPr>
                                  <m:t>−0.2154</m:t>
                                </m:r>
                              </m:e>
                              <m:e>
                                <m:r>
                                  <a:rPr lang="en-US" sz="900" b="0" i="0">
                                    <a:latin typeface="Cambria Math" panose="02040503050406030204" pitchFamily="18" charset="0"/>
                                  </a:rPr>
                                  <m:t>1.2558</m:t>
                                </m:r>
                              </m:e>
                              <m:e>
                                <m:r>
                                  <a:rPr lang="en-US" sz="900" b="0" i="0">
                                    <a:latin typeface="Cambria Math" panose="02040503050406030204" pitchFamily="18" charset="0"/>
                                  </a:rPr>
                                  <m:t>−0.0837</m:t>
                                </m:r>
                              </m:e>
                              <m:e>
                                <m:r>
                                  <a:rPr lang="en-US" sz="900" b="0" i="0">
                                    <a:latin typeface="Cambria Math" panose="02040503050406030204" pitchFamily="18" charset="0"/>
                                  </a:rPr>
                                  <m:t>0.2482</m:t>
                                </m:r>
                              </m:e>
                              <m:e>
                                <m:r>
                                  <a:rPr lang="en-US" sz="900" b="0" i="0">
                                    <a:latin typeface="Cambria Math" panose="02040503050406030204" pitchFamily="18" charset="0"/>
                                  </a:rPr>
                                  <m:t>0.2607</m:t>
                                </m:r>
                              </m:e>
                              <m:e>
                                <m:r>
                                  <a:rPr lang="en-US" sz="900" b="0" i="0">
                                    <a:latin typeface="Cambria Math" panose="02040503050406030204" pitchFamily="18" charset="0"/>
                                  </a:rPr>
                                  <m:t>−0.0826</m:t>
                                </m:r>
                              </m:e>
                            </m:mr>
                            <m:mr>
                              <m:e>
                                <m:r>
                                  <a:rPr lang="en-US" sz="900" b="0" i="0">
                                    <a:latin typeface="Cambria Math" panose="02040503050406030204" pitchFamily="18" charset="0"/>
                                  </a:rPr>
                                  <m:t>−0.2775</m:t>
                                </m:r>
                              </m:e>
                              <m:e>
                                <m:r>
                                  <a:rPr lang="en-US" sz="900" b="0" i="0">
                                    <a:latin typeface="Cambria Math" panose="02040503050406030204" pitchFamily="18" charset="0"/>
                                  </a:rPr>
                                  <m:t>−0.2878</m:t>
                                </m:r>
                              </m:e>
                              <m:e>
                                <m:r>
                                  <a:rPr lang="en-US" sz="900" b="0" i="0">
                                    <a:latin typeface="Cambria Math" panose="02040503050406030204" pitchFamily="18" charset="0"/>
                                  </a:rPr>
                                  <m:t>0.8279</m:t>
                                </m:r>
                              </m:e>
                              <m:e>
                                <m:r>
                                  <a:rPr lang="en-US" sz="900" b="0" i="0">
                                    <a:latin typeface="Cambria Math" panose="02040503050406030204" pitchFamily="18" charset="0"/>
                                  </a:rPr>
                                  <m:t>−0.3486</m:t>
                                </m:r>
                              </m:e>
                              <m:e>
                                <m:r>
                                  <a:rPr lang="en-US" sz="900" b="0" i="0">
                                    <a:latin typeface="Cambria Math" panose="02040503050406030204" pitchFamily="18" charset="0"/>
                                  </a:rPr>
                                  <m:t>−0.2934</m:t>
                                </m:r>
                              </m:e>
                              <m:e>
                                <m:r>
                                  <a:rPr lang="en-US" sz="900" b="0" i="0">
                                    <a:latin typeface="Cambria Math" panose="02040503050406030204" pitchFamily="18" charset="0"/>
                                  </a:rPr>
                                  <m:t>−0.2794</m:t>
                                </m:r>
                              </m:e>
                            </m:mr>
                            <m:mr>
                              <m:e>
                                <m:r>
                                  <a:rPr lang="en-US" sz="900" b="0" i="0">
                                    <a:latin typeface="Cambria Math" panose="02040503050406030204" pitchFamily="18" charset="0"/>
                                  </a:rPr>
                                  <m:t>−0.0873</m:t>
                                </m:r>
                              </m:e>
                              <m:e>
                                <m:r>
                                  <a:rPr lang="en-US" sz="900" b="0" i="0">
                                    <a:latin typeface="Cambria Math" panose="02040503050406030204" pitchFamily="18" charset="0"/>
                                  </a:rPr>
                                  <m:t>0.2468</m:t>
                                </m:r>
                              </m:e>
                              <m:e>
                                <m:r>
                                  <a:rPr lang="en-US" sz="900" b="0" i="0">
                                    <a:latin typeface="Cambria Math" panose="02040503050406030204" pitchFamily="18" charset="0"/>
                                  </a:rPr>
                                  <m:t>−0.2180</m:t>
                                </m:r>
                              </m:e>
                              <m:e>
                                <m:r>
                                  <a:rPr lang="en-US" sz="900" b="0" i="0">
                                    <a:latin typeface="Cambria Math" panose="02040503050406030204" pitchFamily="18" charset="0"/>
                                  </a:rPr>
                                  <m:t>1.2346</m:t>
                                </m:r>
                              </m:e>
                              <m:e>
                                <m:r>
                                  <a:rPr lang="en-US" sz="900" b="0" i="0">
                                    <a:latin typeface="Cambria Math" panose="02040503050406030204" pitchFamily="18" charset="0"/>
                                  </a:rPr>
                                  <m:t>0.2477</m:t>
                                </m:r>
                              </m:e>
                              <m:e>
                                <m:r>
                                  <a:rPr lang="en-US" sz="900" b="0" i="0">
                                    <a:latin typeface="Cambria Math" panose="02040503050406030204" pitchFamily="18" charset="0"/>
                                  </a:rPr>
                                  <m:t>−0.0829</m:t>
                                </m:r>
                              </m:e>
                            </m:mr>
                            <m:mr>
                              <m:e>
                                <m:r>
                                  <a:rPr lang="en-US" sz="900" b="0" i="0">
                                    <a:latin typeface="Cambria Math" panose="02040503050406030204" pitchFamily="18" charset="0"/>
                                  </a:rPr>
                                  <m:t>−0.0922</m:t>
                                </m:r>
                              </m:e>
                              <m:e>
                                <m:r>
                                  <a:rPr lang="en-US" sz="900" b="0" i="0">
                                    <a:latin typeface="Cambria Math" panose="02040503050406030204" pitchFamily="18" charset="0"/>
                                  </a:rPr>
                                  <m:t>0.2368</m:t>
                                </m:r>
                              </m:e>
                              <m:e>
                                <m:r>
                                  <a:rPr lang="en-US" sz="900" b="0" i="0">
                                    <a:latin typeface="Cambria Math" panose="02040503050406030204" pitchFamily="18" charset="0"/>
                                  </a:rPr>
                                  <m:t>−0.0955</m:t>
                                </m:r>
                              </m:e>
                              <m:e>
                                <m:r>
                                  <a:rPr lang="en-US" sz="900" b="0" i="0">
                                    <a:latin typeface="Cambria Math" panose="02040503050406030204" pitchFamily="18" charset="0"/>
                                  </a:rPr>
                                  <m:t>0.2320</m:t>
                                </m:r>
                              </m:e>
                              <m:e>
                                <m:r>
                                  <a:rPr lang="en-US" sz="900" b="0" i="0">
                                    <a:latin typeface="Cambria Math" panose="02040503050406030204" pitchFamily="18" charset="0"/>
                                  </a:rPr>
                                  <m:t>1.2519</m:t>
                                </m:r>
                              </m:e>
                              <m:e>
                                <m:r>
                                  <a:rPr lang="en-US" sz="900" b="0" i="0">
                                    <a:latin typeface="Cambria Math" panose="02040503050406030204" pitchFamily="18" charset="0"/>
                                  </a:rPr>
                                  <m:t>−0.2255</m:t>
                                </m:r>
                              </m:e>
                            </m:mr>
                            <m:mr>
                              <m:e>
                                <m:r>
                                  <a:rPr lang="en-US" sz="900" b="0" i="0">
                                    <a:latin typeface="Cambria Math" panose="02040503050406030204" pitchFamily="18" charset="0"/>
                                  </a:rPr>
                                  <m:t>−0.2655</m:t>
                                </m:r>
                              </m:e>
                              <m:e>
                                <m:r>
                                  <a:rPr lang="en-US" sz="900" b="0" i="0">
                                    <a:latin typeface="Cambria Math" panose="02040503050406030204" pitchFamily="18" charset="0"/>
                                  </a:rPr>
                                  <m:t>−0.2723</m:t>
                                </m:r>
                              </m:e>
                              <m:e>
                                <m:r>
                                  <a:rPr lang="en-US" sz="900" b="0" i="0">
                                    <a:latin typeface="Cambria Math" panose="02040503050406030204" pitchFamily="18" charset="0"/>
                                  </a:rPr>
                                  <m:t>−0.2622</m:t>
                                </m:r>
                              </m:e>
                              <m:e>
                                <m:r>
                                  <a:rPr lang="en-US" sz="900" b="0" i="0">
                                    <a:latin typeface="Cambria Math" panose="02040503050406030204" pitchFamily="18" charset="0"/>
                                  </a:rPr>
                                  <m:t>−0.2671</m:t>
                                </m:r>
                              </m:e>
                              <m:e>
                                <m:r>
                                  <a:rPr lang="en-US" sz="900" b="0" i="0">
                                    <a:latin typeface="Cambria Math" panose="02040503050406030204" pitchFamily="18" charset="0"/>
                                  </a:rPr>
                                  <m:t>−0.3353</m:t>
                                </m:r>
                              </m:e>
                              <m:e>
                                <m:r>
                                  <a:rPr lang="en-US" sz="900" b="0" i="0">
                                    <a:latin typeface="Cambria Math" panose="02040503050406030204" pitchFamily="18" charset="0"/>
                                  </a:rPr>
                                  <m:t>0.8344</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200400" y="932688"/>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21089" y="186944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875.1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6.5513×</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21089" y="1869440"/>
                <a:ext cx="3233712" cy="256032"/>
              </a:xfrm>
              <a:prstGeom prst="rect">
                <a:avLst/>
              </a:prstGeom>
              <a:blipFill>
                <a:blip r:embed="rId22"/>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200400" y="2615184"/>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−0.3802</m:t>
                                </m:r>
                              </m:e>
                              <m:e>
                                <m:r>
                                  <a:rPr lang="en-US" sz="900" b="0" i="0">
                                    <a:latin typeface="Cambria Math" panose="02040503050406030204" pitchFamily="18" charset="0"/>
                                  </a:rPr>
                                  <m:t>−0.1534</m:t>
                                </m:r>
                              </m:e>
                              <m:e>
                                <m:r>
                                  <a:rPr lang="en-US" sz="900" b="0" i="0">
                                    <a:latin typeface="Cambria Math" panose="02040503050406030204" pitchFamily="18" charset="0"/>
                                  </a:rPr>
                                  <m:t>−0.3142</m:t>
                                </m:r>
                              </m:e>
                              <m:e>
                                <m:r>
                                  <a:rPr lang="en-US" sz="900" b="0" i="0">
                                    <a:latin typeface="Cambria Math" panose="02040503050406030204" pitchFamily="18" charset="0"/>
                                  </a:rPr>
                                  <m:t>−0.3247</m:t>
                                </m:r>
                              </m:e>
                              <m:e>
                                <m:r>
                                  <a:rPr lang="en-US" sz="900" b="0" i="0">
                                    <a:latin typeface="Cambria Math" panose="02040503050406030204" pitchFamily="18" charset="0"/>
                                  </a:rPr>
                                  <m:t>−0.1519</m:t>
                                </m:r>
                              </m:e>
                            </m:mr>
                            <m:mr>
                              <m:e>
                                <m:r>
                                  <a:rPr lang="en-US" sz="900" b="0" i="0">
                                    <a:latin typeface="Cambria Math" panose="02040503050406030204" pitchFamily="18" charset="0"/>
                                  </a:rPr>
                                  <m:t>−0.0870</m:t>
                                </m:r>
                              </m:e>
                              <m:e>
                                <m:r>
                                  <a:rPr lang="en-US" sz="900" b="0" i="0">
                                    <a:latin typeface="Cambria Math" panose="02040503050406030204" pitchFamily="18" charset="0"/>
                                  </a:rPr>
                                  <m:t>1.0354</m:t>
                                </m:r>
                              </m:e>
                              <m:e>
                                <m:r>
                                  <a:rPr lang="en-US" sz="900" b="0" i="0">
                                    <a:latin typeface="Cambria Math" panose="02040503050406030204" pitchFamily="18" charset="0"/>
                                  </a:rPr>
                                  <m:t>−0.0524</m:t>
                                </m:r>
                              </m:e>
                              <m:e>
                                <m:r>
                                  <a:rPr lang="en-US" sz="900" b="0" i="0">
                                    <a:latin typeface="Cambria Math" panose="02040503050406030204" pitchFamily="18" charset="0"/>
                                  </a:rPr>
                                  <m:t>0.2247</m:t>
                                </m:r>
                              </m:e>
                              <m:e>
                                <m:r>
                                  <a:rPr lang="en-US" sz="900" b="0" i="0">
                                    <a:latin typeface="Cambria Math" panose="02040503050406030204" pitchFamily="18" charset="0"/>
                                  </a:rPr>
                                  <m:t>0.2344</m:t>
                                </m:r>
                              </m:e>
                              <m:e>
                                <m:r>
                                  <a:rPr lang="en-US" sz="900" b="0" i="0">
                                    <a:latin typeface="Cambria Math" panose="02040503050406030204" pitchFamily="18" charset="0"/>
                                  </a:rPr>
                                  <m:t>−0.0516</m:t>
                                </m:r>
                              </m:e>
                            </m:mr>
                            <m:mr>
                              <m:e>
                                <m:r>
                                  <a:rPr lang="en-US" sz="900" b="0" i="0">
                                    <a:latin typeface="Cambria Math" panose="02040503050406030204" pitchFamily="18" charset="0"/>
                                  </a:rPr>
                                  <m:t>−0.1588</m:t>
                                </m:r>
                              </m:e>
                              <m:e>
                                <m:r>
                                  <a:rPr lang="en-US" sz="900" b="0" i="0">
                                    <a:latin typeface="Cambria Math" panose="02040503050406030204" pitchFamily="18" charset="0"/>
                                  </a:rPr>
                                  <m:t>−0.3220</m:t>
                                </m:r>
                              </m:e>
                              <m:e>
                                <m:r>
                                  <a:rPr lang="en-US" sz="900" b="0" i="0">
                                    <a:latin typeface="Cambria Math" panose="02040503050406030204" pitchFamily="18" charset="0"/>
                                  </a:rPr>
                                  <m:t>0.8266</m:t>
                                </m:r>
                              </m:e>
                              <m:e>
                                <m:r>
                                  <a:rPr lang="en-US" sz="900" b="0" i="0">
                                    <a:latin typeface="Cambria Math" panose="02040503050406030204" pitchFamily="18" charset="0"/>
                                  </a:rPr>
                                  <m:t>−0.3816</m:t>
                                </m:r>
                              </m:e>
                              <m:e>
                                <m:r>
                                  <a:rPr lang="en-US" sz="900" b="0" i="0">
                                    <a:latin typeface="Cambria Math" panose="02040503050406030204" pitchFamily="18" charset="0"/>
                                  </a:rPr>
                                  <m:t>−0.3284</m:t>
                                </m:r>
                              </m:e>
                              <m:e>
                                <m:r>
                                  <a:rPr lang="en-US" sz="900" b="0" i="0">
                                    <a:latin typeface="Cambria Math" panose="02040503050406030204" pitchFamily="18" charset="0"/>
                                  </a:rPr>
                                  <m:t>−0.1591</m:t>
                                </m:r>
                              </m:e>
                            </m:mr>
                            <m:mr>
                              <m:e>
                                <m:r>
                                  <a:rPr lang="en-US" sz="900" b="0" i="0">
                                    <a:latin typeface="Cambria Math" panose="02040503050406030204" pitchFamily="18" charset="0"/>
                                  </a:rPr>
                                  <m:t>−0.0575</m:t>
                                </m:r>
                              </m:e>
                              <m:e>
                                <m:r>
                                  <a:rPr lang="en-US" sz="900" b="0" i="0">
                                    <a:latin typeface="Cambria Math" panose="02040503050406030204" pitchFamily="18" charset="0"/>
                                  </a:rPr>
                                  <m:t>0.2264</m:t>
                                </m:r>
                              </m:e>
                              <m:e>
                                <m:r>
                                  <a:rPr lang="en-US" sz="900" b="0" i="0">
                                    <a:latin typeface="Cambria Math" panose="02040503050406030204" pitchFamily="18" charset="0"/>
                                  </a:rPr>
                                  <m:t>−0.0893</m:t>
                                </m:r>
                              </m:e>
                              <m:e>
                                <m:r>
                                  <a:rPr lang="en-US" sz="900" b="0" i="0">
                                    <a:latin typeface="Cambria Math" panose="02040503050406030204" pitchFamily="18" charset="0"/>
                                  </a:rPr>
                                  <m:t>1.0290</m:t>
                                </m:r>
                              </m:e>
                              <m:e>
                                <m:r>
                                  <a:rPr lang="en-US" sz="900" b="0" i="0">
                                    <a:latin typeface="Cambria Math" panose="02040503050406030204" pitchFamily="18" charset="0"/>
                                  </a:rPr>
                                  <m:t>0.2265</m:t>
                                </m:r>
                              </m:e>
                              <m:e>
                                <m:r>
                                  <a:rPr lang="en-US" sz="900" b="0" i="0">
                                    <a:latin typeface="Cambria Math" panose="02040503050406030204" pitchFamily="18" charset="0"/>
                                  </a:rPr>
                                  <m:t>−0.0527</m:t>
                                </m:r>
                              </m:e>
                            </m:mr>
                            <m:mr>
                              <m:e>
                                <m:r>
                                  <a:rPr lang="en-US" sz="900" b="0" i="0">
                                    <a:latin typeface="Cambria Math" panose="02040503050406030204" pitchFamily="18" charset="0"/>
                                  </a:rPr>
                                  <m:t>−0.0602</m:t>
                                </m:r>
                              </m:e>
                              <m:e>
                                <m:r>
                                  <a:rPr lang="en-US" sz="900" b="0" i="0">
                                    <a:latin typeface="Cambria Math" panose="02040503050406030204" pitchFamily="18" charset="0"/>
                                  </a:rPr>
                                  <m:t>0.2176</m:t>
                                </m:r>
                              </m:e>
                              <m:e>
                                <m:r>
                                  <a:rPr lang="en-US" sz="900" b="0" i="0">
                                    <a:latin typeface="Cambria Math" panose="02040503050406030204" pitchFamily="18" charset="0"/>
                                  </a:rPr>
                                  <m:t>−0.0609</m:t>
                                </m:r>
                              </m:e>
                              <m:e>
                                <m:r>
                                  <a:rPr lang="en-US" sz="900" b="0" i="0">
                                    <a:latin typeface="Cambria Math" panose="02040503050406030204" pitchFamily="18" charset="0"/>
                                  </a:rPr>
                                  <m:t>0.2139</m:t>
                                </m:r>
                              </m:e>
                              <m:e>
                                <m:r>
                                  <a:rPr lang="en-US" sz="900" b="0" i="0">
                                    <a:latin typeface="Cambria Math" panose="02040503050406030204" pitchFamily="18" charset="0"/>
                                  </a:rPr>
                                  <m:t>1.0378</m:t>
                                </m:r>
                              </m:e>
                              <m:e>
                                <m:r>
                                  <a:rPr lang="en-US" sz="900" b="0" i="0">
                                    <a:latin typeface="Cambria Math" panose="02040503050406030204" pitchFamily="18" charset="0"/>
                                  </a:rPr>
                                  <m:t>−0.0931</m:t>
                                </m:r>
                              </m:e>
                            </m:mr>
                            <m:mr>
                              <m:e>
                                <m:r>
                                  <a:rPr lang="en-US" sz="900" b="0" i="0">
                                    <a:latin typeface="Cambria Math" panose="02040503050406030204" pitchFamily="18" charset="0"/>
                                  </a:rPr>
                                  <m:t>−0.1489</m:t>
                                </m:r>
                              </m:e>
                              <m:e>
                                <m:r>
                                  <a:rPr lang="en-US" sz="900" b="0" i="0">
                                    <a:latin typeface="Cambria Math" panose="02040503050406030204" pitchFamily="18" charset="0"/>
                                  </a:rPr>
                                  <m:t>−0.3113</m:t>
                                </m:r>
                              </m:e>
                              <m:e>
                                <m:r>
                                  <a:rPr lang="en-US" sz="900" b="0" i="0">
                                    <a:latin typeface="Cambria Math" panose="02040503050406030204" pitchFamily="18" charset="0"/>
                                  </a:rPr>
                                  <m:t>−0.1447</m:t>
                                </m:r>
                              </m:e>
                              <m:e>
                                <m:r>
                                  <a:rPr lang="en-US" sz="900" b="0" i="0">
                                    <a:latin typeface="Cambria Math" panose="02040503050406030204" pitchFamily="18" charset="0"/>
                                  </a:rPr>
                                  <m:t>−0.3055</m:t>
                                </m:r>
                              </m:e>
                              <m:e>
                                <m:r>
                                  <a:rPr lang="en-US" sz="900" b="0" i="0">
                                    <a:latin typeface="Cambria Math" panose="02040503050406030204" pitchFamily="18" charset="0"/>
                                  </a:rPr>
                                  <m:t>−0.3773</m:t>
                                </m:r>
                              </m:e>
                              <m:e>
                                <m:r>
                                  <a:rPr lang="en-US" sz="900" b="0" i="0">
                                    <a:latin typeface="Cambria Math" panose="02040503050406030204" pitchFamily="18" charset="0"/>
                                  </a:rPr>
                                  <m:t>0.8390</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200400" y="2615184"/>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200400" y="3584448"/>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0.0185</m:t>
                                </m:r>
                              </m:e>
                              <m:e>
                                <m:r>
                                  <a:rPr lang="en-US" sz="900" b="0" i="0">
                                    <a:latin typeface="Cambria Math" panose="02040503050406030204" pitchFamily="18" charset="0"/>
                                  </a:rPr>
                                  <m:t>0.0203</m:t>
                                </m:r>
                              </m:e>
                              <m:e>
                                <m:r>
                                  <a:rPr lang="en-US" sz="900" b="0" i="0">
                                    <a:latin typeface="Cambria Math" panose="02040503050406030204" pitchFamily="18" charset="0"/>
                                  </a:rPr>
                                  <m:t>−0.1173</m:t>
                                </m:r>
                              </m:e>
                              <m:e>
                                <m:r>
                                  <a:rPr lang="en-US" sz="900" b="0" i="0">
                                    <a:latin typeface="Cambria Math" panose="02040503050406030204" pitchFamily="18" charset="0"/>
                                  </a:rPr>
                                  <m:t>0.0024</m:t>
                                </m:r>
                              </m:e>
                              <m:e>
                                <m:r>
                                  <a:rPr lang="en-US" sz="900" b="0" i="0">
                                    <a:latin typeface="Cambria Math" panose="02040503050406030204" pitchFamily="18" charset="0"/>
                                  </a:rPr>
                                  <m:t>0.0018</m:t>
                                </m:r>
                              </m:e>
                              <m:e>
                                <m:r>
                                  <a:rPr lang="en-US" sz="900" b="0" i="0">
                                    <a:latin typeface="Cambria Math" panose="02040503050406030204" pitchFamily="18" charset="0"/>
                                  </a:rPr>
                                  <m:t>−0.1186</m:t>
                                </m:r>
                              </m:e>
                            </m:mr>
                            <m:mr>
                              <m:e>
                                <m:r>
                                  <a:rPr lang="en-US" sz="900" b="0" i="0">
                                    <a:latin typeface="Cambria Math" panose="02040503050406030204" pitchFamily="18" charset="0"/>
                                  </a:rPr>
                                  <m:t>−0.1183</m:t>
                                </m:r>
                              </m:e>
                              <m:e>
                                <m:r>
                                  <a:rPr lang="en-US" sz="900" b="0" i="0">
                                    <a:latin typeface="Cambria Math" panose="02040503050406030204" pitchFamily="18" charset="0"/>
                                  </a:rPr>
                                  <m:t>0.0026</m:t>
                                </m:r>
                              </m:e>
                              <m:e>
                                <m:r>
                                  <a:rPr lang="en-US" sz="900" b="0" i="0">
                                    <a:latin typeface="Cambria Math" panose="02040503050406030204" pitchFamily="18" charset="0"/>
                                  </a:rPr>
                                  <m:t>0.0168</m:t>
                                </m:r>
                              </m:e>
                              <m:e>
                                <m:r>
                                  <a:rPr lang="en-US" sz="900" b="0" i="0">
                                    <a:latin typeface="Cambria Math" panose="02040503050406030204" pitchFamily="18" charset="0"/>
                                  </a:rPr>
                                  <m:t>0.0163</m:t>
                                </m:r>
                              </m:e>
                              <m:e>
                                <m:r>
                                  <a:rPr lang="en-US" sz="900" b="0" i="0">
                                    <a:latin typeface="Cambria Math" panose="02040503050406030204" pitchFamily="18" charset="0"/>
                                  </a:rPr>
                                  <m:t>0.0019</m:t>
                                </m:r>
                              </m:e>
                              <m:e>
                                <m:r>
                                  <a:rPr lang="en-US" sz="900" b="0" i="0">
                                    <a:latin typeface="Cambria Math" panose="02040503050406030204" pitchFamily="18" charset="0"/>
                                  </a:rPr>
                                  <m:t>−0.1185</m:t>
                                </m:r>
                              </m:e>
                            </m:mr>
                            <m:mr>
                              <m:e>
                                <m:r>
                                  <a:rPr lang="en-US" sz="900" b="0" i="0">
                                    <a:latin typeface="Cambria Math" panose="02040503050406030204" pitchFamily="18" charset="0"/>
                                  </a:rPr>
                                  <m:t>0.1182</m:t>
                                </m:r>
                              </m:e>
                              <m:e>
                                <m:r>
                                  <a:rPr lang="en-US" sz="900" b="0" i="0">
                                    <a:latin typeface="Cambria Math" panose="02040503050406030204" pitchFamily="18" charset="0"/>
                                  </a:rPr>
                                  <m:t>−0.0029</m:t>
                                </m:r>
                              </m:e>
                              <m:e>
                                <m:r>
                                  <a:rPr lang="en-US" sz="900" b="0" i="0">
                                    <a:latin typeface="Cambria Math" panose="02040503050406030204" pitchFamily="18" charset="0"/>
                                  </a:rPr>
                                  <m:t>0.1166</m:t>
                                </m:r>
                              </m:e>
                              <m:e>
                                <m:r>
                                  <a:rPr lang="en-US" sz="900" b="0" i="0">
                                    <a:latin typeface="Cambria Math" panose="02040503050406030204" pitchFamily="18" charset="0"/>
                                  </a:rPr>
                                  <m:t>−0.0029</m:t>
                                </m:r>
                              </m:e>
                              <m:e>
                                <m:r>
                                  <a:rPr lang="en-US" sz="900" b="0" i="0">
                                    <a:latin typeface="Cambria Math" panose="02040503050406030204" pitchFamily="18" charset="0"/>
                                  </a:rPr>
                                  <m:t>−0.0186</m:t>
                                </m:r>
                              </m:e>
                              <m:e>
                                <m:r>
                                  <a:rPr lang="en-US" sz="900" b="0" i="0">
                                    <a:latin typeface="Cambria Math" panose="02040503050406030204" pitchFamily="18" charset="0"/>
                                  </a:rPr>
                                  <m:t>−0.0199</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200400" y="3584448"/>
                <a:ext cx="3632200" cy="457200"/>
              </a:xfrm>
              <a:prstGeom prst="rect">
                <a:avLst/>
              </a:prstGeom>
              <a:blipFill>
                <a:blip r:embed="rId24"/>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200401" y="41148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873.0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7.6756×</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200401" y="4114800"/>
                <a:ext cx="3556000" cy="256032"/>
              </a:xfrm>
              <a:prstGeom prst="rect">
                <a:avLst/>
              </a:prstGeom>
              <a:blipFill>
                <a:blip r:embed="rId25"/>
                <a:stretch>
                  <a:fillRect t="-9524"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56400" y="83210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56400" y="832104"/>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32600" y="258317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32600" y="2583179"/>
                <a:ext cx="4191000" cy="549509"/>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17782" y="4370832"/>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1159.5668</m:t>
                                </m:r>
                              </m:e>
                              <m:e>
                                <m:r>
                                  <a:rPr lang="en-US" sz="1050" b="0" i="0">
                                    <a:latin typeface="Cambria Math" panose="02040503050406030204" pitchFamily="18" charset="0"/>
                                  </a:rPr>
                                  <m:t>−23.5248</m:t>
                                </m:r>
                              </m:e>
                              <m:e>
                                <m:r>
                                  <a:rPr lang="en-US" sz="1050" b="0" i="0">
                                    <a:latin typeface="Cambria Math" panose="02040503050406030204" pitchFamily="18" charset="0"/>
                                  </a:rPr>
                                  <m:t>−213.7308</m:t>
                                </m:r>
                              </m:e>
                              <m:e>
                                <m:r>
                                  <a:rPr lang="en-US" sz="1050" b="0" i="0">
                                    <a:latin typeface="Cambria Math" panose="02040503050406030204" pitchFamily="18" charset="0"/>
                                  </a:rPr>
                                  <m:t>−208.7612</m:t>
                                </m:r>
                              </m:e>
                              <m:e>
                                <m:r>
                                  <a:rPr lang="en-US" sz="1050" b="0" i="0">
                                    <a:latin typeface="Cambria Math" panose="02040503050406030204" pitchFamily="18" charset="0"/>
                                  </a:rPr>
                                  <m:t>−202.0178</m:t>
                                </m:r>
                              </m:e>
                              <m:e>
                                <m:r>
                                  <a:rPr lang="en-US" sz="1050" b="0" i="0">
                                    <a:latin typeface="Cambria Math" panose="02040503050406030204" pitchFamily="18" charset="0"/>
                                  </a:rPr>
                                  <m:t>−217.6552</m:t>
                                </m:r>
                              </m:e>
                            </m:mr>
                            <m:mr>
                              <m:e>
                                <m:r>
                                  <a:rPr lang="en-US" sz="1050" b="0" i="0">
                                    <a:latin typeface="Cambria Math" panose="02040503050406030204" pitchFamily="18" charset="0"/>
                                  </a:rPr>
                                  <m:t>−25.8751</m:t>
                                </m:r>
                              </m:e>
                              <m:e>
                                <m:r>
                                  <a:rPr lang="en-US" sz="1050" b="0" i="0">
                                    <a:latin typeface="Cambria Math" panose="02040503050406030204" pitchFamily="18" charset="0"/>
                                  </a:rPr>
                                  <m:t>1270.3779</m:t>
                                </m:r>
                              </m:e>
                              <m:e>
                                <m:r>
                                  <a:rPr lang="en-US" sz="1050" b="0" i="0">
                                    <a:latin typeface="Cambria Math" panose="02040503050406030204" pitchFamily="18" charset="0"/>
                                  </a:rPr>
                                  <m:t>−194.5319</m:t>
                                </m:r>
                              </m:e>
                              <m:e>
                                <m:r>
                                  <a:rPr lang="en-US" sz="1050" b="0" i="0">
                                    <a:latin typeface="Cambria Math" panose="02040503050406030204" pitchFamily="18" charset="0"/>
                                  </a:rPr>
                                  <m:t>−385.6372</m:t>
                                </m:r>
                              </m:e>
                              <m:e>
                                <m:r>
                                  <a:rPr lang="en-US" sz="1050" b="0" i="0">
                                    <a:latin typeface="Cambria Math" panose="02040503050406030204" pitchFamily="18" charset="0"/>
                                  </a:rPr>
                                  <m:t>−395.0217</m:t>
                                </m:r>
                              </m:e>
                              <m:e>
                                <m:r>
                                  <a:rPr lang="en-US" sz="1050" b="0" i="0">
                                    <a:latin typeface="Cambria Math" panose="02040503050406030204" pitchFamily="18" charset="0"/>
                                  </a:rPr>
                                  <m:t>−196.1640</m:t>
                                </m:r>
                              </m:e>
                            </m:mr>
                            <m:mr>
                              <m:e>
                                <m:r>
                                  <a:rPr lang="en-US" sz="1050" b="0" i="0">
                                    <a:latin typeface="Cambria Math" panose="02040503050406030204" pitchFamily="18" charset="0"/>
                                  </a:rPr>
                                  <m:t>−214.4977</m:t>
                                </m:r>
                              </m:e>
                              <m:e>
                                <m:r>
                                  <a:rPr lang="en-US" sz="1050" b="0" i="0">
                                    <a:latin typeface="Cambria Math" panose="02040503050406030204" pitchFamily="18" charset="0"/>
                                  </a:rPr>
                                  <m:t>−207.8367</m:t>
                                </m:r>
                              </m:e>
                              <m:e>
                                <m:r>
                                  <a:rPr lang="en-US" sz="1050" b="0" i="0">
                                    <a:latin typeface="Cambria Math" panose="02040503050406030204" pitchFamily="18" charset="0"/>
                                  </a:rPr>
                                  <m:t>1164.1663</m:t>
                                </m:r>
                              </m:e>
                              <m:e>
                                <m:r>
                                  <a:rPr lang="en-US" sz="1050" b="0" i="0">
                                    <a:latin typeface="Cambria Math" panose="02040503050406030204" pitchFamily="18" charset="0"/>
                                  </a:rPr>
                                  <m:t>−23.2533</m:t>
                                </m:r>
                              </m:e>
                              <m:e>
                                <m:r>
                                  <a:rPr lang="en-US" sz="1050" b="0" i="0">
                                    <a:latin typeface="Cambria Math" panose="02040503050406030204" pitchFamily="18" charset="0"/>
                                  </a:rPr>
                                  <m:t>−202.7730</m:t>
                                </m:r>
                              </m:e>
                              <m:e>
                                <m:r>
                                  <a:rPr lang="en-US" sz="1050" b="0" i="0">
                                    <a:latin typeface="Cambria Math" panose="02040503050406030204" pitchFamily="18" charset="0"/>
                                  </a:rPr>
                                  <m:t>−213.7765</m:t>
                                </m:r>
                              </m:e>
                            </m:mr>
                            <m:mr>
                              <m:e>
                                <m:r>
                                  <a:rPr lang="en-US" sz="1050" b="0" i="0">
                                    <a:latin typeface="Cambria Math" panose="02040503050406030204" pitchFamily="18" charset="0"/>
                                  </a:rPr>
                                  <m:t>−194.8479</m:t>
                                </m:r>
                              </m:e>
                              <m:e>
                                <m:r>
                                  <a:rPr lang="en-US" sz="1050" b="0" i="0">
                                    <a:latin typeface="Cambria Math" panose="02040503050406030204" pitchFamily="18" charset="0"/>
                                  </a:rPr>
                                  <m:t>−391.6311</m:t>
                                </m:r>
                              </m:e>
                              <m:e>
                                <m:r>
                                  <a:rPr lang="en-US" sz="1050" b="0" i="0">
                                    <a:latin typeface="Cambria Math" panose="02040503050406030204" pitchFamily="18" charset="0"/>
                                  </a:rPr>
                                  <m:t>−25.8715</m:t>
                                </m:r>
                              </m:e>
                              <m:e>
                                <m:r>
                                  <a:rPr lang="en-US" sz="1050" b="0" i="0">
                                    <a:latin typeface="Cambria Math" panose="02040503050406030204" pitchFamily="18" charset="0"/>
                                  </a:rPr>
                                  <m:t>1278.5043</m:t>
                                </m:r>
                              </m:e>
                              <m:e>
                                <m:r>
                                  <a:rPr lang="en-US" sz="1050" b="0" i="0">
                                    <a:latin typeface="Cambria Math" panose="02040503050406030204" pitchFamily="18" charset="0"/>
                                  </a:rPr>
                                  <m:t>−387.9531</m:t>
                                </m:r>
                              </m:e>
                              <m:e>
                                <m:r>
                                  <a:rPr lang="en-US" sz="1050" b="0" i="0">
                                    <a:latin typeface="Cambria Math" panose="02040503050406030204" pitchFamily="18" charset="0"/>
                                  </a:rPr>
                                  <m:t>−200.2446</m:t>
                                </m:r>
                              </m:e>
                            </m:mr>
                            <m:mr>
                              <m:e>
                                <m:r>
                                  <a:rPr lang="en-US" sz="1050" b="0" i="0">
                                    <a:latin typeface="Cambria Math" panose="02040503050406030204" pitchFamily="18" charset="0"/>
                                  </a:rPr>
                                  <m:t>−194.4885</m:t>
                                </m:r>
                              </m:e>
                              <m:e>
                                <m:r>
                                  <a:rPr lang="en-US" sz="1050" b="0" i="0">
                                    <a:latin typeface="Cambria Math" panose="02040503050406030204" pitchFamily="18" charset="0"/>
                                  </a:rPr>
                                  <m:t>−382.5715</m:t>
                                </m:r>
                              </m:e>
                              <m:e>
                                <m:r>
                                  <a:rPr lang="en-US" sz="1050" b="0" i="0">
                                    <a:latin typeface="Cambria Math" panose="02040503050406030204" pitchFamily="18" charset="0"/>
                                  </a:rPr>
                                  <m:t>−191.0582</m:t>
                                </m:r>
                              </m:e>
                              <m:e>
                                <m:r>
                                  <a:rPr lang="en-US" sz="1050" b="0" i="0">
                                    <a:latin typeface="Cambria Math" panose="02040503050406030204" pitchFamily="18" charset="0"/>
                                  </a:rPr>
                                  <m:t>−380.5290</m:t>
                                </m:r>
                              </m:e>
                              <m:e>
                                <m:r>
                                  <a:rPr lang="en-US" sz="1050" b="0" i="0">
                                    <a:latin typeface="Cambria Math" panose="02040503050406030204" pitchFamily="18" charset="0"/>
                                  </a:rPr>
                                  <m:t>1259.5404</m:t>
                                </m:r>
                              </m:e>
                              <m:e>
                                <m:r>
                                  <a:rPr lang="en-US" sz="1050" b="0" i="0">
                                    <a:latin typeface="Cambria Math" panose="02040503050406030204" pitchFamily="18" charset="0"/>
                                  </a:rPr>
                                  <m:t>−25.1148</m:t>
                                </m:r>
                              </m:e>
                            </m:mr>
                            <m:mr>
                              <m:e>
                                <m:r>
                                  <a:rPr lang="en-US" sz="1050" b="0" i="0">
                                    <a:latin typeface="Cambria Math" panose="02040503050406030204" pitchFamily="18" charset="0"/>
                                  </a:rPr>
                                  <m:t>−215.1006</m:t>
                                </m:r>
                              </m:e>
                              <m:e>
                                <m:r>
                                  <a:rPr lang="en-US" sz="1050" b="0" i="0">
                                    <a:latin typeface="Cambria Math" panose="02040503050406030204" pitchFamily="18" charset="0"/>
                                  </a:rPr>
                                  <m:t>−206.1265</m:t>
                                </m:r>
                              </m:e>
                              <m:e>
                                <m:r>
                                  <a:rPr lang="en-US" sz="1050" b="0" i="0">
                                    <a:latin typeface="Cambria Math" panose="02040503050406030204" pitchFamily="18" charset="0"/>
                                  </a:rPr>
                                  <m:t>−218.6404</m:t>
                                </m:r>
                              </m:e>
                              <m:e>
                                <m:r>
                                  <a:rPr lang="en-US" sz="1050" b="0" i="0">
                                    <a:latin typeface="Cambria Math" panose="02040503050406030204" pitchFamily="18" charset="0"/>
                                  </a:rPr>
                                  <m:t>−212.7699</m:t>
                                </m:r>
                              </m:e>
                              <m:e>
                                <m:r>
                                  <a:rPr lang="en-US" sz="1050" b="0" i="0">
                                    <a:latin typeface="Cambria Math" panose="02040503050406030204" pitchFamily="18" charset="0"/>
                                  </a:rPr>
                                  <m:t>−23.0765</m:t>
                                </m:r>
                              </m:e>
                              <m:e>
                                <m:r>
                                  <a:rPr lang="en-US" sz="1050" b="0" i="0">
                                    <a:latin typeface="Cambria Math" panose="02040503050406030204" pitchFamily="18" charset="0"/>
                                  </a:rPr>
                                  <m:t>1164.4823</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17782" y="4370832"/>
                <a:ext cx="5192875" cy="947907"/>
              </a:xfrm>
              <a:prstGeom prst="rect">
                <a:avLst/>
              </a:prstGeom>
              <a:blipFill>
                <a:blip r:embed="rId29"/>
                <a:stretch>
                  <a:fillRect l="-1291" r="-4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70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409671" y="2626733"/>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418127" y="2649838"/>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804867" y="3222729"/>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91261" y="3253470"/>
              <a:ext cx="1228561" cy="1176562"/>
              <a:chOff x="2701406" y="2893183"/>
              <a:chExt cx="1228561" cy="1176562"/>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75874" y="3278260"/>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72497" y="4791315"/>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48976" y="4369251"/>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2080822" y="4023193"/>
              <a:ext cx="56534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202260" y="5009637"/>
              <a:ext cx="70684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1722778" y="4920250"/>
              <a:ext cx="716087"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646170" y="4218252"/>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3901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410072" y="1580130"/>
            <a:ext cx="154270" cy="249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929C7F0D-F5A3-4902-BA86-664DD3A784C8}"/>
              </a:ext>
            </a:extLst>
          </p:cNvPr>
          <p:cNvGrpSpPr/>
          <p:nvPr/>
        </p:nvGrpSpPr>
        <p:grpSpPr>
          <a:xfrm>
            <a:off x="6906182" y="715742"/>
            <a:ext cx="4004880" cy="1937982"/>
            <a:chOff x="7005066" y="765107"/>
            <a:chExt cx="4004880" cy="1937982"/>
          </a:xfrm>
        </p:grpSpPr>
        <p:pic>
          <p:nvPicPr>
            <p:cNvPr id="6" name="圖片 5">
              <a:extLst>
                <a:ext uri="{FF2B5EF4-FFF2-40B4-BE49-F238E27FC236}">
                  <a16:creationId xmlns:a16="http://schemas.microsoft.com/office/drawing/2014/main" id="{7F474004-3D02-4269-B293-2D0F86D93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7175" y="904546"/>
              <a:ext cx="3733346" cy="1656337"/>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7005066" y="765107"/>
              <a:ext cx="4004880" cy="1937982"/>
              <a:chOff x="5812732" y="951858"/>
              <a:chExt cx="4004880" cy="1937982"/>
            </a:xfrm>
          </p:grpSpPr>
          <p:grpSp>
            <p:nvGrpSpPr>
              <p:cNvPr id="104" name="群組 103">
                <a:extLst>
                  <a:ext uri="{FF2B5EF4-FFF2-40B4-BE49-F238E27FC236}">
                    <a16:creationId xmlns:a16="http://schemas.microsoft.com/office/drawing/2014/main" id="{A6B76983-543C-42CB-9656-7C72DACBE64A}"/>
                  </a:ext>
                </a:extLst>
              </p:cNvPr>
              <p:cNvGrpSpPr/>
              <p:nvPr/>
            </p:nvGrpSpPr>
            <p:grpSpPr>
              <a:xfrm>
                <a:off x="5852355" y="996130"/>
                <a:ext cx="3965257" cy="1869530"/>
                <a:chOff x="5835522" y="1026279"/>
                <a:chExt cx="3965257" cy="1832580"/>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5835522" y="1041991"/>
                  <a:ext cx="3899937" cy="1762586"/>
                  <a:chOff x="5835522" y="1041991"/>
                  <a:chExt cx="3899937" cy="1762586"/>
                </a:xfrm>
              </p:grpSpPr>
              <p:sp>
                <p:nvSpPr>
                  <p:cNvPr id="93" name="矩形 92">
                    <a:extLst>
                      <a:ext uri="{FF2B5EF4-FFF2-40B4-BE49-F238E27FC236}">
                        <a16:creationId xmlns:a16="http://schemas.microsoft.com/office/drawing/2014/main" id="{525AE447-9ED2-4513-9B43-301DCA1B05D1}"/>
                      </a:ext>
                    </a:extLst>
                  </p:cNvPr>
                  <p:cNvSpPr/>
                  <p:nvPr/>
                </p:nvSpPr>
                <p:spPr>
                  <a:xfrm>
                    <a:off x="6644999" y="10518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336588" y="1041991"/>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466613" y="1823746"/>
                    <a:ext cx="336141"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5835522" y="1808281"/>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7" name="矩形 96">
                    <a:extLst>
                      <a:ext uri="{FF2B5EF4-FFF2-40B4-BE49-F238E27FC236}">
                        <a16:creationId xmlns:a16="http://schemas.microsoft.com/office/drawing/2014/main" id="{428B6E4B-BA92-4351-AF44-9EDCF9387C43}"/>
                      </a:ext>
                    </a:extLst>
                  </p:cNvPr>
                  <p:cNvSpPr/>
                  <p:nvPr/>
                </p:nvSpPr>
                <p:spPr>
                  <a:xfrm>
                    <a:off x="6652784" y="260421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387231" y="2614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74045" y="1663714"/>
                    <a:ext cx="161414" cy="45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9179871" y="1814560"/>
                    <a:ext cx="175304" cy="2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86A494C-BAF4-4D1F-BA9A-4460EFDB47C1}"/>
                        </a:ext>
                      </a:extLst>
                    </p:cNvPr>
                    <p:cNvSpPr txBox="1"/>
                    <p:nvPr/>
                  </p:nvSpPr>
                  <p:spPr>
                    <a:xfrm rot="16200000">
                      <a:off x="8745990" y="1804069"/>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9" name="文字方塊 58">
                      <a:extLst>
                        <a:ext uri="{FF2B5EF4-FFF2-40B4-BE49-F238E27FC236}">
                          <a16:creationId xmlns:a16="http://schemas.microsoft.com/office/drawing/2014/main" id="{786A494C-BAF4-4D1F-BA9A-4460EFDB47C1}"/>
                        </a:ext>
                      </a:extLst>
                    </p:cNvPr>
                    <p:cNvSpPr txBox="1">
                      <a:spLocks noRot="1" noChangeAspect="1" noMove="1" noResize="1" noEditPoints="1" noAdjustHandles="1" noChangeArrowheads="1" noChangeShapeType="1" noTextEdit="1"/>
                    </p:cNvSpPr>
                    <p:nvPr/>
                  </p:nvSpPr>
                  <p:spPr>
                    <a:xfrm rot="16200000">
                      <a:off x="8745990" y="1804069"/>
                      <a:ext cx="1832580" cy="276999"/>
                    </a:xfrm>
                    <a:prstGeom prst="rect">
                      <a:avLst/>
                    </a:prstGeom>
                    <a:blipFill>
                      <a:blip r:embed="rId3"/>
                      <a:stretch>
                        <a:fillRect l="-93478" t="-13725" r="-143478"/>
                      </a:stretch>
                    </a:blipFill>
                  </p:spPr>
                  <p:txBody>
                    <a:bodyPr/>
                    <a:lstStyle/>
                    <a:p>
                      <a:r>
                        <a:rPr lang="zh-TW" altLang="en-US">
                          <a:noFill/>
                        </a:rPr>
                        <a:t> </a:t>
                      </a:r>
                    </a:p>
                  </p:txBody>
                </p:sp>
              </mc:Fallback>
            </mc:AlternateContent>
          </p:grpSp>
          <p:sp>
            <p:nvSpPr>
              <p:cNvPr id="114" name="文字方塊 113">
                <a:extLst>
                  <a:ext uri="{FF2B5EF4-FFF2-40B4-BE49-F238E27FC236}">
                    <a16:creationId xmlns:a16="http://schemas.microsoft.com/office/drawing/2014/main" id="{E622866F-97AA-4705-A2C2-49B20B60A011}"/>
                  </a:ext>
                </a:extLst>
              </p:cNvPr>
              <p:cNvSpPr txBox="1"/>
              <p:nvPr/>
            </p:nvSpPr>
            <p:spPr>
              <a:xfrm>
                <a:off x="7402711" y="191264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523702" y="166707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613102" y="98757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812732" y="164641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631409" y="25820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296991" y="9518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327569" y="254898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110794" y="186213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04962" y="180030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04962" y="1800305"/>
                    <a:ext cx="332369" cy="307777"/>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537691" y="13124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537691" y="1312479"/>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8631582" y="181768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8631582" y="1817684"/>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168045" y="140399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168045" y="1403993"/>
                    <a:ext cx="332369" cy="307777"/>
                  </a:xfrm>
                  <a:prstGeom prst="rect">
                    <a:avLst/>
                  </a:prstGeom>
                  <a:blipFill>
                    <a:blip r:embed="rId11"/>
                    <a:stretch>
                      <a:fillRect/>
                    </a:stretch>
                  </a:blipFill>
                </p:spPr>
                <p:txBody>
                  <a:bodyPr/>
                  <a:lstStyle/>
                  <a:p>
                    <a:r>
                      <a:rPr lang="zh-TW" altLang="en-US">
                        <a:noFill/>
                      </a:rPr>
                      <a:t> </a:t>
                    </a:r>
                  </a:p>
                </p:txBody>
              </p:sp>
            </mc:Fallback>
          </mc:AlternateContent>
        </p:grpSp>
      </p:grpSp>
      <p:grpSp>
        <p:nvGrpSpPr>
          <p:cNvPr id="12" name="群組 11">
            <a:extLst>
              <a:ext uri="{FF2B5EF4-FFF2-40B4-BE49-F238E27FC236}">
                <a16:creationId xmlns:a16="http://schemas.microsoft.com/office/drawing/2014/main" id="{7C3BEF99-1AB6-4EF2-AE5D-EF1B443EF870}"/>
              </a:ext>
            </a:extLst>
          </p:cNvPr>
          <p:cNvGrpSpPr/>
          <p:nvPr/>
        </p:nvGrpSpPr>
        <p:grpSpPr>
          <a:xfrm>
            <a:off x="7735772" y="2895605"/>
            <a:ext cx="2699468" cy="2170526"/>
            <a:chOff x="7724859" y="3337253"/>
            <a:chExt cx="2699468" cy="2170526"/>
          </a:xfrm>
        </p:grpSpPr>
        <p:pic>
          <p:nvPicPr>
            <p:cNvPr id="11" name="圖片 10">
              <a:extLst>
                <a:ext uri="{FF2B5EF4-FFF2-40B4-BE49-F238E27FC236}">
                  <a16:creationId xmlns:a16="http://schemas.microsoft.com/office/drawing/2014/main" id="{58CE9E47-2DFB-4B17-9825-B8B1326DC02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861569" y="3416950"/>
              <a:ext cx="2466150" cy="2008526"/>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724859" y="3337253"/>
              <a:ext cx="2699468" cy="2170526"/>
              <a:chOff x="7809572" y="3383336"/>
              <a:chExt cx="2699468" cy="2170526"/>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7832795" y="3383336"/>
                <a:ext cx="2676245" cy="2140727"/>
                <a:chOff x="7164495" y="3815943"/>
                <a:chExt cx="2676245" cy="2140727"/>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164495" y="3815943"/>
                  <a:ext cx="2617159" cy="2140727"/>
                  <a:chOff x="7164495" y="3815943"/>
                  <a:chExt cx="2617159" cy="2140727"/>
                </a:xfrm>
              </p:grpSpPr>
              <p:sp>
                <p:nvSpPr>
                  <p:cNvPr id="105" name="矩形 104">
                    <a:extLst>
                      <a:ext uri="{FF2B5EF4-FFF2-40B4-BE49-F238E27FC236}">
                        <a16:creationId xmlns:a16="http://schemas.microsoft.com/office/drawing/2014/main" id="{CEDE6DB8-73CE-4D0B-83CA-F007F7A25032}"/>
                      </a:ext>
                    </a:extLst>
                  </p:cNvPr>
                  <p:cNvSpPr/>
                  <p:nvPr/>
                </p:nvSpPr>
                <p:spPr>
                  <a:xfrm>
                    <a:off x="8092612" y="3815943"/>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164495"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138267" y="5745831"/>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05542"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85951" y="4777791"/>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85951" y="4777791"/>
                      <a:ext cx="1832580" cy="276999"/>
                    </a:xfrm>
                    <a:prstGeom prst="rect">
                      <a:avLst/>
                    </a:prstGeom>
                    <a:blipFill>
                      <a:blip r:embed="rId13"/>
                      <a:stretch>
                        <a:fillRect l="-95556" t="-16000" r="-148889"/>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7809572" y="424061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734868" y="339167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806401" y="524608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720756" y="44464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086706" y="437794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086706" y="4377944"/>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625275" y="386627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625275" y="3866277"/>
                    <a:ext cx="332369" cy="307777"/>
                  </a:xfrm>
                  <a:prstGeom prst="rect">
                    <a:avLst/>
                  </a:prstGeom>
                  <a:blipFill>
                    <a:blip r:embed="rId15"/>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r>
              <a:rPr lang="en-US" altLang="zh-TW" sz="1600" dirty="0"/>
              <a:t>The three reference planes are mutually orthogonal and all pass through the origin; the inset shows how they sit inside the pole-tip sphere, each disc extending out to that sphere. On every plane the calibrated model is evaluated point by point and the capacity measure is mapped in polar form, with the two pole pairs lying in that plane marked on the rim. The pattern is the same everywhere: the capacity is lowest at the center, grows steadily outwards, and reaches its maxima in four lobes pointing at the in-plane poles, with troughs between them. This is the gain signature of Design A: the gain is not uniform over the workspace but is smallest at the center and largest along the pole axes near the tips, and its variation with direction follows the pole layout directly. Because the three maps are indistinguishable, the gain field carries the full symmetry of the six-pole arrangement — six poles of equal strength, arranged as three opposing pairs whose axes are mutually perpendicular. The consequence is that the gain is limited not by any particular plane or direction, but by radial position: the lowest gain of the whole workspace sits at its center.</a:t>
            </a:r>
          </a:p>
        </p:txBody>
      </p:sp>
    </p:spTree>
    <p:extLst>
      <p:ext uri="{BB962C8B-B14F-4D97-AF65-F5344CB8AC3E}">
        <p14:creationId xmlns:p14="http://schemas.microsoft.com/office/powerpoint/2010/main" val="45208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3693319"/>
          </a:xfrm>
          <a:prstGeom prst="rect">
            <a:avLst/>
          </a:prstGeom>
          <a:noFill/>
        </p:spPr>
        <p:txBody>
          <a:bodyPr wrap="square">
            <a:spAutoFit/>
          </a:bodyPr>
          <a:lstStyle/>
          <a:p>
            <a:pPr marL="285750" indent="-285750">
              <a:buFont typeface="Arial" panose="020B0604020202020204" pitchFamily="34" charset="0"/>
              <a:buChar char="•"/>
            </a:pPr>
            <a:r>
              <a:rPr lang="zh-TW" altLang="en-US" dirty="0"/>
              <a:t>Same three planes and the same calibrated model as before, but now mapping the isotropy. The picture is the exact complement of the capacity map: isotropy is highest at the centre and decays outwards in an almost circular pattern, reaching its lowest values at the rim. The reason is geometric — at the centre all six poles are equidistant, so the three singular values are nearly equal and the system can push with almost the same strength in any direction; moving outwards means approaching one pole pair while receding from the other two, so one singular value grows while the others shrink and the ratio collapses. Again the three planes are indistinguishable, confirming that the isotropy inherits the symmetry of the pole layout.</a:t>
            </a:r>
          </a:p>
        </p:txBody>
      </p:sp>
      <p:grpSp>
        <p:nvGrpSpPr>
          <p:cNvPr id="7" name="群組 6">
            <a:extLst>
              <a:ext uri="{FF2B5EF4-FFF2-40B4-BE49-F238E27FC236}">
                <a16:creationId xmlns:a16="http://schemas.microsoft.com/office/drawing/2014/main" id="{CA0CB9F4-235A-4616-BC61-7AFFCEE4ABAB}"/>
              </a:ext>
            </a:extLst>
          </p:cNvPr>
          <p:cNvGrpSpPr/>
          <p:nvPr/>
        </p:nvGrpSpPr>
        <p:grpSpPr>
          <a:xfrm>
            <a:off x="7156700" y="696453"/>
            <a:ext cx="4116568" cy="1894811"/>
            <a:chOff x="7156700" y="696453"/>
            <a:chExt cx="4116568" cy="1894811"/>
          </a:xfrm>
        </p:grpSpPr>
        <p:pic>
          <p:nvPicPr>
            <p:cNvPr id="5" name="圖片 4">
              <a:extLst>
                <a:ext uri="{FF2B5EF4-FFF2-40B4-BE49-F238E27FC236}">
                  <a16:creationId xmlns:a16="http://schemas.microsoft.com/office/drawing/2014/main" id="{22E3FC60-916B-4B6C-9BAE-8363C5CCF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1264" y="815524"/>
              <a:ext cx="3793335" cy="1651300"/>
            </a:xfrm>
            <a:prstGeom prst="rect">
              <a:avLst/>
            </a:prstGeom>
          </p:spPr>
        </p:pic>
        <p:grpSp>
          <p:nvGrpSpPr>
            <p:cNvPr id="17" name="群組 16">
              <a:extLst>
                <a:ext uri="{FF2B5EF4-FFF2-40B4-BE49-F238E27FC236}">
                  <a16:creationId xmlns:a16="http://schemas.microsoft.com/office/drawing/2014/main" id="{8BE4C305-B690-4A6A-AB62-66C15A5C438C}"/>
                </a:ext>
              </a:extLst>
            </p:cNvPr>
            <p:cNvGrpSpPr/>
            <p:nvPr/>
          </p:nvGrpSpPr>
          <p:grpSpPr>
            <a:xfrm>
              <a:off x="7156700" y="696453"/>
              <a:ext cx="4116568" cy="1894811"/>
              <a:chOff x="6923595" y="822679"/>
              <a:chExt cx="4116568" cy="1894811"/>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923595" y="822679"/>
                <a:ext cx="4116568" cy="1894811"/>
                <a:chOff x="6923595" y="822679"/>
                <a:chExt cx="4116568" cy="1894811"/>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7007767" y="885799"/>
                  <a:ext cx="3987845" cy="1773589"/>
                  <a:chOff x="7007767" y="885799"/>
                  <a:chExt cx="3987845" cy="1773589"/>
                </a:xfrm>
              </p:grpSpPr>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7007767" y="166310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46588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39145" y="1664810"/>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481831" y="2454945"/>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374310" y="1574534"/>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805068" y="1701472"/>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6E093EB9-B763-4483-A907-3DD06211420D}"/>
                        </a:ext>
                      </a:extLst>
                    </p:cNvPr>
                    <p:cNvSpPr txBox="1"/>
                    <p:nvPr/>
                  </p:nvSpPr>
                  <p:spPr>
                    <a:xfrm rot="16200000">
                      <a:off x="10458485" y="1654818"/>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78" name="文字方塊 77">
                      <a:extLst>
                        <a:ext uri="{FF2B5EF4-FFF2-40B4-BE49-F238E27FC236}">
                          <a16:creationId xmlns:a16="http://schemas.microsoft.com/office/drawing/2014/main" id="{6E093EB9-B763-4483-A907-3DD06211420D}"/>
                        </a:ext>
                      </a:extLst>
                    </p:cNvPr>
                    <p:cNvSpPr txBox="1">
                      <a:spLocks noRot="1" noChangeAspect="1" noMove="1" noResize="1" noEditPoints="1" noAdjustHandles="1" noChangeArrowheads="1" noChangeShapeType="1" noTextEdit="1"/>
                    </p:cNvSpPr>
                    <p:nvPr/>
                  </p:nvSpPr>
                  <p:spPr>
                    <a:xfrm rot="16200000">
                      <a:off x="10458485" y="1654818"/>
                      <a:ext cx="855579" cy="307777"/>
                    </a:xfrm>
                    <a:prstGeom prst="rect">
                      <a:avLst/>
                    </a:prstGeom>
                    <a:blipFill>
                      <a:blip r:embed="rId3"/>
                      <a:stretch>
                        <a:fillRect r="-6000"/>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9B8EB1CD-A79B-47D9-AB70-E74BF30A65B7}"/>
                    </a:ext>
                  </a:extLst>
                </p:cNvPr>
                <p:cNvSpPr txBox="1"/>
                <p:nvPr/>
              </p:nvSpPr>
              <p:spPr>
                <a:xfrm>
                  <a:off x="8547048" y="17163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923595" y="15009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28906" y="23759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674497" y="147509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489536" y="8226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489535" y="24097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275561" y="17222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108" y="17480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108" y="1748079"/>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5"/>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804337" y="16706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804337" y="1670625"/>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353246" y="1293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353246" y="1293503"/>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18" name="群組 17">
            <a:extLst>
              <a:ext uri="{FF2B5EF4-FFF2-40B4-BE49-F238E27FC236}">
                <a16:creationId xmlns:a16="http://schemas.microsoft.com/office/drawing/2014/main" id="{A415CD8F-9E0E-4E5E-B0A8-D95470451723}"/>
              </a:ext>
            </a:extLst>
          </p:cNvPr>
          <p:cNvGrpSpPr/>
          <p:nvPr/>
        </p:nvGrpSpPr>
        <p:grpSpPr>
          <a:xfrm>
            <a:off x="7920557" y="2783295"/>
            <a:ext cx="2522513" cy="2127726"/>
            <a:chOff x="7885930" y="3644615"/>
            <a:chExt cx="2982392" cy="2400473"/>
          </a:xfrm>
        </p:grpSpPr>
        <p:pic>
          <p:nvPicPr>
            <p:cNvPr id="9" name="圖片 8">
              <a:extLst>
                <a:ext uri="{FF2B5EF4-FFF2-40B4-BE49-F238E27FC236}">
                  <a16:creationId xmlns:a16="http://schemas.microsoft.com/office/drawing/2014/main" id="{C971302C-428C-4B5C-AABD-8E8B866D6D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10053" y="3724539"/>
              <a:ext cx="2737424" cy="2214093"/>
            </a:xfrm>
            <a:prstGeom prst="rect">
              <a:avLst/>
            </a:prstGeom>
          </p:spPr>
        </p:pic>
        <p:grpSp>
          <p:nvGrpSpPr>
            <p:cNvPr id="14" name="群組 13">
              <a:extLst>
                <a:ext uri="{FF2B5EF4-FFF2-40B4-BE49-F238E27FC236}">
                  <a16:creationId xmlns:a16="http://schemas.microsoft.com/office/drawing/2014/main" id="{04A1EDD4-6ABC-4799-BBCC-2AA9A741A982}"/>
                </a:ext>
              </a:extLst>
            </p:cNvPr>
            <p:cNvGrpSpPr/>
            <p:nvPr/>
          </p:nvGrpSpPr>
          <p:grpSpPr>
            <a:xfrm>
              <a:off x="7885930" y="3644615"/>
              <a:ext cx="2982392" cy="2400473"/>
              <a:chOff x="7885930" y="3644615"/>
              <a:chExt cx="2982392" cy="2400473"/>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7983958" y="3667301"/>
                <a:ext cx="2862761" cy="2338334"/>
                <a:chOff x="7983958" y="3667301"/>
                <a:chExt cx="2862761" cy="2338334"/>
              </a:xfrm>
            </p:grpSpPr>
            <p:sp>
              <p:nvSpPr>
                <p:cNvPr id="12" name="矩形 11">
                  <a:extLst>
                    <a:ext uri="{FF2B5EF4-FFF2-40B4-BE49-F238E27FC236}">
                      <a16:creationId xmlns:a16="http://schemas.microsoft.com/office/drawing/2014/main" id="{88E7A9EA-9DAB-451E-9FA8-F7163EE33F2E}"/>
                    </a:ext>
                  </a:extLst>
                </p:cNvPr>
                <p:cNvSpPr/>
                <p:nvPr/>
              </p:nvSpPr>
              <p:spPr>
                <a:xfrm>
                  <a:off x="10044950" y="4669308"/>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7983958"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38875"/>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621601" y="462488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286644" y="473775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132" name="文字方塊 131">
                    <a:extLst>
                      <a:ext uri="{FF2B5EF4-FFF2-40B4-BE49-F238E27FC236}">
                        <a16:creationId xmlns:a16="http://schemas.microsoft.com/office/drawing/2014/main" id="{59C8220B-BA68-40B1-A2D1-60274F35F105}"/>
                      </a:ext>
                    </a:extLst>
                  </p:cNvPr>
                  <p:cNvSpPr txBox="1">
                    <a:spLocks noRot="1" noChangeAspect="1" noMove="1" noResize="1" noEditPoints="1" noAdjustHandles="1" noChangeArrowheads="1" noChangeShapeType="1" noTextEdit="1"/>
                  </p:cNvSpPr>
                  <p:nvPr/>
                </p:nvSpPr>
                <p:spPr>
                  <a:xfrm rot="16200000">
                    <a:off x="10286644" y="4737755"/>
                    <a:ext cx="855579" cy="307777"/>
                  </a:xfrm>
                  <a:prstGeom prst="rect">
                    <a:avLst/>
                  </a:prstGeom>
                  <a:blipFill>
                    <a:blip r:embed="rId9"/>
                    <a:stretch>
                      <a:fillRect t="-7258" r="-25581"/>
                    </a:stretch>
                  </a:blipFill>
                </p:spPr>
                <p:txBody>
                  <a:bodyPr/>
                  <a:lstStyle/>
                  <a:p>
                    <a:r>
                      <a:rPr lang="zh-TW" altLang="en-US">
                        <a:noFill/>
                      </a:rPr>
                      <a:t> </a:t>
                    </a:r>
                  </a:p>
                </p:txBody>
              </p:sp>
            </mc:Fallback>
          </mc:AlternateContent>
          <p:sp>
            <p:nvSpPr>
              <p:cNvPr id="133" name="文字方塊 132">
                <a:extLst>
                  <a:ext uri="{FF2B5EF4-FFF2-40B4-BE49-F238E27FC236}">
                    <a16:creationId xmlns:a16="http://schemas.microsoft.com/office/drawing/2014/main" id="{6AB274B3-0995-4EEB-9013-E9FCFC70773D}"/>
                  </a:ext>
                </a:extLst>
              </p:cNvPr>
              <p:cNvSpPr txBox="1"/>
              <p:nvPr/>
            </p:nvSpPr>
            <p:spPr>
              <a:xfrm>
                <a:off x="7885930" y="4548241"/>
                <a:ext cx="497957"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508069"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06756" y="5697858"/>
                <a:ext cx="524733"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78086" y="4802688"/>
                <a:ext cx="519506"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5538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55386"/>
                    <a:ext cx="332369" cy="307777"/>
                  </a:xfrm>
                  <a:prstGeom prst="rect">
                    <a:avLst/>
                  </a:prstGeom>
                  <a:blipFill>
                    <a:blip r:embed="rId10"/>
                    <a:stretch>
                      <a:fillRect r="-2174"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41152" y="42252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41152" y="4225225"/>
                    <a:ext cx="332369" cy="307777"/>
                  </a:xfrm>
                  <a:prstGeom prst="rect">
                    <a:avLst/>
                  </a:prstGeom>
                  <a:blipFill>
                    <a:blip r:embed="rId11"/>
                    <a:stretch>
                      <a:fillRect b="-4444"/>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413084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34416" y="1018389"/>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4247317"/>
          </a:xfrm>
          <a:prstGeom prst="rect">
            <a:avLst/>
          </a:prstGeom>
          <a:noFill/>
        </p:spPr>
        <p:txBody>
          <a:bodyPr wrap="square">
            <a:spAutoFit/>
          </a:bodyPr>
          <a:lstStyle/>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zh-TW" altLang="en-US" dirty="0"/>
              <a:t>The three distributions separate clearly, and the separation is asymmetric: the largest singular value is roughly twice the other two and spreads over a wide range with a long tail towards high values, while the second and third are narrow and overlap heavily. Over most of its workspace Design A therefore has one dominant direction and two comparable, weaker ones, rather than three directions of similar strength; the isotropy deficit seen on the previous slide is driven mainly by the strong axis pulling away, not by the weakest axis collapsing. The long tail belongs to the points closest to the pole tips — the same points that form the four red lobes of the capacity map on slide 14.</a:t>
            </a:r>
            <a:endParaRPr lang="en-US" altLang="zh-TW" dirty="0"/>
          </a:p>
          <a:p>
            <a:pPr marL="285750" indent="-285750">
              <a:buFont typeface="Arial" panose="020B0604020202020204" pitchFamily="34" charset="0"/>
              <a:buChar char="•"/>
            </a:pPr>
            <a:r>
              <a:rPr lang="en-US" altLang="zh-TW" dirty="0"/>
              <a:t>Both histograms have the same resolution (22.04uT/A).</a:t>
            </a:r>
          </a:p>
          <a:p>
            <a:pPr marL="285750" indent="-285750">
              <a:buFont typeface="Arial" panose="020B0604020202020204" pitchFamily="34" charset="0"/>
              <a:buChar char="•"/>
            </a:pPr>
            <a:endParaRPr lang="zh-TW" altLang="en-US" dirty="0"/>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410587547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410587547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6" name="群組 5">
            <a:extLst>
              <a:ext uri="{FF2B5EF4-FFF2-40B4-BE49-F238E27FC236}">
                <a16:creationId xmlns:a16="http://schemas.microsoft.com/office/drawing/2014/main" id="{D577C075-A95F-4CCF-8D75-65839574A314}"/>
              </a:ext>
            </a:extLst>
          </p:cNvPr>
          <p:cNvGrpSpPr/>
          <p:nvPr/>
        </p:nvGrpSpPr>
        <p:grpSpPr>
          <a:xfrm>
            <a:off x="7229536" y="1094983"/>
            <a:ext cx="4015292" cy="3098426"/>
            <a:chOff x="7471222" y="1375612"/>
            <a:chExt cx="4015292" cy="3098426"/>
          </a:xfrm>
        </p:grpSpPr>
        <p:pic>
          <p:nvPicPr>
            <p:cNvPr id="4" name="圖片 3">
              <a:extLst>
                <a:ext uri="{FF2B5EF4-FFF2-40B4-BE49-F238E27FC236}">
                  <a16:creationId xmlns:a16="http://schemas.microsoft.com/office/drawing/2014/main" id="{593E0BED-B07D-4318-A642-8E641FB6B2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863" y="1375612"/>
              <a:ext cx="3869651" cy="3012131"/>
            </a:xfrm>
            <a:prstGeom prst="rect">
              <a:avLst/>
            </a:prstGeom>
          </p:spPr>
        </p:pic>
        <p:grpSp>
          <p:nvGrpSpPr>
            <p:cNvPr id="15" name="群組 14">
              <a:extLst>
                <a:ext uri="{FF2B5EF4-FFF2-40B4-BE49-F238E27FC236}">
                  <a16:creationId xmlns:a16="http://schemas.microsoft.com/office/drawing/2014/main" id="{B0A18187-7F13-41AC-A9F7-1436480D630C}"/>
                </a:ext>
              </a:extLst>
            </p:cNvPr>
            <p:cNvGrpSpPr/>
            <p:nvPr/>
          </p:nvGrpSpPr>
          <p:grpSpPr>
            <a:xfrm>
              <a:off x="7471222" y="1549006"/>
              <a:ext cx="2805564" cy="2925032"/>
              <a:chOff x="7471222" y="1549006"/>
              <a:chExt cx="2805564" cy="2925032"/>
            </a:xfrm>
          </p:grpSpPr>
          <p:grpSp>
            <p:nvGrpSpPr>
              <p:cNvPr id="14" name="群組 13">
                <a:extLst>
                  <a:ext uri="{FF2B5EF4-FFF2-40B4-BE49-F238E27FC236}">
                    <a16:creationId xmlns:a16="http://schemas.microsoft.com/office/drawing/2014/main" id="{C299C441-BCF8-4475-BFF9-35587BD5D694}"/>
                  </a:ext>
                </a:extLst>
              </p:cNvPr>
              <p:cNvGrpSpPr/>
              <p:nvPr/>
            </p:nvGrpSpPr>
            <p:grpSpPr>
              <a:xfrm>
                <a:off x="7569589" y="2027816"/>
                <a:ext cx="2644432" cy="2358472"/>
                <a:chOff x="7569589" y="2027816"/>
                <a:chExt cx="2644432" cy="2358472"/>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7019275" y="2578130"/>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444206" y="410470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444206" y="4104706"/>
                    <a:ext cx="1832580" cy="369332"/>
                  </a:xfrm>
                  <a:prstGeom prst="rect">
                    <a:avLst/>
                  </a:prstGeom>
                  <a:blipFill>
                    <a:blip r:embed="rId4"/>
                    <a:stretch>
                      <a:fillRect t="-116393" r="-73000"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513652" y="2506576"/>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513652" y="2506576"/>
                    <a:ext cx="2192139" cy="276999"/>
                  </a:xfrm>
                  <a:prstGeom prst="rect">
                    <a:avLst/>
                  </a:prstGeom>
                  <a:blipFill>
                    <a:blip r:embed="rId5"/>
                    <a:stretch>
                      <a:fillRect l="-2222" t="-2778" r="-35556" b="-2222"/>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2174014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64014" y="1722998"/>
            <a:ext cx="159369"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5" y="3763636"/>
            <a:ext cx="3083568" cy="2082167"/>
            <a:chOff x="6051068" y="3773292"/>
            <a:chExt cx="3590668"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423181" y="415133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8346" y="1041403"/>
            <a:ext cx="6176432" cy="2031325"/>
          </a:xfrm>
          <a:prstGeom prst="rect">
            <a:avLst/>
          </a:prstGeom>
          <a:noFill/>
        </p:spPr>
        <p:txBody>
          <a:bodyPr wrap="square">
            <a:spAutoFit/>
          </a:bodyPr>
          <a:lstStyle/>
          <a:p>
            <a:pPr marL="285750" indent="-285750">
              <a:buFont typeface="Arial" panose="020B0604020202020204" pitchFamily="34" charset="0"/>
              <a:buChar char="•"/>
            </a:pPr>
            <a:r>
              <a:rPr lang="en-US" altLang="zh-TW" dirty="0" err="1"/>
              <a:t>Zhi</a:t>
            </a:r>
            <a:r>
              <a:rPr lang="en-US" altLang="zh-TW" dirty="0"/>
              <a:t>-Peng delivers 2.71× the actuation strength of Long Fei (39.58 vs 14.62 </a:t>
            </a:r>
            <a:r>
              <a:rPr lang="en-US" altLang="zh-TW" dirty="0" err="1"/>
              <a:t>mT</a:t>
            </a:r>
            <a:r>
              <a:rPr lang="en-US" altLang="zh-TW" dirty="0"/>
              <a:t>/A). Both share the same pattern: weakest at the </a:t>
            </a:r>
            <a:r>
              <a:rPr lang="en-US" altLang="zh-TW" dirty="0" err="1"/>
              <a:t>centre</a:t>
            </a:r>
            <a:r>
              <a:rPr lang="en-US" altLang="zh-TW" dirty="0"/>
              <a:t>, strengthening toward the pole tips, and almost constant with direction within the calibration radius</a:t>
            </a:r>
            <a:r>
              <a:rPr lang="zh-TW" altLang="en-US" dirty="0"/>
              <a:t>，</a:t>
            </a:r>
            <a:r>
              <a:rPr lang="en-US" altLang="zh-TW" dirty="0"/>
              <a:t>the planar hexapole wins outright on strength, and it is a pure gain improvement — the field shape is not degraded, and the advantage holds uniformly across the workspace.</a:t>
            </a:r>
            <a:endParaRPr lang="zh-TW" altLang="en-US" dirty="0"/>
          </a:p>
        </p:txBody>
      </p:sp>
      <p:grpSp>
        <p:nvGrpSpPr>
          <p:cNvPr id="72" name="群組 71">
            <a:extLst>
              <a:ext uri="{FF2B5EF4-FFF2-40B4-BE49-F238E27FC236}">
                <a16:creationId xmlns:a16="http://schemas.microsoft.com/office/drawing/2014/main" id="{14AACBA3-DE4A-4DE2-94DD-5FA7E272AAF8}"/>
              </a:ext>
            </a:extLst>
          </p:cNvPr>
          <p:cNvGrpSpPr/>
          <p:nvPr/>
        </p:nvGrpSpPr>
        <p:grpSpPr>
          <a:xfrm>
            <a:off x="8658186" y="3222831"/>
            <a:ext cx="2351419" cy="1929892"/>
            <a:chOff x="8230185" y="3441294"/>
            <a:chExt cx="2351419" cy="1929892"/>
          </a:xfrm>
        </p:grpSpPr>
        <p:pic>
          <p:nvPicPr>
            <p:cNvPr id="32" name="圖片 31">
              <a:extLst>
                <a:ext uri="{FF2B5EF4-FFF2-40B4-BE49-F238E27FC236}">
                  <a16:creationId xmlns:a16="http://schemas.microsoft.com/office/drawing/2014/main" id="{68410EBA-52D5-4DB1-9DAD-07090B706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8847" y="3560318"/>
              <a:ext cx="2085617" cy="1698605"/>
            </a:xfrm>
            <a:prstGeom prst="rect">
              <a:avLst/>
            </a:prstGeom>
          </p:spPr>
        </p:pic>
        <p:grpSp>
          <p:nvGrpSpPr>
            <p:cNvPr id="18" name="群組 17">
              <a:extLst>
                <a:ext uri="{FF2B5EF4-FFF2-40B4-BE49-F238E27FC236}">
                  <a16:creationId xmlns:a16="http://schemas.microsoft.com/office/drawing/2014/main" id="{22DEE182-220C-4694-B0E8-4F293D6F7DFF}"/>
                </a:ext>
              </a:extLst>
            </p:cNvPr>
            <p:cNvGrpSpPr/>
            <p:nvPr/>
          </p:nvGrpSpPr>
          <p:grpSpPr>
            <a:xfrm>
              <a:off x="8230185" y="3441294"/>
              <a:ext cx="2351419" cy="1929892"/>
              <a:chOff x="8221376" y="3620073"/>
              <a:chExt cx="2351419" cy="1929892"/>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273172" y="3704853"/>
                <a:ext cx="2286376" cy="1779937"/>
                <a:chOff x="8273172" y="3704853"/>
                <a:chExt cx="2286376" cy="1779937"/>
              </a:xfrm>
            </p:grpSpPr>
            <p:sp>
              <p:nvSpPr>
                <p:cNvPr id="5" name="矩形 4">
                  <a:extLst>
                    <a:ext uri="{FF2B5EF4-FFF2-40B4-BE49-F238E27FC236}">
                      <a16:creationId xmlns:a16="http://schemas.microsoft.com/office/drawing/2014/main" id="{814C6145-C47B-4D69-AAD2-1C7FDFF05D7C}"/>
                    </a:ext>
                  </a:extLst>
                </p:cNvPr>
                <p:cNvSpPr/>
                <p:nvPr/>
              </p:nvSpPr>
              <p:spPr>
                <a:xfrm>
                  <a:off x="8979362" y="3704853"/>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273172" y="4495665"/>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951784" y="5303872"/>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24223" y="4410200"/>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1329119F-C529-4B40-91BE-B411B4240C93}"/>
                    </a:ext>
                  </a:extLst>
                </p:cNvPr>
                <p:cNvSpPr/>
                <p:nvPr/>
              </p:nvSpPr>
              <p:spPr>
                <a:xfrm>
                  <a:off x="10370107" y="4314578"/>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81" name="文字方塊 80">
                <a:extLst>
                  <a:ext uri="{FF2B5EF4-FFF2-40B4-BE49-F238E27FC236}">
                    <a16:creationId xmlns:a16="http://schemas.microsoft.com/office/drawing/2014/main" id="{52CF3FFF-4A3A-4DF8-9571-F600210FEEA8}"/>
                  </a:ext>
                </a:extLst>
              </p:cNvPr>
              <p:cNvSpPr txBox="1"/>
              <p:nvPr/>
            </p:nvSpPr>
            <p:spPr>
              <a:xfrm>
                <a:off x="8221376" y="431668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9046233" y="362007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9024924" y="52404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844910" y="449546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79">
                    <a:extLst>
                      <a:ext uri="{FF2B5EF4-FFF2-40B4-BE49-F238E27FC236}">
                        <a16:creationId xmlns:a16="http://schemas.microsoft.com/office/drawing/2014/main" id="{27CD9186-2EE6-4F6E-A706-803E24D40A26}"/>
                      </a:ext>
                    </a:extLst>
                  </p:cNvPr>
                  <p:cNvSpPr txBox="1"/>
                  <p:nvPr/>
                </p:nvSpPr>
                <p:spPr>
                  <a:xfrm rot="16200000">
                    <a:off x="9518006" y="4495175"/>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80" name="文字方塊 79">
                    <a:extLst>
                      <a:ext uri="{FF2B5EF4-FFF2-40B4-BE49-F238E27FC236}">
                        <a16:creationId xmlns:a16="http://schemas.microsoft.com/office/drawing/2014/main" id="{27CD9186-2EE6-4F6E-A706-803E24D40A26}"/>
                      </a:ext>
                    </a:extLst>
                  </p:cNvPr>
                  <p:cNvSpPr txBox="1">
                    <a:spLocks noRot="1" noChangeAspect="1" noMove="1" noResize="1" noEditPoints="1" noAdjustHandles="1" noChangeArrowheads="1" noChangeShapeType="1" noTextEdit="1"/>
                  </p:cNvSpPr>
                  <p:nvPr/>
                </p:nvSpPr>
                <p:spPr>
                  <a:xfrm rot="16200000">
                    <a:off x="9518006" y="4495175"/>
                    <a:ext cx="1832580" cy="276999"/>
                  </a:xfrm>
                  <a:prstGeom prst="rect">
                    <a:avLst/>
                  </a:prstGeom>
                  <a:blipFill>
                    <a:blip r:embed="rId14"/>
                    <a:stretch>
                      <a:fillRect l="-95556" t="-16000" r="-148889"/>
                    </a:stretch>
                  </a:blipFill>
                </p:spPr>
                <p:txBody>
                  <a:bodyPr/>
                  <a:lstStyle/>
                  <a:p>
                    <a:r>
                      <a:rPr lang="zh-TW" altLang="en-US">
                        <a:noFill/>
                      </a:rPr>
                      <a:t> </a:t>
                    </a:r>
                  </a:p>
                </p:txBody>
              </p:sp>
            </mc:Fallback>
          </mc:AlternateContent>
        </p:grpSp>
      </p:grpSp>
      <p:grpSp>
        <p:nvGrpSpPr>
          <p:cNvPr id="19" name="群組 18">
            <a:extLst>
              <a:ext uri="{FF2B5EF4-FFF2-40B4-BE49-F238E27FC236}">
                <a16:creationId xmlns:a16="http://schemas.microsoft.com/office/drawing/2014/main" id="{7202CFBD-9269-4883-8211-E36862A41FFB}"/>
              </a:ext>
            </a:extLst>
          </p:cNvPr>
          <p:cNvGrpSpPr/>
          <p:nvPr/>
        </p:nvGrpSpPr>
        <p:grpSpPr>
          <a:xfrm>
            <a:off x="7540534" y="936697"/>
            <a:ext cx="4091333" cy="2029789"/>
            <a:chOff x="2455747" y="3707902"/>
            <a:chExt cx="4465292" cy="2204294"/>
          </a:xfrm>
        </p:grpSpPr>
        <p:grpSp>
          <p:nvGrpSpPr>
            <p:cNvPr id="11" name="群組 10">
              <a:extLst>
                <a:ext uri="{FF2B5EF4-FFF2-40B4-BE49-F238E27FC236}">
                  <a16:creationId xmlns:a16="http://schemas.microsoft.com/office/drawing/2014/main" id="{88CFC4CA-1454-4D8A-9B44-947B4D19CDD9}"/>
                </a:ext>
              </a:extLst>
            </p:cNvPr>
            <p:cNvGrpSpPr/>
            <p:nvPr/>
          </p:nvGrpSpPr>
          <p:grpSpPr>
            <a:xfrm>
              <a:off x="2455747" y="3707902"/>
              <a:ext cx="4465292" cy="2204294"/>
              <a:chOff x="6916509" y="812253"/>
              <a:chExt cx="4465292" cy="2204294"/>
            </a:xfrm>
          </p:grpSpPr>
          <p:pic>
            <p:nvPicPr>
              <p:cNvPr id="7" name="圖片 6">
                <a:extLst>
                  <a:ext uri="{FF2B5EF4-FFF2-40B4-BE49-F238E27FC236}">
                    <a16:creationId xmlns:a16="http://schemas.microsoft.com/office/drawing/2014/main" id="{67FBDC49-9CDD-46DA-8E47-5203D9A6CB9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220559" y="1014669"/>
                <a:ext cx="4056682" cy="1799788"/>
              </a:xfrm>
              <a:prstGeom prst="rect">
                <a:avLst/>
              </a:prstGeom>
            </p:spPr>
          </p:pic>
          <p:grpSp>
            <p:nvGrpSpPr>
              <p:cNvPr id="13" name="群組 12">
                <a:extLst>
                  <a:ext uri="{FF2B5EF4-FFF2-40B4-BE49-F238E27FC236}">
                    <a16:creationId xmlns:a16="http://schemas.microsoft.com/office/drawing/2014/main" id="{23F78EBC-70AE-46C7-8747-578090779B11}"/>
                  </a:ext>
                </a:extLst>
              </p:cNvPr>
              <p:cNvGrpSpPr/>
              <p:nvPr/>
            </p:nvGrpSpPr>
            <p:grpSpPr>
              <a:xfrm>
                <a:off x="6916509" y="812253"/>
                <a:ext cx="4465292" cy="2204294"/>
                <a:chOff x="6916509" y="812253"/>
                <a:chExt cx="4465292" cy="2204294"/>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916509" y="812253"/>
                  <a:ext cx="4367353" cy="2204294"/>
                  <a:chOff x="6916509" y="812253"/>
                  <a:chExt cx="4367353" cy="2204294"/>
                </a:xfrm>
              </p:grpSpPr>
              <p:sp>
                <p:nvSpPr>
                  <p:cNvPr id="3" name="矩形 2">
                    <a:extLst>
                      <a:ext uri="{FF2B5EF4-FFF2-40B4-BE49-F238E27FC236}">
                        <a16:creationId xmlns:a16="http://schemas.microsoft.com/office/drawing/2014/main" id="{FB7DEFC0-C83A-40F7-A246-1F3C181E9589}"/>
                      </a:ext>
                    </a:extLst>
                  </p:cNvPr>
                  <p:cNvSpPr/>
                  <p:nvPr/>
                </p:nvSpPr>
                <p:spPr>
                  <a:xfrm>
                    <a:off x="8869295" y="1730429"/>
                    <a:ext cx="381137"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916509"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9779728" y="940322"/>
                    <a:ext cx="453262" cy="2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68543" y="1646527"/>
                    <a:ext cx="115319" cy="594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9757220"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EFBDAE91-6189-4E4D-883C-0FD776BDB2CB}"/>
                        </a:ext>
                      </a:extLst>
                    </p:cNvPr>
                    <p:cNvSpPr txBox="1"/>
                    <p:nvPr/>
                  </p:nvSpPr>
                  <p:spPr>
                    <a:xfrm rot="16200000">
                      <a:off x="10308538" y="1722089"/>
                      <a:ext cx="186952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7" name="文字方塊 56">
                      <a:extLst>
                        <a:ext uri="{FF2B5EF4-FFF2-40B4-BE49-F238E27FC236}">
                          <a16:creationId xmlns:a16="http://schemas.microsoft.com/office/drawing/2014/main" id="{EFBDAE91-6189-4E4D-883C-0FD776BDB2CB}"/>
                        </a:ext>
                      </a:extLst>
                    </p:cNvPr>
                    <p:cNvSpPr txBox="1">
                      <a:spLocks noRot="1" noChangeAspect="1" noMove="1" noResize="1" noEditPoints="1" noAdjustHandles="1" noChangeArrowheads="1" noChangeShapeType="1" noTextEdit="1"/>
                    </p:cNvSpPr>
                    <p:nvPr/>
                  </p:nvSpPr>
                  <p:spPr>
                    <a:xfrm rot="16200000">
                      <a:off x="10308538" y="1722089"/>
                      <a:ext cx="1869527" cy="276999"/>
                    </a:xfrm>
                    <a:prstGeom prst="rect">
                      <a:avLst/>
                    </a:prstGeom>
                    <a:blipFill>
                      <a:blip r:embed="rId16"/>
                      <a:stretch>
                        <a:fillRect l="-102381" t="-23404" r="-166667"/>
                      </a:stretch>
                    </a:blipFill>
                  </p:spPr>
                  <p:txBody>
                    <a:bodyPr/>
                    <a:lstStyle/>
                    <a:p>
                      <a:r>
                        <a:rPr lang="zh-TW" altLang="en-US">
                          <a:noFill/>
                        </a:rPr>
                        <a:t> </a:t>
                      </a:r>
                    </a:p>
                  </p:txBody>
                </p:sp>
              </mc:Fallback>
            </mc:AlternateContent>
            <p:sp>
              <p:nvSpPr>
                <p:cNvPr id="39" name="文字方塊 38">
                  <a:extLst>
                    <a:ext uri="{FF2B5EF4-FFF2-40B4-BE49-F238E27FC236}">
                      <a16:creationId xmlns:a16="http://schemas.microsoft.com/office/drawing/2014/main" id="{6FEFB949-8C79-4170-A169-EF49AF40D4C6}"/>
                    </a:ext>
                  </a:extLst>
                </p:cNvPr>
                <p:cNvSpPr txBox="1"/>
                <p:nvPr/>
              </p:nvSpPr>
              <p:spPr>
                <a:xfrm>
                  <a:off x="7937883" y="9201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7053388" y="16465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960231" y="260772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9783364" y="8931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9803023" y="26282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798075" y="18530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8956003" y="165190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0639667" y="19336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FA5E863-69D9-4E94-9E8E-CB25CF9BA993}"/>
                    </a:ext>
                  </a:extLst>
                </p:cNvPr>
                <p:cNvSpPr txBox="1"/>
                <p:nvPr/>
              </p:nvSpPr>
              <p:spPr>
                <a:xfrm>
                  <a:off x="3343186" y="427704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3343186" y="4277041"/>
                  <a:ext cx="332369" cy="307777"/>
                </a:xfrm>
                <a:prstGeom prst="rect">
                  <a:avLst/>
                </a:prstGeom>
                <a:blipFill>
                  <a:blip r:embed="rId17"/>
                  <a:stretch>
                    <a:fillRect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466B6D5-E082-4974-BC7C-83DA50FBD643}"/>
                    </a:ext>
                  </a:extLst>
                </p:cNvPr>
                <p:cNvSpPr txBox="1"/>
                <p:nvPr/>
              </p:nvSpPr>
              <p:spPr>
                <a:xfrm>
                  <a:off x="3802864" y="474868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3802864" y="4748687"/>
                  <a:ext cx="332369" cy="307777"/>
                </a:xfrm>
                <a:prstGeom prst="rect">
                  <a:avLst/>
                </a:prstGeom>
                <a:blipFill>
                  <a:blip r:embed="rId18"/>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2D95AAF3-657B-4E85-A93E-232AFF17D1B9}"/>
                    </a:ext>
                  </a:extLst>
                </p:cNvPr>
                <p:cNvSpPr txBox="1"/>
                <p:nvPr/>
              </p:nvSpPr>
              <p:spPr>
                <a:xfrm>
                  <a:off x="5235416" y="4244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5235416" y="4244503"/>
                  <a:ext cx="332369" cy="307777"/>
                </a:xfrm>
                <a:prstGeom prst="rect">
                  <a:avLst/>
                </a:prstGeom>
                <a:blipFill>
                  <a:blip r:embed="rId19"/>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06575CDD-D32D-4C7A-A6D6-FC30A9C5669B}"/>
                    </a:ext>
                  </a:extLst>
                </p:cNvPr>
                <p:cNvSpPr txBox="1"/>
                <p:nvPr/>
              </p:nvSpPr>
              <p:spPr>
                <a:xfrm>
                  <a:off x="5646538" y="473760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5646538" y="4737606"/>
                  <a:ext cx="332369" cy="307777"/>
                </a:xfrm>
                <a:prstGeom prst="rect">
                  <a:avLst/>
                </a:prstGeom>
                <a:blipFill>
                  <a:blip r:embed="rId20"/>
                  <a:stretch>
                    <a:fillRect/>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7140F9FF-18DA-48B7-8C65-D638467A7012}"/>
                </a:ext>
              </a:extLst>
            </p:cNvPr>
            <p:cNvSpPr/>
            <p:nvPr/>
          </p:nvSpPr>
          <p:spPr>
            <a:xfrm>
              <a:off x="6282957" y="4653664"/>
              <a:ext cx="203153" cy="2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751353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096410" cy="2308324"/>
          </a:xfrm>
          <a:prstGeom prst="rect">
            <a:avLst/>
          </a:prstGeom>
          <a:noFill/>
        </p:spPr>
        <p:txBody>
          <a:bodyPr wrap="square">
            <a:spAutoFit/>
          </a:bodyPr>
          <a:lstStyle/>
          <a:p>
            <a:pPr marL="285750" indent="-285750">
              <a:buFont typeface="Arial" panose="020B0604020202020204" pitchFamily="34" charset="0"/>
              <a:buChar char="•"/>
            </a:pPr>
            <a:r>
              <a:rPr lang="zh-TW" altLang="en-US" dirty="0"/>
              <a:t>Zhi-Peng reaches only 0.62× the isotropy of Long Fei (0.544 vs 0.884). Long Fei's high-κ region is concentric about the origin, whereas Zhi-Peng's is offset, split into two diagonal lobes, and decays faster with radius.</a:t>
            </a:r>
            <a:r>
              <a:rPr lang="en-US" altLang="zh-TW" dirty="0"/>
              <a:t> the gain is bought at the cost of isotropy. More importantly, </a:t>
            </a:r>
            <a:r>
              <a:rPr lang="en-US" altLang="zh-TW" dirty="0" err="1"/>
              <a:t>Zhi</a:t>
            </a:r>
            <a:r>
              <a:rPr lang="en-US" altLang="zh-TW" dirty="0"/>
              <a:t>-Peng's best-isotropy point is not the origin — Long Fei gives the most balanced three-axis control simply by staying at the </a:t>
            </a:r>
            <a:r>
              <a:rPr lang="en-US" altLang="zh-TW" dirty="0" err="1"/>
              <a:t>centre</a:t>
            </a:r>
            <a:r>
              <a:rPr lang="en-US" altLang="zh-TW" dirty="0"/>
              <a:t>, whereas </a:t>
            </a:r>
            <a:r>
              <a:rPr lang="en-US" altLang="zh-TW" dirty="0" err="1"/>
              <a:t>Zhi</a:t>
            </a:r>
            <a:r>
              <a:rPr lang="en-US" altLang="zh-TW" dirty="0"/>
              <a:t>-Peng offers no such sweet spot.</a:t>
            </a:r>
            <a:endParaRPr lang="zh-TW" altLang="en-US" dirty="0"/>
          </a:p>
        </p:txBody>
      </p:sp>
      <p:grpSp>
        <p:nvGrpSpPr>
          <p:cNvPr id="12" name="群組 11">
            <a:extLst>
              <a:ext uri="{FF2B5EF4-FFF2-40B4-BE49-F238E27FC236}">
                <a16:creationId xmlns:a16="http://schemas.microsoft.com/office/drawing/2014/main" id="{AB31ABE0-EF81-4393-B20F-8B94B513C0AB}"/>
              </a:ext>
            </a:extLst>
          </p:cNvPr>
          <p:cNvGrpSpPr/>
          <p:nvPr/>
        </p:nvGrpSpPr>
        <p:grpSpPr>
          <a:xfrm>
            <a:off x="6654559" y="754419"/>
            <a:ext cx="5096416" cy="2285308"/>
            <a:chOff x="6654559" y="754419"/>
            <a:chExt cx="5096416" cy="2285308"/>
          </a:xfrm>
        </p:grpSpPr>
        <p:pic>
          <p:nvPicPr>
            <p:cNvPr id="6" name="圖片 5">
              <a:extLst>
                <a:ext uri="{FF2B5EF4-FFF2-40B4-BE49-F238E27FC236}">
                  <a16:creationId xmlns:a16="http://schemas.microsoft.com/office/drawing/2014/main" id="{196C02F7-00A5-4DDC-8346-D00675473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4445" y="818272"/>
              <a:ext cx="4854104" cy="2145460"/>
            </a:xfrm>
            <a:prstGeom prst="rect">
              <a:avLst/>
            </a:prstGeom>
          </p:spPr>
        </p:pic>
        <p:grpSp>
          <p:nvGrpSpPr>
            <p:cNvPr id="9" name="群組 8">
              <a:extLst>
                <a:ext uri="{FF2B5EF4-FFF2-40B4-BE49-F238E27FC236}">
                  <a16:creationId xmlns:a16="http://schemas.microsoft.com/office/drawing/2014/main" id="{E0A4D1A0-7FA6-495C-B437-6876730F0155}"/>
                </a:ext>
              </a:extLst>
            </p:cNvPr>
            <p:cNvGrpSpPr/>
            <p:nvPr/>
          </p:nvGrpSpPr>
          <p:grpSpPr>
            <a:xfrm>
              <a:off x="6654559" y="754419"/>
              <a:ext cx="5096416" cy="2285308"/>
              <a:chOff x="6654559" y="754419"/>
              <a:chExt cx="5096416" cy="2285308"/>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23479" y="797676"/>
                <a:ext cx="5023709" cy="2185286"/>
                <a:chOff x="6723479" y="797676"/>
                <a:chExt cx="5023709" cy="2185286"/>
              </a:xfrm>
            </p:grpSpPr>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749622" y="1806034"/>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79BB90AF-E6FA-436F-A46A-20A62593B5EF}"/>
                    </a:ext>
                  </a:extLst>
                </p:cNvPr>
                <p:cNvSpPr/>
                <p:nvPr/>
              </p:nvSpPr>
              <p:spPr>
                <a:xfrm>
                  <a:off x="7638712" y="2792556"/>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23479"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9867199" y="803617"/>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912334" y="2802870"/>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0985455" y="1728448"/>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28632" y="1683507"/>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2B53346-329C-4222-BD3D-25F664BF71DB}"/>
                      </a:ext>
                    </a:extLst>
                  </p:cNvPr>
                  <p:cNvSpPr txBox="1"/>
                  <p:nvPr/>
                </p:nvSpPr>
                <p:spPr>
                  <a:xfrm rot="16200000">
                    <a:off x="11056969" y="1666385"/>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33" name="文字方塊 32">
                    <a:extLst>
                      <a:ext uri="{FF2B5EF4-FFF2-40B4-BE49-F238E27FC236}">
                        <a16:creationId xmlns:a16="http://schemas.microsoft.com/office/drawing/2014/main" id="{F2B53346-329C-4222-BD3D-25F664BF71DB}"/>
                      </a:ext>
                    </a:extLst>
                  </p:cNvPr>
                  <p:cNvSpPr txBox="1">
                    <a:spLocks noRot="1" noChangeAspect="1" noMove="1" noResize="1" noEditPoints="1" noAdjustHandles="1" noChangeArrowheads="1" noChangeShapeType="1" noTextEdit="1"/>
                  </p:cNvSpPr>
                  <p:nvPr/>
                </p:nvSpPr>
                <p:spPr>
                  <a:xfrm rot="16200000">
                    <a:off x="11056969" y="1666385"/>
                    <a:ext cx="1049457" cy="338554"/>
                  </a:xfrm>
                  <a:prstGeom prst="rect">
                    <a:avLst/>
                  </a:prstGeom>
                  <a:blipFill>
                    <a:blip r:embed="rId3"/>
                    <a:stretch>
                      <a:fillRect r="-8929"/>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46D7EB7F-B437-4C1E-8C67-E972B568E642}"/>
                  </a:ext>
                </a:extLst>
              </p:cNvPr>
              <p:cNvSpPr txBox="1"/>
              <p:nvPr/>
            </p:nvSpPr>
            <p:spPr>
              <a:xfrm>
                <a:off x="7646479" y="7573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C6DD08B8-1F70-4D6A-B6EB-01194B3B2274}"/>
                  </a:ext>
                </a:extLst>
              </p:cNvPr>
              <p:cNvSpPr txBox="1"/>
              <p:nvPr/>
            </p:nvSpPr>
            <p:spPr>
              <a:xfrm>
                <a:off x="6654559" y="1630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7660264" y="27319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9882734" y="75441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882734" y="271353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632275" y="18356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8881008" y="1597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896870" y="18688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543C79D-C8D4-4070-B22B-57B5E22FB84D}"/>
                      </a:ext>
                    </a:extLst>
                  </p:cNvPr>
                  <p:cNvSpPr txBox="1"/>
                  <p:nvPr/>
                </p:nvSpPr>
                <p:spPr>
                  <a:xfrm>
                    <a:off x="8059884" y="190863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059884" y="1908632"/>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9CD170C5-141E-4CBF-852E-6A45291E4F7A}"/>
                      </a:ext>
                    </a:extLst>
                  </p:cNvPr>
                  <p:cNvSpPr txBox="1"/>
                  <p:nvPr/>
                </p:nvSpPr>
                <p:spPr>
                  <a:xfrm>
                    <a:off x="7538482" y="128793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538482" y="1287935"/>
                    <a:ext cx="332369" cy="307777"/>
                  </a:xfrm>
                  <a:prstGeom prst="rect">
                    <a:avLst/>
                  </a:prstGeom>
                  <a:blipFill>
                    <a:blip r:embed="rId5"/>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20" y="191676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20" y="1916765"/>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586B4D8-B9B1-456E-9FA7-CFC535F32B8D}"/>
                      </a:ext>
                    </a:extLst>
                  </p:cNvPr>
                  <p:cNvSpPr txBox="1"/>
                  <p:nvPr/>
                </p:nvSpPr>
                <p:spPr>
                  <a:xfrm>
                    <a:off x="9791466" y="125445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791466" y="1254456"/>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29" name="群組 28">
            <a:extLst>
              <a:ext uri="{FF2B5EF4-FFF2-40B4-BE49-F238E27FC236}">
                <a16:creationId xmlns:a16="http://schemas.microsoft.com/office/drawing/2014/main" id="{513145FC-D415-42EF-8F47-FD6054CE858B}"/>
              </a:ext>
            </a:extLst>
          </p:cNvPr>
          <p:cNvGrpSpPr/>
          <p:nvPr/>
        </p:nvGrpSpPr>
        <p:grpSpPr>
          <a:xfrm>
            <a:off x="7870850" y="3386665"/>
            <a:ext cx="2913575" cy="2289491"/>
            <a:chOff x="7870850" y="3386665"/>
            <a:chExt cx="2913575" cy="2289491"/>
          </a:xfrm>
        </p:grpSpPr>
        <p:pic>
          <p:nvPicPr>
            <p:cNvPr id="28" name="圖片 27">
              <a:extLst>
                <a:ext uri="{FF2B5EF4-FFF2-40B4-BE49-F238E27FC236}">
                  <a16:creationId xmlns:a16="http://schemas.microsoft.com/office/drawing/2014/main" id="{D69B8C79-1303-4622-8C61-6B80EBE965A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8706" y="3464198"/>
              <a:ext cx="2624073" cy="2122412"/>
            </a:xfrm>
            <a:prstGeom prst="rect">
              <a:avLst/>
            </a:prstGeom>
          </p:spPr>
        </p:pic>
        <p:grpSp>
          <p:nvGrpSpPr>
            <p:cNvPr id="11" name="群組 10">
              <a:extLst>
                <a:ext uri="{FF2B5EF4-FFF2-40B4-BE49-F238E27FC236}">
                  <a16:creationId xmlns:a16="http://schemas.microsoft.com/office/drawing/2014/main" id="{FC25E01C-03E8-4714-B671-9402B31C7C8D}"/>
                </a:ext>
              </a:extLst>
            </p:cNvPr>
            <p:cNvGrpSpPr/>
            <p:nvPr/>
          </p:nvGrpSpPr>
          <p:grpSpPr>
            <a:xfrm>
              <a:off x="7870850" y="3386665"/>
              <a:ext cx="2913575" cy="2289491"/>
              <a:chOff x="7870850" y="3386665"/>
              <a:chExt cx="2913575" cy="2289491"/>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66144" y="3457780"/>
                <a:ext cx="2818281" cy="2161789"/>
                <a:chOff x="7966144" y="3457780"/>
                <a:chExt cx="2818281" cy="2161789"/>
              </a:xfrm>
            </p:grpSpPr>
            <p:sp>
              <p:nvSpPr>
                <p:cNvPr id="22" name="矩形 21">
                  <a:extLst>
                    <a:ext uri="{FF2B5EF4-FFF2-40B4-BE49-F238E27FC236}">
                      <a16:creationId xmlns:a16="http://schemas.microsoft.com/office/drawing/2014/main" id="{B0183DDC-6CF5-43DD-A985-8AACBD43AC2C}"/>
                    </a:ext>
                  </a:extLst>
                </p:cNvPr>
                <p:cNvSpPr/>
                <p:nvPr/>
              </p:nvSpPr>
              <p:spPr>
                <a:xfrm>
                  <a:off x="8993178" y="3457780"/>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DCC76607-AC9C-44A9-927A-CBCCDEFF1E7E}"/>
                    </a:ext>
                  </a:extLst>
                </p:cNvPr>
                <p:cNvSpPr/>
                <p:nvPr/>
              </p:nvSpPr>
              <p:spPr>
                <a:xfrm>
                  <a:off x="7966144" y="443298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75862"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59342" y="442193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870850" y="424965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68812" y="338666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91505" y="53683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4" y="447748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D17A7547-B19D-4CA8-815A-4C78A6BCDC7C}"/>
                      </a:ext>
                    </a:extLst>
                  </p:cNvPr>
                  <p:cNvSpPr txBox="1"/>
                  <p:nvPr/>
                </p:nvSpPr>
                <p:spPr>
                  <a:xfrm rot="16200000">
                    <a:off x="10037507" y="4239336"/>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57" name="文字方塊 56">
                    <a:extLst>
                      <a:ext uri="{FF2B5EF4-FFF2-40B4-BE49-F238E27FC236}">
                        <a16:creationId xmlns:a16="http://schemas.microsoft.com/office/drawing/2014/main" id="{D17A7547-B19D-4CA8-815A-4C78A6BCDC7C}"/>
                      </a:ext>
                    </a:extLst>
                  </p:cNvPr>
                  <p:cNvSpPr txBox="1">
                    <a:spLocks noRot="1" noChangeAspect="1" noMove="1" noResize="1" noEditPoints="1" noAdjustHandles="1" noChangeArrowheads="1" noChangeShapeType="1" noTextEdit="1"/>
                  </p:cNvSpPr>
                  <p:nvPr/>
                </p:nvSpPr>
                <p:spPr>
                  <a:xfrm rot="16200000">
                    <a:off x="10037507" y="4239336"/>
                    <a:ext cx="1049457" cy="338554"/>
                  </a:xfrm>
                  <a:prstGeom prst="rect">
                    <a:avLst/>
                  </a:prstGeom>
                  <a:blipFill>
                    <a:blip r:embed="rId11"/>
                    <a:stretch>
                      <a:fillRect r="-9091"/>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4088140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2" name="群組 11">
            <a:extLst>
              <a:ext uri="{FF2B5EF4-FFF2-40B4-BE49-F238E27FC236}">
                <a16:creationId xmlns:a16="http://schemas.microsoft.com/office/drawing/2014/main" id="{B35BCC46-0A07-4B67-AE3C-8936B77F94F5}"/>
              </a:ext>
            </a:extLst>
          </p:cNvPr>
          <p:cNvGrpSpPr/>
          <p:nvPr/>
        </p:nvGrpSpPr>
        <p:grpSpPr>
          <a:xfrm>
            <a:off x="7616863" y="1527662"/>
            <a:ext cx="3798910" cy="2882610"/>
            <a:chOff x="7667639" y="1452832"/>
            <a:chExt cx="3798910" cy="2882610"/>
          </a:xfrm>
        </p:grpSpPr>
        <p:pic>
          <p:nvPicPr>
            <p:cNvPr id="5" name="圖片 4">
              <a:extLst>
                <a:ext uri="{FF2B5EF4-FFF2-40B4-BE49-F238E27FC236}">
                  <a16:creationId xmlns:a16="http://schemas.microsoft.com/office/drawing/2014/main" id="{DF0B517E-F12C-4242-AD3B-E5B43C0D6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9716" y="1452832"/>
              <a:ext cx="3686833" cy="2785533"/>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7667639" y="1504501"/>
              <a:ext cx="2727967" cy="2830941"/>
              <a:chOff x="7667639" y="1504501"/>
              <a:chExt cx="2727967" cy="2830941"/>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7778898" y="2057398"/>
                <a:ext cx="2491929" cy="2180502"/>
                <a:chOff x="7778898" y="2057398"/>
                <a:chExt cx="2491929" cy="2180502"/>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285244" y="2551052"/>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3026" y="3966110"/>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3026" y="3966110"/>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710069" y="2462071"/>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710069" y="2462071"/>
                    <a:ext cx="2192139" cy="276999"/>
                  </a:xfrm>
                  <a:prstGeom prst="rect">
                    <a:avLst/>
                  </a:prstGeom>
                  <a:blipFill>
                    <a:blip r:embed="rId5"/>
                    <a:stretch>
                      <a:fillRect l="-2174" t="-2778" r="-32609" b="-2222"/>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321964" y="3855632"/>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Both histograms have the same resolution (184uT/A).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212687" y="786378"/>
            <a:ext cx="6176432"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Tree>
    <p:extLst>
      <p:ext uri="{BB962C8B-B14F-4D97-AF65-F5344CB8AC3E}">
        <p14:creationId xmlns:p14="http://schemas.microsoft.com/office/powerpoint/2010/main" val="1709554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65019" y="400118"/>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Compare </a:t>
            </a:r>
            <a:r>
              <a:rPr lang="en-US" altLang="zh-TW" dirty="0" err="1"/>
              <a:t>DesignA&amp;B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87000" y="1369037"/>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C8D4A16-5CCA-40C5-9964-FFF5383065ED}"/>
                  </a:ext>
                </a:extLst>
              </p:cNvPr>
              <p:cNvSpPr txBox="1"/>
              <p:nvPr/>
            </p:nvSpPr>
            <p:spPr>
              <a:xfrm>
                <a:off x="233277" y="2076294"/>
                <a:ext cx="11928881" cy="1754326"/>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dirty="0"/>
              </a:p>
              <a:p>
                <a:pPr marL="742950" lvl="1" indent="-285750">
                  <a:buFont typeface="Arial" panose="020B0604020202020204" pitchFamily="34" charset="0"/>
                  <a:buChar char="•"/>
                </a:pPr>
                <a:r>
                  <a:rPr lang="en-US" altLang="zh-TW" dirty="0"/>
                  <a:t>Capacity </a:t>
                </a:r>
                <a:r>
                  <a:rPr lang="en-US" altLang="zh-TW" dirty="0" err="1"/>
                  <a:t>mean:</a:t>
                </a:r>
                <a:r>
                  <a:rPr lang="en-US" altLang="zh-TW" dirty="0"/>
                  <a:t>A=</a:t>
                </a:r>
                <a14:m>
                  <m:oMath xmlns:m="http://schemas.openxmlformats.org/officeDocument/2006/math">
                    <m:r>
                      <a:rPr lang="en-US" altLang="zh-TW" b="0" i="1" smtClean="0">
                        <a:latin typeface="Cambria Math" panose="02040503050406030204" pitchFamily="18" charset="0"/>
                      </a:rPr>
                      <m:t>14.6246</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=39.5813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r>
                  <a:rPr lang="en-US" altLang="zh-TW" dirty="0"/>
                  <a:t> </a:t>
                </a:r>
              </a:p>
              <a:p>
                <a:pPr marL="742950" lvl="1" indent="-285750">
                  <a:buFont typeface="Arial" panose="020B0604020202020204" pitchFamily="34" charset="0"/>
                  <a:buChar char="•"/>
                </a:pPr>
                <a:r>
                  <a:rPr lang="en-US" altLang="zh-TW" dirty="0"/>
                  <a:t>Iso mean :A=</a:t>
                </a:r>
                <a14:m>
                  <m:oMath xmlns:m="http://schemas.openxmlformats.org/officeDocument/2006/math">
                    <m:r>
                      <a:rPr lang="en-US" altLang="zh-TW" b="0" i="1" smtClean="0">
                        <a:latin typeface="Cambria Math" panose="02040503050406030204" pitchFamily="18" charset="0"/>
                      </a:rPr>
                      <m:t>0.8836,</m:t>
                    </m:r>
                    <m:r>
                      <a:rPr lang="en-US" altLang="zh-TW" b="0" i="1" smtClean="0">
                        <a:latin typeface="Cambria Math" panose="02040503050406030204" pitchFamily="18" charset="0"/>
                      </a:rPr>
                      <m:t>𝐵</m:t>
                    </m:r>
                    <m:r>
                      <a:rPr lang="en-US" altLang="zh-TW" b="0" i="1" smtClean="0">
                        <a:latin typeface="Cambria Math" panose="02040503050406030204" pitchFamily="18" charset="0"/>
                      </a:rPr>
                      <m:t>=0.5439</m:t>
                    </m:r>
                  </m:oMath>
                </a14:m>
                <a:endParaRPr lang="en-US" altLang="zh-TW" dirty="0"/>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endParaRPr lang="en-US" altLang="zh-TW" dirty="0"/>
              </a:p>
              <a:p>
                <a:endParaRPr lang="zh-TW" altLang="en-US" dirty="0"/>
              </a:p>
            </p:txBody>
          </p:sp>
        </mc:Choice>
        <mc:Fallback xmlns="">
          <p:sp>
            <p:nvSpPr>
              <p:cNvPr id="36" name="文字方塊 35">
                <a:extLst>
                  <a:ext uri="{FF2B5EF4-FFF2-40B4-BE49-F238E27FC236}">
                    <a16:creationId xmlns:a16="http://schemas.microsoft.com/office/drawing/2014/main" id="{BC8D4A16-5CCA-40C5-9964-FFF5383065ED}"/>
                  </a:ext>
                </a:extLst>
              </p:cNvPr>
              <p:cNvSpPr txBox="1">
                <a:spLocks noRot="1" noChangeAspect="1" noMove="1" noResize="1" noEditPoints="1" noAdjustHandles="1" noChangeArrowheads="1" noChangeShapeType="1" noTextEdit="1"/>
              </p:cNvSpPr>
              <p:nvPr/>
            </p:nvSpPr>
            <p:spPr>
              <a:xfrm>
                <a:off x="233277" y="2076294"/>
                <a:ext cx="11928881" cy="1754326"/>
              </a:xfrm>
              <a:prstGeom prst="rect">
                <a:avLst/>
              </a:prstGeom>
              <a:blipFill>
                <a:blip r:embed="rId2"/>
                <a:stretch>
                  <a:fillRect l="-307" t="-9059"/>
                </a:stretch>
              </a:blipFill>
            </p:spPr>
            <p:txBody>
              <a:bodyPr/>
              <a:lstStyle/>
              <a:p>
                <a:r>
                  <a:rPr lang="zh-TW" altLang="en-US">
                    <a:noFill/>
                  </a:rPr>
                  <a:t> </a:t>
                </a:r>
              </a:p>
            </p:txBody>
          </p:sp>
        </mc:Fallback>
      </mc:AlternateContent>
      <p:grpSp>
        <p:nvGrpSpPr>
          <p:cNvPr id="14" name="群組 13">
            <a:extLst>
              <a:ext uri="{FF2B5EF4-FFF2-40B4-BE49-F238E27FC236}">
                <a16:creationId xmlns:a16="http://schemas.microsoft.com/office/drawing/2014/main" id="{1D558F2A-14D7-43F6-867F-2DFC236AF3D5}"/>
              </a:ext>
            </a:extLst>
          </p:cNvPr>
          <p:cNvGrpSpPr/>
          <p:nvPr/>
        </p:nvGrpSpPr>
        <p:grpSpPr>
          <a:xfrm>
            <a:off x="530396" y="3177110"/>
            <a:ext cx="4031324" cy="2985095"/>
            <a:chOff x="1332170" y="3219785"/>
            <a:chExt cx="4031324" cy="2985095"/>
          </a:xfrm>
        </p:grpSpPr>
        <p:grpSp>
          <p:nvGrpSpPr>
            <p:cNvPr id="10" name="群組 9">
              <a:extLst>
                <a:ext uri="{FF2B5EF4-FFF2-40B4-BE49-F238E27FC236}">
                  <a16:creationId xmlns:a16="http://schemas.microsoft.com/office/drawing/2014/main" id="{484B6FB1-1C36-4F0F-AB89-DA92DE8D9626}"/>
                </a:ext>
              </a:extLst>
            </p:cNvPr>
            <p:cNvGrpSpPr/>
            <p:nvPr/>
          </p:nvGrpSpPr>
          <p:grpSpPr>
            <a:xfrm>
              <a:off x="1332170" y="3219785"/>
              <a:ext cx="4031324" cy="2985095"/>
              <a:chOff x="1332170" y="3219785"/>
              <a:chExt cx="4031324" cy="2985095"/>
            </a:xfrm>
          </p:grpSpPr>
          <p:pic>
            <p:nvPicPr>
              <p:cNvPr id="4" name="圖片 3">
                <a:extLst>
                  <a:ext uri="{FF2B5EF4-FFF2-40B4-BE49-F238E27FC236}">
                    <a16:creationId xmlns:a16="http://schemas.microsoft.com/office/drawing/2014/main" id="{C9B2C0BC-8E37-4E43-91BC-B3AA4B68D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804" y="3219785"/>
                <a:ext cx="3923690" cy="2899745"/>
              </a:xfrm>
              <a:prstGeom prst="rect">
                <a:avLst/>
              </a:prstGeom>
            </p:spPr>
          </p:pic>
          <p:sp>
            <p:nvSpPr>
              <p:cNvPr id="8" name="矩形 7">
                <a:extLst>
                  <a:ext uri="{FF2B5EF4-FFF2-40B4-BE49-F238E27FC236}">
                    <a16:creationId xmlns:a16="http://schemas.microsoft.com/office/drawing/2014/main" id="{235ADB45-D627-407A-A687-F1BC575B846F}"/>
                  </a:ext>
                </a:extLst>
              </p:cNvPr>
              <p:cNvSpPr/>
              <p:nvPr/>
            </p:nvSpPr>
            <p:spPr>
              <a:xfrm>
                <a:off x="3107267" y="5892621"/>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59532031-6E98-4741-9085-BA909E848C96}"/>
                  </a:ext>
                </a:extLst>
              </p:cNvPr>
              <p:cNvSpPr/>
              <p:nvPr/>
            </p:nvSpPr>
            <p:spPr>
              <a:xfrm rot="16200000">
                <a:off x="801366" y="4318803"/>
                <a:ext cx="1373867"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5ED9784D-451D-4348-AEC2-B2DDAE348FA0}"/>
                    </a:ext>
                  </a:extLst>
                </p:cNvPr>
                <p:cNvSpPr txBox="1"/>
                <p:nvPr/>
              </p:nvSpPr>
              <p:spPr>
                <a:xfrm>
                  <a:off x="2290687" y="5824512"/>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38" name="文字方塊 37">
                  <a:extLst>
                    <a:ext uri="{FF2B5EF4-FFF2-40B4-BE49-F238E27FC236}">
                      <a16:creationId xmlns:a16="http://schemas.microsoft.com/office/drawing/2014/main" id="{5ED9784D-451D-4348-AEC2-B2DDAE348FA0}"/>
                    </a:ext>
                  </a:extLst>
                </p:cNvPr>
                <p:cNvSpPr txBox="1">
                  <a:spLocks noRot="1" noChangeAspect="1" noMove="1" noResize="1" noEditPoints="1" noAdjustHandles="1" noChangeArrowheads="1" noChangeShapeType="1" noTextEdit="1"/>
                </p:cNvSpPr>
                <p:nvPr/>
              </p:nvSpPr>
              <p:spPr>
                <a:xfrm>
                  <a:off x="2290687" y="5824512"/>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832ECC67-316D-448E-8C37-98F7B0F4DC79}"/>
                    </a:ext>
                  </a:extLst>
                </p:cNvPr>
                <p:cNvSpPr txBox="1"/>
                <p:nvPr/>
              </p:nvSpPr>
              <p:spPr>
                <a:xfrm rot="16200000">
                  <a:off x="416731" y="4331740"/>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39" name="文字方塊 38">
                  <a:extLst>
                    <a:ext uri="{FF2B5EF4-FFF2-40B4-BE49-F238E27FC236}">
                      <a16:creationId xmlns:a16="http://schemas.microsoft.com/office/drawing/2014/main" id="{832ECC67-316D-448E-8C37-98F7B0F4DC79}"/>
                    </a:ext>
                  </a:extLst>
                </p:cNvPr>
                <p:cNvSpPr txBox="1">
                  <a:spLocks noRot="1" noChangeAspect="1" noMove="1" noResize="1" noEditPoints="1" noAdjustHandles="1" noChangeArrowheads="1" noChangeShapeType="1" noTextEdit="1"/>
                </p:cNvSpPr>
                <p:nvPr/>
              </p:nvSpPr>
              <p:spPr>
                <a:xfrm rot="16200000">
                  <a:off x="416731" y="4331740"/>
                  <a:ext cx="2192139" cy="276999"/>
                </a:xfrm>
                <a:prstGeom prst="rect">
                  <a:avLst/>
                </a:prstGeom>
                <a:blipFill>
                  <a:blip r:embed="rId5"/>
                  <a:stretch>
                    <a:fillRect l="-2222" t="-3064" r="-35556" b="-2507"/>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5D72ED91-C0EB-43DC-8D91-0F641CE88F1C}"/>
              </a:ext>
            </a:extLst>
          </p:cNvPr>
          <p:cNvGrpSpPr/>
          <p:nvPr/>
        </p:nvGrpSpPr>
        <p:grpSpPr>
          <a:xfrm>
            <a:off x="6952571" y="3666826"/>
            <a:ext cx="2691752" cy="2290250"/>
            <a:chOff x="6672153" y="3864289"/>
            <a:chExt cx="2691752" cy="2290250"/>
          </a:xfrm>
        </p:grpSpPr>
        <p:sp>
          <p:nvSpPr>
            <p:cNvPr id="37" name="矩形 36">
              <a:extLst>
                <a:ext uri="{FF2B5EF4-FFF2-40B4-BE49-F238E27FC236}">
                  <a16:creationId xmlns:a16="http://schemas.microsoft.com/office/drawing/2014/main" id="{6DFEC5DC-57FA-452C-BC7B-B54575F5C83A}"/>
                </a:ext>
              </a:extLst>
            </p:cNvPr>
            <p:cNvSpPr/>
            <p:nvPr/>
          </p:nvSpPr>
          <p:spPr>
            <a:xfrm rot="16200000">
              <a:off x="6085426" y="4451016"/>
              <a:ext cx="1469372" cy="2959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FE43A22-15EA-4BDB-8BBD-E6201C292CE3}"/>
                </a:ext>
              </a:extLst>
            </p:cNvPr>
            <p:cNvSpPr/>
            <p:nvPr/>
          </p:nvSpPr>
          <p:spPr>
            <a:xfrm>
              <a:off x="8347905" y="5842280"/>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2" name="文字方塊 41">
            <a:extLst>
              <a:ext uri="{FF2B5EF4-FFF2-40B4-BE49-F238E27FC236}">
                <a16:creationId xmlns:a16="http://schemas.microsoft.com/office/drawing/2014/main" id="{B9B12945-3B26-47E4-A0C4-3863F0238015}"/>
              </a:ext>
            </a:extLst>
          </p:cNvPr>
          <p:cNvSpPr txBox="1"/>
          <p:nvPr/>
        </p:nvSpPr>
        <p:spPr>
          <a:xfrm>
            <a:off x="233277" y="6314135"/>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0.05mT/A </a:t>
            </a:r>
          </a:p>
        </p:txBody>
      </p:sp>
      <p:sp>
        <p:nvSpPr>
          <p:cNvPr id="43" name="文字方塊 42">
            <a:extLst>
              <a:ext uri="{FF2B5EF4-FFF2-40B4-BE49-F238E27FC236}">
                <a16:creationId xmlns:a16="http://schemas.microsoft.com/office/drawing/2014/main" id="{BF8620F4-E2B0-4F31-ACB6-4A4DE7CD4C07}"/>
              </a:ext>
            </a:extLst>
          </p:cNvPr>
          <p:cNvSpPr txBox="1"/>
          <p:nvPr/>
        </p:nvSpPr>
        <p:spPr>
          <a:xfrm>
            <a:off x="6894547" y="6250292"/>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0.01</a:t>
            </a:r>
          </a:p>
        </p:txBody>
      </p:sp>
      <p:grpSp>
        <p:nvGrpSpPr>
          <p:cNvPr id="15" name="群組 14">
            <a:extLst>
              <a:ext uri="{FF2B5EF4-FFF2-40B4-BE49-F238E27FC236}">
                <a16:creationId xmlns:a16="http://schemas.microsoft.com/office/drawing/2014/main" id="{BD61B173-4718-4D76-92A7-C6440603C625}"/>
              </a:ext>
            </a:extLst>
          </p:cNvPr>
          <p:cNvGrpSpPr/>
          <p:nvPr/>
        </p:nvGrpSpPr>
        <p:grpSpPr>
          <a:xfrm>
            <a:off x="7272870" y="3270668"/>
            <a:ext cx="3323835" cy="2548264"/>
            <a:chOff x="7272870" y="3270668"/>
            <a:chExt cx="3323835" cy="2548264"/>
          </a:xfrm>
        </p:grpSpPr>
        <p:pic>
          <p:nvPicPr>
            <p:cNvPr id="6" name="圖片 5">
              <a:extLst>
                <a:ext uri="{FF2B5EF4-FFF2-40B4-BE49-F238E27FC236}">
                  <a16:creationId xmlns:a16="http://schemas.microsoft.com/office/drawing/2014/main" id="{F519D580-FAD7-43A2-89F2-28E45C9042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0909" y="3270668"/>
              <a:ext cx="3255796" cy="2489200"/>
            </a:xfrm>
            <a:prstGeom prst="rect">
              <a:avLst/>
            </a:prstGeom>
          </p:spPr>
        </p:pic>
        <p:sp>
          <p:nvSpPr>
            <p:cNvPr id="13" name="矩形 12">
              <a:extLst>
                <a:ext uri="{FF2B5EF4-FFF2-40B4-BE49-F238E27FC236}">
                  <a16:creationId xmlns:a16="http://schemas.microsoft.com/office/drawing/2014/main" id="{0A9AE2B9-4C41-4A3E-922B-83C28C90CB91}"/>
                </a:ext>
              </a:extLst>
            </p:cNvPr>
            <p:cNvSpPr/>
            <p:nvPr/>
          </p:nvSpPr>
          <p:spPr>
            <a:xfrm>
              <a:off x="8968807" y="5644817"/>
              <a:ext cx="396116" cy="174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4E527427-3575-4CD7-BFB1-42BB333B4950}"/>
                </a:ext>
              </a:extLst>
            </p:cNvPr>
            <p:cNvSpPr/>
            <p:nvPr/>
          </p:nvSpPr>
          <p:spPr>
            <a:xfrm rot="16200000">
              <a:off x="6812141" y="4229538"/>
              <a:ext cx="1133126" cy="211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7DCE6E4-3C26-4618-90E7-27B159EE30A3}"/>
                  </a:ext>
                </a:extLst>
              </p:cNvPr>
              <p:cNvSpPr txBox="1"/>
              <p:nvPr/>
            </p:nvSpPr>
            <p:spPr>
              <a:xfrm rot="16200000">
                <a:off x="6306602" y="4228238"/>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41" name="文字方塊 40">
                <a:extLst>
                  <a:ext uri="{FF2B5EF4-FFF2-40B4-BE49-F238E27FC236}">
                    <a16:creationId xmlns:a16="http://schemas.microsoft.com/office/drawing/2014/main" id="{57DCE6E4-3C26-4618-90E7-27B159EE30A3}"/>
                  </a:ext>
                </a:extLst>
              </p:cNvPr>
              <p:cNvSpPr txBox="1">
                <a:spLocks noRot="1" noChangeAspect="1" noMove="1" noResize="1" noEditPoints="1" noAdjustHandles="1" noChangeArrowheads="1" noChangeShapeType="1" noTextEdit="1"/>
              </p:cNvSpPr>
              <p:nvPr/>
            </p:nvSpPr>
            <p:spPr>
              <a:xfrm rot="16200000">
                <a:off x="6306602" y="4228238"/>
                <a:ext cx="2192139" cy="276999"/>
              </a:xfrm>
              <a:prstGeom prst="rect">
                <a:avLst/>
              </a:prstGeom>
              <a:blipFill>
                <a:blip r:embed="rId7"/>
                <a:stretch>
                  <a:fillRect l="-4444" t="-3064" r="-35556" b="-25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4E9418D1-0ECC-4514-8FB2-4DD66B16CA12}"/>
                  </a:ext>
                </a:extLst>
              </p:cNvPr>
              <p:cNvSpPr txBox="1"/>
              <p:nvPr/>
            </p:nvSpPr>
            <p:spPr>
              <a:xfrm>
                <a:off x="8226749" y="555472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I</m:t>
                      </m:r>
                      <m:r>
                        <m:rPr>
                          <m:sty m:val="p"/>
                        </m:rPr>
                        <a:rPr lang="en-US" altLang="zh-TW" b="0" i="0" smtClean="0">
                          <a:latin typeface="Cambria Math" panose="02040503050406030204" pitchFamily="18" charset="0"/>
                          <a:ea typeface="Cambria Math" panose="02040503050406030204" pitchFamily="18" charset="0"/>
                        </a:rPr>
                        <m:t>sotropy</m:t>
                      </m:r>
                    </m:oMath>
                  </m:oMathPara>
                </a14:m>
                <a:endParaRPr lang="zh-TW" altLang="en-US" sz="2400" dirty="0"/>
              </a:p>
            </p:txBody>
          </p:sp>
        </mc:Choice>
        <mc:Fallback xmlns="">
          <p:sp>
            <p:nvSpPr>
              <p:cNvPr id="40" name="文字方塊 39">
                <a:extLst>
                  <a:ext uri="{FF2B5EF4-FFF2-40B4-BE49-F238E27FC236}">
                    <a16:creationId xmlns:a16="http://schemas.microsoft.com/office/drawing/2014/main" id="{4E9418D1-0ECC-4514-8FB2-4DD66B16CA12}"/>
                  </a:ext>
                </a:extLst>
              </p:cNvPr>
              <p:cNvSpPr txBox="1">
                <a:spLocks noRot="1" noChangeAspect="1" noMove="1" noResize="1" noEditPoints="1" noAdjustHandles="1" noChangeArrowheads="1" noChangeShapeType="1" noTextEdit="1"/>
              </p:cNvSpPr>
              <p:nvPr/>
            </p:nvSpPr>
            <p:spPr>
              <a:xfrm>
                <a:off x="8226749" y="5554726"/>
                <a:ext cx="1832580" cy="369332"/>
              </a:xfrm>
              <a:prstGeom prst="rect">
                <a:avLst/>
              </a:prstGeom>
              <a:blipFill>
                <a:blip r:embed="rId8"/>
                <a:stretch>
                  <a:fillRect b="-9836"/>
                </a:stretch>
              </a:blipFill>
            </p:spPr>
            <p:txBody>
              <a:bodyPr/>
              <a:lstStyle/>
              <a:p>
                <a:r>
                  <a:rPr lang="zh-TW" altLang="en-US">
                    <a:noFill/>
                  </a:rPr>
                  <a:t> </a:t>
                </a:r>
              </a:p>
            </p:txBody>
          </p:sp>
        </mc:Fallback>
      </mc:AlternateContent>
      <p:sp>
        <p:nvSpPr>
          <p:cNvPr id="53" name="文字方塊 52">
            <a:extLst>
              <a:ext uri="{FF2B5EF4-FFF2-40B4-BE49-F238E27FC236}">
                <a16:creationId xmlns:a16="http://schemas.microsoft.com/office/drawing/2014/main" id="{0DD9E4FF-1601-4325-B042-9AA513DEEE52}"/>
              </a:ext>
            </a:extLst>
          </p:cNvPr>
          <p:cNvSpPr txBox="1"/>
          <p:nvPr/>
        </p:nvSpPr>
        <p:spPr>
          <a:xfrm>
            <a:off x="212687" y="686879"/>
            <a:ext cx="11843846" cy="1477328"/>
          </a:xfrm>
          <a:prstGeom prst="rect">
            <a:avLst/>
          </a:prstGeom>
          <a:noFill/>
        </p:spPr>
        <p:txBody>
          <a:bodyPr wrap="square">
            <a:spAutoFit/>
          </a:bodyPr>
          <a:lstStyle/>
          <a:p>
            <a:pPr marL="285750" indent="-285750">
              <a:buFont typeface="Arial" panose="020B0604020202020204" pitchFamily="34" charset="0"/>
              <a:buChar char="•"/>
            </a:pPr>
            <a:r>
              <a:rPr lang="zh-TW" altLang="en-US" dirty="0"/>
              <a:t>The two designs are completely disjoint in both metrics. In gain, Design B reaches 2.71× Design A (39.58 vs 14.62 mT/A); in isotropy, only 0.62× (</a:t>
            </a:r>
            <a:r>
              <a:rPr lang="en-US" altLang="zh-TW" dirty="0"/>
              <a:t>Isotropy</a:t>
            </a:r>
            <a:r>
              <a:rPr lang="zh-TW" altLang="en-US" dirty="0"/>
              <a:t> = 0.544 vs 0.884). Design A is also the tighter of the two (CV = 0.93 % vs 1.66 % for </a:t>
            </a:r>
            <a:r>
              <a:rPr lang="en-US" altLang="zh-TW" dirty="0"/>
              <a:t>Capacity</a:t>
            </a:r>
            <a:r>
              <a:rPr lang="zh-TW" altLang="en-US" dirty="0"/>
              <a:t>, 4.67 % vs 8.02 % for </a:t>
            </a:r>
            <a:r>
              <a:rPr lang="en-US" altLang="zh-TW" dirty="0"/>
              <a:t>isotropy</a:t>
            </a:r>
            <a:r>
              <a:rPr lang="zh-TW" altLang="en-US" dirty="0"/>
              <a:t>).</a:t>
            </a:r>
            <a:r>
              <a:rPr lang="en-US" altLang="zh-TW" dirty="0"/>
              <a:t> Each design sits at one end of a direct trade-off between strength and isotropy — neither is uniformly better. Design B suits applications demanding large force output, Design A those needing balanced three-axis control.</a:t>
            </a:r>
            <a:endParaRPr lang="zh-TW" altLang="en-US" dirty="0"/>
          </a:p>
        </p:txBody>
      </p:sp>
    </p:spTree>
    <p:extLst>
      <p:ext uri="{BB962C8B-B14F-4D97-AF65-F5344CB8AC3E}">
        <p14:creationId xmlns:p14="http://schemas.microsoft.com/office/powerpoint/2010/main" val="388950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8585202"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𝑃𝑟𝑒𝑑𝑖𝑐𝑡</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𝐽</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e>
                    </m:rad>
                    <m:r>
                      <a:rPr lang="en-US" altLang="zh-TW" b="0" i="1" smtClean="0">
                        <a:latin typeface="Cambria Math" panose="02040503050406030204" pitchFamily="18" charset="0"/>
                        <a:ea typeface="Cambria Math" panose="02040503050406030204" pitchFamily="18" charset="0"/>
                      </a:rPr>
                      <m:t> </m:t>
                    </m:r>
                  </m:oMath>
                </a14:m>
                <a:r>
                  <a:rPr lang="en-US" altLang="zh-TW" dirty="0"/>
                  <a:t>, where </a:t>
                </a:r>
                <a14:m>
                  <m:oMath xmlns:m="http://schemas.openxmlformats.org/officeDocument/2006/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𝑗</m:t>
                        </m:r>
                      </m:sub>
                      <m:sup/>
                      <m:e>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p>
                              <m:sSupPr>
                                <m:ctrlPr>
                                  <a:rPr lang="en-US" altLang="zh-TW" b="0" i="1" smtClean="0">
                                    <a:latin typeface="Cambria Math" panose="02040503050406030204" pitchFamily="18" charset="0"/>
                                  </a:rPr>
                                </m:ctrlPr>
                              </m:sSupPr>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sup>
                                <m:r>
                                  <a:rPr lang="en-US" altLang="zh-TW" b="0" i="1" smtClean="0">
                                    <a:latin typeface="Cambria Math" panose="02040503050406030204" pitchFamily="18" charset="0"/>
                                  </a:rPr>
                                  <m:t>𝑇</m:t>
                                </m:r>
                              </m:sup>
                            </m:sSup>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nary>
                      </m:e>
                    </m:nary>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8585202"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4812587"/>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4812587"/>
                <a:ext cx="4258733" cy="621709"/>
              </a:xfrm>
              <a:prstGeom prst="rect">
                <a:avLst/>
              </a:prstGeom>
              <a:blipFill>
                <a:blip r:embed="rId10"/>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r>
                      <a:rPr lang="en-US" altLang="zh-TW" b="0" i="1" smtClean="0">
                        <a:latin typeface="Cambria Math" panose="02040503050406030204" pitchFamily="18" charset="0"/>
                      </a:rPr>
                      <m:t>𝑛𝑜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r>
                      <a:rPr lang="en-US" altLang="zh-TW" b="0" i="1"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4839" b="-161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(24 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(10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−0.0795</m:t>
                                </m:r>
                              </m:e>
                              <m:e>
                                <m:r>
                                  <a:rPr lang="en-US" sz="1200" b="0" i="0">
                                    <a:latin typeface="Cambria Math" panose="02040503050406030204" pitchFamily="18" charset="0"/>
                                  </a:rPr>
                                  <m:t>−0.2410</m:t>
                                </m:r>
                              </m:e>
                              <m:e>
                                <m:r>
                                  <a:rPr lang="en-US" sz="1200" b="0" i="0">
                                    <a:latin typeface="Cambria Math" panose="02040503050406030204" pitchFamily="18" charset="0"/>
                                  </a:rPr>
                                  <m:t>−0.1255</m:t>
                                </m:r>
                              </m:e>
                              <m:e>
                                <m:r>
                                  <a:rPr lang="en-US" sz="1200" b="0" i="0">
                                    <a:latin typeface="Cambria Math" panose="02040503050406030204" pitchFamily="18" charset="0"/>
                                  </a:rPr>
                                  <m:t>−0.1259</m:t>
                                </m:r>
                              </m:e>
                              <m:e>
                                <m:r>
                                  <a:rPr lang="en-US" sz="1200" b="0" i="0">
                                    <a:latin typeface="Cambria Math" panose="02040503050406030204" pitchFamily="18" charset="0"/>
                                  </a:rPr>
                                  <m:t>−0.2382</m:t>
                                </m:r>
                              </m:e>
                            </m:mr>
                            <m:mr>
                              <m:e>
                                <m:r>
                                  <a:rPr lang="en-US" sz="1200" b="0" i="0">
                                    <a:latin typeface="Cambria Math" panose="02040503050406030204" pitchFamily="18" charset="0"/>
                                  </a:rPr>
                                  <m:t>−0.0824</m:t>
                                </m:r>
                              </m:e>
                              <m:e>
                                <m:r>
                                  <a:rPr lang="en-US" sz="1200" b="0" i="0">
                                    <a:latin typeface="Cambria Math" panose="02040503050406030204" pitchFamily="18" charset="0"/>
                                  </a:rPr>
                                  <m:t>0.8293</m:t>
                                </m:r>
                              </m:e>
                              <m:e>
                                <m:r>
                                  <a:rPr lang="en-US" sz="1200" b="0" i="0">
                                    <a:latin typeface="Cambria Math" panose="02040503050406030204" pitchFamily="18" charset="0"/>
                                  </a:rPr>
                                  <m:t>−0.1307</m:t>
                                </m:r>
                              </m:e>
                              <m:e>
                                <m:r>
                                  <a:rPr lang="en-US" sz="1200" b="0" i="0">
                                    <a:latin typeface="Cambria Math" panose="02040503050406030204" pitchFamily="18" charset="0"/>
                                  </a:rPr>
                                  <m:t>−0.2399</m:t>
                                </m:r>
                              </m:e>
                              <m:e>
                                <m:r>
                                  <a:rPr lang="en-US" sz="1200" b="0" i="0">
                                    <a:latin typeface="Cambria Math" panose="02040503050406030204" pitchFamily="18" charset="0"/>
                                  </a:rPr>
                                  <m:t>−0.2404</m:t>
                                </m:r>
                              </m:e>
                              <m:e>
                                <m:r>
                                  <a:rPr lang="en-US" sz="1200" b="0" i="0">
                                    <a:latin typeface="Cambria Math" panose="02040503050406030204" pitchFamily="18" charset="0"/>
                                  </a:rPr>
                                  <m:t>−0.1280</m:t>
                                </m:r>
                              </m:e>
                            </m:mr>
                            <m:mr>
                              <m:e>
                                <m:r>
                                  <a:rPr lang="en-US" sz="1200" b="0" i="0">
                                    <a:latin typeface="Cambria Math" panose="02040503050406030204" pitchFamily="18" charset="0"/>
                                  </a:rPr>
                                  <m:t>−0.2795</m:t>
                                </m:r>
                              </m:e>
                              <m:e>
                                <m:r>
                                  <a:rPr lang="en-US" sz="1200" b="0" i="0">
                                    <a:latin typeface="Cambria Math" panose="02040503050406030204" pitchFamily="18" charset="0"/>
                                  </a:rPr>
                                  <m:t>−0.1247</m:t>
                                </m:r>
                              </m:e>
                              <m:e>
                                <m:r>
                                  <a:rPr lang="en-US" sz="1200" b="0" i="0">
                                    <a:latin typeface="Cambria Math" panose="02040503050406030204" pitchFamily="18" charset="0"/>
                                  </a:rPr>
                                  <m:t>0.7473</m:t>
                                </m:r>
                              </m:e>
                              <m:e>
                                <m:r>
                                  <a:rPr lang="en-US" sz="1200" b="0" i="0">
                                    <a:latin typeface="Cambria Math" panose="02040503050406030204" pitchFamily="18" charset="0"/>
                                  </a:rPr>
                                  <m:t>−0.0646</m:t>
                                </m:r>
                              </m:e>
                              <m:e>
                                <m:r>
                                  <a:rPr lang="en-US" sz="1200" b="0" i="0">
                                    <a:latin typeface="Cambria Math" panose="02040503050406030204" pitchFamily="18" charset="0"/>
                                  </a:rPr>
                                  <m:t>−0.0888</m:t>
                                </m:r>
                              </m:e>
                              <m:e>
                                <m:r>
                                  <a:rPr lang="en-US" sz="1200" b="0" i="0">
                                    <a:latin typeface="Cambria Math" panose="02040503050406030204" pitchFamily="18" charset="0"/>
                                  </a:rPr>
                                  <m:t>−0.2562</m:t>
                                </m:r>
                              </m:e>
                            </m:mr>
                            <m:mr>
                              <m:e>
                                <m:r>
                                  <a:rPr lang="en-US" sz="1200" b="0" i="0">
                                    <a:latin typeface="Cambria Math" panose="02040503050406030204" pitchFamily="18" charset="0"/>
                                  </a:rPr>
                                  <m:t>−0.1283</m:t>
                                </m:r>
                              </m:e>
                              <m:e>
                                <m:r>
                                  <a:rPr lang="en-US" sz="1200" b="0" i="0">
                                    <a:latin typeface="Cambria Math" panose="02040503050406030204" pitchFamily="18" charset="0"/>
                                  </a:rPr>
                                  <m:t>−0.2802</m:t>
                                </m:r>
                              </m:e>
                              <m:e>
                                <m:r>
                                  <a:rPr lang="en-US" sz="1200" b="0" i="0">
                                    <a:latin typeface="Cambria Math" panose="02040503050406030204" pitchFamily="18" charset="0"/>
                                  </a:rPr>
                                  <m:t>−0.0699</m:t>
                                </m:r>
                              </m:e>
                              <m:e>
                                <m:r>
                                  <a:rPr lang="en-US" sz="1200" b="0" i="0">
                                    <a:latin typeface="Cambria Math" panose="02040503050406030204" pitchFamily="18" charset="0"/>
                                  </a:rPr>
                                  <m:t>0.7452</m:t>
                                </m:r>
                              </m:e>
                              <m:e>
                                <m:r>
                                  <a:rPr lang="en-US" sz="1200" b="0" i="0">
                                    <a:latin typeface="Cambria Math" panose="02040503050406030204" pitchFamily="18" charset="0"/>
                                  </a:rPr>
                                  <m:t>−0.2586</m:t>
                                </m:r>
                              </m:e>
                              <m:e>
                                <m:r>
                                  <a:rPr lang="en-US" sz="1200" b="0" i="0">
                                    <a:latin typeface="Cambria Math" panose="02040503050406030204" pitchFamily="18" charset="0"/>
                                  </a:rPr>
                                  <m:t>−0.0914</m:t>
                                </m:r>
                              </m:e>
                            </m:mr>
                            <m:mr>
                              <m:e>
                                <m:r>
                                  <a:rPr lang="en-US" sz="1200" b="0" i="0">
                                    <a:latin typeface="Cambria Math" panose="02040503050406030204" pitchFamily="18" charset="0"/>
                                  </a:rPr>
                                  <m:t>−0.1281</m:t>
                                </m:r>
                              </m:e>
                              <m:e>
                                <m:r>
                                  <a:rPr lang="en-US" sz="1200" b="0" i="0">
                                    <a:latin typeface="Cambria Math" panose="02040503050406030204" pitchFamily="18" charset="0"/>
                                  </a:rPr>
                                  <m:t>−0.2802</m:t>
                                </m:r>
                              </m:e>
                              <m:e>
                                <m:r>
                                  <a:rPr lang="en-US" sz="1200" b="0" i="0">
                                    <a:latin typeface="Cambria Math" panose="02040503050406030204" pitchFamily="18" charset="0"/>
                                  </a:rPr>
                                  <m:t>−0.0941</m:t>
                                </m:r>
                              </m:e>
                              <m:e>
                                <m:r>
                                  <a:rPr lang="en-US" sz="1200" b="0" i="0">
                                    <a:latin typeface="Cambria Math" panose="02040503050406030204" pitchFamily="18" charset="0"/>
                                  </a:rPr>
                                  <m:t>−0.2580</m:t>
                                </m:r>
                              </m:e>
                              <m:e>
                                <m:r>
                                  <a:rPr lang="en-US" sz="1200" b="0" i="0">
                                    <a:latin typeface="Cambria Math" panose="02040503050406030204" pitchFamily="18" charset="0"/>
                                  </a:rPr>
                                  <m:t>0.7437</m:t>
                                </m:r>
                              </m:e>
                              <m:e>
                                <m:r>
                                  <a:rPr lang="en-US" sz="1200" b="0" i="0">
                                    <a:latin typeface="Cambria Math" panose="02040503050406030204" pitchFamily="18" charset="0"/>
                                  </a:rPr>
                                  <m:t>−0.0668</m:t>
                                </m:r>
                              </m:e>
                            </m:mr>
                            <m:mr>
                              <m:e>
                                <m:r>
                                  <a:rPr lang="en-US" sz="1200" b="0" i="0">
                                    <a:latin typeface="Cambria Math" panose="02040503050406030204" pitchFamily="18" charset="0"/>
                                  </a:rPr>
                                  <m:t>−0.2794</m:t>
                                </m:r>
                              </m:e>
                              <m:e>
                                <m:r>
                                  <a:rPr lang="en-US" sz="1200" b="0" i="0">
                                    <a:latin typeface="Cambria Math" panose="02040503050406030204" pitchFamily="18" charset="0"/>
                                  </a:rPr>
                                  <m:t>−0.1248</m:t>
                                </m:r>
                              </m:e>
                              <m:e>
                                <m:r>
                                  <a:rPr lang="en-US" sz="1200" b="0" i="0">
                                    <a:latin typeface="Cambria Math" panose="02040503050406030204" pitchFamily="18" charset="0"/>
                                  </a:rPr>
                                  <m:t>−0.2591</m:t>
                                </m:r>
                              </m:e>
                              <m:e>
                                <m:r>
                                  <a:rPr lang="en-US" sz="1200" b="0" i="0">
                                    <a:latin typeface="Cambria Math" panose="02040503050406030204" pitchFamily="18" charset="0"/>
                                  </a:rPr>
                                  <m:t>−0.0883</m:t>
                                </m:r>
                              </m:e>
                              <m:e>
                                <m:r>
                                  <a:rPr lang="en-US" sz="1200" b="0" i="0">
                                    <a:latin typeface="Cambria Math" panose="02040503050406030204" pitchFamily="18" charset="0"/>
                                  </a:rPr>
                                  <m:t>−0.0654</m:t>
                                </m:r>
                              </m:e>
                              <m:e>
                                <m:r>
                                  <a:rPr lang="en-US" sz="1200" b="0" i="0">
                                    <a:latin typeface="Cambria Math" panose="02040503050406030204" pitchFamily="18" charset="0"/>
                                  </a:rPr>
                                  <m:t>0.7507</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0" y="29536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751.8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32.9574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0" y="2953600"/>
                <a:ext cx="3457787"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%=11.02%</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−0.1061</m:t>
                                </m:r>
                              </m:e>
                              <m:e>
                                <m:r>
                                  <a:rPr lang="en-US" sz="1200" b="0" i="0">
                                    <a:latin typeface="Cambria Math" panose="02040503050406030204" pitchFamily="18" charset="0"/>
                                  </a:rPr>
                                  <m:t>−0.1152</m:t>
                                </m:r>
                              </m:e>
                              <m:e>
                                <m:r>
                                  <a:rPr lang="en-US" sz="1200" b="0" i="0">
                                    <a:latin typeface="Cambria Math" panose="02040503050406030204" pitchFamily="18" charset="0"/>
                                  </a:rPr>
                                  <m:t>−0.1882</m:t>
                                </m:r>
                              </m:e>
                              <m:e>
                                <m:r>
                                  <a:rPr lang="en-US" sz="1200" b="0" i="0">
                                    <a:latin typeface="Cambria Math" panose="02040503050406030204" pitchFamily="18" charset="0"/>
                                  </a:rPr>
                                  <m:t>−0.1888</m:t>
                                </m:r>
                              </m:e>
                              <m:e>
                                <m:r>
                                  <a:rPr lang="en-US" sz="1200" b="0" i="0">
                                    <a:latin typeface="Cambria Math" panose="02040503050406030204" pitchFamily="18" charset="0"/>
                                  </a:rPr>
                                  <m:t>−0.1149</m:t>
                                </m:r>
                              </m:e>
                            </m:mr>
                            <m:mr>
                              <m:e>
                                <m:r>
                                  <a:rPr lang="en-US" sz="1200" b="0" i="0">
                                    <a:latin typeface="Cambria Math" panose="02040503050406030204" pitchFamily="18" charset="0"/>
                                  </a:rPr>
                                  <m:t>−0.1119</m:t>
                                </m:r>
                              </m:e>
                              <m:e>
                                <m:r>
                                  <a:rPr lang="en-US" sz="1200" b="0" i="0">
                                    <a:latin typeface="Cambria Math" panose="02040503050406030204" pitchFamily="18" charset="0"/>
                                  </a:rPr>
                                  <m:t>0.8320</m:t>
                                </m:r>
                              </m:e>
                              <m:e>
                                <m:r>
                                  <a:rPr lang="en-US" sz="1200" b="0" i="0">
                                    <a:latin typeface="Cambria Math" panose="02040503050406030204" pitchFamily="18" charset="0"/>
                                  </a:rPr>
                                  <m:t>−0.1939</m:t>
                                </m:r>
                              </m:e>
                              <m:e>
                                <m:r>
                                  <a:rPr lang="en-US" sz="1200" b="0" i="0">
                                    <a:latin typeface="Cambria Math" panose="02040503050406030204" pitchFamily="18" charset="0"/>
                                  </a:rPr>
                                  <m:t>−0.1194</m:t>
                                </m:r>
                              </m:e>
                              <m:e>
                                <m:r>
                                  <a:rPr lang="en-US" sz="1200" b="0" i="0">
                                    <a:latin typeface="Cambria Math" panose="02040503050406030204" pitchFamily="18" charset="0"/>
                                  </a:rPr>
                                  <m:t>−0.1191</m:t>
                                </m:r>
                              </m:e>
                              <m:e>
                                <m:r>
                                  <a:rPr lang="en-US" sz="1200" b="0" i="0">
                                    <a:latin typeface="Cambria Math" panose="02040503050406030204" pitchFamily="18" charset="0"/>
                                  </a:rPr>
                                  <m:t>−0.1942</m:t>
                                </m:r>
                              </m:e>
                            </m:mr>
                            <m:mr>
                              <m:e>
                                <m:r>
                                  <a:rPr lang="en-US" sz="1200" b="0" i="0">
                                    <a:latin typeface="Cambria Math" panose="02040503050406030204" pitchFamily="18" charset="0"/>
                                  </a:rPr>
                                  <m:t>−0.1342</m:t>
                                </m:r>
                              </m:e>
                              <m:e>
                                <m:r>
                                  <a:rPr lang="en-US" sz="1200" b="0" i="0">
                                    <a:latin typeface="Cambria Math" panose="02040503050406030204" pitchFamily="18" charset="0"/>
                                  </a:rPr>
                                  <m:t>−0.1959</m:t>
                                </m:r>
                              </m:e>
                              <m:e>
                                <m:r>
                                  <a:rPr lang="en-US" sz="1200" b="0" i="0">
                                    <a:latin typeface="Cambria Math" panose="02040503050406030204" pitchFamily="18" charset="0"/>
                                  </a:rPr>
                                  <m:t>0.7514</m:t>
                                </m:r>
                              </m:e>
                              <m:e>
                                <m:r>
                                  <a:rPr lang="en-US" sz="1200" b="0" i="0">
                                    <a:latin typeface="Cambria Math" panose="02040503050406030204" pitchFamily="18" charset="0"/>
                                  </a:rPr>
                                  <m:t>−0.0932</m:t>
                                </m:r>
                              </m:e>
                              <m:e>
                                <m:r>
                                  <a:rPr lang="en-US" sz="1200" b="0" i="0">
                                    <a:latin typeface="Cambria Math" panose="02040503050406030204" pitchFamily="18" charset="0"/>
                                  </a:rPr>
                                  <m:t>−0.1592</m:t>
                                </m:r>
                              </m:e>
                              <m:e>
                                <m:r>
                                  <a:rPr lang="en-US" sz="1200" b="0" i="0">
                                    <a:latin typeface="Cambria Math" panose="02040503050406030204" pitchFamily="18" charset="0"/>
                                  </a:rPr>
                                  <m:t>−0.1302</m:t>
                                </m:r>
                              </m:e>
                            </m:mr>
                            <m:mr>
                              <m:e>
                                <m:r>
                                  <a:rPr lang="en-US" sz="1200" b="0" i="0">
                                    <a:latin typeface="Cambria Math" panose="02040503050406030204" pitchFamily="18" charset="0"/>
                                  </a:rPr>
                                  <m:t>−0.2011</m:t>
                                </m:r>
                              </m:e>
                              <m:e>
                                <m:r>
                                  <a:rPr lang="en-US" sz="1200" b="0" i="0">
                                    <a:latin typeface="Cambria Math" panose="02040503050406030204" pitchFamily="18" charset="0"/>
                                  </a:rPr>
                                  <m:t>−0.1369</m:t>
                                </m:r>
                              </m:e>
                              <m:e>
                                <m:r>
                                  <a:rPr lang="en-US" sz="1200" b="0" i="0">
                                    <a:latin typeface="Cambria Math" panose="02040503050406030204" pitchFamily="18" charset="0"/>
                                  </a:rPr>
                                  <m:t>−0.0963</m:t>
                                </m:r>
                              </m:e>
                              <m:e>
                                <m:r>
                                  <a:rPr lang="en-US" sz="1200" b="0" i="0">
                                    <a:latin typeface="Cambria Math" panose="02040503050406030204" pitchFamily="18" charset="0"/>
                                  </a:rPr>
                                  <m:t>0.7409</m:t>
                                </m:r>
                              </m:e>
                              <m:e>
                                <m:r>
                                  <a:rPr lang="en-US" sz="1200" b="0" i="0">
                                    <a:latin typeface="Cambria Math" panose="02040503050406030204" pitchFamily="18" charset="0"/>
                                  </a:rPr>
                                  <m:t>−0.1334</m:t>
                                </m:r>
                              </m:e>
                              <m:e>
                                <m:r>
                                  <a:rPr lang="en-US" sz="1200" b="0" i="0">
                                    <a:latin typeface="Cambria Math" panose="02040503050406030204" pitchFamily="18" charset="0"/>
                                  </a:rPr>
                                  <m:t>−0.1630</m:t>
                                </m:r>
                              </m:e>
                            </m:mr>
                            <m:mr>
                              <m:e>
                                <m:r>
                                  <a:rPr lang="en-US" sz="1200" b="0" i="0">
                                    <a:latin typeface="Cambria Math" panose="02040503050406030204" pitchFamily="18" charset="0"/>
                                  </a:rPr>
                                  <m:t>−0.2013</m:t>
                                </m:r>
                              </m:e>
                              <m:e>
                                <m:r>
                                  <a:rPr lang="en-US" sz="1200" b="0" i="0">
                                    <a:latin typeface="Cambria Math" panose="02040503050406030204" pitchFamily="18" charset="0"/>
                                  </a:rPr>
                                  <m:t>−0.1372</m:t>
                                </m:r>
                              </m:e>
                              <m:e>
                                <m:r>
                                  <a:rPr lang="en-US" sz="1200" b="0" i="0">
                                    <a:latin typeface="Cambria Math" panose="02040503050406030204" pitchFamily="18" charset="0"/>
                                  </a:rPr>
                                  <m:t>−0.1625</m:t>
                                </m:r>
                              </m:e>
                              <m:e>
                                <m:r>
                                  <a:rPr lang="en-US" sz="1200" b="0" i="0">
                                    <a:latin typeface="Cambria Math" panose="02040503050406030204" pitchFamily="18" charset="0"/>
                                  </a:rPr>
                                  <m:t>−0.1341</m:t>
                                </m:r>
                              </m:e>
                              <m:e>
                                <m:r>
                                  <a:rPr lang="en-US" sz="1200" b="0" i="0">
                                    <a:latin typeface="Cambria Math" panose="02040503050406030204" pitchFamily="18" charset="0"/>
                                  </a:rPr>
                                  <m:t>0.7421</m:t>
                                </m:r>
                              </m:e>
                              <m:e>
                                <m:r>
                                  <a:rPr lang="en-US" sz="1200" b="0" i="0">
                                    <a:latin typeface="Cambria Math" panose="02040503050406030204" pitchFamily="18" charset="0"/>
                                  </a:rPr>
                                  <m:t>−0.0969</m:t>
                                </m:r>
                              </m:e>
                            </m:mr>
                            <m:mr>
                              <m:e>
                                <m:r>
                                  <a:rPr lang="en-US" sz="1200" b="0" i="0">
                                    <a:latin typeface="Cambria Math" panose="02040503050406030204" pitchFamily="18" charset="0"/>
                                  </a:rPr>
                                  <m:t>−0.1337</m:t>
                                </m:r>
                              </m:e>
                              <m:e>
                                <m:r>
                                  <a:rPr lang="en-US" sz="1200" b="0" i="0">
                                    <a:latin typeface="Cambria Math" panose="02040503050406030204" pitchFamily="18" charset="0"/>
                                  </a:rPr>
                                  <m:t>−0.1958</m:t>
                                </m:r>
                              </m:e>
                              <m:e>
                                <m:r>
                                  <a:rPr lang="en-US" sz="1200" b="0" i="0">
                                    <a:latin typeface="Cambria Math" panose="02040503050406030204" pitchFamily="18" charset="0"/>
                                  </a:rPr>
                                  <m:t>−0.1296</m:t>
                                </m:r>
                              </m:e>
                              <m:e>
                                <m:r>
                                  <a:rPr lang="en-US" sz="1200" b="0" i="0">
                                    <a:latin typeface="Cambria Math" panose="02040503050406030204" pitchFamily="18" charset="0"/>
                                  </a:rPr>
                                  <m:t>−0.1589</m:t>
                                </m:r>
                              </m:e>
                              <m:e>
                                <m:r>
                                  <a:rPr lang="en-US" sz="1200" b="0" i="0">
                                    <a:latin typeface="Cambria Math" panose="02040503050406030204" pitchFamily="18" charset="0"/>
                                  </a:rPr>
                                  <m:t>−0.0928</m:t>
                                </m:r>
                              </m:e>
                              <m:e>
                                <m:r>
                                  <a:rPr lang="en-US" sz="1200" b="0" i="0">
                                    <a:latin typeface="Cambria Math" panose="02040503050406030204" pitchFamily="18" charset="0"/>
                                  </a:rPr>
                                  <m:t>0.7493</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603.8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37.3823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%=0.65%</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−0.0025</m:t>
                                </m:r>
                              </m:e>
                              <m:e>
                                <m:r>
                                  <a:rPr lang="en-US" sz="1200" b="0" i="0">
                                    <a:latin typeface="Cambria Math" panose="02040503050406030204" pitchFamily="18" charset="0"/>
                                  </a:rPr>
                                  <m:t>0.0001</m:t>
                                </m:r>
                              </m:e>
                              <m:e>
                                <m:r>
                                  <a:rPr lang="en-US" sz="1200" b="0" i="0">
                                    <a:latin typeface="Cambria Math" panose="02040503050406030204" pitchFamily="18" charset="0"/>
                                  </a:rPr>
                                  <m:t>−0.2172</m:t>
                                </m:r>
                              </m:e>
                              <m:e>
                                <m:r>
                                  <a:rPr lang="en-US" sz="1200" b="0" i="0">
                                    <a:latin typeface="Cambria Math" panose="02040503050406030204" pitchFamily="18" charset="0"/>
                                  </a:rPr>
                                  <m:t>0.2154</m:t>
                                </m:r>
                              </m:e>
                              <m:e>
                                <m:r>
                                  <a:rPr lang="en-US" sz="1200" b="0" i="0">
                                    <a:latin typeface="Cambria Math" panose="02040503050406030204" pitchFamily="18" charset="0"/>
                                  </a:rPr>
                                  <m:t>0.2168</m:t>
                                </m:r>
                              </m:e>
                              <m:e>
                                <m:r>
                                  <a:rPr lang="en-US" sz="1200" b="0" i="0">
                                    <a:latin typeface="Cambria Math" panose="02040503050406030204" pitchFamily="18" charset="0"/>
                                  </a:rPr>
                                  <m:t>−0.2171</m:t>
                                </m:r>
                              </m:e>
                            </m:mr>
                            <m:mr>
                              <m:e>
                                <m:r>
                                  <a:rPr lang="en-US" sz="1200" b="0" i="0">
                                    <a:latin typeface="Cambria Math" panose="02040503050406030204" pitchFamily="18" charset="0"/>
                                  </a:rPr>
                                  <m:t>−0.2164</m:t>
                                </m:r>
                              </m:e>
                              <m:e>
                                <m:r>
                                  <a:rPr lang="en-US" sz="1200" b="0" i="0">
                                    <a:latin typeface="Cambria Math" panose="02040503050406030204" pitchFamily="18" charset="0"/>
                                  </a:rPr>
                                  <m:t>0.2161</m:t>
                                </m:r>
                              </m:e>
                              <m:e>
                                <m:r>
                                  <a:rPr lang="en-US" sz="1200" b="0" i="0">
                                    <a:latin typeface="Cambria Math" panose="02040503050406030204" pitchFamily="18" charset="0"/>
                                  </a:rPr>
                                  <m:t>0.0020</m:t>
                                </m:r>
                              </m:e>
                              <m:e>
                                <m:r>
                                  <a:rPr lang="en-US" sz="1200" b="0" i="0">
                                    <a:latin typeface="Cambria Math" panose="02040503050406030204" pitchFamily="18" charset="0"/>
                                  </a:rPr>
                                  <m:t>0.0002</m:t>
                                </m:r>
                              </m:e>
                              <m:e>
                                <m:r>
                                  <a:rPr lang="en-US" sz="1200" b="0" i="0">
                                    <a:latin typeface="Cambria Math" panose="02040503050406030204" pitchFamily="18" charset="0"/>
                                  </a:rPr>
                                  <m:t>0.2178</m:t>
                                </m:r>
                              </m:e>
                              <m:e>
                                <m:r>
                                  <a:rPr lang="en-US" sz="1200" b="0" i="0">
                                    <a:latin typeface="Cambria Math" panose="02040503050406030204" pitchFamily="18" charset="0"/>
                                  </a:rPr>
                                  <m:t>−0.2163</m:t>
                                </m:r>
                              </m:e>
                            </m:mr>
                            <m:mr>
                              <m:e>
                                <m:r>
                                  <a:rPr lang="en-US" sz="1200" b="0" i="0">
                                    <a:latin typeface="Cambria Math" panose="02040503050406030204" pitchFamily="18" charset="0"/>
                                  </a:rPr>
                                  <m:t>0.2167</m:t>
                                </m:r>
                              </m:e>
                              <m:e>
                                <m:r>
                                  <a:rPr lang="en-US" sz="1200" b="0" i="0">
                                    <a:latin typeface="Cambria Math" panose="02040503050406030204" pitchFamily="18" charset="0"/>
                                  </a:rPr>
                                  <m:t>−0.2166</m:t>
                                </m:r>
                              </m:e>
                              <m:e>
                                <m:r>
                                  <a:rPr lang="en-US" sz="1200" b="0" i="0">
                                    <a:latin typeface="Cambria Math" panose="02040503050406030204" pitchFamily="18" charset="0"/>
                                  </a:rPr>
                                  <m:t>0.2164</m:t>
                                </m:r>
                              </m:e>
                              <m:e>
                                <m:r>
                                  <a:rPr lang="en-US" sz="1200" b="0" i="0">
                                    <a:latin typeface="Cambria Math" panose="02040503050406030204" pitchFamily="18" charset="0"/>
                                  </a:rPr>
                                  <m:t>−0.2176</m:t>
                                </m:r>
                              </m:e>
                              <m:e>
                                <m:r>
                                  <a:rPr lang="en-US" sz="1200" b="0" i="0">
                                    <a:latin typeface="Cambria Math" panose="02040503050406030204" pitchFamily="18" charset="0"/>
                                  </a:rPr>
                                  <m:t>0.0005</m:t>
                                </m:r>
                              </m:e>
                              <m:e>
                                <m:r>
                                  <a:rPr lang="en-US" sz="1200" b="0" i="0">
                                    <a:latin typeface="Cambria Math" panose="02040503050406030204" pitchFamily="18" charset="0"/>
                                  </a:rPr>
                                  <m:t>−0.0002</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53324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27799</TotalTime>
  <Words>3394</Words>
  <Application>Microsoft Office PowerPoint</Application>
  <PresentationFormat>寬螢幕</PresentationFormat>
  <Paragraphs>455</Paragraphs>
  <Slides>26</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26</vt:i4>
      </vt:variant>
    </vt:vector>
  </HeadingPairs>
  <TitlesOfParts>
    <vt:vector size="34"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413</cp:revision>
  <dcterms:created xsi:type="dcterms:W3CDTF">2026-07-23T11:39:15Z</dcterms:created>
  <dcterms:modified xsi:type="dcterms:W3CDTF">2026-08-28T13:14:40Z</dcterms:modified>
</cp:coreProperties>
</file>