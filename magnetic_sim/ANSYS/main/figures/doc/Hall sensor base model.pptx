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57" r:id="rId4"/>
    <p:sldId id="259" r:id="rId5"/>
    <p:sldId id="260" r:id="rId6"/>
    <p:sldId id="258" r:id="rId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3130FE-07E5-4424-A2F9-B237710A5D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54D17382-669E-4381-8E02-F41A22F33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A61510-5BDC-423A-808A-DB7AF3EB04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2F7781-E222-4A13-B08A-1B68D1ECF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C7AE63A-283F-41A5-98E1-EA7C20FD8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425538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0E10BA-E376-4ADD-BF8C-A5288B6AC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5428F0D-37EA-4470-90B3-2F5782B250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39C1A54-4FE4-43BD-9113-C1E3BE664D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4C01313-DEA7-4AF9-9D45-E31F19C11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CC19CA6-97AA-4355-8AA0-5066AB4520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6207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003128-B3FD-45B6-ADB0-A9894F6DD5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C8E5597-7864-4701-AEAC-5299BBB5B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FDB1B1D-104A-4D72-96CF-5D58F817EE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A374A9-59E2-4852-82D5-35F2AD460C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0E8664F-E892-4077-9C25-5E7F56B19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38876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5B4285E-ABAE-42AF-A543-DB3EC3295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DF974DF-1DEF-434C-ABDF-C001CA4CAC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7C2F9C5-6462-4497-A420-014D33A325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B943AF5-2F42-43F3-88A5-CEC427EB4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235E8B5-6BA6-4132-B93B-F3C6C2ADB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919EAF-D9B0-4D2A-A0D8-0A302E688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999530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D543E92-EC84-479F-9973-6897610737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5DBDABD8-1541-4718-AB86-5BEC3FDC3F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EB03B7A-4B1C-4C09-B1CF-5EEDC88A71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782382B-67D8-4879-BC3C-81CBBBDCC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ECE8B2EE-B4AF-4EC8-BAE5-7BE65A9977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E01C325-E342-4110-AD37-3DB94F562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4AB98269-8FE5-4449-B721-CE5885A8E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1CA00D8-C4A2-479C-8E1B-923C4E65F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07985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1F38893-47F2-4D61-9550-66535C1688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20BF754-D85E-46FB-875B-6FB93E7E96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3A1E76B-3850-4C84-952D-5318535FDD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AF219DE-D15A-4021-89C5-2A2DF558A0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095337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23AFC63-9CF9-4F63-9855-504CBB5B76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FDE6C73-5B9A-434C-9532-46B6C6FAFF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93B8C32-C59B-4014-B5C2-48A4092FC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503568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2C5A55-A67E-4E60-8218-3A2D92A498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E5D7F79-93F2-4CF8-B2AB-E8F0EA272B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96D948D-E3D3-47B6-91BE-DD72521DC2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8E8EE6-5383-45CE-A46B-C65173AC88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9196B01-3235-4FF1-850C-B3C460942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2AEFABC8-0CA0-4007-A50E-D059AEC7A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46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4A97546-0BF7-44BE-B456-571FA32C3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DC8CA50-7FE0-4706-A6B3-4A6AE51558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1B774CB-AB5E-4D0A-908B-CD26178977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F61238E-6056-40E6-83EC-BC987B8F2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C0E8702-84EA-4EA5-8377-AE3B53B38F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9B30D40-233F-473B-BFE5-4BE1F63385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93769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3FD97B-D41F-497A-A225-0FA2569DB8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027E7AFB-7063-42A9-986C-0BC0A3284C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B05597-0E89-4F99-ADFD-F39D4B1DE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C9A5E24-E56D-4838-B523-BDD99654D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84D8833-1D34-4975-B934-10F1DBB406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827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3F9FF21-6AEE-40A8-83AC-9551CA4A66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91AC085-9AE3-4E4B-A5C3-9C3A63ABD7D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04BB8A-B381-4432-AAA3-CE9519318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E68CC8-4D92-4AFC-AC20-FDFC9FA02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AF710F-8176-4271-8786-30743AEAF2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33104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A64F0CF-1ADA-4FC4-B9F4-B65D6B8CC5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5661CA2-E229-4EBA-A1DC-25AAE2441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12D2EC9-C426-4AD8-8E48-052FD2AB0C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7672B8-CD7B-4EFA-8D64-D9B3A8D044E7}" type="datetimeFigureOut">
              <a:rPr lang="zh-TW" altLang="en-US" smtClean="0"/>
              <a:t>2026/9/6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12896A-8225-437A-A94A-09D475CC63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5701532-8073-4EC6-8377-75916DA5A4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3BAD1D-AF23-4085-BF10-423387BCF8FE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12134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3.png"/><Relationship Id="rId7" Type="http://schemas.openxmlformats.org/officeDocument/2006/relationships/image" Target="../media/image6.png"/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2.xml"/><Relationship Id="rId11" Type="http://schemas.openxmlformats.org/officeDocument/2006/relationships/image" Target="../media/image10.png"/><Relationship Id="rId5" Type="http://schemas.openxmlformats.org/officeDocument/2006/relationships/image" Target="../media/image40.png"/><Relationship Id="rId10" Type="http://schemas.openxmlformats.org/officeDocument/2006/relationships/image" Target="../media/image9.png"/><Relationship Id="rId4" Type="http://schemas.openxmlformats.org/officeDocument/2006/relationships/image" Target="../media/image30.png"/><Relationship Id="rId9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00.png"/><Relationship Id="rId7" Type="http://schemas.openxmlformats.org/officeDocument/2006/relationships/image" Target="../media/image13.png"/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11" Type="http://schemas.openxmlformats.org/officeDocument/2006/relationships/image" Target="../media/image5.png"/><Relationship Id="rId5" Type="http://schemas.openxmlformats.org/officeDocument/2006/relationships/image" Target="../media/image90.png"/><Relationship Id="rId10" Type="http://schemas.openxmlformats.org/officeDocument/2006/relationships/image" Target="../media/image16.png"/><Relationship Id="rId4" Type="http://schemas.openxmlformats.org/officeDocument/2006/relationships/image" Target="../media/image11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80.png"/><Relationship Id="rId7" Type="http://schemas.openxmlformats.org/officeDocument/2006/relationships/image" Target="../media/image220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438E88B-6778-4835-9E66-C2869D1878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sensor base model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78592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B10DA-A91D-4199-A02D-A9EC40C2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70"/>
            <a:ext cx="10515600" cy="603778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sensor base model</a:t>
            </a:r>
            <a:endParaRPr lang="zh-TW" altLang="en-US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D2391B1B-2B68-4F4C-A961-4E99C4FBFBC2}"/>
              </a:ext>
            </a:extLst>
          </p:cNvPr>
          <p:cNvSpPr txBox="1"/>
          <p:nvPr/>
        </p:nvSpPr>
        <p:spPr>
          <a:xfrm>
            <a:off x="0" y="615948"/>
            <a:ext cx="11639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Previous 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1B99878-96B6-4403-BBB7-47FAB39D4E79}"/>
                  </a:ext>
                </a:extLst>
              </p:cNvPr>
              <p:cNvSpPr txBox="1"/>
              <p:nvPr/>
            </p:nvSpPr>
            <p:spPr>
              <a:xfrm>
                <a:off x="160866" y="1081226"/>
                <a:ext cx="3741281" cy="133273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acc>
                                    <m:accPr>
                                      <m:chr m:val="̅"/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𝑐𝑘</m:t>
                                  </m:r>
                                </m:sub>
                              </m:sSub>
                            </m:num>
                            <m:den>
                              <m:sSup>
                                <m:sSup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acc>
                                            <m:accPr>
                                              <m:chr m:val="̅"/>
                                              <m:ctrlP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</m:ctrlPr>
                                            </m:accPr>
                                            <m:e>
                                              <m:r>
                                                <a:rPr lang="en-US" altLang="zh-TW" i="1">
                                                  <a:latin typeface="Cambria Math" panose="02040503050406030204" pitchFamily="18" charset="0"/>
                                                </a:rPr>
                                                <m:t>𝑝</m:t>
                                              </m:r>
                                            </m:e>
                                          </m:acc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𝑐𝑘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p>
                              </m:sSup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en-US" altLang="zh-TW" b="1" dirty="0"/>
              </a:p>
              <a:p>
                <a:endParaRPr lang="en-US" altLang="zh-TW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31B99878-96B6-4403-BBB7-47FAB39D4E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0866" y="1081226"/>
                <a:ext cx="3741281" cy="133273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A4FDF6F-80DA-4904-92D9-C8DBF6094273}"/>
                  </a:ext>
                </a:extLst>
              </p:cNvPr>
              <p:cNvSpPr txBox="1"/>
              <p:nvPr/>
            </p:nvSpPr>
            <p:spPr>
              <a:xfrm>
                <a:off x="0" y="2016675"/>
                <a:ext cx="6206066" cy="39728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zh-TW" b="0" i="0" smtClean="0">
                        <a:latin typeface="Cambria Math" panose="02040503050406030204" pitchFamily="18" charset="0"/>
                      </a:rPr>
                      <m:t>diag</m:t>
                    </m:r>
                    <m:r>
                      <a:rPr lang="en-US" altLang="zh-TW" b="0" i="0" smtClean="0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zh-TW" b="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 ]  , 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[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2  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3 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4 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5 </m:t>
                            </m:r>
                          </m:sub>
                        </m:sSub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6 </m:t>
                            </m:r>
                          </m:sub>
                        </m:sSub>
                        <m:r>
                          <a:rPr lang="en-US" altLang="zh-TW" b="0" i="0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</m:oMath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0" name="文字方塊 19">
                <a:extLst>
                  <a:ext uri="{FF2B5EF4-FFF2-40B4-BE49-F238E27FC236}">
                    <a16:creationId xmlns:a16="http://schemas.microsoft.com/office/drawing/2014/main" id="{1A4FDF6F-80DA-4904-92D9-C8DBF60942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0" y="2016675"/>
                <a:ext cx="6206066" cy="397288"/>
              </a:xfrm>
              <a:prstGeom prst="rect">
                <a:avLst/>
              </a:prstGeom>
              <a:blipFill>
                <a:blip r:embed="rId3"/>
                <a:stretch>
                  <a:fillRect t="-6154" b="-20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B83C5CF-5C0E-496D-B09D-DDE25DD86B61}"/>
                  </a:ext>
                </a:extLst>
              </p:cNvPr>
              <p:cNvSpPr txBox="1"/>
              <p:nvPr/>
            </p:nvSpPr>
            <p:spPr>
              <a:xfrm>
                <a:off x="353290" y="2705100"/>
                <a:ext cx="1678216" cy="29931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zh-TW" altLang="en-US" i="1" smtClean="0">
                              <a:latin typeface="Cambria Math" panose="02040503050406030204" pitchFamily="18" charset="0"/>
                            </a:rPr>
                            <m:t>𝜀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b>
                        <m:sSub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𝑉</m:t>
                          </m:r>
                        </m:e>
                        <m: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</m:sSub>
                      <m:r>
                        <a:rPr lang="en-US" altLang="zh-TW" b="1" i="1">
                          <a:latin typeface="Cambria Math" panose="02040503050406030204" pitchFamily="18" charset="0"/>
                        </a:rPr>
                        <m:t>𝒅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9" name="文字方塊 8">
                <a:extLst>
                  <a:ext uri="{FF2B5EF4-FFF2-40B4-BE49-F238E27FC236}">
                    <a16:creationId xmlns:a16="http://schemas.microsoft.com/office/drawing/2014/main" id="{BB83C5CF-5C0E-496D-B09D-DDE25DD86B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3290" y="2705100"/>
                <a:ext cx="1678216" cy="299313"/>
              </a:xfrm>
              <a:prstGeom prst="rect">
                <a:avLst/>
              </a:prstGeom>
              <a:blipFill>
                <a:blip r:embed="rId4"/>
                <a:stretch>
                  <a:fillRect l="-1455" r="-3273" b="-2653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5DAA58B-723F-49BE-A55E-45DF7CD16BCC}"/>
                  </a:ext>
                </a:extLst>
              </p:cNvPr>
              <p:cNvSpPr txBox="1"/>
              <p:nvPr/>
            </p:nvSpPr>
            <p:spPr>
              <a:xfrm>
                <a:off x="187887" y="3409396"/>
                <a:ext cx="5069913" cy="103464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 panose="02040503050406030204" pitchFamily="18" charset="0"/>
                        </a:rPr>
                        <m:t>𝒅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</m:t>
                                  </m:r>
                                  <m:r>
                                    <m:rPr>
                                      <m:brk m:alnAt="23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𝐼</m:t>
                                      </m:r>
                                    </m:sub>
                                  </m:sSub>
                                </m:sup>
                                <m:e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𝑉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  <m:d>
                                <m:d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nary>
                                    <m:naryPr>
                                      <m:chr m:val="∑"/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naryPr>
                                    <m:sub>
                                      <m:r>
                                        <m:rPr>
                                          <m:brk m:alnAt="23"/>
                                        </m:r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=</m:t>
                                      </m:r>
                                      <m:r>
                                        <m:rPr>
                                          <m:brk m:alnAt="23"/>
                                        </m:r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  <m:sup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𝑁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</m:sub>
                                      </m:sSub>
                                    </m:sup>
                                    <m:e>
                                      <m:sSubSup>
                                        <m:sSubSup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  <m:sup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𝑇</m:t>
                                          </m:r>
                                        </m:sup>
                                      </m:sSubSup>
                                      <m:sSub>
                                        <m:sSubPr>
                                          <m:ctrlP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altLang="zh-TW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sub>
                                      </m:sSub>
                                    </m:e>
                                  </m:nary>
                                </m:e>
                              </m:d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d>
                        <m:dPr>
                          <m:ctrlPr>
                            <a:rPr lang="en-US" altLang="zh-TW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nary>
                            <m:naryPr>
                              <m:chr m:val="∑"/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23"/>
                                </m:rP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=1</m:t>
                              </m:r>
                            </m:sub>
                            <m:sup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𝑁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𝐼</m:t>
                                  </m:r>
                                </m:sub>
                              </m:sSub>
                            </m:sup>
                            <m:e>
                              <m:sSub>
                                <m:sSubPr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𝑉</m:t>
                                  </m:r>
                                </m:e>
                                <m:sub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𝑗</m:t>
                                  </m:r>
                                </m:sub>
                              </m:sSub>
                            </m:e>
                          </m:nary>
                          <m:d>
                            <m:d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nary>
                                <m:naryPr>
                                  <m:chr m:val="∑"/>
                                  <m:ctrl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>
                                  <m:r>
                                    <m:rPr>
                                      <m:brk m:alnAt="23"/>
                                    </m:rP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US" altLang="zh-TW" i="1">
                                      <a:latin typeface="Cambria Math" panose="02040503050406030204" pitchFamily="18" charset="0"/>
                                    </a:rPr>
                                    <m:t>=1</m:t>
                                  </m:r>
                                </m:sub>
                                <m:sup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𝑁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𝑝</m:t>
                                      </m:r>
                                    </m:sub>
                                  </m:sSub>
                                </m:sup>
                                <m:e>
                                  <m:sSubSup>
                                    <m:sSubSup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sub>
                                    <m:sup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𝑇</m:t>
                                      </m:r>
                                    </m:sup>
                                  </m:sSubSup>
                                  <m:sSub>
                                    <m:sSubPr>
                                      <m:ctrlP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b>
                                      <m:r>
                                        <a:rPr lang="en-US" altLang="zh-TW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US" altLang="zh-TW" b="0" i="1" smtClean="0">
                                          <a:latin typeface="Cambria Math" panose="02040503050406030204" pitchFamily="18" charset="0"/>
                                        </a:rPr>
                                        <m:t>𝑗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d>
                        </m:e>
                      </m:d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0" name="文字方塊 9">
                <a:extLst>
                  <a:ext uri="{FF2B5EF4-FFF2-40B4-BE49-F238E27FC236}">
                    <a16:creationId xmlns:a16="http://schemas.microsoft.com/office/drawing/2014/main" id="{E5DAA58B-723F-49BE-A55E-45DF7CD16B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887" y="3409396"/>
                <a:ext cx="5069913" cy="103464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983605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B10DA-A91D-4199-A02D-A9EC40C2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70"/>
            <a:ext cx="10515600" cy="603778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sensor base model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24F1CF-B735-40D0-A060-CFDA41643965}"/>
              </a:ext>
            </a:extLst>
          </p:cNvPr>
          <p:cNvSpPr txBox="1"/>
          <p:nvPr/>
        </p:nvSpPr>
        <p:spPr>
          <a:xfrm>
            <a:off x="-48535" y="3383814"/>
            <a:ext cx="3310467" cy="3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Previous model: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0775F8D-242F-45CA-8642-E1EF468BF202}"/>
              </a:ext>
            </a:extLst>
          </p:cNvPr>
          <p:cNvSpPr txBox="1"/>
          <p:nvPr/>
        </p:nvSpPr>
        <p:spPr>
          <a:xfrm>
            <a:off x="7274836" y="3462972"/>
            <a:ext cx="3310467" cy="3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Presently model: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EBF708E-931E-4A65-9B5C-0558B82BE52D}"/>
                  </a:ext>
                </a:extLst>
              </p:cNvPr>
              <p:cNvSpPr txBox="1"/>
              <p:nvPr/>
            </p:nvSpPr>
            <p:spPr>
              <a:xfrm>
                <a:off x="-1030990" y="3700686"/>
                <a:ext cx="5791200" cy="1077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skw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nary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EBF708E-931E-4A65-9B5C-0558B82BE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030990" y="3700686"/>
                <a:ext cx="5791200" cy="1077154"/>
              </a:xfrm>
              <a:prstGeom prst="rect">
                <a:avLst/>
              </a:prstGeom>
              <a:blipFill>
                <a:blip r:embed="rId2"/>
                <a:stretch>
                  <a:fillRect b="-62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698AD4F-B228-44DF-AADB-D4983673301B}"/>
                  </a:ext>
                </a:extLst>
              </p:cNvPr>
              <p:cNvSpPr txBox="1"/>
              <p:nvPr/>
            </p:nvSpPr>
            <p:spPr>
              <a:xfrm>
                <a:off x="8192317" y="4133702"/>
                <a:ext cx="2145652" cy="87652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b="0" dirty="0"/>
                  <a:t>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̂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</m:ac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̅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acc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endParaRPr lang="en-US" altLang="zh-TW" b="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698AD4F-B228-44DF-AADB-D49836733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92317" y="4133702"/>
                <a:ext cx="2145652" cy="876522"/>
              </a:xfrm>
              <a:prstGeom prst="rect">
                <a:avLst/>
              </a:prstGeom>
              <a:blipFill>
                <a:blip r:embed="rId3"/>
                <a:stretch>
                  <a:fillRect l="-3977" t="-68750" r="-13352" b="-4097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CalibV_s_mat">
                <a:extLst>
                  <a:ext uri="{FF2B5EF4-FFF2-40B4-BE49-F238E27FC236}">
                    <a16:creationId xmlns:a16="http://schemas.microsoft.com/office/drawing/2014/main" id="{67881E2B-FB81-4C80-B641-55D136634058}"/>
                  </a:ext>
                </a:extLst>
              </p:cNvPr>
              <p:cNvSpPr txBox="1"/>
              <p:nvPr/>
            </p:nvSpPr>
            <p:spPr>
              <a:xfrm>
                <a:off x="7348528" y="5847597"/>
                <a:ext cx="3911600" cy="8686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05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05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sz="105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−0.4701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−0.3324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−0.4255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−0.4318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−0.3290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−0.1459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1.3478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−0.0419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0.3311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0.3307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−0.0370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−0.3403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−0.4571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0.8096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−0.4931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−0.4613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−0.3456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0.0127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0.4012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−0.1179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1.4071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0.3973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−0.0031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0.0076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0.3819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−0.0139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0.3817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1.3975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−0.1289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−0.3337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−0.4360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−0.3366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−0.4378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−0.4911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0.8320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050" b="0" i="0">
                          <a:latin typeface="Cambria Math" panose="02040503050406030204" pitchFamily="18" charset="0"/>
                        </a:rPr>
                        <m:t>  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18" name="CalibV_s_mat">
                <a:extLst>
                  <a:ext uri="{FF2B5EF4-FFF2-40B4-BE49-F238E27FC236}">
                    <a16:creationId xmlns:a16="http://schemas.microsoft.com/office/drawing/2014/main" id="{67881E2B-FB81-4C80-B641-55D1366340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8528" y="5847597"/>
                <a:ext cx="3911600" cy="868680"/>
              </a:xfrm>
              <a:prstGeom prst="rect">
                <a:avLst/>
              </a:prstGeom>
              <a:blipFill>
                <a:blip r:embed="rId4"/>
                <a:stretch>
                  <a:fillRect l="-6231" b="-279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CalibV_s_sc">
                <a:extLst>
                  <a:ext uri="{FF2B5EF4-FFF2-40B4-BE49-F238E27FC236}">
                    <a16:creationId xmlns:a16="http://schemas.microsoft.com/office/drawing/2014/main" id="{7999C9C5-7295-4D7C-8FEF-189CA9A79373}"/>
                  </a:ext>
                </a:extLst>
              </p:cNvPr>
              <p:cNvSpPr txBox="1"/>
              <p:nvPr/>
            </p:nvSpPr>
            <p:spPr>
              <a:xfrm>
                <a:off x="-268522" y="6383448"/>
                <a:ext cx="2413000" cy="25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600" b="0" i="0">
                          <a:latin typeface="Cambria Math" panose="02040503050406030204" pitchFamily="18" charset="0"/>
                        </a:rPr>
                        <m:t> = 870.6 </m:t>
                      </m:r>
                      <m:r>
                        <m:rPr>
                          <m:sty m:val="p"/>
                        </m:rPr>
                        <a:rPr lang="en-US" sz="1600" b="0" i="0"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9" name="CalibV_s_sc">
                <a:extLst>
                  <a:ext uri="{FF2B5EF4-FFF2-40B4-BE49-F238E27FC236}">
                    <a16:creationId xmlns:a16="http://schemas.microsoft.com/office/drawing/2014/main" id="{7999C9C5-7295-4D7C-8FEF-189CA9A793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8522" y="6383448"/>
                <a:ext cx="2413000" cy="256032"/>
              </a:xfrm>
              <a:prstGeom prst="rect">
                <a:avLst/>
              </a:prstGeom>
              <a:blipFill>
                <a:blip r:embed="rId5"/>
                <a:stretch>
                  <a:fillRect t="-16667" b="-2619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108FB7E-EFE2-48FF-8330-AF675D591F7C}"/>
                  </a:ext>
                </a:extLst>
              </p:cNvPr>
              <p:cNvSpPr txBox="1"/>
              <p:nvPr/>
            </p:nvSpPr>
            <p:spPr>
              <a:xfrm>
                <a:off x="-131160" y="5883799"/>
                <a:ext cx="5647119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b="0" i="0" smtClean="0">
                                  <a:latin typeface="Cambria Math" panose="02040503050406030204" pitchFamily="18" charset="0"/>
                                </a:rPr>
                                <m:t>7.052 5.756 7.09 5.709 5.775 7.152</m:t>
                              </m:r>
                            </m:e>
                          </m:d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TW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108FB7E-EFE2-48FF-8330-AF675D591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31160" y="5883799"/>
                <a:ext cx="5647119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84C416A1-25BF-4DD3-95C3-44F1134B7B9B}"/>
              </a:ext>
            </a:extLst>
          </p:cNvPr>
          <p:cNvSpPr/>
          <p:nvPr/>
        </p:nvSpPr>
        <p:spPr>
          <a:xfrm>
            <a:off x="2610980" y="4812137"/>
            <a:ext cx="115287" cy="107715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CE44F37C-4534-4F45-B0DE-325879A76419}"/>
              </a:ext>
            </a:extLst>
          </p:cNvPr>
          <p:cNvSpPr/>
          <p:nvPr/>
        </p:nvSpPr>
        <p:spPr>
          <a:xfrm>
            <a:off x="9174620" y="4542116"/>
            <a:ext cx="181047" cy="57201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CalibV_s_sc">
                <a:extLst>
                  <a:ext uri="{FF2B5EF4-FFF2-40B4-BE49-F238E27FC236}">
                    <a16:creationId xmlns:a16="http://schemas.microsoft.com/office/drawing/2014/main" id="{01C8C723-D83B-4CB5-8BF1-4D6040D80DE2}"/>
                  </a:ext>
                </a:extLst>
              </p:cNvPr>
              <p:cNvSpPr txBox="1"/>
              <p:nvPr/>
            </p:nvSpPr>
            <p:spPr>
              <a:xfrm>
                <a:off x="8097828" y="5157466"/>
                <a:ext cx="2413000" cy="284055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6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6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600" b="0" i="0">
                          <a:latin typeface="Cambria Math" panose="02040503050406030204" pitchFamily="18" charset="0"/>
                        </a:rPr>
                        <m:t> = 870.6 </m:t>
                      </m:r>
                      <m:r>
                        <m:rPr>
                          <m:sty m:val="p"/>
                        </m:rPr>
                        <a:rPr lang="en-US" sz="1600" b="0" i="0"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8" name="CalibV_s_sc">
                <a:extLst>
                  <a:ext uri="{FF2B5EF4-FFF2-40B4-BE49-F238E27FC236}">
                    <a16:creationId xmlns:a16="http://schemas.microsoft.com/office/drawing/2014/main" id="{01C8C723-D83B-4CB5-8BF1-4D6040D80D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97828" y="5157466"/>
                <a:ext cx="2413000" cy="284055"/>
              </a:xfrm>
              <a:prstGeom prst="rect">
                <a:avLst/>
              </a:prstGeom>
              <a:blipFill>
                <a:blip r:embed="rId8"/>
                <a:stretch>
                  <a:fillRect t="-14894" b="-1276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AF9079C1-F710-4AE2-8851-4DF6BAEC5657}"/>
                  </a:ext>
                </a:extLst>
              </p:cNvPr>
              <p:cNvSpPr txBox="1"/>
              <p:nvPr/>
            </p:nvSpPr>
            <p:spPr>
              <a:xfrm>
                <a:off x="7797262" y="5461470"/>
                <a:ext cx="2971800" cy="34278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Pre>
                        <m:sPre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zh-TW" sz="14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sz="14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sz="14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sz="14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sz="14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e>
                      </m:sPre>
                      <m:r>
                        <a:rPr lang="en-US" altLang="zh-TW" sz="1400" b="0" i="0">
                          <a:latin typeface="Cambria Math" panose="02040503050406030204" pitchFamily="18" charset="0"/>
                        </a:rPr>
                        <m:t> = 5.0826×</m:t>
                      </m:r>
                      <m:sSup>
                        <m:sSupPr>
                          <m:ctrlPr>
                            <a:rPr lang="en-US" altLang="zh-TW" sz="14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TW" sz="1400" b="0" i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altLang="zh-TW" sz="14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altLang="zh-TW" sz="1400" b="0" i="0">
                          <a:latin typeface="Cambria Math" panose="02040503050406030204" pitchFamily="18" charset="0"/>
                        </a:rPr>
                        <m:t>mT</m:t>
                      </m:r>
                      <m:r>
                        <a:rPr lang="en-US" altLang="zh-TW" sz="1400" b="0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altLang="zh-TW" sz="1400" b="0" i="0">
                          <a:latin typeface="Cambria Math" panose="02040503050406030204" pitchFamily="18" charset="0"/>
                        </a:rPr>
                        <m:t>mV</m:t>
                      </m:r>
                      <m:r>
                        <a:rPr lang="en-US" altLang="zh-TW" sz="14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0" name="文字方塊 29">
                <a:extLst>
                  <a:ext uri="{FF2B5EF4-FFF2-40B4-BE49-F238E27FC236}">
                    <a16:creationId xmlns:a16="http://schemas.microsoft.com/office/drawing/2014/main" id="{AF9079C1-F710-4AE2-8851-4DF6BAEC56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97262" y="5461470"/>
                <a:ext cx="2971800" cy="342786"/>
              </a:xfrm>
              <a:prstGeom prst="rect">
                <a:avLst/>
              </a:prstGeom>
              <a:blipFill>
                <a:blip r:embed="rId9"/>
                <a:stretch>
                  <a:fillRect b="-1428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libV_Vmat">
                <a:extLst>
                  <a:ext uri="{FF2B5EF4-FFF2-40B4-BE49-F238E27FC236}">
                    <a16:creationId xmlns:a16="http://schemas.microsoft.com/office/drawing/2014/main" id="{6EDDC60F-B6B7-41FF-B522-CBB8413493BE}"/>
                  </a:ext>
                </a:extLst>
              </p:cNvPr>
              <p:cNvSpPr txBox="1"/>
              <p:nvPr/>
            </p:nvSpPr>
            <p:spPr>
              <a:xfrm>
                <a:off x="6477715" y="41297"/>
                <a:ext cx="5653225" cy="9245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1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1396.4955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−44.8823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−296.1572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−238.4907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−248.9936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−294.5077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−52.4055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1598.7819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−235.7957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−507.9923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−515.0264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−237.7885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−294.0025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−233.7070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1395.0998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−46.3229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−240.9496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−294.4712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−235.1370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−531.8974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−51.5603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1584.0452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−527.8226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−225.8168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−241.7433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−521.2460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−229.5170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−520.2282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1580.6986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−48.3530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−287.8722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−243.2083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−296.8820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−235.1671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−44.7058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1382.8494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TW" altLang="en-US" sz="11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𝑚𝑉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31" name="CalibV_Vmat">
                <a:extLst>
                  <a:ext uri="{FF2B5EF4-FFF2-40B4-BE49-F238E27FC236}">
                    <a16:creationId xmlns:a16="http://schemas.microsoft.com/office/drawing/2014/main" id="{6EDDC60F-B6B7-41FF-B522-CBB841349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77715" y="41297"/>
                <a:ext cx="5653225" cy="924576"/>
              </a:xfrm>
              <a:prstGeom prst="rect">
                <a:avLst/>
              </a:prstGeom>
              <a:blipFill>
                <a:blip r:embed="rId10"/>
                <a:stretch>
                  <a:fillRect b="-198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391B1B-2B68-4F4C-A961-4E99C4FBFBC2}"/>
                  </a:ext>
                </a:extLst>
              </p:cNvPr>
              <p:cNvSpPr txBox="1"/>
              <p:nvPr/>
            </p:nvSpPr>
            <p:spPr>
              <a:xfrm>
                <a:off x="146198" y="964830"/>
                <a:ext cx="11639402" cy="23509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slide compares two models driven by the Hall-sensor voltages, both in their single-parameter form, The V matrix (6×6, mV) in the top-right corner is shared.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Left, Previous model: </a:t>
                </a: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holds six per-pole constants, so each pole's charge is its own sensor reading times one scalar, with no coupling between sensors. below the arrow: the six values of </a:t>
                </a: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Right, Presently model: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not diagonal — any sensor reading is distributed over all six poles. Below the arrow: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sPre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̅"/>
                        <m:ctrlPr>
                          <a:rPr lang="en-US" altLang="zh-TW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acc>
                  </m:oMath>
                </a14:m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Both share V and iterate only ℓ̂; the sole difference is the closed-form voltage-to-charge step — six diagonal constants versus a gain plus a 36-entry full matrix.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D2391B1B-2B68-4F4C-A961-4E99C4FBFB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198" y="964830"/>
                <a:ext cx="11639402" cy="2350900"/>
              </a:xfrm>
              <a:prstGeom prst="rect">
                <a:avLst/>
              </a:prstGeom>
              <a:blipFill>
                <a:blip r:embed="rId11"/>
                <a:stretch>
                  <a:fillRect l="-367" t="-1295" b="-310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630053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B10DA-A91D-4199-A02D-A9EC40C2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70"/>
            <a:ext cx="10515600" cy="603778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sensor base model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24F1CF-B735-40D0-A060-CFDA41643965}"/>
              </a:ext>
            </a:extLst>
          </p:cNvPr>
          <p:cNvSpPr txBox="1"/>
          <p:nvPr/>
        </p:nvSpPr>
        <p:spPr>
          <a:xfrm>
            <a:off x="-26653" y="2933576"/>
            <a:ext cx="3310467" cy="3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Previous model: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0775F8D-242F-45CA-8642-E1EF468BF202}"/>
              </a:ext>
            </a:extLst>
          </p:cNvPr>
          <p:cNvSpPr txBox="1"/>
          <p:nvPr/>
        </p:nvSpPr>
        <p:spPr>
          <a:xfrm>
            <a:off x="7239640" y="3166855"/>
            <a:ext cx="3310467" cy="3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Presently model: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EBF708E-931E-4A65-9B5C-0558B82BE52D}"/>
                  </a:ext>
                </a:extLst>
              </p:cNvPr>
              <p:cNvSpPr txBox="1"/>
              <p:nvPr/>
            </p:nvSpPr>
            <p:spPr>
              <a:xfrm>
                <a:off x="-1109992" y="3233320"/>
                <a:ext cx="5791200" cy="107715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TW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𝑗𝑘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𝑖𝑘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𝑺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type m:val="skw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𝑝</m:t>
                                  </m:r>
                                </m:e>
                                <m:sub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num>
                            <m:den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ℓ</m:t>
                                  </m:r>
                                </m:e>
                              </m:acc>
                            </m:den>
                          </m:f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acc>
                            <m:accPr>
                              <m:chr m:val="̂"/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𝑒</m:t>
                              </m:r>
                            </m:e>
                          </m:acc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  <m: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</m:nary>
                    </m:oMath>
                  </m:oMathPara>
                </a14:m>
                <a:endParaRPr lang="en-US" altLang="zh-TW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</m:sSub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 , 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𝑗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=1…</m:t>
                      </m:r>
                      <m:sSub>
                        <m:sSub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𝐼</m:t>
                          </m:r>
                        </m:sub>
                      </m:sSub>
                    </m:oMath>
                  </m:oMathPara>
                </a14:m>
                <a:endParaRPr lang="en-US" altLang="zh-TW" b="0" dirty="0"/>
              </a:p>
            </p:txBody>
          </p:sp>
        </mc:Choice>
        <mc:Fallback xmlns="">
          <p:sp>
            <p:nvSpPr>
              <p:cNvPr id="6" name="文字方塊 5">
                <a:extLst>
                  <a:ext uri="{FF2B5EF4-FFF2-40B4-BE49-F238E27FC236}">
                    <a16:creationId xmlns:a16="http://schemas.microsoft.com/office/drawing/2014/main" id="{BEBF708E-931E-4A65-9B5C-0558B82BE5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109992" y="3233320"/>
                <a:ext cx="5791200" cy="1077154"/>
              </a:xfrm>
              <a:prstGeom prst="rect">
                <a:avLst/>
              </a:prstGeom>
              <a:blipFill>
                <a:blip r:embed="rId2"/>
                <a:stretch>
                  <a:fillRect b="-62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698AD4F-B228-44DF-AADB-D4983673301B}"/>
                  </a:ext>
                </a:extLst>
              </p:cNvPr>
              <p:cNvSpPr txBox="1"/>
              <p:nvPr/>
            </p:nvSpPr>
            <p:spPr>
              <a:xfrm>
                <a:off x="7594599" y="3533040"/>
                <a:ext cx="2382383" cy="89793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=</m:t>
                    </m:r>
                    <m:sPre>
                      <m:sPrePr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b="0" dirty="0"/>
                  <a:t> </a:t>
                </a:r>
                <a14:m>
                  <m:oMath xmlns:m="http://schemas.openxmlformats.org/officeDocument/2006/math">
                    <m:r>
                      <a:rPr lang="en-US" altLang="zh-TW" b="1" i="1" smtClean="0">
                        <a:latin typeface="Cambria Math" panose="02040503050406030204" pitchFamily="18" charset="0"/>
                      </a:rPr>
                      <m:t>𝑺</m:t>
                    </m:r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type m:val="skw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num>
                      <m:den>
                        <m:acc>
                          <m:accPr>
                            <m:chr m:val="̂"/>
                            <m:ctrlP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ℓ</m:t>
                            </m:r>
                          </m:e>
                        </m:acc>
                      </m:den>
                    </m:f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,</m:t>
                    </m:r>
                    <m:acc>
                      <m:accPr>
                        <m:chr m:val="̂"/>
                        <m:ctrlPr>
                          <a:rPr lang="en-US" altLang="zh-TW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  <m:r>
                      <a:rPr lang="en-US" altLang="zh-TW" b="0" i="1" smtClean="0">
                        <a:latin typeface="Cambria Math" panose="02040503050406030204" pitchFamily="18" charset="0"/>
                      </a:rPr>
                      <m:t>)</m:t>
                    </m:r>
                    <m:acc>
                      <m:accPr>
                        <m:chr m:val="̅"/>
                        <m:ctrlPr>
                          <a:rPr lang="en-US" altLang="zh-TW" b="1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𝑴</m:t>
                        </m:r>
                      </m:e>
                    </m:acc>
                    <m:sSub>
                      <m:sSubPr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TW" b="1" i="1" smtClean="0">
                            <a:latin typeface="Cambria Math" panose="02040503050406030204" pitchFamily="18" charset="0"/>
                          </a:rPr>
                          <m:t>𝑽</m:t>
                        </m:r>
                      </m:e>
                      <m:sub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 lang="en-US" altLang="zh-TW" dirty="0"/>
              </a:p>
              <a:p>
                <a:endParaRPr lang="en-US" altLang="zh-TW" b="0" dirty="0"/>
              </a:p>
              <a:p>
                <a:endParaRPr lang="zh-TW" altLang="en-US" dirty="0"/>
              </a:p>
            </p:txBody>
          </p:sp>
        </mc:Choice>
        <mc:Fallback xmlns="">
          <p:sp>
            <p:nvSpPr>
              <p:cNvPr id="8" name="文字方塊 7">
                <a:extLst>
                  <a:ext uri="{FF2B5EF4-FFF2-40B4-BE49-F238E27FC236}">
                    <a16:creationId xmlns:a16="http://schemas.microsoft.com/office/drawing/2014/main" id="{4698AD4F-B228-44DF-AADB-D498367330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94599" y="3533040"/>
                <a:ext cx="2382383" cy="897938"/>
              </a:xfrm>
              <a:prstGeom prst="rect">
                <a:avLst/>
              </a:prstGeom>
              <a:blipFill>
                <a:blip r:embed="rId3"/>
                <a:stretch>
                  <a:fillRect l="-3581" t="-68027" r="-6905" b="-3741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108FB7E-EFE2-48FF-8330-AF675D591F7C}"/>
                  </a:ext>
                </a:extLst>
              </p:cNvPr>
              <p:cNvSpPr txBox="1"/>
              <p:nvPr/>
            </p:nvSpPr>
            <p:spPr>
              <a:xfrm>
                <a:off x="-26653" y="5207505"/>
                <a:ext cx="4242710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𝑑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TW" sz="1400" b="0" i="0" smtClean="0">
                                  <a:latin typeface="Cambria Math" panose="02040503050406030204" pitchFamily="18" charset="0"/>
                                </a:rPr>
                                <m:t>6.871 5.659 6.992 5.633 5.791 7.</m:t>
                              </m:r>
                              <m:r>
                                <a:rPr lang="en-US" altLang="zh-TW" sz="1400" b="0" i="1" smtClean="0">
                                  <a:latin typeface="Cambria Math" panose="02040503050406030204" pitchFamily="18" charset="0"/>
                                </a:rPr>
                                <m:t>032</m:t>
                              </m:r>
                            </m:e>
                          </m:d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p>
                      <m:r>
                        <a:rPr lang="en-US" altLang="zh-TW" sz="140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</m:t>
                      </m:r>
                      <m:sSup>
                        <m:sSupPr>
                          <m:ctrlPr>
                            <a:rPr lang="en-US" altLang="zh-TW" sz="140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altLang="zh-TW" sz="14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</m:oMath>
                  </m:oMathPara>
                </a14:m>
                <a:endParaRPr lang="en-US" altLang="zh-TW" dirty="0"/>
              </a:p>
            </p:txBody>
          </p:sp>
        </mc:Choice>
        <mc:Fallback xmlns="">
          <p:sp>
            <p:nvSpPr>
              <p:cNvPr id="25" name="文字方塊 24">
                <a:extLst>
                  <a:ext uri="{FF2B5EF4-FFF2-40B4-BE49-F238E27FC236}">
                    <a16:creationId xmlns:a16="http://schemas.microsoft.com/office/drawing/2014/main" id="{2108FB7E-EFE2-48FF-8330-AF675D591F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653" y="5207505"/>
                <a:ext cx="4242710" cy="307777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6" name="箭號: 向下 25">
            <a:extLst>
              <a:ext uri="{FF2B5EF4-FFF2-40B4-BE49-F238E27FC236}">
                <a16:creationId xmlns:a16="http://schemas.microsoft.com/office/drawing/2014/main" id="{84C416A1-25BF-4DD3-95C3-44F1134B7B9B}"/>
              </a:ext>
            </a:extLst>
          </p:cNvPr>
          <p:cNvSpPr/>
          <p:nvPr/>
        </p:nvSpPr>
        <p:spPr>
          <a:xfrm>
            <a:off x="2215018" y="4310475"/>
            <a:ext cx="184296" cy="63575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箭號: 向下 26">
            <a:extLst>
              <a:ext uri="{FF2B5EF4-FFF2-40B4-BE49-F238E27FC236}">
                <a16:creationId xmlns:a16="http://schemas.microsoft.com/office/drawing/2014/main" id="{CE44F37C-4534-4F45-B0DE-325879A76419}"/>
              </a:ext>
            </a:extLst>
          </p:cNvPr>
          <p:cNvSpPr/>
          <p:nvPr/>
        </p:nvSpPr>
        <p:spPr>
          <a:xfrm>
            <a:off x="9210203" y="3942952"/>
            <a:ext cx="137013" cy="42526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CalibV_Vmat">
                <a:extLst>
                  <a:ext uri="{FF2B5EF4-FFF2-40B4-BE49-F238E27FC236}">
                    <a16:creationId xmlns:a16="http://schemas.microsoft.com/office/drawing/2014/main" id="{6EDDC60F-B6B7-41FF-B522-CBB8413493BE}"/>
                  </a:ext>
                </a:extLst>
              </p:cNvPr>
              <p:cNvSpPr txBox="1"/>
              <p:nvPr/>
            </p:nvSpPr>
            <p:spPr>
              <a:xfrm>
                <a:off x="6512837" y="105521"/>
                <a:ext cx="5653225" cy="924576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𝑉</m:t>
                      </m:r>
                      <m:r>
                        <a:rPr lang="en-US" sz="11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1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1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1396.4955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−44.8823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−296.1572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−238.4907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−248.9936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−294.5077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−52.4055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1598.7819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−235.7957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−507.9923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−515.0264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−237.7885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−294.0025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−233.7070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1395.0998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−46.3229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−240.9496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−294.4712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−235.1370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−531.8974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−51.5603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1584.0452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−527.8226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−225.8168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−241.7433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−521.2460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−229.5170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−520.2282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1580.6986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−48.3530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−287.8722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−243.2083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−296.8820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−235.1671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−44.7058</m:t>
                                </m:r>
                              </m:e>
                              <m:e>
                                <m:r>
                                  <a:rPr lang="en-US" sz="1100" b="0" i="0">
                                    <a:latin typeface="Cambria Math" panose="02040503050406030204" pitchFamily="18" charset="0"/>
                                  </a:rPr>
                                  <m:t>1382.8494</m:t>
                                </m:r>
                              </m:e>
                            </m:mr>
                          </m:m>
                        </m:e>
                      </m:d>
                      <m:r>
                        <a:rPr lang="zh-TW" altLang="en-US" sz="1100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 (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𝑚𝑉</m:t>
                      </m:r>
                      <m:r>
                        <a:rPr lang="en-US" altLang="zh-TW" sz="11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900" dirty="0"/>
              </a:p>
            </p:txBody>
          </p:sp>
        </mc:Choice>
        <mc:Fallback xmlns="">
          <p:sp>
            <p:nvSpPr>
              <p:cNvPr id="31" name="CalibV_Vmat">
                <a:extLst>
                  <a:ext uri="{FF2B5EF4-FFF2-40B4-BE49-F238E27FC236}">
                    <a16:creationId xmlns:a16="http://schemas.microsoft.com/office/drawing/2014/main" id="{6EDDC60F-B6B7-41FF-B522-CBB8413493B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837" y="105521"/>
                <a:ext cx="5653225" cy="924576"/>
              </a:xfrm>
              <a:prstGeom prst="rect">
                <a:avLst/>
              </a:prstGeom>
              <a:blipFill>
                <a:blip r:embed="rId5"/>
                <a:stretch>
                  <a:fillRect b="-197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CalibV_e_bias">
                <a:extLst>
                  <a:ext uri="{FF2B5EF4-FFF2-40B4-BE49-F238E27FC236}">
                    <a16:creationId xmlns:a16="http://schemas.microsoft.com/office/drawing/2014/main" id="{E2580E0D-30DC-4E6E-BB03-C780D35CCD60}"/>
                  </a:ext>
                </a:extLst>
              </p:cNvPr>
              <p:cNvSpPr txBox="1"/>
              <p:nvPr/>
            </p:nvSpPr>
            <p:spPr>
              <a:xfrm>
                <a:off x="318485" y="5617389"/>
                <a:ext cx="3793065" cy="5390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05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05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05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0.0136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0.0213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−0.1165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0.0005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−0.0002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−0.1175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−0.1142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0.0019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0.0199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0.0187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0.0002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0.1150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−0.0025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0.1157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−0.0012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−0.0112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−0.0178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16" name="CalibV_e_bias">
                <a:extLst>
                  <a:ext uri="{FF2B5EF4-FFF2-40B4-BE49-F238E27FC236}">
                    <a16:creationId xmlns:a16="http://schemas.microsoft.com/office/drawing/2014/main" id="{E2580E0D-30DC-4E6E-BB03-C780D35CCD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485" y="5617389"/>
                <a:ext cx="3793065" cy="539062"/>
              </a:xfrm>
              <a:prstGeom prst="rect">
                <a:avLst/>
              </a:prstGeom>
              <a:blipFill>
                <a:blip r:embed="rId6"/>
                <a:stretch>
                  <a:fillRect l="-4502" t="-1124" r="-305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CalibV_e_sc">
                <a:extLst>
                  <a:ext uri="{FF2B5EF4-FFF2-40B4-BE49-F238E27FC236}">
                    <a16:creationId xmlns:a16="http://schemas.microsoft.com/office/drawing/2014/main" id="{CEB215D0-7CAA-42C9-9BB8-BC0B82461EA9}"/>
                  </a:ext>
                </a:extLst>
              </p:cNvPr>
              <p:cNvSpPr txBox="1"/>
              <p:nvPr/>
            </p:nvSpPr>
            <p:spPr>
              <a:xfrm>
                <a:off x="-26653" y="6258558"/>
                <a:ext cx="1476448" cy="25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867.2 </m:t>
                      </m:r>
                      <m:r>
                        <m:rPr>
                          <m:sty m:val="p"/>
                        </m:rPr>
                        <a:rPr lang="en-US" sz="1200" b="0" i="0">
                          <a:latin typeface="Cambria Math" panose="02040503050406030204" pitchFamily="18" charset="0"/>
                        </a:rPr>
                        <m:t>μm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7" name="CalibV_e_sc">
                <a:extLst>
                  <a:ext uri="{FF2B5EF4-FFF2-40B4-BE49-F238E27FC236}">
                    <a16:creationId xmlns:a16="http://schemas.microsoft.com/office/drawing/2014/main" id="{CEB215D0-7CAA-42C9-9BB8-BC0B82461E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653" y="6258558"/>
                <a:ext cx="1476448" cy="256032"/>
              </a:xfrm>
              <a:prstGeom prst="rect">
                <a:avLst/>
              </a:prstGeom>
              <a:blipFill>
                <a:blip r:embed="rId7"/>
                <a:stretch>
                  <a:fillRect t="-21429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CalibV_e_mat">
                <a:extLst>
                  <a:ext uri="{FF2B5EF4-FFF2-40B4-BE49-F238E27FC236}">
                    <a16:creationId xmlns:a16="http://schemas.microsoft.com/office/drawing/2014/main" id="{C93B459B-D128-4794-B06F-4F612EBC4521}"/>
                  </a:ext>
                </a:extLst>
              </p:cNvPr>
              <p:cNvSpPr txBox="1"/>
              <p:nvPr/>
            </p:nvSpPr>
            <p:spPr>
              <a:xfrm>
                <a:off x="6722534" y="4465822"/>
                <a:ext cx="3793066" cy="868680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̄"/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0.8333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−0.4506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−0.1912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−0.3974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−0.4005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−0.1902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−0.0121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1.1706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0.0025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0.3536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0.3563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0.0030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−0.2078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−0.4366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0.8323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−0.4739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−0.4337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−0.2084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0.0423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0.4092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0.0182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1.2265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0.4108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0.0303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0.0370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0.4017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0.0246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0.4026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1.2439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0.0051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−0.2009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−0.4141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−0.1971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−0.4117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−0.4634</m:t>
                                </m:r>
                              </m:e>
                              <m:e>
                                <m:r>
                                  <a:rPr lang="en-US" sz="1200" b="0" i="0">
                                    <a:latin typeface="Cambria Math" panose="02040503050406030204" pitchFamily="18" charset="0"/>
                                  </a:rPr>
                                  <m:t>0.8462</m:t>
                                </m:r>
                              </m:e>
                            </m:mr>
                          </m:m>
                        </m:e>
                      </m:d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0" name="CalibV_e_mat">
                <a:extLst>
                  <a:ext uri="{FF2B5EF4-FFF2-40B4-BE49-F238E27FC236}">
                    <a16:creationId xmlns:a16="http://schemas.microsoft.com/office/drawing/2014/main" id="{C93B459B-D128-4794-B06F-4F612EBC45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22534" y="4465822"/>
                <a:ext cx="3793066" cy="868680"/>
              </a:xfrm>
              <a:prstGeom prst="rect">
                <a:avLst/>
              </a:prstGeom>
              <a:blipFill>
                <a:blip r:embed="rId8"/>
                <a:stretch>
                  <a:fillRect l="-13987" r="-9164" b="-1831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libV_e_bias">
                <a:extLst>
                  <a:ext uri="{FF2B5EF4-FFF2-40B4-BE49-F238E27FC236}">
                    <a16:creationId xmlns:a16="http://schemas.microsoft.com/office/drawing/2014/main" id="{8DDD265E-94A8-4768-8477-46DB3236E5BB}"/>
                  </a:ext>
                </a:extLst>
              </p:cNvPr>
              <p:cNvSpPr txBox="1"/>
              <p:nvPr/>
            </p:nvSpPr>
            <p:spPr>
              <a:xfrm>
                <a:off x="6373869" y="5641529"/>
                <a:ext cx="3793065" cy="53906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altLang="zh-TW" sz="1050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sz="1050" b="0" i="1" smtClean="0">
                              <a:latin typeface="Cambria Math" panose="02040503050406030204" pitchFamily="18" charset="0"/>
                            </a:rPr>
                            <m:t>𝑒</m:t>
                          </m:r>
                        </m:e>
                      </m:acc>
                      <m:r>
                        <a:rPr lang="en-US" sz="1050" b="0" i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050" b="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sz="1050" b="0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0.0136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0.0213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−0.1165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0.0005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−0.0002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−0.1175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−0.1142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0.0019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0.0199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0.0187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0.0002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−0.1162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0.1150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−0.0025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0.1157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−0.0012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−0.0112</m:t>
                                </m:r>
                              </m:e>
                              <m:e>
                                <m:r>
                                  <a:rPr lang="en-US" sz="1050" b="0" i="0">
                                    <a:latin typeface="Cambria Math" panose="02040503050406030204" pitchFamily="18" charset="0"/>
                                  </a:rPr>
                                  <m:t>−0.0178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sz="1050" dirty="0"/>
              </a:p>
            </p:txBody>
          </p:sp>
        </mc:Choice>
        <mc:Fallback xmlns="">
          <p:sp>
            <p:nvSpPr>
              <p:cNvPr id="21" name="CalibV_e_bias">
                <a:extLst>
                  <a:ext uri="{FF2B5EF4-FFF2-40B4-BE49-F238E27FC236}">
                    <a16:creationId xmlns:a16="http://schemas.microsoft.com/office/drawing/2014/main" id="{8DDD265E-94A8-4768-8477-46DB3236E5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69" y="5641529"/>
                <a:ext cx="3793065" cy="539062"/>
              </a:xfrm>
              <a:prstGeom prst="rect">
                <a:avLst/>
              </a:prstGeom>
              <a:blipFill>
                <a:blip r:embed="rId9"/>
                <a:stretch>
                  <a:fillRect l="-4662" t="-1124" r="-289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libV_e_sc">
                <a:extLst>
                  <a:ext uri="{FF2B5EF4-FFF2-40B4-BE49-F238E27FC236}">
                    <a16:creationId xmlns:a16="http://schemas.microsoft.com/office/drawing/2014/main" id="{5B0E56DC-726D-41D0-9171-76B6E3D966C1}"/>
                  </a:ext>
                </a:extLst>
              </p:cNvPr>
              <p:cNvSpPr txBox="1"/>
              <p:nvPr/>
            </p:nvSpPr>
            <p:spPr>
              <a:xfrm>
                <a:off x="6373869" y="6347989"/>
                <a:ext cx="3208867" cy="256032"/>
              </a:xfrm>
              <a:prstGeom prst="rect">
                <a:avLst/>
              </a:prstGeom>
              <a:noFill/>
            </p:spPr>
            <p:txBody>
              <a:bodyPr wrap="none" lIns="0" tIns="0" rIns="0" bIns="0" rtlCol="0" anchor="t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ℓ</m:t>
                          </m:r>
                        </m:e>
                      </m:acc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867.2 </m:t>
                      </m:r>
                      <m:r>
                        <m:rPr>
                          <m:sty m:val="p"/>
                        </m:rPr>
                        <a:rPr lang="en-US" sz="1200" b="0" i="0">
                          <a:latin typeface="Cambria Math" panose="02040503050406030204" pitchFamily="18" charset="0"/>
                        </a:rPr>
                        <m:t>μm</m:t>
                      </m:r>
                      <m:r>
                        <a:rPr lang="en-US" sz="1200" b="0" i="0">
                          <a:latin typeface="Cambria Math" panose="02040503050406030204" pitchFamily="18" charset="0"/>
                        </a:rPr>
                        <m:t>  </m:t>
                      </m:r>
                      <m:sPre>
                        <m:sPre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sz="1200" b="0" i="1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sz="1200" b="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200" b="0" i="1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200" b="0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e>
                      </m:sPre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= 5.9476×</m:t>
                      </m:r>
                      <m:sSup>
                        <m:sSupPr>
                          <m:ctrlPr>
                            <a:rPr lang="en-US" sz="1200" b="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1200" b="0" i="0">
                              <a:latin typeface="Cambria Math" panose="02040503050406030204" pitchFamily="18" charset="0"/>
                            </a:rPr>
                            <m:t>10</m:t>
                          </m:r>
                        </m:e>
                        <m:sup>
                          <m:r>
                            <a:rPr lang="en-US" sz="1200" b="0" i="0">
                              <a:latin typeface="Cambria Math" panose="02040503050406030204" pitchFamily="18" charset="0"/>
                            </a:rPr>
                            <m:t>−3</m:t>
                          </m:r>
                        </m:sup>
                      </m:sSup>
                      <m:r>
                        <a:rPr lang="en-US" sz="1200" b="0" i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200" b="0" i="0">
                          <a:latin typeface="Cambria Math" panose="02040503050406030204" pitchFamily="18" charset="0"/>
                        </a:rPr>
                        <m:t>mT</m:t>
                      </m:r>
                      <m:r>
                        <a:rPr lang="en-US" sz="1200" b="0" i="0">
                          <a:latin typeface="Cambria Math" panose="02040503050406030204" pitchFamily="18" charset="0"/>
                        </a:rPr>
                        <m:t>/</m:t>
                      </m:r>
                      <m:r>
                        <m:rPr>
                          <m:sty m:val="p"/>
                        </m:rPr>
                        <a:rPr lang="en-US" sz="1200" b="0" i="0">
                          <a:latin typeface="Cambria Math" panose="02040503050406030204" pitchFamily="18" charset="0"/>
                        </a:rPr>
                        <m:t>mV</m:t>
                      </m:r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23" name="CalibV_e_sc">
                <a:extLst>
                  <a:ext uri="{FF2B5EF4-FFF2-40B4-BE49-F238E27FC236}">
                    <a16:creationId xmlns:a16="http://schemas.microsoft.com/office/drawing/2014/main" id="{5B0E56DC-726D-41D0-9171-76B6E3D966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3869" y="6347989"/>
                <a:ext cx="3208867" cy="256032"/>
              </a:xfrm>
              <a:prstGeom prst="rect">
                <a:avLst/>
              </a:prstGeom>
              <a:blipFill>
                <a:blip r:embed="rId10"/>
                <a:stretch>
                  <a:fillRect l="-3802" t="-11905" r="-2662" b="-1904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1D16DAD-75A7-4432-AE2E-F59CCD081306}"/>
                  </a:ext>
                </a:extLst>
              </p:cNvPr>
              <p:cNvSpPr txBox="1"/>
              <p:nvPr/>
            </p:nvSpPr>
            <p:spPr>
              <a:xfrm>
                <a:off x="59267" y="1141127"/>
                <a:ext cx="12132733" cy="126727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Same two models as slide 2, now in the eighteen-parameter form: The V matrix is identical to slide 2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Left, Previous model: The closed-form </a:t>
                </a:r>
                <a:r>
                  <a:rPr lang="en-US" altLang="zh-TW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obtained with this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zh-TW" alt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，</a:t>
                </a: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same lower-high / upper-low grouping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Right, Presently model: Below the arrow,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</a:t>
                </a:r>
                <a14:m>
                  <m:oMath xmlns:m="http://schemas.openxmlformats.org/officeDocument/2006/math">
                    <m:sPre>
                      <m:sPrePr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sPrePr>
                      <m:sub/>
                      <m:sup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sSub>
                          <m:sSub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zh-TW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TW" b="0" i="1" dirty="0" smtClean="0">
                                    <a:latin typeface="Cambria Math" panose="02040503050406030204" pitchFamily="18" charset="0"/>
                                  </a:rPr>
                                  <m:t>𝑔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zh-TW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sub>
                        </m:sSub>
                      </m:e>
                    </m:sPre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the 6×6 values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𝑀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more uniform than the single-parameter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1D16DAD-75A7-4432-AE2E-F59CCD081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67" y="1141127"/>
                <a:ext cx="12132733" cy="1267270"/>
              </a:xfrm>
              <a:prstGeom prst="rect">
                <a:avLst/>
              </a:prstGeom>
              <a:blipFill>
                <a:blip r:embed="rId11"/>
                <a:stretch>
                  <a:fillRect l="-352" t="-2404" b="-48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112635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B10DA-A91D-4199-A02D-A9EC40C2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70"/>
            <a:ext cx="10515600" cy="603778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sensor base model</a:t>
            </a:r>
            <a:endParaRPr lang="zh-TW" altLang="en-US" dirty="0"/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4424F1CF-B735-40D0-A060-CFDA41643965}"/>
              </a:ext>
            </a:extLst>
          </p:cNvPr>
          <p:cNvSpPr txBox="1"/>
          <p:nvPr/>
        </p:nvSpPr>
        <p:spPr>
          <a:xfrm>
            <a:off x="-26653" y="3941272"/>
            <a:ext cx="3310467" cy="3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Previous model: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00775F8D-242F-45CA-8642-E1EF468BF202}"/>
              </a:ext>
            </a:extLst>
          </p:cNvPr>
          <p:cNvSpPr txBox="1"/>
          <p:nvPr/>
        </p:nvSpPr>
        <p:spPr>
          <a:xfrm>
            <a:off x="6690313" y="3910850"/>
            <a:ext cx="3310467" cy="366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Presently model: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1D16DAD-75A7-4432-AE2E-F59CCD081306}"/>
                  </a:ext>
                </a:extLst>
              </p:cNvPr>
              <p:cNvSpPr txBox="1"/>
              <p:nvPr/>
            </p:nvSpPr>
            <p:spPr>
              <a:xfrm>
                <a:off x="-26653" y="523615"/>
                <a:ext cx="12132733" cy="31393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lower poles P1, P3, P6 are half-cut cones; the upper poles P2, P4, P5 are full cones with a larger iron cross-section that delivers more flux to the tip, so the upper poles should carry the larger charge. The present model's G diagonal agrees: upper 9.31 / 9.26 / 9.24, lower 8.06 / 7.99 / 8.00. The previous model gives the reverse: upper 9.20 / 9.04 / 9.13, lower 9.85 / 9.89 / 9.89.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The previous model gives each pole one constant d, so the charge is always "its own sensor reading × d" — forcing the ratio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𝑎𝑟𝑔𝑒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𝑟𝑒𝑎𝑑𝑖𝑛𝑔</m:t>
                        </m:r>
                      </m:den>
                    </m:f>
                    <m:r>
                      <a:rPr lang="en-US" altLang="zh-TW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to be the same across all six excitations. Physically it is not: when another pole is driven, this pole's ratio is </a:t>
                </a:r>
                <a14:m>
                  <m:oMath xmlns:m="http://schemas.openxmlformats.org/officeDocument/2006/math">
                    <m:f>
                      <m:fPr>
                        <m:type m:val="lin"/>
                        <m:ctrlPr>
                          <a:rPr lang="en-US" altLang="zh-TW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𝑎𝑟𝑔𝑒</m:t>
                        </m:r>
                      </m:num>
                      <m:den>
                        <m:r>
                          <a:rPr lang="en-US" altLang="zh-TW" i="1" dirty="0">
                            <a:latin typeface="Cambria Math" panose="02040503050406030204" pitchFamily="18" charset="0"/>
                          </a:rPr>
                          <m:t>𝑟𝑒𝑎𝑑𝑖𝑛𝑔</m:t>
                        </m:r>
                      </m:den>
                    </m:f>
                    <m:r>
                      <a:rPr lang="en-US" altLang="zh-TW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higher than under self-excitation. One d can only settle in between — larger than the self-excitation value — and applied back to self-excitation it inflates the charge. This bias is larger for the lower poles and cancels for the upper ones, so the lower poles end up above the upper.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endParaRPr lang="en-US" altLang="zh-TW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previous model's charges are unphysical, they carry no degree of freedom for coupling between poles.</a:t>
                </a:r>
              </a:p>
            </p:txBody>
          </p:sp>
        </mc:Choice>
        <mc:Fallback xmlns="">
          <p:sp>
            <p:nvSpPr>
              <p:cNvPr id="3" name="文字方塊 2">
                <a:extLst>
                  <a:ext uri="{FF2B5EF4-FFF2-40B4-BE49-F238E27FC236}">
                    <a16:creationId xmlns:a16="http://schemas.microsoft.com/office/drawing/2014/main" id="{21D16DAD-75A7-4432-AE2E-F59CCD0813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26653" y="523615"/>
                <a:ext cx="12132733" cy="3139321"/>
              </a:xfrm>
              <a:prstGeom prst="rect">
                <a:avLst/>
              </a:prstGeom>
              <a:blipFill>
                <a:blip r:embed="rId2"/>
                <a:stretch>
                  <a:fillRect l="-352" t="-1165" b="-213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03A3AD2-2E58-4CC1-99D7-8F752C33CB4E}"/>
                  </a:ext>
                </a:extLst>
              </p:cNvPr>
              <p:cNvSpPr txBox="1"/>
              <p:nvPr/>
            </p:nvSpPr>
            <p:spPr>
              <a:xfrm>
                <a:off x="76205" y="4584456"/>
                <a:ext cx="3207609" cy="55399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sSub>
                            <m:sSubPr>
                              <m:ctrlP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4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altLang="zh-TW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altLang="zh-TW" i="1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6</m:t>
                              </m:r>
                            </m:sub>
                          </m:sSub>
                          <m:r>
                            <a:rPr lang="en-US" altLang="zh-TW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</m:d>
                    </m:oMath>
                  </m:oMathPara>
                </a14:m>
                <a:endParaRPr lang="en-US" altLang="zh-TW" b="0" dirty="0"/>
              </a:p>
              <a:p>
                <a:r>
                  <a:rPr lang="zh-TW" altLang="en-US" dirty="0"/>
                  <a:t>      </a:t>
                </a:r>
              </a:p>
            </p:txBody>
          </p:sp>
        </mc:Choice>
        <mc:Fallback xmlns="">
          <p:sp>
            <p:nvSpPr>
              <p:cNvPr id="7" name="文字方塊 6">
                <a:extLst>
                  <a:ext uri="{FF2B5EF4-FFF2-40B4-BE49-F238E27FC236}">
                    <a16:creationId xmlns:a16="http://schemas.microsoft.com/office/drawing/2014/main" id="{E03A3AD2-2E58-4CC1-99D7-8F752C33CB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05" y="4584456"/>
                <a:ext cx="3207609" cy="553998"/>
              </a:xfrm>
              <a:prstGeom prst="rect">
                <a:avLst/>
              </a:prstGeom>
              <a:blipFill>
                <a:blip r:embed="rId3"/>
                <a:stretch>
                  <a:fillRect l="-4563" b="-25275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3D2AA07-C9A3-4ECD-92B9-933AA657A78E}"/>
                  </a:ext>
                </a:extLst>
              </p:cNvPr>
              <p:cNvSpPr txBox="1"/>
              <p:nvPr/>
            </p:nvSpPr>
            <p:spPr>
              <a:xfrm>
                <a:off x="6807194" y="4584456"/>
                <a:ext cx="1288110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𝐺</m:t>
                      </m:r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=</m:t>
                      </m:r>
                      <m:sPre>
                        <m:sPrePr>
                          <m:ctrlP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</m:ctrlPr>
                        </m:sPrePr>
                        <m:sub/>
                        <m:sup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sup>
                        <m:e>
                          <m:sSub>
                            <m:sSubPr>
                              <m:ctrlPr>
                                <a:rPr lang="en-US" altLang="zh-TW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acc>
                                <m:accPr>
                                  <m:chr m:val="̂"/>
                                  <m:ctrlP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altLang="zh-TW" b="0" i="1" smtClean="0">
                                      <a:latin typeface="Cambria Math" panose="02040503050406030204" pitchFamily="18" charset="0"/>
                                    </a:rPr>
                                    <m:t>𝑔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altLang="zh-TW" b="0" i="1" smtClean="0">
                                  <a:latin typeface="Cambria Math" panose="02040503050406030204" pitchFamily="18" charset="0"/>
                                </a:rPr>
                                <m:t>𝑉</m:t>
                              </m:r>
                            </m:sub>
                          </m:sSub>
                        </m:e>
                      </m:sPre>
                      <m:acc>
                        <m:accPr>
                          <m:chr m:val="̅"/>
                          <m:ctrlPr>
                            <a:rPr lang="zh-TW" altLang="en-US" b="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en-US" altLang="zh-TW" b="0" i="1" smtClean="0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</m:acc>
                      <m:r>
                        <a:rPr lang="en-US" altLang="zh-TW" b="0" i="1" smtClean="0">
                          <a:latin typeface="Cambria Math" panose="02040503050406030204" pitchFamily="18" charset="0"/>
                        </a:rPr>
                        <m:t>𝑉</m:t>
                      </m:r>
                    </m:oMath>
                  </m:oMathPara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18" name="文字方塊 17">
                <a:extLst>
                  <a:ext uri="{FF2B5EF4-FFF2-40B4-BE49-F238E27FC236}">
                    <a16:creationId xmlns:a16="http://schemas.microsoft.com/office/drawing/2014/main" id="{D3D2AA07-C9A3-4ECD-92B9-933AA657A7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7194" y="4584456"/>
                <a:ext cx="1288110" cy="305340"/>
              </a:xfrm>
              <a:prstGeom prst="rect">
                <a:avLst/>
              </a:prstGeom>
              <a:blipFill>
                <a:blip r:embed="rId4"/>
                <a:stretch>
                  <a:fillRect l="-4265" t="-14000" r="-18009" b="-22000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23" name="G4e_prev"/>
              <p:cNvSpPr txBox="1"/>
              <p:nvPr/>
            </p:nvSpPr>
            <p:spPr>
              <a:xfrm>
                <a:off x="78862" y="5184987"/>
                <a:ext cx="4206240" cy="1508760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849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317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089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682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756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077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302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203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357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924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964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369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084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657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891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328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708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088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342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037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294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044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014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289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396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010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326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005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129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279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059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739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123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682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320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890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/>
              </a:p>
            </p:txBody>
          </p:sp>
        </mc:Choice>
        <mc:Fallback xmlns="">
          <p:sp>
            <p:nvSpPr>
              <p:cNvPr id="5523" name="G4e_prev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862" y="5184987"/>
                <a:ext cx="4206240" cy="15087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51" name="G4e_pres"/>
              <p:cNvSpPr txBox="1"/>
              <p:nvPr/>
            </p:nvSpPr>
            <p:spPr>
              <a:xfrm>
                <a:off x="6690313" y="5138454"/>
                <a:ext cx="4114800" cy="1508760"/>
              </a:xfrm>
              <a:prstGeom prst="rect">
                <a:avLst/>
              </a:prstGeom>
              <a:noFill/>
            </p:spPr>
            <p:txBody>
              <a:bodyPr wrap="square" rtlCol="0">
                <a:norm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["/>
                          <m:endChr m:val="]"/>
                          <m:ctrlPr>
                            <a:rPr lang="en-US" altLang="zh-TW" sz="1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6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TW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057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914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936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609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670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080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311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110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458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515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069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842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616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990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935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670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900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006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455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164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258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504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062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012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456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104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460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241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140</m:t>
                                </m:r>
                              </m:e>
                            </m:mr>
                            <m:mr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840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611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930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611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984</m:t>
                                </m:r>
                              </m:e>
                              <m:e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.</m:t>
                                </m:r>
                                <m:r>
                                  <a:rPr lang="en-US" altLang="zh-TW" sz="1200" b="0" i="1" smtClean="0">
                                    <a:latin typeface="Cambria Math" panose="02040503050406030204" pitchFamily="18" charset="0"/>
                                  </a:rPr>
                                  <m:t>001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dirty="0"/>
              </a:p>
            </p:txBody>
          </p:sp>
        </mc:Choice>
        <mc:Fallback xmlns="">
          <p:sp>
            <p:nvSpPr>
              <p:cNvPr id="2251" name="G4e_pres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0313" y="5138454"/>
                <a:ext cx="4114800" cy="15087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02749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AB10DA-A91D-4199-A02D-A9EC40C222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2170"/>
            <a:ext cx="10515600" cy="603778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Hall sensor base model</a:t>
            </a:r>
            <a:endParaRPr lang="zh-TW" altLang="en-US" dirty="0"/>
          </a:p>
        </p:txBody>
      </p:sp>
      <p:grpSp>
        <p:nvGrpSpPr>
          <p:cNvPr id="17" name="群組 16">
            <a:extLst>
              <a:ext uri="{FF2B5EF4-FFF2-40B4-BE49-F238E27FC236}">
                <a16:creationId xmlns:a16="http://schemas.microsoft.com/office/drawing/2014/main" id="{1CFE449E-ADAD-4F09-9364-D3AFDC11F0DC}"/>
              </a:ext>
            </a:extLst>
          </p:cNvPr>
          <p:cNvGrpSpPr/>
          <p:nvPr/>
        </p:nvGrpSpPr>
        <p:grpSpPr>
          <a:xfrm>
            <a:off x="771022" y="3295172"/>
            <a:ext cx="2509106" cy="2483424"/>
            <a:chOff x="8726467" y="670649"/>
            <a:chExt cx="3279266" cy="3175144"/>
          </a:xfrm>
        </p:grpSpPr>
        <p:pic>
          <p:nvPicPr>
            <p:cNvPr id="16" name="圖片 15">
              <a:extLst>
                <a:ext uri="{FF2B5EF4-FFF2-40B4-BE49-F238E27FC236}">
                  <a16:creationId xmlns:a16="http://schemas.microsoft.com/office/drawing/2014/main" id="{2EA22BCF-0B28-4A44-A0C2-063C7F1B20E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905" b="5359"/>
            <a:stretch/>
          </p:blipFill>
          <p:spPr>
            <a:xfrm>
              <a:off x="9128715" y="670649"/>
              <a:ext cx="2877018" cy="2833495"/>
            </a:xfrm>
            <a:prstGeom prst="rect">
              <a:avLst/>
            </a:prstGeom>
          </p:spPr>
        </p:pic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A41733BE-19DB-45AB-9EEF-9F90FA4475A2}"/>
                </a:ext>
              </a:extLst>
            </p:cNvPr>
            <p:cNvGrpSpPr/>
            <p:nvPr/>
          </p:nvGrpSpPr>
          <p:grpSpPr>
            <a:xfrm>
              <a:off x="8726467" y="812320"/>
              <a:ext cx="3155536" cy="3033473"/>
              <a:chOff x="8726467" y="629227"/>
              <a:chExt cx="3155536" cy="3033473"/>
            </a:xfrm>
          </p:grpSpPr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1" name="文字方塊 10">
                    <a:extLst>
                      <a:ext uri="{FF2B5EF4-FFF2-40B4-BE49-F238E27FC236}">
                        <a16:creationId xmlns:a16="http://schemas.microsoft.com/office/drawing/2014/main" id="{6A3BEC4F-C18F-4C99-A40E-538375A59843}"/>
                      </a:ext>
                    </a:extLst>
                  </p:cNvPr>
                  <p:cNvSpPr txBox="1"/>
                  <p:nvPr/>
                </p:nvSpPr>
                <p:spPr>
                  <a:xfrm>
                    <a:off x="9499619" y="3269196"/>
                    <a:ext cx="2382384" cy="393504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Modeling error </a:t>
                    </a:r>
                    <a14:m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𝑚𝑇</m:t>
                        </m:r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1" name="文字方塊 10">
                    <a:extLst>
                      <a:ext uri="{FF2B5EF4-FFF2-40B4-BE49-F238E27FC236}">
                        <a16:creationId xmlns:a16="http://schemas.microsoft.com/office/drawing/2014/main" id="{6A3BEC4F-C18F-4C99-A40E-538375A598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499619" y="3269196"/>
                    <a:ext cx="2382384" cy="393504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1003" t="-6000" b="-18000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文字方塊 11">
                    <a:extLst>
                      <a:ext uri="{FF2B5EF4-FFF2-40B4-BE49-F238E27FC236}">
                        <a16:creationId xmlns:a16="http://schemas.microsoft.com/office/drawing/2014/main" id="{A411747B-5298-4F51-AD79-F2E0B8168037}"/>
                      </a:ext>
                    </a:extLst>
                  </p:cNvPr>
                  <p:cNvSpPr txBox="1"/>
                  <p:nvPr/>
                </p:nvSpPr>
                <p:spPr>
                  <a:xfrm rot="16200000">
                    <a:off x="7739892" y="1615802"/>
                    <a:ext cx="2375398" cy="40224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altLang="zh-TW" sz="140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a:t>Percentage count </a:t>
                    </a:r>
                    <a14:m>
                      <m:oMath xmlns:m="http://schemas.openxmlformats.org/officeDocument/2006/math">
                        <m:r>
                          <a:rPr lang="en-US" altLang="zh-TW" sz="1400" b="0" i="1" smtClean="0">
                            <a:latin typeface="Cambria Math" panose="02040503050406030204" pitchFamily="18" charset="0"/>
                          </a:rPr>
                          <m:t>(%)</m:t>
                        </m:r>
                      </m:oMath>
                    </a14:m>
                    <a:endParaRPr lang="zh-TW" altLang="en-US" sz="1400" dirty="0"/>
                  </a:p>
                </p:txBody>
              </p:sp>
            </mc:Choice>
            <mc:Fallback xmlns="">
              <p:sp>
                <p:nvSpPr>
                  <p:cNvPr id="12" name="文字方塊 11">
                    <a:extLst>
                      <a:ext uri="{FF2B5EF4-FFF2-40B4-BE49-F238E27FC236}">
                        <a16:creationId xmlns:a16="http://schemas.microsoft.com/office/drawing/2014/main" id="{A411747B-5298-4F51-AD79-F2E0B816803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 rot="16200000">
                    <a:off x="7739892" y="1615802"/>
                    <a:ext cx="2375398" cy="402248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5882" r="-17647" b="-984"/>
                    </a:stretch>
                  </a:blipFill>
                </p:spPr>
                <p:txBody>
                  <a:bodyPr/>
                  <a:lstStyle/>
                  <a:p>
                    <a:r>
                      <a:rPr lang="zh-TW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3" name="文字方塊 2">
            <a:extLst>
              <a:ext uri="{FF2B5EF4-FFF2-40B4-BE49-F238E27FC236}">
                <a16:creationId xmlns:a16="http://schemas.microsoft.com/office/drawing/2014/main" id="{FB4B1782-CD30-4068-A981-AC2BFCC56865}"/>
              </a:ext>
            </a:extLst>
          </p:cNvPr>
          <p:cNvSpPr txBox="1"/>
          <p:nvPr/>
        </p:nvSpPr>
        <p:spPr>
          <a:xfrm>
            <a:off x="821266" y="3059668"/>
            <a:ext cx="3285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Single parameters</a:t>
            </a:r>
            <a:endParaRPr lang="zh-TW" altLang="en-US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F2EB2272-0631-48AD-A4FA-A9E8B65D5506}"/>
              </a:ext>
            </a:extLst>
          </p:cNvPr>
          <p:cNvSpPr txBox="1"/>
          <p:nvPr/>
        </p:nvSpPr>
        <p:spPr>
          <a:xfrm>
            <a:off x="7349067" y="2993574"/>
            <a:ext cx="32850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TW" dirty="0"/>
              <a:t>Eighteen parameters</a:t>
            </a:r>
            <a:endParaRPr lang="zh-TW" altLang="en-US" dirty="0"/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708F4A95-B61C-4573-9A70-90F601FAFA33}"/>
              </a:ext>
            </a:extLst>
          </p:cNvPr>
          <p:cNvGrpSpPr/>
          <p:nvPr/>
        </p:nvGrpSpPr>
        <p:grpSpPr>
          <a:xfrm>
            <a:off x="7559209" y="3362906"/>
            <a:ext cx="2461094" cy="2547063"/>
            <a:chOff x="6158055" y="1388533"/>
            <a:chExt cx="3633648" cy="3706222"/>
          </a:xfrm>
        </p:grpSpPr>
        <p:pic>
          <p:nvPicPr>
            <p:cNvPr id="9" name="圖片 8">
              <a:extLst>
                <a:ext uri="{FF2B5EF4-FFF2-40B4-BE49-F238E27FC236}">
                  <a16:creationId xmlns:a16="http://schemas.microsoft.com/office/drawing/2014/main" id="{A83F566E-60DE-4DE3-87C2-C849646018E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7284" b="5532"/>
            <a:stretch/>
          </p:blipFill>
          <p:spPr>
            <a:xfrm>
              <a:off x="6612468" y="1388533"/>
              <a:ext cx="3179235" cy="3239311"/>
            </a:xfrm>
            <a:prstGeom prst="rect">
              <a:avLst/>
            </a:prstGeom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AF4E8B2E-DC2C-40EE-B956-FE3F049F0740}"/>
                    </a:ext>
                  </a:extLst>
                </p:cNvPr>
                <p:cNvSpPr txBox="1"/>
                <p:nvPr/>
              </p:nvSpPr>
              <p:spPr>
                <a:xfrm>
                  <a:off x="6843674" y="4627844"/>
                  <a:ext cx="2716821" cy="466911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Modeling error </a:t>
                  </a:r>
                  <a14:m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𝑚𝑇</m:t>
                      </m:r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endParaRPr lang="zh-TW" altLang="en-US" sz="1400" dirty="0"/>
                </a:p>
              </p:txBody>
            </p:sp>
          </mc:Choice>
          <mc:Fallback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AF4E8B2E-DC2C-40EE-B956-FE3F049F074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43674" y="4627844"/>
                  <a:ext cx="2716821" cy="466911"/>
                </a:xfrm>
                <a:prstGeom prst="rect">
                  <a:avLst/>
                </a:prstGeom>
                <a:blipFill>
                  <a:blip r:embed="rId6"/>
                  <a:stretch>
                    <a:fillRect l="-993" t="-5769" b="-13462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F301D91B-CD7F-45E8-8449-41E93E0658C7}"/>
                    </a:ext>
                  </a:extLst>
                </p:cNvPr>
                <p:cNvSpPr txBox="1"/>
                <p:nvPr/>
              </p:nvSpPr>
              <p:spPr>
                <a:xfrm rot="16200000">
                  <a:off x="4981584" y="2575717"/>
                  <a:ext cx="2807355" cy="454413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TW" sz="1400" b="0" dirty="0"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Percentage count </a:t>
                  </a:r>
                  <a14:m>
                    <m:oMath xmlns:m="http://schemas.openxmlformats.org/officeDocument/2006/math">
                      <m:r>
                        <a:rPr lang="en-US" altLang="zh-TW" sz="1400" b="0" i="1" smtClean="0">
                          <a:latin typeface="Cambria Math" panose="02040503050406030204" pitchFamily="18" charset="0"/>
                        </a:rPr>
                        <m:t>(%)</m:t>
                      </m:r>
                    </m:oMath>
                  </a14:m>
                  <a:endParaRPr lang="zh-TW" altLang="en-US" sz="1400" dirty="0"/>
                </a:p>
              </p:txBody>
            </p:sp>
          </mc:Choice>
          <mc:Fallback xmlns="">
            <p:sp>
              <p:nvSpPr>
                <p:cNvPr id="19" name="文字方塊 18">
                  <a:extLst>
                    <a:ext uri="{FF2B5EF4-FFF2-40B4-BE49-F238E27FC236}">
                      <a16:creationId xmlns:a16="http://schemas.microsoft.com/office/drawing/2014/main" id="{F301D91B-CD7F-45E8-8449-41E93E0658C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6200000">
                  <a:off x="4981584" y="2575717"/>
                  <a:ext cx="2807355" cy="454413"/>
                </a:xfrm>
                <a:prstGeom prst="rect">
                  <a:avLst/>
                </a:prstGeom>
                <a:blipFill>
                  <a:blip r:embed="rId7"/>
                  <a:stretch>
                    <a:fillRect l="-5882" r="-17647" b="-949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aphicFrame>
        <p:nvGraphicFramePr>
          <p:cNvPr id="4" name="表格 4">
            <a:extLst>
              <a:ext uri="{FF2B5EF4-FFF2-40B4-BE49-F238E27FC236}">
                <a16:creationId xmlns:a16="http://schemas.microsoft.com/office/drawing/2014/main" id="{2878DF5D-5659-4342-A468-69548DDD97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798302"/>
              </p:ext>
            </p:extLst>
          </p:nvPr>
        </p:nvGraphicFramePr>
        <p:xfrm>
          <a:off x="85391" y="5914179"/>
          <a:ext cx="447886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2956">
                  <a:extLst>
                    <a:ext uri="{9D8B030D-6E8A-4147-A177-3AD203B41FA5}">
                      <a16:colId xmlns:a16="http://schemas.microsoft.com/office/drawing/2014/main" val="2799832568"/>
                    </a:ext>
                  </a:extLst>
                </a:gridCol>
                <a:gridCol w="1492956">
                  <a:extLst>
                    <a:ext uri="{9D8B030D-6E8A-4147-A177-3AD203B41FA5}">
                      <a16:colId xmlns:a16="http://schemas.microsoft.com/office/drawing/2014/main" val="106933971"/>
                    </a:ext>
                  </a:extLst>
                </a:gridCol>
                <a:gridCol w="1492956">
                  <a:extLst>
                    <a:ext uri="{9D8B030D-6E8A-4147-A177-3AD203B41FA5}">
                      <a16:colId xmlns:a16="http://schemas.microsoft.com/office/drawing/2014/main" val="3345444402"/>
                    </a:ext>
                  </a:extLst>
                </a:gridCol>
              </a:tblGrid>
              <a:tr h="30189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Previous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Presently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208479"/>
                  </a:ext>
                </a:extLst>
              </a:tr>
              <a:tr h="3018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NMAE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17.74%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2.81%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100120"/>
                  </a:ext>
                </a:extLst>
              </a:tr>
            </a:tbl>
          </a:graphicData>
        </a:graphic>
      </p:graphicFrame>
      <p:graphicFrame>
        <p:nvGraphicFramePr>
          <p:cNvPr id="15" name="表格 4">
            <a:extLst>
              <a:ext uri="{FF2B5EF4-FFF2-40B4-BE49-F238E27FC236}">
                <a16:creationId xmlns:a16="http://schemas.microsoft.com/office/drawing/2014/main" id="{7EA498F6-C894-4F1F-9B4B-A7A33AAC87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93681"/>
              </p:ext>
            </p:extLst>
          </p:nvPr>
        </p:nvGraphicFramePr>
        <p:xfrm>
          <a:off x="6578599" y="5914179"/>
          <a:ext cx="4478868" cy="731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492956">
                  <a:extLst>
                    <a:ext uri="{9D8B030D-6E8A-4147-A177-3AD203B41FA5}">
                      <a16:colId xmlns:a16="http://schemas.microsoft.com/office/drawing/2014/main" val="2799832568"/>
                    </a:ext>
                  </a:extLst>
                </a:gridCol>
                <a:gridCol w="1492956">
                  <a:extLst>
                    <a:ext uri="{9D8B030D-6E8A-4147-A177-3AD203B41FA5}">
                      <a16:colId xmlns:a16="http://schemas.microsoft.com/office/drawing/2014/main" val="106933971"/>
                    </a:ext>
                  </a:extLst>
                </a:gridCol>
                <a:gridCol w="1492956">
                  <a:extLst>
                    <a:ext uri="{9D8B030D-6E8A-4147-A177-3AD203B41FA5}">
                      <a16:colId xmlns:a16="http://schemas.microsoft.com/office/drawing/2014/main" val="3345444402"/>
                    </a:ext>
                  </a:extLst>
                </a:gridCol>
              </a:tblGrid>
              <a:tr h="30189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lnTlToB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lToB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Previous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Presently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24208479"/>
                  </a:ext>
                </a:extLst>
              </a:tr>
              <a:tr h="301890"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NMAE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24.57%</a:t>
                      </a:r>
                      <a:endParaRPr lang="zh-TW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dirty="0"/>
                        <a:t>0.35%</a:t>
                      </a:r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100120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192EF81-EA89-4694-BBDE-1EBD9A313297}"/>
                  </a:ext>
                </a:extLst>
              </p:cNvPr>
              <p:cNvSpPr txBox="1"/>
              <p:nvPr/>
            </p:nvSpPr>
            <p:spPr>
              <a:xfrm>
                <a:off x="85391" y="615948"/>
                <a:ext cx="11784876" cy="176856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This slide compares the residual distributions of the two models over all 1771 nodes within R ≤ 150 µm and all six excitations, 10626 values (blue = Presently, red = Previous, common 2.8 µT bin)</a:t>
                </a:r>
              </a:p>
              <a:p>
                <a:pPr marL="285750" indent="-285750">
                  <a:buFont typeface="Wingdings" panose="05000000000000000000" pitchFamily="2" charset="2"/>
                  <a:buChar char="Ø"/>
                </a:pPr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With eighteen parameters the present model's residual collapses to a sharp peak at zero, whereas the previous model gets worse, Both voltage models inherit the same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ℓ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zh-TW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</m:acc>
                  </m:oMath>
                </a14:m>
                <a:r>
                  <a:rPr lang="en-US" altLang="zh-TW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 The present voltage model reproduces the current model’s charges, so the offsets fit as they are. The charges of the previous model are already the wrong physical quantity; the offsets were tuned to the original charges, so once the charges change the position corrections no longer match two errors that add up.</a:t>
                </a:r>
                <a:endParaRPr lang="zh-TW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5" name="文字方塊 4">
                <a:extLst>
                  <a:ext uri="{FF2B5EF4-FFF2-40B4-BE49-F238E27FC236}">
                    <a16:creationId xmlns:a16="http://schemas.microsoft.com/office/drawing/2014/main" id="{E192EF81-EA89-4694-BBDE-1EBD9A313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391" y="615948"/>
                <a:ext cx="11784876" cy="1768561"/>
              </a:xfrm>
              <a:prstGeom prst="rect">
                <a:avLst/>
              </a:prstGeom>
              <a:blipFill>
                <a:blip r:embed="rId8"/>
                <a:stretch>
                  <a:fillRect l="-310" t="-1724" r="-879" b="-482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73893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2481</TotalTime>
  <Words>780</Words>
  <Application>Microsoft Office PowerPoint</Application>
  <PresentationFormat>寬螢幕</PresentationFormat>
  <Paragraphs>71</Paragraphs>
  <Slides>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</vt:i4>
      </vt:variant>
    </vt:vector>
  </HeadingPairs>
  <TitlesOfParts>
    <vt:vector size="13" baseType="lpstr">
      <vt:lpstr>Arial</vt:lpstr>
      <vt:lpstr>Calibri</vt:lpstr>
      <vt:lpstr>Calibri Light</vt:lpstr>
      <vt:lpstr>Cambria Math</vt:lpstr>
      <vt:lpstr>Times New Roman</vt:lpstr>
      <vt:lpstr>Wingdings</vt:lpstr>
      <vt:lpstr>Office 佈景主題</vt:lpstr>
      <vt:lpstr>Hall sensor base model</vt:lpstr>
      <vt:lpstr>Hall sensor base model</vt:lpstr>
      <vt:lpstr>Hall sensor base model</vt:lpstr>
      <vt:lpstr>Hall sensor base model</vt:lpstr>
      <vt:lpstr>Hall sensor base model</vt:lpstr>
      <vt:lpstr>Hall sensor base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Hall sensor base model</dc:title>
  <dc:creator>郭建棋</dc:creator>
  <cp:lastModifiedBy>郭建棋</cp:lastModifiedBy>
  <cp:revision>28</cp:revision>
  <dcterms:created xsi:type="dcterms:W3CDTF">2026-09-04T12:55:30Z</dcterms:created>
  <dcterms:modified xsi:type="dcterms:W3CDTF">2026-09-06T07:09:09Z</dcterms:modified>
</cp:coreProperties>
</file>