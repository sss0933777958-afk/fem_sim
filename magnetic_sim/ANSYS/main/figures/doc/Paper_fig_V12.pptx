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0" r:id="rId3"/>
    <p:sldId id="287" r:id="rId4"/>
    <p:sldId id="316" r:id="rId5"/>
    <p:sldId id="285" r:id="rId6"/>
    <p:sldId id="312" r:id="rId7"/>
    <p:sldId id="321" r:id="rId8"/>
    <p:sldId id="269" r:id="rId9"/>
    <p:sldId id="325" r:id="rId10"/>
    <p:sldId id="290" r:id="rId11"/>
    <p:sldId id="272" r:id="rId12"/>
    <p:sldId id="291" r:id="rId13"/>
    <p:sldId id="313" r:id="rId14"/>
    <p:sldId id="273" r:id="rId15"/>
    <p:sldId id="322" r:id="rId16"/>
    <p:sldId id="293" r:id="rId17"/>
    <p:sldId id="294" r:id="rId18"/>
    <p:sldId id="296" r:id="rId19"/>
    <p:sldId id="323" r:id="rId20"/>
    <p:sldId id="324" r:id="rId21"/>
    <p:sldId id="297" r:id="rId22"/>
    <p:sldId id="300" r:id="rId23"/>
    <p:sldId id="301" r:id="rId24"/>
    <p:sldId id="302" r:id="rId25"/>
    <p:sldId id="304" r:id="rId26"/>
    <p:sldId id="305" r:id="rId27"/>
    <p:sldId id="307" r:id="rId28"/>
    <p:sldId id="326" r:id="rId29"/>
    <p:sldId id="327" r:id="rId30"/>
    <p:sldId id="328" r:id="rId31"/>
    <p:sldId id="329" r:id="rId32"/>
    <p:sldId id="292" r:id="rId33"/>
    <p:sldId id="330" r:id="rId34"/>
    <p:sldId id="332" r:id="rId35"/>
    <p:sldId id="331" r:id="rId36"/>
    <p:sldId id="317" r:id="rId37"/>
    <p:sldId id="309" r:id="rId38"/>
    <p:sldId id="318" r:id="rId39"/>
    <p:sldId id="319" r:id="rId4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313B5C-4451-4F85-8E22-4F6D3011212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38C9657-D53F-4E4F-9171-BAB7C00D9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CB1CB1F-3023-4059-8D9C-CF5C75B6AF97}"/>
              </a:ext>
            </a:extLst>
          </p:cNvPr>
          <p:cNvSpPr>
            <a:spLocks noGrp="1"/>
          </p:cNvSpPr>
          <p:nvPr>
            <p:ph type="dt" sz="half" idx="10"/>
          </p:nvPr>
        </p:nvSpPr>
        <p:spPr/>
        <p:txBody>
          <a:bodyPr/>
          <a:lstStyle/>
          <a:p>
            <a:fld id="{16D42070-5DAD-4E7E-A6F8-25E560BC7BBC}" type="datetimeFigureOut">
              <a:rPr lang="zh-TW" altLang="en-US" smtClean="0"/>
              <a:t>2026/8/29</a:t>
            </a:fld>
            <a:endParaRPr lang="zh-TW" altLang="en-US"/>
          </a:p>
        </p:txBody>
      </p:sp>
      <p:sp>
        <p:nvSpPr>
          <p:cNvPr id="5" name="頁尾版面配置區 4">
            <a:extLst>
              <a:ext uri="{FF2B5EF4-FFF2-40B4-BE49-F238E27FC236}">
                <a16:creationId xmlns:a16="http://schemas.microsoft.com/office/drawing/2014/main" id="{88FDADB6-4903-41BB-BC87-020BA3FBD9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FCEFEA-DE84-42FC-BE56-10A71321A99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0470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8524EB-4587-44AF-A65F-8CBAAF65D91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2C5D94-2521-44B1-AF19-188FFBBD19C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5882776-4508-4BB4-B95B-94CABBBA1DAA}"/>
              </a:ext>
            </a:extLst>
          </p:cNvPr>
          <p:cNvSpPr>
            <a:spLocks noGrp="1"/>
          </p:cNvSpPr>
          <p:nvPr>
            <p:ph type="dt" sz="half" idx="10"/>
          </p:nvPr>
        </p:nvSpPr>
        <p:spPr/>
        <p:txBody>
          <a:bodyPr/>
          <a:lstStyle/>
          <a:p>
            <a:fld id="{16D42070-5DAD-4E7E-A6F8-25E560BC7BBC}" type="datetimeFigureOut">
              <a:rPr lang="zh-TW" altLang="en-US" smtClean="0"/>
              <a:t>2026/8/29</a:t>
            </a:fld>
            <a:endParaRPr lang="zh-TW" altLang="en-US"/>
          </a:p>
        </p:txBody>
      </p:sp>
      <p:sp>
        <p:nvSpPr>
          <p:cNvPr id="5" name="頁尾版面配置區 4">
            <a:extLst>
              <a:ext uri="{FF2B5EF4-FFF2-40B4-BE49-F238E27FC236}">
                <a16:creationId xmlns:a16="http://schemas.microsoft.com/office/drawing/2014/main" id="{180C8587-132A-4FA1-AC7D-93EABEB037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ABA0DE-C7B2-4848-95AC-5A3E7CA5644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099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3930A-494A-46F3-88CB-96081BB0DBF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478FD7A-7A96-43E2-8961-E0DB15C17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006FC20-C1D3-46B0-BF1E-03D546043D36}"/>
              </a:ext>
            </a:extLst>
          </p:cNvPr>
          <p:cNvSpPr>
            <a:spLocks noGrp="1"/>
          </p:cNvSpPr>
          <p:nvPr>
            <p:ph type="dt" sz="half" idx="10"/>
          </p:nvPr>
        </p:nvSpPr>
        <p:spPr/>
        <p:txBody>
          <a:bodyPr/>
          <a:lstStyle/>
          <a:p>
            <a:fld id="{16D42070-5DAD-4E7E-A6F8-25E560BC7BBC}" type="datetimeFigureOut">
              <a:rPr lang="zh-TW" altLang="en-US" smtClean="0"/>
              <a:t>2026/8/29</a:t>
            </a:fld>
            <a:endParaRPr lang="zh-TW" altLang="en-US"/>
          </a:p>
        </p:txBody>
      </p:sp>
      <p:sp>
        <p:nvSpPr>
          <p:cNvPr id="5" name="頁尾版面配置區 4">
            <a:extLst>
              <a:ext uri="{FF2B5EF4-FFF2-40B4-BE49-F238E27FC236}">
                <a16:creationId xmlns:a16="http://schemas.microsoft.com/office/drawing/2014/main" id="{C4F6D392-6F8A-4414-AA11-638326A9F3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7B8EB7-22A4-447A-A525-998FA4AEC1F4}"/>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81572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32D765-AEAD-45D9-9508-FB7BE0E0289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2A380E-4D39-4CB1-A9B1-CAAAABD809C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4303AA3-878B-45F8-A4E8-92FA10CD26B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9C1F139-09FB-4A94-AA83-54F2B93E6A60}"/>
              </a:ext>
            </a:extLst>
          </p:cNvPr>
          <p:cNvSpPr>
            <a:spLocks noGrp="1"/>
          </p:cNvSpPr>
          <p:nvPr>
            <p:ph type="dt" sz="half" idx="10"/>
          </p:nvPr>
        </p:nvSpPr>
        <p:spPr/>
        <p:txBody>
          <a:bodyPr/>
          <a:lstStyle/>
          <a:p>
            <a:fld id="{16D42070-5DAD-4E7E-A6F8-25E560BC7BBC}" type="datetimeFigureOut">
              <a:rPr lang="zh-TW" altLang="en-US" smtClean="0"/>
              <a:t>2026/8/29</a:t>
            </a:fld>
            <a:endParaRPr lang="zh-TW" altLang="en-US"/>
          </a:p>
        </p:txBody>
      </p:sp>
      <p:sp>
        <p:nvSpPr>
          <p:cNvPr id="6" name="頁尾版面配置區 5">
            <a:extLst>
              <a:ext uri="{FF2B5EF4-FFF2-40B4-BE49-F238E27FC236}">
                <a16:creationId xmlns:a16="http://schemas.microsoft.com/office/drawing/2014/main" id="{D42CB685-F91E-4E52-9043-88820ECAF73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47ED7B-0BBB-48C6-8CBE-10F473361AD8}"/>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86347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28D6F7-2A01-404A-8E60-308B5B2DF66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34BC229-0964-4EB2-A32F-3BE569B115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BDD00DB-A2AC-4093-9580-16DB7A5856B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98E98D9-1B64-42E0-BF51-3948B6593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1B0C13F-E177-4192-B9A6-DEC49612F692}"/>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F99ADD-F054-4E54-9158-162DB547028A}"/>
              </a:ext>
            </a:extLst>
          </p:cNvPr>
          <p:cNvSpPr>
            <a:spLocks noGrp="1"/>
          </p:cNvSpPr>
          <p:nvPr>
            <p:ph type="dt" sz="half" idx="10"/>
          </p:nvPr>
        </p:nvSpPr>
        <p:spPr/>
        <p:txBody>
          <a:bodyPr/>
          <a:lstStyle/>
          <a:p>
            <a:fld id="{16D42070-5DAD-4E7E-A6F8-25E560BC7BBC}" type="datetimeFigureOut">
              <a:rPr lang="zh-TW" altLang="en-US" smtClean="0"/>
              <a:t>2026/8/29</a:t>
            </a:fld>
            <a:endParaRPr lang="zh-TW" altLang="en-US"/>
          </a:p>
        </p:txBody>
      </p:sp>
      <p:sp>
        <p:nvSpPr>
          <p:cNvPr id="8" name="頁尾版面配置區 7">
            <a:extLst>
              <a:ext uri="{FF2B5EF4-FFF2-40B4-BE49-F238E27FC236}">
                <a16:creationId xmlns:a16="http://schemas.microsoft.com/office/drawing/2014/main" id="{56242129-DAAA-4FB1-8D26-7248AD72CF9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FDDDDE1-FD8E-4032-A6CC-B2F72DA857B5}"/>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8570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A7E1C2-942A-47E2-9A00-0B52E276B5C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FEC29EA-2303-41C4-8179-5DF5AC137E66}"/>
              </a:ext>
            </a:extLst>
          </p:cNvPr>
          <p:cNvSpPr>
            <a:spLocks noGrp="1"/>
          </p:cNvSpPr>
          <p:nvPr>
            <p:ph type="dt" sz="half" idx="10"/>
          </p:nvPr>
        </p:nvSpPr>
        <p:spPr/>
        <p:txBody>
          <a:bodyPr/>
          <a:lstStyle/>
          <a:p>
            <a:fld id="{16D42070-5DAD-4E7E-A6F8-25E560BC7BBC}" type="datetimeFigureOut">
              <a:rPr lang="zh-TW" altLang="en-US" smtClean="0"/>
              <a:t>2026/8/29</a:t>
            </a:fld>
            <a:endParaRPr lang="zh-TW" altLang="en-US"/>
          </a:p>
        </p:txBody>
      </p:sp>
      <p:sp>
        <p:nvSpPr>
          <p:cNvPr id="4" name="頁尾版面配置區 3">
            <a:extLst>
              <a:ext uri="{FF2B5EF4-FFF2-40B4-BE49-F238E27FC236}">
                <a16:creationId xmlns:a16="http://schemas.microsoft.com/office/drawing/2014/main" id="{3A7E344C-546C-4B5B-948D-F248F196BFE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B0CE009-148B-41C4-9070-05067E45A9DE}"/>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67784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4434E9-DB57-4C91-A8E8-AA7E4DE1E42C}"/>
              </a:ext>
            </a:extLst>
          </p:cNvPr>
          <p:cNvSpPr>
            <a:spLocks noGrp="1"/>
          </p:cNvSpPr>
          <p:nvPr>
            <p:ph type="dt" sz="half" idx="10"/>
          </p:nvPr>
        </p:nvSpPr>
        <p:spPr/>
        <p:txBody>
          <a:bodyPr/>
          <a:lstStyle/>
          <a:p>
            <a:fld id="{16D42070-5DAD-4E7E-A6F8-25E560BC7BBC}" type="datetimeFigureOut">
              <a:rPr lang="zh-TW" altLang="en-US" smtClean="0"/>
              <a:t>2026/8/29</a:t>
            </a:fld>
            <a:endParaRPr lang="zh-TW" altLang="en-US"/>
          </a:p>
        </p:txBody>
      </p:sp>
      <p:sp>
        <p:nvSpPr>
          <p:cNvPr id="3" name="頁尾版面配置區 2">
            <a:extLst>
              <a:ext uri="{FF2B5EF4-FFF2-40B4-BE49-F238E27FC236}">
                <a16:creationId xmlns:a16="http://schemas.microsoft.com/office/drawing/2014/main" id="{43CBD5B2-A875-4997-957A-2CACB4E818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DAE9AF9-98E2-49BC-890E-C4901C5C96D7}"/>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8447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7F9702-2F89-4C07-A091-A864CF9277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B9A033B-67CA-4692-9F96-92929D8AB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A61FCE-0216-475F-8DCF-C058715F4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370C5D-745A-4EAE-A151-2541003A35B9}"/>
              </a:ext>
            </a:extLst>
          </p:cNvPr>
          <p:cNvSpPr>
            <a:spLocks noGrp="1"/>
          </p:cNvSpPr>
          <p:nvPr>
            <p:ph type="dt" sz="half" idx="10"/>
          </p:nvPr>
        </p:nvSpPr>
        <p:spPr/>
        <p:txBody>
          <a:bodyPr/>
          <a:lstStyle/>
          <a:p>
            <a:fld id="{16D42070-5DAD-4E7E-A6F8-25E560BC7BBC}" type="datetimeFigureOut">
              <a:rPr lang="zh-TW" altLang="en-US" smtClean="0"/>
              <a:t>2026/8/29</a:t>
            </a:fld>
            <a:endParaRPr lang="zh-TW" altLang="en-US"/>
          </a:p>
        </p:txBody>
      </p:sp>
      <p:sp>
        <p:nvSpPr>
          <p:cNvPr id="6" name="頁尾版面配置區 5">
            <a:extLst>
              <a:ext uri="{FF2B5EF4-FFF2-40B4-BE49-F238E27FC236}">
                <a16:creationId xmlns:a16="http://schemas.microsoft.com/office/drawing/2014/main" id="{706460B0-32D4-4AFB-8A7E-846482505E3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AD132A3-0D89-4417-A7DF-5A8A018E485A}"/>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51772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5306D-49B1-4801-B5D5-82BBCC509C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F20369-2E94-4C2E-B0A1-93ADA101D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AC760FC-4E62-42A9-8056-6EE8249B7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5BD4D67-FBFA-40B4-9C57-519B88B3EC42}"/>
              </a:ext>
            </a:extLst>
          </p:cNvPr>
          <p:cNvSpPr>
            <a:spLocks noGrp="1"/>
          </p:cNvSpPr>
          <p:nvPr>
            <p:ph type="dt" sz="half" idx="10"/>
          </p:nvPr>
        </p:nvSpPr>
        <p:spPr/>
        <p:txBody>
          <a:bodyPr/>
          <a:lstStyle/>
          <a:p>
            <a:fld id="{16D42070-5DAD-4E7E-A6F8-25E560BC7BBC}" type="datetimeFigureOut">
              <a:rPr lang="zh-TW" altLang="en-US" smtClean="0"/>
              <a:t>2026/8/29</a:t>
            </a:fld>
            <a:endParaRPr lang="zh-TW" altLang="en-US"/>
          </a:p>
        </p:txBody>
      </p:sp>
      <p:sp>
        <p:nvSpPr>
          <p:cNvPr id="6" name="頁尾版面配置區 5">
            <a:extLst>
              <a:ext uri="{FF2B5EF4-FFF2-40B4-BE49-F238E27FC236}">
                <a16:creationId xmlns:a16="http://schemas.microsoft.com/office/drawing/2014/main" id="{28A5B214-3FE3-41C8-BAAF-7E87C796FFF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F60CC2-E109-4719-875D-510BAD1DAF71}"/>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6151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58099F-549D-41D0-8656-FC0BCFF0AC8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026EBC-D2D7-4484-A574-A0FDADFD83E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955BDF0-F4E3-4A78-AC21-5996C7877466}"/>
              </a:ext>
            </a:extLst>
          </p:cNvPr>
          <p:cNvSpPr>
            <a:spLocks noGrp="1"/>
          </p:cNvSpPr>
          <p:nvPr>
            <p:ph type="dt" sz="half" idx="10"/>
          </p:nvPr>
        </p:nvSpPr>
        <p:spPr/>
        <p:txBody>
          <a:bodyPr/>
          <a:lstStyle/>
          <a:p>
            <a:fld id="{16D42070-5DAD-4E7E-A6F8-25E560BC7BBC}" type="datetimeFigureOut">
              <a:rPr lang="zh-TW" altLang="en-US" smtClean="0"/>
              <a:t>2026/8/29</a:t>
            </a:fld>
            <a:endParaRPr lang="zh-TW" altLang="en-US"/>
          </a:p>
        </p:txBody>
      </p:sp>
      <p:sp>
        <p:nvSpPr>
          <p:cNvPr id="5" name="頁尾版面配置區 4">
            <a:extLst>
              <a:ext uri="{FF2B5EF4-FFF2-40B4-BE49-F238E27FC236}">
                <a16:creationId xmlns:a16="http://schemas.microsoft.com/office/drawing/2014/main" id="{77A58278-9C37-44E9-A992-05A40C4C24B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F221A9-3DF2-4243-8312-6B441A40B45B}"/>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6398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07E2F2-53D7-4D47-8536-D902F65329D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EB11135-92E3-4798-9365-99DC4319D22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5D66D9F-EC40-4B77-81BD-B3B6ACD4C9DF}"/>
              </a:ext>
            </a:extLst>
          </p:cNvPr>
          <p:cNvSpPr>
            <a:spLocks noGrp="1"/>
          </p:cNvSpPr>
          <p:nvPr>
            <p:ph type="dt" sz="half" idx="10"/>
          </p:nvPr>
        </p:nvSpPr>
        <p:spPr/>
        <p:txBody>
          <a:bodyPr/>
          <a:lstStyle/>
          <a:p>
            <a:fld id="{16D42070-5DAD-4E7E-A6F8-25E560BC7BBC}" type="datetimeFigureOut">
              <a:rPr lang="zh-TW" altLang="en-US" smtClean="0"/>
              <a:t>2026/8/29</a:t>
            </a:fld>
            <a:endParaRPr lang="zh-TW" altLang="en-US"/>
          </a:p>
        </p:txBody>
      </p:sp>
      <p:sp>
        <p:nvSpPr>
          <p:cNvPr id="5" name="頁尾版面配置區 4">
            <a:extLst>
              <a:ext uri="{FF2B5EF4-FFF2-40B4-BE49-F238E27FC236}">
                <a16:creationId xmlns:a16="http://schemas.microsoft.com/office/drawing/2014/main" id="{328EDF41-8BB7-4F4D-866E-39DEF3CE57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909E83-6E85-417E-A5C0-394F0D780B89}"/>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6664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809FC75-802D-4B19-AFA4-8A8D60B43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EE7658D-1874-4965-86A1-F9DC152E3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D7FBAA-F52E-4E99-ABAC-AD4E8AA23C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D42070-5DAD-4E7E-A6F8-25E560BC7BBC}" type="datetimeFigureOut">
              <a:rPr lang="zh-TW" altLang="en-US" smtClean="0"/>
              <a:t>2026/8/29</a:t>
            </a:fld>
            <a:endParaRPr lang="zh-TW" altLang="en-US"/>
          </a:p>
        </p:txBody>
      </p:sp>
      <p:sp>
        <p:nvSpPr>
          <p:cNvPr id="5" name="頁尾版面配置區 4">
            <a:extLst>
              <a:ext uri="{FF2B5EF4-FFF2-40B4-BE49-F238E27FC236}">
                <a16:creationId xmlns:a16="http://schemas.microsoft.com/office/drawing/2014/main" id="{E5AA8CD1-761B-436C-81CD-04B671C31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47BE989-E3A2-4C5A-A4B2-D5729A6C5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3467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24.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10.png"/><Relationship Id="rId9" Type="http://schemas.openxmlformats.org/officeDocument/2006/relationships/image" Target="../media/image8.png"/><Relationship Id="rId1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1.png"/><Relationship Id="rId3" Type="http://schemas.openxmlformats.org/officeDocument/2006/relationships/image" Target="../media/image15.png"/><Relationship Id="rId7" Type="http://schemas.openxmlformats.org/officeDocument/2006/relationships/image" Target="../media/image7.png"/><Relationship Id="rId12" Type="http://schemas.openxmlformats.org/officeDocument/2006/relationships/image" Target="../media/image20.png"/><Relationship Id="rId2" Type="http://schemas.openxmlformats.org/officeDocument/2006/relationships/image" Target="../media/image911.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19.png"/><Relationship Id="rId5" Type="http://schemas.openxmlformats.org/officeDocument/2006/relationships/image" Target="../media/image125.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110.png"/><Relationship Id="rId9" Type="http://schemas.openxmlformats.org/officeDocument/2006/relationships/image" Target="../media/image152.png"/><Relationship Id="rId1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141.png"/><Relationship Id="rId7" Type="http://schemas.openxmlformats.org/officeDocument/2006/relationships/image" Target="../media/image170.png"/><Relationship Id="rId2" Type="http://schemas.openxmlformats.org/officeDocument/2006/relationships/image" Target="../media/image151.png"/><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171.png"/><Relationship Id="rId4" Type="http://schemas.openxmlformats.org/officeDocument/2006/relationships/image" Target="../media/image161.png"/></Relationships>
</file>

<file path=ppt/slides/_rels/slide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51.png"/><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image" Target="../media/image190.png"/><Relationship Id="rId4" Type="http://schemas.openxmlformats.org/officeDocument/2006/relationships/image" Target="../media/image181.png"/></Relationships>
</file>

<file path=ppt/slides/_rels/slide7.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image" Target="../media/image151.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1.png"/><Relationship Id="rId18" Type="http://schemas.openxmlformats.org/officeDocument/2006/relationships/image" Target="../media/image36.png"/><Relationship Id="rId3" Type="http://schemas.openxmlformats.org/officeDocument/2006/relationships/image" Target="../media/image211.png"/><Relationship Id="rId7" Type="http://schemas.openxmlformats.org/officeDocument/2006/relationships/image" Target="../media/image251.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image" Target="../media/image27.png"/><Relationship Id="rId16" Type="http://schemas.openxmlformats.org/officeDocument/2006/relationships/image" Target="../media/image34.png"/><Relationship Id="rId20"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241.png"/><Relationship Id="rId11" Type="http://schemas.openxmlformats.org/officeDocument/2006/relationships/image" Target="../media/image290.png"/><Relationship Id="rId5" Type="http://schemas.openxmlformats.org/officeDocument/2006/relationships/image" Target="../media/image28.png"/><Relationship Id="rId15" Type="http://schemas.openxmlformats.org/officeDocument/2006/relationships/image" Target="../media/image33.png"/><Relationship Id="rId10" Type="http://schemas.openxmlformats.org/officeDocument/2006/relationships/image" Target="../media/image280.png"/><Relationship Id="rId19" Type="http://schemas.openxmlformats.org/officeDocument/2006/relationships/image" Target="../media/image37.png"/><Relationship Id="rId4" Type="http://schemas.openxmlformats.org/officeDocument/2006/relationships/image" Target="../media/image221.png"/><Relationship Id="rId9" Type="http://schemas.openxmlformats.org/officeDocument/2006/relationships/image" Target="../media/image271.png"/><Relationship Id="rId14" Type="http://schemas.openxmlformats.org/officeDocument/2006/relationships/image" Target="../media/image32.png"/></Relationships>
</file>

<file path=ppt/slides/_rels/slide9.xml.rels><?xml version="1.0" encoding="UTF-8" standalone="yes"?>
<Relationships xmlns="http://schemas.openxmlformats.org/package/2006/relationships"><Relationship Id="rId13" Type="http://schemas.openxmlformats.org/officeDocument/2006/relationships/image" Target="../media/image44.png"/><Relationship Id="rId12" Type="http://schemas.openxmlformats.org/officeDocument/2006/relationships/image" Target="../media/image43.png"/><Relationship Id="rId2" Type="http://schemas.openxmlformats.org/officeDocument/2006/relationships/image" Target="../media/image39.png"/><Relationship Id="rId1" Type="http://schemas.openxmlformats.org/officeDocument/2006/relationships/slideLayout" Target="../slideLayouts/slideLayout2.xml"/><Relationship Id="rId11" Type="http://schemas.openxmlformats.org/officeDocument/2006/relationships/image" Target="../media/image42.png"/><Relationship Id="rId10" Type="http://schemas.openxmlformats.org/officeDocument/2006/relationships/image" Target="../media/image41.png"/><Relationship Id="rId9" Type="http://schemas.openxmlformats.org/officeDocument/2006/relationships/image" Target="../media/image40.png"/></Relationships>
</file>

<file path=ppt/slides/_rels/slide10.xml.rels><?xml version="1.0" encoding="UTF-8" standalone="yes"?>
<Relationships xmlns="http://schemas.openxmlformats.org/package/2006/relationships"><Relationship Id="rId3" Type="http://schemas.openxmlformats.org/officeDocument/2006/relationships/image" Target="../media/image321.png"/><Relationship Id="rId7" Type="http://schemas.openxmlformats.org/officeDocument/2006/relationships/image" Target="../media/image360.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351.png"/><Relationship Id="rId5" Type="http://schemas.openxmlformats.org/officeDocument/2006/relationships/image" Target="../media/image46.png"/><Relationship Id="rId4" Type="http://schemas.openxmlformats.org/officeDocument/2006/relationships/image" Target="../media/image330.png"/></Relationships>
</file>

<file path=ppt/slides/_rels/slide11.xml.rels><?xml version="1.0" encoding="UTF-8" standalone="yes"?>
<Relationships xmlns="http://schemas.openxmlformats.org/package/2006/relationships"><Relationship Id="rId8" Type="http://schemas.openxmlformats.org/officeDocument/2006/relationships/image" Target="../media/image400.png"/><Relationship Id="rId3" Type="http://schemas.openxmlformats.org/officeDocument/2006/relationships/image" Target="../media/image350.png"/><Relationship Id="rId7" Type="http://schemas.openxmlformats.org/officeDocument/2006/relationships/image" Target="../media/image390.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380.png"/><Relationship Id="rId11" Type="http://schemas.openxmlformats.org/officeDocument/2006/relationships/image" Target="../media/image430.png"/><Relationship Id="rId5" Type="http://schemas.openxmlformats.org/officeDocument/2006/relationships/image" Target="../media/image48.png"/><Relationship Id="rId10" Type="http://schemas.openxmlformats.org/officeDocument/2006/relationships/image" Target="../media/image50.png"/><Relationship Id="rId4" Type="http://schemas.openxmlformats.org/officeDocument/2006/relationships/image" Target="../media/image47.png"/><Relationship Id="rId9" Type="http://schemas.openxmlformats.org/officeDocument/2006/relationships/image" Target="../media/image49.png"/></Relationships>
</file>

<file path=ppt/slides/_rels/slide12.xml.rels><?xml version="1.0" encoding="UTF-8" standalone="yes"?>
<Relationships xmlns="http://schemas.openxmlformats.org/package/2006/relationships"><Relationship Id="rId3" Type="http://schemas.openxmlformats.org/officeDocument/2006/relationships/image" Target="../media/image450.png"/><Relationship Id="rId7" Type="http://schemas.openxmlformats.org/officeDocument/2006/relationships/image" Target="../media/image493.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481.png"/><Relationship Id="rId5" Type="http://schemas.openxmlformats.org/officeDocument/2006/relationships/image" Target="../media/image52.png"/><Relationship Id="rId4" Type="http://schemas.openxmlformats.org/officeDocument/2006/relationships/image" Target="../media/image460.png"/><Relationship Id="rId9" Type="http://schemas.openxmlformats.org/officeDocument/2006/relationships/image" Target="../media/image492.png"/></Relationships>
</file>

<file path=ppt/slides/_rels/slide13.xml.rels><?xml version="1.0" encoding="UTF-8" standalone="yes"?>
<Relationships xmlns="http://schemas.openxmlformats.org/package/2006/relationships"><Relationship Id="rId8" Type="http://schemas.openxmlformats.org/officeDocument/2006/relationships/image" Target="../media/image56.png"/><Relationship Id="rId7" Type="http://schemas.openxmlformats.org/officeDocument/2006/relationships/image" Target="../media/image55.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54.png"/><Relationship Id="rId10" Type="http://schemas.openxmlformats.org/officeDocument/2006/relationships/image" Target="../media/image530.png"/><Relationship Id="rId4" Type="http://schemas.openxmlformats.org/officeDocument/2006/relationships/image" Target="../media/image521.png"/><Relationship Id="rId9" Type="http://schemas.openxmlformats.org/officeDocument/2006/relationships/image" Target="../media/image450.png"/></Relationships>
</file>

<file path=ppt/slides/_rels/slide14.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57.png"/><Relationship Id="rId7" Type="http://schemas.openxmlformats.org/officeDocument/2006/relationships/image" Target="../media/image230.png"/><Relationship Id="rId2" Type="http://schemas.openxmlformats.org/officeDocument/2006/relationships/image" Target="../media/image1400.png"/><Relationship Id="rId1" Type="http://schemas.openxmlformats.org/officeDocument/2006/relationships/slideLayout" Target="../slideLayouts/slideLayout2.xml"/><Relationship Id="rId6" Type="http://schemas.openxmlformats.org/officeDocument/2006/relationships/image" Target="../media/image220.png"/><Relationship Id="rId11" Type="http://schemas.openxmlformats.org/officeDocument/2006/relationships/image" Target="../media/image270.png"/><Relationship Id="rId5" Type="http://schemas.openxmlformats.org/officeDocument/2006/relationships/image" Target="../media/image210.png"/><Relationship Id="rId10" Type="http://schemas.openxmlformats.org/officeDocument/2006/relationships/image" Target="../media/image260.png"/><Relationship Id="rId4" Type="http://schemas.openxmlformats.org/officeDocument/2006/relationships/image" Target="../media/image200.png"/><Relationship Id="rId9" Type="http://schemas.openxmlformats.org/officeDocument/2006/relationships/image" Target="../media/image250.png"/></Relationships>
</file>

<file path=ppt/slides/_rels/slide15.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8.png"/><Relationship Id="rId7" Type="http://schemas.openxmlformats.org/officeDocument/2006/relationships/image" Target="../media/image60.png"/><Relationship Id="rId2" Type="http://schemas.openxmlformats.org/officeDocument/2006/relationships/image" Target="../media/image1400.png"/><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2.png"/><Relationship Id="rId10" Type="http://schemas.openxmlformats.org/officeDocument/2006/relationships/image" Target="../media/image63.png"/><Relationship Id="rId4" Type="http://schemas.openxmlformats.org/officeDocument/2006/relationships/image" Target="../media/image200.png"/><Relationship Id="rId9" Type="http://schemas.openxmlformats.org/officeDocument/2006/relationships/image" Target="../media/image62.png"/></Relationships>
</file>

<file path=ppt/slides/_rels/slide16.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65.png"/><Relationship Id="rId1" Type="http://schemas.openxmlformats.org/officeDocument/2006/relationships/slideLayout" Target="../slideLayouts/slideLayout2.xml"/><Relationship Id="rId5" Type="http://schemas.openxmlformats.org/officeDocument/2006/relationships/image" Target="../media/image320.png"/><Relationship Id="rId4" Type="http://schemas.openxmlformats.org/officeDocument/2006/relationships/image" Target="../media/image311.png"/></Relationships>
</file>

<file path=ppt/slides/_rels/slide17.xml.rels><?xml version="1.0" encoding="UTF-8" standalone="yes"?>
<Relationships xmlns="http://schemas.openxmlformats.org/package/2006/relationships"><Relationship Id="rId13" Type="http://schemas.openxmlformats.org/officeDocument/2006/relationships/image" Target="../media/image500.png"/><Relationship Id="rId18" Type="http://schemas.openxmlformats.org/officeDocument/2006/relationships/image" Target="../media/image570.png"/><Relationship Id="rId26" Type="http://schemas.openxmlformats.org/officeDocument/2006/relationships/image" Target="../media/image73.png"/><Relationship Id="rId21" Type="http://schemas.openxmlformats.org/officeDocument/2006/relationships/image" Target="../media/image68.png"/><Relationship Id="rId12" Type="http://schemas.openxmlformats.org/officeDocument/2006/relationships/image" Target="../media/image491.png"/><Relationship Id="rId17" Type="http://schemas.openxmlformats.org/officeDocument/2006/relationships/image" Target="../media/image560.png"/><Relationship Id="rId25" Type="http://schemas.openxmlformats.org/officeDocument/2006/relationships/image" Target="../media/image72.png"/><Relationship Id="rId2" Type="http://schemas.openxmlformats.org/officeDocument/2006/relationships/image" Target="../media/image66.png"/><Relationship Id="rId16" Type="http://schemas.openxmlformats.org/officeDocument/2006/relationships/image" Target="../media/image67.png"/><Relationship Id="rId20" Type="http://schemas.openxmlformats.org/officeDocument/2006/relationships/image" Target="../media/image590.png"/><Relationship Id="rId29" Type="http://schemas.openxmlformats.org/officeDocument/2006/relationships/image" Target="../media/image440.png"/><Relationship Id="rId1" Type="http://schemas.openxmlformats.org/officeDocument/2006/relationships/slideLayout" Target="../slideLayouts/slideLayout2.xml"/><Relationship Id="rId24" Type="http://schemas.openxmlformats.org/officeDocument/2006/relationships/image" Target="../media/image71.png"/><Relationship Id="rId15" Type="http://schemas.openxmlformats.org/officeDocument/2006/relationships/image" Target="../media/image520.png"/><Relationship Id="rId23" Type="http://schemas.openxmlformats.org/officeDocument/2006/relationships/image" Target="../media/image70.png"/><Relationship Id="rId28" Type="http://schemas.openxmlformats.org/officeDocument/2006/relationships/image" Target="../media/image75.png"/><Relationship Id="rId19" Type="http://schemas.openxmlformats.org/officeDocument/2006/relationships/image" Target="../media/image580.png"/><Relationship Id="rId14" Type="http://schemas.openxmlformats.org/officeDocument/2006/relationships/image" Target="../media/image510.png"/><Relationship Id="rId22" Type="http://schemas.openxmlformats.org/officeDocument/2006/relationships/image" Target="../media/image69.png"/><Relationship Id="rId27" Type="http://schemas.openxmlformats.org/officeDocument/2006/relationships/image" Target="../media/image74.png"/></Relationships>
</file>

<file path=ppt/slides/_rels/slide18.xml.rels><?xml version="1.0" encoding="UTF-8" standalone="yes"?>
<Relationships xmlns="http://schemas.openxmlformats.org/package/2006/relationships"><Relationship Id="rId13" Type="http://schemas.openxmlformats.org/officeDocument/2006/relationships/image" Target="../media/image681.png"/><Relationship Id="rId18" Type="http://schemas.openxmlformats.org/officeDocument/2006/relationships/image" Target="../media/image731.png"/><Relationship Id="rId26" Type="http://schemas.openxmlformats.org/officeDocument/2006/relationships/image" Target="../media/image440.png"/><Relationship Id="rId21" Type="http://schemas.openxmlformats.org/officeDocument/2006/relationships/image" Target="../media/image78.png"/><Relationship Id="rId12" Type="http://schemas.openxmlformats.org/officeDocument/2006/relationships/image" Target="../media/image671.png"/><Relationship Id="rId17" Type="http://schemas.openxmlformats.org/officeDocument/2006/relationships/image" Target="../media/image721.png"/><Relationship Id="rId25" Type="http://schemas.openxmlformats.org/officeDocument/2006/relationships/image" Target="../media/image82.png"/><Relationship Id="rId2" Type="http://schemas.openxmlformats.org/officeDocument/2006/relationships/image" Target="../media/image76.png"/><Relationship Id="rId16" Type="http://schemas.openxmlformats.org/officeDocument/2006/relationships/image" Target="../media/image77.png"/><Relationship Id="rId20" Type="http://schemas.openxmlformats.org/officeDocument/2006/relationships/image" Target="../media/image751.png"/><Relationship Id="rId29" Type="http://schemas.openxmlformats.org/officeDocument/2006/relationships/image" Target="../media/image85.png"/><Relationship Id="rId1" Type="http://schemas.openxmlformats.org/officeDocument/2006/relationships/slideLayout" Target="../slideLayouts/slideLayout2.xml"/><Relationship Id="rId24" Type="http://schemas.openxmlformats.org/officeDocument/2006/relationships/image" Target="../media/image81.png"/><Relationship Id="rId15" Type="http://schemas.openxmlformats.org/officeDocument/2006/relationships/image" Target="../media/image701.png"/><Relationship Id="rId23" Type="http://schemas.openxmlformats.org/officeDocument/2006/relationships/image" Target="../media/image80.png"/><Relationship Id="rId28" Type="http://schemas.openxmlformats.org/officeDocument/2006/relationships/image" Target="../media/image84.png"/><Relationship Id="rId19" Type="http://schemas.openxmlformats.org/officeDocument/2006/relationships/image" Target="../media/image741.png"/><Relationship Id="rId14" Type="http://schemas.openxmlformats.org/officeDocument/2006/relationships/image" Target="../media/image691.png"/><Relationship Id="rId22" Type="http://schemas.openxmlformats.org/officeDocument/2006/relationships/image" Target="../media/image79.png"/><Relationship Id="rId27" Type="http://schemas.openxmlformats.org/officeDocument/2006/relationships/image" Target="../media/image83.png"/></Relationships>
</file>

<file path=ppt/slides/_rels/slide19.xml.rels><?xml version="1.0" encoding="UTF-8" standalone="yes"?>
<Relationships xmlns="http://schemas.openxmlformats.org/package/2006/relationships"><Relationship Id="rId8" Type="http://schemas.openxmlformats.org/officeDocument/2006/relationships/image" Target="../media/image92.png"/><Relationship Id="rId26" Type="http://schemas.openxmlformats.org/officeDocument/2006/relationships/image" Target="../media/image440.png"/><Relationship Id="rId3" Type="http://schemas.openxmlformats.org/officeDocument/2006/relationships/image" Target="../media/image87.png"/><Relationship Id="rId34" Type="http://schemas.openxmlformats.org/officeDocument/2006/relationships/image" Target="../media/image103.png"/><Relationship Id="rId7" Type="http://schemas.openxmlformats.org/officeDocument/2006/relationships/image" Target="../media/image91.png"/><Relationship Id="rId33" Type="http://schemas.openxmlformats.org/officeDocument/2006/relationships/image" Target="../media/image102.png"/><Relationship Id="rId2" Type="http://schemas.openxmlformats.org/officeDocument/2006/relationships/image" Target="../media/image86.png"/><Relationship Id="rId29"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90.png"/><Relationship Id="rId11" Type="http://schemas.openxmlformats.org/officeDocument/2006/relationships/image" Target="../media/image95.png"/><Relationship Id="rId32" Type="http://schemas.openxmlformats.org/officeDocument/2006/relationships/image" Target="../media/image101.png"/><Relationship Id="rId5" Type="http://schemas.openxmlformats.org/officeDocument/2006/relationships/image" Target="../media/image89.png"/><Relationship Id="rId28" Type="http://schemas.openxmlformats.org/officeDocument/2006/relationships/image" Target="../media/image97.png"/><Relationship Id="rId10" Type="http://schemas.openxmlformats.org/officeDocument/2006/relationships/image" Target="../media/image94.png"/><Relationship Id="rId31" Type="http://schemas.openxmlformats.org/officeDocument/2006/relationships/image" Target="../media/image100.png"/><Relationship Id="rId4" Type="http://schemas.openxmlformats.org/officeDocument/2006/relationships/image" Target="../media/image88.png"/><Relationship Id="rId9" Type="http://schemas.openxmlformats.org/officeDocument/2006/relationships/image" Target="../media/image93.png"/><Relationship Id="rId27" Type="http://schemas.openxmlformats.org/officeDocument/2006/relationships/image" Target="../media/image96.png"/><Relationship Id="rId30" Type="http://schemas.openxmlformats.org/officeDocument/2006/relationships/image" Target="../media/image99.png"/></Relationships>
</file>

<file path=ppt/slides/_rels/slide20.xml.rels><?xml version="1.0" encoding="UTF-8" standalone="yes"?>
<Relationships xmlns="http://schemas.openxmlformats.org/package/2006/relationships"><Relationship Id="rId26" Type="http://schemas.openxmlformats.org/officeDocument/2006/relationships/image" Target="../media/image440.png"/><Relationship Id="rId39" Type="http://schemas.openxmlformats.org/officeDocument/2006/relationships/image" Target="../media/image108.png"/><Relationship Id="rId34" Type="http://schemas.openxmlformats.org/officeDocument/2006/relationships/image" Target="../media/image1032.png"/><Relationship Id="rId33" Type="http://schemas.openxmlformats.org/officeDocument/2006/relationships/image" Target="../media/image1021.png"/><Relationship Id="rId38" Type="http://schemas.openxmlformats.org/officeDocument/2006/relationships/image" Target="../media/image107.png"/><Relationship Id="rId29" Type="http://schemas.openxmlformats.org/officeDocument/2006/relationships/image" Target="../media/image981.png"/><Relationship Id="rId41" Type="http://schemas.openxmlformats.org/officeDocument/2006/relationships/image" Target="../media/image110.png"/><Relationship Id="rId1" Type="http://schemas.openxmlformats.org/officeDocument/2006/relationships/slideLayout" Target="../slideLayouts/slideLayout2.xml"/><Relationship Id="rId32" Type="http://schemas.openxmlformats.org/officeDocument/2006/relationships/image" Target="../media/image105.png"/><Relationship Id="rId37" Type="http://schemas.openxmlformats.org/officeDocument/2006/relationships/image" Target="../media/image106.png"/><Relationship Id="rId40" Type="http://schemas.openxmlformats.org/officeDocument/2006/relationships/image" Target="../media/image109.png"/><Relationship Id="rId28" Type="http://schemas.openxmlformats.org/officeDocument/2006/relationships/image" Target="../media/image972.png"/><Relationship Id="rId36" Type="http://schemas.openxmlformats.org/officeDocument/2006/relationships/image" Target="../media/image1051.png"/><Relationship Id="rId31" Type="http://schemas.openxmlformats.org/officeDocument/2006/relationships/image" Target="../media/image1003.png"/><Relationship Id="rId27" Type="http://schemas.openxmlformats.org/officeDocument/2006/relationships/image" Target="../media/image104.png"/><Relationship Id="rId30" Type="http://schemas.openxmlformats.org/officeDocument/2006/relationships/image" Target="../media/image993.png"/><Relationship Id="rId35" Type="http://schemas.openxmlformats.org/officeDocument/2006/relationships/image" Target="../media/image1042.png"/></Relationships>
</file>

<file path=ppt/slides/_rels/slide2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660.png"/><Relationship Id="rId3" Type="http://schemas.openxmlformats.org/officeDocument/2006/relationships/image" Target="../media/image650.png"/><Relationship Id="rId7" Type="http://schemas.openxmlformats.org/officeDocument/2006/relationships/image" Target="../media/image117.png"/><Relationship Id="rId2" Type="http://schemas.openxmlformats.org/officeDocument/2006/relationships/image" Target="../media/image113.png"/><Relationship Id="rId1" Type="http://schemas.openxmlformats.org/officeDocument/2006/relationships/slideLayout" Target="../slideLayouts/slideLayout2.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 Id="rId14" Type="http://schemas.openxmlformats.org/officeDocument/2006/relationships/image" Target="../media/image119.png"/></Relationships>
</file>

<file path=ppt/slides/_rels/slide23.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811.png"/><Relationship Id="rId7" Type="http://schemas.openxmlformats.org/officeDocument/2006/relationships/image" Target="../media/image791.png"/><Relationship Id="rId2"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image" Target="../media/image831.png"/><Relationship Id="rId11" Type="http://schemas.openxmlformats.org/officeDocument/2006/relationships/image" Target="../media/image871.png"/><Relationship Id="rId5" Type="http://schemas.openxmlformats.org/officeDocument/2006/relationships/image" Target="../media/image810.png"/><Relationship Id="rId10" Type="http://schemas.openxmlformats.org/officeDocument/2006/relationships/image" Target="../media/image861.png"/><Relationship Id="rId4" Type="http://schemas.openxmlformats.org/officeDocument/2006/relationships/image" Target="../media/image662.png"/><Relationship Id="rId9" Type="http://schemas.openxmlformats.org/officeDocument/2006/relationships/image" Target="../media/image852.png"/></Relationships>
</file>

<file path=ppt/slides/_rels/slide24.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 Id="rId5" Type="http://schemas.openxmlformats.org/officeDocument/2006/relationships/image" Target="../media/image126.png"/><Relationship Id="rId4" Type="http://schemas.openxmlformats.org/officeDocument/2006/relationships/image" Target="../media/image912.png"/></Relationships>
</file>

<file path=ppt/slides/_rels/slide25.xml.rels><?xml version="1.0" encoding="UTF-8" standalone="yes"?>
<Relationships xmlns="http://schemas.openxmlformats.org/package/2006/relationships"><Relationship Id="rId13" Type="http://schemas.openxmlformats.org/officeDocument/2006/relationships/image" Target="../media/image931.png"/><Relationship Id="rId18" Type="http://schemas.openxmlformats.org/officeDocument/2006/relationships/image" Target="../media/image971.png"/><Relationship Id="rId12" Type="http://schemas.openxmlformats.org/officeDocument/2006/relationships/image" Target="../media/image1031.png"/><Relationship Id="rId17" Type="http://schemas.openxmlformats.org/officeDocument/2006/relationships/image" Target="../media/image961.png"/><Relationship Id="rId2" Type="http://schemas.openxmlformats.org/officeDocument/2006/relationships/image" Target="../media/image127.png"/><Relationship Id="rId16" Type="http://schemas.openxmlformats.org/officeDocument/2006/relationships/image" Target="../media/image650.png"/><Relationship Id="rId20" Type="http://schemas.openxmlformats.org/officeDocument/2006/relationships/image" Target="../media/image992.png"/><Relationship Id="rId1" Type="http://schemas.openxmlformats.org/officeDocument/2006/relationships/slideLayout" Target="../slideLayouts/slideLayout2.xml"/><Relationship Id="rId15" Type="http://schemas.openxmlformats.org/officeDocument/2006/relationships/image" Target="../media/image128.png"/><Relationship Id="rId19" Type="http://schemas.openxmlformats.org/officeDocument/2006/relationships/image" Target="../media/image980.png"/><Relationship Id="rId14" Type="http://schemas.openxmlformats.org/officeDocument/2006/relationships/image" Target="../media/image941.png"/></Relationships>
</file>

<file path=ppt/slides/_rels/slide26.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012.png"/><Relationship Id="rId7" Type="http://schemas.openxmlformats.org/officeDocument/2006/relationships/image" Target="../media/image1080.png"/><Relationship Id="rId2" Type="http://schemas.openxmlformats.org/officeDocument/2006/relationships/image" Target="../media/image129.png"/><Relationship Id="rId1" Type="http://schemas.openxmlformats.org/officeDocument/2006/relationships/slideLayout" Target="../slideLayouts/slideLayout2.xml"/><Relationship Id="rId6" Type="http://schemas.openxmlformats.org/officeDocument/2006/relationships/image" Target="../media/image990.png"/><Relationship Id="rId11" Type="http://schemas.openxmlformats.org/officeDocument/2006/relationships/image" Target="../media/image1041.png"/><Relationship Id="rId5" Type="http://schemas.openxmlformats.org/officeDocument/2006/relationships/image" Target="../media/image1031.png"/><Relationship Id="rId10" Type="http://schemas.openxmlformats.org/officeDocument/2006/relationships/image" Target="../media/image960.png"/><Relationship Id="rId4" Type="http://schemas.openxmlformats.org/officeDocument/2006/relationships/image" Target="../media/image1071.PNG"/><Relationship Id="rId9" Type="http://schemas.openxmlformats.org/officeDocument/2006/relationships/image" Target="../media/image1002.png"/></Relationships>
</file>

<file path=ppt/slides/_rels/slide27.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2.xml"/><Relationship Id="rId5" Type="http://schemas.openxmlformats.org/officeDocument/2006/relationships/image" Target="../media/image133.png"/><Relationship Id="rId4" Type="http://schemas.openxmlformats.org/officeDocument/2006/relationships/image" Target="../media/image991.png"/></Relationships>
</file>

<file path=ppt/slides/_rels/slide28.xml.rels><?xml version="1.0" encoding="UTF-8" standalone="yes"?>
<Relationships xmlns="http://schemas.openxmlformats.org/package/2006/relationships"><Relationship Id="rId13" Type="http://schemas.openxmlformats.org/officeDocument/2006/relationships/image" Target="../media/image931.png"/><Relationship Id="rId18" Type="http://schemas.openxmlformats.org/officeDocument/2006/relationships/image" Target="../media/image139.png"/><Relationship Id="rId12" Type="http://schemas.openxmlformats.org/officeDocument/2006/relationships/image" Target="../media/image1031.png"/><Relationship Id="rId17" Type="http://schemas.openxmlformats.org/officeDocument/2006/relationships/image" Target="../media/image138.png"/><Relationship Id="rId2" Type="http://schemas.openxmlformats.org/officeDocument/2006/relationships/image" Target="../media/image134.png"/><Relationship Id="rId16" Type="http://schemas.openxmlformats.org/officeDocument/2006/relationships/image" Target="../media/image137.png"/><Relationship Id="rId1" Type="http://schemas.openxmlformats.org/officeDocument/2006/relationships/slideLayout" Target="../slideLayouts/slideLayout2.xml"/><Relationship Id="rId15" Type="http://schemas.openxmlformats.org/officeDocument/2006/relationships/image" Target="../media/image136.png"/><Relationship Id="rId19" Type="http://schemas.openxmlformats.org/officeDocument/2006/relationships/image" Target="../media/image142.png"/><Relationship Id="rId14" Type="http://schemas.openxmlformats.org/officeDocument/2006/relationships/image" Target="../media/image135.png"/></Relationships>
</file>

<file path=ppt/slides/_rels/slide29.xml.rels><?xml version="1.0" encoding="UTF-8" standalone="yes"?>
<Relationships xmlns="http://schemas.openxmlformats.org/package/2006/relationships"><Relationship Id="rId3" Type="http://schemas.openxmlformats.org/officeDocument/2006/relationships/image" Target="../media/image144.png"/><Relationship Id="rId7" Type="http://schemas.openxmlformats.org/officeDocument/2006/relationships/image" Target="../media/image147.png"/><Relationship Id="rId2" Type="http://schemas.openxmlformats.org/officeDocument/2006/relationships/image" Target="../media/image143.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041.png"/><Relationship Id="rId5" Type="http://schemas.openxmlformats.org/officeDocument/2006/relationships/image" Target="../media/image146.png"/><Relationship Id="rId10" Type="http://schemas.openxmlformats.org/officeDocument/2006/relationships/image" Target="../media/image960.png"/><Relationship Id="rId4" Type="http://schemas.openxmlformats.org/officeDocument/2006/relationships/image" Target="../media/image145.png"/><Relationship Id="rId9" Type="http://schemas.openxmlformats.org/officeDocument/2006/relationships/image" Target="../media/image1002.png"/></Relationships>
</file>

<file path=ppt/slides/_rels/slide30.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2.xml"/><Relationship Id="rId5" Type="http://schemas.openxmlformats.org/officeDocument/2006/relationships/image" Target="../media/image153.png"/><Relationship Id="rId4" Type="http://schemas.openxmlformats.org/officeDocument/2006/relationships/image" Target="../media/image991.png"/></Relationships>
</file>

<file path=ppt/slides/_rels/slide31.xml.rels><?xml version="1.0" encoding="UTF-8" standalone="yes"?>
<Relationships xmlns="http://schemas.openxmlformats.org/package/2006/relationships"><Relationship Id="rId8" Type="http://schemas.openxmlformats.org/officeDocument/2006/relationships/image" Target="../media/image162.png"/><Relationship Id="rId3" Type="http://schemas.openxmlformats.org/officeDocument/2006/relationships/image" Target="../media/image155.png"/><Relationship Id="rId7" Type="http://schemas.openxmlformats.org/officeDocument/2006/relationships/image" Target="../media/image159.png"/><Relationship Id="rId2" Type="http://schemas.openxmlformats.org/officeDocument/2006/relationships/image" Target="../media/image154.png"/><Relationship Id="rId1" Type="http://schemas.openxmlformats.org/officeDocument/2006/relationships/slideLayout" Target="../slideLayouts/slideLayout2.xml"/><Relationship Id="rId6" Type="http://schemas.openxmlformats.org/officeDocument/2006/relationships/image" Target="../media/image158.png"/><Relationship Id="rId5" Type="http://schemas.openxmlformats.org/officeDocument/2006/relationships/image" Target="../media/image157.png"/><Relationship Id="rId4" Type="http://schemas.openxmlformats.org/officeDocument/2006/relationships/image" Target="../media/image156.png"/><Relationship Id="rId9" Type="http://schemas.openxmlformats.org/officeDocument/2006/relationships/image" Target="../media/image163.png"/></Relationships>
</file>

<file path=ppt/slides/_rels/slide32.xml.rels><?xml version="1.0" encoding="UTF-8" standalone="yes"?>
<Relationships xmlns="http://schemas.openxmlformats.org/package/2006/relationships"><Relationship Id="rId8" Type="http://schemas.openxmlformats.org/officeDocument/2006/relationships/image" Target="../media/image1000.png"/><Relationship Id="rId3" Type="http://schemas.openxmlformats.org/officeDocument/2006/relationships/image" Target="../media/image480.png"/><Relationship Id="rId7" Type="http://schemas.openxmlformats.org/officeDocument/2006/relationships/image" Target="../media/image850.png"/><Relationship Id="rId2" Type="http://schemas.openxmlformats.org/officeDocument/2006/relationships/image" Target="../media/image470.png"/><Relationship Id="rId1" Type="http://schemas.openxmlformats.org/officeDocument/2006/relationships/slideLayout" Target="../slideLayouts/slideLayout2.xml"/><Relationship Id="rId11" Type="http://schemas.openxmlformats.org/officeDocument/2006/relationships/image" Target="../media/image165.png"/><Relationship Id="rId5" Type="http://schemas.openxmlformats.org/officeDocument/2006/relationships/image" Target="../media/image5600.png"/><Relationship Id="rId10" Type="http://schemas.openxmlformats.org/officeDocument/2006/relationships/image" Target="../media/image164.png"/><Relationship Id="rId4" Type="http://schemas.openxmlformats.org/officeDocument/2006/relationships/image" Target="../media/image490.png"/><Relationship Id="rId9" Type="http://schemas.openxmlformats.org/officeDocument/2006/relationships/image" Target="../media/image1010.png"/></Relationships>
</file>

<file path=ppt/slides/_rels/slide33.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2.xml"/><Relationship Id="rId5" Type="http://schemas.openxmlformats.org/officeDocument/2006/relationships/image" Target="../media/image168.PNG"/><Relationship Id="rId4" Type="http://schemas.openxmlformats.org/officeDocument/2006/relationships/image" Target="../media/image111.PNG"/></Relationships>
</file>

<file path=ppt/slides/_rels/slide34.xml.rels><?xml version="1.0" encoding="UTF-8" standalone="yes"?>
<Relationships xmlns="http://schemas.openxmlformats.org/package/2006/relationships"><Relationship Id="rId8" Type="http://schemas.openxmlformats.org/officeDocument/2006/relationships/image" Target="../media/image176.png"/><Relationship Id="rId3" Type="http://schemas.openxmlformats.org/officeDocument/2006/relationships/image" Target="../media/image169.png"/><Relationship Id="rId7" Type="http://schemas.openxmlformats.org/officeDocument/2006/relationships/image" Target="../media/image175.png"/><Relationship Id="rId2" Type="http://schemas.openxmlformats.org/officeDocument/2006/relationships/image" Target="../media/image166.png"/><Relationship Id="rId1" Type="http://schemas.openxmlformats.org/officeDocument/2006/relationships/slideLayout" Target="../slideLayouts/slideLayout2.xml"/><Relationship Id="rId6" Type="http://schemas.openxmlformats.org/officeDocument/2006/relationships/image" Target="../media/image174.png"/><Relationship Id="rId11" Type="http://schemas.openxmlformats.org/officeDocument/2006/relationships/image" Target="../media/image179.png"/><Relationship Id="rId5" Type="http://schemas.openxmlformats.org/officeDocument/2006/relationships/image" Target="../media/image173.png"/><Relationship Id="rId10" Type="http://schemas.openxmlformats.org/officeDocument/2006/relationships/image" Target="../media/image178.png"/><Relationship Id="rId4" Type="http://schemas.openxmlformats.org/officeDocument/2006/relationships/image" Target="../media/image172.png"/><Relationship Id="rId9" Type="http://schemas.openxmlformats.org/officeDocument/2006/relationships/image" Target="../media/image177.png"/></Relationships>
</file>

<file path=ppt/slides/_rels/slide35.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690.png"/><Relationship Id="rId1" Type="http://schemas.openxmlformats.org/officeDocument/2006/relationships/slideLayout" Target="../slideLayouts/slideLayout2.xml"/><Relationship Id="rId6" Type="http://schemas.openxmlformats.org/officeDocument/2006/relationships/image" Target="../media/image1750.png"/><Relationship Id="rId5" Type="http://schemas.openxmlformats.org/officeDocument/2006/relationships/image" Target="../media/image1740.png"/><Relationship Id="rId4" Type="http://schemas.openxmlformats.org/officeDocument/2006/relationships/image" Target="../media/image1730.png"/></Relationships>
</file>

<file path=ppt/slides/_rels/slide36.xml.rels><?xml version="1.0" encoding="UTF-8" standalone="yes"?>
<Relationships xmlns="http://schemas.openxmlformats.org/package/2006/relationships"><Relationship Id="rId8" Type="http://schemas.openxmlformats.org/officeDocument/2006/relationships/image" Target="../media/image1120.png"/><Relationship Id="rId3" Type="http://schemas.openxmlformats.org/officeDocument/2006/relationships/image" Target="../media/image1050.png"/><Relationship Id="rId7" Type="http://schemas.openxmlformats.org/officeDocument/2006/relationships/image" Target="../media/image1111.png"/><Relationship Id="rId2" Type="http://schemas.openxmlformats.org/officeDocument/2006/relationships/image" Target="../media/image5000.png"/><Relationship Id="rId1" Type="http://schemas.openxmlformats.org/officeDocument/2006/relationships/slideLayout" Target="../slideLayouts/slideLayout2.xml"/><Relationship Id="rId6" Type="http://schemas.openxmlformats.org/officeDocument/2006/relationships/image" Target="../media/image571.png"/><Relationship Id="rId11" Type="http://schemas.openxmlformats.org/officeDocument/2006/relationships/image" Target="../media/image1140.png"/><Relationship Id="rId5" Type="http://schemas.openxmlformats.org/officeDocument/2006/relationships/image" Target="../media/image1100.png"/><Relationship Id="rId10" Type="http://schemas.openxmlformats.org/officeDocument/2006/relationships/image" Target="../media/image1130.png"/><Relationship Id="rId4" Type="http://schemas.openxmlformats.org/officeDocument/2006/relationships/image" Target="../media/image1060.png"/><Relationship Id="rId9" Type="http://schemas.openxmlformats.org/officeDocument/2006/relationships/image" Target="../media/image581.png"/></Relationships>
</file>

<file path=ppt/slides/_rels/slide37.xml.rels><?xml version="1.0" encoding="UTF-8" standalone="yes"?>
<Relationships xmlns="http://schemas.openxmlformats.org/package/2006/relationships"><Relationship Id="rId8" Type="http://schemas.openxmlformats.org/officeDocument/2006/relationships/image" Target="../media/image1170.png"/><Relationship Id="rId3" Type="http://schemas.openxmlformats.org/officeDocument/2006/relationships/image" Target="../media/image1050.png"/><Relationship Id="rId7" Type="http://schemas.openxmlformats.org/officeDocument/2006/relationships/image" Target="../media/image1160.png"/><Relationship Id="rId2" Type="http://schemas.openxmlformats.org/officeDocument/2006/relationships/image" Target="../media/image5300.png"/><Relationship Id="rId1" Type="http://schemas.openxmlformats.org/officeDocument/2006/relationships/slideLayout" Target="../slideLayouts/slideLayout2.xml"/><Relationship Id="rId6" Type="http://schemas.openxmlformats.org/officeDocument/2006/relationships/image" Target="../media/image591.png"/><Relationship Id="rId11" Type="http://schemas.openxmlformats.org/officeDocument/2006/relationships/image" Target="../media/image1190.png"/><Relationship Id="rId5" Type="http://schemas.openxmlformats.org/officeDocument/2006/relationships/image" Target="../media/image1150.png"/><Relationship Id="rId10" Type="http://schemas.openxmlformats.org/officeDocument/2006/relationships/image" Target="../media/image1180.png"/><Relationship Id="rId4" Type="http://schemas.openxmlformats.org/officeDocument/2006/relationships/image" Target="../media/image1060.png"/><Relationship Id="rId9" Type="http://schemas.openxmlformats.org/officeDocument/2006/relationships/image" Target="../media/image600.png"/></Relationships>
</file>

<file path=ppt/slides/_rels/slide38.xml.rels><?xml version="1.0" encoding="UTF-8" standalone="yes"?>
<Relationships xmlns="http://schemas.openxmlformats.org/package/2006/relationships"><Relationship Id="rId8" Type="http://schemas.openxmlformats.org/officeDocument/2006/relationships/image" Target="../media/image670.png"/><Relationship Id="rId13" Type="http://schemas.openxmlformats.org/officeDocument/2006/relationships/image" Target="../media/image720.png"/><Relationship Id="rId18" Type="http://schemas.openxmlformats.org/officeDocument/2006/relationships/image" Target="../media/image770.png"/><Relationship Id="rId3" Type="http://schemas.openxmlformats.org/officeDocument/2006/relationships/image" Target="../media/image620.png"/><Relationship Id="rId7" Type="http://schemas.openxmlformats.org/officeDocument/2006/relationships/image" Target="../media/image661.png"/><Relationship Id="rId12" Type="http://schemas.openxmlformats.org/officeDocument/2006/relationships/image" Target="../media/image184.png"/><Relationship Id="rId17" Type="http://schemas.openxmlformats.org/officeDocument/2006/relationships/image" Target="../media/image760.png"/><Relationship Id="rId2" Type="http://schemas.openxmlformats.org/officeDocument/2006/relationships/image" Target="../media/image610.png"/><Relationship Id="rId16" Type="http://schemas.openxmlformats.org/officeDocument/2006/relationships/image" Target="../media/image750.png"/><Relationship Id="rId1" Type="http://schemas.openxmlformats.org/officeDocument/2006/relationships/slideLayout" Target="../slideLayouts/slideLayout2.xml"/><Relationship Id="rId6" Type="http://schemas.openxmlformats.org/officeDocument/2006/relationships/image" Target="../media/image651.png"/><Relationship Id="rId11" Type="http://schemas.openxmlformats.org/officeDocument/2006/relationships/image" Target="../media/image700.png"/><Relationship Id="rId5" Type="http://schemas.openxmlformats.org/officeDocument/2006/relationships/image" Target="../media/image183.png"/><Relationship Id="rId15" Type="http://schemas.openxmlformats.org/officeDocument/2006/relationships/image" Target="../media/image740.png"/><Relationship Id="rId10" Type="http://schemas.openxmlformats.org/officeDocument/2006/relationships/image" Target="../media/image690.png"/><Relationship Id="rId4" Type="http://schemas.openxmlformats.org/officeDocument/2006/relationships/image" Target="../media/image630.PNG"/><Relationship Id="rId9" Type="http://schemas.openxmlformats.org/officeDocument/2006/relationships/image" Target="../media/image680.png"/><Relationship Id="rId14" Type="http://schemas.openxmlformats.org/officeDocument/2006/relationships/image" Target="../media/image730.png"/></Relationships>
</file>

<file path=ppt/slides/_rels/slide39.xml.rels><?xml version="1.0" encoding="UTF-8" standalone="yes"?>
<Relationships xmlns="http://schemas.openxmlformats.org/package/2006/relationships"><Relationship Id="rId8" Type="http://schemas.openxmlformats.org/officeDocument/2006/relationships/image" Target="../media/image840.png"/><Relationship Id="rId13" Type="http://schemas.openxmlformats.org/officeDocument/2006/relationships/image" Target="../media/image890.png"/><Relationship Id="rId18" Type="http://schemas.openxmlformats.org/officeDocument/2006/relationships/image" Target="../media/image940.png"/><Relationship Id="rId3" Type="http://schemas.openxmlformats.org/officeDocument/2006/relationships/image" Target="../media/image790.png"/><Relationship Id="rId7" Type="http://schemas.openxmlformats.org/officeDocument/2006/relationships/image" Target="../media/image830.png"/><Relationship Id="rId12" Type="http://schemas.openxmlformats.org/officeDocument/2006/relationships/image" Target="../media/image186.png"/><Relationship Id="rId17" Type="http://schemas.openxmlformats.org/officeDocument/2006/relationships/image" Target="../media/image930.png"/><Relationship Id="rId2" Type="http://schemas.openxmlformats.org/officeDocument/2006/relationships/image" Target="../media/image780.png"/><Relationship Id="rId16" Type="http://schemas.openxmlformats.org/officeDocument/2006/relationships/image" Target="../media/image920.png"/><Relationship Id="rId1" Type="http://schemas.openxmlformats.org/officeDocument/2006/relationships/slideLayout" Target="../slideLayouts/slideLayout2.xml"/><Relationship Id="rId6" Type="http://schemas.openxmlformats.org/officeDocument/2006/relationships/image" Target="../media/image820.png"/><Relationship Id="rId11" Type="http://schemas.openxmlformats.org/officeDocument/2006/relationships/image" Target="../media/image870.png"/><Relationship Id="rId5" Type="http://schemas.openxmlformats.org/officeDocument/2006/relationships/image" Target="../media/image185.png"/><Relationship Id="rId15" Type="http://schemas.openxmlformats.org/officeDocument/2006/relationships/image" Target="../media/image910.png"/><Relationship Id="rId10" Type="http://schemas.openxmlformats.org/officeDocument/2006/relationships/image" Target="../media/image860.png"/><Relationship Id="rId4" Type="http://schemas.openxmlformats.org/officeDocument/2006/relationships/image" Target="../media/image800.png"/><Relationship Id="rId9" Type="http://schemas.openxmlformats.org/officeDocument/2006/relationships/image" Target="../media/image851.png"/><Relationship Id="rId14" Type="http://schemas.openxmlformats.org/officeDocument/2006/relationships/image" Target="../media/image9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29E60B-ABEB-4B38-8D6C-620B64DB3808}"/>
              </a:ext>
            </a:extLst>
          </p:cNvPr>
          <p:cNvSpPr>
            <a:spLocks noGrp="1"/>
          </p:cNvSpPr>
          <p:nvPr>
            <p:ph type="ctrTitle"/>
          </p:nvPr>
        </p:nvSpPr>
        <p:spPr>
          <a:xfrm>
            <a:off x="423333" y="868362"/>
            <a:ext cx="11345334" cy="2387600"/>
          </a:xfrm>
        </p:spPr>
        <p:txBody>
          <a:bodyPr>
            <a:normAutofit/>
          </a:bodyPr>
          <a:lstStyle/>
          <a:p>
            <a:pPr>
              <a:lnSpc>
                <a:spcPct val="115000"/>
              </a:lnSpc>
              <a:spcAft>
                <a:spcPts val="100"/>
              </a:spcAft>
            </a:pPr>
            <a:r>
              <a:rPr lang="en-US" altLang="zh-TW" sz="2800" b="1" kern="100" dirty="0">
                <a:solidFill>
                  <a:srgbClr val="000000"/>
                </a:solidFill>
                <a:effectLst/>
                <a:latin typeface="Aptos"/>
                <a:ea typeface="新細明體" panose="02020500000000000000" pitchFamily="18" charset="-120"/>
                <a:cs typeface="Times New Roman" panose="02020603050405020304" pitchFamily="18" charset="0"/>
              </a:rPr>
              <a:t>A Lumped-Parameter Modeling, Calibration, and Capacity-Measure Framework for Flux Generation in Symmetric</a:t>
            </a:r>
            <a:br>
              <a:rPr lang="zh-TW" altLang="zh-TW" sz="2800" kern="100" dirty="0">
                <a:effectLst/>
                <a:latin typeface="Aptos"/>
                <a:ea typeface="新細明體" panose="02020500000000000000" pitchFamily="18" charset="-120"/>
                <a:cs typeface="Times New Roman" panose="02020603050405020304" pitchFamily="18" charset="0"/>
              </a:rPr>
            </a:br>
            <a:r>
              <a:rPr lang="en-US" altLang="zh-TW" sz="2800" b="1" dirty="0">
                <a:solidFill>
                  <a:srgbClr val="000000"/>
                </a:solidFill>
                <a:effectLst/>
                <a:latin typeface="Aptos"/>
                <a:ea typeface="新細明體" panose="02020500000000000000" pitchFamily="18" charset="-120"/>
                <a:cs typeface="Times New Roman" panose="02020603050405020304" pitchFamily="18" charset="0"/>
              </a:rPr>
              <a:t>Multipole Electromagnetic Actuators </a:t>
            </a:r>
            <a:endParaRPr lang="zh-TW" altLang="en-US" sz="8000" dirty="0"/>
          </a:p>
        </p:txBody>
      </p:sp>
    </p:spTree>
    <p:extLst>
      <p:ext uri="{BB962C8B-B14F-4D97-AF65-F5344CB8AC3E}">
        <p14:creationId xmlns:p14="http://schemas.microsoft.com/office/powerpoint/2010/main" val="406800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A8F11D44-A816-4FA1-8F02-F1777842AD9C}"/>
                  </a:ext>
                </a:extLst>
              </p:cNvPr>
              <p:cNvSpPr txBox="1"/>
              <p:nvPr/>
            </p:nvSpPr>
            <p:spPr>
              <a:xfrm>
                <a:off x="5367871" y="1102250"/>
                <a:ext cx="6493929" cy="5176417"/>
              </a:xfrm>
              <a:prstGeom prst="rect">
                <a:avLst/>
              </a:prstGeom>
              <a:noFill/>
            </p:spPr>
            <p:txBody>
              <a:bodyPr wrap="square" rtlCol="0">
                <a:spAutoFit/>
              </a:bodyPr>
              <a:lstStyle/>
              <a:p>
                <a:pPr marL="342900" indent="-342900">
                  <a:buFont typeface="+mj-lt"/>
                  <a:buAutoNum type="arabicPeriod" startAt="4"/>
                </a:pPr>
                <a:r>
                  <a:rPr lang="en-US" altLang="zh-TW" dirty="0"/>
                  <a:t>Localization: Determine which tetrahedron contains each query point and return its coordinates relative to the four vertices.</a:t>
                </a:r>
              </a:p>
              <a:p>
                <a:pPr marL="342900" indent="-342900">
                  <a:buFont typeface="+mj-lt"/>
                  <a:buAutoNum type="arabicPeriod" startAt="4"/>
                </a:pPr>
                <a:endParaRPr lang="en-US" altLang="zh-TW" dirty="0"/>
              </a:p>
              <a:p>
                <a:pPr marL="342900" indent="-342900">
                  <a:buFont typeface="+mj-lt"/>
                  <a:buAutoNum type="arabicPeriod" startAt="4"/>
                </a:pPr>
                <a:r>
                  <a:rPr lang="en-US" altLang="zh-TW" dirty="0"/>
                  <a:t>Barycentric Interpolation:</a:t>
                </a:r>
              </a:p>
              <a:p>
                <a:pPr lvl="1"/>
                <a:r>
                  <a:rPr lang="en-US" altLang="zh-TW" dirty="0"/>
                  <a:t>Let the coordinates of the four vertices be:</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4</m:t>
                        </m:r>
                      </m:sub>
                    </m:sSub>
                  </m:oMath>
                </a14:m>
                <a:endParaRPr lang="en-US" altLang="zh-TW" dirty="0"/>
              </a:p>
              <a:p>
                <a:pPr lvl="1"/>
                <a:r>
                  <a:rPr lang="en-US" altLang="zh-TW" dirty="0"/>
                  <a:t>Let the coordinates of the interpolation point be:</a:t>
                </a:r>
                <a14:m>
                  <m:oMath xmlns:m="http://schemas.openxmlformats.org/officeDocument/2006/math">
                    <m:r>
                      <a:rPr lang="en-US" altLang="zh-TW" b="0" i="1" smtClean="0">
                        <a:latin typeface="Cambria Math" panose="02040503050406030204" pitchFamily="18" charset="0"/>
                      </a:rPr>
                      <m:t>𝑃</m:t>
                    </m:r>
                  </m:oMath>
                </a14:m>
                <a:endParaRPr lang="en-US" altLang="zh-TW" dirty="0"/>
              </a:p>
              <a:p>
                <a:pPr lvl="1"/>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𝑃</m:t>
                      </m:r>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4</m:t>
                          </m:r>
                        </m:sup>
                        <m:e>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𝜆</m:t>
                              </m:r>
                            </m:e>
                            <m:sub>
                              <m:r>
                                <a:rPr lang="en-US" altLang="zh-TW" b="0" i="1" smtClean="0">
                                  <a:latin typeface="Cambria Math" panose="02040503050406030204" pitchFamily="18" charset="0"/>
                                </a:rPr>
                                <m:t>𝑖</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e>
                      </m:nary>
                    </m:oMath>
                  </m:oMathPara>
                </a14:m>
                <a:endParaRPr lang="en-US" altLang="zh-TW" dirty="0"/>
              </a:p>
              <a:p>
                <a:pPr lvl="1"/>
                <a:r>
                  <a:rPr lang="en-US" altLang="zh-TW" dirty="0"/>
                  <a:t>Where </a:t>
                </a:r>
                <a14:m>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𝜆</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𝑖</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𝑡𝑜𝑡𝑎𝑙</m:t>
                            </m:r>
                          </m:sub>
                        </m:sSub>
                      </m:den>
                    </m:f>
                  </m:oMath>
                </a14:m>
                <a:r>
                  <a:rPr lang="en-US" altLang="zh-TW" dirty="0"/>
                  <a:t>(The volume of the sub-tetrahedron formed by replacing vertex</a:t>
                </a:r>
                <a:r>
                  <a:rPr lang="zh-TW" altLang="en-US"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oMath>
                </a14:m>
                <a:r>
                  <a:rPr lang="en-US" altLang="zh-TW" dirty="0"/>
                  <a:t> with </a:t>
                </a:r>
                <a14:m>
                  <m:oMath xmlns:m="http://schemas.openxmlformats.org/officeDocument/2006/math">
                    <m:r>
                      <a:rPr lang="en-US" altLang="zh-TW" b="0" i="1" smtClean="0">
                        <a:latin typeface="Cambria Math" panose="02040503050406030204" pitchFamily="18" charset="0"/>
                      </a:rPr>
                      <m:t>𝑃</m:t>
                    </m:r>
                  </m:oMath>
                </a14:m>
                <a:r>
                  <a:rPr lang="en-US" altLang="zh-TW" dirty="0"/>
                  <a:t>)</a:t>
                </a:r>
              </a:p>
              <a:p>
                <a:pPr lvl="1"/>
                <a:endParaRPr lang="en-US" altLang="zh-TW" dirty="0"/>
              </a:p>
              <a:p>
                <a:pPr marL="342900" indent="-342900">
                  <a:buFont typeface="+mj-lt"/>
                  <a:buAutoNum type="arabicPeriod" startAt="6"/>
                </a:pPr>
                <a:r>
                  <a:rPr lang="en-US" altLang="zh-TW" dirty="0"/>
                  <a:t>Repeat Steps 4 and 5 until all interpolation points have been processed.</a:t>
                </a:r>
              </a:p>
              <a:p>
                <a:pPr lvl="1"/>
                <a:endParaRPr lang="en-US" altLang="zh-TW" dirty="0"/>
              </a:p>
              <a:p>
                <a:endParaRPr lang="en-US" altLang="zh-TW" dirty="0"/>
              </a:p>
              <a:p>
                <a:pPr lvl="1"/>
                <a:endParaRPr lang="en-US" altLang="zh-TW" dirty="0"/>
              </a:p>
              <a:p>
                <a:endParaRPr lang="zh-TW" altLang="en-US" dirty="0"/>
              </a:p>
            </p:txBody>
          </p:sp>
        </mc:Choice>
        <mc:Fallback xmlns="">
          <p:sp>
            <p:nvSpPr>
              <p:cNvPr id="23" name="文字方塊 22">
                <a:extLst>
                  <a:ext uri="{FF2B5EF4-FFF2-40B4-BE49-F238E27FC236}">
                    <a16:creationId xmlns:a16="http://schemas.microsoft.com/office/drawing/2014/main" id="{A8F11D44-A816-4FA1-8F02-F1777842AD9C}"/>
                  </a:ext>
                </a:extLst>
              </p:cNvPr>
              <p:cNvSpPr txBox="1">
                <a:spLocks noRot="1" noChangeAspect="1" noMove="1" noResize="1" noEditPoints="1" noAdjustHandles="1" noChangeArrowheads="1" noChangeShapeType="1" noTextEdit="1"/>
              </p:cNvSpPr>
              <p:nvPr/>
            </p:nvSpPr>
            <p:spPr>
              <a:xfrm>
                <a:off x="5367871" y="1102250"/>
                <a:ext cx="6493929" cy="5176417"/>
              </a:xfrm>
              <a:prstGeom prst="rect">
                <a:avLst/>
              </a:prstGeom>
              <a:blipFill>
                <a:blip r:embed="rId2"/>
                <a:stretch>
                  <a:fillRect l="-845" t="-707" r="-376"/>
                </a:stretch>
              </a:blipFill>
            </p:spPr>
            <p:txBody>
              <a:bodyPr/>
              <a:lstStyle/>
              <a:p>
                <a:r>
                  <a:rPr lang="zh-TW" altLang="en-US">
                    <a:noFill/>
                  </a:rPr>
                  <a:t> </a:t>
                </a:r>
              </a:p>
            </p:txBody>
          </p:sp>
        </mc:Fallback>
      </mc:AlternateContent>
      <p:sp>
        <p:nvSpPr>
          <p:cNvPr id="24" name="文字方塊 23">
            <a:extLst>
              <a:ext uri="{FF2B5EF4-FFF2-40B4-BE49-F238E27FC236}">
                <a16:creationId xmlns:a16="http://schemas.microsoft.com/office/drawing/2014/main" id="{99A50A7E-C7D9-49BF-BA9E-3AB385572A53}"/>
              </a:ext>
            </a:extLst>
          </p:cNvPr>
          <p:cNvSpPr txBox="1"/>
          <p:nvPr/>
        </p:nvSpPr>
        <p:spPr>
          <a:xfrm>
            <a:off x="27458" y="553537"/>
            <a:ext cx="6068542"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 for sensor area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D1A16747-822A-460F-A4C8-9C690F024C2A}"/>
                  </a:ext>
                </a:extLst>
              </p:cNvPr>
              <p:cNvSpPr txBox="1"/>
              <p:nvPr/>
            </p:nvSpPr>
            <p:spPr>
              <a:xfrm>
                <a:off x="152401" y="922869"/>
                <a:ext cx="5232404" cy="6586931"/>
              </a:xfrm>
              <a:prstGeom prst="rect">
                <a:avLst/>
              </a:prstGeom>
              <a:noFill/>
            </p:spPr>
            <p:txBody>
              <a:bodyPr wrap="square" rtlCol="0">
                <a:spAutoFit/>
              </a:bodyPr>
              <a:lstStyle/>
              <a:p>
                <a:pPr marL="342900" indent="-342900">
                  <a:buFont typeface="+mj-lt"/>
                  <a:buAutoNum type="arabicPeriod"/>
                </a:pPr>
                <a:r>
                  <a:rPr lang="en-US" altLang="zh-TW" dirty="0"/>
                  <a:t>Input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𝑎</m:t>
                        </m:r>
                      </m:sub>
                    </m:sSub>
                  </m:oMath>
                </a14:m>
                <a:r>
                  <a:rPr lang="zh-TW" altLang="en-US" dirty="0"/>
                  <a:t>，</a:t>
                </a:r>
                <a:r>
                  <a:rPr lang="en-US" altLang="zh-TW" dirty="0"/>
                  <a:t> These represent the numbers of divisions required along the three actuation axes </a:t>
                </a:r>
                <a14:m>
                  <m:oMath xmlns:m="http://schemas.openxmlformats.org/officeDocument/2006/math">
                    <m:r>
                      <a:rPr lang="en-US" altLang="zh-TW" b="0" i="0" smtClean="0">
                        <a:latin typeface="Cambria Math" panose="02040503050406030204" pitchFamily="18" charset="0"/>
                      </a:rPr>
                      <m:t>(</m:t>
                    </m:r>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𝑥</m:t>
                            </m:r>
                          </m:e>
                        </m:acc>
                      </m:e>
                      <m:sub>
                        <m:r>
                          <a:rPr lang="en-US" altLang="zh-TW" b="0" i="1" smtClean="0">
                            <a:latin typeface="Cambria Math" panose="02040503050406030204" pitchFamily="18" charset="0"/>
                          </a:rPr>
                          <m:t>𝑎</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𝑦</m:t>
                            </m:r>
                          </m:e>
                        </m:acc>
                      </m:e>
                      <m:sub>
                        <m:r>
                          <a:rPr lang="en-US" altLang="zh-TW" b="0" i="1" smtClean="0">
                            <a:latin typeface="Cambria Math" panose="02040503050406030204" pitchFamily="18" charset="0"/>
                          </a:rPr>
                          <m:t>𝑎</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𝑧</m:t>
                            </m:r>
                          </m:e>
                        </m:acc>
                      </m:e>
                      <m:sub>
                        <m:r>
                          <a:rPr lang="en-US" altLang="zh-TW" b="0" i="1" smtClean="0">
                            <a:latin typeface="Cambria Math" panose="02040503050406030204" pitchFamily="18" charset="0"/>
                          </a:rPr>
                          <m:t>𝑎</m:t>
                        </m:r>
                      </m:sub>
                    </m:sSub>
                    <m:r>
                      <a:rPr lang="en-US" altLang="zh-TW" b="0" i="1" smtClean="0">
                        <a:latin typeface="Cambria Math" panose="02040503050406030204" pitchFamily="18" charset="0"/>
                      </a:rPr>
                      <m:t>)</m:t>
                    </m:r>
                  </m:oMath>
                </a14:m>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Divided along its three actuation axes according to the following .</a:t>
                </a:r>
              </a:p>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𝑅</m:t>
                      </m:r>
                      <m:d>
                        <m:dPr>
                          <m:begChr m:val="["/>
                          <m:endChr m:val="]"/>
                          <m:ctrlPr>
                            <a:rPr lang="en-US" altLang="zh-TW"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1</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𝑎</m:t>
                                        </m:r>
                                      </m:sub>
                                    </m:sSub>
                                  </m:den>
                                </m:f>
                                <m:r>
                                  <m:rPr>
                                    <m:brk m:alnAt="7"/>
                                  </m:rPr>
                                  <a:rPr lang="en-US" altLang="zh-TW" b="0" i="1" smtClean="0">
                                    <a:latin typeface="Cambria Math" panose="02040503050406030204" pitchFamily="18" charset="0"/>
                                    <a:ea typeface="Cambria Math" panose="02040503050406030204" pitchFamily="18" charset="0"/>
                                  </a:rPr>
                                  <m:t> </m:t>
                                </m:r>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f>
                                        <m:fPr>
                                          <m:ctrlPr>
                                            <a:rPr lang="en-US" altLang="zh-TW" i="1">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1</m:t>
                                          </m:r>
                                        </m:num>
                                        <m:den>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𝑁</m:t>
                                              </m:r>
                                            </m:e>
                                            <m:sub>
                                              <m:r>
                                                <a:rPr lang="en-US" altLang="zh-TW" i="1">
                                                  <a:latin typeface="Cambria Math" panose="02040503050406030204" pitchFamily="18" charset="0"/>
                                                  <a:ea typeface="Cambria Math" panose="02040503050406030204" pitchFamily="18" charset="0"/>
                                                </a:rPr>
                                                <m:t>𝑎</m:t>
                                              </m:r>
                                            </m:sub>
                                          </m:sSub>
                                        </m:den>
                                      </m:f>
                                    </m:e>
                                    <m:e>
                                      <m:r>
                                        <a:rPr lang="en-US" altLang="zh-TW" b="0" i="1" smtClean="0">
                                          <a:latin typeface="Cambria Math" panose="02040503050406030204" pitchFamily="18" charset="0"/>
                                          <a:ea typeface="Cambria Math" panose="02040503050406030204" pitchFamily="18" charset="0"/>
                                        </a:rPr>
                                        <m:t>0 </m:t>
                                      </m:r>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   0</m:t>
                                            </m:r>
                                          </m:e>
                                          <m:e>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0</m:t>
                                                  </m:r>
                                                </m:e>
                                                <m:e>
                                                  <m:r>
                                                    <a:rPr lang="en-US" altLang="zh-TW" b="0" i="1" smtClean="0">
                                                      <a:latin typeface="Cambria Math" panose="02040503050406030204" pitchFamily="18" charset="0"/>
                                                      <a:ea typeface="Cambria Math" panose="02040503050406030204" pitchFamily="18" charset="0"/>
                                                    </a:rPr>
                                                    <m:t>    0</m:t>
                                                  </m:r>
                                                </m:e>
                                              </m:mr>
                                            </m:m>
                                            <m:r>
                                              <a:rPr lang="en-US" altLang="zh-TW" b="0" i="1" smtClean="0">
                                                <a:latin typeface="Cambria Math" panose="02040503050406030204" pitchFamily="18" charset="0"/>
                                                <a:ea typeface="Cambria Math" panose="02040503050406030204" pitchFamily="18" charset="0"/>
                                              </a:rPr>
                                              <m:t> </m:t>
                                            </m:r>
                                          </m:e>
                                        </m:mr>
                                      </m:m>
                                    </m:e>
                                  </m:mr>
                                </m:m>
                              </m:e>
                            </m:mr>
                            <m:mr>
                              <m:e>
                                <m:r>
                                  <a:rPr lang="en-US" altLang="zh-TW" b="0" i="1" smtClean="0">
                                    <a:latin typeface="Cambria Math" panose="02040503050406030204" pitchFamily="18" charset="0"/>
                                    <a:ea typeface="Cambria Math" panose="02040503050406030204" pitchFamily="18" charset="0"/>
                                  </a:rPr>
                                  <m:t>     0  </m:t>
                                </m:r>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0</m:t>
                                      </m:r>
                                    </m:e>
                                    <m:e>
                                      <m:r>
                                        <a:rPr lang="en-US" altLang="zh-TW" b="0" i="1" smtClean="0">
                                          <a:latin typeface="Cambria Math" panose="02040503050406030204" pitchFamily="18" charset="0"/>
                                          <a:ea typeface="Cambria Math" panose="02040503050406030204" pitchFamily="18" charset="0"/>
                                        </a:rPr>
                                        <m:t>  </m:t>
                                      </m:r>
                                    </m:e>
                                  </m:mr>
                                </m:m>
                                <m:f>
                                  <m:fPr>
                                    <m:ctrlPr>
                                      <a:rPr lang="en-US" altLang="zh-TW" i="1">
                                        <a:latin typeface="Cambria Math" panose="02040503050406030204" pitchFamily="18" charset="0"/>
                                        <a:ea typeface="Cambria Math" panose="02040503050406030204" pitchFamily="18" charset="0"/>
                                      </a:rPr>
                                    </m:ctrlPr>
                                  </m:fPr>
                                  <m:num>
                                    <m:r>
                                      <a:rPr lang="en-US" altLang="zh-TW" i="1">
                                        <a:latin typeface="Cambria Math" panose="02040503050406030204" pitchFamily="18" charset="0"/>
                                        <a:ea typeface="Cambria Math" panose="02040503050406030204" pitchFamily="18" charset="0"/>
                                      </a:rPr>
                                      <m:t>1</m:t>
                                    </m:r>
                                  </m:num>
                                  <m:den>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𝑁</m:t>
                                        </m:r>
                                      </m:e>
                                      <m:sub>
                                        <m:r>
                                          <a:rPr lang="en-US" altLang="zh-TW" i="1">
                                            <a:latin typeface="Cambria Math" panose="02040503050406030204" pitchFamily="18" charset="0"/>
                                            <a:ea typeface="Cambria Math" panose="02040503050406030204" pitchFamily="18" charset="0"/>
                                          </a:rPr>
                                          <m:t>𝑎</m:t>
                                        </m:r>
                                      </m:sub>
                                    </m:sSub>
                                  </m:den>
                                </m:f>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f>
                                        <m:fPr>
                                          <m:ctrlPr>
                                            <a:rPr lang="en-US" altLang="zh-TW" i="1">
                                              <a:latin typeface="Cambria Math" panose="02040503050406030204" pitchFamily="18" charset="0"/>
                                              <a:ea typeface="Cambria Math" panose="02040503050406030204" pitchFamily="18" charset="0"/>
                                            </a:rPr>
                                          </m:ctrlPr>
                                        </m:fPr>
                                        <m:num>
                                          <m:r>
                                            <a:rPr lang="en-US" altLang="zh-TW" i="1">
                                              <a:latin typeface="Cambria Math" panose="02040503050406030204" pitchFamily="18" charset="0"/>
                                              <a:ea typeface="Cambria Math" panose="02040503050406030204" pitchFamily="18" charset="0"/>
                                            </a:rPr>
                                            <m:t>−1</m:t>
                                          </m:r>
                                        </m:num>
                                        <m:den>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𝑁</m:t>
                                              </m:r>
                                            </m:e>
                                            <m:sub>
                                              <m:r>
                                                <a:rPr lang="en-US" altLang="zh-TW" i="1">
                                                  <a:latin typeface="Cambria Math" panose="02040503050406030204" pitchFamily="18" charset="0"/>
                                                  <a:ea typeface="Cambria Math" panose="02040503050406030204" pitchFamily="18" charset="0"/>
                                                </a:rPr>
                                                <m:t>𝑎</m:t>
                                              </m:r>
                                            </m:sub>
                                          </m:sSub>
                                        </m:den>
                                      </m:f>
                                    </m:e>
                                    <m:e>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0</m:t>
                                            </m:r>
                                          </m:e>
                                          <m:e>
                                            <m:r>
                                              <a:rPr lang="en-US" altLang="zh-TW" b="0" i="1" smtClean="0">
                                                <a:latin typeface="Cambria Math" panose="02040503050406030204" pitchFamily="18" charset="0"/>
                                                <a:ea typeface="Cambria Math" panose="02040503050406030204" pitchFamily="18" charset="0"/>
                                              </a:rPr>
                                              <m:t>0</m:t>
                                            </m:r>
                                          </m:e>
                                        </m:mr>
                                      </m:m>
                                    </m:e>
                                  </m:mr>
                                </m:m>
                              </m:e>
                            </m:mr>
                            <m:mr>
                              <m:e>
                                <m:r>
                                  <a:rPr lang="en-US" altLang="zh-TW" b="0" i="1" smtClean="0">
                                    <a:latin typeface="Cambria Math" panose="02040503050406030204" pitchFamily="18" charset="0"/>
                                    <a:ea typeface="Cambria Math" panose="02040503050406030204" pitchFamily="18" charset="0"/>
                                  </a:rPr>
                                  <m:t>        0  </m:t>
                                </m:r>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0</m:t>
                                      </m:r>
                                    </m:e>
                                    <m:e>
                                      <m:r>
                                        <a:rPr lang="en-US" altLang="zh-TW" b="0" i="1" smtClean="0">
                                          <a:latin typeface="Cambria Math" panose="02040503050406030204" pitchFamily="18" charset="0"/>
                                          <a:ea typeface="Cambria Math" panose="02040503050406030204" pitchFamily="18" charset="0"/>
                                        </a:rPr>
                                        <m:t>   0</m:t>
                                      </m:r>
                                    </m:e>
                                  </m:mr>
                                </m:m>
                                <m:r>
                                  <a:rPr lang="en-US" altLang="zh-TW" b="0" i="1" smtClean="0">
                                    <a:latin typeface="Cambria Math" panose="02040503050406030204" pitchFamily="18" charset="0"/>
                                    <a:ea typeface="Cambria Math" panose="02040503050406030204" pitchFamily="18" charset="0"/>
                                  </a:rPr>
                                  <m:t> </m:t>
                                </m:r>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0</m:t>
                                      </m:r>
                                    </m:e>
                                    <m:e>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f>
                                              <m:fPr>
                                                <m:ctrlPr>
                                                  <a:rPr lang="en-US" altLang="zh-TW" i="1">
                                                    <a:latin typeface="Cambria Math" panose="02040503050406030204" pitchFamily="18" charset="0"/>
                                                    <a:ea typeface="Cambria Math" panose="02040503050406030204" pitchFamily="18" charset="0"/>
                                                  </a:rPr>
                                                </m:ctrlPr>
                                              </m:fPr>
                                              <m:num>
                                                <m:r>
                                                  <a:rPr lang="en-US" altLang="zh-TW" i="1">
                                                    <a:latin typeface="Cambria Math" panose="02040503050406030204" pitchFamily="18" charset="0"/>
                                                    <a:ea typeface="Cambria Math" panose="02040503050406030204" pitchFamily="18" charset="0"/>
                                                  </a:rPr>
                                                  <m:t>1</m:t>
                                                </m:r>
                                              </m:num>
                                              <m:den>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𝑁</m:t>
                                                    </m:r>
                                                  </m:e>
                                                  <m:sub>
                                                    <m:r>
                                                      <a:rPr lang="en-US" altLang="zh-TW" i="1">
                                                        <a:latin typeface="Cambria Math" panose="02040503050406030204" pitchFamily="18" charset="0"/>
                                                        <a:ea typeface="Cambria Math" panose="02040503050406030204" pitchFamily="18" charset="0"/>
                                                      </a:rPr>
                                                      <m:t>𝑎</m:t>
                                                    </m:r>
                                                  </m:sub>
                                                </m:sSub>
                                              </m:den>
                                            </m:f>
                                          </m:e>
                                          <m:e>
                                            <m:f>
                                              <m:fPr>
                                                <m:ctrlPr>
                                                  <a:rPr lang="en-US" altLang="zh-TW" i="1">
                                                    <a:latin typeface="Cambria Math" panose="02040503050406030204" pitchFamily="18" charset="0"/>
                                                    <a:ea typeface="Cambria Math" panose="02040503050406030204" pitchFamily="18" charset="0"/>
                                                  </a:rPr>
                                                </m:ctrlPr>
                                              </m:fPr>
                                              <m:num>
                                                <m:r>
                                                  <a:rPr lang="en-US" altLang="zh-TW" i="1">
                                                    <a:latin typeface="Cambria Math" panose="02040503050406030204" pitchFamily="18" charset="0"/>
                                                    <a:ea typeface="Cambria Math" panose="02040503050406030204" pitchFamily="18" charset="0"/>
                                                  </a:rPr>
                                                  <m:t>−1</m:t>
                                                </m:r>
                                              </m:num>
                                              <m:den>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𝑁</m:t>
                                                    </m:r>
                                                  </m:e>
                                                  <m:sub>
                                                    <m:r>
                                                      <a:rPr lang="en-US" altLang="zh-TW" i="1">
                                                        <a:latin typeface="Cambria Math" panose="02040503050406030204" pitchFamily="18" charset="0"/>
                                                        <a:ea typeface="Cambria Math" panose="02040503050406030204" pitchFamily="18" charset="0"/>
                                                      </a:rPr>
                                                      <m:t>𝑎</m:t>
                                                    </m:r>
                                                  </m:sub>
                                                </m:sSub>
                                              </m:den>
                                            </m:f>
                                          </m:e>
                                        </m:mr>
                                      </m:m>
                                      <m:r>
                                        <a:rPr lang="en-US" altLang="zh-TW" b="0" i="1" smtClean="0">
                                          <a:latin typeface="Cambria Math" panose="02040503050406030204" pitchFamily="18" charset="0"/>
                                          <a:ea typeface="Cambria Math" panose="02040503050406030204" pitchFamily="18" charset="0"/>
                                        </a:rPr>
                                        <m:t>   </m:t>
                                      </m:r>
                                    </m:e>
                                  </m:mr>
                                </m:m>
                              </m:e>
                            </m:mr>
                          </m:m>
                        </m:e>
                      </m:d>
                    </m:oMath>
                  </m:oMathPara>
                </a14:m>
                <a:endParaRPr lang="en-US" altLang="zh-TW" dirty="0"/>
              </a:p>
              <a:p>
                <a:endParaRPr lang="en-US" altLang="zh-TW" dirty="0"/>
              </a:p>
              <a:p>
                <a:pPr lvl="1"/>
                <a:r>
                  <a:rPr lang="en-US" altLang="zh-TW" dirty="0"/>
                  <a:t>with an additional center point</a:t>
                </a:r>
              </a:p>
              <a:p>
                <a:pPr lvl="1"/>
                <a:r>
                  <a:rPr lang="en-US" altLang="zh-TW" dirty="0"/>
                  <a:t>Therefore, the total number of points is </a:t>
                </a:r>
              </a:p>
              <a:p>
                <a:pPr lvl="1"/>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𝑡𝑜𝑡</m:t>
                          </m:r>
                        </m:sub>
                      </m:sSub>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𝑎</m:t>
                              </m:r>
                            </m:sub>
                          </m:sSub>
                        </m:e>
                      </m:d>
                      <m:r>
                        <a:rPr lang="en-US" altLang="zh-TW" b="0" i="1" smtClean="0">
                          <a:latin typeface="Cambria Math" panose="02040503050406030204" pitchFamily="18" charset="0"/>
                        </a:rPr>
                        <m:t>=1+6</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𝑎</m:t>
                          </m:r>
                        </m:sub>
                      </m:sSub>
                    </m:oMath>
                  </m:oMathPara>
                </a14:m>
                <a:endParaRPr lang="en-US" altLang="zh-TW" dirty="0"/>
              </a:p>
              <a:p>
                <a:pPr lvl="1"/>
                <a:endParaRPr lang="en-US" altLang="zh-TW" dirty="0"/>
              </a:p>
              <a:p>
                <a:pPr marL="342900" indent="-342900">
                  <a:buFont typeface="+mj-lt"/>
                  <a:buAutoNum type="arabicPeriod" startAt="3"/>
                </a:pPr>
                <a:r>
                  <a:rPr lang="en-US" altLang="zh-TW" dirty="0"/>
                  <a:t>Load the FEM data and filter out the air nodes.</a:t>
                </a:r>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endParaRPr lang="zh-TW" altLang="en-US" dirty="0"/>
              </a:p>
            </p:txBody>
          </p:sp>
        </mc:Choice>
        <mc:Fallback xmlns="">
          <p:sp>
            <p:nvSpPr>
              <p:cNvPr id="31" name="文字方塊 30">
                <a:extLst>
                  <a:ext uri="{FF2B5EF4-FFF2-40B4-BE49-F238E27FC236}">
                    <a16:creationId xmlns:a16="http://schemas.microsoft.com/office/drawing/2014/main" id="{D1A16747-822A-460F-A4C8-9C690F024C2A}"/>
                  </a:ext>
                </a:extLst>
              </p:cNvPr>
              <p:cNvSpPr txBox="1">
                <a:spLocks noRot="1" noChangeAspect="1" noMove="1" noResize="1" noEditPoints="1" noAdjustHandles="1" noChangeArrowheads="1" noChangeShapeType="1" noTextEdit="1"/>
              </p:cNvSpPr>
              <p:nvPr/>
            </p:nvSpPr>
            <p:spPr>
              <a:xfrm>
                <a:off x="152401" y="922869"/>
                <a:ext cx="5232404" cy="6586931"/>
              </a:xfrm>
              <a:prstGeom prst="rect">
                <a:avLst/>
              </a:prstGeom>
              <a:blipFill>
                <a:blip r:embed="rId3"/>
                <a:stretch>
                  <a:fillRect l="-932" t="-463" r="-139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46345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680649BF-43EB-4D87-A80C-5D9C6A6A8C91}"/>
                  </a:ext>
                </a:extLst>
              </p:cNvPr>
              <p:cNvSpPr txBox="1"/>
              <p:nvPr/>
            </p:nvSpPr>
            <p:spPr>
              <a:xfrm>
                <a:off x="0" y="628372"/>
                <a:ext cx="11882359" cy="1505669"/>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t>The convergence criterion is defined as follows: check whether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and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r>
                  <a:rPr lang="en-US" altLang="zh-TW" dirty="0"/>
                  <a:t>remain within ±0.2% of their steady-state values for ten consecutive points. If this condition is satisfied, the first point is taken as the convergence point.</a:t>
                </a:r>
                <a14:m>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rPr>
                      <m:t>≤150</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oMath>
                </a14:m>
                <a:endParaRPr lang="en-US" altLang="zh-TW" dirty="0"/>
              </a:p>
              <a:p>
                <a:pPr marL="285750" indent="-285750">
                  <a:buFont typeface="Wingdings" panose="05000000000000000000" pitchFamily="2" charset="2"/>
                  <a:buChar char="l"/>
                </a:pPr>
                <a:r>
                  <a:rPr lang="en-US" altLang="zh-TW" dirty="0"/>
                  <a:t>Long</a:t>
                </a:r>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endParaRPr lang="zh-TW" altLang="en-US" dirty="0"/>
              </a:p>
            </p:txBody>
          </p:sp>
        </mc:Choice>
        <mc:Fallback xmlns="">
          <p:sp>
            <p:nvSpPr>
              <p:cNvPr id="16" name="文字方塊 15">
                <a:extLst>
                  <a:ext uri="{FF2B5EF4-FFF2-40B4-BE49-F238E27FC236}">
                    <a16:creationId xmlns:a16="http://schemas.microsoft.com/office/drawing/2014/main" id="{680649BF-43EB-4D87-A80C-5D9C6A6A8C91}"/>
                  </a:ext>
                </a:extLst>
              </p:cNvPr>
              <p:cNvSpPr txBox="1">
                <a:spLocks noRot="1" noChangeAspect="1" noMove="1" noResize="1" noEditPoints="1" noAdjustHandles="1" noChangeArrowheads="1" noChangeShapeType="1" noTextEdit="1"/>
              </p:cNvSpPr>
              <p:nvPr/>
            </p:nvSpPr>
            <p:spPr>
              <a:xfrm>
                <a:off x="0" y="628372"/>
                <a:ext cx="11882359" cy="1505669"/>
              </a:xfrm>
              <a:prstGeom prst="rect">
                <a:avLst/>
              </a:prstGeom>
              <a:blipFill>
                <a:blip r:embed="rId2"/>
                <a:stretch>
                  <a:fillRect l="-308" t="-405"/>
                </a:stretch>
              </a:blipFill>
            </p:spPr>
            <p:txBody>
              <a:bodyPr/>
              <a:lstStyle/>
              <a:p>
                <a:r>
                  <a:rPr lang="zh-TW" altLang="en-US">
                    <a:noFill/>
                  </a:rPr>
                  <a:t> </a:t>
                </a:r>
              </a:p>
            </p:txBody>
          </p:sp>
        </mc:Fallback>
      </mc:AlternateContent>
      <p:grpSp>
        <p:nvGrpSpPr>
          <p:cNvPr id="75" name="群組 74">
            <a:extLst>
              <a:ext uri="{FF2B5EF4-FFF2-40B4-BE49-F238E27FC236}">
                <a16:creationId xmlns:a16="http://schemas.microsoft.com/office/drawing/2014/main" id="{D86FAF83-6C71-44F2-A9A9-CE37D91D3FDD}"/>
              </a:ext>
            </a:extLst>
          </p:cNvPr>
          <p:cNvGrpSpPr/>
          <p:nvPr/>
        </p:nvGrpSpPr>
        <p:grpSpPr>
          <a:xfrm>
            <a:off x="246041" y="1608832"/>
            <a:ext cx="2916259" cy="2190627"/>
            <a:chOff x="996116" y="1515785"/>
            <a:chExt cx="3040806" cy="2354480"/>
          </a:xfrm>
        </p:grpSpPr>
        <p:pic>
          <p:nvPicPr>
            <p:cNvPr id="74" name="圖片 73">
              <a:extLst>
                <a:ext uri="{FF2B5EF4-FFF2-40B4-BE49-F238E27FC236}">
                  <a16:creationId xmlns:a16="http://schemas.microsoft.com/office/drawing/2014/main" id="{FD354B1E-5AC4-48E2-9ABD-405B30C345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9113" y="1515785"/>
              <a:ext cx="2937809" cy="2336800"/>
            </a:xfrm>
            <a:prstGeom prst="rect">
              <a:avLst/>
            </a:prstGeom>
          </p:spPr>
        </p:pic>
        <p:grpSp>
          <p:nvGrpSpPr>
            <p:cNvPr id="27" name="群組 26">
              <a:extLst>
                <a:ext uri="{FF2B5EF4-FFF2-40B4-BE49-F238E27FC236}">
                  <a16:creationId xmlns:a16="http://schemas.microsoft.com/office/drawing/2014/main" id="{720736BF-05DC-4FA3-BD2A-D5906CF89058}"/>
                </a:ext>
              </a:extLst>
            </p:cNvPr>
            <p:cNvGrpSpPr/>
            <p:nvPr/>
          </p:nvGrpSpPr>
          <p:grpSpPr>
            <a:xfrm>
              <a:off x="996116" y="2009108"/>
              <a:ext cx="2379855" cy="1861157"/>
              <a:chOff x="1389288" y="4640962"/>
              <a:chExt cx="2680142" cy="1935001"/>
            </a:xfrm>
          </p:grpSpPr>
          <p:grpSp>
            <p:nvGrpSpPr>
              <p:cNvPr id="26" name="群組 25">
                <a:extLst>
                  <a:ext uri="{FF2B5EF4-FFF2-40B4-BE49-F238E27FC236}">
                    <a16:creationId xmlns:a16="http://schemas.microsoft.com/office/drawing/2014/main" id="{AAFCFE30-B143-451C-BFFD-844F9CC3C8E4}"/>
                  </a:ext>
                </a:extLst>
              </p:cNvPr>
              <p:cNvGrpSpPr/>
              <p:nvPr/>
            </p:nvGrpSpPr>
            <p:grpSpPr>
              <a:xfrm>
                <a:off x="1492194" y="4640962"/>
                <a:ext cx="2465105" cy="1935001"/>
                <a:chOff x="1486147" y="4539197"/>
                <a:chExt cx="2147943" cy="1632863"/>
              </a:xfrm>
            </p:grpSpPr>
            <p:sp>
              <p:nvSpPr>
                <p:cNvPr id="25" name="矩形 24">
                  <a:extLst>
                    <a:ext uri="{FF2B5EF4-FFF2-40B4-BE49-F238E27FC236}">
                      <a16:creationId xmlns:a16="http://schemas.microsoft.com/office/drawing/2014/main" id="{50ABEE23-C0F3-4396-A9CE-84BD3E69946C}"/>
                    </a:ext>
                  </a:extLst>
                </p:cNvPr>
                <p:cNvSpPr/>
                <p:nvPr/>
              </p:nvSpPr>
              <p:spPr>
                <a:xfrm>
                  <a:off x="2554490" y="5994549"/>
                  <a:ext cx="1079600" cy="1775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E446723F-AF09-4EBB-8350-A64FF607BED4}"/>
                    </a:ext>
                  </a:extLst>
                </p:cNvPr>
                <p:cNvSpPr/>
                <p:nvPr/>
              </p:nvSpPr>
              <p:spPr>
                <a:xfrm rot="16200000">
                  <a:off x="1030464" y="4994880"/>
                  <a:ext cx="1079600" cy="1682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967F4FBF-AEED-4ECE-9557-6071629C0C5B}"/>
                      </a:ext>
                    </a:extLst>
                  </p:cNvPr>
                  <p:cNvSpPr txBox="1"/>
                  <p:nvPr/>
                </p:nvSpPr>
                <p:spPr>
                  <a:xfrm>
                    <a:off x="2687641" y="6360519"/>
                    <a:ext cx="13817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7" name="文字方塊 6">
                    <a:extLst>
                      <a:ext uri="{FF2B5EF4-FFF2-40B4-BE49-F238E27FC236}">
                        <a16:creationId xmlns:a16="http://schemas.microsoft.com/office/drawing/2014/main" id="{967F4FBF-AEED-4ECE-9557-6071629C0C5B}"/>
                      </a:ext>
                    </a:extLst>
                  </p:cNvPr>
                  <p:cNvSpPr txBox="1">
                    <a:spLocks noRot="1" noChangeAspect="1" noMove="1" noResize="1" noEditPoints="1" noAdjustHandles="1" noChangeArrowheads="1" noChangeShapeType="1" noTextEdit="1"/>
                  </p:cNvSpPr>
                  <p:nvPr/>
                </p:nvSpPr>
                <p:spPr>
                  <a:xfrm>
                    <a:off x="2687641" y="6360519"/>
                    <a:ext cx="1381789" cy="215444"/>
                  </a:xfrm>
                  <a:prstGeom prst="rect">
                    <a:avLst/>
                  </a:prstGeom>
                  <a:blipFill>
                    <a:blip r:embed="rId4"/>
                    <a:stretch>
                      <a:fillRect l="-2183" r="-3057" b="-2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8AD4E5C0-D7AA-4972-A8B5-D3FF74D2338A}"/>
                      </a:ext>
                    </a:extLst>
                  </p:cNvPr>
                  <p:cNvSpPr txBox="1"/>
                  <p:nvPr/>
                </p:nvSpPr>
                <p:spPr>
                  <a:xfrm rot="16200000">
                    <a:off x="906263" y="5209718"/>
                    <a:ext cx="1192585" cy="22653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13" name="文字方塊 12">
                    <a:extLst>
                      <a:ext uri="{FF2B5EF4-FFF2-40B4-BE49-F238E27FC236}">
                        <a16:creationId xmlns:a16="http://schemas.microsoft.com/office/drawing/2014/main" id="{8AD4E5C0-D7AA-4972-A8B5-D3FF74D2338A}"/>
                      </a:ext>
                    </a:extLst>
                  </p:cNvPr>
                  <p:cNvSpPr txBox="1">
                    <a:spLocks noRot="1" noChangeAspect="1" noMove="1" noResize="1" noEditPoints="1" noAdjustHandles="1" noChangeArrowheads="1" noChangeShapeType="1" noTextEdit="1"/>
                  </p:cNvSpPr>
                  <p:nvPr/>
                </p:nvSpPr>
                <p:spPr>
                  <a:xfrm rot="16200000">
                    <a:off x="906263" y="5209718"/>
                    <a:ext cx="1192585" cy="226536"/>
                  </a:xfrm>
                  <a:prstGeom prst="rect">
                    <a:avLst/>
                  </a:prstGeom>
                  <a:blipFill>
                    <a:blip r:embed="rId5"/>
                    <a:stretch>
                      <a:fillRect l="-23684" r="-28947"/>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graphicFrame>
            <p:nvGraphicFramePr>
              <p:cNvPr id="79" name="表格 79">
                <a:extLst>
                  <a:ext uri="{FF2B5EF4-FFF2-40B4-BE49-F238E27FC236}">
                    <a16:creationId xmlns:a16="http://schemas.microsoft.com/office/drawing/2014/main" id="{27DE5228-C8AB-4329-9CE7-6CB0E321B2BD}"/>
                  </a:ext>
                </a:extLst>
              </p:cNvPr>
              <p:cNvGraphicFramePr>
                <a:graphicFrameLocks noGrp="1"/>
              </p:cNvGraphicFramePr>
              <p:nvPr>
                <p:extLst>
                  <p:ext uri="{D42A27DB-BD31-4B8C-83A1-F6EECF244321}">
                    <p14:modId xmlns:p14="http://schemas.microsoft.com/office/powerpoint/2010/main" val="3871257787"/>
                  </p:ext>
                </p:extLst>
              </p:nvPr>
            </p:nvGraphicFramePr>
            <p:xfrm>
              <a:off x="141513" y="4074743"/>
              <a:ext cx="11243732" cy="2834384"/>
            </p:xfrm>
            <a:graphic>
              <a:graphicData uri="http://schemas.openxmlformats.org/drawingml/2006/table">
                <a:tbl>
                  <a:tblPr firstRow="1" bandRow="1">
                    <a:tableStyleId>{5940675A-B579-460E-94D1-54222C63F5DA}</a:tableStyleId>
                  </a:tblPr>
                  <a:tblGrid>
                    <a:gridCol w="2229154">
                      <a:extLst>
                        <a:ext uri="{9D8B030D-6E8A-4147-A177-3AD203B41FA5}">
                          <a16:colId xmlns:a16="http://schemas.microsoft.com/office/drawing/2014/main" val="4152913983"/>
                        </a:ext>
                      </a:extLst>
                    </a:gridCol>
                    <a:gridCol w="2486779">
                      <a:extLst>
                        <a:ext uri="{9D8B030D-6E8A-4147-A177-3AD203B41FA5}">
                          <a16:colId xmlns:a16="http://schemas.microsoft.com/office/drawing/2014/main" val="2719724219"/>
                        </a:ext>
                      </a:extLst>
                    </a:gridCol>
                    <a:gridCol w="1989667">
                      <a:extLst>
                        <a:ext uri="{9D8B030D-6E8A-4147-A177-3AD203B41FA5}">
                          <a16:colId xmlns:a16="http://schemas.microsoft.com/office/drawing/2014/main" val="3621208620"/>
                        </a:ext>
                      </a:extLst>
                    </a:gridCol>
                    <a:gridCol w="1955800">
                      <a:extLst>
                        <a:ext uri="{9D8B030D-6E8A-4147-A177-3AD203B41FA5}">
                          <a16:colId xmlns:a16="http://schemas.microsoft.com/office/drawing/2014/main" val="1836300288"/>
                        </a:ext>
                      </a:extLst>
                    </a:gridCol>
                    <a:gridCol w="2582332">
                      <a:extLst>
                        <a:ext uri="{9D8B030D-6E8A-4147-A177-3AD203B41FA5}">
                          <a16:colId xmlns:a16="http://schemas.microsoft.com/office/drawing/2014/main" val="1620865351"/>
                        </a:ext>
                      </a:extLst>
                    </a:gridCol>
                  </a:tblGrid>
                  <a:tr h="859103">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r>
                            <a:rPr lang="en-US" altLang="zh-TW" dirty="0"/>
                            <a:t>Number of points at convergence</a:t>
                          </a:r>
                          <a:endParaRPr lang="zh-TW" altLang="en-US" dirty="0"/>
                        </a:p>
                      </a:txBody>
                      <a:tcPr/>
                    </a:tc>
                    <a:tc>
                      <a:txBody>
                        <a:bodyPr/>
                        <a:lstStyle/>
                        <a:p>
                          <a:r>
                            <a:rPr lang="en-US" altLang="zh-TW" dirty="0"/>
                            <a:t>Calibration value at the convergence point</a:t>
                          </a:r>
                          <a:endParaRPr lang="zh-TW" altLang="en-US" dirty="0"/>
                        </a:p>
                      </a:txBody>
                      <a:tcPr/>
                    </a:tc>
                    <a:tc>
                      <a:txBody>
                        <a:bodyPr/>
                        <a:lstStyle/>
                        <a:p>
                          <a:r>
                            <a:rPr lang="en-US" altLang="zh-TW" dirty="0"/>
                            <a:t>Calibration value using all nodes</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Steady-state value</a:t>
                          </a:r>
                        </a:p>
                        <a:p>
                          <a:endParaRPr lang="zh-TW" altLang="en-US" dirty="0"/>
                        </a:p>
                      </a:txBody>
                      <a:tcPr/>
                    </a:tc>
                    <a:extLst>
                      <a:ext uri="{0D108BD9-81ED-4DB2-BD59-A6C34878D82A}">
                        <a16:rowId xmlns:a16="http://schemas.microsoft.com/office/drawing/2014/main" val="3608300422"/>
                      </a:ext>
                    </a:extLst>
                  </a:tr>
                  <a:tr h="429552">
                    <a:tc rowSpan="2">
                      <a:txBody>
                        <a:bodyPr/>
                        <a:lstStyle/>
                        <a:p>
                          <a:pPr algn="ctr"/>
                          <a:r>
                            <a:rPr lang="en-US" altLang="zh-TW" dirty="0"/>
                            <a:t>Single parameter</a:t>
                          </a:r>
                          <a:endParaRPr lang="zh-TW" altLang="en-US" dirty="0"/>
                        </a:p>
                      </a:txBody>
                      <a:tcPr/>
                    </a:tc>
                    <a:tc rowSpan="2">
                      <a:txBody>
                        <a:bodyPr/>
                        <a:lstStyle/>
                        <a:p>
                          <a14:m>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(7)</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(31)</m:t>
                                  </m:r>
                                </m:e>
                              </m:sPre>
                              <m:r>
                                <a:rPr lang="zh-TW" altLang="en-US" i="1" smtClean="0">
                                  <a:latin typeface="Cambria Math" panose="02040503050406030204" pitchFamily="18" charset="0"/>
                                </a:rPr>
                                <m:t>→</m:t>
                              </m:r>
                              <m:r>
                                <a:rPr lang="en-US" altLang="zh-TW" b="0" i="1" smtClean="0">
                                  <a:latin typeface="Cambria Math" panose="02040503050406030204" pitchFamily="18" charset="0"/>
                                </a:rPr>
                                <m:t>31</m:t>
                              </m:r>
                            </m:oMath>
                          </a14:m>
                          <a:r>
                            <a:rPr lang="en-US" altLang="zh-TW" dirty="0"/>
                            <a:t>points</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870.59</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m:oMathPara>
                          </a14:m>
                          <a:endParaRPr lang="zh-TW" altLang="en-US" dirty="0"/>
                        </a:p>
                      </a:txBody>
                      <a:tcPr/>
                    </a:tc>
                    <a:tc>
                      <a:txBody>
                        <a:bodyPr/>
                        <a:lstStyle/>
                        <a:p>
                          <a:pPr algn="ctr"/>
                          <a:r>
                            <a:rPr lang="en-US" altLang="zh-TW" dirty="0"/>
                            <a:t>874.25</a:t>
                          </a:r>
                          <a14:m>
                            <m:oMath xmlns:m="http://schemas.openxmlformats.org/officeDocument/2006/math">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tc>
                      <a:txBody>
                        <a:bodyPr/>
                        <a:lstStyle/>
                        <a:p>
                          <a:pPr algn="ctr"/>
                          <a:r>
                            <a:rPr lang="en-US" altLang="zh-TW" dirty="0"/>
                            <a:t>871.00</a:t>
                          </a:r>
                          <a14:m>
                            <m:oMath xmlns:m="http://schemas.openxmlformats.org/officeDocument/2006/math">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extLst>
                      <a:ext uri="{0D108BD9-81ED-4DB2-BD59-A6C34878D82A}">
                        <a16:rowId xmlns:a16="http://schemas.microsoft.com/office/drawing/2014/main" val="2325691140"/>
                      </a:ext>
                    </a:extLst>
                  </a:tr>
                  <a:tr h="429552">
                    <a:tc vMerge="1">
                      <a:txBody>
                        <a:bodyPr/>
                        <a:lstStyle/>
                        <a:p>
                          <a:endParaRPr lang="zh-TW" altLang="en-US"/>
                        </a:p>
                      </a:txBody>
                      <a:tcPr/>
                    </a:tc>
                    <a:tc vMerge="1">
                      <a:txBody>
                        <a:bodyPr/>
                        <a:lstStyle/>
                        <a:p>
                          <a:endParaRPr lang="zh-TW" altLang="en-US"/>
                        </a:p>
                      </a:txBody>
                      <a:tcPr/>
                    </a:tc>
                    <a:tc>
                      <a:txBody>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9.68</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m:oMathPara>
                          </a14:m>
                          <a:endParaRPr lang="zh-TW" altLang="en-US" dirty="0"/>
                        </a:p>
                      </a:txBody>
                      <a:tcPr/>
                    </a:tc>
                    <a:tc>
                      <a:txBody>
                        <a:bodyPr/>
                        <a:lstStyle/>
                        <a:p>
                          <a:pPr algn="ctr"/>
                          <a:r>
                            <a:rPr lang="en-US" altLang="zh-TW" dirty="0"/>
                            <a:t>9.67</a:t>
                          </a:r>
                          <a14:m>
                            <m:oMath xmlns:m="http://schemas.openxmlformats.org/officeDocument/2006/math">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tc>
                      <a:txBody>
                        <a:bodyPr/>
                        <a:lstStyle/>
                        <a:p>
                          <a:pPr algn="ctr"/>
                          <a:r>
                            <a:rPr lang="en-US" altLang="zh-TW" dirty="0"/>
                            <a:t>9.69</a:t>
                          </a:r>
                          <a14:m>
                            <m:oMath xmlns:m="http://schemas.openxmlformats.org/officeDocument/2006/math">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extLst>
                      <a:ext uri="{0D108BD9-81ED-4DB2-BD59-A6C34878D82A}">
                        <a16:rowId xmlns:a16="http://schemas.microsoft.com/office/drawing/2014/main" val="556670571"/>
                      </a:ext>
                    </a:extLst>
                  </a:tr>
                  <a:tr h="471234">
                    <a:tc rowSpan="2">
                      <a:txBody>
                        <a:bodyPr/>
                        <a:lstStyle/>
                        <a:p>
                          <a:pPr algn="ctr"/>
                          <a:r>
                            <a:rPr lang="en-US" altLang="zh-TW" dirty="0"/>
                            <a:t>Eighteen parameters</a:t>
                          </a:r>
                          <a:endParaRPr lang="zh-TW" altLang="en-US" dirty="0"/>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(7)</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(25)</m:t>
                                  </m:r>
                                </m:e>
                              </m:sPre>
                              <m:r>
                                <a:rPr lang="zh-TW" altLang="en-US" i="1" smtClean="0">
                                  <a:latin typeface="Cambria Math" panose="02040503050406030204" pitchFamily="18" charset="0"/>
                                </a:rPr>
                                <m:t>→</m:t>
                              </m:r>
                              <m:r>
                                <a:rPr lang="en-US" altLang="zh-TW" b="0" i="1" smtClean="0">
                                  <a:latin typeface="Cambria Math" panose="02040503050406030204" pitchFamily="18" charset="0"/>
                                </a:rPr>
                                <m:t>25</m:t>
                              </m:r>
                            </m:oMath>
                          </a14:m>
                          <a:r>
                            <a:rPr lang="en-US" altLang="zh-TW" dirty="0"/>
                            <a:t>points</a:t>
                          </a:r>
                          <a:endParaRPr lang="zh-TW" altLang="en-US" dirty="0"/>
                        </a:p>
                        <a:p>
                          <a:endParaRPr lang="zh-TW" alt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867.88</m:t>
                                </m:r>
                                <m:r>
                                  <a:rPr lang="zh-TW" altLang="en-US" sz="1400" b="0" i="1" smtClean="0">
                                    <a:latin typeface="Cambria Math" panose="02040503050406030204" pitchFamily="18" charset="0"/>
                                  </a:rPr>
                                  <m:t>𝜇</m:t>
                                </m:r>
                                <m:r>
                                  <a:rPr lang="en-US" altLang="zh-TW" sz="1400" b="0" i="1" smtClean="0">
                                    <a:latin typeface="Cambria Math" panose="02040503050406030204" pitchFamily="18" charset="0"/>
                                  </a:rPr>
                                  <m:t>𝑚</m:t>
                                </m:r>
                              </m:oMath>
                            </m:oMathPara>
                          </a14:m>
                          <a:endParaRPr lang="zh-TW" altLang="en-US" sz="1400" dirty="0"/>
                        </a:p>
                      </a:txBody>
                      <a:tcPr/>
                    </a:tc>
                    <a:tc>
                      <a:txBody>
                        <a:bodyPr/>
                        <a:lstStyle/>
                        <a:p>
                          <a:pPr algn="ctr"/>
                          <a:r>
                            <a:rPr lang="en-US" altLang="zh-TW" sz="1400" dirty="0"/>
                            <a:t>873.96</a:t>
                          </a:r>
                          <a14:m>
                            <m:oMath xmlns:m="http://schemas.openxmlformats.org/officeDocument/2006/math">
                              <m:r>
                                <a:rPr lang="zh-TW" altLang="en-US" sz="1400" b="0" i="1" smtClean="0">
                                  <a:latin typeface="Cambria Math" panose="02040503050406030204" pitchFamily="18" charset="0"/>
                                </a:rPr>
                                <m:t>𝜇</m:t>
                              </m:r>
                              <m:r>
                                <a:rPr lang="en-US" altLang="zh-TW" sz="1400" b="0" i="1" smtClean="0">
                                  <a:latin typeface="Cambria Math" panose="02040503050406030204" pitchFamily="18" charset="0"/>
                                </a:rPr>
                                <m:t>𝑚</m:t>
                              </m:r>
                            </m:oMath>
                          </a14:m>
                          <a:endParaRPr lang="zh-TW" altLang="en-US" sz="1400" dirty="0"/>
                        </a:p>
                      </a:txBody>
                      <a:tcPr/>
                    </a:tc>
                    <a:tc>
                      <a:txBody>
                        <a:bodyPr/>
                        <a:lstStyle/>
                        <a:p>
                          <a:pPr algn="ctr"/>
                          <a:r>
                            <a:rPr lang="en-US" altLang="zh-TW" dirty="0"/>
                            <a:t>868.57</a:t>
                          </a:r>
                          <a14:m>
                            <m:oMath xmlns:m="http://schemas.openxmlformats.org/officeDocument/2006/math">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extLst>
                      <a:ext uri="{0D108BD9-81ED-4DB2-BD59-A6C34878D82A}">
                        <a16:rowId xmlns:a16="http://schemas.microsoft.com/office/drawing/2014/main" val="1432721735"/>
                      </a:ext>
                    </a:extLst>
                  </a:tr>
                  <a:tr h="589646">
                    <a:tc vMerge="1">
                      <a:txBody>
                        <a:bodyPr/>
                        <a:lstStyle/>
                        <a:p>
                          <a:endParaRPr lang="zh-TW" altLang="en-US"/>
                        </a:p>
                      </a:txBody>
                      <a:tcPr/>
                    </a:tc>
                    <a:tc vMerge="1">
                      <a:txBody>
                        <a:bodyPr/>
                        <a:lstStyle/>
                        <a:p>
                          <a:endParaRPr lang="zh-TW"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10.65</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oMath>
                            </m:oMathPara>
                          </a14:m>
                          <a:endParaRPr lang="zh-TW" altLang="en-US" sz="1400" dirty="0"/>
                        </a:p>
                        <a:p>
                          <a:endParaRPr lang="zh-TW" altLang="en-US" sz="1400" dirty="0"/>
                        </a:p>
                      </a:txBody>
                      <a:tcPr/>
                    </a:tc>
                    <a:tc>
                      <a:txBody>
                        <a:bodyPr/>
                        <a:lstStyle/>
                        <a:p>
                          <a:pPr algn="ctr"/>
                          <a:r>
                            <a:rPr lang="en-US" altLang="zh-TW" dirty="0"/>
                            <a:t>10.75</a:t>
                          </a:r>
                          <a14:m>
                            <m:oMath xmlns:m="http://schemas.openxmlformats.org/officeDocument/2006/math">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tc>
                      <a:txBody>
                        <a:bodyPr/>
                        <a:lstStyle/>
                        <a:p>
                          <a:pPr algn="ctr"/>
                          <a:r>
                            <a:rPr lang="en-US" altLang="zh-TW" dirty="0"/>
                            <a:t>10.64</a:t>
                          </a:r>
                          <a14:m>
                            <m:oMath xmlns:m="http://schemas.openxmlformats.org/officeDocument/2006/math">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extLst>
                      <a:ext uri="{0D108BD9-81ED-4DB2-BD59-A6C34878D82A}">
                        <a16:rowId xmlns:a16="http://schemas.microsoft.com/office/drawing/2014/main" val="2179688753"/>
                      </a:ext>
                    </a:extLst>
                  </a:tr>
                </a:tbl>
              </a:graphicData>
            </a:graphic>
          </p:graphicFrame>
        </mc:Choice>
        <mc:Fallback xmlns="">
          <p:graphicFrame>
            <p:nvGraphicFramePr>
              <p:cNvPr id="79" name="表格 79">
                <a:extLst>
                  <a:ext uri="{FF2B5EF4-FFF2-40B4-BE49-F238E27FC236}">
                    <a16:creationId xmlns:a16="http://schemas.microsoft.com/office/drawing/2014/main" id="{27DE5228-C8AB-4329-9CE7-6CB0E321B2BD}"/>
                  </a:ext>
                </a:extLst>
              </p:cNvPr>
              <p:cNvGraphicFramePr>
                <a:graphicFrameLocks noGrp="1"/>
              </p:cNvGraphicFramePr>
              <p:nvPr>
                <p:extLst>
                  <p:ext uri="{D42A27DB-BD31-4B8C-83A1-F6EECF244321}">
                    <p14:modId xmlns:p14="http://schemas.microsoft.com/office/powerpoint/2010/main" val="3871257787"/>
                  </p:ext>
                </p:extLst>
              </p:nvPr>
            </p:nvGraphicFramePr>
            <p:xfrm>
              <a:off x="141513" y="4074743"/>
              <a:ext cx="11243732" cy="2834384"/>
            </p:xfrm>
            <a:graphic>
              <a:graphicData uri="http://schemas.openxmlformats.org/drawingml/2006/table">
                <a:tbl>
                  <a:tblPr firstRow="1" bandRow="1">
                    <a:tableStyleId>{5940675A-B579-460E-94D1-54222C63F5DA}</a:tableStyleId>
                  </a:tblPr>
                  <a:tblGrid>
                    <a:gridCol w="2229154">
                      <a:extLst>
                        <a:ext uri="{9D8B030D-6E8A-4147-A177-3AD203B41FA5}">
                          <a16:colId xmlns:a16="http://schemas.microsoft.com/office/drawing/2014/main" val="4152913983"/>
                        </a:ext>
                      </a:extLst>
                    </a:gridCol>
                    <a:gridCol w="2486779">
                      <a:extLst>
                        <a:ext uri="{9D8B030D-6E8A-4147-A177-3AD203B41FA5}">
                          <a16:colId xmlns:a16="http://schemas.microsoft.com/office/drawing/2014/main" val="2719724219"/>
                        </a:ext>
                      </a:extLst>
                    </a:gridCol>
                    <a:gridCol w="1989667">
                      <a:extLst>
                        <a:ext uri="{9D8B030D-6E8A-4147-A177-3AD203B41FA5}">
                          <a16:colId xmlns:a16="http://schemas.microsoft.com/office/drawing/2014/main" val="3621208620"/>
                        </a:ext>
                      </a:extLst>
                    </a:gridCol>
                    <a:gridCol w="1955800">
                      <a:extLst>
                        <a:ext uri="{9D8B030D-6E8A-4147-A177-3AD203B41FA5}">
                          <a16:colId xmlns:a16="http://schemas.microsoft.com/office/drawing/2014/main" val="1836300288"/>
                        </a:ext>
                      </a:extLst>
                    </a:gridCol>
                    <a:gridCol w="2582332">
                      <a:extLst>
                        <a:ext uri="{9D8B030D-6E8A-4147-A177-3AD203B41FA5}">
                          <a16:colId xmlns:a16="http://schemas.microsoft.com/office/drawing/2014/main" val="1620865351"/>
                        </a:ext>
                      </a:extLst>
                    </a:gridCol>
                  </a:tblGrid>
                  <a:tr h="91440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r>
                            <a:rPr lang="en-US" altLang="zh-TW" dirty="0"/>
                            <a:t>Number of points at convergence</a:t>
                          </a:r>
                          <a:endParaRPr lang="zh-TW" altLang="en-US" dirty="0"/>
                        </a:p>
                      </a:txBody>
                      <a:tcPr/>
                    </a:tc>
                    <a:tc>
                      <a:txBody>
                        <a:bodyPr/>
                        <a:lstStyle/>
                        <a:p>
                          <a:r>
                            <a:rPr lang="en-US" altLang="zh-TW" dirty="0"/>
                            <a:t>Calibration value at the convergence point</a:t>
                          </a:r>
                          <a:endParaRPr lang="zh-TW" altLang="en-US" dirty="0"/>
                        </a:p>
                      </a:txBody>
                      <a:tcPr/>
                    </a:tc>
                    <a:tc>
                      <a:txBody>
                        <a:bodyPr/>
                        <a:lstStyle/>
                        <a:p>
                          <a:r>
                            <a:rPr lang="en-US" altLang="zh-TW" dirty="0"/>
                            <a:t>Calibration value using all nodes</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Steady-state value</a:t>
                          </a:r>
                        </a:p>
                        <a:p>
                          <a:endParaRPr lang="zh-TW" altLang="en-US" dirty="0"/>
                        </a:p>
                      </a:txBody>
                      <a:tcPr/>
                    </a:tc>
                    <a:extLst>
                      <a:ext uri="{0D108BD9-81ED-4DB2-BD59-A6C34878D82A}">
                        <a16:rowId xmlns:a16="http://schemas.microsoft.com/office/drawing/2014/main" val="3608300422"/>
                      </a:ext>
                    </a:extLst>
                  </a:tr>
                  <a:tr h="429552">
                    <a:tc rowSpan="2">
                      <a:txBody>
                        <a:bodyPr/>
                        <a:lstStyle/>
                        <a:p>
                          <a:pPr algn="ctr"/>
                          <a:r>
                            <a:rPr lang="en-US" altLang="zh-TW" dirty="0"/>
                            <a:t>Single parameter</a:t>
                          </a:r>
                          <a:endParaRPr lang="zh-TW" altLang="en-US" dirty="0"/>
                        </a:p>
                      </a:txBody>
                      <a:tcPr/>
                    </a:tc>
                    <a:tc rowSpan="2">
                      <a:txBody>
                        <a:bodyPr/>
                        <a:lstStyle/>
                        <a:p>
                          <a:endParaRPr lang="zh-TW"/>
                        </a:p>
                      </a:txBody>
                      <a:tcPr>
                        <a:blipFill>
                          <a:blip r:embed="rId6"/>
                          <a:stretch>
                            <a:fillRect l="-89951" t="-109155" r="-262990" b="-172535"/>
                          </a:stretch>
                        </a:blipFill>
                      </a:tcPr>
                    </a:tc>
                    <a:tc>
                      <a:txBody>
                        <a:bodyPr/>
                        <a:lstStyle/>
                        <a:p>
                          <a:endParaRPr lang="zh-TW"/>
                        </a:p>
                      </a:txBody>
                      <a:tcPr>
                        <a:blipFill>
                          <a:blip r:embed="rId6"/>
                          <a:stretch>
                            <a:fillRect l="-237730" t="-218310" r="-229141" b="-445070"/>
                          </a:stretch>
                        </a:blipFill>
                      </a:tcPr>
                    </a:tc>
                    <a:tc>
                      <a:txBody>
                        <a:bodyPr/>
                        <a:lstStyle/>
                        <a:p>
                          <a:endParaRPr lang="zh-TW"/>
                        </a:p>
                      </a:txBody>
                      <a:tcPr>
                        <a:blipFill>
                          <a:blip r:embed="rId6"/>
                          <a:stretch>
                            <a:fillRect l="-342991" t="-218310" r="-132710" b="-445070"/>
                          </a:stretch>
                        </a:blipFill>
                      </a:tcPr>
                    </a:tc>
                    <a:tc>
                      <a:txBody>
                        <a:bodyPr/>
                        <a:lstStyle/>
                        <a:p>
                          <a:endParaRPr lang="zh-TW"/>
                        </a:p>
                      </a:txBody>
                      <a:tcPr>
                        <a:blipFill>
                          <a:blip r:embed="rId6"/>
                          <a:stretch>
                            <a:fillRect l="-335377" t="-218310" r="-472" b="-445070"/>
                          </a:stretch>
                        </a:blipFill>
                      </a:tcPr>
                    </a:tc>
                    <a:extLst>
                      <a:ext uri="{0D108BD9-81ED-4DB2-BD59-A6C34878D82A}">
                        <a16:rowId xmlns:a16="http://schemas.microsoft.com/office/drawing/2014/main" val="2325691140"/>
                      </a:ext>
                    </a:extLst>
                  </a:tr>
                  <a:tr h="429552">
                    <a:tc vMerge="1">
                      <a:txBody>
                        <a:bodyPr/>
                        <a:lstStyle/>
                        <a:p>
                          <a:endParaRPr lang="zh-TW" altLang="en-US"/>
                        </a:p>
                      </a:txBody>
                      <a:tcPr/>
                    </a:tc>
                    <a:tc vMerge="1">
                      <a:txBody>
                        <a:bodyPr/>
                        <a:lstStyle/>
                        <a:p>
                          <a:endParaRPr lang="zh-TW" altLang="en-US"/>
                        </a:p>
                      </a:txBody>
                      <a:tcPr/>
                    </a:tc>
                    <a:tc>
                      <a:txBody>
                        <a:bodyPr/>
                        <a:lstStyle/>
                        <a:p>
                          <a:endParaRPr lang="zh-TW"/>
                        </a:p>
                      </a:txBody>
                      <a:tcPr>
                        <a:blipFill>
                          <a:blip r:embed="rId6"/>
                          <a:stretch>
                            <a:fillRect l="-237730" t="-318310" r="-229141" b="-345070"/>
                          </a:stretch>
                        </a:blipFill>
                      </a:tcPr>
                    </a:tc>
                    <a:tc>
                      <a:txBody>
                        <a:bodyPr/>
                        <a:lstStyle/>
                        <a:p>
                          <a:endParaRPr lang="zh-TW"/>
                        </a:p>
                      </a:txBody>
                      <a:tcPr>
                        <a:blipFill>
                          <a:blip r:embed="rId6"/>
                          <a:stretch>
                            <a:fillRect l="-342991" t="-318310" r="-132710" b="-345070"/>
                          </a:stretch>
                        </a:blipFill>
                      </a:tcPr>
                    </a:tc>
                    <a:tc>
                      <a:txBody>
                        <a:bodyPr/>
                        <a:lstStyle/>
                        <a:p>
                          <a:endParaRPr lang="zh-TW"/>
                        </a:p>
                      </a:txBody>
                      <a:tcPr>
                        <a:blipFill>
                          <a:blip r:embed="rId6"/>
                          <a:stretch>
                            <a:fillRect l="-335377" t="-318310" r="-472" b="-345070"/>
                          </a:stretch>
                        </a:blipFill>
                      </a:tcPr>
                    </a:tc>
                    <a:extLst>
                      <a:ext uri="{0D108BD9-81ED-4DB2-BD59-A6C34878D82A}">
                        <a16:rowId xmlns:a16="http://schemas.microsoft.com/office/drawing/2014/main" val="556670571"/>
                      </a:ext>
                    </a:extLst>
                  </a:tr>
                  <a:tr h="471234">
                    <a:tc rowSpan="2">
                      <a:txBody>
                        <a:bodyPr/>
                        <a:lstStyle/>
                        <a:p>
                          <a:pPr algn="ctr"/>
                          <a:r>
                            <a:rPr lang="en-US" altLang="zh-TW" dirty="0"/>
                            <a:t>Eighteen parameters</a:t>
                          </a:r>
                          <a:endParaRPr lang="zh-TW" altLang="en-US" dirty="0"/>
                        </a:p>
                      </a:txBody>
                      <a:tcPr/>
                    </a:tc>
                    <a:tc rowSpan="2">
                      <a:txBody>
                        <a:bodyPr/>
                        <a:lstStyle/>
                        <a:p>
                          <a:endParaRPr lang="zh-TW"/>
                        </a:p>
                      </a:txBody>
                      <a:tcPr>
                        <a:blipFill>
                          <a:blip r:embed="rId6"/>
                          <a:stretch>
                            <a:fillRect l="-89951" t="-170690" r="-262990" b="-40805"/>
                          </a:stretch>
                        </a:blipFill>
                      </a:tcPr>
                    </a:tc>
                    <a:tc>
                      <a:txBody>
                        <a:bodyPr/>
                        <a:lstStyle/>
                        <a:p>
                          <a:endParaRPr lang="zh-TW"/>
                        </a:p>
                      </a:txBody>
                      <a:tcPr>
                        <a:blipFill>
                          <a:blip r:embed="rId6"/>
                          <a:stretch>
                            <a:fillRect l="-237730" t="-385714" r="-229141" b="-218182"/>
                          </a:stretch>
                        </a:blipFill>
                      </a:tcPr>
                    </a:tc>
                    <a:tc>
                      <a:txBody>
                        <a:bodyPr/>
                        <a:lstStyle/>
                        <a:p>
                          <a:endParaRPr lang="zh-TW"/>
                        </a:p>
                      </a:txBody>
                      <a:tcPr>
                        <a:blipFill>
                          <a:blip r:embed="rId6"/>
                          <a:stretch>
                            <a:fillRect l="-342991" t="-385714" r="-132710" b="-218182"/>
                          </a:stretch>
                        </a:blipFill>
                      </a:tcPr>
                    </a:tc>
                    <a:tc>
                      <a:txBody>
                        <a:bodyPr/>
                        <a:lstStyle/>
                        <a:p>
                          <a:endParaRPr lang="zh-TW"/>
                        </a:p>
                      </a:txBody>
                      <a:tcPr>
                        <a:blipFill>
                          <a:blip r:embed="rId6"/>
                          <a:stretch>
                            <a:fillRect l="-335377" t="-385714" r="-472" b="-218182"/>
                          </a:stretch>
                        </a:blipFill>
                      </a:tcPr>
                    </a:tc>
                    <a:extLst>
                      <a:ext uri="{0D108BD9-81ED-4DB2-BD59-A6C34878D82A}">
                        <a16:rowId xmlns:a16="http://schemas.microsoft.com/office/drawing/2014/main" val="1432721735"/>
                      </a:ext>
                    </a:extLst>
                  </a:tr>
                  <a:tr h="589646">
                    <a:tc vMerge="1">
                      <a:txBody>
                        <a:bodyPr/>
                        <a:lstStyle/>
                        <a:p>
                          <a:endParaRPr lang="zh-TW" altLang="en-US"/>
                        </a:p>
                      </a:txBody>
                      <a:tcPr/>
                    </a:tc>
                    <a:tc vMerge="1">
                      <a:txBody>
                        <a:bodyPr/>
                        <a:lstStyle/>
                        <a:p>
                          <a:endParaRPr lang="zh-TW" altLang="en-US"/>
                        </a:p>
                      </a:txBody>
                      <a:tcPr/>
                    </a:tc>
                    <a:tc>
                      <a:txBody>
                        <a:bodyPr/>
                        <a:lstStyle/>
                        <a:p>
                          <a:endParaRPr lang="zh-TW"/>
                        </a:p>
                      </a:txBody>
                      <a:tcPr>
                        <a:blipFill>
                          <a:blip r:embed="rId6"/>
                          <a:stretch>
                            <a:fillRect l="-237730" t="-385567" r="-229141" b="-73196"/>
                          </a:stretch>
                        </a:blipFill>
                      </a:tcPr>
                    </a:tc>
                    <a:tc>
                      <a:txBody>
                        <a:bodyPr/>
                        <a:lstStyle/>
                        <a:p>
                          <a:endParaRPr lang="zh-TW"/>
                        </a:p>
                      </a:txBody>
                      <a:tcPr>
                        <a:blipFill>
                          <a:blip r:embed="rId6"/>
                          <a:stretch>
                            <a:fillRect l="-342991" t="-385567" r="-132710" b="-73196"/>
                          </a:stretch>
                        </a:blipFill>
                      </a:tcPr>
                    </a:tc>
                    <a:tc>
                      <a:txBody>
                        <a:bodyPr/>
                        <a:lstStyle/>
                        <a:p>
                          <a:endParaRPr lang="zh-TW"/>
                        </a:p>
                      </a:txBody>
                      <a:tcPr>
                        <a:blipFill>
                          <a:blip r:embed="rId6"/>
                          <a:stretch>
                            <a:fillRect l="-335377" t="-385567" r="-472" b="-73196"/>
                          </a:stretch>
                        </a:blipFill>
                      </a:tcPr>
                    </a:tc>
                    <a:extLst>
                      <a:ext uri="{0D108BD9-81ED-4DB2-BD59-A6C34878D82A}">
                        <a16:rowId xmlns:a16="http://schemas.microsoft.com/office/drawing/2014/main" val="2179688753"/>
                      </a:ext>
                    </a:extLst>
                  </a:tr>
                </a:tbl>
              </a:graphicData>
            </a:graphic>
          </p:graphicFrame>
        </mc:Fallback>
      </mc:AlternateContent>
      <p:grpSp>
        <p:nvGrpSpPr>
          <p:cNvPr id="80" name="群組 79">
            <a:extLst>
              <a:ext uri="{FF2B5EF4-FFF2-40B4-BE49-F238E27FC236}">
                <a16:creationId xmlns:a16="http://schemas.microsoft.com/office/drawing/2014/main" id="{07E1DE7F-8667-4E40-9FF9-EC0BF03225E2}"/>
              </a:ext>
            </a:extLst>
          </p:cNvPr>
          <p:cNvGrpSpPr/>
          <p:nvPr/>
        </p:nvGrpSpPr>
        <p:grpSpPr>
          <a:xfrm>
            <a:off x="3284292" y="1608832"/>
            <a:ext cx="2756674" cy="2285382"/>
            <a:chOff x="6790269" y="1397253"/>
            <a:chExt cx="3280915" cy="2635137"/>
          </a:xfrm>
        </p:grpSpPr>
        <p:pic>
          <p:nvPicPr>
            <p:cNvPr id="81" name="圖片 80">
              <a:extLst>
                <a:ext uri="{FF2B5EF4-FFF2-40B4-BE49-F238E27FC236}">
                  <a16:creationId xmlns:a16="http://schemas.microsoft.com/office/drawing/2014/main" id="{7C682775-00F5-4A51-8677-0CD28E1377B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39009" y="1397253"/>
              <a:ext cx="3232175" cy="2576963"/>
            </a:xfrm>
            <a:prstGeom prst="rect">
              <a:avLst/>
            </a:prstGeom>
          </p:spPr>
        </p:pic>
        <p:grpSp>
          <p:nvGrpSpPr>
            <p:cNvPr id="82" name="群組 81">
              <a:extLst>
                <a:ext uri="{FF2B5EF4-FFF2-40B4-BE49-F238E27FC236}">
                  <a16:creationId xmlns:a16="http://schemas.microsoft.com/office/drawing/2014/main" id="{E2651C6C-43D7-465C-B5AD-321BE42BEEFE}"/>
                </a:ext>
              </a:extLst>
            </p:cNvPr>
            <p:cNvGrpSpPr/>
            <p:nvPr/>
          </p:nvGrpSpPr>
          <p:grpSpPr>
            <a:xfrm>
              <a:off x="6790269" y="1894187"/>
              <a:ext cx="2438388" cy="2138203"/>
              <a:chOff x="7266335" y="3894155"/>
              <a:chExt cx="3140977" cy="2586756"/>
            </a:xfrm>
          </p:grpSpPr>
          <p:grpSp>
            <p:nvGrpSpPr>
              <p:cNvPr id="83" name="群組 82">
                <a:extLst>
                  <a:ext uri="{FF2B5EF4-FFF2-40B4-BE49-F238E27FC236}">
                    <a16:creationId xmlns:a16="http://schemas.microsoft.com/office/drawing/2014/main" id="{0CEFA7DD-E438-48D2-A83A-E0A11F19CCC5}"/>
                  </a:ext>
                </a:extLst>
              </p:cNvPr>
              <p:cNvGrpSpPr/>
              <p:nvPr/>
            </p:nvGrpSpPr>
            <p:grpSpPr>
              <a:xfrm>
                <a:off x="7266335" y="3894155"/>
                <a:ext cx="3140977" cy="2586756"/>
                <a:chOff x="7266335" y="3894155"/>
                <a:chExt cx="3140977" cy="2586756"/>
              </a:xfrm>
            </p:grpSpPr>
            <p:sp>
              <p:nvSpPr>
                <p:cNvPr id="86" name="矩形 85">
                  <a:extLst>
                    <a:ext uri="{FF2B5EF4-FFF2-40B4-BE49-F238E27FC236}">
                      <a16:creationId xmlns:a16="http://schemas.microsoft.com/office/drawing/2014/main" id="{30F3B9D2-A051-4B9E-ACC6-FEDC90BD9567}"/>
                    </a:ext>
                  </a:extLst>
                </p:cNvPr>
                <p:cNvSpPr/>
                <p:nvPr/>
              </p:nvSpPr>
              <p:spPr>
                <a:xfrm>
                  <a:off x="8529773" y="6150711"/>
                  <a:ext cx="1877539"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矩形 86">
                  <a:extLst>
                    <a:ext uri="{FF2B5EF4-FFF2-40B4-BE49-F238E27FC236}">
                      <a16:creationId xmlns:a16="http://schemas.microsoft.com/office/drawing/2014/main" id="{8F0EB494-A255-4B02-9B67-D255F74EE699}"/>
                    </a:ext>
                  </a:extLst>
                </p:cNvPr>
                <p:cNvSpPr/>
                <p:nvPr/>
              </p:nvSpPr>
              <p:spPr>
                <a:xfrm rot="16200000">
                  <a:off x="6492665" y="4667825"/>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84" name="文字方塊 83">
                    <a:extLst>
                      <a:ext uri="{FF2B5EF4-FFF2-40B4-BE49-F238E27FC236}">
                        <a16:creationId xmlns:a16="http://schemas.microsoft.com/office/drawing/2014/main" id="{961C4197-04ED-4E39-A665-743311B9C9C4}"/>
                      </a:ext>
                    </a:extLst>
                  </p:cNvPr>
                  <p:cNvSpPr txBox="1"/>
                  <p:nvPr/>
                </p:nvSpPr>
                <p:spPr>
                  <a:xfrm>
                    <a:off x="8759268" y="6133630"/>
                    <a:ext cx="1381790"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84" name="文字方塊 83">
                    <a:extLst>
                      <a:ext uri="{FF2B5EF4-FFF2-40B4-BE49-F238E27FC236}">
                        <a16:creationId xmlns:a16="http://schemas.microsoft.com/office/drawing/2014/main" id="{961C4197-04ED-4E39-A665-743311B9C9C4}"/>
                      </a:ext>
                    </a:extLst>
                  </p:cNvPr>
                  <p:cNvSpPr txBox="1">
                    <a:spLocks noRot="1" noChangeAspect="1" noMove="1" noResize="1" noEditPoints="1" noAdjustHandles="1" noChangeArrowheads="1" noChangeShapeType="1" noTextEdit="1"/>
                  </p:cNvSpPr>
                  <p:nvPr/>
                </p:nvSpPr>
                <p:spPr>
                  <a:xfrm>
                    <a:off x="8759268" y="6133630"/>
                    <a:ext cx="1381790" cy="215444"/>
                  </a:xfrm>
                  <a:prstGeom prst="rect">
                    <a:avLst/>
                  </a:prstGeom>
                  <a:blipFill>
                    <a:blip r:embed="rId8"/>
                    <a:stretch>
                      <a:fillRect l="-5682" r="-30682" b="-5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5" name="文字方塊 84">
                    <a:extLst>
                      <a:ext uri="{FF2B5EF4-FFF2-40B4-BE49-F238E27FC236}">
                        <a16:creationId xmlns:a16="http://schemas.microsoft.com/office/drawing/2014/main" id="{B5CC545B-EFF3-4D2D-831B-790E602EA4C6}"/>
                      </a:ext>
                    </a:extLst>
                  </p:cNvPr>
                  <p:cNvSpPr txBox="1"/>
                  <p:nvPr/>
                </p:nvSpPr>
                <p:spPr>
                  <a:xfrm rot="16200000">
                    <a:off x="6931619" y="4658774"/>
                    <a:ext cx="999633" cy="2375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85" name="文字方塊 84">
                    <a:extLst>
                      <a:ext uri="{FF2B5EF4-FFF2-40B4-BE49-F238E27FC236}">
                        <a16:creationId xmlns:a16="http://schemas.microsoft.com/office/drawing/2014/main" id="{B5CC545B-EFF3-4D2D-831B-790E602EA4C6}"/>
                      </a:ext>
                    </a:extLst>
                  </p:cNvPr>
                  <p:cNvSpPr txBox="1">
                    <a:spLocks noRot="1" noChangeAspect="1" noMove="1" noResize="1" noEditPoints="1" noAdjustHandles="1" noChangeArrowheads="1" noChangeShapeType="1" noTextEdit="1"/>
                  </p:cNvSpPr>
                  <p:nvPr/>
                </p:nvSpPr>
                <p:spPr>
                  <a:xfrm rot="16200000">
                    <a:off x="6931619" y="4658774"/>
                    <a:ext cx="999633" cy="237502"/>
                  </a:xfrm>
                  <a:prstGeom prst="rect">
                    <a:avLst/>
                  </a:prstGeom>
                  <a:blipFill>
                    <a:blip r:embed="rId9"/>
                    <a:stretch>
                      <a:fillRect l="-173333" t="-59259" r="-313333" b="-741"/>
                    </a:stretch>
                  </a:blipFill>
                </p:spPr>
                <p:txBody>
                  <a:bodyPr/>
                  <a:lstStyle/>
                  <a:p>
                    <a:r>
                      <a:rPr lang="zh-TW" altLang="en-US">
                        <a:noFill/>
                      </a:rPr>
                      <a:t> </a:t>
                    </a:r>
                  </a:p>
                </p:txBody>
              </p:sp>
            </mc:Fallback>
          </mc:AlternateContent>
        </p:grpSp>
      </p:grpSp>
      <p:cxnSp>
        <p:nvCxnSpPr>
          <p:cNvPr id="9" name="直線接點 8">
            <a:extLst>
              <a:ext uri="{FF2B5EF4-FFF2-40B4-BE49-F238E27FC236}">
                <a16:creationId xmlns:a16="http://schemas.microsoft.com/office/drawing/2014/main" id="{FF5436C8-536B-4A23-8A16-0CB0316D8C25}"/>
              </a:ext>
            </a:extLst>
          </p:cNvPr>
          <p:cNvCxnSpPr/>
          <p:nvPr/>
        </p:nvCxnSpPr>
        <p:spPr>
          <a:xfrm>
            <a:off x="6163733" y="1312333"/>
            <a:ext cx="0" cy="25314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群組 13">
            <a:extLst>
              <a:ext uri="{FF2B5EF4-FFF2-40B4-BE49-F238E27FC236}">
                <a16:creationId xmlns:a16="http://schemas.microsoft.com/office/drawing/2014/main" id="{600A243C-0EDE-48B8-917F-28E31425E5A9}"/>
              </a:ext>
            </a:extLst>
          </p:cNvPr>
          <p:cNvGrpSpPr/>
          <p:nvPr/>
        </p:nvGrpSpPr>
        <p:grpSpPr>
          <a:xfrm>
            <a:off x="6451411" y="1533467"/>
            <a:ext cx="2743387" cy="2310294"/>
            <a:chOff x="6451411" y="1533467"/>
            <a:chExt cx="2743387" cy="2310294"/>
          </a:xfrm>
        </p:grpSpPr>
        <p:grpSp>
          <p:nvGrpSpPr>
            <p:cNvPr id="11" name="群組 10">
              <a:extLst>
                <a:ext uri="{FF2B5EF4-FFF2-40B4-BE49-F238E27FC236}">
                  <a16:creationId xmlns:a16="http://schemas.microsoft.com/office/drawing/2014/main" id="{E21A9954-70A5-4197-BD3E-B0ACCACB7A94}"/>
                </a:ext>
              </a:extLst>
            </p:cNvPr>
            <p:cNvGrpSpPr/>
            <p:nvPr/>
          </p:nvGrpSpPr>
          <p:grpSpPr>
            <a:xfrm>
              <a:off x="6484156" y="1533467"/>
              <a:ext cx="2710642" cy="2310294"/>
              <a:chOff x="6526491" y="1533467"/>
              <a:chExt cx="2710642" cy="2310294"/>
            </a:xfrm>
          </p:grpSpPr>
          <p:pic>
            <p:nvPicPr>
              <p:cNvPr id="4" name="圖片 3">
                <a:extLst>
                  <a:ext uri="{FF2B5EF4-FFF2-40B4-BE49-F238E27FC236}">
                    <a16:creationId xmlns:a16="http://schemas.microsoft.com/office/drawing/2014/main" id="{FDA73FBC-4800-4238-87CE-3A4FF0FAFD2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586091" y="1533467"/>
                <a:ext cx="2651042" cy="2287023"/>
              </a:xfrm>
              <a:prstGeom prst="rect">
                <a:avLst/>
              </a:prstGeom>
            </p:spPr>
          </p:pic>
          <p:sp>
            <p:nvSpPr>
              <p:cNvPr id="10" name="矩形 9">
                <a:extLst>
                  <a:ext uri="{FF2B5EF4-FFF2-40B4-BE49-F238E27FC236}">
                    <a16:creationId xmlns:a16="http://schemas.microsoft.com/office/drawing/2014/main" id="{A3FFB2D7-3EF8-4CB5-957D-07563B4FBC1D}"/>
                  </a:ext>
                </a:extLst>
              </p:cNvPr>
              <p:cNvSpPr/>
              <p:nvPr/>
            </p:nvSpPr>
            <p:spPr>
              <a:xfrm>
                <a:off x="7535333" y="3645254"/>
                <a:ext cx="1156816" cy="198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606B054F-23AB-4AF4-B576-8505368E96DF}"/>
                  </a:ext>
                </a:extLst>
              </p:cNvPr>
              <p:cNvSpPr/>
              <p:nvPr/>
            </p:nvSpPr>
            <p:spPr>
              <a:xfrm rot="16200000">
                <a:off x="6047337" y="2518963"/>
                <a:ext cx="1156816" cy="198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D5759825-0686-4DC1-8021-DAAF4E23A3F6}"/>
                    </a:ext>
                  </a:extLst>
                </p:cNvPr>
                <p:cNvSpPr txBox="1"/>
                <p:nvPr/>
              </p:nvSpPr>
              <p:spPr>
                <a:xfrm rot="16200000">
                  <a:off x="6014246" y="2492938"/>
                  <a:ext cx="1067246" cy="19291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34" name="文字方塊 33">
                  <a:extLst>
                    <a:ext uri="{FF2B5EF4-FFF2-40B4-BE49-F238E27FC236}">
                      <a16:creationId xmlns:a16="http://schemas.microsoft.com/office/drawing/2014/main" id="{D5759825-0686-4DC1-8021-DAAF4E23A3F6}"/>
                    </a:ext>
                  </a:extLst>
                </p:cNvPr>
                <p:cNvSpPr txBox="1">
                  <a:spLocks noRot="1" noChangeAspect="1" noMove="1" noResize="1" noEditPoints="1" noAdjustHandles="1" noChangeArrowheads="1" noChangeShapeType="1" noTextEdit="1"/>
                </p:cNvSpPr>
                <p:nvPr/>
              </p:nvSpPr>
              <p:spPr>
                <a:xfrm rot="16200000">
                  <a:off x="6014246" y="2492938"/>
                  <a:ext cx="1067246" cy="192916"/>
                </a:xfrm>
                <a:prstGeom prst="rect">
                  <a:avLst/>
                </a:prstGeom>
                <a:blipFill>
                  <a:blip r:embed="rId11"/>
                  <a:stretch>
                    <a:fillRect l="-28125" r="-5312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51DD3102-91A5-42BE-BDEF-9CFC46871339}"/>
                    </a:ext>
                  </a:extLst>
                </p:cNvPr>
                <p:cNvSpPr txBox="1"/>
                <p:nvPr/>
              </p:nvSpPr>
              <p:spPr>
                <a:xfrm>
                  <a:off x="7392334" y="3606658"/>
                  <a:ext cx="1176717" cy="1928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35" name="文字方塊 34">
                  <a:extLst>
                    <a:ext uri="{FF2B5EF4-FFF2-40B4-BE49-F238E27FC236}">
                      <a16:creationId xmlns:a16="http://schemas.microsoft.com/office/drawing/2014/main" id="{51DD3102-91A5-42BE-BDEF-9CFC46871339}"/>
                    </a:ext>
                  </a:extLst>
                </p:cNvPr>
                <p:cNvSpPr txBox="1">
                  <a:spLocks noRot="1" noChangeAspect="1" noMove="1" noResize="1" noEditPoints="1" noAdjustHandles="1" noChangeArrowheads="1" noChangeShapeType="1" noTextEdit="1"/>
                </p:cNvSpPr>
                <p:nvPr/>
              </p:nvSpPr>
              <p:spPr>
                <a:xfrm>
                  <a:off x="7392334" y="3606658"/>
                  <a:ext cx="1176717" cy="192801"/>
                </a:xfrm>
                <a:prstGeom prst="rect">
                  <a:avLst/>
                </a:prstGeom>
                <a:blipFill>
                  <a:blip r:embed="rId12"/>
                  <a:stretch>
                    <a:fillRect l="-5699" r="-19171" b="-48387"/>
                  </a:stretch>
                </a:blipFill>
              </p:spPr>
              <p:txBody>
                <a:bodyPr/>
                <a:lstStyle/>
                <a:p>
                  <a:r>
                    <a:rPr lang="zh-TW" altLang="en-US">
                      <a:noFill/>
                    </a:rPr>
                    <a:t> </a:t>
                  </a:r>
                </a:p>
              </p:txBody>
            </p:sp>
          </mc:Fallback>
        </mc:AlternateContent>
      </p:grpSp>
      <p:grpSp>
        <p:nvGrpSpPr>
          <p:cNvPr id="15" name="群組 14">
            <a:extLst>
              <a:ext uri="{FF2B5EF4-FFF2-40B4-BE49-F238E27FC236}">
                <a16:creationId xmlns:a16="http://schemas.microsoft.com/office/drawing/2014/main" id="{00E8298B-4AC9-4D1B-A576-947D2E4F9B5D}"/>
              </a:ext>
            </a:extLst>
          </p:cNvPr>
          <p:cNvGrpSpPr/>
          <p:nvPr/>
        </p:nvGrpSpPr>
        <p:grpSpPr>
          <a:xfrm>
            <a:off x="9254399" y="1567078"/>
            <a:ext cx="2777653" cy="2292921"/>
            <a:chOff x="9254399" y="1567078"/>
            <a:chExt cx="2777653" cy="2292921"/>
          </a:xfrm>
        </p:grpSpPr>
        <p:grpSp>
          <p:nvGrpSpPr>
            <p:cNvPr id="12" name="群組 11">
              <a:extLst>
                <a:ext uri="{FF2B5EF4-FFF2-40B4-BE49-F238E27FC236}">
                  <a16:creationId xmlns:a16="http://schemas.microsoft.com/office/drawing/2014/main" id="{C02622FE-2C35-4B5B-9053-687892596F06}"/>
                </a:ext>
              </a:extLst>
            </p:cNvPr>
            <p:cNvGrpSpPr/>
            <p:nvPr/>
          </p:nvGrpSpPr>
          <p:grpSpPr>
            <a:xfrm>
              <a:off x="9306999" y="1567078"/>
              <a:ext cx="2725053" cy="2292921"/>
              <a:chOff x="9306999" y="1567078"/>
              <a:chExt cx="2725053" cy="2292921"/>
            </a:xfrm>
          </p:grpSpPr>
          <p:pic>
            <p:nvPicPr>
              <p:cNvPr id="6" name="圖片 5">
                <a:extLst>
                  <a:ext uri="{FF2B5EF4-FFF2-40B4-BE49-F238E27FC236}">
                    <a16:creationId xmlns:a16="http://schemas.microsoft.com/office/drawing/2014/main" id="{CFF5A669-D3EA-442B-8995-48516232F93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321133" y="1567078"/>
                <a:ext cx="2710919" cy="2253412"/>
              </a:xfrm>
              <a:prstGeom prst="rect">
                <a:avLst/>
              </a:prstGeom>
            </p:spPr>
          </p:pic>
          <p:sp>
            <p:nvSpPr>
              <p:cNvPr id="30" name="矩形 29">
                <a:extLst>
                  <a:ext uri="{FF2B5EF4-FFF2-40B4-BE49-F238E27FC236}">
                    <a16:creationId xmlns:a16="http://schemas.microsoft.com/office/drawing/2014/main" id="{F804666B-EA03-464C-BB5A-815F6CA923CC}"/>
                  </a:ext>
                </a:extLst>
              </p:cNvPr>
              <p:cNvSpPr/>
              <p:nvPr/>
            </p:nvSpPr>
            <p:spPr>
              <a:xfrm>
                <a:off x="10261888" y="3661492"/>
                <a:ext cx="1156816" cy="198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矩形 31">
                <a:extLst>
                  <a:ext uri="{FF2B5EF4-FFF2-40B4-BE49-F238E27FC236}">
                    <a16:creationId xmlns:a16="http://schemas.microsoft.com/office/drawing/2014/main" id="{5C31BF1B-A09D-450F-BAFB-D54C20F068BD}"/>
                  </a:ext>
                </a:extLst>
              </p:cNvPr>
              <p:cNvSpPr/>
              <p:nvPr/>
            </p:nvSpPr>
            <p:spPr>
              <a:xfrm rot="16200000">
                <a:off x="8827845" y="2478793"/>
                <a:ext cx="1156816" cy="198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516E7AFB-7718-4930-8048-079A53C7B176}"/>
                    </a:ext>
                  </a:extLst>
                </p:cNvPr>
                <p:cNvSpPr txBox="1"/>
                <p:nvPr/>
              </p:nvSpPr>
              <p:spPr>
                <a:xfrm rot="16200000">
                  <a:off x="8973546" y="2645876"/>
                  <a:ext cx="716621" cy="1549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36" name="文字方塊 35">
                  <a:extLst>
                    <a:ext uri="{FF2B5EF4-FFF2-40B4-BE49-F238E27FC236}">
                      <a16:creationId xmlns:a16="http://schemas.microsoft.com/office/drawing/2014/main" id="{516E7AFB-7718-4930-8048-079A53C7B176}"/>
                    </a:ext>
                  </a:extLst>
                </p:cNvPr>
                <p:cNvSpPr txBox="1">
                  <a:spLocks noRot="1" noChangeAspect="1" noMove="1" noResize="1" noEditPoints="1" noAdjustHandles="1" noChangeArrowheads="1" noChangeShapeType="1" noTextEdit="1"/>
                </p:cNvSpPr>
                <p:nvPr/>
              </p:nvSpPr>
              <p:spPr>
                <a:xfrm rot="16200000">
                  <a:off x="8973546" y="2645876"/>
                  <a:ext cx="716621" cy="154916"/>
                </a:xfrm>
                <a:prstGeom prst="rect">
                  <a:avLst/>
                </a:prstGeom>
                <a:blipFill>
                  <a:blip r:embed="rId14"/>
                  <a:stretch>
                    <a:fillRect l="-196154" t="-83051" r="-380769" b="-8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964908C6-3E6F-44BB-98D6-87511093A221}"/>
                    </a:ext>
                  </a:extLst>
                </p:cNvPr>
                <p:cNvSpPr txBox="1"/>
                <p:nvPr/>
              </p:nvSpPr>
              <p:spPr>
                <a:xfrm>
                  <a:off x="10146408" y="3617576"/>
                  <a:ext cx="1176717" cy="1928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37" name="文字方塊 36">
                  <a:extLst>
                    <a:ext uri="{FF2B5EF4-FFF2-40B4-BE49-F238E27FC236}">
                      <a16:creationId xmlns:a16="http://schemas.microsoft.com/office/drawing/2014/main" id="{964908C6-3E6F-44BB-98D6-87511093A221}"/>
                    </a:ext>
                  </a:extLst>
                </p:cNvPr>
                <p:cNvSpPr txBox="1">
                  <a:spLocks noRot="1" noChangeAspect="1" noMove="1" noResize="1" noEditPoints="1" noAdjustHandles="1" noChangeArrowheads="1" noChangeShapeType="1" noTextEdit="1"/>
                </p:cNvSpPr>
                <p:nvPr/>
              </p:nvSpPr>
              <p:spPr>
                <a:xfrm>
                  <a:off x="10146408" y="3617576"/>
                  <a:ext cx="1176717" cy="192801"/>
                </a:xfrm>
                <a:prstGeom prst="rect">
                  <a:avLst/>
                </a:prstGeom>
                <a:blipFill>
                  <a:blip r:embed="rId15"/>
                  <a:stretch>
                    <a:fillRect l="-5181" r="-19171" b="-43750"/>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843024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680649BF-43EB-4D87-A80C-5D9C6A6A8C91}"/>
                  </a:ext>
                </a:extLst>
              </p:cNvPr>
              <p:cNvSpPr txBox="1"/>
              <p:nvPr/>
            </p:nvSpPr>
            <p:spPr>
              <a:xfrm>
                <a:off x="0" y="628372"/>
                <a:ext cx="11882359" cy="1228670"/>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t>The convergence criterion is defined as follows: check whether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and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r>
                  <a:rPr lang="en-US" altLang="zh-TW" dirty="0"/>
                  <a:t>remain within ±0.2% of their steady-state values for ten consecutive points. If this condition is satisfied, the first point is taken as the convergence point.</a:t>
                </a:r>
                <a14:m>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rPr>
                      <m:t>≤150</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oMath>
                </a14:m>
                <a:endParaRPr lang="en-US" altLang="zh-TW" dirty="0"/>
              </a:p>
              <a:p>
                <a:pPr marL="285750" indent="-285750">
                  <a:buFont typeface="Wingdings" panose="05000000000000000000" pitchFamily="2" charset="2"/>
                  <a:buChar char="l"/>
                </a:pPr>
                <a:r>
                  <a:rPr lang="en-US" altLang="zh-TW" dirty="0" err="1"/>
                  <a:t>Zhi</a:t>
                </a:r>
                <a:r>
                  <a:rPr lang="en-US" altLang="zh-TW" dirty="0"/>
                  <a:t> </a:t>
                </a:r>
                <a:r>
                  <a:rPr lang="en-US" altLang="zh-TW" dirty="0" err="1"/>
                  <a:t>peng</a:t>
                </a:r>
                <a:endParaRPr lang="en-US" altLang="zh-TW" dirty="0"/>
              </a:p>
              <a:p>
                <a:pPr marL="285750" indent="-285750">
                  <a:buFont typeface="Arial" panose="020B0604020202020204" pitchFamily="34" charset="0"/>
                  <a:buChar char="•"/>
                </a:pPr>
                <a:endParaRPr lang="zh-TW" altLang="en-US" dirty="0"/>
              </a:p>
            </p:txBody>
          </p:sp>
        </mc:Choice>
        <mc:Fallback xmlns="">
          <p:sp>
            <p:nvSpPr>
              <p:cNvPr id="16" name="文字方塊 15">
                <a:extLst>
                  <a:ext uri="{FF2B5EF4-FFF2-40B4-BE49-F238E27FC236}">
                    <a16:creationId xmlns:a16="http://schemas.microsoft.com/office/drawing/2014/main" id="{680649BF-43EB-4D87-A80C-5D9C6A6A8C91}"/>
                  </a:ext>
                </a:extLst>
              </p:cNvPr>
              <p:cNvSpPr txBox="1">
                <a:spLocks noRot="1" noChangeAspect="1" noMove="1" noResize="1" noEditPoints="1" noAdjustHandles="1" noChangeArrowheads="1" noChangeShapeType="1" noTextEdit="1"/>
              </p:cNvSpPr>
              <p:nvPr/>
            </p:nvSpPr>
            <p:spPr>
              <a:xfrm>
                <a:off x="0" y="628372"/>
                <a:ext cx="11882359" cy="1228670"/>
              </a:xfrm>
              <a:prstGeom prst="rect">
                <a:avLst/>
              </a:prstGeom>
              <a:blipFill>
                <a:blip r:embed="rId2"/>
                <a:stretch>
                  <a:fillRect l="-308" t="-495"/>
                </a:stretch>
              </a:blipFill>
            </p:spPr>
            <p:txBody>
              <a:bodyPr/>
              <a:lstStyle/>
              <a:p>
                <a:r>
                  <a:rPr lang="zh-TW" altLang="en-US">
                    <a:noFill/>
                  </a:rPr>
                  <a:t> </a:t>
                </a:r>
              </a:p>
            </p:txBody>
          </p:sp>
        </mc:Fallback>
      </mc:AlternateContent>
      <p:grpSp>
        <p:nvGrpSpPr>
          <p:cNvPr id="9" name="群組 8">
            <a:extLst>
              <a:ext uri="{FF2B5EF4-FFF2-40B4-BE49-F238E27FC236}">
                <a16:creationId xmlns:a16="http://schemas.microsoft.com/office/drawing/2014/main" id="{F9AFFE33-E354-4DA3-A780-91F7EFC555AE}"/>
              </a:ext>
            </a:extLst>
          </p:cNvPr>
          <p:cNvGrpSpPr/>
          <p:nvPr/>
        </p:nvGrpSpPr>
        <p:grpSpPr>
          <a:xfrm>
            <a:off x="266053" y="1648602"/>
            <a:ext cx="2720931" cy="2172171"/>
            <a:chOff x="1606106" y="1318452"/>
            <a:chExt cx="3240016" cy="2547052"/>
          </a:xfrm>
        </p:grpSpPr>
        <p:pic>
          <p:nvPicPr>
            <p:cNvPr id="8" name="圖片 7">
              <a:extLst>
                <a:ext uri="{FF2B5EF4-FFF2-40B4-BE49-F238E27FC236}">
                  <a16:creationId xmlns:a16="http://schemas.microsoft.com/office/drawing/2014/main" id="{6423F1FA-8E35-48C3-A7B2-E41272D715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6683" y="1318452"/>
              <a:ext cx="3139439" cy="2497181"/>
            </a:xfrm>
            <a:prstGeom prst="rect">
              <a:avLst/>
            </a:prstGeom>
          </p:spPr>
        </p:pic>
        <p:grpSp>
          <p:nvGrpSpPr>
            <p:cNvPr id="27" name="群組 26">
              <a:extLst>
                <a:ext uri="{FF2B5EF4-FFF2-40B4-BE49-F238E27FC236}">
                  <a16:creationId xmlns:a16="http://schemas.microsoft.com/office/drawing/2014/main" id="{720736BF-05DC-4FA3-BD2A-D5906CF89058}"/>
                </a:ext>
              </a:extLst>
            </p:cNvPr>
            <p:cNvGrpSpPr/>
            <p:nvPr/>
          </p:nvGrpSpPr>
          <p:grpSpPr>
            <a:xfrm>
              <a:off x="1606106" y="1833718"/>
              <a:ext cx="2495958" cy="2031786"/>
              <a:chOff x="2076246" y="4458613"/>
              <a:chExt cx="2810894" cy="2112400"/>
            </a:xfrm>
          </p:grpSpPr>
          <p:grpSp>
            <p:nvGrpSpPr>
              <p:cNvPr id="26" name="群組 25">
                <a:extLst>
                  <a:ext uri="{FF2B5EF4-FFF2-40B4-BE49-F238E27FC236}">
                    <a16:creationId xmlns:a16="http://schemas.microsoft.com/office/drawing/2014/main" id="{AAFCFE30-B143-451C-BFFD-844F9CC3C8E4}"/>
                  </a:ext>
                </a:extLst>
              </p:cNvPr>
              <p:cNvGrpSpPr/>
              <p:nvPr/>
            </p:nvGrpSpPr>
            <p:grpSpPr>
              <a:xfrm>
                <a:off x="2179430" y="4458613"/>
                <a:ext cx="2697628" cy="2112400"/>
                <a:chOff x="2084963" y="4385322"/>
                <a:chExt cx="2350549" cy="1782563"/>
              </a:xfrm>
            </p:grpSpPr>
            <p:sp>
              <p:nvSpPr>
                <p:cNvPr id="25" name="矩形 24">
                  <a:extLst>
                    <a:ext uri="{FF2B5EF4-FFF2-40B4-BE49-F238E27FC236}">
                      <a16:creationId xmlns:a16="http://schemas.microsoft.com/office/drawing/2014/main" id="{50ABEE23-C0F3-4396-A9CE-84BD3E69946C}"/>
                    </a:ext>
                  </a:extLst>
                </p:cNvPr>
                <p:cNvSpPr/>
                <p:nvPr/>
              </p:nvSpPr>
              <p:spPr>
                <a:xfrm>
                  <a:off x="3231506" y="5986081"/>
                  <a:ext cx="1204006" cy="1818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E446723F-AF09-4EBB-8350-A64FF607BED4}"/>
                    </a:ext>
                  </a:extLst>
                </p:cNvPr>
                <p:cNvSpPr/>
                <p:nvPr/>
              </p:nvSpPr>
              <p:spPr>
                <a:xfrm rot="16200000">
                  <a:off x="1629280" y="4841005"/>
                  <a:ext cx="1079600" cy="1682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967F4FBF-AEED-4ECE-9557-6071629C0C5B}"/>
                      </a:ext>
                    </a:extLst>
                  </p:cNvPr>
                  <p:cNvSpPr txBox="1"/>
                  <p:nvPr/>
                </p:nvSpPr>
                <p:spPr>
                  <a:xfrm>
                    <a:off x="3505351" y="6338349"/>
                    <a:ext cx="13817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7" name="文字方塊 6">
                    <a:extLst>
                      <a:ext uri="{FF2B5EF4-FFF2-40B4-BE49-F238E27FC236}">
                        <a16:creationId xmlns:a16="http://schemas.microsoft.com/office/drawing/2014/main" id="{967F4FBF-AEED-4ECE-9557-6071629C0C5B}"/>
                      </a:ext>
                    </a:extLst>
                  </p:cNvPr>
                  <p:cNvSpPr txBox="1">
                    <a:spLocks noRot="1" noChangeAspect="1" noMove="1" noResize="1" noEditPoints="1" noAdjustHandles="1" noChangeArrowheads="1" noChangeShapeType="1" noTextEdit="1"/>
                  </p:cNvSpPr>
                  <p:nvPr/>
                </p:nvSpPr>
                <p:spPr>
                  <a:xfrm>
                    <a:off x="3505351" y="6338349"/>
                    <a:ext cx="1381789" cy="215444"/>
                  </a:xfrm>
                  <a:prstGeom prst="rect">
                    <a:avLst/>
                  </a:prstGeom>
                  <a:blipFill>
                    <a:blip r:embed="rId4"/>
                    <a:stretch>
                      <a:fillRect l="-5473" r="-14428" b="-3529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8AD4E5C0-D7AA-4972-A8B5-D3FF74D2338A}"/>
                      </a:ext>
                    </a:extLst>
                  </p:cNvPr>
                  <p:cNvSpPr txBox="1"/>
                  <p:nvPr/>
                </p:nvSpPr>
                <p:spPr>
                  <a:xfrm rot="16200000">
                    <a:off x="1593221" y="5038145"/>
                    <a:ext cx="1192585" cy="22653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13" name="文字方塊 12">
                    <a:extLst>
                      <a:ext uri="{FF2B5EF4-FFF2-40B4-BE49-F238E27FC236}">
                        <a16:creationId xmlns:a16="http://schemas.microsoft.com/office/drawing/2014/main" id="{8AD4E5C0-D7AA-4972-A8B5-D3FF74D2338A}"/>
                      </a:ext>
                    </a:extLst>
                  </p:cNvPr>
                  <p:cNvSpPr txBox="1">
                    <a:spLocks noRot="1" noChangeAspect="1" noMove="1" noResize="1" noEditPoints="1" noAdjustHandles="1" noChangeArrowheads="1" noChangeShapeType="1" noTextEdit="1"/>
                  </p:cNvSpPr>
                  <p:nvPr/>
                </p:nvSpPr>
                <p:spPr>
                  <a:xfrm rot="16200000">
                    <a:off x="1593221" y="5038145"/>
                    <a:ext cx="1192585" cy="226536"/>
                  </a:xfrm>
                  <a:prstGeom prst="rect">
                    <a:avLst/>
                  </a:prstGeom>
                  <a:blipFill>
                    <a:blip r:embed="rId5"/>
                    <a:stretch>
                      <a:fillRect l="-27273" r="-48485"/>
                    </a:stretch>
                  </a:blipFill>
                </p:spPr>
                <p:txBody>
                  <a:bodyPr/>
                  <a:lstStyle/>
                  <a:p>
                    <a:r>
                      <a:rPr lang="zh-TW" altLang="en-US">
                        <a:noFill/>
                      </a:rPr>
                      <a:t> </a:t>
                    </a:r>
                  </a:p>
                </p:txBody>
              </p:sp>
            </mc:Fallback>
          </mc:AlternateContent>
        </p:grpSp>
      </p:grpSp>
      <p:grpSp>
        <p:nvGrpSpPr>
          <p:cNvPr id="5" name="群組 4">
            <a:extLst>
              <a:ext uri="{FF2B5EF4-FFF2-40B4-BE49-F238E27FC236}">
                <a16:creationId xmlns:a16="http://schemas.microsoft.com/office/drawing/2014/main" id="{5606E3BA-615C-4B7F-ABF4-9DA19CC61C10}"/>
              </a:ext>
            </a:extLst>
          </p:cNvPr>
          <p:cNvGrpSpPr/>
          <p:nvPr/>
        </p:nvGrpSpPr>
        <p:grpSpPr>
          <a:xfrm>
            <a:off x="3116931" y="1637345"/>
            <a:ext cx="2757116" cy="2211730"/>
            <a:chOff x="6674799" y="1321690"/>
            <a:chExt cx="3415652" cy="2710700"/>
          </a:xfrm>
        </p:grpSpPr>
        <p:pic>
          <p:nvPicPr>
            <p:cNvPr id="4" name="圖片 3">
              <a:extLst>
                <a:ext uri="{FF2B5EF4-FFF2-40B4-BE49-F238E27FC236}">
                  <a16:creationId xmlns:a16="http://schemas.microsoft.com/office/drawing/2014/main" id="{20F32703-5442-4029-857A-E01F5BFBD1A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90269" y="1321690"/>
              <a:ext cx="3300182" cy="2631184"/>
            </a:xfrm>
            <a:prstGeom prst="rect">
              <a:avLst/>
            </a:prstGeom>
          </p:spPr>
        </p:pic>
        <p:grpSp>
          <p:nvGrpSpPr>
            <p:cNvPr id="35" name="群組 34">
              <a:extLst>
                <a:ext uri="{FF2B5EF4-FFF2-40B4-BE49-F238E27FC236}">
                  <a16:creationId xmlns:a16="http://schemas.microsoft.com/office/drawing/2014/main" id="{CA03B68E-6DE4-4661-8AF0-D6EB397A3943}"/>
                </a:ext>
              </a:extLst>
            </p:cNvPr>
            <p:cNvGrpSpPr/>
            <p:nvPr/>
          </p:nvGrpSpPr>
          <p:grpSpPr>
            <a:xfrm>
              <a:off x="6674799" y="1894187"/>
              <a:ext cx="2553860" cy="2138203"/>
              <a:chOff x="7117592" y="3894155"/>
              <a:chExt cx="3289720" cy="2586756"/>
            </a:xfrm>
          </p:grpSpPr>
          <p:grpSp>
            <p:nvGrpSpPr>
              <p:cNvPr id="32" name="群組 31">
                <a:extLst>
                  <a:ext uri="{FF2B5EF4-FFF2-40B4-BE49-F238E27FC236}">
                    <a16:creationId xmlns:a16="http://schemas.microsoft.com/office/drawing/2014/main" id="{FADE59AD-F7C1-43E5-87D0-AF71B5D8F8DE}"/>
                  </a:ext>
                </a:extLst>
              </p:cNvPr>
              <p:cNvGrpSpPr/>
              <p:nvPr/>
            </p:nvGrpSpPr>
            <p:grpSpPr>
              <a:xfrm>
                <a:off x="7189994" y="3894155"/>
                <a:ext cx="3217318" cy="2586756"/>
                <a:chOff x="7189994" y="3894155"/>
                <a:chExt cx="3217318" cy="2586756"/>
              </a:xfrm>
            </p:grpSpPr>
            <p:sp>
              <p:nvSpPr>
                <p:cNvPr id="18" name="矩形 17">
                  <a:extLst>
                    <a:ext uri="{FF2B5EF4-FFF2-40B4-BE49-F238E27FC236}">
                      <a16:creationId xmlns:a16="http://schemas.microsoft.com/office/drawing/2014/main" id="{D626DE7A-F9C6-47BF-9503-E4D79EF03BB4}"/>
                    </a:ext>
                  </a:extLst>
                </p:cNvPr>
                <p:cNvSpPr/>
                <p:nvPr/>
              </p:nvSpPr>
              <p:spPr>
                <a:xfrm>
                  <a:off x="8529773" y="6150711"/>
                  <a:ext cx="1877539"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40789712-EA39-472C-851C-CF16838DED38}"/>
                    </a:ext>
                  </a:extLst>
                </p:cNvPr>
                <p:cNvSpPr/>
                <p:nvPr/>
              </p:nvSpPr>
              <p:spPr>
                <a:xfrm rot="16200000">
                  <a:off x="6416324" y="4667825"/>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D25B04E1-24E0-409C-A4AE-39A474367A3E}"/>
                      </a:ext>
                    </a:extLst>
                  </p:cNvPr>
                  <p:cNvSpPr txBox="1"/>
                  <p:nvPr/>
                </p:nvSpPr>
                <p:spPr>
                  <a:xfrm>
                    <a:off x="8759268" y="6133630"/>
                    <a:ext cx="1381790"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24" name="文字方塊 23">
                    <a:extLst>
                      <a:ext uri="{FF2B5EF4-FFF2-40B4-BE49-F238E27FC236}">
                        <a16:creationId xmlns:a16="http://schemas.microsoft.com/office/drawing/2014/main" id="{D25B04E1-24E0-409C-A4AE-39A474367A3E}"/>
                      </a:ext>
                    </a:extLst>
                  </p:cNvPr>
                  <p:cNvSpPr txBox="1">
                    <a:spLocks noRot="1" noChangeAspect="1" noMove="1" noResize="1" noEditPoints="1" noAdjustHandles="1" noChangeArrowheads="1" noChangeShapeType="1" noTextEdit="1"/>
                  </p:cNvSpPr>
                  <p:nvPr/>
                </p:nvSpPr>
                <p:spPr>
                  <a:xfrm>
                    <a:off x="8759268" y="6133630"/>
                    <a:ext cx="1381790" cy="215444"/>
                  </a:xfrm>
                  <a:prstGeom prst="rect">
                    <a:avLst/>
                  </a:prstGeom>
                  <a:blipFill>
                    <a:blip r:embed="rId7"/>
                    <a:stretch>
                      <a:fillRect l="-5682" r="-30682" b="-5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8826BDEB-84BE-4C7C-A660-0692872B3F34}"/>
                      </a:ext>
                    </a:extLst>
                  </p:cNvPr>
                  <p:cNvSpPr txBox="1"/>
                  <p:nvPr/>
                </p:nvSpPr>
                <p:spPr>
                  <a:xfrm rot="16200000">
                    <a:off x="6736526" y="4612269"/>
                    <a:ext cx="999633" cy="2375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34" name="文字方塊 33">
                    <a:extLst>
                      <a:ext uri="{FF2B5EF4-FFF2-40B4-BE49-F238E27FC236}">
                        <a16:creationId xmlns:a16="http://schemas.microsoft.com/office/drawing/2014/main" id="{8826BDEB-84BE-4C7C-A660-0692872B3F34}"/>
                      </a:ext>
                    </a:extLst>
                  </p:cNvPr>
                  <p:cNvSpPr txBox="1">
                    <a:spLocks noRot="1" noChangeAspect="1" noMove="1" noResize="1" noEditPoints="1" noAdjustHandles="1" noChangeArrowheads="1" noChangeShapeType="1" noTextEdit="1"/>
                  </p:cNvSpPr>
                  <p:nvPr/>
                </p:nvSpPr>
                <p:spPr>
                  <a:xfrm rot="16200000">
                    <a:off x="6736526" y="4612269"/>
                    <a:ext cx="999633" cy="237501"/>
                  </a:xfrm>
                  <a:prstGeom prst="rect">
                    <a:avLst/>
                  </a:prstGeom>
                  <a:blipFill>
                    <a:blip r:embed="rId8"/>
                    <a:stretch>
                      <a:fillRect l="-204000" t="-95455" r="-400000" b="-909"/>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graphicFrame>
            <p:nvGraphicFramePr>
              <p:cNvPr id="22" name="表格 79">
                <a:extLst>
                  <a:ext uri="{FF2B5EF4-FFF2-40B4-BE49-F238E27FC236}">
                    <a16:creationId xmlns:a16="http://schemas.microsoft.com/office/drawing/2014/main" id="{73C431D0-348A-459A-81C5-DACFC9FEA1CF}"/>
                  </a:ext>
                </a:extLst>
              </p:cNvPr>
              <p:cNvGraphicFramePr>
                <a:graphicFrameLocks noGrp="1"/>
              </p:cNvGraphicFramePr>
              <p:nvPr>
                <p:extLst>
                  <p:ext uri="{D42A27DB-BD31-4B8C-83A1-F6EECF244321}">
                    <p14:modId xmlns:p14="http://schemas.microsoft.com/office/powerpoint/2010/main" val="9782919"/>
                  </p:ext>
                </p:extLst>
              </p:nvPr>
            </p:nvGraphicFramePr>
            <p:xfrm>
              <a:off x="140302" y="3940146"/>
              <a:ext cx="11601753" cy="2834384"/>
            </p:xfrm>
            <a:graphic>
              <a:graphicData uri="http://schemas.openxmlformats.org/drawingml/2006/table">
                <a:tbl>
                  <a:tblPr firstRow="1" bandRow="1">
                    <a:tableStyleId>{5940675A-B579-460E-94D1-54222C63F5DA}</a:tableStyleId>
                  </a:tblPr>
                  <a:tblGrid>
                    <a:gridCol w="2229154">
                      <a:extLst>
                        <a:ext uri="{9D8B030D-6E8A-4147-A177-3AD203B41FA5}">
                          <a16:colId xmlns:a16="http://schemas.microsoft.com/office/drawing/2014/main" val="4152913983"/>
                        </a:ext>
                      </a:extLst>
                    </a:gridCol>
                    <a:gridCol w="2486779">
                      <a:extLst>
                        <a:ext uri="{9D8B030D-6E8A-4147-A177-3AD203B41FA5}">
                          <a16:colId xmlns:a16="http://schemas.microsoft.com/office/drawing/2014/main" val="2719724219"/>
                        </a:ext>
                      </a:extLst>
                    </a:gridCol>
                    <a:gridCol w="1989667">
                      <a:extLst>
                        <a:ext uri="{9D8B030D-6E8A-4147-A177-3AD203B41FA5}">
                          <a16:colId xmlns:a16="http://schemas.microsoft.com/office/drawing/2014/main" val="3621208620"/>
                        </a:ext>
                      </a:extLst>
                    </a:gridCol>
                    <a:gridCol w="1955800">
                      <a:extLst>
                        <a:ext uri="{9D8B030D-6E8A-4147-A177-3AD203B41FA5}">
                          <a16:colId xmlns:a16="http://schemas.microsoft.com/office/drawing/2014/main" val="1836300288"/>
                        </a:ext>
                      </a:extLst>
                    </a:gridCol>
                    <a:gridCol w="2940353">
                      <a:extLst>
                        <a:ext uri="{9D8B030D-6E8A-4147-A177-3AD203B41FA5}">
                          <a16:colId xmlns:a16="http://schemas.microsoft.com/office/drawing/2014/main" val="1620865351"/>
                        </a:ext>
                      </a:extLst>
                    </a:gridCol>
                  </a:tblGrid>
                  <a:tr h="859103">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r>
                            <a:rPr lang="en-US" altLang="zh-TW" dirty="0"/>
                            <a:t>Number of points at convergence</a:t>
                          </a:r>
                          <a:endParaRPr lang="zh-TW" altLang="en-US" dirty="0"/>
                        </a:p>
                      </a:txBody>
                      <a:tcPr/>
                    </a:tc>
                    <a:tc>
                      <a:txBody>
                        <a:bodyPr/>
                        <a:lstStyle/>
                        <a:p>
                          <a:r>
                            <a:rPr lang="en-US" altLang="zh-TW" dirty="0"/>
                            <a:t>Calibration value at the convergence point</a:t>
                          </a:r>
                          <a:endParaRPr lang="zh-TW" altLang="en-US" dirty="0"/>
                        </a:p>
                      </a:txBody>
                      <a:tcPr/>
                    </a:tc>
                    <a:tc>
                      <a:txBody>
                        <a:bodyPr/>
                        <a:lstStyle/>
                        <a:p>
                          <a:r>
                            <a:rPr lang="en-US" altLang="zh-TW" dirty="0"/>
                            <a:t>Calibration value using all nodes</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Steady-state value</a:t>
                          </a:r>
                        </a:p>
                        <a:p>
                          <a:endParaRPr lang="zh-TW" altLang="en-US" dirty="0"/>
                        </a:p>
                      </a:txBody>
                      <a:tcPr/>
                    </a:tc>
                    <a:extLst>
                      <a:ext uri="{0D108BD9-81ED-4DB2-BD59-A6C34878D82A}">
                        <a16:rowId xmlns:a16="http://schemas.microsoft.com/office/drawing/2014/main" val="3608300422"/>
                      </a:ext>
                    </a:extLst>
                  </a:tr>
                  <a:tr h="429552">
                    <a:tc rowSpan="2">
                      <a:txBody>
                        <a:bodyPr/>
                        <a:lstStyle/>
                        <a:p>
                          <a:pPr algn="ctr"/>
                          <a:r>
                            <a:rPr lang="en-US" altLang="zh-TW" dirty="0"/>
                            <a:t>Single parameter</a:t>
                          </a:r>
                          <a:endParaRPr lang="zh-TW" altLang="en-US" dirty="0"/>
                        </a:p>
                      </a:txBody>
                      <a:tcPr/>
                    </a:tc>
                    <a:tc rowSpan="2">
                      <a:txBody>
                        <a:bodyPr/>
                        <a:lstStyle/>
                        <a:p>
                          <a14:m>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(7)</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(13)</m:t>
                                  </m:r>
                                </m:e>
                              </m:sPre>
                              <m:r>
                                <a:rPr lang="zh-TW" altLang="en-US" i="1" smtClean="0">
                                  <a:latin typeface="Cambria Math" panose="02040503050406030204" pitchFamily="18" charset="0"/>
                                </a:rPr>
                                <m:t>→</m:t>
                              </m:r>
                              <m:r>
                                <a:rPr lang="en-US" altLang="zh-TW" b="0" i="1" smtClean="0">
                                  <a:latin typeface="Cambria Math" panose="02040503050406030204" pitchFamily="18" charset="0"/>
                                </a:rPr>
                                <m:t>13</m:t>
                              </m:r>
                            </m:oMath>
                          </a14:m>
                          <a:r>
                            <a:rPr lang="en-US" altLang="zh-TW" dirty="0"/>
                            <a:t>points</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744.24</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m:oMathPara>
                          </a14:m>
                          <a:endParaRPr lang="zh-TW" altLang="en-US" dirty="0"/>
                        </a:p>
                      </a:txBody>
                      <a:tcPr/>
                    </a:tc>
                    <a:tc>
                      <a:txBody>
                        <a:bodyPr/>
                        <a:lstStyle/>
                        <a:p>
                          <a:pPr algn="ctr"/>
                          <a:r>
                            <a:rPr lang="en-US" altLang="zh-TW" dirty="0"/>
                            <a:t>7</a:t>
                          </a:r>
                          <a14:m>
                            <m:oMath xmlns:m="http://schemas.openxmlformats.org/officeDocument/2006/math">
                              <m:r>
                                <a:rPr lang="en-US" altLang="zh-TW" b="0" i="0" smtClean="0">
                                  <a:latin typeface="Cambria Math" panose="02040503050406030204" pitchFamily="18" charset="0"/>
                                </a:rPr>
                                <m:t>45.01</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tc>
                      <a:txBody>
                        <a:bodyPr/>
                        <a:lstStyle/>
                        <a:p>
                          <a:pPr algn="ctr"/>
                          <a:r>
                            <a:rPr lang="en-US" altLang="zh-TW" dirty="0"/>
                            <a:t>7</a:t>
                          </a:r>
                          <a14:m>
                            <m:oMath xmlns:m="http://schemas.openxmlformats.org/officeDocument/2006/math">
                              <m:r>
                                <a:rPr lang="en-US" altLang="zh-TW" b="0" i="0" smtClean="0">
                                  <a:latin typeface="Cambria Math" panose="02040503050406030204" pitchFamily="18" charset="0"/>
                                </a:rPr>
                                <m:t>44.</m:t>
                              </m:r>
                              <m:r>
                                <a:rPr lang="en-US" altLang="zh-TW" b="0" i="1" smtClean="0">
                                  <a:latin typeface="Cambria Math" panose="02040503050406030204" pitchFamily="18" charset="0"/>
                                </a:rPr>
                                <m:t>66</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extLst>
                      <a:ext uri="{0D108BD9-81ED-4DB2-BD59-A6C34878D82A}">
                        <a16:rowId xmlns:a16="http://schemas.microsoft.com/office/drawing/2014/main" val="2325691140"/>
                      </a:ext>
                    </a:extLst>
                  </a:tr>
                  <a:tr h="429552">
                    <a:tc vMerge="1">
                      <a:txBody>
                        <a:bodyPr/>
                        <a:lstStyle/>
                        <a:p>
                          <a:endParaRPr lang="zh-TW" altLang="en-US"/>
                        </a:p>
                      </a:txBody>
                      <a:tcPr/>
                    </a:tc>
                    <a:tc vMerge="1">
                      <a:txBody>
                        <a:bodyPr/>
                        <a:lstStyle/>
                        <a:p>
                          <a:endParaRPr lang="zh-TW" altLang="en-US"/>
                        </a:p>
                      </a:txBody>
                      <a:tcPr/>
                    </a:tc>
                    <a:tc>
                      <a:txBody>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33.58</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m:oMathPara>
                          </a14:m>
                          <a:endParaRPr lang="zh-TW" altLang="en-US" dirty="0"/>
                        </a:p>
                      </a:txBody>
                      <a:tcPr/>
                    </a:tc>
                    <a:tc>
                      <a:txBody>
                        <a:bodyPr/>
                        <a:lstStyle/>
                        <a:p>
                          <a:pPr algn="ctr"/>
                          <a:r>
                            <a:rPr lang="en-US" altLang="zh-TW" dirty="0"/>
                            <a:t>3</a:t>
                          </a:r>
                          <a14:m>
                            <m:oMath xmlns:m="http://schemas.openxmlformats.org/officeDocument/2006/math">
                              <m:r>
                                <a:rPr lang="en-US" altLang="zh-TW" b="0" i="0" smtClean="0">
                                  <a:latin typeface="Cambria Math" panose="02040503050406030204" pitchFamily="18" charset="0"/>
                                </a:rPr>
                                <m:t>3.09</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tc>
                      <a:txBody>
                        <a:bodyPr/>
                        <a:lstStyle/>
                        <a:p>
                          <a:pPr algn="ctr"/>
                          <a:r>
                            <a:rPr lang="en-US" altLang="zh-TW" dirty="0"/>
                            <a:t>3</a:t>
                          </a:r>
                          <a14:m>
                            <m:oMath xmlns:m="http://schemas.openxmlformats.org/officeDocument/2006/math">
                              <m:r>
                                <a:rPr lang="en-US" altLang="zh-TW" b="0" i="0" smtClean="0">
                                  <a:latin typeface="Cambria Math" panose="02040503050406030204" pitchFamily="18" charset="0"/>
                                </a:rPr>
                                <m:t>3.5</m:t>
                              </m:r>
                              <m:r>
                                <a:rPr lang="en-US" altLang="zh-TW" b="0" i="1" smtClean="0">
                                  <a:latin typeface="Cambria Math" panose="02040503050406030204" pitchFamily="18" charset="0"/>
                                </a:rPr>
                                <m:t>3</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extLst>
                      <a:ext uri="{0D108BD9-81ED-4DB2-BD59-A6C34878D82A}">
                        <a16:rowId xmlns:a16="http://schemas.microsoft.com/office/drawing/2014/main" val="556670571"/>
                      </a:ext>
                    </a:extLst>
                  </a:tr>
                  <a:tr h="471234">
                    <a:tc rowSpan="2">
                      <a:txBody>
                        <a:bodyPr/>
                        <a:lstStyle/>
                        <a:p>
                          <a:pPr algn="ctr"/>
                          <a:r>
                            <a:rPr lang="en-US" altLang="zh-TW" dirty="0"/>
                            <a:t>Eighteen parameters</a:t>
                          </a:r>
                          <a:endParaRPr lang="zh-TW" altLang="en-US" dirty="0"/>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(7)</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(7)</m:t>
                                  </m:r>
                                </m:e>
                              </m:sPre>
                              <m:r>
                                <a:rPr lang="zh-TW" altLang="en-US" i="1" smtClean="0">
                                  <a:latin typeface="Cambria Math" panose="02040503050406030204" pitchFamily="18" charset="0"/>
                                </a:rPr>
                                <m:t>→</m:t>
                              </m:r>
                              <m:r>
                                <a:rPr lang="en-US" altLang="zh-TW" b="0" i="1" smtClean="0">
                                  <a:latin typeface="Cambria Math" panose="02040503050406030204" pitchFamily="18" charset="0"/>
                                </a:rPr>
                                <m:t>7</m:t>
                              </m:r>
                            </m:oMath>
                          </a14:m>
                          <a:r>
                            <a:rPr lang="en-US" altLang="zh-TW" dirty="0"/>
                            <a:t>points</a:t>
                          </a:r>
                          <a:endParaRPr lang="zh-TW" altLang="en-US" dirty="0"/>
                        </a:p>
                        <a:p>
                          <a:endParaRPr lang="zh-TW" alt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597.62</m:t>
                                </m:r>
                                <m:r>
                                  <a:rPr lang="zh-TW" altLang="en-US" sz="1400" b="0" i="1" smtClean="0">
                                    <a:latin typeface="Cambria Math" panose="02040503050406030204" pitchFamily="18" charset="0"/>
                                  </a:rPr>
                                  <m:t>𝜇</m:t>
                                </m:r>
                                <m:r>
                                  <a:rPr lang="en-US" altLang="zh-TW" sz="1400" b="0" i="1" smtClean="0">
                                    <a:latin typeface="Cambria Math" panose="02040503050406030204" pitchFamily="18" charset="0"/>
                                  </a:rPr>
                                  <m:t>𝑚</m:t>
                                </m:r>
                              </m:oMath>
                            </m:oMathPara>
                          </a14:m>
                          <a:endParaRPr lang="zh-TW" altLang="en-US" sz="1400" dirty="0"/>
                        </a:p>
                      </a:txBody>
                      <a:tcPr/>
                    </a:tc>
                    <a:tc>
                      <a:txBody>
                        <a:bodyPr/>
                        <a:lstStyle/>
                        <a:p>
                          <a:pPr algn="ctr"/>
                          <a:r>
                            <a:rPr lang="en-US" altLang="zh-TW" sz="1400" dirty="0"/>
                            <a:t>6</a:t>
                          </a:r>
                          <a14:m>
                            <m:oMath xmlns:m="http://schemas.openxmlformats.org/officeDocument/2006/math">
                              <m:r>
                                <a:rPr lang="en-US" altLang="zh-TW" sz="1400" b="0" i="0" smtClean="0">
                                  <a:latin typeface="Cambria Math" panose="02040503050406030204" pitchFamily="18" charset="0"/>
                                </a:rPr>
                                <m:t>04.14</m:t>
                              </m:r>
                              <m:r>
                                <a:rPr lang="zh-TW" altLang="en-US" sz="1400" b="0" i="1" smtClean="0">
                                  <a:latin typeface="Cambria Math" panose="02040503050406030204" pitchFamily="18" charset="0"/>
                                </a:rPr>
                                <m:t>𝜇</m:t>
                              </m:r>
                              <m:r>
                                <a:rPr lang="en-US" altLang="zh-TW" sz="1400" b="0" i="1" smtClean="0">
                                  <a:latin typeface="Cambria Math" panose="02040503050406030204" pitchFamily="18" charset="0"/>
                                </a:rPr>
                                <m:t>𝑚</m:t>
                              </m:r>
                            </m:oMath>
                          </a14:m>
                          <a:endParaRPr lang="zh-TW" altLang="en-US" sz="1400" dirty="0"/>
                        </a:p>
                      </a:txBody>
                      <a:tcPr/>
                    </a:tc>
                    <a:tc>
                      <a:txBody>
                        <a:bodyPr/>
                        <a:lstStyle/>
                        <a:p>
                          <a:pPr algn="ctr"/>
                          <a:r>
                            <a:rPr lang="en-US" altLang="zh-TW" dirty="0"/>
                            <a:t>5</a:t>
                          </a:r>
                          <a14:m>
                            <m:oMath xmlns:m="http://schemas.openxmlformats.org/officeDocument/2006/math">
                              <m:r>
                                <a:rPr lang="en-US" altLang="zh-TW" b="0" i="0" smtClean="0">
                                  <a:latin typeface="Cambria Math" panose="02040503050406030204" pitchFamily="18" charset="0"/>
                                </a:rPr>
                                <m:t>97.</m:t>
                              </m:r>
                              <m:r>
                                <a:rPr lang="en-US" altLang="zh-TW" b="0" i="1" smtClean="0">
                                  <a:latin typeface="Cambria Math" panose="02040503050406030204" pitchFamily="18" charset="0"/>
                                </a:rPr>
                                <m:t>87</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extLst>
                      <a:ext uri="{0D108BD9-81ED-4DB2-BD59-A6C34878D82A}">
                        <a16:rowId xmlns:a16="http://schemas.microsoft.com/office/drawing/2014/main" val="1432721735"/>
                      </a:ext>
                    </a:extLst>
                  </a:tr>
                  <a:tr h="589646">
                    <a:tc vMerge="1">
                      <a:txBody>
                        <a:bodyPr/>
                        <a:lstStyle/>
                        <a:p>
                          <a:endParaRPr lang="zh-TW" altLang="en-US"/>
                        </a:p>
                      </a:txBody>
                      <a:tcPr/>
                    </a:tc>
                    <a:tc vMerge="1">
                      <a:txBody>
                        <a:bodyPr/>
                        <a:lstStyle/>
                        <a:p>
                          <a:endParaRPr lang="zh-TW"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37.38</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oMath>
                            </m:oMathPara>
                          </a14:m>
                          <a:endParaRPr lang="zh-TW" altLang="en-US" sz="1400" dirty="0"/>
                        </a:p>
                        <a:p>
                          <a:endParaRPr lang="zh-TW" altLang="en-US" sz="1400" dirty="0"/>
                        </a:p>
                      </a:txBody>
                      <a:tcPr/>
                    </a:tc>
                    <a:tc>
                      <a:txBody>
                        <a:bodyPr/>
                        <a:lstStyle/>
                        <a:p>
                          <a:pPr algn="ctr"/>
                          <a:r>
                            <a:rPr lang="en-US" altLang="zh-TW" dirty="0"/>
                            <a:t>3</a:t>
                          </a:r>
                          <a14:m>
                            <m:oMath xmlns:m="http://schemas.openxmlformats.org/officeDocument/2006/math">
                              <m:r>
                                <a:rPr lang="en-US" altLang="zh-TW" b="0" i="0" smtClean="0">
                                  <a:latin typeface="Cambria Math" panose="02040503050406030204" pitchFamily="18" charset="0"/>
                                </a:rPr>
                                <m:t>7.56</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tc>
                      <a:txBody>
                        <a:bodyPr/>
                        <a:lstStyle/>
                        <a:p>
                          <a:pPr algn="ctr"/>
                          <a:r>
                            <a:rPr lang="en-US" altLang="zh-TW" dirty="0"/>
                            <a:t>3</a:t>
                          </a:r>
                          <a14:m>
                            <m:oMath xmlns:m="http://schemas.openxmlformats.org/officeDocument/2006/math">
                              <m:r>
                                <a:rPr lang="en-US" altLang="zh-TW" b="0" i="0" smtClean="0">
                                  <a:latin typeface="Cambria Math" panose="02040503050406030204" pitchFamily="18" charset="0"/>
                                </a:rPr>
                                <m:t>7.3</m:t>
                              </m:r>
                              <m:r>
                                <a:rPr lang="en-US" altLang="zh-TW" b="0" i="1" smtClean="0">
                                  <a:latin typeface="Cambria Math" panose="02040503050406030204" pitchFamily="18" charset="0"/>
                                </a:rPr>
                                <m:t>3</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extLst>
                      <a:ext uri="{0D108BD9-81ED-4DB2-BD59-A6C34878D82A}">
                        <a16:rowId xmlns:a16="http://schemas.microsoft.com/office/drawing/2014/main" val="2179688753"/>
                      </a:ext>
                    </a:extLst>
                  </a:tr>
                </a:tbl>
              </a:graphicData>
            </a:graphic>
          </p:graphicFrame>
        </mc:Choice>
        <mc:Fallback xmlns="">
          <p:graphicFrame>
            <p:nvGraphicFramePr>
              <p:cNvPr id="22" name="表格 79">
                <a:extLst>
                  <a:ext uri="{FF2B5EF4-FFF2-40B4-BE49-F238E27FC236}">
                    <a16:creationId xmlns:a16="http://schemas.microsoft.com/office/drawing/2014/main" id="{73C431D0-348A-459A-81C5-DACFC9FEA1CF}"/>
                  </a:ext>
                </a:extLst>
              </p:cNvPr>
              <p:cNvGraphicFramePr>
                <a:graphicFrameLocks noGrp="1"/>
              </p:cNvGraphicFramePr>
              <p:nvPr>
                <p:extLst>
                  <p:ext uri="{D42A27DB-BD31-4B8C-83A1-F6EECF244321}">
                    <p14:modId xmlns:p14="http://schemas.microsoft.com/office/powerpoint/2010/main" val="9782919"/>
                  </p:ext>
                </p:extLst>
              </p:nvPr>
            </p:nvGraphicFramePr>
            <p:xfrm>
              <a:off x="140302" y="3940146"/>
              <a:ext cx="11601753" cy="2834384"/>
            </p:xfrm>
            <a:graphic>
              <a:graphicData uri="http://schemas.openxmlformats.org/drawingml/2006/table">
                <a:tbl>
                  <a:tblPr firstRow="1" bandRow="1">
                    <a:tableStyleId>{5940675A-B579-460E-94D1-54222C63F5DA}</a:tableStyleId>
                  </a:tblPr>
                  <a:tblGrid>
                    <a:gridCol w="2229154">
                      <a:extLst>
                        <a:ext uri="{9D8B030D-6E8A-4147-A177-3AD203B41FA5}">
                          <a16:colId xmlns:a16="http://schemas.microsoft.com/office/drawing/2014/main" val="4152913983"/>
                        </a:ext>
                      </a:extLst>
                    </a:gridCol>
                    <a:gridCol w="2486779">
                      <a:extLst>
                        <a:ext uri="{9D8B030D-6E8A-4147-A177-3AD203B41FA5}">
                          <a16:colId xmlns:a16="http://schemas.microsoft.com/office/drawing/2014/main" val="2719724219"/>
                        </a:ext>
                      </a:extLst>
                    </a:gridCol>
                    <a:gridCol w="1989667">
                      <a:extLst>
                        <a:ext uri="{9D8B030D-6E8A-4147-A177-3AD203B41FA5}">
                          <a16:colId xmlns:a16="http://schemas.microsoft.com/office/drawing/2014/main" val="3621208620"/>
                        </a:ext>
                      </a:extLst>
                    </a:gridCol>
                    <a:gridCol w="1955800">
                      <a:extLst>
                        <a:ext uri="{9D8B030D-6E8A-4147-A177-3AD203B41FA5}">
                          <a16:colId xmlns:a16="http://schemas.microsoft.com/office/drawing/2014/main" val="1836300288"/>
                        </a:ext>
                      </a:extLst>
                    </a:gridCol>
                    <a:gridCol w="2940353">
                      <a:extLst>
                        <a:ext uri="{9D8B030D-6E8A-4147-A177-3AD203B41FA5}">
                          <a16:colId xmlns:a16="http://schemas.microsoft.com/office/drawing/2014/main" val="1620865351"/>
                        </a:ext>
                      </a:extLst>
                    </a:gridCol>
                  </a:tblGrid>
                  <a:tr h="91440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r>
                            <a:rPr lang="en-US" altLang="zh-TW" dirty="0"/>
                            <a:t>Number of points at convergence</a:t>
                          </a:r>
                          <a:endParaRPr lang="zh-TW" altLang="en-US" dirty="0"/>
                        </a:p>
                      </a:txBody>
                      <a:tcPr/>
                    </a:tc>
                    <a:tc>
                      <a:txBody>
                        <a:bodyPr/>
                        <a:lstStyle/>
                        <a:p>
                          <a:r>
                            <a:rPr lang="en-US" altLang="zh-TW" dirty="0"/>
                            <a:t>Calibration value at the convergence point</a:t>
                          </a:r>
                          <a:endParaRPr lang="zh-TW" altLang="en-US" dirty="0"/>
                        </a:p>
                      </a:txBody>
                      <a:tcPr/>
                    </a:tc>
                    <a:tc>
                      <a:txBody>
                        <a:bodyPr/>
                        <a:lstStyle/>
                        <a:p>
                          <a:r>
                            <a:rPr lang="en-US" altLang="zh-TW" dirty="0"/>
                            <a:t>Calibration value using all nodes</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Steady-state value</a:t>
                          </a:r>
                        </a:p>
                        <a:p>
                          <a:endParaRPr lang="zh-TW" altLang="en-US" dirty="0"/>
                        </a:p>
                      </a:txBody>
                      <a:tcPr/>
                    </a:tc>
                    <a:extLst>
                      <a:ext uri="{0D108BD9-81ED-4DB2-BD59-A6C34878D82A}">
                        <a16:rowId xmlns:a16="http://schemas.microsoft.com/office/drawing/2014/main" val="3608300422"/>
                      </a:ext>
                    </a:extLst>
                  </a:tr>
                  <a:tr h="429552">
                    <a:tc rowSpan="2">
                      <a:txBody>
                        <a:bodyPr/>
                        <a:lstStyle/>
                        <a:p>
                          <a:pPr algn="ctr"/>
                          <a:r>
                            <a:rPr lang="en-US" altLang="zh-TW" dirty="0"/>
                            <a:t>Single parameter</a:t>
                          </a:r>
                          <a:endParaRPr lang="zh-TW" altLang="en-US" dirty="0"/>
                        </a:p>
                      </a:txBody>
                      <a:tcPr/>
                    </a:tc>
                    <a:tc rowSpan="2">
                      <a:txBody>
                        <a:bodyPr/>
                        <a:lstStyle/>
                        <a:p>
                          <a:endParaRPr lang="zh-TW"/>
                        </a:p>
                      </a:txBody>
                      <a:tcPr>
                        <a:blipFill>
                          <a:blip r:embed="rId9"/>
                          <a:stretch>
                            <a:fillRect l="-90196" t="-109155" r="-277451" b="-172535"/>
                          </a:stretch>
                        </a:blipFill>
                      </a:tcPr>
                    </a:tc>
                    <a:tc>
                      <a:txBody>
                        <a:bodyPr/>
                        <a:lstStyle/>
                        <a:p>
                          <a:endParaRPr lang="zh-TW"/>
                        </a:p>
                      </a:txBody>
                      <a:tcPr>
                        <a:blipFill>
                          <a:blip r:embed="rId9"/>
                          <a:stretch>
                            <a:fillRect l="-238037" t="-218310" r="-247239" b="-445070"/>
                          </a:stretch>
                        </a:blipFill>
                      </a:tcPr>
                    </a:tc>
                    <a:tc>
                      <a:txBody>
                        <a:bodyPr/>
                        <a:lstStyle/>
                        <a:p>
                          <a:endParaRPr lang="zh-TW"/>
                        </a:p>
                      </a:txBody>
                      <a:tcPr>
                        <a:blipFill>
                          <a:blip r:embed="rId9"/>
                          <a:stretch>
                            <a:fillRect l="-343302" t="-218310" r="-151090" b="-445070"/>
                          </a:stretch>
                        </a:blipFill>
                      </a:tcPr>
                    </a:tc>
                    <a:tc>
                      <a:txBody>
                        <a:bodyPr/>
                        <a:lstStyle/>
                        <a:p>
                          <a:endParaRPr lang="zh-TW"/>
                        </a:p>
                      </a:txBody>
                      <a:tcPr>
                        <a:blipFill>
                          <a:blip r:embed="rId9"/>
                          <a:stretch>
                            <a:fillRect l="-294617" t="-218310" r="-414" b="-445070"/>
                          </a:stretch>
                        </a:blipFill>
                      </a:tcPr>
                    </a:tc>
                    <a:extLst>
                      <a:ext uri="{0D108BD9-81ED-4DB2-BD59-A6C34878D82A}">
                        <a16:rowId xmlns:a16="http://schemas.microsoft.com/office/drawing/2014/main" val="2325691140"/>
                      </a:ext>
                    </a:extLst>
                  </a:tr>
                  <a:tr h="429552">
                    <a:tc vMerge="1">
                      <a:txBody>
                        <a:bodyPr/>
                        <a:lstStyle/>
                        <a:p>
                          <a:endParaRPr lang="zh-TW" altLang="en-US"/>
                        </a:p>
                      </a:txBody>
                      <a:tcPr/>
                    </a:tc>
                    <a:tc vMerge="1">
                      <a:txBody>
                        <a:bodyPr/>
                        <a:lstStyle/>
                        <a:p>
                          <a:endParaRPr lang="zh-TW" altLang="en-US"/>
                        </a:p>
                      </a:txBody>
                      <a:tcPr/>
                    </a:tc>
                    <a:tc>
                      <a:txBody>
                        <a:bodyPr/>
                        <a:lstStyle/>
                        <a:p>
                          <a:endParaRPr lang="zh-TW"/>
                        </a:p>
                      </a:txBody>
                      <a:tcPr>
                        <a:blipFill>
                          <a:blip r:embed="rId9"/>
                          <a:stretch>
                            <a:fillRect l="-238037" t="-318310" r="-247239" b="-345070"/>
                          </a:stretch>
                        </a:blipFill>
                      </a:tcPr>
                    </a:tc>
                    <a:tc>
                      <a:txBody>
                        <a:bodyPr/>
                        <a:lstStyle/>
                        <a:p>
                          <a:endParaRPr lang="zh-TW"/>
                        </a:p>
                      </a:txBody>
                      <a:tcPr>
                        <a:blipFill>
                          <a:blip r:embed="rId9"/>
                          <a:stretch>
                            <a:fillRect l="-343302" t="-318310" r="-151090" b="-345070"/>
                          </a:stretch>
                        </a:blipFill>
                      </a:tcPr>
                    </a:tc>
                    <a:tc>
                      <a:txBody>
                        <a:bodyPr/>
                        <a:lstStyle/>
                        <a:p>
                          <a:endParaRPr lang="zh-TW"/>
                        </a:p>
                      </a:txBody>
                      <a:tcPr>
                        <a:blipFill>
                          <a:blip r:embed="rId9"/>
                          <a:stretch>
                            <a:fillRect l="-294617" t="-318310" r="-414" b="-345070"/>
                          </a:stretch>
                        </a:blipFill>
                      </a:tcPr>
                    </a:tc>
                    <a:extLst>
                      <a:ext uri="{0D108BD9-81ED-4DB2-BD59-A6C34878D82A}">
                        <a16:rowId xmlns:a16="http://schemas.microsoft.com/office/drawing/2014/main" val="556670571"/>
                      </a:ext>
                    </a:extLst>
                  </a:tr>
                  <a:tr h="471234">
                    <a:tc rowSpan="2">
                      <a:txBody>
                        <a:bodyPr/>
                        <a:lstStyle/>
                        <a:p>
                          <a:pPr algn="ctr"/>
                          <a:r>
                            <a:rPr lang="en-US" altLang="zh-TW" dirty="0"/>
                            <a:t>Eighteen parameters</a:t>
                          </a:r>
                          <a:endParaRPr lang="zh-TW" altLang="en-US" dirty="0"/>
                        </a:p>
                      </a:txBody>
                      <a:tcPr/>
                    </a:tc>
                    <a:tc rowSpan="2">
                      <a:txBody>
                        <a:bodyPr/>
                        <a:lstStyle/>
                        <a:p>
                          <a:endParaRPr lang="zh-TW"/>
                        </a:p>
                      </a:txBody>
                      <a:tcPr>
                        <a:blipFill>
                          <a:blip r:embed="rId9"/>
                          <a:stretch>
                            <a:fillRect l="-90196" t="-170690" r="-277451" b="-40805"/>
                          </a:stretch>
                        </a:blipFill>
                      </a:tcPr>
                    </a:tc>
                    <a:tc>
                      <a:txBody>
                        <a:bodyPr/>
                        <a:lstStyle/>
                        <a:p>
                          <a:endParaRPr lang="zh-TW"/>
                        </a:p>
                      </a:txBody>
                      <a:tcPr>
                        <a:blipFill>
                          <a:blip r:embed="rId9"/>
                          <a:stretch>
                            <a:fillRect l="-238037" t="-385714" r="-247239" b="-218182"/>
                          </a:stretch>
                        </a:blipFill>
                      </a:tcPr>
                    </a:tc>
                    <a:tc>
                      <a:txBody>
                        <a:bodyPr/>
                        <a:lstStyle/>
                        <a:p>
                          <a:endParaRPr lang="zh-TW"/>
                        </a:p>
                      </a:txBody>
                      <a:tcPr>
                        <a:blipFill>
                          <a:blip r:embed="rId9"/>
                          <a:stretch>
                            <a:fillRect l="-343302" t="-385714" r="-151090" b="-218182"/>
                          </a:stretch>
                        </a:blipFill>
                      </a:tcPr>
                    </a:tc>
                    <a:tc>
                      <a:txBody>
                        <a:bodyPr/>
                        <a:lstStyle/>
                        <a:p>
                          <a:endParaRPr lang="zh-TW"/>
                        </a:p>
                      </a:txBody>
                      <a:tcPr>
                        <a:blipFill>
                          <a:blip r:embed="rId9"/>
                          <a:stretch>
                            <a:fillRect l="-294617" t="-385714" r="-414" b="-218182"/>
                          </a:stretch>
                        </a:blipFill>
                      </a:tcPr>
                    </a:tc>
                    <a:extLst>
                      <a:ext uri="{0D108BD9-81ED-4DB2-BD59-A6C34878D82A}">
                        <a16:rowId xmlns:a16="http://schemas.microsoft.com/office/drawing/2014/main" val="1432721735"/>
                      </a:ext>
                    </a:extLst>
                  </a:tr>
                  <a:tr h="589646">
                    <a:tc vMerge="1">
                      <a:txBody>
                        <a:bodyPr/>
                        <a:lstStyle/>
                        <a:p>
                          <a:endParaRPr lang="zh-TW" altLang="en-US"/>
                        </a:p>
                      </a:txBody>
                      <a:tcPr/>
                    </a:tc>
                    <a:tc vMerge="1">
                      <a:txBody>
                        <a:bodyPr/>
                        <a:lstStyle/>
                        <a:p>
                          <a:endParaRPr lang="zh-TW" altLang="en-US"/>
                        </a:p>
                      </a:txBody>
                      <a:tcPr/>
                    </a:tc>
                    <a:tc>
                      <a:txBody>
                        <a:bodyPr/>
                        <a:lstStyle/>
                        <a:p>
                          <a:endParaRPr lang="zh-TW"/>
                        </a:p>
                      </a:txBody>
                      <a:tcPr>
                        <a:blipFill>
                          <a:blip r:embed="rId9"/>
                          <a:stretch>
                            <a:fillRect l="-238037" t="-385567" r="-247239" b="-73196"/>
                          </a:stretch>
                        </a:blipFill>
                      </a:tcPr>
                    </a:tc>
                    <a:tc>
                      <a:txBody>
                        <a:bodyPr/>
                        <a:lstStyle/>
                        <a:p>
                          <a:endParaRPr lang="zh-TW"/>
                        </a:p>
                      </a:txBody>
                      <a:tcPr>
                        <a:blipFill>
                          <a:blip r:embed="rId9"/>
                          <a:stretch>
                            <a:fillRect l="-343302" t="-385567" r="-151090" b="-73196"/>
                          </a:stretch>
                        </a:blipFill>
                      </a:tcPr>
                    </a:tc>
                    <a:tc>
                      <a:txBody>
                        <a:bodyPr/>
                        <a:lstStyle/>
                        <a:p>
                          <a:endParaRPr lang="zh-TW"/>
                        </a:p>
                      </a:txBody>
                      <a:tcPr>
                        <a:blipFill>
                          <a:blip r:embed="rId9"/>
                          <a:stretch>
                            <a:fillRect l="-294617" t="-385567" r="-414" b="-73196"/>
                          </a:stretch>
                        </a:blipFill>
                      </a:tcPr>
                    </a:tc>
                    <a:extLst>
                      <a:ext uri="{0D108BD9-81ED-4DB2-BD59-A6C34878D82A}">
                        <a16:rowId xmlns:a16="http://schemas.microsoft.com/office/drawing/2014/main" val="2179688753"/>
                      </a:ext>
                    </a:extLst>
                  </a:tr>
                </a:tbl>
              </a:graphicData>
            </a:graphic>
          </p:graphicFrame>
        </mc:Fallback>
      </mc:AlternateContent>
      <p:cxnSp>
        <p:nvCxnSpPr>
          <p:cNvPr id="23" name="直線接點 22">
            <a:extLst>
              <a:ext uri="{FF2B5EF4-FFF2-40B4-BE49-F238E27FC236}">
                <a16:creationId xmlns:a16="http://schemas.microsoft.com/office/drawing/2014/main" id="{94070808-55B3-4269-B062-A5B93200C8F3}"/>
              </a:ext>
            </a:extLst>
          </p:cNvPr>
          <p:cNvCxnSpPr/>
          <p:nvPr/>
        </p:nvCxnSpPr>
        <p:spPr>
          <a:xfrm>
            <a:off x="6011333" y="1246814"/>
            <a:ext cx="0" cy="25314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群組 14">
            <a:extLst>
              <a:ext uri="{FF2B5EF4-FFF2-40B4-BE49-F238E27FC236}">
                <a16:creationId xmlns:a16="http://schemas.microsoft.com/office/drawing/2014/main" id="{2992B480-BA5B-4E90-A8FF-EE022D735395}"/>
              </a:ext>
            </a:extLst>
          </p:cNvPr>
          <p:cNvGrpSpPr/>
          <p:nvPr/>
        </p:nvGrpSpPr>
        <p:grpSpPr>
          <a:xfrm>
            <a:off x="6145975" y="1545625"/>
            <a:ext cx="2701652" cy="2163731"/>
            <a:chOff x="6145975" y="1545625"/>
            <a:chExt cx="2701652" cy="2163731"/>
          </a:xfrm>
        </p:grpSpPr>
        <p:pic>
          <p:nvPicPr>
            <p:cNvPr id="6" name="圖片 5">
              <a:extLst>
                <a:ext uri="{FF2B5EF4-FFF2-40B4-BE49-F238E27FC236}">
                  <a16:creationId xmlns:a16="http://schemas.microsoft.com/office/drawing/2014/main" id="{F0A836AC-61B8-4CF7-A28E-C53B25CDF75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148620" y="1545625"/>
              <a:ext cx="2699007" cy="2146851"/>
            </a:xfrm>
            <a:prstGeom prst="rect">
              <a:avLst/>
            </a:prstGeom>
          </p:spPr>
        </p:pic>
        <p:sp>
          <p:nvSpPr>
            <p:cNvPr id="12" name="矩形 11">
              <a:extLst>
                <a:ext uri="{FF2B5EF4-FFF2-40B4-BE49-F238E27FC236}">
                  <a16:creationId xmlns:a16="http://schemas.microsoft.com/office/drawing/2014/main" id="{EBFF9CCF-DEB6-4160-BEC6-25C08FE6C385}"/>
                </a:ext>
              </a:extLst>
            </p:cNvPr>
            <p:cNvSpPr/>
            <p:nvPr/>
          </p:nvSpPr>
          <p:spPr>
            <a:xfrm>
              <a:off x="7103532" y="3564052"/>
              <a:ext cx="1176865" cy="145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14EC9D37-5989-4910-8ACE-A16FD0FF013D}"/>
                </a:ext>
              </a:extLst>
            </p:cNvPr>
            <p:cNvSpPr/>
            <p:nvPr/>
          </p:nvSpPr>
          <p:spPr>
            <a:xfrm rot="16200000">
              <a:off x="5630194" y="2476372"/>
              <a:ext cx="1176865" cy="145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4" name="群組 13">
            <a:extLst>
              <a:ext uri="{FF2B5EF4-FFF2-40B4-BE49-F238E27FC236}">
                <a16:creationId xmlns:a16="http://schemas.microsoft.com/office/drawing/2014/main" id="{42BEE253-495A-482F-AD13-7BE92B6B0893}"/>
              </a:ext>
            </a:extLst>
          </p:cNvPr>
          <p:cNvGrpSpPr/>
          <p:nvPr/>
        </p:nvGrpSpPr>
        <p:grpSpPr>
          <a:xfrm>
            <a:off x="9023437" y="1557023"/>
            <a:ext cx="2649515" cy="2130483"/>
            <a:chOff x="9023437" y="1557023"/>
            <a:chExt cx="2649515" cy="2130483"/>
          </a:xfrm>
        </p:grpSpPr>
        <p:pic>
          <p:nvPicPr>
            <p:cNvPr id="11" name="圖片 10">
              <a:extLst>
                <a:ext uri="{FF2B5EF4-FFF2-40B4-BE49-F238E27FC236}">
                  <a16:creationId xmlns:a16="http://schemas.microsoft.com/office/drawing/2014/main" id="{FDEFAA5C-7230-450E-A6EA-889CE7860D0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040987" y="1557023"/>
              <a:ext cx="2631965" cy="2098425"/>
            </a:xfrm>
            <a:prstGeom prst="rect">
              <a:avLst/>
            </a:prstGeom>
          </p:spPr>
        </p:pic>
        <p:sp>
          <p:nvSpPr>
            <p:cNvPr id="28" name="矩形 27">
              <a:extLst>
                <a:ext uri="{FF2B5EF4-FFF2-40B4-BE49-F238E27FC236}">
                  <a16:creationId xmlns:a16="http://schemas.microsoft.com/office/drawing/2014/main" id="{865A1E31-790C-4716-AE4D-B02E3A921169}"/>
                </a:ext>
              </a:extLst>
            </p:cNvPr>
            <p:cNvSpPr/>
            <p:nvPr/>
          </p:nvSpPr>
          <p:spPr>
            <a:xfrm>
              <a:off x="9881929" y="3542202"/>
              <a:ext cx="1176865" cy="145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160B3CC9-2D6F-4E49-BBFA-EC37EDF5F01E}"/>
                </a:ext>
              </a:extLst>
            </p:cNvPr>
            <p:cNvSpPr/>
            <p:nvPr/>
          </p:nvSpPr>
          <p:spPr>
            <a:xfrm rot="16200000">
              <a:off x="8516454" y="2442174"/>
              <a:ext cx="1176865" cy="162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F245EB21-5EA0-4BE0-805B-8E2D196D0C57}"/>
                  </a:ext>
                </a:extLst>
              </p:cNvPr>
              <p:cNvSpPr txBox="1"/>
              <p:nvPr/>
            </p:nvSpPr>
            <p:spPr>
              <a:xfrm>
                <a:off x="6996053" y="3524193"/>
                <a:ext cx="1030398" cy="1767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36" name="文字方塊 35">
                <a:extLst>
                  <a:ext uri="{FF2B5EF4-FFF2-40B4-BE49-F238E27FC236}">
                    <a16:creationId xmlns:a16="http://schemas.microsoft.com/office/drawing/2014/main" id="{F245EB21-5EA0-4BE0-805B-8E2D196D0C57}"/>
                  </a:ext>
                </a:extLst>
              </p:cNvPr>
              <p:cNvSpPr txBox="1">
                <a:spLocks noRot="1" noChangeAspect="1" noMove="1" noResize="1" noEditPoints="1" noAdjustHandles="1" noChangeArrowheads="1" noChangeShapeType="1" noTextEdit="1"/>
              </p:cNvSpPr>
              <p:nvPr/>
            </p:nvSpPr>
            <p:spPr>
              <a:xfrm>
                <a:off x="6996053" y="3524193"/>
                <a:ext cx="1030398" cy="176723"/>
              </a:xfrm>
              <a:prstGeom prst="rect">
                <a:avLst/>
              </a:prstGeom>
              <a:blipFill>
                <a:blip r:embed="rId12"/>
                <a:stretch>
                  <a:fillRect l="-6509" r="-36095" b="-586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A5D507DD-1E7E-460B-BD0D-A71FCBE0D45C}"/>
                  </a:ext>
                </a:extLst>
              </p:cNvPr>
              <p:cNvSpPr txBox="1"/>
              <p:nvPr/>
            </p:nvSpPr>
            <p:spPr>
              <a:xfrm>
                <a:off x="9881929" y="3478923"/>
                <a:ext cx="1030398" cy="1767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37" name="文字方塊 36">
                <a:extLst>
                  <a:ext uri="{FF2B5EF4-FFF2-40B4-BE49-F238E27FC236}">
                    <a16:creationId xmlns:a16="http://schemas.microsoft.com/office/drawing/2014/main" id="{A5D507DD-1E7E-460B-BD0D-A71FCBE0D45C}"/>
                  </a:ext>
                </a:extLst>
              </p:cNvPr>
              <p:cNvSpPr txBox="1">
                <a:spLocks noRot="1" noChangeAspect="1" noMove="1" noResize="1" noEditPoints="1" noAdjustHandles="1" noChangeArrowheads="1" noChangeShapeType="1" noTextEdit="1"/>
              </p:cNvSpPr>
              <p:nvPr/>
            </p:nvSpPr>
            <p:spPr>
              <a:xfrm>
                <a:off x="9881929" y="3478923"/>
                <a:ext cx="1030398" cy="176723"/>
              </a:xfrm>
              <a:prstGeom prst="rect">
                <a:avLst/>
              </a:prstGeom>
              <a:blipFill>
                <a:blip r:embed="rId13"/>
                <a:stretch>
                  <a:fillRect l="-5917" r="-36095" b="-586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6668C21C-0ECB-4E9E-AC28-EA539C98F3E5}"/>
                  </a:ext>
                </a:extLst>
              </p:cNvPr>
              <p:cNvSpPr txBox="1"/>
              <p:nvPr/>
            </p:nvSpPr>
            <p:spPr>
              <a:xfrm rot="16200000">
                <a:off x="5626915" y="2450613"/>
                <a:ext cx="978244" cy="1689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38" name="文字方塊 37">
                <a:extLst>
                  <a:ext uri="{FF2B5EF4-FFF2-40B4-BE49-F238E27FC236}">
                    <a16:creationId xmlns:a16="http://schemas.microsoft.com/office/drawing/2014/main" id="{6668C21C-0ECB-4E9E-AC28-EA539C98F3E5}"/>
                  </a:ext>
                </a:extLst>
              </p:cNvPr>
              <p:cNvSpPr txBox="1">
                <a:spLocks noRot="1" noChangeAspect="1" noMove="1" noResize="1" noEditPoints="1" noAdjustHandles="1" noChangeArrowheads="1" noChangeShapeType="1" noTextEdit="1"/>
              </p:cNvSpPr>
              <p:nvPr/>
            </p:nvSpPr>
            <p:spPr>
              <a:xfrm rot="16200000">
                <a:off x="5626915" y="2450613"/>
                <a:ext cx="978244" cy="168928"/>
              </a:xfrm>
              <a:prstGeom prst="rect">
                <a:avLst/>
              </a:prstGeom>
              <a:blipFill>
                <a:blip r:embed="rId14"/>
                <a:stretch>
                  <a:fillRect l="-32143" r="-7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7B161F57-9215-48F5-B82F-5532C0869E79}"/>
                  </a:ext>
                </a:extLst>
              </p:cNvPr>
              <p:cNvSpPr txBox="1"/>
              <p:nvPr/>
            </p:nvSpPr>
            <p:spPr>
              <a:xfrm rot="16200000">
                <a:off x="8695836" y="2594462"/>
                <a:ext cx="674194" cy="1488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39" name="文字方塊 38">
                <a:extLst>
                  <a:ext uri="{FF2B5EF4-FFF2-40B4-BE49-F238E27FC236}">
                    <a16:creationId xmlns:a16="http://schemas.microsoft.com/office/drawing/2014/main" id="{7B161F57-9215-48F5-B82F-5532C0869E79}"/>
                  </a:ext>
                </a:extLst>
              </p:cNvPr>
              <p:cNvSpPr txBox="1">
                <a:spLocks noRot="1" noChangeAspect="1" noMove="1" noResize="1" noEditPoints="1" noAdjustHandles="1" noChangeArrowheads="1" noChangeShapeType="1" noTextEdit="1"/>
              </p:cNvSpPr>
              <p:nvPr/>
            </p:nvSpPr>
            <p:spPr>
              <a:xfrm rot="16200000">
                <a:off x="8695836" y="2594462"/>
                <a:ext cx="674194" cy="148828"/>
              </a:xfrm>
              <a:prstGeom prst="rect">
                <a:avLst/>
              </a:prstGeom>
              <a:blipFill>
                <a:blip r:embed="rId15"/>
                <a:stretch>
                  <a:fillRect l="-216667" t="-95455" r="-416667" b="-90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02862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FBD9F285-E19C-4465-9425-57DFB03A945C}"/>
              </a:ext>
            </a:extLst>
          </p:cNvPr>
          <p:cNvSpPr txBox="1"/>
          <p:nvPr/>
        </p:nvSpPr>
        <p:spPr>
          <a:xfrm>
            <a:off x="0" y="1461543"/>
            <a:ext cx="4529667" cy="646331"/>
          </a:xfrm>
          <a:prstGeom prst="rect">
            <a:avLst/>
          </a:prstGeom>
          <a:noFill/>
        </p:spPr>
        <p:txBody>
          <a:bodyPr wrap="square" rtlCol="0">
            <a:spAutoFit/>
          </a:bodyPr>
          <a:lstStyle/>
          <a:p>
            <a:endParaRPr lang="zh-TW" altLang="en-US" dirty="0"/>
          </a:p>
          <a:p>
            <a:pPr lvl="1"/>
            <a:endParaRPr lang="en-US" altLang="zh-TW" dirty="0"/>
          </a:p>
        </p:txBody>
      </p: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6F5288B6-F08B-4647-BEC2-1ED8DF629DA3}"/>
                  </a:ext>
                </a:extLst>
              </p:cNvPr>
              <p:cNvSpPr txBox="1"/>
              <p:nvPr/>
            </p:nvSpPr>
            <p:spPr>
              <a:xfrm>
                <a:off x="8545338" y="457425"/>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7" name="文字方塊 26">
                <a:extLst>
                  <a:ext uri="{FF2B5EF4-FFF2-40B4-BE49-F238E27FC236}">
                    <a16:creationId xmlns:a16="http://schemas.microsoft.com/office/drawing/2014/main" id="{6F5288B6-F08B-4647-BEC2-1ED8DF629DA3}"/>
                  </a:ext>
                </a:extLst>
              </p:cNvPr>
              <p:cNvSpPr txBox="1">
                <a:spLocks noRot="1" noChangeAspect="1" noMove="1" noResize="1" noEditPoints="1" noAdjustHandles="1" noChangeArrowheads="1" noChangeShapeType="1" noTextEdit="1"/>
              </p:cNvSpPr>
              <p:nvPr/>
            </p:nvSpPr>
            <p:spPr>
              <a:xfrm>
                <a:off x="8545338" y="457425"/>
                <a:ext cx="3564053" cy="321563"/>
              </a:xfrm>
              <a:prstGeom prst="rect">
                <a:avLst/>
              </a:prstGeom>
              <a:blipFill>
                <a:blip r:embed="rId2"/>
                <a:stretch>
                  <a:fillRect l="-1199" t="-13208" r="-5308" b="-22642"/>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B29A552-EA7E-4837-AF53-D95DAEFD34FD}"/>
              </a:ext>
            </a:extLst>
          </p:cNvPr>
          <p:cNvSpPr txBox="1"/>
          <p:nvPr/>
        </p:nvSpPr>
        <p:spPr>
          <a:xfrm>
            <a:off x="27458" y="2052543"/>
            <a:ext cx="36132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parameter(25 points)</a:t>
            </a:r>
            <a:endParaRPr lang="zh-TW" altLang="en-US" dirty="0"/>
          </a:p>
        </p:txBody>
      </p:sp>
      <p:sp>
        <p:nvSpPr>
          <p:cNvPr id="47" name="文字方塊 46">
            <a:extLst>
              <a:ext uri="{FF2B5EF4-FFF2-40B4-BE49-F238E27FC236}">
                <a16:creationId xmlns:a16="http://schemas.microsoft.com/office/drawing/2014/main" id="{C5B7ED82-92AC-4C16-A18D-D2B3CA5A27F5}"/>
              </a:ext>
            </a:extLst>
          </p:cNvPr>
          <p:cNvSpPr txBox="1"/>
          <p:nvPr/>
        </p:nvSpPr>
        <p:spPr>
          <a:xfrm>
            <a:off x="27458" y="4066794"/>
            <a:ext cx="48324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parameters(13 points)</a:t>
            </a:r>
            <a:endParaRPr lang="zh-TW" altLang="en-US" dirty="0"/>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F2D9CBB1-3EEA-4EB4-8FCC-FD3C5EFFA05F}"/>
                  </a:ext>
                </a:extLst>
              </p:cNvPr>
              <p:cNvSpPr txBox="1"/>
              <p:nvPr/>
            </p:nvSpPr>
            <p:spPr>
              <a:xfrm>
                <a:off x="154577" y="887936"/>
                <a:ext cx="7042090" cy="1200329"/>
              </a:xfrm>
              <a:prstGeom prst="rect">
                <a:avLst/>
              </a:prstGeom>
              <a:noFill/>
            </p:spPr>
            <p:txBody>
              <a:bodyPr wrap="square" rtlCol="0">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en-US" altLang="zh-TW" b="0" dirty="0">
                  <a:ea typeface="Cambria Math" panose="02040503050406030204" pitchFamily="18" charset="0"/>
                </a:endParaRPr>
              </a:p>
              <a:p>
                <a:pPr marL="285750" indent="-285750">
                  <a:buFont typeface="Wingdings" panose="05000000000000000000" pitchFamily="2" charset="2"/>
                  <a:buChar char="Ø"/>
                </a:pPr>
                <a:r>
                  <a:rPr lang="en-US" altLang="zh-TW" dirty="0"/>
                  <a:t>Calibration results obtained using the interpolation points determined above.</a:t>
                </a:r>
              </a:p>
              <a:p>
                <a:pPr marL="285750" indent="-285750">
                  <a:buFont typeface="Wingdings" panose="05000000000000000000" pitchFamily="2" charset="2"/>
                  <a:buChar char="Ø"/>
                </a:pPr>
                <a:r>
                  <a:rPr lang="en-US" altLang="zh-TW" dirty="0"/>
                  <a:t>Long calibrate results</a:t>
                </a:r>
                <a:endParaRPr lang="zh-TW" altLang="en-US" dirty="0"/>
              </a:p>
            </p:txBody>
          </p:sp>
        </mc:Choice>
        <mc:Fallback xmlns="">
          <p:sp>
            <p:nvSpPr>
              <p:cNvPr id="23" name="文字方塊 22">
                <a:extLst>
                  <a:ext uri="{FF2B5EF4-FFF2-40B4-BE49-F238E27FC236}">
                    <a16:creationId xmlns:a16="http://schemas.microsoft.com/office/drawing/2014/main" id="{F2D9CBB1-3EEA-4EB4-8FCC-FD3C5EFFA05F}"/>
                  </a:ext>
                </a:extLst>
              </p:cNvPr>
              <p:cNvSpPr txBox="1">
                <a:spLocks noRot="1" noChangeAspect="1" noMove="1" noResize="1" noEditPoints="1" noAdjustHandles="1" noChangeArrowheads="1" noChangeShapeType="1" noTextEdit="1"/>
              </p:cNvSpPr>
              <p:nvPr/>
            </p:nvSpPr>
            <p:spPr>
              <a:xfrm>
                <a:off x="154577" y="887936"/>
                <a:ext cx="7042090" cy="1200329"/>
              </a:xfrm>
              <a:prstGeom prst="rect">
                <a:avLst/>
              </a:prstGeom>
              <a:blipFill>
                <a:blip r:embed="rId3"/>
                <a:stretch>
                  <a:fillRect l="-519" t="-1523" r="-519" b="-71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LF_s_mat"/>
              <p:cNvSpPr txBox="1"/>
              <p:nvPr/>
            </p:nvSpPr>
            <p:spPr>
              <a:xfrm>
                <a:off x="460000" y="2450000"/>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−0.0946</m:t>
                                </m:r>
                              </m:e>
                              <m:e>
                                <m:r>
                                  <a:rPr lang="en-US" sz="1200" b="0" i="0">
                                    <a:latin typeface="Cambria Math" panose="02040503050406030204" pitchFamily="18" charset="0"/>
                                  </a:rPr>
                                  <m:t>−0.2002</m:t>
                                </m:r>
                              </m:e>
                              <m:e>
                                <m:r>
                                  <a:rPr lang="en-US" sz="1200" b="0" i="0">
                                    <a:latin typeface="Cambria Math" panose="02040503050406030204" pitchFamily="18" charset="0"/>
                                  </a:rPr>
                                  <m:t>−0.1664</m:t>
                                </m:r>
                              </m:e>
                              <m:e>
                                <m:r>
                                  <a:rPr lang="en-US" sz="1200" b="0" i="0">
                                    <a:latin typeface="Cambria Math" panose="02040503050406030204" pitchFamily="18" charset="0"/>
                                  </a:rPr>
                                  <m:t>−0.1727</m:t>
                                </m:r>
                              </m:e>
                              <m:e>
                                <m:r>
                                  <a:rPr lang="en-US" sz="1200" b="0" i="0">
                                    <a:latin typeface="Cambria Math" panose="02040503050406030204" pitchFamily="18" charset="0"/>
                                  </a:rPr>
                                  <m:t>−0.1965</m:t>
                                </m:r>
                              </m:e>
                            </m:mr>
                            <m:mr>
                              <m:e>
                                <m:r>
                                  <a:rPr lang="en-US" sz="1200" b="0" i="0">
                                    <a:latin typeface="Cambria Math" panose="02040503050406030204" pitchFamily="18" charset="0"/>
                                  </a:rPr>
                                  <m:t>−0.2151</m:t>
                                </m:r>
                              </m:e>
                              <m:e>
                                <m:r>
                                  <a:rPr lang="en-US" sz="1200" b="0" i="0">
                                    <a:latin typeface="Cambria Math" panose="02040503050406030204" pitchFamily="18" charset="0"/>
                                  </a:rPr>
                                  <m:t>0.9630</m:t>
                                </m:r>
                              </m:e>
                              <m:e>
                                <m:r>
                                  <a:rPr lang="en-US" sz="1200" b="0" i="0">
                                    <a:latin typeface="Cambria Math" panose="02040503050406030204" pitchFamily="18" charset="0"/>
                                  </a:rPr>
                                  <m:t>−0.2182</m:t>
                                </m:r>
                              </m:e>
                              <m:e>
                                <m:r>
                                  <a:rPr lang="en-US" sz="1200" b="0" i="0">
                                    <a:latin typeface="Cambria Math" panose="02040503050406030204" pitchFamily="18" charset="0"/>
                                  </a:rPr>
                                  <m:t>−0.1508</m:t>
                                </m:r>
                              </m:e>
                              <m:e>
                                <m:r>
                                  <a:rPr lang="en-US" sz="1200" b="0" i="0">
                                    <a:latin typeface="Cambria Math" panose="02040503050406030204" pitchFamily="18" charset="0"/>
                                  </a:rPr>
                                  <m:t>−0.1567</m:t>
                                </m:r>
                              </m:e>
                              <m:e>
                                <m:r>
                                  <a:rPr lang="en-US" sz="1200" b="0" i="0">
                                    <a:latin typeface="Cambria Math" panose="02040503050406030204" pitchFamily="18" charset="0"/>
                                  </a:rPr>
                                  <m:t>−0.2140</m:t>
                                </m:r>
                              </m:e>
                            </m:mr>
                            <m:mr>
                              <m:e>
                                <m:r>
                                  <a:rPr lang="en-US" sz="1200" b="0" i="0">
                                    <a:latin typeface="Cambria Math" panose="02040503050406030204" pitchFamily="18" charset="0"/>
                                  </a:rPr>
                                  <m:t>−0.1905</m:t>
                                </m:r>
                              </m:e>
                              <m:e>
                                <m:r>
                                  <a:rPr lang="en-US" sz="1200" b="0" i="0">
                                    <a:latin typeface="Cambria Math" panose="02040503050406030204" pitchFamily="18" charset="0"/>
                                  </a:rPr>
                                  <m:t>−0.1671</m:t>
                                </m:r>
                              </m:e>
                              <m:e>
                                <m:r>
                                  <a:rPr lang="en-US" sz="1200" b="0" i="0">
                                    <a:latin typeface="Cambria Math" panose="02040503050406030204" pitchFamily="18" charset="0"/>
                                  </a:rPr>
                                  <m:t>0.8264</m:t>
                                </m:r>
                              </m:e>
                              <m:e>
                                <m:r>
                                  <a:rPr lang="en-US" sz="1200" b="0" i="0">
                                    <a:latin typeface="Cambria Math" panose="02040503050406030204" pitchFamily="18" charset="0"/>
                                  </a:rPr>
                                  <m:t>−0.0967</m:t>
                                </m:r>
                              </m:e>
                              <m:e>
                                <m:r>
                                  <a:rPr lang="en-US" sz="1200" b="0" i="0">
                                    <a:latin typeface="Cambria Math" panose="02040503050406030204" pitchFamily="18" charset="0"/>
                                  </a:rPr>
                                  <m:t>−0.1727</m:t>
                                </m:r>
                              </m:e>
                              <m:e>
                                <m:r>
                                  <a:rPr lang="en-US" sz="1200" b="0" i="0">
                                    <a:latin typeface="Cambria Math" panose="02040503050406030204" pitchFamily="18" charset="0"/>
                                  </a:rPr>
                                  <m:t>−0.1965</m:t>
                                </m:r>
                              </m:e>
                            </m:mr>
                            <m:mr>
                              <m:e>
                                <m:r>
                                  <a:rPr lang="en-US" sz="1200" b="0" i="0">
                                    <a:latin typeface="Cambria Math" panose="02040503050406030204" pitchFamily="18" charset="0"/>
                                  </a:rPr>
                                  <m:t>−0.2074</m:t>
                                </m:r>
                              </m:e>
                              <m:e>
                                <m:r>
                                  <a:rPr lang="en-US" sz="1200" b="0" i="0">
                                    <a:latin typeface="Cambria Math" panose="02040503050406030204" pitchFamily="18" charset="0"/>
                                  </a:rPr>
                                  <m:t>−0.1505</m:t>
                                </m:r>
                              </m:e>
                              <m:e>
                                <m:r>
                                  <a:rPr lang="en-US" sz="1200" b="0" i="0">
                                    <a:latin typeface="Cambria Math" panose="02040503050406030204" pitchFamily="18" charset="0"/>
                                  </a:rPr>
                                  <m:t>−0.2238</m:t>
                                </m:r>
                              </m:e>
                              <m:e>
                                <m:r>
                                  <a:rPr lang="en-US" sz="1200" b="0" i="0">
                                    <a:latin typeface="Cambria Math" panose="02040503050406030204" pitchFamily="18" charset="0"/>
                                  </a:rPr>
                                  <m:t>0.9575</m:t>
                                </m:r>
                              </m:e>
                              <m:e>
                                <m:r>
                                  <a:rPr lang="en-US" sz="1200" b="0" i="0">
                                    <a:latin typeface="Cambria Math" panose="02040503050406030204" pitchFamily="18" charset="0"/>
                                  </a:rPr>
                                  <m:t>−0.1555</m:t>
                                </m:r>
                              </m:e>
                              <m:e>
                                <m:r>
                                  <a:rPr lang="en-US" sz="1200" b="0" i="0">
                                    <a:latin typeface="Cambria Math" panose="02040503050406030204" pitchFamily="18" charset="0"/>
                                  </a:rPr>
                                  <m:t>−0.2133</m:t>
                                </m:r>
                              </m:e>
                            </m:mr>
                            <m:mr>
                              <m:e>
                                <m:r>
                                  <a:rPr lang="en-US" sz="1200" b="0" i="0">
                                    <a:latin typeface="Cambria Math" panose="02040503050406030204" pitchFamily="18" charset="0"/>
                                  </a:rPr>
                                  <m:t>−0.2080</m:t>
                                </m:r>
                              </m:e>
                              <m:e>
                                <m:r>
                                  <a:rPr lang="en-US" sz="1200" b="0" i="0">
                                    <a:latin typeface="Cambria Math" panose="02040503050406030204" pitchFamily="18" charset="0"/>
                                  </a:rPr>
                                  <m:t>−0.1506</m:t>
                                </m:r>
                              </m:e>
                              <m:e>
                                <m:r>
                                  <a:rPr lang="en-US" sz="1200" b="0" i="0">
                                    <a:latin typeface="Cambria Math" panose="02040503050406030204" pitchFamily="18" charset="0"/>
                                  </a:rPr>
                                  <m:t>−0.2176</m:t>
                                </m:r>
                              </m:e>
                              <m:e>
                                <m:r>
                                  <a:rPr lang="en-US" sz="1200" b="0" i="0">
                                    <a:latin typeface="Cambria Math" panose="02040503050406030204" pitchFamily="18" charset="0"/>
                                  </a:rPr>
                                  <m:t>−0.1510</m:t>
                                </m:r>
                              </m:e>
                              <m:e>
                                <m:r>
                                  <a:rPr lang="en-US" sz="1200" b="0" i="0">
                                    <a:latin typeface="Cambria Math" panose="02040503050406030204" pitchFamily="18" charset="0"/>
                                  </a:rPr>
                                  <m:t>0.9557</m:t>
                                </m:r>
                              </m:e>
                              <m:e>
                                <m:r>
                                  <a:rPr lang="en-US" sz="1200" b="0" i="0">
                                    <a:latin typeface="Cambria Math" panose="02040503050406030204" pitchFamily="18" charset="0"/>
                                  </a:rPr>
                                  <m:t>−0.2213</m:t>
                                </m:r>
                              </m:e>
                            </m:mr>
                            <m:mr>
                              <m:e>
                                <m:r>
                                  <a:rPr lang="en-US" sz="1200" b="0" i="0">
                                    <a:latin typeface="Cambria Math" panose="02040503050406030204" pitchFamily="18" charset="0"/>
                                  </a:rPr>
                                  <m:t>−0.1903</m:t>
                                </m:r>
                              </m:e>
                              <m:e>
                                <m:r>
                                  <a:rPr lang="en-US" sz="1200" b="0" i="0">
                                    <a:latin typeface="Cambria Math" panose="02040503050406030204" pitchFamily="18" charset="0"/>
                                  </a:rPr>
                                  <m:t>−0.1666</m:t>
                                </m:r>
                              </m:e>
                              <m:e>
                                <m:r>
                                  <a:rPr lang="en-US" sz="1200" b="0" i="0">
                                    <a:latin typeface="Cambria Math" panose="02040503050406030204" pitchFamily="18" charset="0"/>
                                  </a:rPr>
                                  <m:t>−0.1996</m:t>
                                </m:r>
                              </m:e>
                              <m:e>
                                <m:r>
                                  <a:rPr lang="en-US" sz="1200" b="0" i="0">
                                    <a:latin typeface="Cambria Math" panose="02040503050406030204" pitchFamily="18" charset="0"/>
                                  </a:rPr>
                                  <m:t>−0.1667</m:t>
                                </m:r>
                              </m:e>
                              <m:e>
                                <m:r>
                                  <a:rPr lang="en-US" sz="1200" b="0" i="0">
                                    <a:latin typeface="Cambria Math" panose="02040503050406030204" pitchFamily="18" charset="0"/>
                                  </a:rPr>
                                  <m:t>−0.1018</m:t>
                                </m:r>
                              </m:e>
                              <m:e>
                                <m:r>
                                  <a:rPr lang="en-US" sz="1200" b="0" i="0">
                                    <a:latin typeface="Cambria Math" panose="02040503050406030204" pitchFamily="18" charset="0"/>
                                  </a:rPr>
                                  <m:t>0.8275</m:t>
                                </m:r>
                              </m:e>
                            </m:mr>
                          </m:m>
                        </m:e>
                      </m:d>
                      <m:r>
                        <a:rPr lang="en-US" sz="1200" b="0" i="0">
                          <a:latin typeface="Cambria Math" panose="02040503050406030204" pitchFamily="18" charset="0"/>
                        </a:rPr>
                        <m:t> </m:t>
                      </m:r>
                    </m:oMath>
                  </m:oMathPara>
                </a14:m>
                <a:endParaRPr lang="en-US" sz="1100" dirty="0"/>
              </a:p>
            </p:txBody>
          </p:sp>
        </mc:Choice>
        <mc:Fallback xmlns="">
          <p:sp>
            <p:nvSpPr>
              <p:cNvPr id="48" name="LF_s_mat"/>
              <p:cNvSpPr txBox="1">
                <a:spLocks noRot="1" noChangeAspect="1" noMove="1" noResize="1" noEditPoints="1" noAdjustHandles="1" noChangeArrowheads="1" noChangeShapeType="1" noTextEdit="1"/>
              </p:cNvSpPr>
              <p:nvPr/>
            </p:nvSpPr>
            <p:spPr>
              <a:xfrm>
                <a:off x="460000" y="2450000"/>
                <a:ext cx="4389119" cy="1115568"/>
              </a:xfrm>
              <a:prstGeom prst="rect">
                <a:avLst/>
              </a:prstGeom>
              <a:blipFill>
                <a:blip r:embed=""/>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LF_s_sc"/>
              <p:cNvSpPr txBox="1"/>
              <p:nvPr/>
            </p:nvSpPr>
            <p:spPr>
              <a:xfrm>
                <a:off x="5300000" y="26000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870.6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9.67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9" name="LF_s_sc"/>
              <p:cNvSpPr txBox="1">
                <a:spLocks noRot="1" noChangeAspect="1" noMove="1" noResize="1" noEditPoints="1" noAdjustHandles="1" noChangeArrowheads="1" noChangeShapeType="1" noTextEdit="1"/>
              </p:cNvSpPr>
              <p:nvPr/>
            </p:nvSpPr>
            <p:spPr>
              <a:xfrm>
                <a:off x="5300000" y="2600000"/>
                <a:ext cx="3457787" cy="310896"/>
              </a:xfrm>
              <a:prstGeom prst="rect">
                <a:avLst/>
              </a:prstGeom>
              <a:blipFill>
                <a:blip r:embed="rId4"/>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LF_s_nmae"/>
              <p:cNvSpPr txBox="1"/>
              <p:nvPr/>
            </p:nvSpPr>
            <p:spPr>
              <a:xfrm>
                <a:off x="5300000" y="305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%=2.81%</m:t>
                      </m:r>
                    </m:oMath>
                  </m:oMathPara>
                </a14:m>
                <a:endParaRPr lang="zh-TW" altLang="en-US" sz="1400" dirty="0"/>
              </a:p>
            </p:txBody>
          </p:sp>
        </mc:Choice>
        <mc:Fallback xmlns="">
          <p:sp>
            <p:nvSpPr>
              <p:cNvPr id="50" name="LF_s_nmae"/>
              <p:cNvSpPr txBox="1">
                <a:spLocks noRot="1" noChangeAspect="1" noMove="1" noResize="1" noEditPoints="1" noAdjustHandles="1" noChangeArrowheads="1" noChangeShapeType="1" noTextEdit="1"/>
              </p:cNvSpPr>
              <p:nvPr/>
            </p:nvSpPr>
            <p:spPr>
              <a:xfrm>
                <a:off x="5300000" y="3050000"/>
                <a:ext cx="4191000" cy="549509"/>
              </a:xfrm>
              <a:prstGeom prst="rect">
                <a:avLst/>
              </a:prstGeom>
              <a:blipFill>
                <a:blip r:embed=""/>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LF_e_mat"/>
              <p:cNvSpPr txBox="1"/>
              <p:nvPr/>
            </p:nvSpPr>
            <p:spPr>
              <a:xfrm>
                <a:off x="460000" y="4480000"/>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−0.1382</m:t>
                                </m:r>
                              </m:e>
                              <m:e>
                                <m:r>
                                  <a:rPr lang="en-US" sz="1200" b="0" i="0">
                                    <a:latin typeface="Cambria Math" panose="02040503050406030204" pitchFamily="18" charset="0"/>
                                  </a:rPr>
                                  <m:t>−0.1334</m:t>
                                </m:r>
                              </m:e>
                              <m:e>
                                <m:r>
                                  <a:rPr lang="en-US" sz="1200" b="0" i="0">
                                    <a:latin typeface="Cambria Math" panose="02040503050406030204" pitchFamily="18" charset="0"/>
                                  </a:rPr>
                                  <m:t>−0.1889</m:t>
                                </m:r>
                              </m:e>
                              <m:e>
                                <m:r>
                                  <a:rPr lang="en-US" sz="1200" b="0" i="0">
                                    <a:latin typeface="Cambria Math" panose="02040503050406030204" pitchFamily="18" charset="0"/>
                                  </a:rPr>
                                  <m:t>−0.1927</m:t>
                                </m:r>
                              </m:e>
                              <m:e>
                                <m:r>
                                  <a:rPr lang="en-US" sz="1200" b="0" i="0">
                                    <a:latin typeface="Cambria Math" panose="02040503050406030204" pitchFamily="18" charset="0"/>
                                  </a:rPr>
                                  <m:t>−0.1320</m:t>
                                </m:r>
                              </m:e>
                            </m:mr>
                            <m:mr>
                              <m:e>
                                <m:r>
                                  <a:rPr lang="en-US" sz="1200" b="0" i="0">
                                    <a:latin typeface="Cambria Math" panose="02040503050406030204" pitchFamily="18" charset="0"/>
                                  </a:rPr>
                                  <m:t>−0.1395</m:t>
                                </m:r>
                              </m:e>
                              <m:e>
                                <m:r>
                                  <a:rPr lang="en-US" sz="1200" b="0" i="0">
                                    <a:latin typeface="Cambria Math" panose="02040503050406030204" pitchFamily="18" charset="0"/>
                                  </a:rPr>
                                  <m:t>0.8381</m:t>
                                </m:r>
                              </m:e>
                              <m:e>
                                <m:r>
                                  <a:rPr lang="en-US" sz="1200" b="0" i="0">
                                    <a:latin typeface="Cambria Math" panose="02040503050406030204" pitchFamily="18" charset="0"/>
                                  </a:rPr>
                                  <m:t>−0.2070</m:t>
                                </m:r>
                              </m:e>
                              <m:e>
                                <m:r>
                                  <a:rPr lang="en-US" sz="1200" b="0" i="0">
                                    <a:latin typeface="Cambria Math" panose="02040503050406030204" pitchFamily="18" charset="0"/>
                                  </a:rPr>
                                  <m:t>−0.1220</m:t>
                                </m:r>
                              </m:e>
                              <m:e>
                                <m:r>
                                  <a:rPr lang="en-US" sz="1200" b="0" i="0">
                                    <a:latin typeface="Cambria Math" panose="02040503050406030204" pitchFamily="18" charset="0"/>
                                  </a:rPr>
                                  <m:t>−0.1254</m:t>
                                </m:r>
                              </m:e>
                              <m:e>
                                <m:r>
                                  <a:rPr lang="en-US" sz="1200" b="0" i="0">
                                    <a:latin typeface="Cambria Math" panose="02040503050406030204" pitchFamily="18" charset="0"/>
                                  </a:rPr>
                                  <m:t>−0.2063</m:t>
                                </m:r>
                              </m:e>
                            </m:mr>
                            <m:mr>
                              <m:e>
                                <m:r>
                                  <a:rPr lang="en-US" sz="1200" b="0" i="0">
                                    <a:latin typeface="Cambria Math" panose="02040503050406030204" pitchFamily="18" charset="0"/>
                                  </a:rPr>
                                  <m:t>−0.1320</m:t>
                                </m:r>
                              </m:e>
                              <m:e>
                                <m:r>
                                  <a:rPr lang="en-US" sz="1200" b="0" i="0">
                                    <a:latin typeface="Cambria Math" panose="02040503050406030204" pitchFamily="18" charset="0"/>
                                  </a:rPr>
                                  <m:t>−0.1984</m:t>
                                </m:r>
                              </m:e>
                              <m:e>
                                <m:r>
                                  <a:rPr lang="en-US" sz="1200" b="0" i="0">
                                    <a:latin typeface="Cambria Math" panose="02040503050406030204" pitchFamily="18" charset="0"/>
                                  </a:rPr>
                                  <m:t>0.8461</m:t>
                                </m:r>
                              </m:e>
                              <m:e>
                                <m:r>
                                  <a:rPr lang="en-US" sz="1200" b="0" i="0">
                                    <a:latin typeface="Cambria Math" panose="02040503050406030204" pitchFamily="18" charset="0"/>
                                  </a:rPr>
                                  <m:t>−0.1361</m:t>
                                </m:r>
                              </m:e>
                              <m:e>
                                <m:r>
                                  <a:rPr lang="en-US" sz="1200" b="0" i="0">
                                    <a:latin typeface="Cambria Math" panose="02040503050406030204" pitchFamily="18" charset="0"/>
                                  </a:rPr>
                                  <m:t>−0.1960</m:t>
                                </m:r>
                              </m:e>
                              <m:e>
                                <m:r>
                                  <a:rPr lang="en-US" sz="1200" b="0" i="0">
                                    <a:latin typeface="Cambria Math" panose="02040503050406030204" pitchFamily="18" charset="0"/>
                                  </a:rPr>
                                  <m:t>−0.1345</m:t>
                                </m:r>
                              </m:e>
                            </m:mr>
                            <m:mr>
                              <m:e>
                                <m:r>
                                  <a:rPr lang="en-US" sz="1200" b="0" i="0">
                                    <a:latin typeface="Cambria Math" panose="02040503050406030204" pitchFamily="18" charset="0"/>
                                  </a:rPr>
                                  <m:t>−0.2039</m:t>
                                </m:r>
                              </m:e>
                              <m:e>
                                <m:r>
                                  <a:rPr lang="en-US" sz="1200" b="0" i="0">
                                    <a:latin typeface="Cambria Math" panose="02040503050406030204" pitchFamily="18" charset="0"/>
                                  </a:rPr>
                                  <m:t>−0.1264</m:t>
                                </m:r>
                              </m:e>
                              <m:e>
                                <m:r>
                                  <a:rPr lang="en-US" sz="1200" b="0" i="0">
                                    <a:latin typeface="Cambria Math" panose="02040503050406030204" pitchFamily="18" charset="0"/>
                                  </a:rPr>
                                  <m:t>−0.1400</m:t>
                                </m:r>
                              </m:e>
                              <m:e>
                                <m:r>
                                  <a:rPr lang="en-US" sz="1200" b="0" i="0">
                                    <a:latin typeface="Cambria Math" panose="02040503050406030204" pitchFamily="18" charset="0"/>
                                  </a:rPr>
                                  <m:t>0.8415</m:t>
                                </m:r>
                              </m:e>
                              <m:e>
                                <m:r>
                                  <a:rPr lang="en-US" sz="1200" b="0" i="0">
                                    <a:latin typeface="Cambria Math" panose="02040503050406030204" pitchFamily="18" charset="0"/>
                                  </a:rPr>
                                  <m:t>−0.1260</m:t>
                                </m:r>
                              </m:e>
                              <m:e>
                                <m:r>
                                  <a:rPr lang="en-US" sz="1200" b="0" i="0">
                                    <a:latin typeface="Cambria Math" panose="02040503050406030204" pitchFamily="18" charset="0"/>
                                  </a:rPr>
                                  <m:t>−0.2072</m:t>
                                </m:r>
                              </m:e>
                            </m:mr>
                            <m:mr>
                              <m:e>
                                <m:r>
                                  <a:rPr lang="en-US" sz="1200" b="0" i="0">
                                    <a:latin typeface="Cambria Math" panose="02040503050406030204" pitchFamily="18" charset="0"/>
                                  </a:rPr>
                                  <m:t>−0.2091</m:t>
                                </m:r>
                              </m:e>
                              <m:e>
                                <m:r>
                                  <a:rPr lang="en-US" sz="1200" b="0" i="0">
                                    <a:latin typeface="Cambria Math" panose="02040503050406030204" pitchFamily="18" charset="0"/>
                                  </a:rPr>
                                  <m:t>−0.1281</m:t>
                                </m:r>
                              </m:e>
                              <m:e>
                                <m:r>
                                  <a:rPr lang="en-US" sz="1200" b="0" i="0">
                                    <a:latin typeface="Cambria Math" panose="02040503050406030204" pitchFamily="18" charset="0"/>
                                  </a:rPr>
                                  <m:t>−0.2122</m:t>
                                </m:r>
                              </m:e>
                              <m:e>
                                <m:r>
                                  <a:rPr lang="en-US" sz="1200" b="0" i="0">
                                    <a:latin typeface="Cambria Math" panose="02040503050406030204" pitchFamily="18" charset="0"/>
                                  </a:rPr>
                                  <m:t>−0.1257</m:t>
                                </m:r>
                              </m:e>
                              <m:e>
                                <m:r>
                                  <a:rPr lang="en-US" sz="1200" b="0" i="0">
                                    <a:latin typeface="Cambria Math" panose="02040503050406030204" pitchFamily="18" charset="0"/>
                                  </a:rPr>
                                  <m:t>0.8574</m:t>
                                </m:r>
                              </m:e>
                              <m:e>
                                <m:r>
                                  <a:rPr lang="en-US" sz="1200" b="0" i="0">
                                    <a:latin typeface="Cambria Math" panose="02040503050406030204" pitchFamily="18" charset="0"/>
                                  </a:rPr>
                                  <m:t>−0.1443</m:t>
                                </m:r>
                              </m:e>
                            </m:mr>
                            <m:mr>
                              <m:e>
                                <m:r>
                                  <a:rPr lang="en-US" sz="1200" b="0" i="0">
                                    <a:latin typeface="Cambria Math" panose="02040503050406030204" pitchFamily="18" charset="0"/>
                                  </a:rPr>
                                  <m:t>−0.1320</m:t>
                                </m:r>
                              </m:e>
                              <m:e>
                                <m:r>
                                  <a:rPr lang="en-US" sz="1200" b="0" i="0">
                                    <a:latin typeface="Cambria Math" panose="02040503050406030204" pitchFamily="18" charset="0"/>
                                  </a:rPr>
                                  <m:t>−0.1972</m:t>
                                </m:r>
                              </m:e>
                              <m:e>
                                <m:r>
                                  <a:rPr lang="en-US" sz="1200" b="0" i="0">
                                    <a:latin typeface="Cambria Math" panose="02040503050406030204" pitchFamily="18" charset="0"/>
                                  </a:rPr>
                                  <m:t>−0.1352</m:t>
                                </m:r>
                              </m:e>
                              <m:e>
                                <m:r>
                                  <a:rPr lang="en-US" sz="1200" b="0" i="0">
                                    <a:latin typeface="Cambria Math" panose="02040503050406030204" pitchFamily="18" charset="0"/>
                                  </a:rPr>
                                  <m:t>−0.1918</m:t>
                                </m:r>
                              </m:e>
                              <m:e>
                                <m:r>
                                  <a:rPr lang="en-US" sz="1200" b="0" i="0">
                                    <a:latin typeface="Cambria Math" panose="02040503050406030204" pitchFamily="18" charset="0"/>
                                  </a:rPr>
                                  <m:t>−0.1356</m:t>
                                </m:r>
                              </m:e>
                              <m:e>
                                <m:r>
                                  <a:rPr lang="en-US" sz="1200" b="0" i="0">
                                    <a:latin typeface="Cambria Math" panose="02040503050406030204" pitchFamily="18" charset="0"/>
                                  </a:rPr>
                                  <m:t>0.8404</m:t>
                                </m:r>
                              </m:e>
                            </m:mr>
                          </m:m>
                        </m:e>
                      </m:d>
                      <m:r>
                        <a:rPr lang="en-US" sz="1200" b="0" i="0">
                          <a:latin typeface="Cambria Math" panose="02040503050406030204" pitchFamily="18" charset="0"/>
                        </a:rPr>
                        <m:t> </m:t>
                      </m:r>
                    </m:oMath>
                  </m:oMathPara>
                </a14:m>
                <a:endParaRPr lang="en-US" sz="1100" dirty="0"/>
              </a:p>
            </p:txBody>
          </p:sp>
        </mc:Choice>
        <mc:Fallback xmlns="">
          <p:sp>
            <p:nvSpPr>
              <p:cNvPr id="51" name="LF_e_mat"/>
              <p:cNvSpPr txBox="1">
                <a:spLocks noRot="1" noChangeAspect="1" noMove="1" noResize="1" noEditPoints="1" noAdjustHandles="1" noChangeArrowheads="1" noChangeShapeType="1" noTextEdit="1"/>
              </p:cNvSpPr>
              <p:nvPr/>
            </p:nvSpPr>
            <p:spPr>
              <a:xfrm>
                <a:off x="460000" y="4480000"/>
                <a:ext cx="4524587" cy="1115568"/>
              </a:xfrm>
              <a:prstGeom prst="rect">
                <a:avLst/>
              </a:prstGeom>
              <a:blipFill>
                <a:blip r:embed=""/>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LF_e_sc"/>
              <p:cNvSpPr txBox="1"/>
              <p:nvPr/>
            </p:nvSpPr>
            <p:spPr>
              <a:xfrm>
                <a:off x="5300000" y="46300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867.2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10.62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52" name="LF_e_sc"/>
              <p:cNvSpPr txBox="1">
                <a:spLocks noRot="1" noChangeAspect="1" noMove="1" noResize="1" noEditPoints="1" noAdjustHandles="1" noChangeArrowheads="1" noChangeShapeType="1" noTextEdit="1"/>
              </p:cNvSpPr>
              <p:nvPr/>
            </p:nvSpPr>
            <p:spPr>
              <a:xfrm>
                <a:off x="5300000" y="4630000"/>
                <a:ext cx="3457787" cy="310896"/>
              </a:xfrm>
              <a:prstGeom prst="rect">
                <a:avLst/>
              </a:prstGeom>
              <a:blipFill>
                <a:blip r:embed="rId5"/>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LF_e_nmae"/>
              <p:cNvSpPr txBox="1"/>
              <p:nvPr/>
            </p:nvSpPr>
            <p:spPr>
              <a:xfrm>
                <a:off x="5235787" y="5155433"/>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%=0.35%</m:t>
                      </m:r>
                    </m:oMath>
                  </m:oMathPara>
                </a14:m>
                <a:endParaRPr lang="zh-TW" altLang="en-US" sz="1400" dirty="0"/>
              </a:p>
            </p:txBody>
          </p:sp>
        </mc:Choice>
        <mc:Fallback xmlns="">
          <p:sp>
            <p:nvSpPr>
              <p:cNvPr id="53" name="LF_e_nmae"/>
              <p:cNvSpPr txBox="1">
                <a:spLocks noRot="1" noChangeAspect="1" noMove="1" noResize="1" noEditPoints="1" noAdjustHandles="1" noChangeArrowheads="1" noChangeShapeType="1" noTextEdit="1"/>
              </p:cNvSpPr>
              <p:nvPr/>
            </p:nvSpPr>
            <p:spPr>
              <a:xfrm>
                <a:off x="5235787" y="5155433"/>
                <a:ext cx="4191000" cy="549509"/>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LF_e_bias"/>
              <p:cNvSpPr txBox="1"/>
              <p:nvPr/>
            </p:nvSpPr>
            <p:spPr>
              <a:xfrm>
                <a:off x="0" y="5847727"/>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0.0136</m:t>
                                </m:r>
                              </m:e>
                              <m:e>
                                <m:r>
                                  <a:rPr lang="en-US" sz="1200" b="0" i="0">
                                    <a:latin typeface="Cambria Math" panose="02040503050406030204" pitchFamily="18" charset="0"/>
                                  </a:rPr>
                                  <m:t>0.0213</m:t>
                                </m:r>
                              </m:e>
                              <m:e>
                                <m:r>
                                  <a:rPr lang="en-US" sz="1200" b="0" i="0">
                                    <a:latin typeface="Cambria Math" panose="02040503050406030204" pitchFamily="18" charset="0"/>
                                  </a:rPr>
                                  <m:t>−0.1165</m:t>
                                </m:r>
                              </m:e>
                              <m:e>
                                <m:r>
                                  <a:rPr lang="en-US" sz="1200" b="0" i="0">
                                    <a:latin typeface="Cambria Math" panose="02040503050406030204" pitchFamily="18" charset="0"/>
                                  </a:rPr>
                                  <m:t>0.0005</m:t>
                                </m:r>
                              </m:e>
                              <m:e>
                                <m:r>
                                  <a:rPr lang="en-US" sz="1200" b="0" i="0">
                                    <a:latin typeface="Cambria Math" panose="02040503050406030204" pitchFamily="18" charset="0"/>
                                  </a:rPr>
                                  <m:t>−0.0002</m:t>
                                </m:r>
                              </m:e>
                              <m:e>
                                <m:r>
                                  <a:rPr lang="en-US" sz="1200" b="0" i="0">
                                    <a:latin typeface="Cambria Math" panose="02040503050406030204" pitchFamily="18" charset="0"/>
                                  </a:rPr>
                                  <m:t>−0.1175</m:t>
                                </m:r>
                              </m:e>
                            </m:mr>
                            <m:mr>
                              <m:e>
                                <m:r>
                                  <a:rPr lang="en-US" sz="1200" b="0" i="0">
                                    <a:latin typeface="Cambria Math" panose="02040503050406030204" pitchFamily="18" charset="0"/>
                                  </a:rPr>
                                  <m:t>−0.1142</m:t>
                                </m:r>
                              </m:e>
                              <m:e>
                                <m:r>
                                  <a:rPr lang="en-US" sz="1200" b="0" i="0">
                                    <a:latin typeface="Cambria Math" panose="02040503050406030204" pitchFamily="18" charset="0"/>
                                  </a:rPr>
                                  <m:t>0.0019</m:t>
                                </m:r>
                              </m:e>
                              <m:e>
                                <m:r>
                                  <a:rPr lang="en-US" sz="1200" b="0" i="0">
                                    <a:latin typeface="Cambria Math" panose="02040503050406030204" pitchFamily="18" charset="0"/>
                                  </a:rPr>
                                  <m:t>0.0199</m:t>
                                </m:r>
                              </m:e>
                              <m:e>
                                <m:r>
                                  <a:rPr lang="en-US" sz="1200" b="0" i="0">
                                    <a:latin typeface="Cambria Math" panose="02040503050406030204" pitchFamily="18" charset="0"/>
                                  </a:rPr>
                                  <m:t>0.0187</m:t>
                                </m:r>
                              </m:e>
                              <m:e>
                                <m:r>
                                  <a:rPr lang="en-US" sz="1200" b="0" i="0">
                                    <a:latin typeface="Cambria Math" panose="02040503050406030204" pitchFamily="18" charset="0"/>
                                  </a:rPr>
                                  <m:t>0.0002</m:t>
                                </m:r>
                              </m:e>
                              <m:e>
                                <m:r>
                                  <a:rPr lang="en-US" sz="1200" b="0" i="0">
                                    <a:latin typeface="Cambria Math" panose="02040503050406030204" pitchFamily="18" charset="0"/>
                                  </a:rPr>
                                  <m:t>−0.1162</m:t>
                                </m:r>
                              </m:e>
                            </m:mr>
                            <m:mr>
                              <m:e>
                                <m:r>
                                  <a:rPr lang="en-US" sz="1200" b="0" i="0">
                                    <a:latin typeface="Cambria Math" panose="02040503050406030204" pitchFamily="18" charset="0"/>
                                  </a:rPr>
                                  <m:t>0.1150</m:t>
                                </m:r>
                              </m:e>
                              <m:e>
                                <m:r>
                                  <a:rPr lang="en-US" sz="1200" b="0" i="0">
                                    <a:latin typeface="Cambria Math" panose="02040503050406030204" pitchFamily="18" charset="0"/>
                                  </a:rPr>
                                  <m:t>−0.0025</m:t>
                                </m:r>
                              </m:e>
                              <m:e>
                                <m:r>
                                  <a:rPr lang="en-US" sz="1200" b="0" i="0">
                                    <a:latin typeface="Cambria Math" panose="02040503050406030204" pitchFamily="18" charset="0"/>
                                  </a:rPr>
                                  <m:t>0.1157</m:t>
                                </m:r>
                              </m:e>
                              <m:e>
                                <m:r>
                                  <a:rPr lang="en-US" sz="1200" b="0" i="0">
                                    <a:latin typeface="Cambria Math" panose="02040503050406030204" pitchFamily="18" charset="0"/>
                                  </a:rPr>
                                  <m:t>−0.0012</m:t>
                                </m:r>
                              </m:e>
                              <m:e>
                                <m:r>
                                  <a:rPr lang="en-US" sz="1200" b="0" i="0">
                                    <a:latin typeface="Cambria Math" panose="02040503050406030204" pitchFamily="18" charset="0"/>
                                  </a:rPr>
                                  <m:t>−0.0112</m:t>
                                </m:r>
                              </m:e>
                              <m:e>
                                <m:r>
                                  <a:rPr lang="en-US" sz="1200" b="0" i="0">
                                    <a:latin typeface="Cambria Math" panose="02040503050406030204" pitchFamily="18" charset="0"/>
                                  </a:rPr>
                                  <m:t>−0.0178</m:t>
                                </m:r>
                              </m:e>
                            </m:mr>
                          </m:m>
                        </m:e>
                      </m:d>
                    </m:oMath>
                  </m:oMathPara>
                </a14:m>
                <a:endParaRPr lang="en-US" sz="1100" dirty="0"/>
              </a:p>
            </p:txBody>
          </p:sp>
        </mc:Choice>
        <mc:Fallback xmlns="">
          <p:sp>
            <p:nvSpPr>
              <p:cNvPr id="54" name="LF_e_bias"/>
              <p:cNvSpPr txBox="1">
                <a:spLocks noRot="1" noChangeAspect="1" noMove="1" noResize="1" noEditPoints="1" noAdjustHandles="1" noChangeArrowheads="1" noChangeShapeType="1" noTextEdit="1"/>
              </p:cNvSpPr>
              <p:nvPr/>
            </p:nvSpPr>
            <p:spPr>
              <a:xfrm>
                <a:off x="0" y="5847727"/>
                <a:ext cx="5235787" cy="566928"/>
              </a:xfrm>
              <a:prstGeom prst="rect">
                <a:avLst/>
              </a:prstGeom>
              <a:blipFill>
                <a:blip r:embed="rId7"/>
                <a:stretch>
                  <a:fillRect t="-21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2639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FBD9F285-E19C-4465-9425-57DFB03A945C}"/>
              </a:ext>
            </a:extLst>
          </p:cNvPr>
          <p:cNvSpPr txBox="1"/>
          <p:nvPr/>
        </p:nvSpPr>
        <p:spPr>
          <a:xfrm>
            <a:off x="0" y="1461543"/>
            <a:ext cx="4529667" cy="646331"/>
          </a:xfrm>
          <a:prstGeom prst="rect">
            <a:avLst/>
          </a:prstGeom>
          <a:noFill/>
        </p:spPr>
        <p:txBody>
          <a:bodyPr wrap="square" rtlCol="0">
            <a:spAutoFit/>
          </a:bodyPr>
          <a:lstStyle/>
          <a:p>
            <a:endParaRPr lang="zh-TW" altLang="en-US" dirty="0"/>
          </a:p>
          <a:p>
            <a:pPr lvl="1"/>
            <a:endParaRPr lang="en-US" altLang="zh-TW" dirty="0"/>
          </a:p>
        </p:txBody>
      </p: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6F5288B6-F08B-4647-BEC2-1ED8DF629DA3}"/>
                  </a:ext>
                </a:extLst>
              </p:cNvPr>
              <p:cNvSpPr txBox="1"/>
              <p:nvPr/>
            </p:nvSpPr>
            <p:spPr>
              <a:xfrm>
                <a:off x="8545338" y="457425"/>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7" name="文字方塊 26">
                <a:extLst>
                  <a:ext uri="{FF2B5EF4-FFF2-40B4-BE49-F238E27FC236}">
                    <a16:creationId xmlns:a16="http://schemas.microsoft.com/office/drawing/2014/main" id="{6F5288B6-F08B-4647-BEC2-1ED8DF629DA3}"/>
                  </a:ext>
                </a:extLst>
              </p:cNvPr>
              <p:cNvSpPr txBox="1">
                <a:spLocks noRot="1" noChangeAspect="1" noMove="1" noResize="1" noEditPoints="1" noAdjustHandles="1" noChangeArrowheads="1" noChangeShapeType="1" noTextEdit="1"/>
              </p:cNvSpPr>
              <p:nvPr/>
            </p:nvSpPr>
            <p:spPr>
              <a:xfrm>
                <a:off x="8545338" y="457425"/>
                <a:ext cx="3564053" cy="321563"/>
              </a:xfrm>
              <a:prstGeom prst="rect">
                <a:avLst/>
              </a:prstGeom>
              <a:blipFill>
                <a:blip r:embed="rId2"/>
                <a:stretch>
                  <a:fillRect l="-1199" t="-13208" r="-5308" b="-22642"/>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B29A552-EA7E-4837-AF53-D95DAEFD34FD}"/>
              </a:ext>
            </a:extLst>
          </p:cNvPr>
          <p:cNvSpPr txBox="1"/>
          <p:nvPr/>
        </p:nvSpPr>
        <p:spPr>
          <a:xfrm>
            <a:off x="27458" y="2052543"/>
            <a:ext cx="36132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parameter(7 points)</a:t>
            </a:r>
            <a:endParaRPr lang="zh-TW" altLang="en-US" dirty="0"/>
          </a:p>
        </p:txBody>
      </p:sp>
      <p:sp>
        <p:nvSpPr>
          <p:cNvPr id="47" name="文字方塊 46">
            <a:extLst>
              <a:ext uri="{FF2B5EF4-FFF2-40B4-BE49-F238E27FC236}">
                <a16:creationId xmlns:a16="http://schemas.microsoft.com/office/drawing/2014/main" id="{C5B7ED82-92AC-4C16-A18D-D2B3CA5A27F5}"/>
              </a:ext>
            </a:extLst>
          </p:cNvPr>
          <p:cNvSpPr txBox="1"/>
          <p:nvPr/>
        </p:nvSpPr>
        <p:spPr>
          <a:xfrm>
            <a:off x="32720" y="4251460"/>
            <a:ext cx="48324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parameters(7 points)</a:t>
            </a:r>
            <a:endParaRPr lang="zh-TW" altLang="en-US" dirty="0"/>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F2D9CBB1-3EEA-4EB4-8FCC-FD3C5EFFA05F}"/>
                  </a:ext>
                </a:extLst>
              </p:cNvPr>
              <p:cNvSpPr txBox="1"/>
              <p:nvPr/>
            </p:nvSpPr>
            <p:spPr>
              <a:xfrm>
                <a:off x="154577" y="887936"/>
                <a:ext cx="7042090" cy="1200329"/>
              </a:xfrm>
              <a:prstGeom prst="rect">
                <a:avLst/>
              </a:prstGeom>
              <a:noFill/>
            </p:spPr>
            <p:txBody>
              <a:bodyPr wrap="square" rtlCol="0">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en-US" altLang="zh-TW" b="0" dirty="0">
                  <a:ea typeface="Cambria Math" panose="02040503050406030204" pitchFamily="18" charset="0"/>
                </a:endParaRPr>
              </a:p>
              <a:p>
                <a:pPr marL="285750" indent="-285750">
                  <a:buFont typeface="Wingdings" panose="05000000000000000000" pitchFamily="2" charset="2"/>
                  <a:buChar char="Ø"/>
                </a:pPr>
                <a:r>
                  <a:rPr lang="en-US" altLang="zh-TW" dirty="0"/>
                  <a:t>Calibration results obtained using the interpolation points determined above.</a:t>
                </a:r>
              </a:p>
              <a:p>
                <a:pPr marL="285750" indent="-285750">
                  <a:buFont typeface="Wingdings" panose="05000000000000000000" pitchFamily="2" charset="2"/>
                  <a:buChar char="Ø"/>
                </a:pPr>
                <a:r>
                  <a:rPr lang="en-US" altLang="zh-TW" dirty="0" err="1"/>
                  <a:t>Zhi</a:t>
                </a:r>
                <a:r>
                  <a:rPr lang="en-US" altLang="zh-TW" dirty="0"/>
                  <a:t> </a:t>
                </a:r>
                <a:r>
                  <a:rPr lang="en-US" altLang="zh-TW" dirty="0" err="1"/>
                  <a:t>peng</a:t>
                </a:r>
                <a:r>
                  <a:rPr lang="en-US" altLang="zh-TW" dirty="0"/>
                  <a:t> calibrate results</a:t>
                </a:r>
                <a:endParaRPr lang="zh-TW" altLang="en-US" dirty="0"/>
              </a:p>
            </p:txBody>
          </p:sp>
        </mc:Choice>
        <mc:Fallback xmlns="">
          <p:sp>
            <p:nvSpPr>
              <p:cNvPr id="23" name="文字方塊 22">
                <a:extLst>
                  <a:ext uri="{FF2B5EF4-FFF2-40B4-BE49-F238E27FC236}">
                    <a16:creationId xmlns:a16="http://schemas.microsoft.com/office/drawing/2014/main" id="{F2D9CBB1-3EEA-4EB4-8FCC-FD3C5EFFA05F}"/>
                  </a:ext>
                </a:extLst>
              </p:cNvPr>
              <p:cNvSpPr txBox="1">
                <a:spLocks noRot="1" noChangeAspect="1" noMove="1" noResize="1" noEditPoints="1" noAdjustHandles="1" noChangeArrowheads="1" noChangeShapeType="1" noTextEdit="1"/>
              </p:cNvSpPr>
              <p:nvPr/>
            </p:nvSpPr>
            <p:spPr>
              <a:xfrm>
                <a:off x="154577" y="887936"/>
                <a:ext cx="7042090" cy="1200329"/>
              </a:xfrm>
              <a:prstGeom prst="rect">
                <a:avLst/>
              </a:prstGeom>
              <a:blipFill>
                <a:blip r:embed="rId3"/>
                <a:stretch>
                  <a:fillRect l="-519" t="-1523" r="-519" b="-71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ZP_s_mat"/>
              <p:cNvSpPr txBox="1"/>
              <p:nvPr/>
            </p:nvSpPr>
            <p:spPr>
              <a:xfrm>
                <a:off x="460000" y="2450000"/>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−0.0639</m:t>
                                </m:r>
                              </m:e>
                              <m:e>
                                <m:r>
                                  <a:rPr lang="en-US" sz="1200" b="0" i="0">
                                    <a:latin typeface="Cambria Math" panose="02040503050406030204" pitchFamily="18" charset="0"/>
                                  </a:rPr>
                                  <m:t>−0.2179</m:t>
                                </m:r>
                              </m:e>
                              <m:e>
                                <m:r>
                                  <a:rPr lang="en-US" sz="1200" b="0" i="0">
                                    <a:latin typeface="Cambria Math" panose="02040503050406030204" pitchFamily="18" charset="0"/>
                                  </a:rPr>
                                  <m:t>−0.1082</m:t>
                                </m:r>
                              </m:e>
                              <m:e>
                                <m:r>
                                  <a:rPr lang="en-US" sz="1200" b="0" i="0">
                                    <a:latin typeface="Cambria Math" panose="02040503050406030204" pitchFamily="18" charset="0"/>
                                  </a:rPr>
                                  <m:t>−0.1076</m:t>
                                </m:r>
                              </m:e>
                              <m:e>
                                <m:r>
                                  <a:rPr lang="en-US" sz="1200" b="0" i="0">
                                    <a:latin typeface="Cambria Math" panose="02040503050406030204" pitchFamily="18" charset="0"/>
                                  </a:rPr>
                                  <m:t>−0.2163</m:t>
                                </m:r>
                              </m:e>
                            </m:mr>
                            <m:mr>
                              <m:e>
                                <m:r>
                                  <a:rPr lang="en-US" sz="1200" b="0" i="0">
                                    <a:latin typeface="Cambria Math" panose="02040503050406030204" pitchFamily="18" charset="0"/>
                                  </a:rPr>
                                  <m:t>−0.0630</m:t>
                                </m:r>
                              </m:e>
                              <m:e>
                                <m:r>
                                  <a:rPr lang="en-US" sz="1200" b="0" i="0">
                                    <a:latin typeface="Cambria Math" panose="02040503050406030204" pitchFamily="18" charset="0"/>
                                  </a:rPr>
                                  <m:t>0.8255</m:t>
                                </m:r>
                              </m:e>
                              <m:e>
                                <m:r>
                                  <a:rPr lang="en-US" sz="1200" b="0" i="0">
                                    <a:latin typeface="Cambria Math" panose="02040503050406030204" pitchFamily="18" charset="0"/>
                                  </a:rPr>
                                  <m:t>−0.1093</m:t>
                                </m:r>
                              </m:e>
                              <m:e>
                                <m:r>
                                  <a:rPr lang="en-US" sz="1200" b="0" i="0">
                                    <a:latin typeface="Cambria Math" panose="02040503050406030204" pitchFamily="18" charset="0"/>
                                  </a:rPr>
                                  <m:t>−0.2206</m:t>
                                </m:r>
                              </m:e>
                              <m:e>
                                <m:r>
                                  <a:rPr lang="en-US" sz="1200" b="0" i="0">
                                    <a:latin typeface="Cambria Math" panose="02040503050406030204" pitchFamily="18" charset="0"/>
                                  </a:rPr>
                                  <m:t>−0.2202</m:t>
                                </m:r>
                              </m:e>
                              <m:e>
                                <m:r>
                                  <a:rPr lang="en-US" sz="1200" b="0" i="0">
                                    <a:latin typeface="Cambria Math" panose="02040503050406030204" pitchFamily="18" charset="0"/>
                                  </a:rPr>
                                  <m:t>−0.1077</m:t>
                                </m:r>
                              </m:e>
                            </m:mr>
                            <m:mr>
                              <m:e>
                                <m:r>
                                  <a:rPr lang="en-US" sz="1200" b="0" i="0">
                                    <a:latin typeface="Cambria Math" panose="02040503050406030204" pitchFamily="18" charset="0"/>
                                  </a:rPr>
                                  <m:t>−0.2480</m:t>
                                </m:r>
                              </m:e>
                              <m:e>
                                <m:r>
                                  <a:rPr lang="en-US" sz="1200" b="0" i="0">
                                    <a:latin typeface="Cambria Math" panose="02040503050406030204" pitchFamily="18" charset="0"/>
                                  </a:rPr>
                                  <m:t>−0.0996</m:t>
                                </m:r>
                              </m:e>
                              <m:e>
                                <m:r>
                                  <a:rPr lang="en-US" sz="1200" b="0" i="0">
                                    <a:latin typeface="Cambria Math" panose="02040503050406030204" pitchFamily="18" charset="0"/>
                                  </a:rPr>
                                  <m:t>0.7428</m:t>
                                </m:r>
                              </m:e>
                              <m:e>
                                <m:r>
                                  <a:rPr lang="en-US" sz="1200" b="0" i="0">
                                    <a:latin typeface="Cambria Math" panose="02040503050406030204" pitchFamily="18" charset="0"/>
                                  </a:rPr>
                                  <m:t>−0.0560</m:t>
                                </m:r>
                              </m:e>
                              <m:e>
                                <m:r>
                                  <a:rPr lang="en-US" sz="1200" b="0" i="0">
                                    <a:latin typeface="Cambria Math" panose="02040503050406030204" pitchFamily="18" charset="0"/>
                                  </a:rPr>
                                  <m:t>−0.0718</m:t>
                                </m:r>
                              </m:e>
                              <m:e>
                                <m:r>
                                  <a:rPr lang="en-US" sz="1200" b="0" i="0">
                                    <a:latin typeface="Cambria Math" panose="02040503050406030204" pitchFamily="18" charset="0"/>
                                  </a:rPr>
                                  <m:t>−0.2343</m:t>
                                </m:r>
                              </m:e>
                            </m:mr>
                            <m:mr>
                              <m:e>
                                <m:r>
                                  <a:rPr lang="en-US" sz="1200" b="0" i="0">
                                    <a:latin typeface="Cambria Math" panose="02040503050406030204" pitchFamily="18" charset="0"/>
                                  </a:rPr>
                                  <m:t>−0.0996</m:t>
                                </m:r>
                              </m:e>
                              <m:e>
                                <m:r>
                                  <a:rPr lang="en-US" sz="1200" b="0" i="0">
                                    <a:latin typeface="Cambria Math" panose="02040503050406030204" pitchFamily="18" charset="0"/>
                                  </a:rPr>
                                  <m:t>−0.2522</m:t>
                                </m:r>
                              </m:e>
                              <m:e>
                                <m:r>
                                  <a:rPr lang="en-US" sz="1200" b="0" i="0">
                                    <a:latin typeface="Cambria Math" panose="02040503050406030204" pitchFamily="18" charset="0"/>
                                  </a:rPr>
                                  <m:t>−0.0574</m:t>
                                </m:r>
                              </m:e>
                              <m:e>
                                <m:r>
                                  <a:rPr lang="en-US" sz="1200" b="0" i="0">
                                    <a:latin typeface="Cambria Math" panose="02040503050406030204" pitchFamily="18" charset="0"/>
                                  </a:rPr>
                                  <m:t>0.7368</m:t>
                                </m:r>
                              </m:e>
                              <m:e>
                                <m:r>
                                  <a:rPr lang="en-US" sz="1200" b="0" i="0">
                                    <a:latin typeface="Cambria Math" panose="02040503050406030204" pitchFamily="18" charset="0"/>
                                  </a:rPr>
                                  <m:t>−0.2383</m:t>
                                </m:r>
                              </m:e>
                              <m:e>
                                <m:r>
                                  <a:rPr lang="en-US" sz="1200" b="0" i="0">
                                    <a:latin typeface="Cambria Math" panose="02040503050406030204" pitchFamily="18" charset="0"/>
                                  </a:rPr>
                                  <m:t>−0.0727</m:t>
                                </m:r>
                              </m:e>
                            </m:mr>
                            <m:mr>
                              <m:e>
                                <m:r>
                                  <a:rPr lang="en-US" sz="1200" b="0" i="0">
                                    <a:latin typeface="Cambria Math" panose="02040503050406030204" pitchFamily="18" charset="0"/>
                                  </a:rPr>
                                  <m:t>−0.0995</m:t>
                                </m:r>
                              </m:e>
                              <m:e>
                                <m:r>
                                  <a:rPr lang="en-US" sz="1200" b="0" i="0">
                                    <a:latin typeface="Cambria Math" panose="02040503050406030204" pitchFamily="18" charset="0"/>
                                  </a:rPr>
                                  <m:t>−0.2522</m:t>
                                </m:r>
                              </m:e>
                              <m:e>
                                <m:r>
                                  <a:rPr lang="en-US" sz="1200" b="0" i="0">
                                    <a:latin typeface="Cambria Math" panose="02040503050406030204" pitchFamily="18" charset="0"/>
                                  </a:rPr>
                                  <m:t>−0.0735</m:t>
                                </m:r>
                              </m:e>
                              <m:e>
                                <m:r>
                                  <a:rPr lang="en-US" sz="1200" b="0" i="0">
                                    <a:latin typeface="Cambria Math" panose="02040503050406030204" pitchFamily="18" charset="0"/>
                                  </a:rPr>
                                  <m:t>−0.2386</m:t>
                                </m:r>
                              </m:e>
                              <m:e>
                                <m:r>
                                  <a:rPr lang="en-US" sz="1200" b="0" i="0">
                                    <a:latin typeface="Cambria Math" panose="02040503050406030204" pitchFamily="18" charset="0"/>
                                  </a:rPr>
                                  <m:t>0.7357</m:t>
                                </m:r>
                              </m:e>
                              <m:e>
                                <m:r>
                                  <a:rPr lang="en-US" sz="1200" b="0" i="0">
                                    <a:latin typeface="Cambria Math" panose="02040503050406030204" pitchFamily="18" charset="0"/>
                                  </a:rPr>
                                  <m:t>−0.0554</m:t>
                                </m:r>
                              </m:e>
                            </m:mr>
                            <m:mr>
                              <m:e>
                                <m:r>
                                  <a:rPr lang="en-US" sz="1200" b="0" i="0">
                                    <a:latin typeface="Cambria Math" panose="02040503050406030204" pitchFamily="18" charset="0"/>
                                  </a:rPr>
                                  <m:t>−0.2482</m:t>
                                </m:r>
                              </m:e>
                              <m:e>
                                <m:r>
                                  <a:rPr lang="en-US" sz="1200" b="0" i="0">
                                    <a:latin typeface="Cambria Math" panose="02040503050406030204" pitchFamily="18" charset="0"/>
                                  </a:rPr>
                                  <m:t>−0.0997</m:t>
                                </m:r>
                              </m:e>
                              <m:e>
                                <m:r>
                                  <a:rPr lang="en-US" sz="1200" b="0" i="0">
                                    <a:latin typeface="Cambria Math" panose="02040503050406030204" pitchFamily="18" charset="0"/>
                                  </a:rPr>
                                  <m:t>−0.2355</m:t>
                                </m:r>
                              </m:e>
                              <m:e>
                                <m:r>
                                  <a:rPr lang="en-US" sz="1200" b="0" i="0">
                                    <a:latin typeface="Cambria Math" panose="02040503050406030204" pitchFamily="18" charset="0"/>
                                  </a:rPr>
                                  <m:t>−0.0722</m:t>
                                </m:r>
                              </m:e>
                              <m:e>
                                <m:r>
                                  <a:rPr lang="en-US" sz="1200" b="0" i="0">
                                    <a:latin typeface="Cambria Math" panose="02040503050406030204" pitchFamily="18" charset="0"/>
                                  </a:rPr>
                                  <m:t>−0.0563</m:t>
                                </m:r>
                              </m:e>
                              <m:e>
                                <m:r>
                                  <a:rPr lang="en-US" sz="1200" b="0" i="0">
                                    <a:latin typeface="Cambria Math" panose="02040503050406030204" pitchFamily="18" charset="0"/>
                                  </a:rPr>
                                  <m:t>0.7449</m:t>
                                </m:r>
                              </m:e>
                            </m:mr>
                          </m:m>
                        </m:e>
                      </m:d>
                      <m:r>
                        <a:rPr lang="en-US" sz="1200" b="0" i="0">
                          <a:latin typeface="Cambria Math" panose="02040503050406030204" pitchFamily="18" charset="0"/>
                        </a:rPr>
                        <m:t> </m:t>
                      </m:r>
                    </m:oMath>
                  </m:oMathPara>
                </a14:m>
                <a:endParaRPr lang="en-US" sz="1100" dirty="0"/>
              </a:p>
            </p:txBody>
          </p:sp>
        </mc:Choice>
        <mc:Fallback xmlns="">
          <p:sp>
            <p:nvSpPr>
              <p:cNvPr id="48" name="ZP_s_mat"/>
              <p:cNvSpPr txBox="1">
                <a:spLocks noRot="1" noChangeAspect="1" noMove="1" noResize="1" noEditPoints="1" noAdjustHandles="1" noChangeArrowheads="1" noChangeShapeType="1" noTextEdit="1"/>
              </p:cNvSpPr>
              <p:nvPr/>
            </p:nvSpPr>
            <p:spPr>
              <a:xfrm>
                <a:off x="460000" y="2450000"/>
                <a:ext cx="4389119" cy="1115568"/>
              </a:xfrm>
              <a:prstGeom prst="rect">
                <a:avLst/>
              </a:prstGeom>
              <a:blipFill>
                <a:blip r:embed=""/>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ZP_s_sc"/>
              <p:cNvSpPr txBox="1"/>
              <p:nvPr/>
            </p:nvSpPr>
            <p:spPr>
              <a:xfrm>
                <a:off x="5300000" y="26000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744.5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33.63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9" name="ZP_s_sc"/>
              <p:cNvSpPr txBox="1">
                <a:spLocks noRot="1" noChangeAspect="1" noMove="1" noResize="1" noEditPoints="1" noAdjustHandles="1" noChangeArrowheads="1" noChangeShapeType="1" noTextEdit="1"/>
              </p:cNvSpPr>
              <p:nvPr/>
            </p:nvSpPr>
            <p:spPr>
              <a:xfrm>
                <a:off x="5300000" y="2600000"/>
                <a:ext cx="3457787" cy="310896"/>
              </a:xfrm>
              <a:prstGeom prst="rect">
                <a:avLst/>
              </a:prstGeom>
              <a:blipFill>
                <a:blip r:embed="rId4"/>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ZP_s_nmae"/>
              <p:cNvSpPr txBox="1"/>
              <p:nvPr/>
            </p:nvSpPr>
            <p:spPr>
              <a:xfrm>
                <a:off x="5300000" y="305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%=10.53%</m:t>
                      </m:r>
                    </m:oMath>
                  </m:oMathPara>
                </a14:m>
                <a:endParaRPr lang="zh-TW" altLang="en-US" sz="1400" dirty="0"/>
              </a:p>
            </p:txBody>
          </p:sp>
        </mc:Choice>
        <mc:Fallback xmlns="">
          <p:sp>
            <p:nvSpPr>
              <p:cNvPr id="50" name="ZP_s_nmae"/>
              <p:cNvSpPr txBox="1">
                <a:spLocks noRot="1" noChangeAspect="1" noMove="1" noResize="1" noEditPoints="1" noAdjustHandles="1" noChangeArrowheads="1" noChangeShapeType="1" noTextEdit="1"/>
              </p:cNvSpPr>
              <p:nvPr/>
            </p:nvSpPr>
            <p:spPr>
              <a:xfrm>
                <a:off x="5300000" y="3050000"/>
                <a:ext cx="4191000" cy="549509"/>
              </a:xfrm>
              <a:prstGeom prst="rect">
                <a:avLst/>
              </a:prstGeom>
              <a:blipFill>
                <a:blip r:embed=""/>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ZP_e_mat"/>
              <p:cNvSpPr txBox="1"/>
              <p:nvPr/>
            </p:nvSpPr>
            <p:spPr>
              <a:xfrm>
                <a:off x="460000" y="4660000"/>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−0.1078</m:t>
                                </m:r>
                              </m:e>
                              <m:e>
                                <m:r>
                                  <a:rPr lang="en-US" sz="1200" b="0" i="0">
                                    <a:latin typeface="Cambria Math" panose="02040503050406030204" pitchFamily="18" charset="0"/>
                                  </a:rPr>
                                  <m:t>−0.1162</m:t>
                                </m:r>
                              </m:e>
                              <m:e>
                                <m:r>
                                  <a:rPr lang="en-US" sz="1200" b="0" i="0">
                                    <a:latin typeface="Cambria Math" panose="02040503050406030204" pitchFamily="18" charset="0"/>
                                  </a:rPr>
                                  <m:t>−0.1870</m:t>
                                </m:r>
                              </m:e>
                              <m:e>
                                <m:r>
                                  <a:rPr lang="en-US" sz="1200" b="0" i="0">
                                    <a:latin typeface="Cambria Math" panose="02040503050406030204" pitchFamily="18" charset="0"/>
                                  </a:rPr>
                                  <m:t>−0.1870</m:t>
                                </m:r>
                              </m:e>
                              <m:e>
                                <m:r>
                                  <a:rPr lang="en-US" sz="1200" b="0" i="0">
                                    <a:latin typeface="Cambria Math" panose="02040503050406030204" pitchFamily="18" charset="0"/>
                                  </a:rPr>
                                  <m:t>−0.1162</m:t>
                                </m:r>
                              </m:e>
                            </m:mr>
                            <m:mr>
                              <m:e>
                                <m:r>
                                  <a:rPr lang="en-US" sz="1200" b="0" i="0">
                                    <a:latin typeface="Cambria Math" panose="02040503050406030204" pitchFamily="18" charset="0"/>
                                  </a:rPr>
                                  <m:t>−0.1107</m:t>
                                </m:r>
                              </m:e>
                              <m:e>
                                <m:r>
                                  <a:rPr lang="en-US" sz="1200" b="0" i="0">
                                    <a:latin typeface="Cambria Math" panose="02040503050406030204" pitchFamily="18" charset="0"/>
                                  </a:rPr>
                                  <m:t>0.8260</m:t>
                                </m:r>
                              </m:e>
                              <m:e>
                                <m:r>
                                  <a:rPr lang="en-US" sz="1200" b="0" i="0">
                                    <a:latin typeface="Cambria Math" panose="02040503050406030204" pitchFamily="18" charset="0"/>
                                  </a:rPr>
                                  <m:t>−0.1914</m:t>
                                </m:r>
                              </m:e>
                              <m:e>
                                <m:r>
                                  <a:rPr lang="en-US" sz="1200" b="0" i="0">
                                    <a:latin typeface="Cambria Math" panose="02040503050406030204" pitchFamily="18" charset="0"/>
                                  </a:rPr>
                                  <m:t>−0.1201</m:t>
                                </m:r>
                              </m:e>
                              <m:e>
                                <m:r>
                                  <a:rPr lang="en-US" sz="1200" b="0" i="0">
                                    <a:latin typeface="Cambria Math" panose="02040503050406030204" pitchFamily="18" charset="0"/>
                                  </a:rPr>
                                  <m:t>−0.1198</m:t>
                                </m:r>
                              </m:e>
                              <m:e>
                                <m:r>
                                  <a:rPr lang="en-US" sz="1200" b="0" i="0">
                                    <a:latin typeface="Cambria Math" panose="02040503050406030204" pitchFamily="18" charset="0"/>
                                  </a:rPr>
                                  <m:t>−0.1906</m:t>
                                </m:r>
                              </m:e>
                            </m:mr>
                            <m:mr>
                              <m:e>
                                <m:r>
                                  <a:rPr lang="en-US" sz="1200" b="0" i="0">
                                    <a:latin typeface="Cambria Math" panose="02040503050406030204" pitchFamily="18" charset="0"/>
                                  </a:rPr>
                                  <m:t>−0.1345</m:t>
                                </m:r>
                              </m:e>
                              <m:e>
                                <m:r>
                                  <a:rPr lang="en-US" sz="1200" b="0" i="0">
                                    <a:latin typeface="Cambria Math" panose="02040503050406030204" pitchFamily="18" charset="0"/>
                                  </a:rPr>
                                  <m:t>−0.1938</m:t>
                                </m:r>
                              </m:e>
                              <m:e>
                                <m:r>
                                  <a:rPr lang="en-US" sz="1200" b="0" i="0">
                                    <a:latin typeface="Cambria Math" panose="02040503050406030204" pitchFamily="18" charset="0"/>
                                  </a:rPr>
                                  <m:t>0.7481</m:t>
                                </m:r>
                              </m:e>
                              <m:e>
                                <m:r>
                                  <a:rPr lang="en-US" sz="1200" b="0" i="0">
                                    <a:latin typeface="Cambria Math" panose="02040503050406030204" pitchFamily="18" charset="0"/>
                                  </a:rPr>
                                  <m:t>−0.0935</m:t>
                                </m:r>
                              </m:e>
                              <m:e>
                                <m:r>
                                  <a:rPr lang="en-US" sz="1200" b="0" i="0">
                                    <a:latin typeface="Cambria Math" panose="02040503050406030204" pitchFamily="18" charset="0"/>
                                  </a:rPr>
                                  <m:t>−0.1572</m:t>
                                </m:r>
                              </m:e>
                              <m:e>
                                <m:r>
                                  <a:rPr lang="en-US" sz="1200" b="0" i="0">
                                    <a:latin typeface="Cambria Math" panose="02040503050406030204" pitchFamily="18" charset="0"/>
                                  </a:rPr>
                                  <m:t>−0.1313</m:t>
                                </m:r>
                              </m:e>
                            </m:mr>
                            <m:mr>
                              <m:e>
                                <m:r>
                                  <a:rPr lang="en-US" sz="1200" b="0" i="0">
                                    <a:latin typeface="Cambria Math" panose="02040503050406030204" pitchFamily="18" charset="0"/>
                                  </a:rPr>
                                  <m:t>−0.1972</m:t>
                                </m:r>
                              </m:e>
                              <m:e>
                                <m:r>
                                  <a:rPr lang="en-US" sz="1200" b="0" i="0">
                                    <a:latin typeface="Cambria Math" panose="02040503050406030204" pitchFamily="18" charset="0"/>
                                  </a:rPr>
                                  <m:t>−0.1383</m:t>
                                </m:r>
                              </m:e>
                              <m:e>
                                <m:r>
                                  <a:rPr lang="en-US" sz="1200" b="0" i="0">
                                    <a:latin typeface="Cambria Math" panose="02040503050406030204" pitchFamily="18" charset="0"/>
                                  </a:rPr>
                                  <m:t>−0.0970</m:t>
                                </m:r>
                              </m:e>
                              <m:e>
                                <m:r>
                                  <a:rPr lang="en-US" sz="1200" b="0" i="0">
                                    <a:latin typeface="Cambria Math" panose="02040503050406030204" pitchFamily="18" charset="0"/>
                                  </a:rPr>
                                  <m:t>0.7389</m:t>
                                </m:r>
                              </m:e>
                              <m:e>
                                <m:r>
                                  <a:rPr lang="en-US" sz="1200" b="0" i="0">
                                    <a:latin typeface="Cambria Math" panose="02040503050406030204" pitchFamily="18" charset="0"/>
                                  </a:rPr>
                                  <m:t>−0.1348</m:t>
                                </m:r>
                              </m:e>
                              <m:e>
                                <m:r>
                                  <a:rPr lang="en-US" sz="1200" b="0" i="0">
                                    <a:latin typeface="Cambria Math" panose="02040503050406030204" pitchFamily="18" charset="0"/>
                                  </a:rPr>
                                  <m:t>−0.1609</m:t>
                                </m:r>
                              </m:e>
                            </m:mr>
                            <m:mr>
                              <m:e>
                                <m:r>
                                  <a:rPr lang="en-US" sz="1200" b="0" i="0">
                                    <a:latin typeface="Cambria Math" panose="02040503050406030204" pitchFamily="18" charset="0"/>
                                  </a:rPr>
                                  <m:t>−0.1977</m:t>
                                </m:r>
                              </m:e>
                              <m:e>
                                <m:r>
                                  <a:rPr lang="en-US" sz="1200" b="0" i="0">
                                    <a:latin typeface="Cambria Math" panose="02040503050406030204" pitchFamily="18" charset="0"/>
                                  </a:rPr>
                                  <m:t>−0.1385</m:t>
                                </m:r>
                              </m:e>
                              <m:e>
                                <m:r>
                                  <a:rPr lang="en-US" sz="1200" b="0" i="0">
                                    <a:latin typeface="Cambria Math" panose="02040503050406030204" pitchFamily="18" charset="0"/>
                                  </a:rPr>
                                  <m:t>−0.1612</m:t>
                                </m:r>
                              </m:e>
                              <m:e>
                                <m:r>
                                  <a:rPr lang="en-US" sz="1200" b="0" i="0">
                                    <a:latin typeface="Cambria Math" panose="02040503050406030204" pitchFamily="18" charset="0"/>
                                  </a:rPr>
                                  <m:t>−0.1353</m:t>
                                </m:r>
                              </m:e>
                              <m:e>
                                <m:r>
                                  <a:rPr lang="en-US" sz="1200" b="0" i="0">
                                    <a:latin typeface="Cambria Math" panose="02040503050406030204" pitchFamily="18" charset="0"/>
                                  </a:rPr>
                                  <m:t>0.7403</m:t>
                                </m:r>
                              </m:e>
                              <m:e>
                                <m:r>
                                  <a:rPr lang="en-US" sz="1200" b="0" i="0">
                                    <a:latin typeface="Cambria Math" panose="02040503050406030204" pitchFamily="18" charset="0"/>
                                  </a:rPr>
                                  <m:t>−0.0971</m:t>
                                </m:r>
                              </m:e>
                            </m:mr>
                            <m:mr>
                              <m:e>
                                <m:r>
                                  <a:rPr lang="en-US" sz="1200" b="0" i="0">
                                    <a:latin typeface="Cambria Math" panose="02040503050406030204" pitchFamily="18" charset="0"/>
                                  </a:rPr>
                                  <m:t>−0.1345</m:t>
                                </m:r>
                              </m:e>
                              <m:e>
                                <m:r>
                                  <a:rPr lang="en-US" sz="1200" b="0" i="0">
                                    <a:latin typeface="Cambria Math" panose="02040503050406030204" pitchFamily="18" charset="0"/>
                                  </a:rPr>
                                  <m:t>−0.1936</m:t>
                                </m:r>
                              </m:e>
                              <m:e>
                                <m:r>
                                  <a:rPr lang="en-US" sz="1200" b="0" i="0">
                                    <a:latin typeface="Cambria Math" panose="02040503050406030204" pitchFamily="18" charset="0"/>
                                  </a:rPr>
                                  <m:t>−0.1308</m:t>
                                </m:r>
                              </m:e>
                              <m:e>
                                <m:r>
                                  <a:rPr lang="en-US" sz="1200" b="0" i="0">
                                    <a:latin typeface="Cambria Math" panose="02040503050406030204" pitchFamily="18" charset="0"/>
                                  </a:rPr>
                                  <m:t>−0.1569</m:t>
                                </m:r>
                              </m:e>
                              <m:e>
                                <m:r>
                                  <a:rPr lang="en-US" sz="1200" b="0" i="0">
                                    <a:latin typeface="Cambria Math" panose="02040503050406030204" pitchFamily="18" charset="0"/>
                                  </a:rPr>
                                  <m:t>−0.0931</m:t>
                                </m:r>
                              </m:e>
                              <m:e>
                                <m:r>
                                  <a:rPr lang="en-US" sz="1200" b="0" i="0">
                                    <a:latin typeface="Cambria Math" panose="02040503050406030204" pitchFamily="18" charset="0"/>
                                  </a:rPr>
                                  <m:t>0.7466</m:t>
                                </m:r>
                              </m:e>
                            </m:mr>
                          </m:m>
                        </m:e>
                      </m:d>
                      <m:r>
                        <a:rPr lang="en-US" sz="1200" b="0" i="0">
                          <a:latin typeface="Cambria Math" panose="02040503050406030204" pitchFamily="18" charset="0"/>
                        </a:rPr>
                        <m:t> </m:t>
                      </m:r>
                    </m:oMath>
                  </m:oMathPara>
                </a14:m>
                <a:endParaRPr lang="en-US" sz="1100" dirty="0"/>
              </a:p>
            </p:txBody>
          </p:sp>
        </mc:Choice>
        <mc:Fallback xmlns="">
          <p:sp>
            <p:nvSpPr>
              <p:cNvPr id="51" name="ZP_e_mat"/>
              <p:cNvSpPr txBox="1">
                <a:spLocks noRot="1" noChangeAspect="1" noMove="1" noResize="1" noEditPoints="1" noAdjustHandles="1" noChangeArrowheads="1" noChangeShapeType="1" noTextEdit="1"/>
              </p:cNvSpPr>
              <p:nvPr/>
            </p:nvSpPr>
            <p:spPr>
              <a:xfrm>
                <a:off x="460000" y="4660000"/>
                <a:ext cx="4524587" cy="1115568"/>
              </a:xfrm>
              <a:prstGeom prst="rect">
                <a:avLst/>
              </a:prstGeom>
              <a:blipFill>
                <a:blip r:embed=""/>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ZP_e_sc"/>
              <p:cNvSpPr txBox="1"/>
              <p:nvPr/>
            </p:nvSpPr>
            <p:spPr>
              <a:xfrm>
                <a:off x="5300000" y="48100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597.6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37.38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52" name="ZP_e_sc"/>
              <p:cNvSpPr txBox="1">
                <a:spLocks noRot="1" noChangeAspect="1" noMove="1" noResize="1" noEditPoints="1" noAdjustHandles="1" noChangeArrowheads="1" noChangeShapeType="1" noTextEdit="1"/>
              </p:cNvSpPr>
              <p:nvPr/>
            </p:nvSpPr>
            <p:spPr>
              <a:xfrm>
                <a:off x="5300000" y="4810000"/>
                <a:ext cx="3457787" cy="310896"/>
              </a:xfrm>
              <a:prstGeom prst="rect">
                <a:avLst/>
              </a:prstGeom>
              <a:blipFill>
                <a:blip r:embed="rId5"/>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ZP_e_nmae"/>
              <p:cNvSpPr txBox="1"/>
              <p:nvPr/>
            </p:nvSpPr>
            <p:spPr>
              <a:xfrm>
                <a:off x="5300000" y="526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%=0.75%</m:t>
                      </m:r>
                    </m:oMath>
                  </m:oMathPara>
                </a14:m>
                <a:endParaRPr lang="zh-TW" altLang="en-US" sz="1400" dirty="0"/>
              </a:p>
            </p:txBody>
          </p:sp>
        </mc:Choice>
        <mc:Fallback xmlns="">
          <p:sp>
            <p:nvSpPr>
              <p:cNvPr id="53" name="ZP_e_nmae"/>
              <p:cNvSpPr txBox="1">
                <a:spLocks noRot="1" noChangeAspect="1" noMove="1" noResize="1" noEditPoints="1" noAdjustHandles="1" noChangeArrowheads="1" noChangeShapeType="1" noTextEdit="1"/>
              </p:cNvSpPr>
              <p:nvPr/>
            </p:nvSpPr>
            <p:spPr>
              <a:xfrm>
                <a:off x="5300000" y="5260000"/>
                <a:ext cx="4191000" cy="549509"/>
              </a:xfrm>
              <a:prstGeom prst="rect">
                <a:avLst/>
              </a:prstGeom>
              <a:blipFill>
                <a:blip r:embed=""/>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ZP_e_bias"/>
              <p:cNvSpPr txBox="1"/>
              <p:nvPr/>
            </p:nvSpPr>
            <p:spPr>
              <a:xfrm>
                <a:off x="-168970" y="5946040"/>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−0.0008</m:t>
                                </m:r>
                              </m:e>
                              <m:e>
                                <m:r>
                                  <a:rPr lang="en-US" sz="1200" b="0" i="0">
                                    <a:latin typeface="Cambria Math" panose="02040503050406030204" pitchFamily="18" charset="0"/>
                                  </a:rPr>
                                  <m:t>0.0013</m:t>
                                </m:r>
                              </m:e>
                              <m:e>
                                <m:r>
                                  <a:rPr lang="en-US" sz="1200" b="0" i="0">
                                    <a:latin typeface="Cambria Math" panose="02040503050406030204" pitchFamily="18" charset="0"/>
                                  </a:rPr>
                                  <m:t>−0.2149</m:t>
                                </m:r>
                              </m:e>
                              <m:e>
                                <m:r>
                                  <a:rPr lang="en-US" sz="1200" b="0" i="0">
                                    <a:latin typeface="Cambria Math" panose="02040503050406030204" pitchFamily="18" charset="0"/>
                                  </a:rPr>
                                  <m:t>0.2140</m:t>
                                </m:r>
                              </m:e>
                              <m:e>
                                <m:r>
                                  <a:rPr lang="en-US" sz="1200" b="0" i="0">
                                    <a:latin typeface="Cambria Math" panose="02040503050406030204" pitchFamily="18" charset="0"/>
                                  </a:rPr>
                                  <m:t>0.2148</m:t>
                                </m:r>
                              </m:e>
                              <m:e>
                                <m:r>
                                  <a:rPr lang="en-US" sz="1200" b="0" i="0">
                                    <a:latin typeface="Cambria Math" panose="02040503050406030204" pitchFamily="18" charset="0"/>
                                  </a:rPr>
                                  <m:t>−0.2140</m:t>
                                </m:r>
                              </m:e>
                            </m:mr>
                            <m:mr>
                              <m:e>
                                <m:r>
                                  <a:rPr lang="en-US" sz="1200" b="0" i="0">
                                    <a:latin typeface="Cambria Math" panose="02040503050406030204" pitchFamily="18" charset="0"/>
                                  </a:rPr>
                                  <m:t>−0.2137</m:t>
                                </m:r>
                              </m:e>
                              <m:e>
                                <m:r>
                                  <a:rPr lang="en-US" sz="1200" b="0" i="0">
                                    <a:latin typeface="Cambria Math" panose="02040503050406030204" pitchFamily="18" charset="0"/>
                                  </a:rPr>
                                  <m:t>0.2139</m:t>
                                </m:r>
                              </m:e>
                              <m:e>
                                <m:r>
                                  <a:rPr lang="en-US" sz="1200" b="0" i="0">
                                    <a:latin typeface="Cambria Math" panose="02040503050406030204" pitchFamily="18" charset="0"/>
                                  </a:rPr>
                                  <m:t>0.0011</m:t>
                                </m:r>
                              </m:e>
                              <m:e>
                                <m:r>
                                  <a:rPr lang="en-US" sz="1200" b="0" i="0">
                                    <a:latin typeface="Cambria Math" panose="02040503050406030204" pitchFamily="18" charset="0"/>
                                  </a:rPr>
                                  <m:t>0.0002</m:t>
                                </m:r>
                              </m:e>
                              <m:e>
                                <m:r>
                                  <a:rPr lang="en-US" sz="1200" b="0" i="0">
                                    <a:latin typeface="Cambria Math" panose="02040503050406030204" pitchFamily="18" charset="0"/>
                                  </a:rPr>
                                  <m:t>0.2156</m:t>
                                </m:r>
                              </m:e>
                              <m:e>
                                <m:r>
                                  <a:rPr lang="en-US" sz="1200" b="0" i="0">
                                    <a:latin typeface="Cambria Math" panose="02040503050406030204" pitchFamily="18" charset="0"/>
                                  </a:rPr>
                                  <m:t>−0.2138</m:t>
                                </m:r>
                              </m:e>
                            </m:mr>
                            <m:mr>
                              <m:e>
                                <m:r>
                                  <a:rPr lang="en-US" sz="1200" b="0" i="0">
                                    <a:latin typeface="Cambria Math" panose="02040503050406030204" pitchFamily="18" charset="0"/>
                                  </a:rPr>
                                  <m:t>0.2136</m:t>
                                </m:r>
                              </m:e>
                              <m:e>
                                <m:r>
                                  <a:rPr lang="en-US" sz="1200" b="0" i="0">
                                    <a:latin typeface="Cambria Math" panose="02040503050406030204" pitchFamily="18" charset="0"/>
                                  </a:rPr>
                                  <m:t>−0.2143</m:t>
                                </m:r>
                              </m:e>
                              <m:e>
                                <m:r>
                                  <a:rPr lang="en-US" sz="1200" b="0" i="0">
                                    <a:latin typeface="Cambria Math" panose="02040503050406030204" pitchFamily="18" charset="0"/>
                                  </a:rPr>
                                  <m:t>0.2143</m:t>
                                </m:r>
                              </m:e>
                              <m:e>
                                <m:r>
                                  <a:rPr lang="en-US" sz="1200" b="0" i="0">
                                    <a:latin typeface="Cambria Math" panose="02040503050406030204" pitchFamily="18" charset="0"/>
                                  </a:rPr>
                                  <m:t>−0.2150</m:t>
                                </m:r>
                              </m:e>
                              <m:e>
                                <m:r>
                                  <a:rPr lang="en-US" sz="1200" b="0" i="0">
                                    <a:latin typeface="Cambria Math" panose="02040503050406030204" pitchFamily="18" charset="0"/>
                                  </a:rPr>
                                  <m:t>0.0009</m:t>
                                </m:r>
                              </m:e>
                              <m:e>
                                <m:r>
                                  <a:rPr lang="en-US" sz="1200" b="0" i="0">
                                    <a:latin typeface="Cambria Math" panose="02040503050406030204" pitchFamily="18" charset="0"/>
                                  </a:rPr>
                                  <m:t>−0.0003</m:t>
                                </m:r>
                              </m:e>
                            </m:mr>
                          </m:m>
                        </m:e>
                      </m:d>
                    </m:oMath>
                  </m:oMathPara>
                </a14:m>
                <a:endParaRPr lang="en-US" sz="1100" dirty="0"/>
              </a:p>
            </p:txBody>
          </p:sp>
        </mc:Choice>
        <mc:Fallback xmlns="">
          <p:sp>
            <p:nvSpPr>
              <p:cNvPr id="54" name="ZP_e_bias"/>
              <p:cNvSpPr txBox="1">
                <a:spLocks noRot="1" noChangeAspect="1" noMove="1" noResize="1" noEditPoints="1" noAdjustHandles="1" noChangeArrowheads="1" noChangeShapeType="1" noTextEdit="1"/>
              </p:cNvSpPr>
              <p:nvPr/>
            </p:nvSpPr>
            <p:spPr>
              <a:xfrm>
                <a:off x="-168970" y="5946040"/>
                <a:ext cx="5235787" cy="566928"/>
              </a:xfrm>
              <a:prstGeom prst="rect">
                <a:avLst/>
              </a:prstGeom>
              <a:blipFill>
                <a:blip r:embed="rId6"/>
                <a:stretch>
                  <a:fillRect t="-21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09825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FBD9F285-E19C-4465-9425-57DFB03A945C}"/>
              </a:ext>
            </a:extLst>
          </p:cNvPr>
          <p:cNvSpPr txBox="1"/>
          <p:nvPr/>
        </p:nvSpPr>
        <p:spPr>
          <a:xfrm>
            <a:off x="0" y="1461543"/>
            <a:ext cx="4529667" cy="646331"/>
          </a:xfrm>
          <a:prstGeom prst="rect">
            <a:avLst/>
          </a:prstGeom>
          <a:noFill/>
        </p:spPr>
        <p:txBody>
          <a:bodyPr wrap="square" rtlCol="0">
            <a:spAutoFit/>
          </a:bodyPr>
          <a:lstStyle/>
          <a:p>
            <a:endParaRPr lang="zh-TW" altLang="en-US" dirty="0"/>
          </a:p>
          <a:p>
            <a:pPr lvl="1"/>
            <a:endParaRPr lang="en-US" altLang="zh-TW" dirty="0"/>
          </a:p>
        </p:txBody>
      </p: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6F5288B6-F08B-4647-BEC2-1ED8DF629DA3}"/>
                  </a:ext>
                </a:extLst>
              </p:cNvPr>
              <p:cNvSpPr txBox="1"/>
              <p:nvPr/>
            </p:nvSpPr>
            <p:spPr>
              <a:xfrm>
                <a:off x="8545338" y="457425"/>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7" name="文字方塊 26">
                <a:extLst>
                  <a:ext uri="{FF2B5EF4-FFF2-40B4-BE49-F238E27FC236}">
                    <a16:creationId xmlns:a16="http://schemas.microsoft.com/office/drawing/2014/main" id="{6F5288B6-F08B-4647-BEC2-1ED8DF629DA3}"/>
                  </a:ext>
                </a:extLst>
              </p:cNvPr>
              <p:cNvSpPr txBox="1">
                <a:spLocks noRot="1" noChangeAspect="1" noMove="1" noResize="1" noEditPoints="1" noAdjustHandles="1" noChangeArrowheads="1" noChangeShapeType="1" noTextEdit="1"/>
              </p:cNvSpPr>
              <p:nvPr/>
            </p:nvSpPr>
            <p:spPr>
              <a:xfrm>
                <a:off x="8545338" y="457425"/>
                <a:ext cx="3564053" cy="321563"/>
              </a:xfrm>
              <a:prstGeom prst="rect">
                <a:avLst/>
              </a:prstGeom>
              <a:blipFill>
                <a:blip r:embed="rId2"/>
                <a:stretch>
                  <a:fillRect l="-1199" t="-13208" r="-5308" b="-22642"/>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B29A552-EA7E-4837-AF53-D95DAEFD34FD}"/>
              </a:ext>
            </a:extLst>
          </p:cNvPr>
          <p:cNvSpPr txBox="1"/>
          <p:nvPr/>
        </p:nvSpPr>
        <p:spPr>
          <a:xfrm>
            <a:off x="-1" y="1788420"/>
            <a:ext cx="5198534"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t>Long bias at measure</a:t>
            </a:r>
            <a:r>
              <a:rPr lang="zh-TW" altLang="en-US" dirty="0"/>
              <a:t> </a:t>
            </a:r>
            <a:r>
              <a:rPr lang="en-US" altLang="zh-TW" dirty="0"/>
              <a:t>coordinate system</a:t>
            </a:r>
            <a:r>
              <a:rPr lang="zh-TW" altLang="en-US" dirty="0"/>
              <a:t> </a:t>
            </a:r>
            <a:r>
              <a:rPr lang="en-US" altLang="zh-TW" dirty="0"/>
              <a:t> </a:t>
            </a:r>
            <a:endParaRPr lang="zh-TW" altLang="en-US" dirty="0"/>
          </a:p>
        </p:txBody>
      </p:sp>
      <p:sp>
        <p:nvSpPr>
          <p:cNvPr id="19" name="文字方塊 18">
            <a:extLst>
              <a:ext uri="{FF2B5EF4-FFF2-40B4-BE49-F238E27FC236}">
                <a16:creationId xmlns:a16="http://schemas.microsoft.com/office/drawing/2014/main" id="{EEDE3FB3-DE64-4C74-B428-E48320112A39}"/>
              </a:ext>
            </a:extLst>
          </p:cNvPr>
          <p:cNvSpPr txBox="1"/>
          <p:nvPr/>
        </p:nvSpPr>
        <p:spPr>
          <a:xfrm>
            <a:off x="0" y="3988976"/>
            <a:ext cx="6705602"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err="1"/>
              <a:t>Zhi</a:t>
            </a:r>
            <a:r>
              <a:rPr lang="en-US" altLang="zh-TW" dirty="0"/>
              <a:t> </a:t>
            </a:r>
            <a:r>
              <a:rPr lang="en-US" altLang="zh-TW" dirty="0" err="1"/>
              <a:t>peng</a:t>
            </a:r>
            <a:r>
              <a:rPr lang="en-US" altLang="zh-TW" dirty="0"/>
              <a:t> bias at</a:t>
            </a:r>
            <a:r>
              <a:rPr lang="zh-TW" altLang="en-US" dirty="0"/>
              <a:t> </a:t>
            </a:r>
            <a:r>
              <a:rPr lang="en-US" altLang="zh-TW" dirty="0"/>
              <a:t>measure</a:t>
            </a:r>
            <a:r>
              <a:rPr lang="zh-TW" altLang="en-US" dirty="0"/>
              <a:t> </a:t>
            </a:r>
            <a:r>
              <a:rPr lang="en-US" altLang="zh-TW" dirty="0"/>
              <a:t>coordinate system </a:t>
            </a:r>
            <a:endParaRPr lang="zh-TW" altLang="en-US" dirty="0"/>
          </a:p>
        </p:txBody>
      </p:sp>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1837E9FC-4D9E-4D23-B77F-EF450DF687F6}"/>
                  </a:ext>
                </a:extLst>
              </p:cNvPr>
              <p:cNvSpPr txBox="1"/>
              <p:nvPr/>
            </p:nvSpPr>
            <p:spPr>
              <a:xfrm>
                <a:off x="27458" y="899719"/>
                <a:ext cx="11688234" cy="946991"/>
              </a:xfrm>
              <a:prstGeom prst="rect">
                <a:avLst/>
              </a:prstGeom>
              <a:noFill/>
            </p:spPr>
            <p:txBody>
              <a:bodyPr wrap="square">
                <a:spAutoFit/>
              </a:bodyPr>
              <a:lstStyle/>
              <a:p>
                <a:pPr marL="285750" indent="-285750">
                  <a:buFont typeface="Wingdings" panose="05000000000000000000" pitchFamily="2" charset="2"/>
                  <a:buChar char="Ø"/>
                </a:pPr>
                <a:r>
                  <a:rPr lang="en-US" altLang="zh-TW" dirty="0"/>
                  <a:t>Transforming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𝑒</m:t>
                            </m:r>
                          </m:e>
                        </m:acc>
                      </m:e>
                      <m:sub>
                        <m:r>
                          <a:rPr lang="en-US" altLang="zh-TW" b="0" i="1" smtClean="0">
                            <a:latin typeface="Cambria Math" panose="02040503050406030204" pitchFamily="18" charset="0"/>
                          </a:rPr>
                          <m:t>𝑎</m:t>
                        </m:r>
                      </m:sub>
                    </m:sSub>
                  </m:oMath>
                </a14:m>
                <a:r>
                  <a:rPr lang="en-US" altLang="zh-TW" dirty="0"/>
                  <a:t>into the measurement coordinate system makes the primary direction of the magnetic charge displacement more apparent. It can be observed that the displacement of P1 occurs mainly in the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𝑚</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𝑚</m:t>
                        </m:r>
                      </m:sub>
                    </m:sSub>
                    <m:r>
                      <a:rPr lang="en-US" altLang="zh-TW" b="0" i="1" smtClean="0">
                        <a:latin typeface="Cambria Math" panose="02040503050406030204" pitchFamily="18" charset="0"/>
                      </a:rPr>
                      <m:t> </m:t>
                    </m:r>
                  </m:oMath>
                </a14:m>
                <a:r>
                  <a:rPr lang="en-US" altLang="zh-TW" dirty="0"/>
                  <a:t>plane, which is physically reasonable.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𝑒</m:t>
                            </m:r>
                          </m:e>
                        </m:acc>
                      </m:e>
                      <m:sub>
                        <m:r>
                          <a:rPr lang="en-US" altLang="zh-TW" b="0" i="1" smtClean="0">
                            <a:latin typeface="Cambria Math" panose="02040503050406030204" pitchFamily="18" charset="0"/>
                          </a:rPr>
                          <m:t>𝑚</m:t>
                        </m:r>
                      </m:sub>
                    </m:sSub>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𝑅</m:t>
                        </m:r>
                      </m:e>
                      <m:sup>
                        <m:r>
                          <a:rPr lang="en-US" altLang="zh-TW" b="0" i="1" smtClean="0">
                            <a:latin typeface="Cambria Math" panose="02040503050406030204" pitchFamily="18" charset="0"/>
                          </a:rPr>
                          <m:t>𝑇</m:t>
                        </m:r>
                      </m:sup>
                    </m:sSup>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𝑒</m:t>
                            </m:r>
                          </m:e>
                        </m:acc>
                      </m:e>
                      <m:sub>
                        <m:r>
                          <a:rPr lang="en-US" altLang="zh-TW" i="1">
                            <a:latin typeface="Cambria Math" panose="02040503050406030204" pitchFamily="18" charset="0"/>
                          </a:rPr>
                          <m:t>𝑎</m:t>
                        </m:r>
                      </m:sub>
                    </m:sSub>
                  </m:oMath>
                </a14:m>
                <a:endParaRPr lang="zh-TW" altLang="en-US" dirty="0"/>
              </a:p>
            </p:txBody>
          </p:sp>
        </mc:Choice>
        <mc:Fallback xmlns="">
          <p:sp>
            <p:nvSpPr>
              <p:cNvPr id="20" name="文字方塊 19">
                <a:extLst>
                  <a:ext uri="{FF2B5EF4-FFF2-40B4-BE49-F238E27FC236}">
                    <a16:creationId xmlns:a16="http://schemas.microsoft.com/office/drawing/2014/main" id="{1837E9FC-4D9E-4D23-B77F-EF450DF687F6}"/>
                  </a:ext>
                </a:extLst>
              </p:cNvPr>
              <p:cNvSpPr txBox="1">
                <a:spLocks noRot="1" noChangeAspect="1" noMove="1" noResize="1" noEditPoints="1" noAdjustHandles="1" noChangeArrowheads="1" noChangeShapeType="1" noTextEdit="1"/>
              </p:cNvSpPr>
              <p:nvPr/>
            </p:nvSpPr>
            <p:spPr>
              <a:xfrm>
                <a:off x="27458" y="899719"/>
                <a:ext cx="11688234" cy="946991"/>
              </a:xfrm>
              <a:prstGeom prst="rect">
                <a:avLst/>
              </a:prstGeom>
              <a:blipFill>
                <a:blip r:embed="rId3"/>
                <a:stretch>
                  <a:fillRect l="-365" t="-3871" r="-469" b="-70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S7_R"/>
              <p:cNvSpPr txBox="1"/>
              <p:nvPr/>
            </p:nvSpPr>
            <p:spPr>
              <a:xfrm>
                <a:off x="7583839" y="2485462"/>
                <a:ext cx="2697480" cy="603504"/>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600" b="0" i="1">
                          <a:latin typeface="Cambria Math" panose="02040503050406030204" pitchFamily="18" charset="0"/>
                        </a:rPr>
                        <m:t>𝑅</m:t>
                      </m:r>
                      <m:r>
                        <a:rPr lang="en-US" sz="1600" b="0" i="0">
                          <a:latin typeface="Cambria Math" panose="02040503050406030204" pitchFamily="18" charset="0"/>
                        </a:rPr>
                        <m:t>= </m:t>
                      </m:r>
                      <m:d>
                        <m:dPr>
                          <m:begChr m:val="["/>
                          <m:endChr m:val="]"/>
                          <m:ctrlPr>
                            <a:rPr lang="en-US" sz="1600" b="0" i="1">
                              <a:latin typeface="Cambria Math" panose="02040503050406030204" pitchFamily="18" charset="0"/>
                            </a:rPr>
                          </m:ctrlPr>
                        </m:dPr>
                        <m:e>
                          <m:m>
                            <m:mPr>
                              <m:mcs>
                                <m:mc>
                                  <m:mcPr>
                                    <m:count m:val="3"/>
                                    <m:mcJc m:val="center"/>
                                  </m:mcPr>
                                </m:mc>
                              </m:mcs>
                              <m:ctrlPr>
                                <a:rPr lang="en-US" sz="1600" b="0" i="1">
                                  <a:latin typeface="Cambria Math" panose="02040503050406030204" pitchFamily="18" charset="0"/>
                                </a:rPr>
                              </m:ctrlPr>
                            </m:mPr>
                            <m:mr>
                              <m:e>
                                <m:r>
                                  <a:rPr lang="en-US" sz="1600" b="0" i="0">
                                    <a:latin typeface="Cambria Math" panose="02040503050406030204" pitchFamily="18" charset="0"/>
                                  </a:rPr>
                                  <m:t>0.8165</m:t>
                                </m:r>
                              </m:e>
                              <m:e>
                                <m:r>
                                  <a:rPr lang="en-US" sz="1600" b="0" i="0">
                                    <a:latin typeface="Cambria Math" panose="02040503050406030204" pitchFamily="18" charset="0"/>
                                  </a:rPr>
                                  <m:t>0</m:t>
                                </m:r>
                              </m:e>
                              <m:e>
                                <m:r>
                                  <a:rPr lang="en-US" sz="1600" b="0" i="0">
                                    <a:latin typeface="Cambria Math" panose="02040503050406030204" pitchFamily="18" charset="0"/>
                                  </a:rPr>
                                  <m:t>−0.5774</m:t>
                                </m:r>
                              </m:e>
                            </m:mr>
                            <m:mr>
                              <m:e>
                                <m:r>
                                  <a:rPr lang="en-US" sz="1600" b="0" i="0">
                                    <a:latin typeface="Cambria Math" panose="02040503050406030204" pitchFamily="18" charset="0"/>
                                  </a:rPr>
                                  <m:t>−0.4082</m:t>
                                </m:r>
                              </m:e>
                              <m:e>
                                <m:r>
                                  <a:rPr lang="en-US" sz="1600" b="0" i="0">
                                    <a:latin typeface="Cambria Math" panose="02040503050406030204" pitchFamily="18" charset="0"/>
                                  </a:rPr>
                                  <m:t>0.7071</m:t>
                                </m:r>
                              </m:e>
                              <m:e>
                                <m:r>
                                  <a:rPr lang="en-US" sz="1600" b="0" i="0">
                                    <a:latin typeface="Cambria Math" panose="02040503050406030204" pitchFamily="18" charset="0"/>
                                  </a:rPr>
                                  <m:t>−0.5774</m:t>
                                </m:r>
                              </m:e>
                            </m:mr>
                            <m:mr>
                              <m:e>
                                <m:r>
                                  <a:rPr lang="en-US" sz="1600" b="0" i="0">
                                    <a:latin typeface="Cambria Math" panose="02040503050406030204" pitchFamily="18" charset="0"/>
                                  </a:rPr>
                                  <m:t>0.4082</m:t>
                                </m:r>
                              </m:e>
                              <m:e>
                                <m:r>
                                  <a:rPr lang="en-US" sz="1600" b="0" i="0">
                                    <a:latin typeface="Cambria Math" panose="02040503050406030204" pitchFamily="18" charset="0"/>
                                  </a:rPr>
                                  <m:t>0.7071</m:t>
                                </m:r>
                              </m:e>
                              <m:e>
                                <m:r>
                                  <a:rPr lang="en-US" sz="1600" b="0" i="0">
                                    <a:latin typeface="Cambria Math" panose="02040503050406030204" pitchFamily="18" charset="0"/>
                                  </a:rPr>
                                  <m:t>0.5774</m:t>
                                </m:r>
                              </m:e>
                            </m:mr>
                          </m:m>
                        </m:e>
                      </m:d>
                    </m:oMath>
                  </m:oMathPara>
                </a14:m>
                <a:endParaRPr dirty="0"/>
              </a:p>
            </p:txBody>
          </p:sp>
        </mc:Choice>
        <mc:Fallback xmlns="">
          <p:sp>
            <p:nvSpPr>
              <p:cNvPr id="41" name="S7_R"/>
              <p:cNvSpPr txBox="1">
                <a:spLocks noRot="1" noChangeAspect="1" noMove="1" noResize="1" noEditPoints="1" noAdjustHandles="1" noChangeArrowheads="1" noChangeShapeType="1" noTextEdit="1"/>
              </p:cNvSpPr>
              <p:nvPr/>
            </p:nvSpPr>
            <p:spPr>
              <a:xfrm>
                <a:off x="7583839" y="2485462"/>
                <a:ext cx="2697480" cy="603504"/>
              </a:xfrm>
              <a:prstGeom prst="rect">
                <a:avLst/>
              </a:prstGeom>
              <a:blipFill>
                <a:blip r:embed="rId4"/>
                <a:stretch>
                  <a:fillRect l="-8804" r="-6321" b="-707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S7_LF_em"/>
              <p:cNvSpPr txBox="1"/>
              <p:nvPr/>
            </p:nvSpPr>
            <p:spPr>
              <a:xfrm>
                <a:off x="206587" y="2485462"/>
                <a:ext cx="6050280" cy="946991"/>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600" b="0" i="1">
                              <a:latin typeface="Cambria Math" panose="02040503050406030204" pitchFamily="18" charset="0"/>
                            </a:rPr>
                          </m:ctrlPr>
                        </m:sSubPr>
                        <m:e>
                          <m:acc>
                            <m:accPr>
                              <m:chr m:val="̂"/>
                              <m:ctrlPr>
                                <a:rPr lang="en-US" sz="1600" b="0" i="1">
                                  <a:latin typeface="Cambria Math" panose="02040503050406030204" pitchFamily="18" charset="0"/>
                                </a:rPr>
                              </m:ctrlPr>
                            </m:accPr>
                            <m:e>
                              <m:r>
                                <a:rPr lang="en-US" sz="1600" b="0" i="1">
                                  <a:latin typeface="Cambria Math" panose="02040503050406030204" pitchFamily="18" charset="0"/>
                                </a:rPr>
                                <m:t>𝑒</m:t>
                              </m:r>
                            </m:e>
                          </m:acc>
                        </m:e>
                        <m:sub>
                          <m:r>
                            <a:rPr lang="en-US" sz="1600" b="0" i="1">
                              <a:latin typeface="Cambria Math" panose="02040503050406030204" pitchFamily="18" charset="0"/>
                            </a:rPr>
                            <m:t>𝑚</m:t>
                          </m:r>
                        </m:sub>
                      </m:sSub>
                      <m:r>
                        <a:rPr lang="en-US" sz="1600" b="0" i="0">
                          <a:latin typeface="Cambria Math" panose="02040503050406030204" pitchFamily="18" charset="0"/>
                        </a:rPr>
                        <m:t>= </m:t>
                      </m:r>
                      <m:d>
                        <m:dPr>
                          <m:begChr m:val="["/>
                          <m:endChr m:val="]"/>
                          <m:ctrlPr>
                            <a:rPr lang="en-US" sz="1600" b="0" i="1">
                              <a:latin typeface="Cambria Math" panose="02040503050406030204" pitchFamily="18" charset="0"/>
                            </a:rPr>
                          </m:ctrlPr>
                        </m:dPr>
                        <m:e>
                          <m:m>
                            <m:mPr>
                              <m:mcs>
                                <m:mc>
                                  <m:mcPr>
                                    <m:count m:val="6"/>
                                    <m:mcJc m:val="center"/>
                                  </m:mcPr>
                                </m:mc>
                              </m:mcs>
                              <m:ctrlPr>
                                <a:rPr lang="en-US" sz="1600" b="0" i="1">
                                  <a:latin typeface="Cambria Math" panose="02040503050406030204" pitchFamily="18" charset="0"/>
                                </a:rPr>
                              </m:ctrlPr>
                            </m:mPr>
                            <m:mr>
                              <m:e>
                                <m:r>
                                  <a:rPr lang="en-US" sz="1600" b="0" i="0">
                                    <a:latin typeface="Cambria Math" panose="02040503050406030204" pitchFamily="18" charset="0"/>
                                  </a:rPr>
                                  <m:t>0.1047</m:t>
                                </m:r>
                              </m:e>
                              <m:e>
                                <m:r>
                                  <a:rPr lang="en-US" sz="1600" b="0" i="0">
                                    <a:latin typeface="Cambria Math" panose="02040503050406030204" pitchFamily="18" charset="0"/>
                                  </a:rPr>
                                  <m:t>0.0156</m:t>
                                </m:r>
                              </m:e>
                              <m:e>
                                <m:r>
                                  <a:rPr lang="en-US" sz="1600" b="0" i="0">
                                    <a:latin typeface="Cambria Math" panose="02040503050406030204" pitchFamily="18" charset="0"/>
                                  </a:rPr>
                                  <m:t>−0.0560</m:t>
                                </m:r>
                              </m:e>
                              <m:e>
                                <m:r>
                                  <a:rPr lang="en-US" sz="1600" b="0" i="0">
                                    <a:latin typeface="Cambria Math" panose="02040503050406030204" pitchFamily="18" charset="0"/>
                                  </a:rPr>
                                  <m:t>−0.0077</m:t>
                                </m:r>
                              </m:e>
                              <m:e>
                                <m:r>
                                  <a:rPr lang="en-US" sz="1600" b="0" i="0">
                                    <a:latin typeface="Cambria Math" panose="02040503050406030204" pitchFamily="18" charset="0"/>
                                  </a:rPr>
                                  <m:t>−0.0048</m:t>
                                </m:r>
                              </m:e>
                              <m:e>
                                <m:r>
                                  <a:rPr lang="en-US" sz="1600" b="0" i="0">
                                    <a:latin typeface="Cambria Math" panose="02040503050406030204" pitchFamily="18" charset="0"/>
                                  </a:rPr>
                                  <m:t>−0.0558</m:t>
                                </m:r>
                              </m:e>
                            </m:mr>
                            <m:mr>
                              <m:e>
                                <m:r>
                                  <a:rPr lang="en-US" sz="1600" b="0" i="0">
                                    <a:latin typeface="Cambria Math" panose="02040503050406030204" pitchFamily="18" charset="0"/>
                                  </a:rPr>
                                  <m:t>0.0005</m:t>
                                </m:r>
                              </m:e>
                              <m:e>
                                <m:r>
                                  <a:rPr lang="en-US" sz="1600" b="0" i="0">
                                    <a:latin typeface="Cambria Math" panose="02040503050406030204" pitchFamily="18" charset="0"/>
                                  </a:rPr>
                                  <m:t>−0.0005</m:t>
                                </m:r>
                              </m:e>
                              <m:e>
                                <m:r>
                                  <a:rPr lang="en-US" sz="1600" b="0" i="0">
                                    <a:latin typeface="Cambria Math" panose="02040503050406030204" pitchFamily="18" charset="0"/>
                                  </a:rPr>
                                  <m:t>0.0959</m:t>
                                </m:r>
                              </m:e>
                              <m:e>
                                <m:r>
                                  <a:rPr lang="en-US" sz="1600" b="0" i="0">
                                    <a:latin typeface="Cambria Math" panose="02040503050406030204" pitchFamily="18" charset="0"/>
                                  </a:rPr>
                                  <m:t>0.0124</m:t>
                                </m:r>
                              </m:e>
                              <m:e>
                                <m:r>
                                  <a:rPr lang="en-US" sz="1600" b="0" i="0">
                                    <a:latin typeface="Cambria Math" panose="02040503050406030204" pitchFamily="18" charset="0"/>
                                  </a:rPr>
                                  <m:t>−0.0078</m:t>
                                </m:r>
                              </m:e>
                              <m:e>
                                <m:r>
                                  <a:rPr lang="en-US" sz="1600" b="0" i="0">
                                    <a:latin typeface="Cambria Math" panose="02040503050406030204" pitchFamily="18" charset="0"/>
                                  </a:rPr>
                                  <m:t>−0.0947</m:t>
                                </m:r>
                              </m:e>
                            </m:mr>
                            <m:mr>
                              <m:e>
                                <m:r>
                                  <a:rPr lang="en-US" sz="1600" b="0" i="0">
                                    <a:latin typeface="Cambria Math" panose="02040503050406030204" pitchFamily="18" charset="0"/>
                                  </a:rPr>
                                  <m:t>0.1245</m:t>
                                </m:r>
                              </m:e>
                              <m:e>
                                <m:r>
                                  <a:rPr lang="en-US" sz="1600" b="0" i="0">
                                    <a:latin typeface="Cambria Math" panose="02040503050406030204" pitchFamily="18" charset="0"/>
                                  </a:rPr>
                                  <m:t>−0.0148</m:t>
                                </m:r>
                              </m:e>
                              <m:e>
                                <m:r>
                                  <a:rPr lang="en-US" sz="1600" b="0" i="0">
                                    <a:latin typeface="Cambria Math" panose="02040503050406030204" pitchFamily="18" charset="0"/>
                                  </a:rPr>
                                  <m:t>0.1226</m:t>
                                </m:r>
                              </m:e>
                              <m:e>
                                <m:r>
                                  <a:rPr lang="en-US" sz="1600" b="0" i="0">
                                    <a:latin typeface="Cambria Math" panose="02040503050406030204" pitchFamily="18" charset="0"/>
                                  </a:rPr>
                                  <m:t>−0.0118</m:t>
                                </m:r>
                              </m:e>
                              <m:e>
                                <m:r>
                                  <a:rPr lang="en-US" sz="1600" b="0" i="0">
                                    <a:latin typeface="Cambria Math" panose="02040503050406030204" pitchFamily="18" charset="0"/>
                                  </a:rPr>
                                  <m:t>−0.0065</m:t>
                                </m:r>
                              </m:e>
                              <m:e>
                                <m:r>
                                  <a:rPr lang="en-US" sz="1600" b="0" i="0">
                                    <a:latin typeface="Cambria Math" panose="02040503050406030204" pitchFamily="18" charset="0"/>
                                  </a:rPr>
                                  <m:t>0.1247</m:t>
                                </m:r>
                              </m:e>
                            </m:mr>
                          </m:m>
                        </m:e>
                      </m:d>
                    </m:oMath>
                  </m:oMathPara>
                </a14:m>
                <a:endParaRPr dirty="0"/>
              </a:p>
            </p:txBody>
          </p:sp>
        </mc:Choice>
        <mc:Fallback xmlns="">
          <p:sp>
            <p:nvSpPr>
              <p:cNvPr id="42" name="S7_LF_em"/>
              <p:cNvSpPr txBox="1">
                <a:spLocks noRot="1" noChangeAspect="1" noMove="1" noResize="1" noEditPoints="1" noAdjustHandles="1" noChangeArrowheads="1" noChangeShapeType="1" noTextEdit="1"/>
              </p:cNvSpPr>
              <p:nvPr/>
            </p:nvSpPr>
            <p:spPr>
              <a:xfrm>
                <a:off x="206587" y="2485462"/>
                <a:ext cx="6050280" cy="946991"/>
              </a:xfrm>
              <a:prstGeom prst="rect">
                <a:avLst/>
              </a:prstGeom>
              <a:blipFill>
                <a:blip r:embed="rId5"/>
                <a:stretch>
                  <a:fillRect l="-9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S7_ZP_em"/>
              <p:cNvSpPr txBox="1"/>
              <p:nvPr/>
            </p:nvSpPr>
            <p:spPr>
              <a:xfrm>
                <a:off x="358987" y="4781326"/>
                <a:ext cx="5212080" cy="603504"/>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𝑒</m:t>
                              </m:r>
                            </m:e>
                          </m:acc>
                        </m:e>
                        <m:sub>
                          <m:r>
                            <a:rPr lang="en-US" sz="1400" b="0" i="1">
                              <a:latin typeface="Cambria Math" panose="02040503050406030204" pitchFamily="18" charset="0"/>
                            </a:rPr>
                            <m:t>𝑚</m:t>
                          </m:r>
                        </m:sub>
                      </m:sSub>
                      <m:r>
                        <a:rPr lang="en-US" sz="1400" b="0" i="0">
                          <a:latin typeface="Cambria Math" panose="02040503050406030204" pitchFamily="18" charset="0"/>
                        </a:rPr>
                        <m:t>= </m:t>
                      </m:r>
                      <m:d>
                        <m:dPr>
                          <m:begChr m:val="["/>
                          <m:endChr m:val="]"/>
                          <m:ctrlPr>
                            <a:rPr lang="en-US" sz="1400" b="0" i="1">
                              <a:latin typeface="Cambria Math" panose="02040503050406030204" pitchFamily="18" charset="0"/>
                            </a:rPr>
                          </m:ctrlPr>
                        </m:dPr>
                        <m:e>
                          <m:m>
                            <m:mPr>
                              <m:mcs>
                                <m:mc>
                                  <m:mcPr>
                                    <m:count m:val="6"/>
                                    <m:mcJc m:val="center"/>
                                  </m:mcPr>
                                </m:mc>
                              </m:mcs>
                              <m:ctrlPr>
                                <a:rPr lang="en-US" sz="1400" b="0" i="1">
                                  <a:latin typeface="Cambria Math" panose="02040503050406030204" pitchFamily="18" charset="0"/>
                                </a:rPr>
                              </m:ctrlPr>
                            </m:mPr>
                            <m:mr>
                              <m:e>
                                <m:r>
                                  <a:rPr lang="en-US" sz="1400" b="0" i="0">
                                    <a:latin typeface="Cambria Math" panose="02040503050406030204" pitchFamily="18" charset="0"/>
                                  </a:rPr>
                                  <m:t>0.1738</m:t>
                                </m:r>
                              </m:e>
                              <m:e>
                                <m:r>
                                  <a:rPr lang="en-US" sz="1400" b="0" i="0">
                                    <a:latin typeface="Cambria Math" panose="02040503050406030204" pitchFamily="18" charset="0"/>
                                  </a:rPr>
                                  <m:t>−0.1738</m:t>
                                </m:r>
                              </m:e>
                              <m:e>
                                <m:r>
                                  <a:rPr lang="en-US" sz="1400" b="0" i="0">
                                    <a:latin typeface="Cambria Math" panose="02040503050406030204" pitchFamily="18" charset="0"/>
                                  </a:rPr>
                                  <m:t>−0.0884</m:t>
                                </m:r>
                              </m:e>
                              <m:e>
                                <m:r>
                                  <a:rPr lang="en-US" sz="1400" b="0" i="0">
                                    <a:latin typeface="Cambria Math" panose="02040503050406030204" pitchFamily="18" charset="0"/>
                                  </a:rPr>
                                  <m:t>0.0869</m:t>
                                </m:r>
                              </m:e>
                              <m:e>
                                <m:r>
                                  <a:rPr lang="en-US" sz="1400" b="0" i="0">
                                    <a:latin typeface="Cambria Math" panose="02040503050406030204" pitchFamily="18" charset="0"/>
                                  </a:rPr>
                                  <m:t>0.0877</m:t>
                                </m:r>
                              </m:e>
                              <m:e>
                                <m:r>
                                  <a:rPr lang="en-US" sz="1400" b="0" i="0">
                                    <a:latin typeface="Cambria Math" panose="02040503050406030204" pitchFamily="18" charset="0"/>
                                  </a:rPr>
                                  <m:t>−0.0875</m:t>
                                </m:r>
                              </m:e>
                            </m:mr>
                            <m:mr>
                              <m:e>
                                <m:r>
                                  <a:rPr lang="en-US" sz="1400" b="0" i="0">
                                    <a:latin typeface="Cambria Math" panose="02040503050406030204" pitchFamily="18" charset="0"/>
                                  </a:rPr>
                                  <m:t>−0.0001</m:t>
                                </m:r>
                              </m:e>
                              <m:e>
                                <m:r>
                                  <a:rPr lang="en-US" sz="1400" b="0" i="0">
                                    <a:latin typeface="Cambria Math" panose="02040503050406030204" pitchFamily="18" charset="0"/>
                                  </a:rPr>
                                  <m:t>−0.0003</m:t>
                                </m:r>
                              </m:e>
                              <m:e>
                                <m:r>
                                  <a:rPr lang="en-US" sz="1400" b="0" i="0">
                                    <a:latin typeface="Cambria Math" panose="02040503050406030204" pitchFamily="18" charset="0"/>
                                  </a:rPr>
                                  <m:t>0.1523</m:t>
                                </m:r>
                              </m:e>
                              <m:e>
                                <m:r>
                                  <a:rPr lang="en-US" sz="1400" b="0" i="0">
                                    <a:latin typeface="Cambria Math" panose="02040503050406030204" pitchFamily="18" charset="0"/>
                                  </a:rPr>
                                  <m:t>−0.1519</m:t>
                                </m:r>
                              </m:e>
                              <m:e>
                                <m:r>
                                  <a:rPr lang="en-US" sz="1400" b="0" i="0">
                                    <a:latin typeface="Cambria Math" panose="02040503050406030204" pitchFamily="18" charset="0"/>
                                  </a:rPr>
                                  <m:t>0.1530</m:t>
                                </m:r>
                              </m:e>
                              <m:e>
                                <m:r>
                                  <a:rPr lang="en-US" sz="1400" b="0" i="0">
                                    <a:latin typeface="Cambria Math" panose="02040503050406030204" pitchFamily="18" charset="0"/>
                                  </a:rPr>
                                  <m:t>−0.1514</m:t>
                                </m:r>
                              </m:e>
                            </m:mr>
                            <m:mr>
                              <m:e>
                                <m:r>
                                  <a:rPr lang="en-US" sz="1400" b="0" i="0">
                                    <a:latin typeface="Cambria Math" panose="02040503050406030204" pitchFamily="18" charset="0"/>
                                  </a:rPr>
                                  <m:t>0.2472</m:t>
                                </m:r>
                              </m:e>
                              <m:e>
                                <m:r>
                                  <a:rPr lang="en-US" sz="1400" b="0" i="0">
                                    <a:latin typeface="Cambria Math" panose="02040503050406030204" pitchFamily="18" charset="0"/>
                                  </a:rPr>
                                  <m:t>−0.2479</m:t>
                                </m:r>
                              </m:e>
                              <m:e>
                                <m:r>
                                  <a:rPr lang="en-US" sz="1400" b="0" i="0">
                                    <a:latin typeface="Cambria Math" panose="02040503050406030204" pitchFamily="18" charset="0"/>
                                  </a:rPr>
                                  <m:t>0.2472</m:t>
                                </m:r>
                              </m:e>
                              <m:e>
                                <m:r>
                                  <a:rPr lang="en-US" sz="1400" b="0" i="0">
                                    <a:latin typeface="Cambria Math" panose="02040503050406030204" pitchFamily="18" charset="0"/>
                                  </a:rPr>
                                  <m:t>−0.2477</m:t>
                                </m:r>
                              </m:e>
                              <m:e>
                                <m:r>
                                  <a:rPr lang="en-US" sz="1400" b="0" i="0">
                                    <a:latin typeface="Cambria Math" panose="02040503050406030204" pitchFamily="18" charset="0"/>
                                  </a:rPr>
                                  <m:t>−0.2479</m:t>
                                </m:r>
                              </m:e>
                              <m:e>
                                <m:r>
                                  <a:rPr lang="en-US" sz="1400" b="0" i="0">
                                    <a:latin typeface="Cambria Math" panose="02040503050406030204" pitchFamily="18" charset="0"/>
                                  </a:rPr>
                                  <m:t>0.2468</m:t>
                                </m:r>
                              </m:e>
                            </m:mr>
                          </m:m>
                        </m:e>
                      </m:d>
                    </m:oMath>
                  </m:oMathPara>
                </a14:m>
                <a:endParaRPr dirty="0"/>
              </a:p>
            </p:txBody>
          </p:sp>
        </mc:Choice>
        <mc:Fallback xmlns="">
          <p:sp>
            <p:nvSpPr>
              <p:cNvPr id="43" name="S7_ZP_em"/>
              <p:cNvSpPr txBox="1">
                <a:spLocks noRot="1" noChangeAspect="1" noMove="1" noResize="1" noEditPoints="1" noAdjustHandles="1" noChangeArrowheads="1" noChangeShapeType="1" noTextEdit="1"/>
              </p:cNvSpPr>
              <p:nvPr/>
            </p:nvSpPr>
            <p:spPr>
              <a:xfrm>
                <a:off x="358987" y="4781326"/>
                <a:ext cx="5212080" cy="603504"/>
              </a:xfrm>
              <a:prstGeom prst="rect">
                <a:avLst/>
              </a:prstGeom>
              <a:blipFill>
                <a:blip r:embed="rId6"/>
                <a:stretch>
                  <a:fillRect l="-2924" r="-198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21457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1" name="auto caption"/>
          <p:cNvSpPr txBox="1"/>
          <p:nvPr/>
        </p:nvSpPr>
        <p:spPr>
          <a:xfrm>
            <a:off x="333587" y="743604"/>
            <a:ext cx="11155680" cy="698888"/>
          </a:xfrm>
          <a:prstGeom prst="rect">
            <a:avLst/>
          </a:prstGeom>
          <a:noFill/>
        </p:spPr>
        <p:txBody>
          <a:bodyPr wrap="square" rtlCol="0">
            <a:noAutofit/>
          </a:bodyPr>
          <a:lstStyle/>
          <a:p>
            <a:pPr marL="285750" indent="-285750">
              <a:buFont typeface="Arial" panose="020B0604020202020204" pitchFamily="34" charset="0"/>
              <a:buChar char="•"/>
            </a:pPr>
            <a:endParaRPr lang="en-US" altLang="zh-TW" sz="1600" dirty="0"/>
          </a:p>
        </p:txBody>
      </p:sp>
      <p:sp>
        <p:nvSpPr>
          <p:cNvPr id="3" name="矩形 2">
            <a:extLst>
              <a:ext uri="{FF2B5EF4-FFF2-40B4-BE49-F238E27FC236}">
                <a16:creationId xmlns:a16="http://schemas.microsoft.com/office/drawing/2014/main" id="{C3046914-2045-479F-9241-9100E1B02C7D}"/>
              </a:ext>
            </a:extLst>
          </p:cNvPr>
          <p:cNvSpPr/>
          <p:nvPr/>
        </p:nvSpPr>
        <p:spPr>
          <a:xfrm>
            <a:off x="3191932" y="5951913"/>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1" name="群組 10">
            <a:extLst>
              <a:ext uri="{FF2B5EF4-FFF2-40B4-BE49-F238E27FC236}">
                <a16:creationId xmlns:a16="http://schemas.microsoft.com/office/drawing/2014/main" id="{D684184F-0516-446A-BA3D-902E29567EB0}"/>
              </a:ext>
            </a:extLst>
          </p:cNvPr>
          <p:cNvGrpSpPr/>
          <p:nvPr/>
        </p:nvGrpSpPr>
        <p:grpSpPr>
          <a:xfrm>
            <a:off x="108627" y="2424742"/>
            <a:ext cx="5016701" cy="2235853"/>
            <a:chOff x="59189" y="3800282"/>
            <a:chExt cx="5016701" cy="2235853"/>
          </a:xfrm>
        </p:grpSpPr>
        <p:pic>
          <p:nvPicPr>
            <p:cNvPr id="5" name="圖片 4">
              <a:extLst>
                <a:ext uri="{FF2B5EF4-FFF2-40B4-BE49-F238E27FC236}">
                  <a16:creationId xmlns:a16="http://schemas.microsoft.com/office/drawing/2014/main" id="{8D6056DB-2D26-47D9-9C5D-38D1978C16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116" y="3800282"/>
              <a:ext cx="4931774" cy="2052243"/>
            </a:xfrm>
            <a:prstGeom prst="rect">
              <a:avLst/>
            </a:prstGeom>
          </p:spPr>
        </p:pic>
        <p:grpSp>
          <p:nvGrpSpPr>
            <p:cNvPr id="20" name="群組 19">
              <a:extLst>
                <a:ext uri="{FF2B5EF4-FFF2-40B4-BE49-F238E27FC236}">
                  <a16:creationId xmlns:a16="http://schemas.microsoft.com/office/drawing/2014/main" id="{06015091-5680-4CA7-94EE-CCD4D232374B}"/>
                </a:ext>
              </a:extLst>
            </p:cNvPr>
            <p:cNvGrpSpPr/>
            <p:nvPr/>
          </p:nvGrpSpPr>
          <p:grpSpPr>
            <a:xfrm>
              <a:off x="59189" y="4103892"/>
              <a:ext cx="5015628" cy="1932243"/>
              <a:chOff x="2541946" y="4070835"/>
              <a:chExt cx="4588471" cy="1707073"/>
            </a:xfrm>
          </p:grpSpPr>
          <p:grpSp>
            <p:nvGrpSpPr>
              <p:cNvPr id="19" name="群組 18">
                <a:extLst>
                  <a:ext uri="{FF2B5EF4-FFF2-40B4-BE49-F238E27FC236}">
                    <a16:creationId xmlns:a16="http://schemas.microsoft.com/office/drawing/2014/main" id="{61BCF2E1-081B-4366-95C9-547A338F5AA5}"/>
                  </a:ext>
                </a:extLst>
              </p:cNvPr>
              <p:cNvGrpSpPr/>
              <p:nvPr/>
            </p:nvGrpSpPr>
            <p:grpSpPr>
              <a:xfrm>
                <a:off x="2609228" y="4206736"/>
                <a:ext cx="4521189" cy="1571172"/>
                <a:chOff x="2609228" y="4206736"/>
                <a:chExt cx="4521189" cy="1571172"/>
              </a:xfrm>
            </p:grpSpPr>
            <p:sp>
              <p:nvSpPr>
                <p:cNvPr id="9" name="矩形 8">
                  <a:extLst>
                    <a:ext uri="{FF2B5EF4-FFF2-40B4-BE49-F238E27FC236}">
                      <a16:creationId xmlns:a16="http://schemas.microsoft.com/office/drawing/2014/main" id="{F5B0EBB1-6AB8-48EE-BC7C-3B87A1F01F92}"/>
                    </a:ext>
                  </a:extLst>
                </p:cNvPr>
                <p:cNvSpPr/>
                <p:nvPr/>
              </p:nvSpPr>
              <p:spPr>
                <a:xfrm rot="16200000">
                  <a:off x="4558192" y="4609270"/>
                  <a:ext cx="950411" cy="1453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矩形 20">
                  <a:extLst>
                    <a:ext uri="{FF2B5EF4-FFF2-40B4-BE49-F238E27FC236}">
                      <a16:creationId xmlns:a16="http://schemas.microsoft.com/office/drawing/2014/main" id="{B39A8314-EAC6-4F5A-BED0-BFEBA3939728}"/>
                    </a:ext>
                  </a:extLst>
                </p:cNvPr>
                <p:cNvSpPr/>
                <p:nvPr/>
              </p:nvSpPr>
              <p:spPr>
                <a:xfrm>
                  <a:off x="5085716" y="5468474"/>
                  <a:ext cx="2044701" cy="309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 name="矩形 21">
                  <a:extLst>
                    <a:ext uri="{FF2B5EF4-FFF2-40B4-BE49-F238E27FC236}">
                      <a16:creationId xmlns:a16="http://schemas.microsoft.com/office/drawing/2014/main" id="{89AC422D-71C0-4090-ABCE-0B69D83E54AC}"/>
                    </a:ext>
                  </a:extLst>
                </p:cNvPr>
                <p:cNvSpPr/>
                <p:nvPr/>
              </p:nvSpPr>
              <p:spPr>
                <a:xfrm>
                  <a:off x="2884080" y="5497441"/>
                  <a:ext cx="2076646" cy="2154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矩形 22">
                  <a:extLst>
                    <a:ext uri="{FF2B5EF4-FFF2-40B4-BE49-F238E27FC236}">
                      <a16:creationId xmlns:a16="http://schemas.microsoft.com/office/drawing/2014/main" id="{3EA903BB-C827-4FD7-88CD-461937614CB9}"/>
                    </a:ext>
                  </a:extLst>
                </p:cNvPr>
                <p:cNvSpPr/>
                <p:nvPr/>
              </p:nvSpPr>
              <p:spPr>
                <a:xfrm rot="5400000">
                  <a:off x="2231245" y="4632295"/>
                  <a:ext cx="879730" cy="1237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1487081C-210E-415F-A6F2-E8AE31E2131C}"/>
                      </a:ext>
                    </a:extLst>
                  </p:cNvPr>
                  <p:cNvSpPr txBox="1"/>
                  <p:nvPr/>
                </p:nvSpPr>
                <p:spPr>
                  <a:xfrm>
                    <a:off x="2930613" y="5515469"/>
                    <a:ext cx="182569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smtClean="0">
                              <a:latin typeface="Cambria Math" panose="02040503050406030204" pitchFamily="18" charset="0"/>
                            </a:rPr>
                            <m:t>W</m:t>
                          </m:r>
                          <m:r>
                            <m:rPr>
                              <m:sty m:val="p"/>
                            </m:rPr>
                            <a:rPr lang="en-US" altLang="zh-TW" sz="1400" b="0" i="0" smtClean="0">
                              <a:latin typeface="Cambria Math" panose="02040503050406030204" pitchFamily="18" charset="0"/>
                            </a:rPr>
                            <m:t>orkspace</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radius</m:t>
                          </m:r>
                          <m:r>
                            <a:rPr lang="en-US" altLang="zh-TW" sz="1400" b="0" i="0" smtClean="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b="0" i="0" smtClean="0">
                              <a:latin typeface="Cambria Math" panose="02040503050406030204" pitchFamily="18" charset="0"/>
                            </a:rPr>
                            <m:t>)</m:t>
                          </m:r>
                        </m:oMath>
                      </m:oMathPara>
                    </a14:m>
                    <a:endParaRPr lang="zh-TW" altLang="en-US" sz="1400" dirty="0"/>
                  </a:p>
                </p:txBody>
              </p:sp>
            </mc:Choice>
            <mc:Fallback xmlns="">
              <p:sp>
                <p:nvSpPr>
                  <p:cNvPr id="10" name="文字方塊 9">
                    <a:extLst>
                      <a:ext uri="{FF2B5EF4-FFF2-40B4-BE49-F238E27FC236}">
                        <a16:creationId xmlns:a16="http://schemas.microsoft.com/office/drawing/2014/main" id="{1487081C-210E-415F-A6F2-E8AE31E2131C}"/>
                      </a:ext>
                    </a:extLst>
                  </p:cNvPr>
                  <p:cNvSpPr txBox="1">
                    <a:spLocks noRot="1" noChangeAspect="1" noMove="1" noResize="1" noEditPoints="1" noAdjustHandles="1" noChangeArrowheads="1" noChangeShapeType="1" noTextEdit="1"/>
                  </p:cNvSpPr>
                  <p:nvPr/>
                </p:nvSpPr>
                <p:spPr>
                  <a:xfrm>
                    <a:off x="2930613" y="5515469"/>
                    <a:ext cx="1825693" cy="215444"/>
                  </a:xfrm>
                  <a:prstGeom prst="rect">
                    <a:avLst/>
                  </a:prstGeom>
                  <a:blipFill>
                    <a:blip r:embed="rId3"/>
                    <a:stretch>
                      <a:fillRect b="-17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601D18A8-F93B-4D42-A49A-87F8D1B61E60}"/>
                      </a:ext>
                    </a:extLst>
                  </p:cNvPr>
                  <p:cNvSpPr txBox="1"/>
                  <p:nvPr/>
                </p:nvSpPr>
                <p:spPr>
                  <a:xfrm>
                    <a:off x="5195219" y="5481357"/>
                    <a:ext cx="182569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a:latin typeface="Cambria Math" panose="02040503050406030204" pitchFamily="18" charset="0"/>
                            </a:rPr>
                            <m:t>W</m:t>
                          </m:r>
                          <m:r>
                            <m:rPr>
                              <m:sty m:val="p"/>
                            </m:rPr>
                            <a:rPr lang="en-US" altLang="zh-TW" sz="1400">
                              <a:latin typeface="Cambria Math" panose="02040503050406030204" pitchFamily="18" charset="0"/>
                            </a:rPr>
                            <m:t>orkspace</m:t>
                          </m:r>
                          <m:r>
                            <a:rPr lang="en-US" altLang="zh-TW" sz="1400">
                              <a:latin typeface="Cambria Math" panose="02040503050406030204" pitchFamily="18" charset="0"/>
                            </a:rPr>
                            <m:t> </m:t>
                          </m:r>
                          <m:r>
                            <m:rPr>
                              <m:sty m:val="p"/>
                            </m:rPr>
                            <a:rPr lang="en-US" altLang="zh-TW" sz="1400">
                              <a:latin typeface="Cambria Math" panose="02040503050406030204" pitchFamily="18" charset="0"/>
                            </a:rPr>
                            <m:t>radius</m:t>
                          </m:r>
                          <m:r>
                            <a:rPr lang="en-US" altLang="zh-TW" sz="140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a:latin typeface="Cambria Math" panose="02040503050406030204" pitchFamily="18" charset="0"/>
                            </a:rPr>
                            <m:t>)</m:t>
                          </m:r>
                        </m:oMath>
                      </m:oMathPara>
                    </a14:m>
                    <a:endParaRPr lang="zh-TW" altLang="en-US" sz="1400" dirty="0"/>
                  </a:p>
                </p:txBody>
              </p:sp>
            </mc:Choice>
            <mc:Fallback xmlns="">
              <p:sp>
                <p:nvSpPr>
                  <p:cNvPr id="13" name="文字方塊 12">
                    <a:extLst>
                      <a:ext uri="{FF2B5EF4-FFF2-40B4-BE49-F238E27FC236}">
                        <a16:creationId xmlns:a16="http://schemas.microsoft.com/office/drawing/2014/main" id="{601D18A8-F93B-4D42-A49A-87F8D1B61E60}"/>
                      </a:ext>
                    </a:extLst>
                  </p:cNvPr>
                  <p:cNvSpPr txBox="1">
                    <a:spLocks noRot="1" noChangeAspect="1" noMove="1" noResize="1" noEditPoints="1" noAdjustHandles="1" noChangeArrowheads="1" noChangeShapeType="1" noTextEdit="1"/>
                  </p:cNvSpPr>
                  <p:nvPr/>
                </p:nvSpPr>
                <p:spPr>
                  <a:xfrm>
                    <a:off x="5195219" y="5481357"/>
                    <a:ext cx="1825693" cy="215444"/>
                  </a:xfrm>
                  <a:prstGeom prst="rect">
                    <a:avLst/>
                  </a:prstGeom>
                  <a:blipFill>
                    <a:blip r:embed="rId4"/>
                    <a:stretch>
                      <a:fillRect b="-17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C7094952-35E6-43E5-BE17-A85B6FDD4727}"/>
                      </a:ext>
                    </a:extLst>
                  </p:cNvPr>
                  <p:cNvSpPr txBox="1"/>
                  <p:nvPr/>
                </p:nvSpPr>
                <p:spPr>
                  <a:xfrm rot="16200000">
                    <a:off x="2049275" y="4563506"/>
                    <a:ext cx="1192585" cy="2072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16" name="文字方塊 15">
                    <a:extLst>
                      <a:ext uri="{FF2B5EF4-FFF2-40B4-BE49-F238E27FC236}">
                        <a16:creationId xmlns:a16="http://schemas.microsoft.com/office/drawing/2014/main" id="{C7094952-35E6-43E5-BE17-A85B6FDD4727}"/>
                      </a:ext>
                    </a:extLst>
                  </p:cNvPr>
                  <p:cNvSpPr txBox="1">
                    <a:spLocks noRot="1" noChangeAspect="1" noMove="1" noResize="1" noEditPoints="1" noAdjustHandles="1" noChangeArrowheads="1" noChangeShapeType="1" noTextEdit="1"/>
                  </p:cNvSpPr>
                  <p:nvPr/>
                </p:nvSpPr>
                <p:spPr>
                  <a:xfrm rot="16200000">
                    <a:off x="2049275" y="4563506"/>
                    <a:ext cx="1192585" cy="207244"/>
                  </a:xfrm>
                  <a:prstGeom prst="rect">
                    <a:avLst/>
                  </a:prstGeom>
                  <a:blipFill>
                    <a:blip r:embed="rId5"/>
                    <a:stretch>
                      <a:fillRect l="-27027" r="-297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CF01E71D-583C-4777-894D-8568132157A9}"/>
                      </a:ext>
                    </a:extLst>
                  </p:cNvPr>
                  <p:cNvSpPr txBox="1"/>
                  <p:nvPr/>
                </p:nvSpPr>
                <p:spPr>
                  <a:xfrm rot="16200000">
                    <a:off x="4520346" y="4551353"/>
                    <a:ext cx="950408" cy="2210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17" name="文字方塊 16">
                    <a:extLst>
                      <a:ext uri="{FF2B5EF4-FFF2-40B4-BE49-F238E27FC236}">
                        <a16:creationId xmlns:a16="http://schemas.microsoft.com/office/drawing/2014/main" id="{CF01E71D-583C-4777-894D-8568132157A9}"/>
                      </a:ext>
                    </a:extLst>
                  </p:cNvPr>
                  <p:cNvSpPr txBox="1">
                    <a:spLocks noRot="1" noChangeAspect="1" noMove="1" noResize="1" noEditPoints="1" noAdjustHandles="1" noChangeArrowheads="1" noChangeShapeType="1" noTextEdit="1"/>
                  </p:cNvSpPr>
                  <p:nvPr/>
                </p:nvSpPr>
                <p:spPr>
                  <a:xfrm rot="16200000">
                    <a:off x="4520346" y="4551353"/>
                    <a:ext cx="950408" cy="221040"/>
                  </a:xfrm>
                  <a:prstGeom prst="rect">
                    <a:avLst/>
                  </a:prstGeom>
                  <a:blipFill>
                    <a:blip r:embed="rId6"/>
                    <a:stretch>
                      <a:fillRect l="-133333" t="-28409" r="-217949"/>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B9E37473-7A2F-4A05-A742-3A32544C9789}"/>
                  </a:ext>
                </a:extLst>
              </p:cNvPr>
              <p:cNvSpPr txBox="1"/>
              <p:nvPr/>
            </p:nvSpPr>
            <p:spPr>
              <a:xfrm>
                <a:off x="0" y="574720"/>
                <a:ext cx="11722945" cy="1782667"/>
              </a:xfrm>
              <a:prstGeom prst="rect">
                <a:avLst/>
              </a:prstGeom>
              <a:noFill/>
            </p:spPr>
            <p:txBody>
              <a:bodyPr wrap="square">
                <a:spAutoFit/>
              </a:bodyPr>
              <a:lstStyle/>
              <a:p>
                <a:pPr marL="285750" indent="-285750">
                  <a:buFont typeface="Wingdings" panose="05000000000000000000" pitchFamily="2" charset="2"/>
                  <a:buChar char="l"/>
                </a:pPr>
                <a:r>
                  <a:rPr lang="en-US" altLang="zh-TW" dirty="0"/>
                  <a:t>This figure shows the trends of the calibration results for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r>
                          <a:rPr lang="en-US" altLang="zh-TW" b="0" i="1" smtClean="0">
                            <a:latin typeface="Cambria Math" panose="02040503050406030204" pitchFamily="18" charset="0"/>
                            <a:ea typeface="Cambria Math" panose="02040503050406030204" pitchFamily="18" charset="0"/>
                          </a:rPr>
                          <m:t> </m:t>
                        </m:r>
                      </m:e>
                    </m:acc>
                  </m:oMath>
                </a14:m>
                <a:r>
                  <a:rPr lang="en-US" altLang="zh-TW" dirty="0"/>
                  <a:t>and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r>
                  <a:rPr lang="en-US" altLang="zh-TW" dirty="0"/>
                  <a:t> for </a:t>
                </a:r>
                <a:r>
                  <a:rPr lang="en-US" altLang="zh-TW" b="1" dirty="0"/>
                  <a:t>Long-Fei and </a:t>
                </a:r>
                <a:r>
                  <a:rPr lang="en-US" altLang="zh-TW" b="1" dirty="0" err="1"/>
                  <a:t>Zhi</a:t>
                </a:r>
                <a:r>
                  <a:rPr lang="en-US" altLang="zh-TW" b="1" dirty="0"/>
                  <a:t>-Peng</a:t>
                </a:r>
                <a:r>
                  <a:rPr lang="en-US" altLang="zh-TW" dirty="0"/>
                  <a:t>, using the </a:t>
                </a:r>
                <a:r>
                  <a:rPr lang="en-US" altLang="zh-TW" b="1" dirty="0"/>
                  <a:t>minimum number of points required for each working range</a:t>
                </a:r>
                <a:r>
                  <a:rPr lang="en-US" altLang="zh-TW" dirty="0"/>
                  <a:t>.</a:t>
                </a:r>
              </a:p>
              <a:p>
                <a:pPr marL="285750" indent="-285750">
                  <a:buFont typeface="Wingdings" panose="05000000000000000000" pitchFamily="2" charset="2"/>
                  <a:buChar char="l"/>
                </a:pPr>
                <a:r>
                  <a:rPr lang="en-US" altLang="zh-TW" dirty="0"/>
                  <a:t>If no convergence point can be found within a given range for either the </a:t>
                </a:r>
                <a:r>
                  <a:rPr lang="en-US" altLang="zh-TW" b="1" dirty="0"/>
                  <a:t>single-parameter model</a:t>
                </a:r>
                <a:r>
                  <a:rPr lang="en-US" altLang="zh-TW" dirty="0"/>
                  <a:t> or the </a:t>
                </a:r>
                <a:r>
                  <a:rPr lang="en-US" altLang="zh-TW" b="1" dirty="0"/>
                  <a:t>eighteen-parameter model</a:t>
                </a:r>
                <a:r>
                  <a:rPr lang="en-US" altLang="zh-TW" dirty="0"/>
                  <a:t>, all nodes within that range are used for calibration instead. </a:t>
                </a:r>
                <a:r>
                  <a:rPr lang="en-US" altLang="zh-TW" b="1" dirty="0"/>
                  <a:t>This is used only to illustrate the trend, and the values within that range are not used as a basis for calibration.</a:t>
                </a:r>
              </a:p>
              <a:p>
                <a:endParaRPr lang="en-US" altLang="zh-TW" b="1" dirty="0"/>
              </a:p>
            </p:txBody>
          </p:sp>
        </mc:Choice>
        <mc:Fallback xmlns="">
          <p:sp>
            <p:nvSpPr>
              <p:cNvPr id="24" name="文字方塊 23">
                <a:extLst>
                  <a:ext uri="{FF2B5EF4-FFF2-40B4-BE49-F238E27FC236}">
                    <a16:creationId xmlns:a16="http://schemas.microsoft.com/office/drawing/2014/main" id="{B9E37473-7A2F-4A05-A742-3A32544C9789}"/>
                  </a:ext>
                </a:extLst>
              </p:cNvPr>
              <p:cNvSpPr txBox="1">
                <a:spLocks noRot="1" noChangeAspect="1" noMove="1" noResize="1" noEditPoints="1" noAdjustHandles="1" noChangeArrowheads="1" noChangeShapeType="1" noTextEdit="1"/>
              </p:cNvSpPr>
              <p:nvPr/>
            </p:nvSpPr>
            <p:spPr>
              <a:xfrm>
                <a:off x="0" y="574720"/>
                <a:ext cx="11722945" cy="1782667"/>
              </a:xfrm>
              <a:prstGeom prst="rect">
                <a:avLst/>
              </a:prstGeom>
              <a:blipFill>
                <a:blip r:embed="rId7"/>
                <a:stretch>
                  <a:fillRect l="-312" t="-341"/>
                </a:stretch>
              </a:blipFill>
            </p:spPr>
            <p:txBody>
              <a:bodyPr/>
              <a:lstStyle/>
              <a:p>
                <a:r>
                  <a:rPr lang="zh-TW" altLang="en-US">
                    <a:noFill/>
                  </a:rPr>
                  <a:t> </a:t>
                </a:r>
              </a:p>
            </p:txBody>
          </p:sp>
        </mc:Fallback>
      </mc:AlternateContent>
      <p:sp>
        <p:nvSpPr>
          <p:cNvPr id="25" name="文字方塊 24">
            <a:extLst>
              <a:ext uri="{FF2B5EF4-FFF2-40B4-BE49-F238E27FC236}">
                <a16:creationId xmlns:a16="http://schemas.microsoft.com/office/drawing/2014/main" id="{8A1506DC-3DFA-49FB-A652-CF9232BDCE5B}"/>
              </a:ext>
            </a:extLst>
          </p:cNvPr>
          <p:cNvSpPr txBox="1"/>
          <p:nvPr/>
        </p:nvSpPr>
        <p:spPr>
          <a:xfrm>
            <a:off x="98082" y="2006086"/>
            <a:ext cx="292601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Long</a:t>
            </a:r>
            <a:endParaRPr lang="zh-TW" altLang="en-US" dirty="0"/>
          </a:p>
        </p:txBody>
      </p:sp>
      <p:sp>
        <p:nvSpPr>
          <p:cNvPr id="26" name="文字方塊 25">
            <a:extLst>
              <a:ext uri="{FF2B5EF4-FFF2-40B4-BE49-F238E27FC236}">
                <a16:creationId xmlns:a16="http://schemas.microsoft.com/office/drawing/2014/main" id="{B1117A74-E07B-4040-B287-EBE1D09422F7}"/>
              </a:ext>
            </a:extLst>
          </p:cNvPr>
          <p:cNvSpPr txBox="1"/>
          <p:nvPr/>
        </p:nvSpPr>
        <p:spPr>
          <a:xfrm>
            <a:off x="5290852" y="1988055"/>
            <a:ext cx="292601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Zhi</a:t>
            </a:r>
            <a:r>
              <a:rPr lang="en-US" altLang="zh-TW" dirty="0"/>
              <a:t> </a:t>
            </a:r>
            <a:r>
              <a:rPr lang="en-US" altLang="zh-TW" dirty="0" err="1"/>
              <a:t>peng</a:t>
            </a:r>
            <a:endParaRPr lang="zh-TW" altLang="en-US" dirty="0"/>
          </a:p>
        </p:txBody>
      </p:sp>
      <p:grpSp>
        <p:nvGrpSpPr>
          <p:cNvPr id="12" name="群組 11">
            <a:extLst>
              <a:ext uri="{FF2B5EF4-FFF2-40B4-BE49-F238E27FC236}">
                <a16:creationId xmlns:a16="http://schemas.microsoft.com/office/drawing/2014/main" id="{479632A1-107D-44B5-AFD7-64681B4F513D}"/>
              </a:ext>
            </a:extLst>
          </p:cNvPr>
          <p:cNvGrpSpPr/>
          <p:nvPr/>
        </p:nvGrpSpPr>
        <p:grpSpPr>
          <a:xfrm>
            <a:off x="5859203" y="2367537"/>
            <a:ext cx="5312918" cy="2247687"/>
            <a:chOff x="5932935" y="3755207"/>
            <a:chExt cx="5312918" cy="2247687"/>
          </a:xfrm>
        </p:grpSpPr>
        <p:pic>
          <p:nvPicPr>
            <p:cNvPr id="7" name="圖片 6">
              <a:extLst>
                <a:ext uri="{FF2B5EF4-FFF2-40B4-BE49-F238E27FC236}">
                  <a16:creationId xmlns:a16="http://schemas.microsoft.com/office/drawing/2014/main" id="{FAD34CF7-9F43-4BD4-B163-34907DE4F6C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37401" y="3755207"/>
              <a:ext cx="5208452" cy="2167376"/>
            </a:xfrm>
            <a:prstGeom prst="rect">
              <a:avLst/>
            </a:prstGeom>
          </p:spPr>
        </p:pic>
        <p:grpSp>
          <p:nvGrpSpPr>
            <p:cNvPr id="30" name="群組 29">
              <a:extLst>
                <a:ext uri="{FF2B5EF4-FFF2-40B4-BE49-F238E27FC236}">
                  <a16:creationId xmlns:a16="http://schemas.microsoft.com/office/drawing/2014/main" id="{99E29170-BDE8-45BB-BB9C-94ADBE69F77B}"/>
                </a:ext>
              </a:extLst>
            </p:cNvPr>
            <p:cNvGrpSpPr/>
            <p:nvPr/>
          </p:nvGrpSpPr>
          <p:grpSpPr>
            <a:xfrm>
              <a:off x="5932935" y="4075850"/>
              <a:ext cx="5215184" cy="1927044"/>
              <a:chOff x="5969641" y="2856839"/>
              <a:chExt cx="5215184" cy="1927044"/>
            </a:xfrm>
          </p:grpSpPr>
          <p:grpSp>
            <p:nvGrpSpPr>
              <p:cNvPr id="29" name="群組 28">
                <a:extLst>
                  <a:ext uri="{FF2B5EF4-FFF2-40B4-BE49-F238E27FC236}">
                    <a16:creationId xmlns:a16="http://schemas.microsoft.com/office/drawing/2014/main" id="{78B83DBC-958B-4296-99D3-39147EB47BBC}"/>
                  </a:ext>
                </a:extLst>
              </p:cNvPr>
              <p:cNvGrpSpPr/>
              <p:nvPr/>
            </p:nvGrpSpPr>
            <p:grpSpPr>
              <a:xfrm>
                <a:off x="6041732" y="3092559"/>
                <a:ext cx="4999281" cy="1640342"/>
                <a:chOff x="6041732" y="3092559"/>
                <a:chExt cx="4999281" cy="1640342"/>
              </a:xfrm>
            </p:grpSpPr>
            <p:sp>
              <p:nvSpPr>
                <p:cNvPr id="28" name="矩形 27">
                  <a:extLst>
                    <a:ext uri="{FF2B5EF4-FFF2-40B4-BE49-F238E27FC236}">
                      <a16:creationId xmlns:a16="http://schemas.microsoft.com/office/drawing/2014/main" id="{A2E1A4B1-2FAB-4A01-9344-D9C1A234839B}"/>
                    </a:ext>
                  </a:extLst>
                </p:cNvPr>
                <p:cNvSpPr/>
                <p:nvPr/>
              </p:nvSpPr>
              <p:spPr>
                <a:xfrm>
                  <a:off x="6041732" y="3092559"/>
                  <a:ext cx="177800" cy="8803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64AD7295-A762-4DDB-ABCA-AC0546CF09E8}"/>
                    </a:ext>
                  </a:extLst>
                </p:cNvPr>
                <p:cNvSpPr/>
                <p:nvPr/>
              </p:nvSpPr>
              <p:spPr>
                <a:xfrm rot="5400000">
                  <a:off x="7372519" y="3796023"/>
                  <a:ext cx="161309" cy="17052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矩形 31">
                  <a:extLst>
                    <a:ext uri="{FF2B5EF4-FFF2-40B4-BE49-F238E27FC236}">
                      <a16:creationId xmlns:a16="http://schemas.microsoft.com/office/drawing/2014/main" id="{D646CE7E-99BA-4CE0-A636-6DC8B9E1C9B2}"/>
                    </a:ext>
                  </a:extLst>
                </p:cNvPr>
                <p:cNvSpPr/>
                <p:nvPr/>
              </p:nvSpPr>
              <p:spPr>
                <a:xfrm rot="5400000">
                  <a:off x="10041106" y="3732995"/>
                  <a:ext cx="147973" cy="1851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975E40F1-46D3-4536-9403-05CD76B172B7}"/>
                    </a:ext>
                  </a:extLst>
                </p:cNvPr>
                <p:cNvSpPr/>
                <p:nvPr/>
              </p:nvSpPr>
              <p:spPr>
                <a:xfrm>
                  <a:off x="8746069" y="3153826"/>
                  <a:ext cx="177800" cy="8001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34EE9EBD-9191-4518-8A53-87D33DB4E841}"/>
                      </a:ext>
                    </a:extLst>
                  </p:cNvPr>
                  <p:cNvSpPr txBox="1"/>
                  <p:nvPr/>
                </p:nvSpPr>
                <p:spPr>
                  <a:xfrm>
                    <a:off x="6496574" y="4540021"/>
                    <a:ext cx="1995653" cy="2438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a:latin typeface="Cambria Math" panose="02040503050406030204" pitchFamily="18" charset="0"/>
                            </a:rPr>
                            <m:t>W</m:t>
                          </m:r>
                          <m:r>
                            <m:rPr>
                              <m:sty m:val="p"/>
                            </m:rPr>
                            <a:rPr lang="en-US" altLang="zh-TW" sz="1400">
                              <a:latin typeface="Cambria Math" panose="02040503050406030204" pitchFamily="18" charset="0"/>
                            </a:rPr>
                            <m:t>orkspace</m:t>
                          </m:r>
                          <m:r>
                            <a:rPr lang="en-US" altLang="zh-TW" sz="1400">
                              <a:latin typeface="Cambria Math" panose="02040503050406030204" pitchFamily="18" charset="0"/>
                            </a:rPr>
                            <m:t> </m:t>
                          </m:r>
                          <m:r>
                            <m:rPr>
                              <m:sty m:val="p"/>
                            </m:rPr>
                            <a:rPr lang="en-US" altLang="zh-TW" sz="1400">
                              <a:latin typeface="Cambria Math" panose="02040503050406030204" pitchFamily="18" charset="0"/>
                            </a:rPr>
                            <m:t>radius</m:t>
                          </m:r>
                          <m:r>
                            <a:rPr lang="en-US" altLang="zh-TW" sz="140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a:latin typeface="Cambria Math" panose="02040503050406030204" pitchFamily="18" charset="0"/>
                            </a:rPr>
                            <m:t>)</m:t>
                          </m:r>
                        </m:oMath>
                      </m:oMathPara>
                    </a14:m>
                    <a:endParaRPr lang="zh-TW" altLang="en-US" sz="1400" dirty="0"/>
                  </a:p>
                </p:txBody>
              </p:sp>
            </mc:Choice>
            <mc:Fallback xmlns="">
              <p:sp>
                <p:nvSpPr>
                  <p:cNvPr id="35" name="文字方塊 34">
                    <a:extLst>
                      <a:ext uri="{FF2B5EF4-FFF2-40B4-BE49-F238E27FC236}">
                        <a16:creationId xmlns:a16="http://schemas.microsoft.com/office/drawing/2014/main" id="{34EE9EBD-9191-4518-8A53-87D33DB4E841}"/>
                      </a:ext>
                    </a:extLst>
                  </p:cNvPr>
                  <p:cNvSpPr txBox="1">
                    <a:spLocks noRot="1" noChangeAspect="1" noMove="1" noResize="1" noEditPoints="1" noAdjustHandles="1" noChangeArrowheads="1" noChangeShapeType="1" noTextEdit="1"/>
                  </p:cNvSpPr>
                  <p:nvPr/>
                </p:nvSpPr>
                <p:spPr>
                  <a:xfrm>
                    <a:off x="6496574" y="4540021"/>
                    <a:ext cx="1995653" cy="243862"/>
                  </a:xfrm>
                  <a:prstGeom prst="rect">
                    <a:avLst/>
                  </a:prstGeom>
                  <a:blipFill>
                    <a:blip r:embed="rId9"/>
                    <a:stretch>
                      <a:fillRect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C6F440E5-2FB8-4033-BA97-698A0B685A33}"/>
                      </a:ext>
                    </a:extLst>
                  </p:cNvPr>
                  <p:cNvSpPr txBox="1"/>
                  <p:nvPr/>
                </p:nvSpPr>
                <p:spPr>
                  <a:xfrm>
                    <a:off x="9189172" y="4515871"/>
                    <a:ext cx="1995653" cy="2438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a:latin typeface="Cambria Math" panose="02040503050406030204" pitchFamily="18" charset="0"/>
                            </a:rPr>
                            <m:t>W</m:t>
                          </m:r>
                          <m:r>
                            <m:rPr>
                              <m:sty m:val="p"/>
                            </m:rPr>
                            <a:rPr lang="en-US" altLang="zh-TW" sz="1400">
                              <a:latin typeface="Cambria Math" panose="02040503050406030204" pitchFamily="18" charset="0"/>
                            </a:rPr>
                            <m:t>orkspace</m:t>
                          </m:r>
                          <m:r>
                            <a:rPr lang="en-US" altLang="zh-TW" sz="1400">
                              <a:latin typeface="Cambria Math" panose="02040503050406030204" pitchFamily="18" charset="0"/>
                            </a:rPr>
                            <m:t> </m:t>
                          </m:r>
                          <m:r>
                            <m:rPr>
                              <m:sty m:val="p"/>
                            </m:rPr>
                            <a:rPr lang="en-US" altLang="zh-TW" sz="1400">
                              <a:latin typeface="Cambria Math" panose="02040503050406030204" pitchFamily="18" charset="0"/>
                            </a:rPr>
                            <m:t>radius</m:t>
                          </m:r>
                          <m:r>
                            <a:rPr lang="en-US" altLang="zh-TW" sz="140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a:latin typeface="Cambria Math" panose="02040503050406030204" pitchFamily="18" charset="0"/>
                            </a:rPr>
                            <m:t>)</m:t>
                          </m:r>
                        </m:oMath>
                      </m:oMathPara>
                    </a14:m>
                    <a:endParaRPr lang="zh-TW" altLang="en-US" sz="1400" dirty="0"/>
                  </a:p>
                </p:txBody>
              </p:sp>
            </mc:Choice>
            <mc:Fallback xmlns="">
              <p:sp>
                <p:nvSpPr>
                  <p:cNvPr id="36" name="文字方塊 35">
                    <a:extLst>
                      <a:ext uri="{FF2B5EF4-FFF2-40B4-BE49-F238E27FC236}">
                        <a16:creationId xmlns:a16="http://schemas.microsoft.com/office/drawing/2014/main" id="{C6F440E5-2FB8-4033-BA97-698A0B685A33}"/>
                      </a:ext>
                    </a:extLst>
                  </p:cNvPr>
                  <p:cNvSpPr txBox="1">
                    <a:spLocks noRot="1" noChangeAspect="1" noMove="1" noResize="1" noEditPoints="1" noAdjustHandles="1" noChangeArrowheads="1" noChangeShapeType="1" noTextEdit="1"/>
                  </p:cNvSpPr>
                  <p:nvPr/>
                </p:nvSpPr>
                <p:spPr>
                  <a:xfrm>
                    <a:off x="9189172" y="4515871"/>
                    <a:ext cx="1995653" cy="243862"/>
                  </a:xfrm>
                  <a:prstGeom prst="rect">
                    <a:avLst/>
                  </a:prstGeom>
                  <a:blipFill>
                    <a:blip r:embed="rId10"/>
                    <a:stretch>
                      <a:fillRect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212CB569-B16A-494F-B833-A667D8AEDD89}"/>
                      </a:ext>
                    </a:extLst>
                  </p:cNvPr>
                  <p:cNvSpPr txBox="1"/>
                  <p:nvPr/>
                </p:nvSpPr>
                <p:spPr>
                  <a:xfrm rot="16200000">
                    <a:off x="5418508" y="3407972"/>
                    <a:ext cx="1349892" cy="24762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37" name="文字方塊 36">
                    <a:extLst>
                      <a:ext uri="{FF2B5EF4-FFF2-40B4-BE49-F238E27FC236}">
                        <a16:creationId xmlns:a16="http://schemas.microsoft.com/office/drawing/2014/main" id="{212CB569-B16A-494F-B833-A667D8AEDD89}"/>
                      </a:ext>
                    </a:extLst>
                  </p:cNvPr>
                  <p:cNvSpPr txBox="1">
                    <a:spLocks noRot="1" noChangeAspect="1" noMove="1" noResize="1" noEditPoints="1" noAdjustHandles="1" noChangeArrowheads="1" noChangeShapeType="1" noTextEdit="1"/>
                  </p:cNvSpPr>
                  <p:nvPr/>
                </p:nvSpPr>
                <p:spPr>
                  <a:xfrm rot="16200000">
                    <a:off x="5418508" y="3407972"/>
                    <a:ext cx="1349892" cy="247626"/>
                  </a:xfrm>
                  <a:prstGeom prst="rect">
                    <a:avLst/>
                  </a:prstGeom>
                  <a:blipFill>
                    <a:blip r:embed="rId11"/>
                    <a:stretch>
                      <a:fillRect l="-21951" r="-1951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BF00F6D9-F022-45AB-8A84-EF2854F4829E}"/>
                      </a:ext>
                    </a:extLst>
                  </p:cNvPr>
                  <p:cNvSpPr txBox="1"/>
                  <p:nvPr/>
                </p:nvSpPr>
                <p:spPr>
                  <a:xfrm rot="16200000">
                    <a:off x="8265175" y="3455784"/>
                    <a:ext cx="1075771" cy="2416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38" name="文字方塊 37">
                    <a:extLst>
                      <a:ext uri="{FF2B5EF4-FFF2-40B4-BE49-F238E27FC236}">
                        <a16:creationId xmlns:a16="http://schemas.microsoft.com/office/drawing/2014/main" id="{BF00F6D9-F022-45AB-8A84-EF2854F4829E}"/>
                      </a:ext>
                    </a:extLst>
                  </p:cNvPr>
                  <p:cNvSpPr txBox="1">
                    <a:spLocks noRot="1" noChangeAspect="1" noMove="1" noResize="1" noEditPoints="1" noAdjustHandles="1" noChangeArrowheads="1" noChangeShapeType="1" noTextEdit="1"/>
                  </p:cNvSpPr>
                  <p:nvPr/>
                </p:nvSpPr>
                <p:spPr>
                  <a:xfrm rot="16200000">
                    <a:off x="8265175" y="3455784"/>
                    <a:ext cx="1075771" cy="241617"/>
                  </a:xfrm>
                  <a:prstGeom prst="rect">
                    <a:avLst/>
                  </a:prstGeom>
                  <a:blipFill>
                    <a:blip r:embed="rId12"/>
                    <a:stretch>
                      <a:fillRect l="-127500" t="-28249" r="-212500"/>
                    </a:stretch>
                  </a:blipFill>
                </p:spPr>
                <p:txBody>
                  <a:bodyPr/>
                  <a:lstStyle/>
                  <a:p>
                    <a:r>
                      <a:rPr lang="zh-TW" altLang="en-US">
                        <a:noFill/>
                      </a:rPr>
                      <a:t> </a:t>
                    </a:r>
                  </a:p>
                </p:txBody>
              </p:sp>
            </mc:Fallback>
          </mc:AlternateContent>
        </p:grpSp>
      </p:grpSp>
      <p:grpSp>
        <p:nvGrpSpPr>
          <p:cNvPr id="34" name="群組 33">
            <a:extLst>
              <a:ext uri="{FF2B5EF4-FFF2-40B4-BE49-F238E27FC236}">
                <a16:creationId xmlns:a16="http://schemas.microsoft.com/office/drawing/2014/main" id="{ED395140-2F89-4A43-8352-03E362EF374B}"/>
              </a:ext>
            </a:extLst>
          </p:cNvPr>
          <p:cNvGrpSpPr/>
          <p:nvPr/>
        </p:nvGrpSpPr>
        <p:grpSpPr>
          <a:xfrm>
            <a:off x="204189" y="4689703"/>
            <a:ext cx="4891817" cy="2145159"/>
            <a:chOff x="204189" y="4689703"/>
            <a:chExt cx="4891817" cy="2145159"/>
          </a:xfrm>
        </p:grpSpPr>
        <p:grpSp>
          <p:nvGrpSpPr>
            <p:cNvPr id="27" name="群組 26">
              <a:extLst>
                <a:ext uri="{FF2B5EF4-FFF2-40B4-BE49-F238E27FC236}">
                  <a16:creationId xmlns:a16="http://schemas.microsoft.com/office/drawing/2014/main" id="{F05D633A-1154-41A9-AD42-09300C639744}"/>
                </a:ext>
              </a:extLst>
            </p:cNvPr>
            <p:cNvGrpSpPr/>
            <p:nvPr/>
          </p:nvGrpSpPr>
          <p:grpSpPr>
            <a:xfrm>
              <a:off x="237090" y="4689703"/>
              <a:ext cx="4858916" cy="2087536"/>
              <a:chOff x="237090" y="4689703"/>
              <a:chExt cx="4858916" cy="2087536"/>
            </a:xfrm>
          </p:grpSpPr>
          <p:pic>
            <p:nvPicPr>
              <p:cNvPr id="14" name="圖片 13">
                <a:extLst>
                  <a:ext uri="{FF2B5EF4-FFF2-40B4-BE49-F238E27FC236}">
                    <a16:creationId xmlns:a16="http://schemas.microsoft.com/office/drawing/2014/main" id="{D1E906DD-442D-4088-8E6C-113DE4249B7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7459" y="4689703"/>
                <a:ext cx="4778547" cy="2023228"/>
              </a:xfrm>
              <a:prstGeom prst="rect">
                <a:avLst/>
              </a:prstGeom>
            </p:spPr>
          </p:pic>
          <p:sp>
            <p:nvSpPr>
              <p:cNvPr id="15" name="矩形 14">
                <a:extLst>
                  <a:ext uri="{FF2B5EF4-FFF2-40B4-BE49-F238E27FC236}">
                    <a16:creationId xmlns:a16="http://schemas.microsoft.com/office/drawing/2014/main" id="{20B8BC50-430A-4936-BB7D-48DBDF2BE9A5}"/>
                  </a:ext>
                </a:extLst>
              </p:cNvPr>
              <p:cNvSpPr/>
              <p:nvPr/>
            </p:nvSpPr>
            <p:spPr>
              <a:xfrm>
                <a:off x="812800" y="6565978"/>
                <a:ext cx="1625600" cy="1929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矩形 38">
                <a:extLst>
                  <a:ext uri="{FF2B5EF4-FFF2-40B4-BE49-F238E27FC236}">
                    <a16:creationId xmlns:a16="http://schemas.microsoft.com/office/drawing/2014/main" id="{37618DDE-DF4C-483E-955A-9E18C955EA15}"/>
                  </a:ext>
                </a:extLst>
              </p:cNvPr>
              <p:cNvSpPr/>
              <p:nvPr/>
            </p:nvSpPr>
            <p:spPr>
              <a:xfrm>
                <a:off x="3257001" y="6584244"/>
                <a:ext cx="1625600" cy="1929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F113C3D6-DD94-49BA-A3DC-4585A03F44B4}"/>
                  </a:ext>
                </a:extLst>
              </p:cNvPr>
              <p:cNvSpPr/>
              <p:nvPr/>
            </p:nvSpPr>
            <p:spPr>
              <a:xfrm rot="16200000">
                <a:off x="-479212" y="5604819"/>
                <a:ext cx="1625600" cy="1929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矩形 42">
                <a:extLst>
                  <a:ext uri="{FF2B5EF4-FFF2-40B4-BE49-F238E27FC236}">
                    <a16:creationId xmlns:a16="http://schemas.microsoft.com/office/drawing/2014/main" id="{89FB89B8-C435-4619-9F4A-9858CCDE4E60}"/>
                  </a:ext>
                </a:extLst>
              </p:cNvPr>
              <p:cNvSpPr/>
              <p:nvPr/>
            </p:nvSpPr>
            <p:spPr>
              <a:xfrm rot="16200000">
                <a:off x="2036279" y="5589616"/>
                <a:ext cx="1625600" cy="1929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50AAA30B-BCD0-43A6-AF09-8EBBBCE02656}"/>
                    </a:ext>
                  </a:extLst>
                </p:cNvPr>
                <p:cNvSpPr txBox="1"/>
                <p:nvPr/>
              </p:nvSpPr>
              <p:spPr>
                <a:xfrm>
                  <a:off x="623843" y="6591000"/>
                  <a:ext cx="1995653" cy="2438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smtClean="0">
                            <a:latin typeface="Cambria Math" panose="02040503050406030204" pitchFamily="18" charset="0"/>
                          </a:rPr>
                          <m:t>W</m:t>
                        </m:r>
                        <m:r>
                          <m:rPr>
                            <m:sty m:val="p"/>
                          </m:rPr>
                          <a:rPr lang="en-US" altLang="zh-TW" sz="1400" b="0" i="0" smtClean="0">
                            <a:latin typeface="Cambria Math" panose="02040503050406030204" pitchFamily="18" charset="0"/>
                          </a:rPr>
                          <m:t>orkspace</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radius</m:t>
                        </m:r>
                        <m:r>
                          <a:rPr lang="en-US" altLang="zh-TW" sz="1400" b="0" i="0" smtClean="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b="0" i="0" smtClean="0">
                            <a:latin typeface="Cambria Math" panose="02040503050406030204" pitchFamily="18" charset="0"/>
                          </a:rPr>
                          <m:t>)</m:t>
                        </m:r>
                      </m:oMath>
                    </m:oMathPara>
                  </a14:m>
                  <a:endParaRPr lang="zh-TW" altLang="en-US" sz="1400" dirty="0"/>
                </a:p>
              </p:txBody>
            </p:sp>
          </mc:Choice>
          <mc:Fallback xmlns="">
            <p:sp>
              <p:nvSpPr>
                <p:cNvPr id="48" name="文字方塊 47">
                  <a:extLst>
                    <a:ext uri="{FF2B5EF4-FFF2-40B4-BE49-F238E27FC236}">
                      <a16:creationId xmlns:a16="http://schemas.microsoft.com/office/drawing/2014/main" id="{50AAA30B-BCD0-43A6-AF09-8EBBBCE02656}"/>
                    </a:ext>
                  </a:extLst>
                </p:cNvPr>
                <p:cNvSpPr txBox="1">
                  <a:spLocks noRot="1" noChangeAspect="1" noMove="1" noResize="1" noEditPoints="1" noAdjustHandles="1" noChangeArrowheads="1" noChangeShapeType="1" noTextEdit="1"/>
                </p:cNvSpPr>
                <p:nvPr/>
              </p:nvSpPr>
              <p:spPr>
                <a:xfrm>
                  <a:off x="623843" y="6591000"/>
                  <a:ext cx="1995653" cy="243862"/>
                </a:xfrm>
                <a:prstGeom prst="rect">
                  <a:avLst/>
                </a:prstGeom>
                <a:blipFill>
                  <a:blip r:embed="rId14"/>
                  <a:stretch>
                    <a:fillRect b="-17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3BB39258-5069-40A5-9D52-6A8576C600E9}"/>
                    </a:ext>
                  </a:extLst>
                </p:cNvPr>
                <p:cNvSpPr txBox="1"/>
                <p:nvPr/>
              </p:nvSpPr>
              <p:spPr>
                <a:xfrm>
                  <a:off x="3076227" y="6571777"/>
                  <a:ext cx="1995653" cy="2438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smtClean="0">
                            <a:latin typeface="Cambria Math" panose="02040503050406030204" pitchFamily="18" charset="0"/>
                          </a:rPr>
                          <m:t>W</m:t>
                        </m:r>
                        <m:r>
                          <m:rPr>
                            <m:sty m:val="p"/>
                          </m:rPr>
                          <a:rPr lang="en-US" altLang="zh-TW" sz="1400" b="0" i="0" smtClean="0">
                            <a:latin typeface="Cambria Math" panose="02040503050406030204" pitchFamily="18" charset="0"/>
                          </a:rPr>
                          <m:t>orkspace</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radius</m:t>
                        </m:r>
                        <m:r>
                          <a:rPr lang="en-US" altLang="zh-TW" sz="1400" b="0" i="0" smtClean="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b="0" i="0" smtClean="0">
                            <a:latin typeface="Cambria Math" panose="02040503050406030204" pitchFamily="18" charset="0"/>
                          </a:rPr>
                          <m:t>)</m:t>
                        </m:r>
                      </m:oMath>
                    </m:oMathPara>
                  </a14:m>
                  <a:endParaRPr lang="zh-TW" altLang="en-US" sz="1400" dirty="0"/>
                </a:p>
              </p:txBody>
            </p:sp>
          </mc:Choice>
          <mc:Fallback xmlns="">
            <p:sp>
              <p:nvSpPr>
                <p:cNvPr id="49" name="文字方塊 48">
                  <a:extLst>
                    <a:ext uri="{FF2B5EF4-FFF2-40B4-BE49-F238E27FC236}">
                      <a16:creationId xmlns:a16="http://schemas.microsoft.com/office/drawing/2014/main" id="{3BB39258-5069-40A5-9D52-6A8576C600E9}"/>
                    </a:ext>
                  </a:extLst>
                </p:cNvPr>
                <p:cNvSpPr txBox="1">
                  <a:spLocks noRot="1" noChangeAspect="1" noMove="1" noResize="1" noEditPoints="1" noAdjustHandles="1" noChangeArrowheads="1" noChangeShapeType="1" noTextEdit="1"/>
                </p:cNvSpPr>
                <p:nvPr/>
              </p:nvSpPr>
              <p:spPr>
                <a:xfrm>
                  <a:off x="3076227" y="6571777"/>
                  <a:ext cx="1995653" cy="243862"/>
                </a:xfrm>
                <a:prstGeom prst="rect">
                  <a:avLst/>
                </a:prstGeom>
                <a:blipFill>
                  <a:blip r:embed="rId15"/>
                  <a:stretch>
                    <a:fillRect b="-17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E5C386B7-8B89-48F2-9937-6F3285728340}"/>
                    </a:ext>
                  </a:extLst>
                </p:cNvPr>
                <p:cNvSpPr txBox="1"/>
                <p:nvPr/>
              </p:nvSpPr>
              <p:spPr>
                <a:xfrm rot="16200000">
                  <a:off x="-357488" y="5528869"/>
                  <a:ext cx="1349892" cy="2265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51" name="文字方塊 50">
                  <a:extLst>
                    <a:ext uri="{FF2B5EF4-FFF2-40B4-BE49-F238E27FC236}">
                      <a16:creationId xmlns:a16="http://schemas.microsoft.com/office/drawing/2014/main" id="{E5C386B7-8B89-48F2-9937-6F3285728340}"/>
                    </a:ext>
                  </a:extLst>
                </p:cNvPr>
                <p:cNvSpPr txBox="1">
                  <a:spLocks noRot="1" noChangeAspect="1" noMove="1" noResize="1" noEditPoints="1" noAdjustHandles="1" noChangeArrowheads="1" noChangeShapeType="1" noTextEdit="1"/>
                </p:cNvSpPr>
                <p:nvPr/>
              </p:nvSpPr>
              <p:spPr>
                <a:xfrm rot="16200000">
                  <a:off x="-357488" y="5528869"/>
                  <a:ext cx="1349892" cy="226537"/>
                </a:xfrm>
                <a:prstGeom prst="rect">
                  <a:avLst/>
                </a:prstGeom>
                <a:blipFill>
                  <a:blip r:embed="rId5"/>
                  <a:stretch>
                    <a:fillRect l="-23684" r="-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2B7D7A71-9BD8-4176-A976-44CF15835D40}"/>
                    </a:ext>
                  </a:extLst>
                </p:cNvPr>
                <p:cNvSpPr txBox="1"/>
                <p:nvPr/>
              </p:nvSpPr>
              <p:spPr>
                <a:xfrm rot="16200000">
                  <a:off x="2322920" y="5565304"/>
                  <a:ext cx="1075771" cy="2416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52" name="文字方塊 51">
                  <a:extLst>
                    <a:ext uri="{FF2B5EF4-FFF2-40B4-BE49-F238E27FC236}">
                      <a16:creationId xmlns:a16="http://schemas.microsoft.com/office/drawing/2014/main" id="{2B7D7A71-9BD8-4176-A976-44CF15835D40}"/>
                    </a:ext>
                  </a:extLst>
                </p:cNvPr>
                <p:cNvSpPr txBox="1">
                  <a:spLocks noRot="1" noChangeAspect="1" noMove="1" noResize="1" noEditPoints="1" noAdjustHandles="1" noChangeArrowheads="1" noChangeShapeType="1" noTextEdit="1"/>
                </p:cNvSpPr>
                <p:nvPr/>
              </p:nvSpPr>
              <p:spPr>
                <a:xfrm rot="16200000">
                  <a:off x="2322920" y="5565304"/>
                  <a:ext cx="1075771" cy="241617"/>
                </a:xfrm>
                <a:prstGeom prst="rect">
                  <a:avLst/>
                </a:prstGeom>
                <a:blipFill>
                  <a:blip r:embed="rId16"/>
                  <a:stretch>
                    <a:fillRect l="-127500" t="-28977" r="-212500"/>
                  </a:stretch>
                </a:blipFill>
              </p:spPr>
              <p:txBody>
                <a:bodyPr/>
                <a:lstStyle/>
                <a:p>
                  <a:r>
                    <a:rPr lang="zh-TW" altLang="en-US">
                      <a:noFill/>
                    </a:rPr>
                    <a:t> </a:t>
                  </a:r>
                </a:p>
              </p:txBody>
            </p:sp>
          </mc:Fallback>
        </mc:AlternateContent>
      </p:grpSp>
      <p:grpSp>
        <p:nvGrpSpPr>
          <p:cNvPr id="58" name="群組 57">
            <a:extLst>
              <a:ext uri="{FF2B5EF4-FFF2-40B4-BE49-F238E27FC236}">
                <a16:creationId xmlns:a16="http://schemas.microsoft.com/office/drawing/2014/main" id="{592FD853-0A0D-43FC-A7F3-14438A0C1765}"/>
              </a:ext>
            </a:extLst>
          </p:cNvPr>
          <p:cNvGrpSpPr/>
          <p:nvPr/>
        </p:nvGrpSpPr>
        <p:grpSpPr>
          <a:xfrm>
            <a:off x="5848366" y="4660131"/>
            <a:ext cx="5395367" cy="2155508"/>
            <a:chOff x="5848366" y="4660131"/>
            <a:chExt cx="5395367" cy="2155508"/>
          </a:xfrm>
        </p:grpSpPr>
        <p:grpSp>
          <p:nvGrpSpPr>
            <p:cNvPr id="57" name="群組 56">
              <a:extLst>
                <a:ext uri="{FF2B5EF4-FFF2-40B4-BE49-F238E27FC236}">
                  <a16:creationId xmlns:a16="http://schemas.microsoft.com/office/drawing/2014/main" id="{5F139E38-F06E-4747-9C7A-32BAF79DAB69}"/>
                </a:ext>
              </a:extLst>
            </p:cNvPr>
            <p:cNvGrpSpPr/>
            <p:nvPr/>
          </p:nvGrpSpPr>
          <p:grpSpPr>
            <a:xfrm>
              <a:off x="5936650" y="4660131"/>
              <a:ext cx="5307083" cy="2083818"/>
              <a:chOff x="5936650" y="4660131"/>
              <a:chExt cx="5307083" cy="2083818"/>
            </a:xfrm>
          </p:grpSpPr>
          <p:pic>
            <p:nvPicPr>
              <p:cNvPr id="6" name="圖片 5">
                <a:extLst>
                  <a:ext uri="{FF2B5EF4-FFF2-40B4-BE49-F238E27FC236}">
                    <a16:creationId xmlns:a16="http://schemas.microsoft.com/office/drawing/2014/main" id="{6C592435-14FD-4422-9911-B7528C16CF94}"/>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963669" y="4660131"/>
                <a:ext cx="5280064" cy="2023228"/>
              </a:xfrm>
              <a:prstGeom prst="rect">
                <a:avLst/>
              </a:prstGeom>
            </p:spPr>
          </p:pic>
          <p:sp>
            <p:nvSpPr>
              <p:cNvPr id="44" name="矩形 43">
                <a:extLst>
                  <a:ext uri="{FF2B5EF4-FFF2-40B4-BE49-F238E27FC236}">
                    <a16:creationId xmlns:a16="http://schemas.microsoft.com/office/drawing/2014/main" id="{A682A24E-B898-4FF1-8B89-E135BD8BAD2D}"/>
                  </a:ext>
                </a:extLst>
              </p:cNvPr>
              <p:cNvSpPr/>
              <p:nvPr/>
            </p:nvSpPr>
            <p:spPr>
              <a:xfrm>
                <a:off x="6569761" y="6550954"/>
                <a:ext cx="1812028" cy="1929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ECE19ABF-ADC9-4CA2-9665-9414B860A4A8}"/>
                  </a:ext>
                </a:extLst>
              </p:cNvPr>
              <p:cNvSpPr/>
              <p:nvPr/>
            </p:nvSpPr>
            <p:spPr>
              <a:xfrm>
                <a:off x="9221203" y="6547544"/>
                <a:ext cx="1812028" cy="1929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7CDF3CF4-69FA-46FB-95ED-FDDB7F2A1707}"/>
                  </a:ext>
                </a:extLst>
              </p:cNvPr>
              <p:cNvSpPr/>
              <p:nvPr/>
            </p:nvSpPr>
            <p:spPr>
              <a:xfrm rot="16200000">
                <a:off x="5401143" y="5558595"/>
                <a:ext cx="1238102" cy="1670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B0B9C8EA-9711-46A3-8931-493E4D6C5E5D}"/>
                  </a:ext>
                </a:extLst>
              </p:cNvPr>
              <p:cNvSpPr/>
              <p:nvPr/>
            </p:nvSpPr>
            <p:spPr>
              <a:xfrm rot="16200000">
                <a:off x="8157114" y="5511765"/>
                <a:ext cx="1238102" cy="1670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5EDFF5F7-6E15-4EDA-A89A-917B6A007FA5}"/>
                    </a:ext>
                  </a:extLst>
                </p:cNvPr>
                <p:cNvSpPr txBox="1"/>
                <p:nvPr/>
              </p:nvSpPr>
              <p:spPr>
                <a:xfrm rot="16200000">
                  <a:off x="5286689" y="5490569"/>
                  <a:ext cx="1349892" cy="2265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50" name="文字方塊 49">
                  <a:extLst>
                    <a:ext uri="{FF2B5EF4-FFF2-40B4-BE49-F238E27FC236}">
                      <a16:creationId xmlns:a16="http://schemas.microsoft.com/office/drawing/2014/main" id="{5EDFF5F7-6E15-4EDA-A89A-917B6A007FA5}"/>
                    </a:ext>
                  </a:extLst>
                </p:cNvPr>
                <p:cNvSpPr txBox="1">
                  <a:spLocks noRot="1" noChangeAspect="1" noMove="1" noResize="1" noEditPoints="1" noAdjustHandles="1" noChangeArrowheads="1" noChangeShapeType="1" noTextEdit="1"/>
                </p:cNvSpPr>
                <p:nvPr/>
              </p:nvSpPr>
              <p:spPr>
                <a:xfrm rot="16200000">
                  <a:off x="5286689" y="5490569"/>
                  <a:ext cx="1349892" cy="226537"/>
                </a:xfrm>
                <a:prstGeom prst="rect">
                  <a:avLst/>
                </a:prstGeom>
                <a:blipFill>
                  <a:blip r:embed="rId18"/>
                  <a:stretch>
                    <a:fillRect l="-23684" r="-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1D984F65-D64E-49BB-B2E7-3525CD46F5AD}"/>
                    </a:ext>
                  </a:extLst>
                </p:cNvPr>
                <p:cNvSpPr txBox="1"/>
                <p:nvPr/>
              </p:nvSpPr>
              <p:spPr>
                <a:xfrm rot="16200000">
                  <a:off x="8186624" y="5455702"/>
                  <a:ext cx="1075771" cy="2416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53" name="文字方塊 52">
                  <a:extLst>
                    <a:ext uri="{FF2B5EF4-FFF2-40B4-BE49-F238E27FC236}">
                      <a16:creationId xmlns:a16="http://schemas.microsoft.com/office/drawing/2014/main" id="{1D984F65-D64E-49BB-B2E7-3525CD46F5AD}"/>
                    </a:ext>
                  </a:extLst>
                </p:cNvPr>
                <p:cNvSpPr txBox="1">
                  <a:spLocks noRot="1" noChangeAspect="1" noMove="1" noResize="1" noEditPoints="1" noAdjustHandles="1" noChangeArrowheads="1" noChangeShapeType="1" noTextEdit="1"/>
                </p:cNvSpPr>
                <p:nvPr/>
              </p:nvSpPr>
              <p:spPr>
                <a:xfrm rot="16200000">
                  <a:off x="8186624" y="5455702"/>
                  <a:ext cx="1075771" cy="241617"/>
                </a:xfrm>
                <a:prstGeom prst="rect">
                  <a:avLst/>
                </a:prstGeom>
                <a:blipFill>
                  <a:blip r:embed="rId19"/>
                  <a:stretch>
                    <a:fillRect l="-127500" t="-28409" r="-212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E468E71D-39A9-4BAC-8609-FFE6CF21896E}"/>
                    </a:ext>
                  </a:extLst>
                </p:cNvPr>
                <p:cNvSpPr txBox="1"/>
                <p:nvPr/>
              </p:nvSpPr>
              <p:spPr>
                <a:xfrm>
                  <a:off x="6386136" y="6571777"/>
                  <a:ext cx="1995653" cy="2438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smtClean="0">
                            <a:latin typeface="Cambria Math" panose="02040503050406030204" pitchFamily="18" charset="0"/>
                          </a:rPr>
                          <m:t>W</m:t>
                        </m:r>
                        <m:r>
                          <m:rPr>
                            <m:sty m:val="p"/>
                          </m:rPr>
                          <a:rPr lang="en-US" altLang="zh-TW" sz="1400" b="0" i="0" smtClean="0">
                            <a:latin typeface="Cambria Math" panose="02040503050406030204" pitchFamily="18" charset="0"/>
                          </a:rPr>
                          <m:t>orkspace</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radius</m:t>
                        </m:r>
                        <m:r>
                          <a:rPr lang="en-US" altLang="zh-TW" sz="1400" b="0" i="0" smtClean="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b="0" i="0" smtClean="0">
                            <a:latin typeface="Cambria Math" panose="02040503050406030204" pitchFamily="18" charset="0"/>
                          </a:rPr>
                          <m:t>)</m:t>
                        </m:r>
                      </m:oMath>
                    </m:oMathPara>
                  </a14:m>
                  <a:endParaRPr lang="zh-TW" altLang="en-US" sz="1400" dirty="0"/>
                </a:p>
              </p:txBody>
            </p:sp>
          </mc:Choice>
          <mc:Fallback xmlns="">
            <p:sp>
              <p:nvSpPr>
                <p:cNvPr id="54" name="文字方塊 53">
                  <a:extLst>
                    <a:ext uri="{FF2B5EF4-FFF2-40B4-BE49-F238E27FC236}">
                      <a16:creationId xmlns:a16="http://schemas.microsoft.com/office/drawing/2014/main" id="{E468E71D-39A9-4BAC-8609-FFE6CF21896E}"/>
                    </a:ext>
                  </a:extLst>
                </p:cNvPr>
                <p:cNvSpPr txBox="1">
                  <a:spLocks noRot="1" noChangeAspect="1" noMove="1" noResize="1" noEditPoints="1" noAdjustHandles="1" noChangeArrowheads="1" noChangeShapeType="1" noTextEdit="1"/>
                </p:cNvSpPr>
                <p:nvPr/>
              </p:nvSpPr>
              <p:spPr>
                <a:xfrm>
                  <a:off x="6386136" y="6571777"/>
                  <a:ext cx="1995653" cy="243862"/>
                </a:xfrm>
                <a:prstGeom prst="rect">
                  <a:avLst/>
                </a:prstGeom>
                <a:blipFill>
                  <a:blip r:embed="rId15"/>
                  <a:stretch>
                    <a:fillRect b="-17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74934FA1-2626-4C6D-8439-3A791FA8FAA8}"/>
                    </a:ext>
                  </a:extLst>
                </p:cNvPr>
                <p:cNvSpPr txBox="1"/>
                <p:nvPr/>
              </p:nvSpPr>
              <p:spPr>
                <a:xfrm>
                  <a:off x="9052982" y="6522110"/>
                  <a:ext cx="1995653" cy="2438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smtClean="0">
                            <a:latin typeface="Cambria Math" panose="02040503050406030204" pitchFamily="18" charset="0"/>
                          </a:rPr>
                          <m:t>W</m:t>
                        </m:r>
                        <m:r>
                          <m:rPr>
                            <m:sty m:val="p"/>
                          </m:rPr>
                          <a:rPr lang="en-US" altLang="zh-TW" sz="1400" b="0" i="0" smtClean="0">
                            <a:latin typeface="Cambria Math" panose="02040503050406030204" pitchFamily="18" charset="0"/>
                          </a:rPr>
                          <m:t>orkspace</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radius</m:t>
                        </m:r>
                        <m:r>
                          <a:rPr lang="en-US" altLang="zh-TW" sz="1400" b="0" i="0" smtClean="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b="0" i="0" smtClean="0">
                            <a:latin typeface="Cambria Math" panose="02040503050406030204" pitchFamily="18" charset="0"/>
                          </a:rPr>
                          <m:t>)</m:t>
                        </m:r>
                      </m:oMath>
                    </m:oMathPara>
                  </a14:m>
                  <a:endParaRPr lang="zh-TW" altLang="en-US" sz="1400" dirty="0"/>
                </a:p>
              </p:txBody>
            </p:sp>
          </mc:Choice>
          <mc:Fallback xmlns="">
            <p:sp>
              <p:nvSpPr>
                <p:cNvPr id="55" name="文字方塊 54">
                  <a:extLst>
                    <a:ext uri="{FF2B5EF4-FFF2-40B4-BE49-F238E27FC236}">
                      <a16:creationId xmlns:a16="http://schemas.microsoft.com/office/drawing/2014/main" id="{74934FA1-2626-4C6D-8439-3A791FA8FAA8}"/>
                    </a:ext>
                  </a:extLst>
                </p:cNvPr>
                <p:cNvSpPr txBox="1">
                  <a:spLocks noRot="1" noChangeAspect="1" noMove="1" noResize="1" noEditPoints="1" noAdjustHandles="1" noChangeArrowheads="1" noChangeShapeType="1" noTextEdit="1"/>
                </p:cNvSpPr>
                <p:nvPr/>
              </p:nvSpPr>
              <p:spPr>
                <a:xfrm>
                  <a:off x="9052982" y="6522110"/>
                  <a:ext cx="1995653" cy="243862"/>
                </a:xfrm>
                <a:prstGeom prst="rect">
                  <a:avLst/>
                </a:prstGeom>
                <a:blipFill>
                  <a:blip r:embed="rId20"/>
                  <a:stretch>
                    <a:fillRect b="-15000"/>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4278317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1" name="auto caption"/>
          <p:cNvSpPr txBox="1"/>
          <p:nvPr/>
        </p:nvSpPr>
        <p:spPr>
          <a:xfrm>
            <a:off x="333587" y="743604"/>
            <a:ext cx="11155680" cy="698888"/>
          </a:xfrm>
          <a:prstGeom prst="rect">
            <a:avLst/>
          </a:prstGeom>
          <a:noFill/>
        </p:spPr>
        <p:txBody>
          <a:bodyPr wrap="square" rtlCol="0">
            <a:noAutofit/>
          </a:bodyPr>
          <a:lstStyle/>
          <a:p>
            <a:pPr marL="285750" indent="-285750">
              <a:buFont typeface="Arial" panose="020B0604020202020204" pitchFamily="34" charset="0"/>
              <a:buChar char="•"/>
            </a:pPr>
            <a:endParaRPr lang="en-US" altLang="zh-TW" sz="1600" dirty="0"/>
          </a:p>
        </p:txBody>
      </p:sp>
      <p:sp>
        <p:nvSpPr>
          <p:cNvPr id="3" name="矩形 2">
            <a:extLst>
              <a:ext uri="{FF2B5EF4-FFF2-40B4-BE49-F238E27FC236}">
                <a16:creationId xmlns:a16="http://schemas.microsoft.com/office/drawing/2014/main" id="{C3046914-2045-479F-9241-9100E1B02C7D}"/>
              </a:ext>
            </a:extLst>
          </p:cNvPr>
          <p:cNvSpPr/>
          <p:nvPr/>
        </p:nvSpPr>
        <p:spPr>
          <a:xfrm>
            <a:off x="3191932" y="5951913"/>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文字方塊 24">
            <a:extLst>
              <a:ext uri="{FF2B5EF4-FFF2-40B4-BE49-F238E27FC236}">
                <a16:creationId xmlns:a16="http://schemas.microsoft.com/office/drawing/2014/main" id="{8A1506DC-3DFA-49FB-A652-CF9232BDCE5B}"/>
              </a:ext>
            </a:extLst>
          </p:cNvPr>
          <p:cNvSpPr txBox="1"/>
          <p:nvPr/>
        </p:nvSpPr>
        <p:spPr>
          <a:xfrm>
            <a:off x="98082" y="2006086"/>
            <a:ext cx="292601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Long</a:t>
            </a:r>
            <a:endParaRPr lang="zh-TW" altLang="en-US" dirty="0"/>
          </a:p>
        </p:txBody>
      </p:sp>
      <p:sp>
        <p:nvSpPr>
          <p:cNvPr id="26" name="文字方塊 25">
            <a:extLst>
              <a:ext uri="{FF2B5EF4-FFF2-40B4-BE49-F238E27FC236}">
                <a16:creationId xmlns:a16="http://schemas.microsoft.com/office/drawing/2014/main" id="{B1117A74-E07B-4040-B287-EBE1D09422F7}"/>
              </a:ext>
            </a:extLst>
          </p:cNvPr>
          <p:cNvSpPr txBox="1"/>
          <p:nvPr/>
        </p:nvSpPr>
        <p:spPr>
          <a:xfrm>
            <a:off x="5290852" y="1988055"/>
            <a:ext cx="292601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Zhi</a:t>
            </a:r>
            <a:r>
              <a:rPr lang="en-US" altLang="zh-TW" dirty="0"/>
              <a:t> </a:t>
            </a:r>
            <a:r>
              <a:rPr lang="en-US" altLang="zh-TW" dirty="0" err="1"/>
              <a:t>peng</a:t>
            </a:r>
            <a:endParaRPr lang="zh-TW" altLang="en-US" dirty="0"/>
          </a:p>
        </p:txBody>
      </p:sp>
      <p:grpSp>
        <p:nvGrpSpPr>
          <p:cNvPr id="71" name="群組 70">
            <a:extLst>
              <a:ext uri="{FF2B5EF4-FFF2-40B4-BE49-F238E27FC236}">
                <a16:creationId xmlns:a16="http://schemas.microsoft.com/office/drawing/2014/main" id="{95D27889-2A6C-466B-B137-F04CC35BD2A2}"/>
              </a:ext>
            </a:extLst>
          </p:cNvPr>
          <p:cNvGrpSpPr/>
          <p:nvPr/>
        </p:nvGrpSpPr>
        <p:grpSpPr>
          <a:xfrm>
            <a:off x="799069" y="2943678"/>
            <a:ext cx="3743266" cy="2957409"/>
            <a:chOff x="799069" y="2943678"/>
            <a:chExt cx="3743266" cy="2957409"/>
          </a:xfrm>
        </p:grpSpPr>
        <p:grpSp>
          <p:nvGrpSpPr>
            <p:cNvPr id="63" name="群組 62">
              <a:extLst>
                <a:ext uri="{FF2B5EF4-FFF2-40B4-BE49-F238E27FC236}">
                  <a16:creationId xmlns:a16="http://schemas.microsoft.com/office/drawing/2014/main" id="{F4F2C65C-54C7-4C5B-857D-41C09E11BE04}"/>
                </a:ext>
              </a:extLst>
            </p:cNvPr>
            <p:cNvGrpSpPr/>
            <p:nvPr/>
          </p:nvGrpSpPr>
          <p:grpSpPr>
            <a:xfrm>
              <a:off x="967359" y="2943678"/>
              <a:ext cx="3574976" cy="2908831"/>
              <a:chOff x="967359" y="2943678"/>
              <a:chExt cx="3574976" cy="2908831"/>
            </a:xfrm>
          </p:grpSpPr>
          <p:pic>
            <p:nvPicPr>
              <p:cNvPr id="56" name="圖片 55">
                <a:extLst>
                  <a:ext uri="{FF2B5EF4-FFF2-40B4-BE49-F238E27FC236}">
                    <a16:creationId xmlns:a16="http://schemas.microsoft.com/office/drawing/2014/main" id="{4E4FA125-A005-452A-8B18-2E11F3FAAC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7359" y="2943678"/>
                <a:ext cx="3574976" cy="2908831"/>
              </a:xfrm>
              <a:prstGeom prst="rect">
                <a:avLst/>
              </a:prstGeom>
            </p:spPr>
          </p:pic>
          <p:sp>
            <p:nvSpPr>
              <p:cNvPr id="59" name="矩形 58">
                <a:extLst>
                  <a:ext uri="{FF2B5EF4-FFF2-40B4-BE49-F238E27FC236}">
                    <a16:creationId xmlns:a16="http://schemas.microsoft.com/office/drawing/2014/main" id="{3F7E7213-3EAA-40FE-9E1D-6FE4E1617496}"/>
                  </a:ext>
                </a:extLst>
              </p:cNvPr>
              <p:cNvSpPr/>
              <p:nvPr/>
            </p:nvSpPr>
            <p:spPr>
              <a:xfrm>
                <a:off x="2175933" y="5672667"/>
                <a:ext cx="1591734" cy="179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矩形 60">
                <a:extLst>
                  <a:ext uri="{FF2B5EF4-FFF2-40B4-BE49-F238E27FC236}">
                    <a16:creationId xmlns:a16="http://schemas.microsoft.com/office/drawing/2014/main" id="{D5ED7F36-C44E-4C34-BFBD-A04480B2814F}"/>
                  </a:ext>
                </a:extLst>
              </p:cNvPr>
              <p:cNvSpPr/>
              <p:nvPr/>
            </p:nvSpPr>
            <p:spPr>
              <a:xfrm rot="16200000">
                <a:off x="74576" y="4155509"/>
                <a:ext cx="1995074" cy="1925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65" name="文字方塊 64">
                  <a:extLst>
                    <a:ext uri="{FF2B5EF4-FFF2-40B4-BE49-F238E27FC236}">
                      <a16:creationId xmlns:a16="http://schemas.microsoft.com/office/drawing/2014/main" id="{062C8A0B-E8CD-4217-A624-D1EAD7B47303}"/>
                    </a:ext>
                  </a:extLst>
                </p:cNvPr>
                <p:cNvSpPr txBox="1"/>
                <p:nvPr/>
              </p:nvSpPr>
              <p:spPr>
                <a:xfrm>
                  <a:off x="2017011" y="5624088"/>
                  <a:ext cx="117492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Number</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of</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points</m:t>
                        </m:r>
                      </m:oMath>
                    </m:oMathPara>
                  </a14:m>
                  <a:endParaRPr lang="zh-TW" altLang="en-US" dirty="0"/>
                </a:p>
              </p:txBody>
            </p:sp>
          </mc:Choice>
          <mc:Fallback xmlns="">
            <p:sp>
              <p:nvSpPr>
                <p:cNvPr id="65" name="文字方塊 64">
                  <a:extLst>
                    <a:ext uri="{FF2B5EF4-FFF2-40B4-BE49-F238E27FC236}">
                      <a16:creationId xmlns:a16="http://schemas.microsoft.com/office/drawing/2014/main" id="{062C8A0B-E8CD-4217-A624-D1EAD7B47303}"/>
                    </a:ext>
                  </a:extLst>
                </p:cNvPr>
                <p:cNvSpPr txBox="1">
                  <a:spLocks noRot="1" noChangeAspect="1" noMove="1" noResize="1" noEditPoints="1" noAdjustHandles="1" noChangeArrowheads="1" noChangeShapeType="1" noTextEdit="1"/>
                </p:cNvSpPr>
                <p:nvPr/>
              </p:nvSpPr>
              <p:spPr>
                <a:xfrm>
                  <a:off x="2017011" y="5624088"/>
                  <a:ext cx="1174921" cy="276999"/>
                </a:xfrm>
                <a:prstGeom prst="rect">
                  <a:avLst/>
                </a:prstGeom>
                <a:blipFill>
                  <a:blip r:embed="rId9"/>
                  <a:stretch>
                    <a:fillRect l="-7254" r="-54922" b="-3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7" name="文字方塊 66">
                  <a:extLst>
                    <a:ext uri="{FF2B5EF4-FFF2-40B4-BE49-F238E27FC236}">
                      <a16:creationId xmlns:a16="http://schemas.microsoft.com/office/drawing/2014/main" id="{BA718DD0-EDA1-4D66-BA5F-5C8FB52C0091}"/>
                    </a:ext>
                  </a:extLst>
                </p:cNvPr>
                <p:cNvSpPr txBox="1"/>
                <p:nvPr/>
              </p:nvSpPr>
              <p:spPr>
                <a:xfrm rot="16200000">
                  <a:off x="-68249" y="4121575"/>
                  <a:ext cx="210396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Frobenius</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error</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oMath>
                    </m:oMathPara>
                  </a14:m>
                  <a:endParaRPr lang="zh-TW" altLang="en-US" dirty="0"/>
                </a:p>
              </p:txBody>
            </p:sp>
          </mc:Choice>
          <mc:Fallback xmlns="">
            <p:sp>
              <p:nvSpPr>
                <p:cNvPr id="67" name="文字方塊 66">
                  <a:extLst>
                    <a:ext uri="{FF2B5EF4-FFF2-40B4-BE49-F238E27FC236}">
                      <a16:creationId xmlns:a16="http://schemas.microsoft.com/office/drawing/2014/main" id="{BA718DD0-EDA1-4D66-BA5F-5C8FB52C0091}"/>
                    </a:ext>
                  </a:extLst>
                </p:cNvPr>
                <p:cNvSpPr txBox="1">
                  <a:spLocks noRot="1" noChangeAspect="1" noMove="1" noResize="1" noEditPoints="1" noAdjustHandles="1" noChangeArrowheads="1" noChangeShapeType="1" noTextEdit="1"/>
                </p:cNvSpPr>
                <p:nvPr/>
              </p:nvSpPr>
              <p:spPr>
                <a:xfrm rot="16200000">
                  <a:off x="-68249" y="4121575"/>
                  <a:ext cx="2103967" cy="369332"/>
                </a:xfrm>
                <a:prstGeom prst="rect">
                  <a:avLst/>
                </a:prstGeom>
                <a:blipFill>
                  <a:blip r:embed="rId10"/>
                  <a:stretch>
                    <a:fillRect t="-5217" r="-13115"/>
                  </a:stretch>
                </a:blipFill>
              </p:spPr>
              <p:txBody>
                <a:bodyPr/>
                <a:lstStyle/>
                <a:p>
                  <a:r>
                    <a:rPr lang="zh-TW" altLang="en-US">
                      <a:noFill/>
                    </a:rPr>
                    <a:t> </a:t>
                  </a:r>
                </a:p>
              </p:txBody>
            </p:sp>
          </mc:Fallback>
        </mc:AlternateContent>
      </p:grpSp>
      <p:grpSp>
        <p:nvGrpSpPr>
          <p:cNvPr id="70" name="群組 69">
            <a:extLst>
              <a:ext uri="{FF2B5EF4-FFF2-40B4-BE49-F238E27FC236}">
                <a16:creationId xmlns:a16="http://schemas.microsoft.com/office/drawing/2014/main" id="{1EDDFF1E-1FDA-4117-B739-B328F314895C}"/>
              </a:ext>
            </a:extLst>
          </p:cNvPr>
          <p:cNvGrpSpPr/>
          <p:nvPr/>
        </p:nvGrpSpPr>
        <p:grpSpPr>
          <a:xfrm>
            <a:off x="6848142" y="2902950"/>
            <a:ext cx="3735191" cy="2922117"/>
            <a:chOff x="6848142" y="2902950"/>
            <a:chExt cx="3735191" cy="2922117"/>
          </a:xfrm>
        </p:grpSpPr>
        <p:grpSp>
          <p:nvGrpSpPr>
            <p:cNvPr id="64" name="群組 63">
              <a:extLst>
                <a:ext uri="{FF2B5EF4-FFF2-40B4-BE49-F238E27FC236}">
                  <a16:creationId xmlns:a16="http://schemas.microsoft.com/office/drawing/2014/main" id="{BB981144-4743-4350-B5F2-36E449C7A1DE}"/>
                </a:ext>
              </a:extLst>
            </p:cNvPr>
            <p:cNvGrpSpPr/>
            <p:nvPr/>
          </p:nvGrpSpPr>
          <p:grpSpPr>
            <a:xfrm>
              <a:off x="6919747" y="2902950"/>
              <a:ext cx="3663586" cy="2922117"/>
              <a:chOff x="6919747" y="2902950"/>
              <a:chExt cx="3663586" cy="2922117"/>
            </a:xfrm>
          </p:grpSpPr>
          <p:pic>
            <p:nvPicPr>
              <p:cNvPr id="8" name="圖片 7">
                <a:extLst>
                  <a:ext uri="{FF2B5EF4-FFF2-40B4-BE49-F238E27FC236}">
                    <a16:creationId xmlns:a16="http://schemas.microsoft.com/office/drawing/2014/main" id="{F40FD3EA-24D0-4B3E-9DDB-55992E9DFBC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919747" y="2902950"/>
                <a:ext cx="3663586" cy="2908831"/>
              </a:xfrm>
              <a:prstGeom prst="rect">
                <a:avLst/>
              </a:prstGeom>
            </p:spPr>
          </p:pic>
          <p:sp>
            <p:nvSpPr>
              <p:cNvPr id="60" name="矩形 59">
                <a:extLst>
                  <a:ext uri="{FF2B5EF4-FFF2-40B4-BE49-F238E27FC236}">
                    <a16:creationId xmlns:a16="http://schemas.microsoft.com/office/drawing/2014/main" id="{F91D2172-E107-4661-BD5A-F4FF193A2DFB}"/>
                  </a:ext>
                </a:extLst>
              </p:cNvPr>
              <p:cNvSpPr/>
              <p:nvPr/>
            </p:nvSpPr>
            <p:spPr>
              <a:xfrm>
                <a:off x="8216869" y="5645225"/>
                <a:ext cx="1591734" cy="179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0929716D-6278-4F97-AD46-9AB9FA402800}"/>
                  </a:ext>
                </a:extLst>
              </p:cNvPr>
              <p:cNvSpPr/>
              <p:nvPr/>
            </p:nvSpPr>
            <p:spPr>
              <a:xfrm rot="16200000">
                <a:off x="6035270" y="4138736"/>
                <a:ext cx="1995074" cy="226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68" name="文字方塊 67">
                  <a:extLst>
                    <a:ext uri="{FF2B5EF4-FFF2-40B4-BE49-F238E27FC236}">
                      <a16:creationId xmlns:a16="http://schemas.microsoft.com/office/drawing/2014/main" id="{00B5B4D1-1E68-4083-AFE3-CD9D18841DCE}"/>
                    </a:ext>
                  </a:extLst>
                </p:cNvPr>
                <p:cNvSpPr txBox="1"/>
                <p:nvPr/>
              </p:nvSpPr>
              <p:spPr>
                <a:xfrm>
                  <a:off x="8307745" y="5548068"/>
                  <a:ext cx="117492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Number</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of</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points</m:t>
                        </m:r>
                      </m:oMath>
                    </m:oMathPara>
                  </a14:m>
                  <a:endParaRPr lang="zh-TW" altLang="en-US" dirty="0"/>
                </a:p>
              </p:txBody>
            </p:sp>
          </mc:Choice>
          <mc:Fallback xmlns="">
            <p:sp>
              <p:nvSpPr>
                <p:cNvPr id="68" name="文字方塊 67">
                  <a:extLst>
                    <a:ext uri="{FF2B5EF4-FFF2-40B4-BE49-F238E27FC236}">
                      <a16:creationId xmlns:a16="http://schemas.microsoft.com/office/drawing/2014/main" id="{00B5B4D1-1E68-4083-AFE3-CD9D18841DCE}"/>
                    </a:ext>
                  </a:extLst>
                </p:cNvPr>
                <p:cNvSpPr txBox="1">
                  <a:spLocks noRot="1" noChangeAspect="1" noMove="1" noResize="1" noEditPoints="1" noAdjustHandles="1" noChangeArrowheads="1" noChangeShapeType="1" noTextEdit="1"/>
                </p:cNvSpPr>
                <p:nvPr/>
              </p:nvSpPr>
              <p:spPr>
                <a:xfrm>
                  <a:off x="8307745" y="5548068"/>
                  <a:ext cx="1174921" cy="276999"/>
                </a:xfrm>
                <a:prstGeom prst="rect">
                  <a:avLst/>
                </a:prstGeom>
                <a:blipFill>
                  <a:blip r:embed="rId12"/>
                  <a:stretch>
                    <a:fillRect l="-7254" r="-54922" b="-3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9" name="文字方塊 68">
                  <a:extLst>
                    <a:ext uri="{FF2B5EF4-FFF2-40B4-BE49-F238E27FC236}">
                      <a16:creationId xmlns:a16="http://schemas.microsoft.com/office/drawing/2014/main" id="{DBD92D8D-D4C6-4F03-BAE1-95A688D95C80}"/>
                    </a:ext>
                  </a:extLst>
                </p:cNvPr>
                <p:cNvSpPr txBox="1"/>
                <p:nvPr/>
              </p:nvSpPr>
              <p:spPr>
                <a:xfrm rot="16200000">
                  <a:off x="5980824" y="4012684"/>
                  <a:ext cx="210396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Frobenius</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error</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oMath>
                    </m:oMathPara>
                  </a14:m>
                  <a:endParaRPr lang="zh-TW" altLang="en-US" dirty="0"/>
                </a:p>
              </p:txBody>
            </p:sp>
          </mc:Choice>
          <mc:Fallback xmlns="">
            <p:sp>
              <p:nvSpPr>
                <p:cNvPr id="69" name="文字方塊 68">
                  <a:extLst>
                    <a:ext uri="{FF2B5EF4-FFF2-40B4-BE49-F238E27FC236}">
                      <a16:creationId xmlns:a16="http://schemas.microsoft.com/office/drawing/2014/main" id="{DBD92D8D-D4C6-4F03-BAE1-95A688D95C80}"/>
                    </a:ext>
                  </a:extLst>
                </p:cNvPr>
                <p:cNvSpPr txBox="1">
                  <a:spLocks noRot="1" noChangeAspect="1" noMove="1" noResize="1" noEditPoints="1" noAdjustHandles="1" noChangeArrowheads="1" noChangeShapeType="1" noTextEdit="1"/>
                </p:cNvSpPr>
                <p:nvPr/>
              </p:nvSpPr>
              <p:spPr>
                <a:xfrm rot="16200000">
                  <a:off x="5980824" y="4012684"/>
                  <a:ext cx="2103967" cy="369332"/>
                </a:xfrm>
                <a:prstGeom prst="rect">
                  <a:avLst/>
                </a:prstGeom>
                <a:blipFill>
                  <a:blip r:embed="rId13"/>
                  <a:stretch>
                    <a:fillRect t="-5217" r="-13115"/>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530656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9" name="群組 8">
            <a:extLst>
              <a:ext uri="{FF2B5EF4-FFF2-40B4-BE49-F238E27FC236}">
                <a16:creationId xmlns:a16="http://schemas.microsoft.com/office/drawing/2014/main" id="{2F785771-7E2C-47A8-92B1-CA4591BB985B}"/>
              </a:ext>
            </a:extLst>
          </p:cNvPr>
          <p:cNvGrpSpPr/>
          <p:nvPr/>
        </p:nvGrpSpPr>
        <p:grpSpPr>
          <a:xfrm>
            <a:off x="1007033" y="3405220"/>
            <a:ext cx="3617185" cy="2952192"/>
            <a:chOff x="272262" y="2385184"/>
            <a:chExt cx="3617185" cy="2952192"/>
          </a:xfrm>
        </p:grpSpPr>
        <p:pic>
          <p:nvPicPr>
            <p:cNvPr id="8" name="圖片 7">
              <a:extLst>
                <a:ext uri="{FF2B5EF4-FFF2-40B4-BE49-F238E27FC236}">
                  <a16:creationId xmlns:a16="http://schemas.microsoft.com/office/drawing/2014/main" id="{37E15A58-D5DE-448B-98A6-CF0256409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815" y="2385184"/>
              <a:ext cx="3516632" cy="2822604"/>
            </a:xfrm>
            <a:prstGeom prst="rect">
              <a:avLst/>
            </a:prstGeom>
          </p:spPr>
        </p:pic>
        <p:grpSp>
          <p:nvGrpSpPr>
            <p:cNvPr id="14" name="群組 13">
              <a:extLst>
                <a:ext uri="{FF2B5EF4-FFF2-40B4-BE49-F238E27FC236}">
                  <a16:creationId xmlns:a16="http://schemas.microsoft.com/office/drawing/2014/main" id="{2DD737F1-79D0-498C-AD2E-96B6E991F4B2}"/>
                </a:ext>
              </a:extLst>
            </p:cNvPr>
            <p:cNvGrpSpPr/>
            <p:nvPr/>
          </p:nvGrpSpPr>
          <p:grpSpPr>
            <a:xfrm>
              <a:off x="272262" y="2530082"/>
              <a:ext cx="3130980" cy="2807294"/>
              <a:chOff x="7579782" y="1658468"/>
              <a:chExt cx="3130980" cy="2807294"/>
            </a:xfrm>
          </p:grpSpPr>
          <p:grpSp>
            <p:nvGrpSpPr>
              <p:cNvPr id="13" name="群組 12">
                <a:extLst>
                  <a:ext uri="{FF2B5EF4-FFF2-40B4-BE49-F238E27FC236}">
                    <a16:creationId xmlns:a16="http://schemas.microsoft.com/office/drawing/2014/main" id="{9E044CCD-18A9-4ED0-803D-09C25E2DC084}"/>
                  </a:ext>
                </a:extLst>
              </p:cNvPr>
              <p:cNvGrpSpPr/>
              <p:nvPr/>
            </p:nvGrpSpPr>
            <p:grpSpPr>
              <a:xfrm>
                <a:off x="7604136" y="2283249"/>
                <a:ext cx="2610533" cy="2182513"/>
                <a:chOff x="7604136" y="2283249"/>
                <a:chExt cx="2610533" cy="2182513"/>
              </a:xfrm>
            </p:grpSpPr>
            <p:sp>
              <p:nvSpPr>
                <p:cNvPr id="12" name="矩形 11">
                  <a:extLst>
                    <a:ext uri="{FF2B5EF4-FFF2-40B4-BE49-F238E27FC236}">
                      <a16:creationId xmlns:a16="http://schemas.microsoft.com/office/drawing/2014/main" id="{D0CE3E51-43DC-4E17-866A-933141C91C15}"/>
                    </a:ext>
                  </a:extLst>
                </p:cNvPr>
                <p:cNvSpPr/>
                <p:nvPr/>
              </p:nvSpPr>
              <p:spPr>
                <a:xfrm>
                  <a:off x="7604136" y="2283249"/>
                  <a:ext cx="296334" cy="10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6F767F21-8108-48BC-9FF8-4D48706CC9E8}"/>
                    </a:ext>
                  </a:extLst>
                </p:cNvPr>
                <p:cNvSpPr/>
                <p:nvPr/>
              </p:nvSpPr>
              <p:spPr>
                <a:xfrm rot="5400000">
                  <a:off x="9290484" y="3541577"/>
                  <a:ext cx="296334" cy="1552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4C3849D6-2303-4245-94EB-A3E3CD04C5BC}"/>
                      </a:ext>
                    </a:extLst>
                  </p:cNvPr>
                  <p:cNvSpPr txBox="1"/>
                  <p:nvPr/>
                </p:nvSpPr>
                <p:spPr>
                  <a:xfrm rot="16200000">
                    <a:off x="6680409" y="2557841"/>
                    <a:ext cx="2137299"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600" i="1" smtClean="0">
                              <a:latin typeface="Cambria Math" panose="02040503050406030204" pitchFamily="18" charset="0"/>
                              <a:ea typeface="Cambria Math" panose="02040503050406030204" pitchFamily="18" charset="0"/>
                            </a:rPr>
                            <m:t>P</m:t>
                          </m:r>
                          <m:r>
                            <m:rPr>
                              <m:sty m:val="p"/>
                            </m:rPr>
                            <a:rPr lang="en-US" altLang="zh-TW" sz="1600" b="0" i="0" smtClean="0">
                              <a:latin typeface="Cambria Math" panose="02040503050406030204" pitchFamily="18" charset="0"/>
                              <a:ea typeface="Cambria Math" panose="02040503050406030204" pitchFamily="18" charset="0"/>
                            </a:rPr>
                            <m:t>redict</m:t>
                          </m:r>
                          <m:r>
                            <a:rPr lang="en-US" altLang="zh-TW" sz="1600" b="0" i="0" smtClean="0">
                              <a:latin typeface="Cambria Math" panose="02040503050406030204" pitchFamily="18" charset="0"/>
                              <a:ea typeface="Cambria Math" panose="02040503050406030204" pitchFamily="18" charset="0"/>
                            </a:rPr>
                            <m:t> </m:t>
                          </m:r>
                          <m:r>
                            <m:rPr>
                              <m:sty m:val="p"/>
                            </m:rPr>
                            <a:rPr lang="en-US" altLang="zh-TW" sz="1600" b="0" i="0" smtClean="0">
                              <a:latin typeface="Cambria Math" panose="02040503050406030204" pitchFamily="18" charset="0"/>
                              <a:ea typeface="Cambria Math" panose="02040503050406030204" pitchFamily="18" charset="0"/>
                            </a:rPr>
                            <m:t>error</m:t>
                          </m:r>
                          <m:r>
                            <a:rPr lang="en-US" altLang="zh-TW" sz="1600" b="0" i="0"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m:t>
                          </m:r>
                          <m:r>
                            <a:rPr lang="en-US" altLang="zh-TW" sz="1600" b="0" i="1" smtClean="0">
                              <a:latin typeface="Cambria Math" panose="02040503050406030204" pitchFamily="18" charset="0"/>
                              <a:ea typeface="Cambria Math" panose="02040503050406030204" pitchFamily="18" charset="0"/>
                            </a:rPr>
                            <m:t>𝑚𝑇</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10" name="文字方塊 9">
                    <a:extLst>
                      <a:ext uri="{FF2B5EF4-FFF2-40B4-BE49-F238E27FC236}">
                        <a16:creationId xmlns:a16="http://schemas.microsoft.com/office/drawing/2014/main" id="{4C3849D6-2303-4245-94EB-A3E3CD04C5BC}"/>
                      </a:ext>
                    </a:extLst>
                  </p:cNvPr>
                  <p:cNvSpPr txBox="1">
                    <a:spLocks noRot="1" noChangeAspect="1" noMove="1" noResize="1" noEditPoints="1" noAdjustHandles="1" noChangeArrowheads="1" noChangeShapeType="1" noTextEdit="1"/>
                  </p:cNvSpPr>
                  <p:nvPr/>
                </p:nvSpPr>
                <p:spPr>
                  <a:xfrm rot="16200000">
                    <a:off x="6680409" y="2557841"/>
                    <a:ext cx="2137299" cy="338554"/>
                  </a:xfrm>
                  <a:prstGeom prst="rect">
                    <a:avLst/>
                  </a:prstGeom>
                  <a:blipFill>
                    <a:blip r:embed="rId3"/>
                    <a:stretch>
                      <a:fillRect r="-109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42506FCA-AD85-4D09-9F6E-FA92DD820306}"/>
                      </a:ext>
                    </a:extLst>
                  </p:cNvPr>
                  <p:cNvSpPr txBox="1"/>
                  <p:nvPr/>
                </p:nvSpPr>
                <p:spPr>
                  <a:xfrm>
                    <a:off x="8575241" y="4154747"/>
                    <a:ext cx="2135521"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i="1" smtClean="0">
                              <a:latin typeface="Cambria Math" panose="02040503050406030204" pitchFamily="18" charset="0"/>
                            </a:rPr>
                            <m:t>W</m:t>
                          </m:r>
                          <m:r>
                            <m:rPr>
                              <m:sty m:val="p"/>
                            </m:rPr>
                            <a:rPr lang="en-US" altLang="zh-TW" sz="1600">
                              <a:latin typeface="Cambria Math" panose="02040503050406030204" pitchFamily="18" charset="0"/>
                            </a:rPr>
                            <m:t>orkspace</m:t>
                          </m:r>
                          <m:r>
                            <a:rPr lang="en-US" altLang="zh-TW" sz="1600">
                              <a:latin typeface="Cambria Math" panose="02040503050406030204" pitchFamily="18" charset="0"/>
                            </a:rPr>
                            <m:t> </m:t>
                          </m:r>
                          <m:r>
                            <m:rPr>
                              <m:sty m:val="p"/>
                            </m:rPr>
                            <a:rPr lang="en-US" altLang="zh-TW" sz="1600">
                              <a:latin typeface="Cambria Math" panose="02040503050406030204" pitchFamily="18" charset="0"/>
                            </a:rPr>
                            <m:t>radius</m:t>
                          </m:r>
                          <m:r>
                            <a:rPr lang="en-US" altLang="zh-TW" sz="1600" b="0" i="0" smtClean="0">
                              <a:latin typeface="Cambria Math" panose="02040503050406030204" pitchFamily="18" charset="0"/>
                            </a:rPr>
                            <m:t> (</m:t>
                          </m:r>
                          <m:r>
                            <a:rPr lang="zh-TW" altLang="en-US" sz="1600" b="0" i="1" smtClean="0">
                              <a:latin typeface="Cambria Math" panose="02040503050406030204" pitchFamily="18" charset="0"/>
                            </a:rPr>
                            <m:t>𝜇</m:t>
                          </m:r>
                          <m:r>
                            <a:rPr lang="en-US" altLang="zh-TW" sz="1600" b="0" i="1" smtClean="0">
                              <a:latin typeface="Cambria Math" panose="02040503050406030204" pitchFamily="18" charset="0"/>
                            </a:rPr>
                            <m:t>𝑚</m:t>
                          </m:r>
                          <m:r>
                            <a:rPr lang="en-US" altLang="zh-TW" sz="1600" b="0" i="0" smtClean="0">
                              <a:latin typeface="Cambria Math" panose="02040503050406030204" pitchFamily="18" charset="0"/>
                            </a:rPr>
                            <m:t>)</m:t>
                          </m:r>
                        </m:oMath>
                      </m:oMathPara>
                    </a14:m>
                    <a:endParaRPr lang="zh-TW" altLang="en-US" sz="1600" dirty="0"/>
                  </a:p>
                </p:txBody>
              </p:sp>
            </mc:Choice>
            <mc:Fallback xmlns="">
              <p:sp>
                <p:nvSpPr>
                  <p:cNvPr id="11" name="文字方塊 10">
                    <a:extLst>
                      <a:ext uri="{FF2B5EF4-FFF2-40B4-BE49-F238E27FC236}">
                        <a16:creationId xmlns:a16="http://schemas.microsoft.com/office/drawing/2014/main" id="{42506FCA-AD85-4D09-9F6E-FA92DD820306}"/>
                      </a:ext>
                    </a:extLst>
                  </p:cNvPr>
                  <p:cNvSpPr txBox="1">
                    <a:spLocks noRot="1" noChangeAspect="1" noMove="1" noResize="1" noEditPoints="1" noAdjustHandles="1" noChangeArrowheads="1" noChangeShapeType="1" noTextEdit="1"/>
                  </p:cNvSpPr>
                  <p:nvPr/>
                </p:nvSpPr>
                <p:spPr>
                  <a:xfrm>
                    <a:off x="8575241" y="4154747"/>
                    <a:ext cx="2135521" cy="246221"/>
                  </a:xfrm>
                  <a:prstGeom prst="rect">
                    <a:avLst/>
                  </a:prstGeom>
                  <a:blipFill>
                    <a:blip r:embed="rId4"/>
                    <a:stretch>
                      <a:fillRect l="-2000" r="-2857" b="-32500"/>
                    </a:stretch>
                  </a:blipFill>
                </p:spPr>
                <p:txBody>
                  <a:bodyPr/>
                  <a:lstStyle/>
                  <a:p>
                    <a:r>
                      <a:rPr lang="zh-TW" altLang="en-US">
                        <a:noFill/>
                      </a:rPr>
                      <a:t> </a:t>
                    </a:r>
                  </a:p>
                </p:txBody>
              </p:sp>
            </mc:Fallback>
          </mc:AlternateContent>
        </p:grpSp>
      </p:grpSp>
      <p:sp>
        <p:nvSpPr>
          <p:cNvPr id="41" name="auto caption"/>
          <p:cNvSpPr txBox="1"/>
          <p:nvPr/>
        </p:nvSpPr>
        <p:spPr>
          <a:xfrm>
            <a:off x="-84666" y="618158"/>
            <a:ext cx="11844866" cy="1366226"/>
          </a:xfrm>
          <a:prstGeom prst="rect">
            <a:avLst/>
          </a:prstGeom>
          <a:noFill/>
        </p:spPr>
        <p:txBody>
          <a:bodyPr wrap="square" rtlCol="0">
            <a:normAutofit/>
          </a:bodyPr>
          <a:lstStyle/>
          <a:p>
            <a:pPr marL="285750" indent="-285750">
              <a:buFont typeface="Wingdings" panose="05000000000000000000" pitchFamily="2" charset="2"/>
              <a:buChar char="l"/>
            </a:pPr>
            <a:r>
              <a:rPr lang="en-US" altLang="zh-TW" dirty="0"/>
              <a:t>Setup: The calibration side is identical to the previous slide: the same R sweep, the same converged reduced design at each R. What changes is the evaluation: the predict is computed on every real FEM node inside R.</a:t>
            </a:r>
          </a:p>
          <a:p>
            <a:endParaRPr lang="en-US" altLang="zh-TW" dirty="0"/>
          </a:p>
        </p:txBody>
      </p:sp>
      <p:sp>
        <p:nvSpPr>
          <p:cNvPr id="6" name="文字方塊 5">
            <a:extLst>
              <a:ext uri="{FF2B5EF4-FFF2-40B4-BE49-F238E27FC236}">
                <a16:creationId xmlns:a16="http://schemas.microsoft.com/office/drawing/2014/main" id="{12652E72-3406-4432-8BF0-0119B9DB77DB}"/>
              </a:ext>
            </a:extLst>
          </p:cNvPr>
          <p:cNvSpPr txBox="1"/>
          <p:nvPr/>
        </p:nvSpPr>
        <p:spPr>
          <a:xfrm>
            <a:off x="981074" y="2712784"/>
            <a:ext cx="30395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Long</a:t>
            </a:r>
            <a:endParaRPr lang="zh-TW" altLang="en-US" dirty="0"/>
          </a:p>
        </p:txBody>
      </p:sp>
      <p:sp>
        <p:nvSpPr>
          <p:cNvPr id="17" name="文字方塊 16">
            <a:extLst>
              <a:ext uri="{FF2B5EF4-FFF2-40B4-BE49-F238E27FC236}">
                <a16:creationId xmlns:a16="http://schemas.microsoft.com/office/drawing/2014/main" id="{E7AB5F81-21C3-48CC-BC07-150DF9DA0D59}"/>
              </a:ext>
            </a:extLst>
          </p:cNvPr>
          <p:cNvSpPr txBox="1"/>
          <p:nvPr/>
        </p:nvSpPr>
        <p:spPr>
          <a:xfrm>
            <a:off x="6585859" y="2722131"/>
            <a:ext cx="292601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Zhi</a:t>
            </a:r>
            <a:r>
              <a:rPr lang="en-US" altLang="zh-TW" dirty="0"/>
              <a:t> </a:t>
            </a:r>
            <a:r>
              <a:rPr lang="en-US" altLang="zh-TW" dirty="0" err="1"/>
              <a:t>peng</a:t>
            </a:r>
            <a:endParaRPr lang="zh-TW" altLang="en-US" dirty="0"/>
          </a:p>
        </p:txBody>
      </p:sp>
      <p:grpSp>
        <p:nvGrpSpPr>
          <p:cNvPr id="28" name="群組 27">
            <a:extLst>
              <a:ext uri="{FF2B5EF4-FFF2-40B4-BE49-F238E27FC236}">
                <a16:creationId xmlns:a16="http://schemas.microsoft.com/office/drawing/2014/main" id="{3BEF0C40-023C-4800-BC3A-AD4E33A32BA9}"/>
              </a:ext>
            </a:extLst>
          </p:cNvPr>
          <p:cNvGrpSpPr/>
          <p:nvPr/>
        </p:nvGrpSpPr>
        <p:grpSpPr>
          <a:xfrm>
            <a:off x="6416583" y="3482925"/>
            <a:ext cx="3685533" cy="2874487"/>
            <a:chOff x="5934910" y="2235595"/>
            <a:chExt cx="3685533" cy="2874487"/>
          </a:xfrm>
        </p:grpSpPr>
        <p:pic>
          <p:nvPicPr>
            <p:cNvPr id="25" name="圖片 24">
              <a:extLst>
                <a:ext uri="{FF2B5EF4-FFF2-40B4-BE49-F238E27FC236}">
                  <a16:creationId xmlns:a16="http://schemas.microsoft.com/office/drawing/2014/main" id="{7C296082-A56A-4A15-8F4D-ED95B9251D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10830" y="2235595"/>
              <a:ext cx="3609613" cy="2822604"/>
            </a:xfrm>
            <a:prstGeom prst="rect">
              <a:avLst/>
            </a:prstGeom>
          </p:spPr>
        </p:pic>
        <p:grpSp>
          <p:nvGrpSpPr>
            <p:cNvPr id="23" name="群組 22">
              <a:extLst>
                <a:ext uri="{FF2B5EF4-FFF2-40B4-BE49-F238E27FC236}">
                  <a16:creationId xmlns:a16="http://schemas.microsoft.com/office/drawing/2014/main" id="{E2090C20-5C4B-4A7A-8587-551906EFD493}"/>
                </a:ext>
              </a:extLst>
            </p:cNvPr>
            <p:cNvGrpSpPr/>
            <p:nvPr/>
          </p:nvGrpSpPr>
          <p:grpSpPr>
            <a:xfrm>
              <a:off x="5934910" y="2493574"/>
              <a:ext cx="3185331" cy="2616508"/>
              <a:chOff x="5934910" y="2493574"/>
              <a:chExt cx="3185331" cy="2616508"/>
            </a:xfrm>
          </p:grpSpPr>
          <p:grpSp>
            <p:nvGrpSpPr>
              <p:cNvPr id="22" name="群組 21">
                <a:extLst>
                  <a:ext uri="{FF2B5EF4-FFF2-40B4-BE49-F238E27FC236}">
                    <a16:creationId xmlns:a16="http://schemas.microsoft.com/office/drawing/2014/main" id="{63DFB3A9-2DCF-43D9-82D7-15699FEC83E7}"/>
                  </a:ext>
                </a:extLst>
              </p:cNvPr>
              <p:cNvGrpSpPr/>
              <p:nvPr/>
            </p:nvGrpSpPr>
            <p:grpSpPr>
              <a:xfrm>
                <a:off x="6004225" y="3019396"/>
                <a:ext cx="2622437" cy="2023318"/>
                <a:chOff x="6004225" y="3019396"/>
                <a:chExt cx="2622437" cy="2023318"/>
              </a:xfrm>
            </p:grpSpPr>
            <p:sp>
              <p:nvSpPr>
                <p:cNvPr id="21" name="矩形 20">
                  <a:extLst>
                    <a:ext uri="{FF2B5EF4-FFF2-40B4-BE49-F238E27FC236}">
                      <a16:creationId xmlns:a16="http://schemas.microsoft.com/office/drawing/2014/main" id="{31CB3A90-5BD7-4CF5-82D9-2301A91E1E82}"/>
                    </a:ext>
                  </a:extLst>
                </p:cNvPr>
                <p:cNvSpPr/>
                <p:nvPr/>
              </p:nvSpPr>
              <p:spPr>
                <a:xfrm>
                  <a:off x="7290176" y="4876801"/>
                  <a:ext cx="1336486" cy="1659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a:extLst>
                    <a:ext uri="{FF2B5EF4-FFF2-40B4-BE49-F238E27FC236}">
                      <a16:creationId xmlns:a16="http://schemas.microsoft.com/office/drawing/2014/main" id="{5FF63D5A-F320-4CA5-AABD-80BA0EF39FDD}"/>
                    </a:ext>
                  </a:extLst>
                </p:cNvPr>
                <p:cNvSpPr/>
                <p:nvPr/>
              </p:nvSpPr>
              <p:spPr>
                <a:xfrm rot="16200000">
                  <a:off x="5549619" y="3474002"/>
                  <a:ext cx="1109134" cy="199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B6149C6C-5FD2-4FAD-BB35-648BAD90BE8C}"/>
                      </a:ext>
                    </a:extLst>
                  </p:cNvPr>
                  <p:cNvSpPr txBox="1"/>
                  <p:nvPr/>
                </p:nvSpPr>
                <p:spPr>
                  <a:xfrm rot="16200000">
                    <a:off x="5035537" y="3392947"/>
                    <a:ext cx="2137299"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600" i="1" smtClean="0">
                              <a:latin typeface="Cambria Math" panose="02040503050406030204" pitchFamily="18" charset="0"/>
                              <a:ea typeface="Cambria Math" panose="02040503050406030204" pitchFamily="18" charset="0"/>
                            </a:rPr>
                            <m:t>P</m:t>
                          </m:r>
                          <m:r>
                            <m:rPr>
                              <m:sty m:val="p"/>
                            </m:rPr>
                            <a:rPr lang="en-US" altLang="zh-TW" sz="1600" b="0" i="0" smtClean="0">
                              <a:latin typeface="Cambria Math" panose="02040503050406030204" pitchFamily="18" charset="0"/>
                              <a:ea typeface="Cambria Math" panose="02040503050406030204" pitchFamily="18" charset="0"/>
                            </a:rPr>
                            <m:t>redict</m:t>
                          </m:r>
                          <m:r>
                            <a:rPr lang="en-US" altLang="zh-TW" sz="1600" b="0" i="0" smtClean="0">
                              <a:latin typeface="Cambria Math" panose="02040503050406030204" pitchFamily="18" charset="0"/>
                              <a:ea typeface="Cambria Math" panose="02040503050406030204" pitchFamily="18" charset="0"/>
                            </a:rPr>
                            <m:t> </m:t>
                          </m:r>
                          <m:r>
                            <m:rPr>
                              <m:sty m:val="p"/>
                            </m:rPr>
                            <a:rPr lang="en-US" altLang="zh-TW" sz="1600" b="0" i="0" smtClean="0">
                              <a:latin typeface="Cambria Math" panose="02040503050406030204" pitchFamily="18" charset="0"/>
                              <a:ea typeface="Cambria Math" panose="02040503050406030204" pitchFamily="18" charset="0"/>
                            </a:rPr>
                            <m:t>error</m:t>
                          </m:r>
                          <m:r>
                            <a:rPr lang="en-US" altLang="zh-TW" sz="1600" b="0" i="0"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m:t>
                          </m:r>
                          <m:r>
                            <a:rPr lang="en-US" altLang="zh-TW" sz="1600" b="0" i="1" smtClean="0">
                              <a:latin typeface="Cambria Math" panose="02040503050406030204" pitchFamily="18" charset="0"/>
                              <a:ea typeface="Cambria Math" panose="02040503050406030204" pitchFamily="18" charset="0"/>
                            </a:rPr>
                            <m:t>𝑚𝑇</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26" name="文字方塊 25">
                    <a:extLst>
                      <a:ext uri="{FF2B5EF4-FFF2-40B4-BE49-F238E27FC236}">
                        <a16:creationId xmlns:a16="http://schemas.microsoft.com/office/drawing/2014/main" id="{B6149C6C-5FD2-4FAD-BB35-648BAD90BE8C}"/>
                      </a:ext>
                    </a:extLst>
                  </p:cNvPr>
                  <p:cNvSpPr txBox="1">
                    <a:spLocks noRot="1" noChangeAspect="1" noMove="1" noResize="1" noEditPoints="1" noAdjustHandles="1" noChangeArrowheads="1" noChangeShapeType="1" noTextEdit="1"/>
                  </p:cNvSpPr>
                  <p:nvPr/>
                </p:nvSpPr>
                <p:spPr>
                  <a:xfrm rot="16200000">
                    <a:off x="5035537" y="3392947"/>
                    <a:ext cx="2137299" cy="338554"/>
                  </a:xfrm>
                  <a:prstGeom prst="rect">
                    <a:avLst/>
                  </a:prstGeom>
                  <a:blipFill>
                    <a:blip r:embed="rId6"/>
                    <a:stretch>
                      <a:fillRect r="-892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C08F9969-FF92-4564-9352-5CEA74EA8E63}"/>
                      </a:ext>
                    </a:extLst>
                  </p:cNvPr>
                  <p:cNvSpPr txBox="1"/>
                  <p:nvPr/>
                </p:nvSpPr>
                <p:spPr>
                  <a:xfrm>
                    <a:off x="6984720" y="4863861"/>
                    <a:ext cx="2135521"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i="1" smtClean="0">
                              <a:latin typeface="Cambria Math" panose="02040503050406030204" pitchFamily="18" charset="0"/>
                            </a:rPr>
                            <m:t>W</m:t>
                          </m:r>
                          <m:r>
                            <m:rPr>
                              <m:sty m:val="p"/>
                            </m:rPr>
                            <a:rPr lang="en-US" altLang="zh-TW" sz="1600">
                              <a:latin typeface="Cambria Math" panose="02040503050406030204" pitchFamily="18" charset="0"/>
                            </a:rPr>
                            <m:t>orkspace</m:t>
                          </m:r>
                          <m:r>
                            <a:rPr lang="en-US" altLang="zh-TW" sz="1600">
                              <a:latin typeface="Cambria Math" panose="02040503050406030204" pitchFamily="18" charset="0"/>
                            </a:rPr>
                            <m:t> </m:t>
                          </m:r>
                          <m:r>
                            <m:rPr>
                              <m:sty m:val="p"/>
                            </m:rPr>
                            <a:rPr lang="en-US" altLang="zh-TW" sz="1600">
                              <a:latin typeface="Cambria Math" panose="02040503050406030204" pitchFamily="18" charset="0"/>
                            </a:rPr>
                            <m:t>radius</m:t>
                          </m:r>
                          <m:r>
                            <a:rPr lang="en-US" altLang="zh-TW" sz="1600" b="0" i="0" smtClean="0">
                              <a:latin typeface="Cambria Math" panose="02040503050406030204" pitchFamily="18" charset="0"/>
                            </a:rPr>
                            <m:t> (</m:t>
                          </m:r>
                          <m:r>
                            <a:rPr lang="zh-TW" altLang="en-US" sz="1600" b="0" i="1" smtClean="0">
                              <a:latin typeface="Cambria Math" panose="02040503050406030204" pitchFamily="18" charset="0"/>
                            </a:rPr>
                            <m:t>𝜇</m:t>
                          </m:r>
                          <m:r>
                            <a:rPr lang="en-US" altLang="zh-TW" sz="1600" b="0" i="1" smtClean="0">
                              <a:latin typeface="Cambria Math" panose="02040503050406030204" pitchFamily="18" charset="0"/>
                            </a:rPr>
                            <m:t>𝑚</m:t>
                          </m:r>
                          <m:r>
                            <a:rPr lang="en-US" altLang="zh-TW" sz="1600" b="0" i="0" smtClean="0">
                              <a:latin typeface="Cambria Math" panose="02040503050406030204" pitchFamily="18" charset="0"/>
                            </a:rPr>
                            <m:t>)</m:t>
                          </m:r>
                        </m:oMath>
                      </m:oMathPara>
                    </a14:m>
                    <a:endParaRPr lang="zh-TW" altLang="en-US" sz="1600" dirty="0"/>
                  </a:p>
                </p:txBody>
              </p:sp>
            </mc:Choice>
            <mc:Fallback xmlns="">
              <p:sp>
                <p:nvSpPr>
                  <p:cNvPr id="27" name="文字方塊 26">
                    <a:extLst>
                      <a:ext uri="{FF2B5EF4-FFF2-40B4-BE49-F238E27FC236}">
                        <a16:creationId xmlns:a16="http://schemas.microsoft.com/office/drawing/2014/main" id="{C08F9969-FF92-4564-9352-5CEA74EA8E63}"/>
                      </a:ext>
                    </a:extLst>
                  </p:cNvPr>
                  <p:cNvSpPr txBox="1">
                    <a:spLocks noRot="1" noChangeAspect="1" noMove="1" noResize="1" noEditPoints="1" noAdjustHandles="1" noChangeArrowheads="1" noChangeShapeType="1" noTextEdit="1"/>
                  </p:cNvSpPr>
                  <p:nvPr/>
                </p:nvSpPr>
                <p:spPr>
                  <a:xfrm>
                    <a:off x="6984720" y="4863861"/>
                    <a:ext cx="2135521" cy="246221"/>
                  </a:xfrm>
                  <a:prstGeom prst="rect">
                    <a:avLst/>
                  </a:prstGeom>
                  <a:blipFill>
                    <a:blip r:embed="rId7"/>
                    <a:stretch>
                      <a:fillRect l="-1709" r="-2849" b="-31707"/>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3386442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54C8E874-6E04-4F06-97C3-1C58F72C5F9C}"/>
                  </a:ext>
                </a:extLst>
              </p:cNvPr>
              <p:cNvSpPr txBox="1"/>
              <p:nvPr/>
            </p:nvSpPr>
            <p:spPr>
              <a:xfrm>
                <a:off x="-2" y="595362"/>
                <a:ext cx="12081933" cy="1351011"/>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en-US" altLang="zh-TW" sz="1400" b="1" dirty="0"/>
                  <a:t>This figure shows the fitting results for the FEM nodes within R≤150μm after both models were calibrated over the same region using their respective convergence </a:t>
                </a:r>
                <a:r>
                  <a:rPr lang="en-US" altLang="zh-TW" sz="1400" b="1" dirty="0" err="1"/>
                  <a:t>points</a:t>
                </a:r>
                <a:r>
                  <a:rPr lang="en-US" altLang="zh-TW" sz="1400" dirty="0" err="1"/>
                  <a:t>.This</a:t>
                </a:r>
                <a:r>
                  <a:rPr lang="en-US" altLang="zh-TW" sz="1400" dirty="0"/>
                  <a:t> figure overlays the distributions of the two models. The red distribution is noticeably more concentrated than the blue one, indicating that the eighteen-parameter model performs better than the one-parameter model in fitting the magnetic field.</a:t>
                </a:r>
              </a:p>
              <a:p>
                <a:pPr marL="285750" indent="-285750">
                  <a:lnSpc>
                    <a:spcPct val="150000"/>
                  </a:lnSpc>
                  <a:buFont typeface="Wingdings" panose="05000000000000000000" pitchFamily="2" charset="2"/>
                  <a:buChar char="l"/>
                </a:pPr>
                <a:r>
                  <a:rPr lang="en-US" altLang="zh-TW" sz="1400" dirty="0"/>
                  <a:t>Workspace radius:</a:t>
                </a:r>
                <a14:m>
                  <m:oMath xmlns:m="http://schemas.openxmlformats.org/officeDocument/2006/math">
                    <m:r>
                      <a:rPr lang="en-US" altLang="zh-TW" sz="1400" b="0" i="1" smtClean="0">
                        <a:latin typeface="Cambria Math" panose="02040503050406030204" pitchFamily="18" charset="0"/>
                      </a:rPr>
                      <m:t>𝑅</m:t>
                    </m:r>
                    <m:r>
                      <a:rPr lang="en-US" altLang="zh-TW" sz="1400" b="0" i="1" smtClean="0">
                        <a:latin typeface="Cambria Math" panose="02040503050406030204" pitchFamily="18" charset="0"/>
                        <a:ea typeface="Cambria Math" panose="02040503050406030204" pitchFamily="18" charset="0"/>
                      </a:rPr>
                      <m:t>≤150</m:t>
                    </m:r>
                    <m:r>
                      <a:rPr lang="zh-TW" altLang="en-US" sz="1400" b="0" i="1" smtClean="0">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oMath>
                </a14:m>
                <a:endParaRPr lang="zh-TW" altLang="en-US" sz="1400" dirty="0"/>
              </a:p>
            </p:txBody>
          </p:sp>
        </mc:Choice>
        <mc:Fallback xmlns="">
          <p:sp>
            <p:nvSpPr>
              <p:cNvPr id="11" name="文字方塊 10">
                <a:extLst>
                  <a:ext uri="{FF2B5EF4-FFF2-40B4-BE49-F238E27FC236}">
                    <a16:creationId xmlns:a16="http://schemas.microsoft.com/office/drawing/2014/main" id="{54C8E874-6E04-4F06-97C3-1C58F72C5F9C}"/>
                  </a:ext>
                </a:extLst>
              </p:cNvPr>
              <p:cNvSpPr txBox="1">
                <a:spLocks noRot="1" noChangeAspect="1" noMove="1" noResize="1" noEditPoints="1" noAdjustHandles="1" noChangeArrowheads="1" noChangeShapeType="1" noTextEdit="1"/>
              </p:cNvSpPr>
              <p:nvPr/>
            </p:nvSpPr>
            <p:spPr>
              <a:xfrm>
                <a:off x="-2" y="595362"/>
                <a:ext cx="12081933" cy="1351011"/>
              </a:xfrm>
              <a:prstGeom prst="rect">
                <a:avLst/>
              </a:prstGeom>
              <a:blipFill>
                <a:blip r:embed="rId3"/>
                <a:stretch>
                  <a:fillRect l="-50" b="-4072"/>
                </a:stretch>
              </a:blipFill>
            </p:spPr>
            <p:txBody>
              <a:bodyPr/>
              <a:lstStyle/>
              <a:p>
                <a:r>
                  <a:rPr lang="zh-TW" altLang="en-US">
                    <a:noFill/>
                  </a:rPr>
                  <a:t> </a:t>
                </a:r>
              </a:p>
            </p:txBody>
          </p:sp>
        </mc:Fallback>
      </mc:AlternateContent>
      <p:grpSp>
        <p:nvGrpSpPr>
          <p:cNvPr id="10" name="群組 9">
            <a:extLst>
              <a:ext uri="{FF2B5EF4-FFF2-40B4-BE49-F238E27FC236}">
                <a16:creationId xmlns:a16="http://schemas.microsoft.com/office/drawing/2014/main" id="{45DC66DA-A8D3-4534-830F-41378CA4E958}"/>
              </a:ext>
            </a:extLst>
          </p:cNvPr>
          <p:cNvGrpSpPr/>
          <p:nvPr/>
        </p:nvGrpSpPr>
        <p:grpSpPr>
          <a:xfrm>
            <a:off x="267846" y="2609297"/>
            <a:ext cx="3127528" cy="2526638"/>
            <a:chOff x="267846" y="2609297"/>
            <a:chExt cx="3127528" cy="2526638"/>
          </a:xfrm>
        </p:grpSpPr>
        <p:pic>
          <p:nvPicPr>
            <p:cNvPr id="9" name="圖片 8">
              <a:extLst>
                <a:ext uri="{FF2B5EF4-FFF2-40B4-BE49-F238E27FC236}">
                  <a16:creationId xmlns:a16="http://schemas.microsoft.com/office/drawing/2014/main" id="{2C32BC79-CC50-4B51-86C6-A7E2E8D89E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6364" y="2609297"/>
              <a:ext cx="2979010" cy="2413770"/>
            </a:xfrm>
            <a:prstGeom prst="rect">
              <a:avLst/>
            </a:prstGeom>
          </p:spPr>
        </p:pic>
        <p:grpSp>
          <p:nvGrpSpPr>
            <p:cNvPr id="24" name="群組 23">
              <a:extLst>
                <a:ext uri="{FF2B5EF4-FFF2-40B4-BE49-F238E27FC236}">
                  <a16:creationId xmlns:a16="http://schemas.microsoft.com/office/drawing/2014/main" id="{736B9DAB-E3B5-4F04-9A4C-16D89A3418FB}"/>
                </a:ext>
              </a:extLst>
            </p:cNvPr>
            <p:cNvGrpSpPr/>
            <p:nvPr/>
          </p:nvGrpSpPr>
          <p:grpSpPr>
            <a:xfrm>
              <a:off x="267846" y="2654474"/>
              <a:ext cx="2805917" cy="2481461"/>
              <a:chOff x="814236" y="1398559"/>
              <a:chExt cx="3014082" cy="2627718"/>
            </a:xfrm>
          </p:grpSpPr>
          <p:grpSp>
            <p:nvGrpSpPr>
              <p:cNvPr id="22" name="群組 21">
                <a:extLst>
                  <a:ext uri="{FF2B5EF4-FFF2-40B4-BE49-F238E27FC236}">
                    <a16:creationId xmlns:a16="http://schemas.microsoft.com/office/drawing/2014/main" id="{A4A560D3-71C7-4CB4-8189-12B276A02F3D}"/>
                  </a:ext>
                </a:extLst>
              </p:cNvPr>
              <p:cNvGrpSpPr/>
              <p:nvPr/>
            </p:nvGrpSpPr>
            <p:grpSpPr>
              <a:xfrm>
                <a:off x="827341" y="1714784"/>
                <a:ext cx="2544684" cy="2311493"/>
                <a:chOff x="827341" y="1714784"/>
                <a:chExt cx="2544684" cy="2311493"/>
              </a:xfrm>
            </p:grpSpPr>
            <p:sp>
              <p:nvSpPr>
                <p:cNvPr id="19" name="矩形 18">
                  <a:extLst>
                    <a:ext uri="{FF2B5EF4-FFF2-40B4-BE49-F238E27FC236}">
                      <a16:creationId xmlns:a16="http://schemas.microsoft.com/office/drawing/2014/main" id="{43ED5006-814D-4846-B24D-AE6159A9C482}"/>
                    </a:ext>
                  </a:extLst>
                </p:cNvPr>
                <p:cNvSpPr/>
                <p:nvPr/>
              </p:nvSpPr>
              <p:spPr>
                <a:xfrm>
                  <a:off x="827341" y="1714784"/>
                  <a:ext cx="287866" cy="143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2D0C6A87-3CD1-4B1B-A571-0BAF86B0C5C6}"/>
                    </a:ext>
                  </a:extLst>
                </p:cNvPr>
                <p:cNvSpPr/>
                <p:nvPr/>
              </p:nvSpPr>
              <p:spPr>
                <a:xfrm rot="5400000">
                  <a:off x="2390108" y="3044359"/>
                  <a:ext cx="287866" cy="1675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A2DF51AA-0F9C-4EED-9B62-90FB9ABAA407}"/>
                      </a:ext>
                    </a:extLst>
                  </p:cNvPr>
                  <p:cNvSpPr txBox="1"/>
                  <p:nvPr/>
                </p:nvSpPr>
                <p:spPr>
                  <a:xfrm>
                    <a:off x="1755463" y="3691404"/>
                    <a:ext cx="2072855" cy="2607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Modeling</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25" name="文字方塊 24">
                    <a:extLst>
                      <a:ext uri="{FF2B5EF4-FFF2-40B4-BE49-F238E27FC236}">
                        <a16:creationId xmlns:a16="http://schemas.microsoft.com/office/drawing/2014/main" id="{A2DF51AA-0F9C-4EED-9B62-90FB9ABAA407}"/>
                      </a:ext>
                    </a:extLst>
                  </p:cNvPr>
                  <p:cNvSpPr txBox="1">
                    <a:spLocks noRot="1" noChangeAspect="1" noMove="1" noResize="1" noEditPoints="1" noAdjustHandles="1" noChangeArrowheads="1" noChangeShapeType="1" noTextEdit="1"/>
                  </p:cNvSpPr>
                  <p:nvPr/>
                </p:nvSpPr>
                <p:spPr>
                  <a:xfrm>
                    <a:off x="1755463" y="3691404"/>
                    <a:ext cx="2072855" cy="260733"/>
                  </a:xfrm>
                  <a:prstGeom prst="rect">
                    <a:avLst/>
                  </a:prstGeom>
                  <a:blipFill>
                    <a:blip r:embed="rId5"/>
                    <a:stretch>
                      <a:fillRect l="-3481" r="-949" b="-32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3958413D-FBA3-41F1-A1D7-B896CB461548}"/>
                      </a:ext>
                    </a:extLst>
                  </p:cNvPr>
                  <p:cNvSpPr txBox="1"/>
                  <p:nvPr/>
                </p:nvSpPr>
                <p:spPr>
                  <a:xfrm rot="16200000">
                    <a:off x="-82297" y="2295092"/>
                    <a:ext cx="2057554" cy="2644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26" name="文字方塊 25">
                    <a:extLst>
                      <a:ext uri="{FF2B5EF4-FFF2-40B4-BE49-F238E27FC236}">
                        <a16:creationId xmlns:a16="http://schemas.microsoft.com/office/drawing/2014/main" id="{3958413D-FBA3-41F1-A1D7-B896CB461548}"/>
                      </a:ext>
                    </a:extLst>
                  </p:cNvPr>
                  <p:cNvSpPr txBox="1">
                    <a:spLocks noRot="1" noChangeAspect="1" noMove="1" noResize="1" noEditPoints="1" noAdjustHandles="1" noChangeArrowheads="1" noChangeShapeType="1" noTextEdit="1"/>
                  </p:cNvSpPr>
                  <p:nvPr/>
                </p:nvSpPr>
                <p:spPr>
                  <a:xfrm rot="16200000">
                    <a:off x="-82297" y="2295092"/>
                    <a:ext cx="2057554" cy="264487"/>
                  </a:xfrm>
                  <a:prstGeom prst="rect">
                    <a:avLst/>
                  </a:prstGeom>
                  <a:blipFill>
                    <a:blip r:embed="rId6"/>
                    <a:stretch>
                      <a:fillRect t="-2194" r="-32500" b="-2194"/>
                    </a:stretch>
                  </a:blipFill>
                </p:spPr>
                <p:txBody>
                  <a:bodyPr/>
                  <a:lstStyle/>
                  <a:p>
                    <a:r>
                      <a:rPr lang="zh-TW" altLang="en-US">
                        <a:noFill/>
                      </a:rPr>
                      <a:t> </a:t>
                    </a:r>
                  </a:p>
                </p:txBody>
              </p:sp>
            </mc:Fallback>
          </mc:AlternateContent>
        </p:grpSp>
      </p:grpSp>
      <p:graphicFrame>
        <p:nvGraphicFramePr>
          <p:cNvPr id="14" name="表格 14">
            <a:extLst>
              <a:ext uri="{FF2B5EF4-FFF2-40B4-BE49-F238E27FC236}">
                <a16:creationId xmlns:a16="http://schemas.microsoft.com/office/drawing/2014/main" id="{669D49AD-E8AD-4123-BA4B-4C406F1D844B}"/>
              </a:ext>
            </a:extLst>
          </p:cNvPr>
          <p:cNvGraphicFramePr>
            <a:graphicFrameLocks noGrp="1"/>
          </p:cNvGraphicFramePr>
          <p:nvPr>
            <p:extLst>
              <p:ext uri="{D42A27DB-BD31-4B8C-83A1-F6EECF244321}">
                <p14:modId xmlns:p14="http://schemas.microsoft.com/office/powerpoint/2010/main" val="3439610242"/>
              </p:ext>
            </p:extLst>
          </p:nvPr>
        </p:nvGraphicFramePr>
        <p:xfrm>
          <a:off x="59267" y="5557074"/>
          <a:ext cx="4419600" cy="1204364"/>
        </p:xfrm>
        <a:graphic>
          <a:graphicData uri="http://schemas.openxmlformats.org/drawingml/2006/table">
            <a:tbl>
              <a:tblPr firstRow="1" bandRow="1">
                <a:tableStyleId>{5940675A-B579-460E-94D1-54222C63F5DA}</a:tableStyleId>
              </a:tblPr>
              <a:tblGrid>
                <a:gridCol w="948265">
                  <a:extLst>
                    <a:ext uri="{9D8B030D-6E8A-4147-A177-3AD203B41FA5}">
                      <a16:colId xmlns:a16="http://schemas.microsoft.com/office/drawing/2014/main" val="2949357934"/>
                    </a:ext>
                  </a:extLst>
                </a:gridCol>
                <a:gridCol w="1998135">
                  <a:extLst>
                    <a:ext uri="{9D8B030D-6E8A-4147-A177-3AD203B41FA5}">
                      <a16:colId xmlns:a16="http://schemas.microsoft.com/office/drawing/2014/main" val="3764907268"/>
                    </a:ext>
                  </a:extLst>
                </a:gridCol>
                <a:gridCol w="1473200">
                  <a:extLst>
                    <a:ext uri="{9D8B030D-6E8A-4147-A177-3AD203B41FA5}">
                      <a16:colId xmlns:a16="http://schemas.microsoft.com/office/drawing/2014/main" val="855758062"/>
                    </a:ext>
                  </a:extLst>
                </a:gridCol>
              </a:tblGrid>
              <a:tr h="423929">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en-US" altLang="zh-TW" dirty="0"/>
                        <a:t>Single</a:t>
                      </a:r>
                      <a:endParaRPr lang="zh-TW" altLang="en-US" dirty="0"/>
                    </a:p>
                  </a:txBody>
                  <a:tcPr/>
                </a:tc>
                <a:tc>
                  <a:txBody>
                    <a:bodyPr/>
                    <a:lstStyle/>
                    <a:p>
                      <a:pPr algn="ctr"/>
                      <a:r>
                        <a:rPr lang="en-US" altLang="zh-TW" dirty="0"/>
                        <a:t>Eighteen</a:t>
                      </a:r>
                      <a:endParaRPr lang="zh-TW" altLang="en-US" dirty="0"/>
                    </a:p>
                  </a:txBody>
                  <a:tcPr/>
                </a:tc>
                <a:extLst>
                  <a:ext uri="{0D108BD9-81ED-4DB2-BD59-A6C34878D82A}">
                    <a16:rowId xmlns:a16="http://schemas.microsoft.com/office/drawing/2014/main" val="2420780242"/>
                  </a:ext>
                </a:extLst>
              </a:tr>
              <a:tr h="780435">
                <a:tc>
                  <a:txBody>
                    <a:bodyPr/>
                    <a:lstStyle/>
                    <a:p>
                      <a:pPr algn="ctr"/>
                      <a:r>
                        <a:rPr lang="en-US" altLang="zh-TW" dirty="0"/>
                        <a:t>Mean</a:t>
                      </a:r>
                      <a:endParaRPr lang="zh-TW" altLang="en-US" dirty="0"/>
                    </a:p>
                  </a:txBody>
                  <a:tcPr/>
                </a:tc>
                <a:tc>
                  <a:txBody>
                    <a:bodyPr/>
                    <a:lstStyle/>
                    <a:p>
                      <a:pPr algn="ctr"/>
                      <a:r>
                        <a:rPr lang="en-US" altLang="zh-TW" dirty="0"/>
                        <a:t>0.2878mT</a:t>
                      </a:r>
                      <a:endParaRPr lang="zh-TW" altLang="en-US" dirty="0"/>
                    </a:p>
                  </a:txBody>
                  <a:tcPr/>
                </a:tc>
                <a:tc>
                  <a:txBody>
                    <a:bodyPr/>
                    <a:lstStyle/>
                    <a:p>
                      <a:pPr algn="ctr"/>
                      <a:r>
                        <a:rPr lang="en-US" altLang="zh-TW" dirty="0"/>
                        <a:t>0.0340mT</a:t>
                      </a:r>
                      <a:endParaRPr lang="zh-TW" altLang="en-US" dirty="0"/>
                    </a:p>
                  </a:txBody>
                  <a:tcPr/>
                </a:tc>
                <a:extLst>
                  <a:ext uri="{0D108BD9-81ED-4DB2-BD59-A6C34878D82A}">
                    <a16:rowId xmlns:a16="http://schemas.microsoft.com/office/drawing/2014/main" val="2702200097"/>
                  </a:ext>
                </a:extLst>
              </a:tr>
            </a:tbl>
          </a:graphicData>
        </a:graphic>
      </p:graphicFrame>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1142553D-29A4-4C0B-9077-BB416D4C17BA}"/>
                  </a:ext>
                </a:extLst>
              </p:cNvPr>
              <p:cNvSpPr txBox="1"/>
              <p:nvPr/>
            </p:nvSpPr>
            <p:spPr>
              <a:xfrm>
                <a:off x="-2" y="2055648"/>
                <a:ext cx="4182535" cy="390748"/>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Long(</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oMath>
                </a14:m>
                <a:r>
                  <a:rPr lang="en-US" altLang="zh-TW" dirty="0"/>
                  <a:t>:1771)</a:t>
                </a:r>
                <a:endParaRPr lang="zh-TW" altLang="en-US" dirty="0"/>
              </a:p>
            </p:txBody>
          </p:sp>
        </mc:Choice>
        <mc:Fallback xmlns="">
          <p:sp>
            <p:nvSpPr>
              <p:cNvPr id="4" name="文字方塊 3">
                <a:extLst>
                  <a:ext uri="{FF2B5EF4-FFF2-40B4-BE49-F238E27FC236}">
                    <a16:creationId xmlns:a16="http://schemas.microsoft.com/office/drawing/2014/main" id="{1142553D-29A4-4C0B-9077-BB416D4C17BA}"/>
                  </a:ext>
                </a:extLst>
              </p:cNvPr>
              <p:cNvSpPr txBox="1">
                <a:spLocks noRot="1" noChangeAspect="1" noMove="1" noResize="1" noEditPoints="1" noAdjustHandles="1" noChangeArrowheads="1" noChangeShapeType="1" noTextEdit="1"/>
              </p:cNvSpPr>
              <p:nvPr/>
            </p:nvSpPr>
            <p:spPr>
              <a:xfrm>
                <a:off x="-2" y="2055648"/>
                <a:ext cx="4182535" cy="390748"/>
              </a:xfrm>
              <a:prstGeom prst="rect">
                <a:avLst/>
              </a:prstGeom>
              <a:blipFill>
                <a:blip r:embed="rId7"/>
                <a:stretch>
                  <a:fillRect l="-875" t="-6250" b="-203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032F8A4F-A6DD-425A-957D-E730D45A7FFC}"/>
                  </a:ext>
                </a:extLst>
              </p:cNvPr>
              <p:cNvSpPr txBox="1"/>
              <p:nvPr/>
            </p:nvSpPr>
            <p:spPr>
              <a:xfrm>
                <a:off x="5564032" y="2055648"/>
                <a:ext cx="4748367" cy="390748"/>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Zhi</a:t>
                </a:r>
                <a:r>
                  <a:rPr lang="en-US" altLang="zh-TW" dirty="0"/>
                  <a:t> </a:t>
                </a:r>
                <a:r>
                  <a:rPr lang="en-US" altLang="zh-TW" dirty="0" err="1"/>
                  <a:t>peng</a:t>
                </a:r>
                <a:r>
                  <a:rPr lang="en-US" altLang="zh-TW"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oMath>
                </a14:m>
                <a:r>
                  <a:rPr lang="en-US" altLang="zh-TW" dirty="0"/>
                  <a:t>:1791)</a:t>
                </a:r>
                <a:endParaRPr lang="zh-TW" altLang="en-US" dirty="0"/>
              </a:p>
            </p:txBody>
          </p:sp>
        </mc:Choice>
        <mc:Fallback xmlns="">
          <p:sp>
            <p:nvSpPr>
              <p:cNvPr id="20" name="文字方塊 19">
                <a:extLst>
                  <a:ext uri="{FF2B5EF4-FFF2-40B4-BE49-F238E27FC236}">
                    <a16:creationId xmlns:a16="http://schemas.microsoft.com/office/drawing/2014/main" id="{032F8A4F-A6DD-425A-957D-E730D45A7FFC}"/>
                  </a:ext>
                </a:extLst>
              </p:cNvPr>
              <p:cNvSpPr txBox="1">
                <a:spLocks noRot="1" noChangeAspect="1" noMove="1" noResize="1" noEditPoints="1" noAdjustHandles="1" noChangeArrowheads="1" noChangeShapeType="1" noTextEdit="1"/>
              </p:cNvSpPr>
              <p:nvPr/>
            </p:nvSpPr>
            <p:spPr>
              <a:xfrm>
                <a:off x="5564032" y="2055648"/>
                <a:ext cx="4748367" cy="390748"/>
              </a:xfrm>
              <a:prstGeom prst="rect">
                <a:avLst/>
              </a:prstGeom>
              <a:blipFill>
                <a:blip r:embed="rId8"/>
                <a:stretch>
                  <a:fillRect l="-899" t="-6250" b="-20313"/>
                </a:stretch>
              </a:blipFill>
            </p:spPr>
            <p:txBody>
              <a:bodyPr/>
              <a:lstStyle/>
              <a:p>
                <a:r>
                  <a:rPr lang="zh-TW" altLang="en-US">
                    <a:noFill/>
                  </a:rPr>
                  <a:t> </a:t>
                </a:r>
              </a:p>
            </p:txBody>
          </p:sp>
        </mc:Fallback>
      </mc:AlternateContent>
      <p:sp>
        <p:nvSpPr>
          <p:cNvPr id="8" name="文字方塊 7">
            <a:extLst>
              <a:ext uri="{FF2B5EF4-FFF2-40B4-BE49-F238E27FC236}">
                <a16:creationId xmlns:a16="http://schemas.microsoft.com/office/drawing/2014/main" id="{83C46DA0-26FB-4386-B4A4-2257E4A89D3A}"/>
              </a:ext>
            </a:extLst>
          </p:cNvPr>
          <p:cNvSpPr txBox="1"/>
          <p:nvPr/>
        </p:nvSpPr>
        <p:spPr>
          <a:xfrm>
            <a:off x="-93133" y="5185273"/>
            <a:ext cx="2675466" cy="369332"/>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Resolution:2.8uT</a:t>
            </a:r>
            <a:endParaRPr lang="zh-TW" altLang="en-US" dirty="0"/>
          </a:p>
        </p:txBody>
      </p:sp>
      <p:sp>
        <p:nvSpPr>
          <p:cNvPr id="27" name="文字方塊 26">
            <a:extLst>
              <a:ext uri="{FF2B5EF4-FFF2-40B4-BE49-F238E27FC236}">
                <a16:creationId xmlns:a16="http://schemas.microsoft.com/office/drawing/2014/main" id="{04338258-6120-45D6-A40D-58A718F65647}"/>
              </a:ext>
            </a:extLst>
          </p:cNvPr>
          <p:cNvSpPr txBox="1"/>
          <p:nvPr/>
        </p:nvSpPr>
        <p:spPr>
          <a:xfrm>
            <a:off x="5664200" y="5139537"/>
            <a:ext cx="2675466" cy="369332"/>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Resolution:17uT</a:t>
            </a:r>
            <a:endParaRPr lang="zh-TW" altLang="en-US" dirty="0"/>
          </a:p>
        </p:txBody>
      </p:sp>
      <p:graphicFrame>
        <p:nvGraphicFramePr>
          <p:cNvPr id="28" name="表格 14">
            <a:extLst>
              <a:ext uri="{FF2B5EF4-FFF2-40B4-BE49-F238E27FC236}">
                <a16:creationId xmlns:a16="http://schemas.microsoft.com/office/drawing/2014/main" id="{9BC0D067-8E63-4387-9F47-6B1D924C32A7}"/>
              </a:ext>
            </a:extLst>
          </p:cNvPr>
          <p:cNvGraphicFramePr>
            <a:graphicFrameLocks noGrp="1"/>
          </p:cNvGraphicFramePr>
          <p:nvPr>
            <p:extLst>
              <p:ext uri="{D42A27DB-BD31-4B8C-83A1-F6EECF244321}">
                <p14:modId xmlns:p14="http://schemas.microsoft.com/office/powerpoint/2010/main" val="1589385345"/>
              </p:ext>
            </p:extLst>
          </p:nvPr>
        </p:nvGraphicFramePr>
        <p:xfrm>
          <a:off x="5728415" y="5549159"/>
          <a:ext cx="4419600" cy="1204364"/>
        </p:xfrm>
        <a:graphic>
          <a:graphicData uri="http://schemas.openxmlformats.org/drawingml/2006/table">
            <a:tbl>
              <a:tblPr firstRow="1" bandRow="1">
                <a:tableStyleId>{5940675A-B579-460E-94D1-54222C63F5DA}</a:tableStyleId>
              </a:tblPr>
              <a:tblGrid>
                <a:gridCol w="948265">
                  <a:extLst>
                    <a:ext uri="{9D8B030D-6E8A-4147-A177-3AD203B41FA5}">
                      <a16:colId xmlns:a16="http://schemas.microsoft.com/office/drawing/2014/main" val="2949357934"/>
                    </a:ext>
                  </a:extLst>
                </a:gridCol>
                <a:gridCol w="1998135">
                  <a:extLst>
                    <a:ext uri="{9D8B030D-6E8A-4147-A177-3AD203B41FA5}">
                      <a16:colId xmlns:a16="http://schemas.microsoft.com/office/drawing/2014/main" val="3764907268"/>
                    </a:ext>
                  </a:extLst>
                </a:gridCol>
                <a:gridCol w="1473200">
                  <a:extLst>
                    <a:ext uri="{9D8B030D-6E8A-4147-A177-3AD203B41FA5}">
                      <a16:colId xmlns:a16="http://schemas.microsoft.com/office/drawing/2014/main" val="855758062"/>
                    </a:ext>
                  </a:extLst>
                </a:gridCol>
              </a:tblGrid>
              <a:tr h="423929">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en-US" altLang="zh-TW" dirty="0"/>
                        <a:t>Single</a:t>
                      </a:r>
                      <a:endParaRPr lang="zh-TW" altLang="en-US" dirty="0"/>
                    </a:p>
                  </a:txBody>
                  <a:tcPr/>
                </a:tc>
                <a:tc>
                  <a:txBody>
                    <a:bodyPr/>
                    <a:lstStyle/>
                    <a:p>
                      <a:pPr algn="ctr"/>
                      <a:r>
                        <a:rPr lang="en-US" altLang="zh-TW" dirty="0"/>
                        <a:t>Eighteen</a:t>
                      </a:r>
                      <a:endParaRPr lang="zh-TW" altLang="en-US" dirty="0"/>
                    </a:p>
                  </a:txBody>
                  <a:tcPr/>
                </a:tc>
                <a:extLst>
                  <a:ext uri="{0D108BD9-81ED-4DB2-BD59-A6C34878D82A}">
                    <a16:rowId xmlns:a16="http://schemas.microsoft.com/office/drawing/2014/main" val="2420780242"/>
                  </a:ext>
                </a:extLst>
              </a:tr>
              <a:tr h="780435">
                <a:tc>
                  <a:txBody>
                    <a:bodyPr/>
                    <a:lstStyle/>
                    <a:p>
                      <a:pPr algn="ctr"/>
                      <a:r>
                        <a:rPr lang="en-US" altLang="zh-TW" dirty="0"/>
                        <a:t>Mean</a:t>
                      </a:r>
                      <a:endParaRPr lang="zh-TW" altLang="en-US" dirty="0"/>
                    </a:p>
                  </a:txBody>
                  <a:tcPr/>
                </a:tc>
                <a:tc>
                  <a:txBody>
                    <a:bodyPr/>
                    <a:lstStyle/>
                    <a:p>
                      <a:pPr algn="ctr"/>
                      <a:r>
                        <a:rPr lang="en-US" altLang="zh-TW" dirty="0"/>
                        <a:t>3.0658mT</a:t>
                      </a:r>
                      <a:endParaRPr lang="zh-TW" altLang="en-US" dirty="0"/>
                    </a:p>
                  </a:txBody>
                  <a:tcPr/>
                </a:tc>
                <a:tc>
                  <a:txBody>
                    <a:bodyPr/>
                    <a:lstStyle/>
                    <a:p>
                      <a:pPr algn="ctr"/>
                      <a:r>
                        <a:rPr lang="en-US" altLang="zh-TW" dirty="0"/>
                        <a:t>0.2190mT</a:t>
                      </a:r>
                      <a:endParaRPr lang="zh-TW" altLang="en-US" dirty="0"/>
                    </a:p>
                  </a:txBody>
                  <a:tcPr/>
                </a:tc>
                <a:extLst>
                  <a:ext uri="{0D108BD9-81ED-4DB2-BD59-A6C34878D82A}">
                    <a16:rowId xmlns:a16="http://schemas.microsoft.com/office/drawing/2014/main" val="2702200097"/>
                  </a:ext>
                </a:extLst>
              </a:tr>
            </a:tbl>
          </a:graphicData>
        </a:graphic>
      </p:graphicFrame>
      <p:grpSp>
        <p:nvGrpSpPr>
          <p:cNvPr id="15" name="群組 14">
            <a:extLst>
              <a:ext uri="{FF2B5EF4-FFF2-40B4-BE49-F238E27FC236}">
                <a16:creationId xmlns:a16="http://schemas.microsoft.com/office/drawing/2014/main" id="{B8D8C850-0DE2-4BF3-9997-29F88FFFB114}"/>
              </a:ext>
            </a:extLst>
          </p:cNvPr>
          <p:cNvGrpSpPr/>
          <p:nvPr/>
        </p:nvGrpSpPr>
        <p:grpSpPr>
          <a:xfrm>
            <a:off x="6040964" y="2579600"/>
            <a:ext cx="3209534" cy="2556335"/>
            <a:chOff x="5973228" y="2615244"/>
            <a:chExt cx="3209534" cy="2556335"/>
          </a:xfrm>
        </p:grpSpPr>
        <p:pic>
          <p:nvPicPr>
            <p:cNvPr id="13" name="圖片 12">
              <a:extLst>
                <a:ext uri="{FF2B5EF4-FFF2-40B4-BE49-F238E27FC236}">
                  <a16:creationId xmlns:a16="http://schemas.microsoft.com/office/drawing/2014/main" id="{B3A51DA1-514E-40AC-83BE-011CDCC5762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081562" y="2615244"/>
              <a:ext cx="3101200" cy="2512775"/>
            </a:xfrm>
            <a:prstGeom prst="rect">
              <a:avLst/>
            </a:prstGeom>
          </p:spPr>
        </p:pic>
        <p:grpSp>
          <p:nvGrpSpPr>
            <p:cNvPr id="21" name="群組 20">
              <a:extLst>
                <a:ext uri="{FF2B5EF4-FFF2-40B4-BE49-F238E27FC236}">
                  <a16:creationId xmlns:a16="http://schemas.microsoft.com/office/drawing/2014/main" id="{D44F999E-8D95-49B7-9F12-0234B4AB9934}"/>
                </a:ext>
              </a:extLst>
            </p:cNvPr>
            <p:cNvGrpSpPr/>
            <p:nvPr/>
          </p:nvGrpSpPr>
          <p:grpSpPr>
            <a:xfrm>
              <a:off x="5973228" y="2661192"/>
              <a:ext cx="2958400" cy="2510387"/>
              <a:chOff x="5973228" y="2661192"/>
              <a:chExt cx="2958400" cy="2510387"/>
            </a:xfrm>
          </p:grpSpPr>
          <p:grpSp>
            <p:nvGrpSpPr>
              <p:cNvPr id="18" name="群組 17">
                <a:extLst>
                  <a:ext uri="{FF2B5EF4-FFF2-40B4-BE49-F238E27FC236}">
                    <a16:creationId xmlns:a16="http://schemas.microsoft.com/office/drawing/2014/main" id="{6931D5A7-ACC8-4EE7-8486-2C85374A810D}"/>
                  </a:ext>
                </a:extLst>
              </p:cNvPr>
              <p:cNvGrpSpPr/>
              <p:nvPr/>
            </p:nvGrpSpPr>
            <p:grpSpPr>
              <a:xfrm>
                <a:off x="5973228" y="2942446"/>
                <a:ext cx="2366438" cy="2229133"/>
                <a:chOff x="5973228" y="2942446"/>
                <a:chExt cx="2366438" cy="2229133"/>
              </a:xfrm>
            </p:grpSpPr>
            <p:sp>
              <p:nvSpPr>
                <p:cNvPr id="17" name="矩形 16">
                  <a:extLst>
                    <a:ext uri="{FF2B5EF4-FFF2-40B4-BE49-F238E27FC236}">
                      <a16:creationId xmlns:a16="http://schemas.microsoft.com/office/drawing/2014/main" id="{B83CBE7F-4474-4567-A73B-01C32163BF8F}"/>
                    </a:ext>
                  </a:extLst>
                </p:cNvPr>
                <p:cNvSpPr/>
                <p:nvPr/>
              </p:nvSpPr>
              <p:spPr>
                <a:xfrm>
                  <a:off x="7069667" y="4925358"/>
                  <a:ext cx="1269999" cy="246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D02A921D-58AA-4FA2-AC94-92F1D96D61DA}"/>
                    </a:ext>
                  </a:extLst>
                </p:cNvPr>
                <p:cNvSpPr/>
                <p:nvPr/>
              </p:nvSpPr>
              <p:spPr>
                <a:xfrm rot="16200000">
                  <a:off x="5412796" y="3502878"/>
                  <a:ext cx="1367085" cy="246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9CA0D22B-D7A3-4BF1-81EA-A45EB383091B}"/>
                      </a:ext>
                    </a:extLst>
                  </p:cNvPr>
                  <p:cNvSpPr txBox="1"/>
                  <p:nvPr/>
                </p:nvSpPr>
                <p:spPr>
                  <a:xfrm>
                    <a:off x="7001933" y="4900447"/>
                    <a:ext cx="192969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Modeling</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30" name="文字方塊 29">
                    <a:extLst>
                      <a:ext uri="{FF2B5EF4-FFF2-40B4-BE49-F238E27FC236}">
                        <a16:creationId xmlns:a16="http://schemas.microsoft.com/office/drawing/2014/main" id="{9CA0D22B-D7A3-4BF1-81EA-A45EB383091B}"/>
                      </a:ext>
                    </a:extLst>
                  </p:cNvPr>
                  <p:cNvSpPr txBox="1">
                    <a:spLocks noRot="1" noChangeAspect="1" noMove="1" noResize="1" noEditPoints="1" noAdjustHandles="1" noChangeArrowheads="1" noChangeShapeType="1" noTextEdit="1"/>
                  </p:cNvSpPr>
                  <p:nvPr/>
                </p:nvSpPr>
                <p:spPr>
                  <a:xfrm>
                    <a:off x="7001933" y="4900447"/>
                    <a:ext cx="1929695" cy="246221"/>
                  </a:xfrm>
                  <a:prstGeom prst="rect">
                    <a:avLst/>
                  </a:prstGeom>
                  <a:blipFill>
                    <a:blip r:embed="rId10"/>
                    <a:stretch>
                      <a:fillRect l="-3481" r="-949" b="-3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6810F8E4-06BA-4B75-9E31-F9B423B88DEA}"/>
                      </a:ext>
                    </a:extLst>
                  </p:cNvPr>
                  <p:cNvSpPr txBox="1"/>
                  <p:nvPr/>
                </p:nvSpPr>
                <p:spPr>
                  <a:xfrm rot="16200000">
                    <a:off x="5125547" y="3509597"/>
                    <a:ext cx="19430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31" name="文字方塊 30">
                    <a:extLst>
                      <a:ext uri="{FF2B5EF4-FFF2-40B4-BE49-F238E27FC236}">
                        <a16:creationId xmlns:a16="http://schemas.microsoft.com/office/drawing/2014/main" id="{6810F8E4-06BA-4B75-9E31-F9B423B88DEA}"/>
                      </a:ext>
                    </a:extLst>
                  </p:cNvPr>
                  <p:cNvSpPr txBox="1">
                    <a:spLocks noRot="1" noChangeAspect="1" noMove="1" noResize="1" noEditPoints="1" noAdjustHandles="1" noChangeArrowheads="1" noChangeShapeType="1" noTextEdit="1"/>
                  </p:cNvSpPr>
                  <p:nvPr/>
                </p:nvSpPr>
                <p:spPr>
                  <a:xfrm rot="16200000">
                    <a:off x="5125547" y="3509597"/>
                    <a:ext cx="1943032" cy="246221"/>
                  </a:xfrm>
                  <a:prstGeom prst="rect">
                    <a:avLst/>
                  </a:prstGeom>
                  <a:blipFill>
                    <a:blip r:embed="rId11"/>
                    <a:stretch>
                      <a:fillRect t="-2516" r="-35000" b="-2201"/>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3963438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90509"/>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6" name="auto caption"/>
          <p:cNvSpPr txBox="1"/>
          <p:nvPr/>
        </p:nvSpPr>
        <p:spPr>
          <a:xfrm>
            <a:off x="-33943" y="586474"/>
            <a:ext cx="12115876" cy="666593"/>
          </a:xfrm>
          <a:prstGeom prst="rect">
            <a:avLst/>
          </a:prstGeom>
          <a:noFill/>
        </p:spPr>
        <p:txBody>
          <a:bodyPr wrap="square" rtlCol="0">
            <a:normAutofit/>
          </a:bodyPr>
          <a:lstStyle/>
          <a:p>
            <a:pPr marL="285750" indent="-285750">
              <a:buFont typeface="Wingdings" panose="05000000000000000000" pitchFamily="2" charset="2"/>
              <a:buChar char="l"/>
            </a:pPr>
            <a:r>
              <a:rPr lang="en-US" altLang="zh-TW" dirty="0"/>
              <a:t>Setup: </a:t>
            </a:r>
            <a:r>
              <a:rPr lang="en-US" altLang="zh-TW" b="1" dirty="0"/>
              <a:t>Calibration is performed using the eighteen-parameter calibration points, followed by fitting to the FEM nodes within the workspace</a:t>
            </a:r>
            <a:r>
              <a:rPr lang="en-US" altLang="zh-TW" dirty="0"/>
              <a:t>. </a:t>
            </a:r>
          </a:p>
        </p:txBody>
      </p:sp>
      <p:grpSp>
        <p:nvGrpSpPr>
          <p:cNvPr id="10" name="群組 9">
            <a:extLst>
              <a:ext uri="{FF2B5EF4-FFF2-40B4-BE49-F238E27FC236}">
                <a16:creationId xmlns:a16="http://schemas.microsoft.com/office/drawing/2014/main" id="{46E337DB-BFAF-48C6-968A-F412032122DE}"/>
              </a:ext>
            </a:extLst>
          </p:cNvPr>
          <p:cNvGrpSpPr/>
          <p:nvPr/>
        </p:nvGrpSpPr>
        <p:grpSpPr>
          <a:xfrm>
            <a:off x="737840" y="1522417"/>
            <a:ext cx="3385944" cy="2565339"/>
            <a:chOff x="737840" y="1522417"/>
            <a:chExt cx="3385944" cy="2565339"/>
          </a:xfrm>
        </p:grpSpPr>
        <p:pic>
          <p:nvPicPr>
            <p:cNvPr id="8" name="圖片 7">
              <a:extLst>
                <a:ext uri="{FF2B5EF4-FFF2-40B4-BE49-F238E27FC236}">
                  <a16:creationId xmlns:a16="http://schemas.microsoft.com/office/drawing/2014/main" id="{B129A071-237A-4613-839D-F19A4643EE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6356" y="1522417"/>
              <a:ext cx="3297428" cy="2509315"/>
            </a:xfrm>
            <a:prstGeom prst="rect">
              <a:avLst/>
            </a:prstGeom>
          </p:spPr>
        </p:pic>
        <p:grpSp>
          <p:nvGrpSpPr>
            <p:cNvPr id="26" name="群組 25">
              <a:extLst>
                <a:ext uri="{FF2B5EF4-FFF2-40B4-BE49-F238E27FC236}">
                  <a16:creationId xmlns:a16="http://schemas.microsoft.com/office/drawing/2014/main" id="{70478066-310B-4F80-997B-F860B06EC624}"/>
                </a:ext>
              </a:extLst>
            </p:cNvPr>
            <p:cNvGrpSpPr/>
            <p:nvPr/>
          </p:nvGrpSpPr>
          <p:grpSpPr>
            <a:xfrm>
              <a:off x="737840" y="1671677"/>
              <a:ext cx="3040402" cy="2416079"/>
              <a:chOff x="8266566" y="717472"/>
              <a:chExt cx="3040402" cy="2416079"/>
            </a:xfrm>
          </p:grpSpPr>
          <p:grpSp>
            <p:nvGrpSpPr>
              <p:cNvPr id="14" name="群組 13">
                <a:extLst>
                  <a:ext uri="{FF2B5EF4-FFF2-40B4-BE49-F238E27FC236}">
                    <a16:creationId xmlns:a16="http://schemas.microsoft.com/office/drawing/2014/main" id="{98E2DA52-7382-44DD-9802-8F4A47DA9DEE}"/>
                  </a:ext>
                </a:extLst>
              </p:cNvPr>
              <p:cNvGrpSpPr/>
              <p:nvPr/>
            </p:nvGrpSpPr>
            <p:grpSpPr>
              <a:xfrm>
                <a:off x="8282563" y="1151084"/>
                <a:ext cx="2343963" cy="1916653"/>
                <a:chOff x="8282563" y="1151084"/>
                <a:chExt cx="2343963" cy="1916653"/>
              </a:xfrm>
            </p:grpSpPr>
            <p:sp>
              <p:nvSpPr>
                <p:cNvPr id="13" name="矩形 12">
                  <a:extLst>
                    <a:ext uri="{FF2B5EF4-FFF2-40B4-BE49-F238E27FC236}">
                      <a16:creationId xmlns:a16="http://schemas.microsoft.com/office/drawing/2014/main" id="{62D9AAFB-45CB-41B6-A7DA-A163C76C7C70}"/>
                    </a:ext>
                  </a:extLst>
                </p:cNvPr>
                <p:cNvSpPr/>
                <p:nvPr/>
              </p:nvSpPr>
              <p:spPr>
                <a:xfrm>
                  <a:off x="9381066" y="2926271"/>
                  <a:ext cx="1245460" cy="141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94D5CEEC-4BD3-41C5-AEA4-00E812C48194}"/>
                    </a:ext>
                  </a:extLst>
                </p:cNvPr>
                <p:cNvSpPr/>
                <p:nvPr/>
              </p:nvSpPr>
              <p:spPr>
                <a:xfrm rot="16200000">
                  <a:off x="7859574" y="1574073"/>
                  <a:ext cx="1092200"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76C41D3C-8E9A-426D-BF6B-D03547810A62}"/>
                      </a:ext>
                    </a:extLst>
                  </p:cNvPr>
                  <p:cNvSpPr txBox="1"/>
                  <p:nvPr/>
                </p:nvSpPr>
                <p:spPr>
                  <a:xfrm>
                    <a:off x="9314435" y="2887330"/>
                    <a:ext cx="199253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i="0" smtClean="0">
                              <a:latin typeface="Cambria Math" panose="02040503050406030204" pitchFamily="18" charset="0"/>
                            </a:rPr>
                            <m:t>M</m:t>
                          </m:r>
                          <m:r>
                            <m:rPr>
                              <m:sty m:val="p"/>
                            </m:rPr>
                            <a:rPr lang="en-US" altLang="zh-TW" sz="1600" b="0" i="0" smtClean="0">
                              <a:latin typeface="Cambria Math" panose="02040503050406030204" pitchFamily="18" charset="0"/>
                            </a:rPr>
                            <m:t>odeling</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36" name="文字方塊 35">
                    <a:extLst>
                      <a:ext uri="{FF2B5EF4-FFF2-40B4-BE49-F238E27FC236}">
                        <a16:creationId xmlns:a16="http://schemas.microsoft.com/office/drawing/2014/main" id="{76C41D3C-8E9A-426D-BF6B-D03547810A62}"/>
                      </a:ext>
                    </a:extLst>
                  </p:cNvPr>
                  <p:cNvSpPr txBox="1">
                    <a:spLocks noRot="1" noChangeAspect="1" noMove="1" noResize="1" noEditPoints="1" noAdjustHandles="1" noChangeArrowheads="1" noChangeShapeType="1" noTextEdit="1"/>
                  </p:cNvSpPr>
                  <p:nvPr/>
                </p:nvSpPr>
                <p:spPr>
                  <a:xfrm>
                    <a:off x="9314435" y="2887330"/>
                    <a:ext cx="1992533" cy="246221"/>
                  </a:xfrm>
                  <a:prstGeom prst="rect">
                    <a:avLst/>
                  </a:prstGeom>
                  <a:blipFill>
                    <a:blip r:embed="rId3"/>
                    <a:stretch>
                      <a:fillRect l="-612" b="-317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BACF366E-8A86-48E7-B656-FA0D777C2587}"/>
                      </a:ext>
                    </a:extLst>
                  </p:cNvPr>
                  <p:cNvSpPr txBox="1"/>
                  <p:nvPr/>
                </p:nvSpPr>
                <p:spPr>
                  <a:xfrm rot="16200000">
                    <a:off x="7418161" y="1565877"/>
                    <a:ext cx="19430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38" name="文字方塊 37">
                    <a:extLst>
                      <a:ext uri="{FF2B5EF4-FFF2-40B4-BE49-F238E27FC236}">
                        <a16:creationId xmlns:a16="http://schemas.microsoft.com/office/drawing/2014/main" id="{BACF366E-8A86-48E7-B656-FA0D777C2587}"/>
                      </a:ext>
                    </a:extLst>
                  </p:cNvPr>
                  <p:cNvSpPr txBox="1">
                    <a:spLocks noRot="1" noChangeAspect="1" noMove="1" noResize="1" noEditPoints="1" noAdjustHandles="1" noChangeArrowheads="1" noChangeShapeType="1" noTextEdit="1"/>
                  </p:cNvSpPr>
                  <p:nvPr/>
                </p:nvSpPr>
                <p:spPr>
                  <a:xfrm rot="16200000">
                    <a:off x="7418161" y="1565877"/>
                    <a:ext cx="1943032" cy="246221"/>
                  </a:xfrm>
                  <a:prstGeom prst="rect">
                    <a:avLst/>
                  </a:prstGeom>
                  <a:blipFill>
                    <a:blip r:embed="rId4"/>
                    <a:stretch>
                      <a:fillRect t="-2508" r="-35000" b="-2194"/>
                    </a:stretch>
                  </a:blipFill>
                </p:spPr>
                <p:txBody>
                  <a:bodyPr/>
                  <a:lstStyle/>
                  <a:p>
                    <a:r>
                      <a:rPr lang="zh-TW" altLang="en-US">
                        <a:noFill/>
                      </a:rPr>
                      <a:t> </a:t>
                    </a:r>
                  </a:p>
                </p:txBody>
              </p:sp>
            </mc:Fallback>
          </mc:AlternateContent>
        </p:grpSp>
      </p:grpSp>
      <p:grpSp>
        <p:nvGrpSpPr>
          <p:cNvPr id="16" name="群組 15">
            <a:extLst>
              <a:ext uri="{FF2B5EF4-FFF2-40B4-BE49-F238E27FC236}">
                <a16:creationId xmlns:a16="http://schemas.microsoft.com/office/drawing/2014/main" id="{7A859F01-E267-46E9-BD57-A591FCD357BB}"/>
              </a:ext>
            </a:extLst>
          </p:cNvPr>
          <p:cNvGrpSpPr/>
          <p:nvPr/>
        </p:nvGrpSpPr>
        <p:grpSpPr>
          <a:xfrm>
            <a:off x="7042130" y="1592700"/>
            <a:ext cx="3069021" cy="2531273"/>
            <a:chOff x="7042130" y="1592700"/>
            <a:chExt cx="3069021" cy="2531273"/>
          </a:xfrm>
        </p:grpSpPr>
        <p:pic>
          <p:nvPicPr>
            <p:cNvPr id="15" name="圖片 14">
              <a:extLst>
                <a:ext uri="{FF2B5EF4-FFF2-40B4-BE49-F238E27FC236}">
                  <a16:creationId xmlns:a16="http://schemas.microsoft.com/office/drawing/2014/main" id="{61E0426E-3EF1-4E59-AE21-3B11761E38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7684" y="1592700"/>
              <a:ext cx="2943467" cy="2489834"/>
            </a:xfrm>
            <a:prstGeom prst="rect">
              <a:avLst/>
            </a:prstGeom>
          </p:spPr>
        </p:pic>
        <p:grpSp>
          <p:nvGrpSpPr>
            <p:cNvPr id="4" name="群組 3">
              <a:extLst>
                <a:ext uri="{FF2B5EF4-FFF2-40B4-BE49-F238E27FC236}">
                  <a16:creationId xmlns:a16="http://schemas.microsoft.com/office/drawing/2014/main" id="{933C1DEA-2A25-4CD8-B1F2-559B13368157}"/>
                </a:ext>
              </a:extLst>
            </p:cNvPr>
            <p:cNvGrpSpPr/>
            <p:nvPr/>
          </p:nvGrpSpPr>
          <p:grpSpPr>
            <a:xfrm>
              <a:off x="7042130" y="1751766"/>
              <a:ext cx="2922736" cy="2372207"/>
              <a:chOff x="8322241" y="3653067"/>
              <a:chExt cx="2922736" cy="2372207"/>
            </a:xfrm>
          </p:grpSpPr>
          <p:grpSp>
            <p:nvGrpSpPr>
              <p:cNvPr id="27" name="群組 26">
                <a:extLst>
                  <a:ext uri="{FF2B5EF4-FFF2-40B4-BE49-F238E27FC236}">
                    <a16:creationId xmlns:a16="http://schemas.microsoft.com/office/drawing/2014/main" id="{AC662A1D-67BC-4890-A4F8-3F3FC002A9EE}"/>
                  </a:ext>
                </a:extLst>
              </p:cNvPr>
              <p:cNvGrpSpPr/>
              <p:nvPr/>
            </p:nvGrpSpPr>
            <p:grpSpPr>
              <a:xfrm>
                <a:off x="8422394" y="4059169"/>
                <a:ext cx="2822583" cy="1966105"/>
                <a:chOff x="8422394" y="4059169"/>
                <a:chExt cx="2822583" cy="1966105"/>
              </a:xfrm>
            </p:grpSpPr>
            <p:grpSp>
              <p:nvGrpSpPr>
                <p:cNvPr id="23" name="群組 22">
                  <a:extLst>
                    <a:ext uri="{FF2B5EF4-FFF2-40B4-BE49-F238E27FC236}">
                      <a16:creationId xmlns:a16="http://schemas.microsoft.com/office/drawing/2014/main" id="{8A0D190F-A149-479A-B4CF-2466476579D5}"/>
                    </a:ext>
                  </a:extLst>
                </p:cNvPr>
                <p:cNvGrpSpPr/>
                <p:nvPr/>
              </p:nvGrpSpPr>
              <p:grpSpPr>
                <a:xfrm>
                  <a:off x="8422394" y="4059169"/>
                  <a:ext cx="2252657" cy="1924666"/>
                  <a:chOff x="8422394" y="4059169"/>
                  <a:chExt cx="2252657" cy="1924666"/>
                </a:xfrm>
              </p:grpSpPr>
              <p:sp>
                <p:nvSpPr>
                  <p:cNvPr id="32" name="矩形 31">
                    <a:extLst>
                      <a:ext uri="{FF2B5EF4-FFF2-40B4-BE49-F238E27FC236}">
                        <a16:creationId xmlns:a16="http://schemas.microsoft.com/office/drawing/2014/main" id="{121C5590-E60E-40CA-90CE-72EB5B131EAA}"/>
                      </a:ext>
                    </a:extLst>
                  </p:cNvPr>
                  <p:cNvSpPr/>
                  <p:nvPr/>
                </p:nvSpPr>
                <p:spPr>
                  <a:xfrm rot="16200000">
                    <a:off x="7956531" y="4525032"/>
                    <a:ext cx="1092200" cy="160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矩形 32">
                    <a:extLst>
                      <a:ext uri="{FF2B5EF4-FFF2-40B4-BE49-F238E27FC236}">
                        <a16:creationId xmlns:a16="http://schemas.microsoft.com/office/drawing/2014/main" id="{28DA81AC-D8F6-40B2-92CE-B56A4FCF8FB1}"/>
                      </a:ext>
                    </a:extLst>
                  </p:cNvPr>
                  <p:cNvSpPr/>
                  <p:nvPr/>
                </p:nvSpPr>
                <p:spPr>
                  <a:xfrm>
                    <a:off x="9410538" y="5779053"/>
                    <a:ext cx="1264513" cy="204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6B367B9D-C1D1-403F-8DEB-C37529FC5139}"/>
                        </a:ext>
                      </a:extLst>
                    </p:cNvPr>
                    <p:cNvSpPr txBox="1"/>
                    <p:nvPr/>
                  </p:nvSpPr>
                  <p:spPr>
                    <a:xfrm>
                      <a:off x="9315282" y="5779053"/>
                      <a:ext cx="192969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Modeling</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39" name="文字方塊 38">
                      <a:extLst>
                        <a:ext uri="{FF2B5EF4-FFF2-40B4-BE49-F238E27FC236}">
                          <a16:creationId xmlns:a16="http://schemas.microsoft.com/office/drawing/2014/main" id="{6B367B9D-C1D1-403F-8DEB-C37529FC5139}"/>
                        </a:ext>
                      </a:extLst>
                    </p:cNvPr>
                    <p:cNvSpPr txBox="1">
                      <a:spLocks noRot="1" noChangeAspect="1" noMove="1" noResize="1" noEditPoints="1" noAdjustHandles="1" noChangeArrowheads="1" noChangeShapeType="1" noTextEdit="1"/>
                    </p:cNvSpPr>
                    <p:nvPr/>
                  </p:nvSpPr>
                  <p:spPr>
                    <a:xfrm>
                      <a:off x="9315282" y="5779053"/>
                      <a:ext cx="1929695" cy="246221"/>
                    </a:xfrm>
                    <a:prstGeom prst="rect">
                      <a:avLst/>
                    </a:prstGeom>
                    <a:blipFill>
                      <a:blip r:embed="rId6"/>
                      <a:stretch>
                        <a:fillRect l="-3155" r="-946" b="-3170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9AAFCE20-3EC1-4EF5-886A-490516CB6BF3}"/>
                      </a:ext>
                    </a:extLst>
                  </p:cNvPr>
                  <p:cNvSpPr txBox="1"/>
                  <p:nvPr/>
                </p:nvSpPr>
                <p:spPr>
                  <a:xfrm rot="16200000">
                    <a:off x="7473836" y="4501472"/>
                    <a:ext cx="19430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28" name="文字方塊 27">
                    <a:extLst>
                      <a:ext uri="{FF2B5EF4-FFF2-40B4-BE49-F238E27FC236}">
                        <a16:creationId xmlns:a16="http://schemas.microsoft.com/office/drawing/2014/main" id="{9AAFCE20-3EC1-4EF5-886A-490516CB6BF3}"/>
                      </a:ext>
                    </a:extLst>
                  </p:cNvPr>
                  <p:cNvSpPr txBox="1">
                    <a:spLocks noRot="1" noChangeAspect="1" noMove="1" noResize="1" noEditPoints="1" noAdjustHandles="1" noChangeArrowheads="1" noChangeShapeType="1" noTextEdit="1"/>
                  </p:cNvSpPr>
                  <p:nvPr/>
                </p:nvSpPr>
                <p:spPr>
                  <a:xfrm rot="16200000">
                    <a:off x="7473836" y="4501472"/>
                    <a:ext cx="1943032" cy="246221"/>
                  </a:xfrm>
                  <a:prstGeom prst="rect">
                    <a:avLst/>
                  </a:prstGeom>
                  <a:blipFill>
                    <a:blip r:embed="rId7"/>
                    <a:stretch>
                      <a:fillRect t="-2194" r="-31707" b="-2194"/>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280516775"/>
                  </p:ext>
                </p:extLst>
              </p:nvPr>
            </p:nvGraphicFramePr>
            <p:xfrm>
              <a:off x="94809" y="4284540"/>
              <a:ext cx="11910925" cy="1962506"/>
            </p:xfrm>
            <a:graphic>
              <a:graphicData uri="http://schemas.openxmlformats.org/drawingml/2006/table">
                <a:tbl>
                  <a:tblPr firstRow="1" bandRow="1">
                    <a:tableStyleId>{5940675A-B579-460E-94D1-54222C63F5DA}</a:tableStyleId>
                  </a:tblPr>
                  <a:tblGrid>
                    <a:gridCol w="1261335">
                      <a:extLst>
                        <a:ext uri="{9D8B030D-6E8A-4147-A177-3AD203B41FA5}">
                          <a16:colId xmlns:a16="http://schemas.microsoft.com/office/drawing/2014/main" val="2220848039"/>
                        </a:ext>
                      </a:extLst>
                    </a:gridCol>
                    <a:gridCol w="1213305">
                      <a:extLst>
                        <a:ext uri="{9D8B030D-6E8A-4147-A177-3AD203B41FA5}">
                          <a16:colId xmlns:a16="http://schemas.microsoft.com/office/drawing/2014/main" val="2517592409"/>
                        </a:ext>
                      </a:extLst>
                    </a:gridCol>
                    <a:gridCol w="3506714">
                      <a:extLst>
                        <a:ext uri="{9D8B030D-6E8A-4147-A177-3AD203B41FA5}">
                          <a16:colId xmlns:a16="http://schemas.microsoft.com/office/drawing/2014/main" val="1542711824"/>
                        </a:ext>
                      </a:extLst>
                    </a:gridCol>
                    <a:gridCol w="1552305">
                      <a:extLst>
                        <a:ext uri="{9D8B030D-6E8A-4147-A177-3AD203B41FA5}">
                          <a16:colId xmlns:a16="http://schemas.microsoft.com/office/drawing/2014/main" val="1951294256"/>
                        </a:ext>
                      </a:extLst>
                    </a:gridCol>
                    <a:gridCol w="1744133">
                      <a:extLst>
                        <a:ext uri="{9D8B030D-6E8A-4147-A177-3AD203B41FA5}">
                          <a16:colId xmlns:a16="http://schemas.microsoft.com/office/drawing/2014/main" val="2486765925"/>
                        </a:ext>
                      </a:extLst>
                    </a:gridCol>
                    <a:gridCol w="2633133">
                      <a:extLst>
                        <a:ext uri="{9D8B030D-6E8A-4147-A177-3AD203B41FA5}">
                          <a16:colId xmlns:a16="http://schemas.microsoft.com/office/drawing/2014/main" val="2482236599"/>
                        </a:ext>
                      </a:extLst>
                    </a:gridCol>
                  </a:tblGrid>
                  <a:tr h="452404">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oMath>
                            </m:oMathPara>
                          </a14:m>
                          <a:endParaRPr lang="zh-TW" altLang="en-US" dirty="0"/>
                        </a:p>
                      </a:txBody>
                      <a:tcPr/>
                    </a:tc>
                    <a:tc>
                      <a:txBody>
                        <a:bodyPr/>
                        <a:lstStyle/>
                        <a:p>
                          <a:pPr algn="ctr"/>
                          <a:r>
                            <a:rPr lang="en-US" altLang="zh-TW" dirty="0"/>
                            <a:t>Peak value</a:t>
                          </a:r>
                        </a:p>
                        <a:p>
                          <a:pPr algn="ct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zh-TW" altLang="en-US" b="0" i="1" smtClean="0">
                                    <a:latin typeface="Cambria Math" panose="02040503050406030204" pitchFamily="18" charset="0"/>
                                    <a:ea typeface="Cambria Math" panose="02040503050406030204" pitchFamily="18" charset="0"/>
                                  </a:rPr>
                                  <m:t>𝜇</m:t>
                                </m:r>
                                <m:r>
                                  <a:rPr lang="en-US" altLang="zh-TW" b="0" i="1" smtClean="0">
                                    <a:latin typeface="Cambria Math" panose="02040503050406030204" pitchFamily="18" charset="0"/>
                                    <a:ea typeface="Cambria Math" panose="02040503050406030204" pitchFamily="18" charset="0"/>
                                  </a:rPr>
                                  <m:t>𝑚</m:t>
                                </m:r>
                                <m:r>
                                  <a:rPr lang="en-US" altLang="zh-TW" b="0" i="1" smtClean="0">
                                    <a:latin typeface="Cambria Math" panose="02040503050406030204" pitchFamily="18" charset="0"/>
                                    <a:ea typeface="Cambria Math" panose="02040503050406030204" pitchFamily="18" charset="0"/>
                                  </a:rPr>
                                  <m:t>)</m:t>
                                </m:r>
                              </m:oMath>
                            </m:oMathPara>
                          </a14:m>
                          <a:endParaRPr lang="en-US" altLang="zh-TW" b="0" dirty="0">
                            <a:ea typeface="Cambria Math" panose="020405030504060302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altLang="zh-TW" sz="1800" b="0" i="0" smtClean="0">
                                    <a:latin typeface="Cambria Math" panose="02040503050406030204" pitchFamily="18" charset="0"/>
                                    <a:ea typeface="Cambria Math" panose="02040503050406030204" pitchFamily="18" charset="0"/>
                                  </a:rPr>
                                  <m:t>Average</m:t>
                                </m:r>
                                <m:r>
                                  <a:rPr lang="en-US" altLang="zh-TW" sz="1800" b="0" i="0" smtClean="0">
                                    <a:latin typeface="Cambria Math" panose="02040503050406030204" pitchFamily="18" charset="0"/>
                                    <a:ea typeface="Cambria Math" panose="02040503050406030204" pitchFamily="18" charset="0"/>
                                  </a:rPr>
                                  <m:t> </m:t>
                                </m:r>
                                <m:r>
                                  <m:rPr>
                                    <m:sty m:val="p"/>
                                  </m:rPr>
                                  <a:rPr lang="en-US" altLang="zh-TW" sz="1800" b="0" i="0" smtClean="0">
                                    <a:latin typeface="Cambria Math" panose="02040503050406030204" pitchFamily="18" charset="0"/>
                                    <a:ea typeface="Cambria Math" panose="02040503050406030204" pitchFamily="18" charset="0"/>
                                  </a:rPr>
                                  <m:t>field</m:t>
                                </m:r>
                              </m:oMath>
                            </m:oMathPara>
                          </a14:m>
                          <a:endParaRPr lang="zh-TW" altLang="en-US" i="0" dirty="0"/>
                        </a:p>
                      </a:txBody>
                      <a:tcPr/>
                    </a:tc>
                    <a:tc gridSpan="2">
                      <a:txBody>
                        <a:bodyPr/>
                        <a:lstStyle/>
                        <a:p>
                          <a:pPr algn="ctr"/>
                          <a:r>
                            <a:rPr lang="en-US" altLang="zh-TW" i="0" dirty="0"/>
                            <a:t>Mean error</a:t>
                          </a:r>
                          <a:endParaRPr lang="zh-TW" altLang="en-US" i="0" dirty="0"/>
                        </a:p>
                      </a:txBody>
                      <a:tcPr/>
                    </a:tc>
                    <a:tc hMerge="1">
                      <a:txBody>
                        <a:bodyPr/>
                        <a:lstStyle/>
                        <a:p>
                          <a:endParaRPr lang="zh-TW" altLang="en-US"/>
                        </a:p>
                      </a:txBody>
                      <a:tcPr/>
                    </a:tc>
                    <a:extLst>
                      <a:ext uri="{0D108BD9-81ED-4DB2-BD59-A6C34878D82A}">
                        <a16:rowId xmlns:a16="http://schemas.microsoft.com/office/drawing/2014/main" val="3860471253"/>
                      </a:ext>
                    </a:extLst>
                  </a:tr>
                  <a:tr h="661213">
                    <a:tc>
                      <a:txBody>
                        <a:bodyPr/>
                        <a:lstStyle/>
                        <a:p>
                          <a:r>
                            <a:rPr lang="en-US" altLang="zh-TW" dirty="0"/>
                            <a:t>Left figure</a:t>
                          </a:r>
                          <a:endParaRPr lang="zh-TW" altLang="en-US" dirty="0"/>
                        </a:p>
                      </a:txBody>
                      <a:tcPr/>
                    </a:tc>
                    <a:tc>
                      <a:txBody>
                        <a:bodyPr/>
                        <a:lstStyle/>
                        <a:p>
                          <a:pPr algn="ctr"/>
                          <a:r>
                            <a:rPr lang="en-US" altLang="zh-TW" dirty="0"/>
                            <a:t>1771</a:t>
                          </a:r>
                          <a:endParaRPr lang="zh-TW" altLang="en-US" dirty="0"/>
                        </a:p>
                      </a:txBody>
                      <a:tcPr/>
                    </a:tc>
                    <a:tc>
                      <a:txBody>
                        <a:bodyPr/>
                        <a:lstStyle/>
                        <a:p>
                          <a:pPr algn="ctr"/>
                          <a:r>
                            <a:rPr lang="en-US" altLang="zh-TW" dirty="0"/>
                            <a:t>7.237%</a:t>
                          </a:r>
                          <a:endParaRPr lang="zh-TW" altLang="en-US" dirty="0"/>
                        </a:p>
                      </a:txBody>
                      <a:tcPr/>
                    </a:tc>
                    <a:tc>
                      <a:txBody>
                        <a:bodyPr/>
                        <a:lstStyle/>
                        <a:p>
                          <a:pPr algn="ctr"/>
                          <a:r>
                            <a:rPr lang="en-US" altLang="zh-TW" dirty="0"/>
                            <a:t>10.2452mT</a:t>
                          </a:r>
                          <a:endParaRPr lang="zh-TW" altLang="en-US" dirty="0"/>
                        </a:p>
                      </a:txBody>
                      <a:tcPr/>
                    </a:tc>
                    <a:tc gridSpan="2">
                      <a:txBody>
                        <a:bodyPr/>
                        <a:lstStyle/>
                        <a:p>
                          <a:pPr algn="ctr"/>
                          <a:r>
                            <a:rPr lang="en-US" altLang="zh-TW" dirty="0"/>
                            <a:t>0.0340mT</a:t>
                          </a:r>
                          <a:endParaRPr lang="zh-TW" altLang="en-US" dirty="0"/>
                        </a:p>
                      </a:txBody>
                      <a:tcPr/>
                    </a:tc>
                    <a:tc hMerge="1">
                      <a:txBody>
                        <a:bodyPr/>
                        <a:lstStyle/>
                        <a:p>
                          <a:endParaRPr lang="zh-TW" altLang="en-US"/>
                        </a:p>
                      </a:txBody>
                      <a:tcPr/>
                    </a:tc>
                    <a:extLst>
                      <a:ext uri="{0D108BD9-81ED-4DB2-BD59-A6C34878D82A}">
                        <a16:rowId xmlns:a16="http://schemas.microsoft.com/office/drawing/2014/main" val="142448062"/>
                      </a:ext>
                    </a:extLst>
                  </a:tr>
                  <a:tr h="661213">
                    <a:tc>
                      <a:txBody>
                        <a:bodyPr/>
                        <a:lstStyle/>
                        <a:p>
                          <a:r>
                            <a:rPr lang="en-US" altLang="zh-TW" dirty="0"/>
                            <a:t>Right figure</a:t>
                          </a:r>
                          <a:endParaRPr lang="zh-TW" altLang="en-US" dirty="0"/>
                        </a:p>
                      </a:txBody>
                      <a:tcPr/>
                    </a:tc>
                    <a:tc>
                      <a:txBody>
                        <a:bodyPr/>
                        <a:lstStyle/>
                        <a:p>
                          <a:pPr algn="ctr"/>
                          <a:r>
                            <a:rPr lang="en-US" altLang="zh-TW" dirty="0"/>
                            <a:t>14082</a:t>
                          </a:r>
                          <a:endParaRPr lang="zh-TW" altLang="en-US" dirty="0"/>
                        </a:p>
                      </a:txBody>
                      <a:tcPr/>
                    </a:tc>
                    <a:tc>
                      <a:txBody>
                        <a:bodyPr/>
                        <a:lstStyle/>
                        <a:p>
                          <a:pPr algn="ctr"/>
                          <a:r>
                            <a:rPr lang="en-US" altLang="zh-TW" dirty="0"/>
                            <a:t>0.3491%</a:t>
                          </a:r>
                          <a:endParaRPr lang="zh-TW" altLang="en-US" dirty="0"/>
                        </a:p>
                      </a:txBody>
                      <a:tcPr/>
                    </a:tc>
                    <a:tc>
                      <a:txBody>
                        <a:bodyPr/>
                        <a:lstStyle/>
                        <a:p>
                          <a:pPr algn="ctr"/>
                          <a:r>
                            <a:rPr lang="en-US" altLang="zh-TW" dirty="0"/>
                            <a:t>10.4684mT</a:t>
                          </a:r>
                          <a:endParaRPr lang="zh-TW" altLang="en-US" dirty="0"/>
                        </a:p>
                      </a:txBody>
                      <a:tcPr/>
                    </a:tc>
                    <a:tc>
                      <a:txBody>
                        <a:bodyPr/>
                        <a:lstStyle/>
                        <a:p>
                          <a:pPr algn="ctr"/>
                          <a:r>
                            <a:rPr lang="en-US" altLang="zh-TW" dirty="0"/>
                            <a:t>0.1271mT</a:t>
                          </a:r>
                        </a:p>
                        <a:p>
                          <a:pPr algn="ctr"/>
                          <a:r>
                            <a:rPr lang="en-US" altLang="zh-TW" sz="1600" dirty="0"/>
                            <a:t>(</a:t>
                          </a:r>
                          <a14:m>
                            <m:oMath xmlns:m="http://schemas.openxmlformats.org/officeDocument/2006/math">
                              <m:r>
                                <a:rPr lang="en-US" altLang="zh-TW" sz="1600" b="0" i="1" smtClean="0">
                                  <a:latin typeface="Cambria Math" panose="02040503050406030204" pitchFamily="18" charset="0"/>
                                </a:rPr>
                                <m:t>𝑅</m:t>
                              </m:r>
                              <m:r>
                                <a:rPr lang="en-US" altLang="zh-TW" sz="1600" b="0" i="1" smtClean="0">
                                  <a:latin typeface="Cambria Math" panose="02040503050406030204" pitchFamily="18" charset="0"/>
                                </a:rPr>
                                <m:t>≤150</m:t>
                              </m:r>
                              <m:r>
                                <a:rPr lang="en-US" altLang="zh-TW" sz="1600" b="0" i="1" smtClean="0">
                                  <a:latin typeface="Cambria Math" panose="02040503050406030204" pitchFamily="18" charset="0"/>
                                </a:rPr>
                                <m:t>𝑢𝑚</m:t>
                              </m:r>
                              <m:r>
                                <a:rPr lang="en-US" altLang="zh-TW" sz="1600" b="0" i="1" smtClean="0">
                                  <a:latin typeface="Cambria Math" panose="02040503050406030204" pitchFamily="18" charset="0"/>
                                </a:rPr>
                                <m:t>)</m:t>
                              </m:r>
                            </m:oMath>
                          </a14:m>
                          <a:endParaRPr lang="zh-TW" altLang="en-US" dirty="0"/>
                        </a:p>
                      </a:txBody>
                      <a:tcPr/>
                    </a:tc>
                    <a:tc>
                      <a:txBody>
                        <a:bodyPr/>
                        <a:lstStyle/>
                        <a:p>
                          <a:pPr algn="ctr"/>
                          <a:r>
                            <a:rPr lang="en-US" altLang="zh-TW" dirty="0"/>
                            <a:t>0.3019mT</a:t>
                          </a:r>
                        </a:p>
                        <a:p>
                          <a:pPr algn="ctr"/>
                          <a:r>
                            <a:rPr lang="en-US" altLang="zh-TW" dirty="0"/>
                            <a:t>(</a:t>
                          </a:r>
                          <a14:m>
                            <m:oMath xmlns:m="http://schemas.openxmlformats.org/officeDocument/2006/math">
                              <m:r>
                                <a:rPr lang="en-US" altLang="zh-TW" b="0" i="0" smtClean="0">
                                  <a:latin typeface="Cambria Math" panose="02040503050406030204" pitchFamily="18" charset="0"/>
                                </a:rPr>
                                <m:t>150</m:t>
                              </m:r>
                              <m:r>
                                <m:rPr>
                                  <m:sty m:val="p"/>
                                </m:rPr>
                                <a:rPr lang="en-US" altLang="zh-TW" b="0" i="0" smtClean="0">
                                  <a:latin typeface="Cambria Math" panose="02040503050406030204" pitchFamily="18" charset="0"/>
                                </a:rPr>
                                <m:t>um</m:t>
                              </m:r>
                              <m:r>
                                <a:rPr lang="en-US" altLang="zh-TW" b="0" i="0"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rPr>
                                <m:t>≤300</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a14:m>
                          <a:endParaRPr lang="zh-TW" altLang="en-US" dirty="0"/>
                        </a:p>
                      </a:txBody>
                      <a:tcPr/>
                    </a:tc>
                    <a:extLst>
                      <a:ext uri="{0D108BD9-81ED-4DB2-BD59-A6C34878D82A}">
                        <a16:rowId xmlns:a16="http://schemas.microsoft.com/office/drawing/2014/main" val="1327120116"/>
                      </a:ext>
                    </a:extLst>
                  </a:tr>
                </a:tbl>
              </a:graphicData>
            </a:graphic>
          </p:graphicFrame>
        </mc:Choice>
        <mc:Fallback xmlns="">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280516775"/>
                  </p:ext>
                </p:extLst>
              </p:nvPr>
            </p:nvGraphicFramePr>
            <p:xfrm>
              <a:off x="94809" y="4284540"/>
              <a:ext cx="11910925" cy="1962506"/>
            </p:xfrm>
            <a:graphic>
              <a:graphicData uri="http://schemas.openxmlformats.org/drawingml/2006/table">
                <a:tbl>
                  <a:tblPr firstRow="1" bandRow="1">
                    <a:tableStyleId>{5940675A-B579-460E-94D1-54222C63F5DA}</a:tableStyleId>
                  </a:tblPr>
                  <a:tblGrid>
                    <a:gridCol w="1261335">
                      <a:extLst>
                        <a:ext uri="{9D8B030D-6E8A-4147-A177-3AD203B41FA5}">
                          <a16:colId xmlns:a16="http://schemas.microsoft.com/office/drawing/2014/main" val="2220848039"/>
                        </a:ext>
                      </a:extLst>
                    </a:gridCol>
                    <a:gridCol w="1213305">
                      <a:extLst>
                        <a:ext uri="{9D8B030D-6E8A-4147-A177-3AD203B41FA5}">
                          <a16:colId xmlns:a16="http://schemas.microsoft.com/office/drawing/2014/main" val="2517592409"/>
                        </a:ext>
                      </a:extLst>
                    </a:gridCol>
                    <a:gridCol w="3506714">
                      <a:extLst>
                        <a:ext uri="{9D8B030D-6E8A-4147-A177-3AD203B41FA5}">
                          <a16:colId xmlns:a16="http://schemas.microsoft.com/office/drawing/2014/main" val="1542711824"/>
                        </a:ext>
                      </a:extLst>
                    </a:gridCol>
                    <a:gridCol w="1552305">
                      <a:extLst>
                        <a:ext uri="{9D8B030D-6E8A-4147-A177-3AD203B41FA5}">
                          <a16:colId xmlns:a16="http://schemas.microsoft.com/office/drawing/2014/main" val="1951294256"/>
                        </a:ext>
                      </a:extLst>
                    </a:gridCol>
                    <a:gridCol w="1744133">
                      <a:extLst>
                        <a:ext uri="{9D8B030D-6E8A-4147-A177-3AD203B41FA5}">
                          <a16:colId xmlns:a16="http://schemas.microsoft.com/office/drawing/2014/main" val="2486765925"/>
                        </a:ext>
                      </a:extLst>
                    </a:gridCol>
                    <a:gridCol w="2633133">
                      <a:extLst>
                        <a:ext uri="{9D8B030D-6E8A-4147-A177-3AD203B41FA5}">
                          <a16:colId xmlns:a16="http://schemas.microsoft.com/office/drawing/2014/main" val="2482236599"/>
                        </a:ext>
                      </a:extLst>
                    </a:gridCol>
                  </a:tblGrid>
                  <a:tr h="64008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9"/>
                          <a:stretch>
                            <a:fillRect l="-104523" t="-4762" r="-779397" b="-219048"/>
                          </a:stretch>
                        </a:blipFill>
                      </a:tcPr>
                    </a:tc>
                    <a:tc>
                      <a:txBody>
                        <a:bodyPr/>
                        <a:lstStyle/>
                        <a:p>
                          <a:endParaRPr lang="zh-TW"/>
                        </a:p>
                      </a:txBody>
                      <a:tcPr>
                        <a:blipFill>
                          <a:blip r:embed="rId9"/>
                          <a:stretch>
                            <a:fillRect l="-70660" t="-4762" r="-169271" b="-219048"/>
                          </a:stretch>
                        </a:blipFill>
                      </a:tcPr>
                    </a:tc>
                    <a:tc>
                      <a:txBody>
                        <a:bodyPr/>
                        <a:lstStyle/>
                        <a:p>
                          <a:endParaRPr lang="zh-TW"/>
                        </a:p>
                      </a:txBody>
                      <a:tcPr>
                        <a:blipFill>
                          <a:blip r:embed="rId9"/>
                          <a:stretch>
                            <a:fillRect l="-385490" t="-4762" r="-282353" b="-219048"/>
                          </a:stretch>
                        </a:blipFill>
                      </a:tcPr>
                    </a:tc>
                    <a:tc gridSpan="2">
                      <a:txBody>
                        <a:bodyPr/>
                        <a:lstStyle/>
                        <a:p>
                          <a:pPr algn="ctr"/>
                          <a:r>
                            <a:rPr lang="en-US" altLang="zh-TW" i="0" dirty="0"/>
                            <a:t>Mean error</a:t>
                          </a:r>
                          <a:endParaRPr lang="zh-TW" altLang="en-US" i="0" dirty="0"/>
                        </a:p>
                      </a:txBody>
                      <a:tcPr/>
                    </a:tc>
                    <a:tc hMerge="1">
                      <a:txBody>
                        <a:bodyPr/>
                        <a:lstStyle/>
                        <a:p>
                          <a:endParaRPr lang="zh-TW" altLang="en-US"/>
                        </a:p>
                      </a:txBody>
                      <a:tcPr/>
                    </a:tc>
                    <a:extLst>
                      <a:ext uri="{0D108BD9-81ED-4DB2-BD59-A6C34878D82A}">
                        <a16:rowId xmlns:a16="http://schemas.microsoft.com/office/drawing/2014/main" val="3860471253"/>
                      </a:ext>
                    </a:extLst>
                  </a:tr>
                  <a:tr h="661213">
                    <a:tc>
                      <a:txBody>
                        <a:bodyPr/>
                        <a:lstStyle/>
                        <a:p>
                          <a:r>
                            <a:rPr lang="en-US" altLang="zh-TW" dirty="0"/>
                            <a:t>Left figure</a:t>
                          </a:r>
                          <a:endParaRPr lang="zh-TW" altLang="en-US" dirty="0"/>
                        </a:p>
                      </a:txBody>
                      <a:tcPr/>
                    </a:tc>
                    <a:tc>
                      <a:txBody>
                        <a:bodyPr/>
                        <a:lstStyle/>
                        <a:p>
                          <a:pPr algn="ctr"/>
                          <a:r>
                            <a:rPr lang="en-US" altLang="zh-TW" dirty="0"/>
                            <a:t>1771</a:t>
                          </a:r>
                          <a:endParaRPr lang="zh-TW" altLang="en-US" dirty="0"/>
                        </a:p>
                      </a:txBody>
                      <a:tcPr/>
                    </a:tc>
                    <a:tc>
                      <a:txBody>
                        <a:bodyPr/>
                        <a:lstStyle/>
                        <a:p>
                          <a:pPr algn="ctr"/>
                          <a:r>
                            <a:rPr lang="en-US" altLang="zh-TW" dirty="0"/>
                            <a:t>7.237%</a:t>
                          </a:r>
                          <a:endParaRPr lang="zh-TW" altLang="en-US" dirty="0"/>
                        </a:p>
                      </a:txBody>
                      <a:tcPr/>
                    </a:tc>
                    <a:tc>
                      <a:txBody>
                        <a:bodyPr/>
                        <a:lstStyle/>
                        <a:p>
                          <a:pPr algn="ctr"/>
                          <a:r>
                            <a:rPr lang="en-US" altLang="zh-TW" dirty="0"/>
                            <a:t>10.2452mT</a:t>
                          </a:r>
                          <a:endParaRPr lang="zh-TW" altLang="en-US" dirty="0"/>
                        </a:p>
                      </a:txBody>
                      <a:tcPr/>
                    </a:tc>
                    <a:tc gridSpan="2">
                      <a:txBody>
                        <a:bodyPr/>
                        <a:lstStyle/>
                        <a:p>
                          <a:pPr algn="ctr"/>
                          <a:r>
                            <a:rPr lang="en-US" altLang="zh-TW" dirty="0"/>
                            <a:t>0.0340mT</a:t>
                          </a:r>
                          <a:endParaRPr lang="zh-TW" altLang="en-US" dirty="0"/>
                        </a:p>
                      </a:txBody>
                      <a:tcPr/>
                    </a:tc>
                    <a:tc hMerge="1">
                      <a:txBody>
                        <a:bodyPr/>
                        <a:lstStyle/>
                        <a:p>
                          <a:endParaRPr lang="zh-TW" altLang="en-US"/>
                        </a:p>
                      </a:txBody>
                      <a:tcPr/>
                    </a:tc>
                    <a:extLst>
                      <a:ext uri="{0D108BD9-81ED-4DB2-BD59-A6C34878D82A}">
                        <a16:rowId xmlns:a16="http://schemas.microsoft.com/office/drawing/2014/main" val="142448062"/>
                      </a:ext>
                    </a:extLst>
                  </a:tr>
                  <a:tr h="661213">
                    <a:tc>
                      <a:txBody>
                        <a:bodyPr/>
                        <a:lstStyle/>
                        <a:p>
                          <a:r>
                            <a:rPr lang="en-US" altLang="zh-TW" dirty="0"/>
                            <a:t>Right figure</a:t>
                          </a:r>
                          <a:endParaRPr lang="zh-TW" altLang="en-US" dirty="0"/>
                        </a:p>
                      </a:txBody>
                      <a:tcPr/>
                    </a:tc>
                    <a:tc>
                      <a:txBody>
                        <a:bodyPr/>
                        <a:lstStyle/>
                        <a:p>
                          <a:pPr algn="ctr"/>
                          <a:r>
                            <a:rPr lang="en-US" altLang="zh-TW" dirty="0"/>
                            <a:t>14082</a:t>
                          </a:r>
                          <a:endParaRPr lang="zh-TW" altLang="en-US" dirty="0"/>
                        </a:p>
                      </a:txBody>
                      <a:tcPr/>
                    </a:tc>
                    <a:tc>
                      <a:txBody>
                        <a:bodyPr/>
                        <a:lstStyle/>
                        <a:p>
                          <a:pPr algn="ctr"/>
                          <a:r>
                            <a:rPr lang="en-US" altLang="zh-TW" dirty="0"/>
                            <a:t>0.3491%</a:t>
                          </a:r>
                          <a:endParaRPr lang="zh-TW" altLang="en-US" dirty="0"/>
                        </a:p>
                      </a:txBody>
                      <a:tcPr/>
                    </a:tc>
                    <a:tc>
                      <a:txBody>
                        <a:bodyPr/>
                        <a:lstStyle/>
                        <a:p>
                          <a:pPr algn="ctr"/>
                          <a:r>
                            <a:rPr lang="en-US" altLang="zh-TW" dirty="0"/>
                            <a:t>10.4684mT</a:t>
                          </a:r>
                          <a:endParaRPr lang="zh-TW" altLang="en-US" dirty="0"/>
                        </a:p>
                      </a:txBody>
                      <a:tcPr/>
                    </a:tc>
                    <a:tc>
                      <a:txBody>
                        <a:bodyPr/>
                        <a:lstStyle/>
                        <a:p>
                          <a:endParaRPr lang="zh-TW"/>
                        </a:p>
                      </a:txBody>
                      <a:tcPr>
                        <a:blipFill>
                          <a:blip r:embed="rId9"/>
                          <a:stretch>
                            <a:fillRect l="-432867" t="-200917" r="-151748" b="-11009"/>
                          </a:stretch>
                        </a:blipFill>
                      </a:tcPr>
                    </a:tc>
                    <a:tc>
                      <a:txBody>
                        <a:bodyPr/>
                        <a:lstStyle/>
                        <a:p>
                          <a:endParaRPr lang="zh-TW"/>
                        </a:p>
                      </a:txBody>
                      <a:tcPr>
                        <a:blipFill>
                          <a:blip r:embed="rId9"/>
                          <a:stretch>
                            <a:fillRect l="-352778" t="-200917" r="-463" b="-11009"/>
                          </a:stretch>
                        </a:blipFill>
                      </a:tcPr>
                    </a:tc>
                    <a:extLst>
                      <a:ext uri="{0D108BD9-81ED-4DB2-BD59-A6C34878D82A}">
                        <a16:rowId xmlns:a16="http://schemas.microsoft.com/office/drawing/2014/main" val="1327120116"/>
                      </a:ext>
                    </a:extLst>
                  </a:tr>
                </a:tbl>
              </a:graphicData>
            </a:graphic>
          </p:graphicFrame>
        </mc:Fallback>
      </mc:AlternateContent>
      <p:sp>
        <p:nvSpPr>
          <p:cNvPr id="3" name="文字方塊 2">
            <a:extLst>
              <a:ext uri="{FF2B5EF4-FFF2-40B4-BE49-F238E27FC236}">
                <a16:creationId xmlns:a16="http://schemas.microsoft.com/office/drawing/2014/main" id="{7DA54126-8AD3-42B9-BDF5-6524E0886B14}"/>
              </a:ext>
            </a:extLst>
          </p:cNvPr>
          <p:cNvSpPr txBox="1"/>
          <p:nvPr/>
        </p:nvSpPr>
        <p:spPr>
          <a:xfrm>
            <a:off x="0" y="1247855"/>
            <a:ext cx="234526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Long</a:t>
            </a:r>
            <a:endParaRPr lang="zh-TW" altLang="en-US" dirty="0"/>
          </a:p>
        </p:txBody>
      </p:sp>
      <p:sp>
        <p:nvSpPr>
          <p:cNvPr id="35" name="文字方塊 34">
            <a:extLst>
              <a:ext uri="{FF2B5EF4-FFF2-40B4-BE49-F238E27FC236}">
                <a16:creationId xmlns:a16="http://schemas.microsoft.com/office/drawing/2014/main" id="{92E6675A-32D5-438E-ABBA-19CCC6EFA221}"/>
              </a:ext>
            </a:extLst>
          </p:cNvPr>
          <p:cNvSpPr txBox="1"/>
          <p:nvPr/>
        </p:nvSpPr>
        <p:spPr>
          <a:xfrm>
            <a:off x="-33943" y="6359094"/>
            <a:ext cx="2675466" cy="369332"/>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Resolution:2.8uT</a:t>
            </a:r>
            <a:endParaRPr lang="zh-TW" altLang="en-US" dirty="0"/>
          </a:p>
        </p:txBody>
      </p:sp>
    </p:spTree>
    <p:extLst>
      <p:ext uri="{BB962C8B-B14F-4D97-AF65-F5344CB8AC3E}">
        <p14:creationId xmlns:p14="http://schemas.microsoft.com/office/powerpoint/2010/main" val="3056572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90509"/>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6" name="auto caption"/>
          <p:cNvSpPr txBox="1"/>
          <p:nvPr/>
        </p:nvSpPr>
        <p:spPr>
          <a:xfrm>
            <a:off x="-33943" y="586474"/>
            <a:ext cx="12115876" cy="666593"/>
          </a:xfrm>
          <a:prstGeom prst="rect">
            <a:avLst/>
          </a:prstGeom>
          <a:noFill/>
        </p:spPr>
        <p:txBody>
          <a:bodyPr wrap="square" rtlCol="0">
            <a:normAutofit/>
          </a:bodyPr>
          <a:lstStyle/>
          <a:p>
            <a:pPr marL="285750" indent="-285750">
              <a:buFont typeface="Wingdings" panose="05000000000000000000" pitchFamily="2" charset="2"/>
              <a:buChar char="l"/>
            </a:pPr>
            <a:r>
              <a:rPr lang="en-US" altLang="zh-TW" dirty="0"/>
              <a:t>Setup: </a:t>
            </a:r>
            <a:r>
              <a:rPr lang="en-US" altLang="zh-TW" b="1" dirty="0"/>
              <a:t>Calibration is performed using the eighteen-parameter calibration points, followed by fitting to the FEM nodes within the workspace</a:t>
            </a:r>
            <a:r>
              <a:rPr lang="en-US" altLang="zh-TW" dirty="0"/>
              <a:t>. </a:t>
            </a:r>
          </a:p>
        </p:txBody>
      </p:sp>
      <p:grpSp>
        <p:nvGrpSpPr>
          <p:cNvPr id="15" name="群組 14">
            <a:extLst>
              <a:ext uri="{FF2B5EF4-FFF2-40B4-BE49-F238E27FC236}">
                <a16:creationId xmlns:a16="http://schemas.microsoft.com/office/drawing/2014/main" id="{B7E30370-F78D-43D4-9801-77BBC5D93647}"/>
              </a:ext>
            </a:extLst>
          </p:cNvPr>
          <p:cNvGrpSpPr/>
          <p:nvPr/>
        </p:nvGrpSpPr>
        <p:grpSpPr>
          <a:xfrm>
            <a:off x="999601" y="1753814"/>
            <a:ext cx="3036862" cy="2228473"/>
            <a:chOff x="999601" y="1753814"/>
            <a:chExt cx="3036862" cy="2228473"/>
          </a:xfrm>
        </p:grpSpPr>
        <p:pic>
          <p:nvPicPr>
            <p:cNvPr id="12" name="圖片 11">
              <a:extLst>
                <a:ext uri="{FF2B5EF4-FFF2-40B4-BE49-F238E27FC236}">
                  <a16:creationId xmlns:a16="http://schemas.microsoft.com/office/drawing/2014/main" id="{1AFC824F-DE35-4496-BA10-C32F244129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2633" y="1753814"/>
              <a:ext cx="2863830" cy="2225144"/>
            </a:xfrm>
            <a:prstGeom prst="rect">
              <a:avLst/>
            </a:prstGeom>
          </p:spPr>
        </p:pic>
        <p:grpSp>
          <p:nvGrpSpPr>
            <p:cNvPr id="26" name="群組 25">
              <a:extLst>
                <a:ext uri="{FF2B5EF4-FFF2-40B4-BE49-F238E27FC236}">
                  <a16:creationId xmlns:a16="http://schemas.microsoft.com/office/drawing/2014/main" id="{70478066-310B-4F80-997B-F860B06EC624}"/>
                </a:ext>
              </a:extLst>
            </p:cNvPr>
            <p:cNvGrpSpPr/>
            <p:nvPr/>
          </p:nvGrpSpPr>
          <p:grpSpPr>
            <a:xfrm>
              <a:off x="999601" y="1830285"/>
              <a:ext cx="2347748" cy="2152002"/>
              <a:chOff x="8570287" y="905457"/>
              <a:chExt cx="2474812" cy="2372416"/>
            </a:xfrm>
          </p:grpSpPr>
          <p:grpSp>
            <p:nvGrpSpPr>
              <p:cNvPr id="14" name="群組 13">
                <a:extLst>
                  <a:ext uri="{FF2B5EF4-FFF2-40B4-BE49-F238E27FC236}">
                    <a16:creationId xmlns:a16="http://schemas.microsoft.com/office/drawing/2014/main" id="{98E2DA52-7382-44DD-9802-8F4A47DA9DEE}"/>
                  </a:ext>
                </a:extLst>
              </p:cNvPr>
              <p:cNvGrpSpPr/>
              <p:nvPr/>
            </p:nvGrpSpPr>
            <p:grpSpPr>
              <a:xfrm>
                <a:off x="8638505" y="1200487"/>
                <a:ext cx="2406594" cy="2077386"/>
                <a:chOff x="8638505" y="1200487"/>
                <a:chExt cx="2406594" cy="2077386"/>
              </a:xfrm>
            </p:grpSpPr>
            <p:sp>
              <p:nvSpPr>
                <p:cNvPr id="13" name="矩形 12">
                  <a:extLst>
                    <a:ext uri="{FF2B5EF4-FFF2-40B4-BE49-F238E27FC236}">
                      <a16:creationId xmlns:a16="http://schemas.microsoft.com/office/drawing/2014/main" id="{62D9AAFB-45CB-41B6-A7DA-A163C76C7C70}"/>
                    </a:ext>
                  </a:extLst>
                </p:cNvPr>
                <p:cNvSpPr/>
                <p:nvPr/>
              </p:nvSpPr>
              <p:spPr>
                <a:xfrm>
                  <a:off x="9799639" y="3094975"/>
                  <a:ext cx="1245460" cy="1828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94D5CEEC-4BD3-41C5-AEA4-00E812C48194}"/>
                    </a:ext>
                  </a:extLst>
                </p:cNvPr>
                <p:cNvSpPr/>
                <p:nvPr/>
              </p:nvSpPr>
              <p:spPr>
                <a:xfrm rot="16200000">
                  <a:off x="8177811" y="1661181"/>
                  <a:ext cx="1167609"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BACF366E-8A86-48E7-B656-FA0D777C2587}"/>
                      </a:ext>
                    </a:extLst>
                  </p:cNvPr>
                  <p:cNvSpPr txBox="1"/>
                  <p:nvPr/>
                </p:nvSpPr>
                <p:spPr>
                  <a:xfrm rot="16200000">
                    <a:off x="7721881" y="1753863"/>
                    <a:ext cx="194303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38" name="文字方塊 37">
                    <a:extLst>
                      <a:ext uri="{FF2B5EF4-FFF2-40B4-BE49-F238E27FC236}">
                        <a16:creationId xmlns:a16="http://schemas.microsoft.com/office/drawing/2014/main" id="{BACF366E-8A86-48E7-B656-FA0D777C2587}"/>
                      </a:ext>
                    </a:extLst>
                  </p:cNvPr>
                  <p:cNvSpPr txBox="1">
                    <a:spLocks noRot="1" noChangeAspect="1" noMove="1" noResize="1" noEditPoints="1" noAdjustHandles="1" noChangeArrowheads="1" noChangeShapeType="1" noTextEdit="1"/>
                  </p:cNvSpPr>
                  <p:nvPr/>
                </p:nvSpPr>
                <p:spPr>
                  <a:xfrm rot="16200000">
                    <a:off x="7721881" y="1753863"/>
                    <a:ext cx="1943033" cy="246221"/>
                  </a:xfrm>
                  <a:prstGeom prst="rect">
                    <a:avLst/>
                  </a:prstGeom>
                  <a:blipFill>
                    <a:blip r:embed="rId4"/>
                    <a:stretch>
                      <a:fillRect t="-10381" r="-39474" b="-5190"/>
                    </a:stretch>
                  </a:blipFill>
                </p:spPr>
                <p:txBody>
                  <a:bodyPr/>
                  <a:lstStyle/>
                  <a:p>
                    <a:r>
                      <a:rPr lang="zh-TW" altLang="en-US">
                        <a:noFill/>
                      </a:rPr>
                      <a:t> </a:t>
                    </a:r>
                  </a:p>
                </p:txBody>
              </p:sp>
            </mc:Fallback>
          </mc:AlternateContent>
        </p:grpSp>
      </p:grpSp>
      <p:grpSp>
        <p:nvGrpSpPr>
          <p:cNvPr id="10" name="群組 9">
            <a:extLst>
              <a:ext uri="{FF2B5EF4-FFF2-40B4-BE49-F238E27FC236}">
                <a16:creationId xmlns:a16="http://schemas.microsoft.com/office/drawing/2014/main" id="{68971A3D-DDA5-4385-B9A8-7CFCDB13136B}"/>
              </a:ext>
            </a:extLst>
          </p:cNvPr>
          <p:cNvGrpSpPr/>
          <p:nvPr/>
        </p:nvGrpSpPr>
        <p:grpSpPr>
          <a:xfrm>
            <a:off x="6798048" y="1673664"/>
            <a:ext cx="3236243" cy="2472270"/>
            <a:chOff x="6798048" y="1673664"/>
            <a:chExt cx="3236243" cy="2472270"/>
          </a:xfrm>
        </p:grpSpPr>
        <p:pic>
          <p:nvPicPr>
            <p:cNvPr id="9" name="圖片 8">
              <a:extLst>
                <a:ext uri="{FF2B5EF4-FFF2-40B4-BE49-F238E27FC236}">
                  <a16:creationId xmlns:a16="http://schemas.microsoft.com/office/drawing/2014/main" id="{B7712027-7F4D-4C89-BDDF-34189162C5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27467" y="1673664"/>
              <a:ext cx="3106824" cy="2438400"/>
            </a:xfrm>
            <a:prstGeom prst="rect">
              <a:avLst/>
            </a:prstGeom>
          </p:spPr>
        </p:pic>
        <p:grpSp>
          <p:nvGrpSpPr>
            <p:cNvPr id="4" name="群組 3">
              <a:extLst>
                <a:ext uri="{FF2B5EF4-FFF2-40B4-BE49-F238E27FC236}">
                  <a16:creationId xmlns:a16="http://schemas.microsoft.com/office/drawing/2014/main" id="{933C1DEA-2A25-4CD8-B1F2-559B13368157}"/>
                </a:ext>
              </a:extLst>
            </p:cNvPr>
            <p:cNvGrpSpPr/>
            <p:nvPr/>
          </p:nvGrpSpPr>
          <p:grpSpPr>
            <a:xfrm>
              <a:off x="6798048" y="1906475"/>
              <a:ext cx="2396754" cy="2239459"/>
              <a:chOff x="8067924" y="3782603"/>
              <a:chExt cx="2836668" cy="2604503"/>
            </a:xfrm>
          </p:grpSpPr>
          <p:grpSp>
            <p:nvGrpSpPr>
              <p:cNvPr id="23" name="群組 22">
                <a:extLst>
                  <a:ext uri="{FF2B5EF4-FFF2-40B4-BE49-F238E27FC236}">
                    <a16:creationId xmlns:a16="http://schemas.microsoft.com/office/drawing/2014/main" id="{8A0D190F-A149-479A-B4CF-2466476579D5}"/>
                  </a:ext>
                </a:extLst>
              </p:cNvPr>
              <p:cNvGrpSpPr/>
              <p:nvPr/>
            </p:nvGrpSpPr>
            <p:grpSpPr>
              <a:xfrm>
                <a:off x="8201056" y="4174056"/>
                <a:ext cx="2703536" cy="2213050"/>
                <a:chOff x="8201056" y="4174056"/>
                <a:chExt cx="2703536" cy="2213050"/>
              </a:xfrm>
            </p:grpSpPr>
            <p:sp>
              <p:nvSpPr>
                <p:cNvPr id="32" name="矩形 31">
                  <a:extLst>
                    <a:ext uri="{FF2B5EF4-FFF2-40B4-BE49-F238E27FC236}">
                      <a16:creationId xmlns:a16="http://schemas.microsoft.com/office/drawing/2014/main" id="{121C5590-E60E-40CA-90CE-72EB5B131EAA}"/>
                    </a:ext>
                  </a:extLst>
                </p:cNvPr>
                <p:cNvSpPr/>
                <p:nvPr/>
              </p:nvSpPr>
              <p:spPr>
                <a:xfrm rot="16200000">
                  <a:off x="7718622" y="4656490"/>
                  <a:ext cx="1158966" cy="1940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矩形 32">
                  <a:extLst>
                    <a:ext uri="{FF2B5EF4-FFF2-40B4-BE49-F238E27FC236}">
                      <a16:creationId xmlns:a16="http://schemas.microsoft.com/office/drawing/2014/main" id="{28DA81AC-D8F6-40B2-92CE-B56A4FCF8FB1}"/>
                    </a:ext>
                  </a:extLst>
                </p:cNvPr>
                <p:cNvSpPr/>
                <p:nvPr/>
              </p:nvSpPr>
              <p:spPr>
                <a:xfrm>
                  <a:off x="9429576" y="6146545"/>
                  <a:ext cx="1475016" cy="2405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9AAFCE20-3EC1-4EF5-886A-490516CB6BF3}"/>
                      </a:ext>
                    </a:extLst>
                  </p:cNvPr>
                  <p:cNvSpPr txBox="1"/>
                  <p:nvPr/>
                </p:nvSpPr>
                <p:spPr>
                  <a:xfrm rot="16200000">
                    <a:off x="7219519" y="4631008"/>
                    <a:ext cx="19430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28" name="文字方塊 27">
                    <a:extLst>
                      <a:ext uri="{FF2B5EF4-FFF2-40B4-BE49-F238E27FC236}">
                        <a16:creationId xmlns:a16="http://schemas.microsoft.com/office/drawing/2014/main" id="{9AAFCE20-3EC1-4EF5-886A-490516CB6BF3}"/>
                      </a:ext>
                    </a:extLst>
                  </p:cNvPr>
                  <p:cNvSpPr txBox="1">
                    <a:spLocks noRot="1" noChangeAspect="1" noMove="1" noResize="1" noEditPoints="1" noAdjustHandles="1" noChangeArrowheads="1" noChangeShapeType="1" noTextEdit="1"/>
                  </p:cNvSpPr>
                  <p:nvPr/>
                </p:nvSpPr>
                <p:spPr>
                  <a:xfrm rot="16200000">
                    <a:off x="7219519" y="4631008"/>
                    <a:ext cx="1943032" cy="246221"/>
                  </a:xfrm>
                  <a:prstGeom prst="rect">
                    <a:avLst/>
                  </a:prstGeom>
                  <a:blipFill>
                    <a:blip r:embed="rId7"/>
                    <a:stretch>
                      <a:fillRect t="-16788" r="-58824" b="-5474"/>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3780944156"/>
                  </p:ext>
                </p:extLst>
              </p:nvPr>
            </p:nvGraphicFramePr>
            <p:xfrm>
              <a:off x="287865" y="4540405"/>
              <a:ext cx="11506201" cy="1936577"/>
            </p:xfrm>
            <a:graphic>
              <a:graphicData uri="http://schemas.openxmlformats.org/drawingml/2006/table">
                <a:tbl>
                  <a:tblPr firstRow="1" bandRow="1">
                    <a:tableStyleId>{5940675A-B579-460E-94D1-54222C63F5DA}</a:tableStyleId>
                  </a:tblPr>
                  <a:tblGrid>
                    <a:gridCol w="1286934">
                      <a:extLst>
                        <a:ext uri="{9D8B030D-6E8A-4147-A177-3AD203B41FA5}">
                          <a16:colId xmlns:a16="http://schemas.microsoft.com/office/drawing/2014/main" val="2220848039"/>
                        </a:ext>
                      </a:extLst>
                    </a:gridCol>
                    <a:gridCol w="1041400">
                      <a:extLst>
                        <a:ext uri="{9D8B030D-6E8A-4147-A177-3AD203B41FA5}">
                          <a16:colId xmlns:a16="http://schemas.microsoft.com/office/drawing/2014/main" val="2517592409"/>
                        </a:ext>
                      </a:extLst>
                    </a:gridCol>
                    <a:gridCol w="2794000">
                      <a:extLst>
                        <a:ext uri="{9D8B030D-6E8A-4147-A177-3AD203B41FA5}">
                          <a16:colId xmlns:a16="http://schemas.microsoft.com/office/drawing/2014/main" val="1542711824"/>
                        </a:ext>
                      </a:extLst>
                    </a:gridCol>
                    <a:gridCol w="2700866">
                      <a:extLst>
                        <a:ext uri="{9D8B030D-6E8A-4147-A177-3AD203B41FA5}">
                          <a16:colId xmlns:a16="http://schemas.microsoft.com/office/drawing/2014/main" val="1951294256"/>
                        </a:ext>
                      </a:extLst>
                    </a:gridCol>
                    <a:gridCol w="1871134">
                      <a:extLst>
                        <a:ext uri="{9D8B030D-6E8A-4147-A177-3AD203B41FA5}">
                          <a16:colId xmlns:a16="http://schemas.microsoft.com/office/drawing/2014/main" val="2486765925"/>
                        </a:ext>
                      </a:extLst>
                    </a:gridCol>
                    <a:gridCol w="1811867">
                      <a:extLst>
                        <a:ext uri="{9D8B030D-6E8A-4147-A177-3AD203B41FA5}">
                          <a16:colId xmlns:a16="http://schemas.microsoft.com/office/drawing/2014/main" val="2727676957"/>
                        </a:ext>
                      </a:extLst>
                    </a:gridCol>
                  </a:tblGrid>
                  <a:tr h="452404">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oMath>
                            </m:oMathPara>
                          </a14:m>
                          <a:endParaRPr lang="zh-TW" altLang="en-US" dirty="0"/>
                        </a:p>
                      </a:txBody>
                      <a:tcPr/>
                    </a:tc>
                    <a:tc>
                      <a:txBody>
                        <a:bodyPr/>
                        <a:lstStyle/>
                        <a:p>
                          <a:pPr algn="ctr"/>
                          <a:r>
                            <a:rPr lang="en-US" altLang="zh-TW" dirty="0"/>
                            <a:t>Peak value</a:t>
                          </a:r>
                          <a14:m>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zh-TW" altLang="en-US" b="0" i="1" smtClean="0">
                                  <a:latin typeface="Cambria Math" panose="02040503050406030204" pitchFamily="18" charset="0"/>
                                  <a:ea typeface="Cambria Math" panose="02040503050406030204" pitchFamily="18" charset="0"/>
                                </a:rPr>
                                <m:t>𝜇</m:t>
                              </m:r>
                              <m:r>
                                <a:rPr lang="en-US" altLang="zh-TW" b="0" i="1" smtClean="0">
                                  <a:latin typeface="Cambria Math" panose="02040503050406030204" pitchFamily="18" charset="0"/>
                                  <a:ea typeface="Cambria Math" panose="02040503050406030204" pitchFamily="18" charset="0"/>
                                </a:rPr>
                                <m:t>𝑚</m:t>
                              </m:r>
                              <m:r>
                                <a:rPr lang="en-US" altLang="zh-TW" b="0" i="1" smtClean="0">
                                  <a:latin typeface="Cambria Math" panose="02040503050406030204" pitchFamily="18" charset="0"/>
                                  <a:ea typeface="Cambria Math" panose="02040503050406030204" pitchFamily="18" charset="0"/>
                                </a:rPr>
                                <m:t>)</m:t>
                              </m:r>
                            </m:oMath>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altLang="zh-TW" sz="1800" b="0" i="0" smtClean="0">
                                    <a:latin typeface="Cambria Math" panose="02040503050406030204" pitchFamily="18" charset="0"/>
                                    <a:ea typeface="Cambria Math" panose="02040503050406030204" pitchFamily="18" charset="0"/>
                                  </a:rPr>
                                  <m:t>Average</m:t>
                                </m:r>
                                <m:r>
                                  <a:rPr lang="en-US" altLang="zh-TW" sz="1800" b="0" i="0" smtClean="0">
                                    <a:latin typeface="Cambria Math" panose="02040503050406030204" pitchFamily="18" charset="0"/>
                                    <a:ea typeface="Cambria Math" panose="02040503050406030204" pitchFamily="18" charset="0"/>
                                  </a:rPr>
                                  <m:t> </m:t>
                                </m:r>
                                <m:r>
                                  <m:rPr>
                                    <m:sty m:val="p"/>
                                  </m:rPr>
                                  <a:rPr lang="en-US" altLang="zh-TW" sz="1800" b="0" i="0" smtClean="0">
                                    <a:latin typeface="Cambria Math" panose="02040503050406030204" pitchFamily="18" charset="0"/>
                                    <a:ea typeface="Cambria Math" panose="02040503050406030204" pitchFamily="18" charset="0"/>
                                  </a:rPr>
                                  <m:t>field</m:t>
                                </m:r>
                              </m:oMath>
                            </m:oMathPara>
                          </a14:m>
                          <a:endParaRPr lang="zh-TW" altLang="en-US" i="0" dirty="0"/>
                        </a:p>
                      </a:txBody>
                      <a:tcPr/>
                    </a:tc>
                    <a:tc gridSpan="2">
                      <a:txBody>
                        <a:bodyPr/>
                        <a:lstStyle/>
                        <a:p>
                          <a:pPr algn="ctr"/>
                          <a:r>
                            <a:rPr lang="en-US" altLang="zh-TW" i="0" dirty="0"/>
                            <a:t>Mean error</a:t>
                          </a:r>
                          <a:endParaRPr lang="zh-TW" altLang="en-US" i="0" dirty="0"/>
                        </a:p>
                      </a:txBody>
                      <a:tcPr/>
                    </a:tc>
                    <a:tc hMerge="1">
                      <a:txBody>
                        <a:bodyPr/>
                        <a:lstStyle/>
                        <a:p>
                          <a:endParaRPr lang="zh-TW" altLang="en-US"/>
                        </a:p>
                      </a:txBody>
                      <a:tcPr/>
                    </a:tc>
                    <a:extLst>
                      <a:ext uri="{0D108BD9-81ED-4DB2-BD59-A6C34878D82A}">
                        <a16:rowId xmlns:a16="http://schemas.microsoft.com/office/drawing/2014/main" val="3860471253"/>
                      </a:ext>
                    </a:extLst>
                  </a:tr>
                  <a:tr h="661213">
                    <a:tc>
                      <a:txBody>
                        <a:bodyPr/>
                        <a:lstStyle/>
                        <a:p>
                          <a:r>
                            <a:rPr lang="en-US" altLang="zh-TW" dirty="0"/>
                            <a:t>Left figure</a:t>
                          </a:r>
                          <a:endParaRPr lang="zh-TW" altLang="en-US" dirty="0"/>
                        </a:p>
                      </a:txBody>
                      <a:tcPr/>
                    </a:tc>
                    <a:tc>
                      <a:txBody>
                        <a:bodyPr/>
                        <a:lstStyle/>
                        <a:p>
                          <a:pPr algn="ctr"/>
                          <a:r>
                            <a:rPr lang="en-US" altLang="zh-TW" dirty="0"/>
                            <a:t>1791</a:t>
                          </a:r>
                          <a:endParaRPr lang="zh-TW" altLang="en-US" dirty="0"/>
                        </a:p>
                      </a:txBody>
                      <a:tcPr/>
                    </a:tc>
                    <a:tc>
                      <a:txBody>
                        <a:bodyPr/>
                        <a:lstStyle/>
                        <a:p>
                          <a:pPr algn="ctr"/>
                          <a:r>
                            <a:rPr lang="en-US" altLang="zh-TW" dirty="0"/>
                            <a:t>6.4954%</a:t>
                          </a:r>
                          <a:endParaRPr lang="zh-TW" altLang="en-US" dirty="0"/>
                        </a:p>
                      </a:txBody>
                      <a:tcPr/>
                    </a:tc>
                    <a:tc>
                      <a:txBody>
                        <a:bodyPr/>
                        <a:lstStyle/>
                        <a:p>
                          <a:pPr algn="ctr"/>
                          <a:r>
                            <a:rPr lang="en-US" altLang="zh-TW" dirty="0"/>
                            <a:t>29.1094mT</a:t>
                          </a:r>
                          <a:endParaRPr lang="zh-TW" altLang="en-US" dirty="0"/>
                        </a:p>
                      </a:txBody>
                      <a:tcPr/>
                    </a:tc>
                    <a:tc gridSpan="2">
                      <a:txBody>
                        <a:bodyPr/>
                        <a:lstStyle/>
                        <a:p>
                          <a:pPr algn="ctr"/>
                          <a:r>
                            <a:rPr lang="en-US" altLang="zh-TW" dirty="0"/>
                            <a:t>0.2190mT</a:t>
                          </a:r>
                          <a:endParaRPr lang="zh-TW" altLang="en-US" dirty="0"/>
                        </a:p>
                      </a:txBody>
                      <a:tcPr/>
                    </a:tc>
                    <a:tc hMerge="1">
                      <a:txBody>
                        <a:bodyPr/>
                        <a:lstStyle/>
                        <a:p>
                          <a:endParaRPr lang="zh-TW" altLang="en-US"/>
                        </a:p>
                      </a:txBody>
                      <a:tcPr/>
                    </a:tc>
                    <a:extLst>
                      <a:ext uri="{0D108BD9-81ED-4DB2-BD59-A6C34878D82A}">
                        <a16:rowId xmlns:a16="http://schemas.microsoft.com/office/drawing/2014/main" val="142448062"/>
                      </a:ext>
                    </a:extLst>
                  </a:tr>
                  <a:tr h="661213">
                    <a:tc>
                      <a:txBody>
                        <a:bodyPr/>
                        <a:lstStyle/>
                        <a:p>
                          <a:r>
                            <a:rPr lang="en-US" altLang="zh-TW" dirty="0"/>
                            <a:t>Right figure</a:t>
                          </a:r>
                          <a:endParaRPr lang="zh-TW" altLang="en-US" dirty="0"/>
                        </a:p>
                      </a:txBody>
                      <a:tcPr/>
                    </a:tc>
                    <a:tc>
                      <a:txBody>
                        <a:bodyPr/>
                        <a:lstStyle/>
                        <a:p>
                          <a:pPr algn="ctr"/>
                          <a:r>
                            <a:rPr lang="en-US" altLang="zh-TW" dirty="0"/>
                            <a:t>14066</a:t>
                          </a:r>
                          <a:endParaRPr lang="zh-TW" altLang="en-US" dirty="0"/>
                        </a:p>
                      </a:txBody>
                      <a:tcPr/>
                    </a:tc>
                    <a:tc>
                      <a:txBody>
                        <a:bodyPr/>
                        <a:lstStyle/>
                        <a:p>
                          <a:pPr algn="ctr"/>
                          <a:r>
                            <a:rPr lang="en-US" altLang="zh-TW" dirty="0"/>
                            <a:t>0.4751%</a:t>
                          </a:r>
                          <a:endParaRPr lang="zh-TW" altLang="en-US" dirty="0"/>
                        </a:p>
                      </a:txBody>
                      <a:tcPr/>
                    </a:tc>
                    <a:tc>
                      <a:txBody>
                        <a:bodyPr/>
                        <a:lstStyle/>
                        <a:p>
                          <a:pPr algn="ctr"/>
                          <a:r>
                            <a:rPr lang="en-US" altLang="zh-TW" dirty="0"/>
                            <a:t>30.7330mT</a:t>
                          </a:r>
                          <a:endParaRPr lang="zh-TW" altLang="en-US" dirty="0"/>
                        </a:p>
                      </a:txBody>
                      <a:tcPr/>
                    </a:tc>
                    <a:tc>
                      <a:txBody>
                        <a:bodyPr/>
                        <a:lstStyle/>
                        <a:p>
                          <a:pPr algn="ctr"/>
                          <a:r>
                            <a:rPr lang="en-US" altLang="zh-TW" dirty="0"/>
                            <a:t>0.4294mT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t>(</a:t>
                          </a:r>
                          <a14:m>
                            <m:oMath xmlns:m="http://schemas.openxmlformats.org/officeDocument/2006/math">
                              <m:r>
                                <a:rPr lang="en-US" altLang="zh-TW" sz="1200" b="0" i="1" smtClean="0">
                                  <a:latin typeface="Cambria Math" panose="02040503050406030204" pitchFamily="18" charset="0"/>
                                </a:rPr>
                                <m:t>𝑅</m:t>
                              </m:r>
                              <m:r>
                                <a:rPr lang="en-US" altLang="zh-TW" sz="1200" b="0" i="1" smtClean="0">
                                  <a:latin typeface="Cambria Math" panose="02040503050406030204" pitchFamily="18" charset="0"/>
                                </a:rPr>
                                <m:t>≤150</m:t>
                              </m:r>
                              <m:r>
                                <a:rPr lang="en-US" altLang="zh-TW" sz="1200" b="0" i="1" smtClean="0">
                                  <a:latin typeface="Cambria Math" panose="02040503050406030204" pitchFamily="18" charset="0"/>
                                </a:rPr>
                                <m:t>𝑢𝑚</m:t>
                              </m:r>
                              <m:r>
                                <a:rPr lang="en-US" altLang="zh-TW" sz="1200" b="0" i="1" smtClean="0">
                                  <a:latin typeface="Cambria Math" panose="02040503050406030204" pitchFamily="18" charset="0"/>
                                </a:rPr>
                                <m:t>)</m:t>
                              </m:r>
                            </m:oMath>
                          </a14:m>
                          <a:endParaRPr lang="zh-TW" altLang="en-US" sz="1200" dirty="0"/>
                        </a:p>
                        <a:p>
                          <a:pPr algn="ctr"/>
                          <a:endParaRPr lang="zh-TW" altLang="en-US" dirty="0"/>
                        </a:p>
                      </a:txBody>
                      <a:tcPr/>
                    </a:tc>
                    <a:tc>
                      <a:txBody>
                        <a:bodyPr/>
                        <a:lstStyle/>
                        <a:p>
                          <a:pPr algn="ctr"/>
                          <a:r>
                            <a:rPr lang="en-US" altLang="zh-TW" dirty="0"/>
                            <a:t>1.2666mT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t>(</a:t>
                          </a:r>
                          <a14:m>
                            <m:oMath xmlns:m="http://schemas.openxmlformats.org/officeDocument/2006/math">
                              <m:r>
                                <a:rPr lang="en-US" altLang="zh-TW" sz="1200" b="0" i="0" smtClean="0">
                                  <a:latin typeface="Cambria Math" panose="02040503050406030204" pitchFamily="18" charset="0"/>
                                </a:rPr>
                                <m:t>150</m:t>
                              </m:r>
                              <m:r>
                                <m:rPr>
                                  <m:sty m:val="p"/>
                                </m:rPr>
                                <a:rPr lang="en-US" altLang="zh-TW" sz="1200" b="0" i="0" smtClean="0">
                                  <a:latin typeface="Cambria Math" panose="02040503050406030204" pitchFamily="18" charset="0"/>
                                </a:rPr>
                                <m:t>um</m:t>
                              </m:r>
                              <m:r>
                                <a:rPr lang="en-US" altLang="zh-TW" sz="1200" b="0" i="0" smtClean="0">
                                  <a:latin typeface="Cambria Math" panose="02040503050406030204" pitchFamily="18" charset="0"/>
                                </a:rPr>
                                <m:t>≤</m:t>
                              </m:r>
                              <m:r>
                                <a:rPr lang="en-US" altLang="zh-TW" sz="1200" b="0" i="1" smtClean="0">
                                  <a:latin typeface="Cambria Math" panose="02040503050406030204" pitchFamily="18" charset="0"/>
                                </a:rPr>
                                <m:t>𝑅</m:t>
                              </m:r>
                              <m:r>
                                <a:rPr lang="en-US" altLang="zh-TW" sz="1200" b="0" i="1" smtClean="0">
                                  <a:latin typeface="Cambria Math" panose="02040503050406030204" pitchFamily="18" charset="0"/>
                                </a:rPr>
                                <m:t>≤300</m:t>
                              </m:r>
                              <m:r>
                                <a:rPr lang="en-US" altLang="zh-TW" sz="1200" b="0" i="1" smtClean="0">
                                  <a:latin typeface="Cambria Math" panose="02040503050406030204" pitchFamily="18" charset="0"/>
                                </a:rPr>
                                <m:t>𝑢𝑚</m:t>
                              </m:r>
                              <m:r>
                                <a:rPr lang="en-US" altLang="zh-TW" sz="1200" b="0" i="1" smtClean="0">
                                  <a:latin typeface="Cambria Math" panose="02040503050406030204" pitchFamily="18" charset="0"/>
                                </a:rPr>
                                <m:t>)</m:t>
                              </m:r>
                            </m:oMath>
                          </a14:m>
                          <a:endParaRPr lang="zh-TW" altLang="en-US" sz="1200" dirty="0"/>
                        </a:p>
                        <a:p>
                          <a:pPr algn="ctr"/>
                          <a:endParaRPr lang="zh-TW" altLang="en-US" dirty="0"/>
                        </a:p>
                      </a:txBody>
                      <a:tcPr/>
                    </a:tc>
                    <a:extLst>
                      <a:ext uri="{0D108BD9-81ED-4DB2-BD59-A6C34878D82A}">
                        <a16:rowId xmlns:a16="http://schemas.microsoft.com/office/drawing/2014/main" val="1327120116"/>
                      </a:ext>
                    </a:extLst>
                  </a:tr>
                </a:tbl>
              </a:graphicData>
            </a:graphic>
          </p:graphicFrame>
        </mc:Choice>
        <mc:Fallback xmlns="">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3780944156"/>
                  </p:ext>
                </p:extLst>
              </p:nvPr>
            </p:nvGraphicFramePr>
            <p:xfrm>
              <a:off x="287865" y="4540405"/>
              <a:ext cx="11506201" cy="1936577"/>
            </p:xfrm>
            <a:graphic>
              <a:graphicData uri="http://schemas.openxmlformats.org/drawingml/2006/table">
                <a:tbl>
                  <a:tblPr firstRow="1" bandRow="1">
                    <a:tableStyleId>{5940675A-B579-460E-94D1-54222C63F5DA}</a:tableStyleId>
                  </a:tblPr>
                  <a:tblGrid>
                    <a:gridCol w="1286934">
                      <a:extLst>
                        <a:ext uri="{9D8B030D-6E8A-4147-A177-3AD203B41FA5}">
                          <a16:colId xmlns:a16="http://schemas.microsoft.com/office/drawing/2014/main" val="2220848039"/>
                        </a:ext>
                      </a:extLst>
                    </a:gridCol>
                    <a:gridCol w="1041400">
                      <a:extLst>
                        <a:ext uri="{9D8B030D-6E8A-4147-A177-3AD203B41FA5}">
                          <a16:colId xmlns:a16="http://schemas.microsoft.com/office/drawing/2014/main" val="2517592409"/>
                        </a:ext>
                      </a:extLst>
                    </a:gridCol>
                    <a:gridCol w="2794000">
                      <a:extLst>
                        <a:ext uri="{9D8B030D-6E8A-4147-A177-3AD203B41FA5}">
                          <a16:colId xmlns:a16="http://schemas.microsoft.com/office/drawing/2014/main" val="1542711824"/>
                        </a:ext>
                      </a:extLst>
                    </a:gridCol>
                    <a:gridCol w="2700866">
                      <a:extLst>
                        <a:ext uri="{9D8B030D-6E8A-4147-A177-3AD203B41FA5}">
                          <a16:colId xmlns:a16="http://schemas.microsoft.com/office/drawing/2014/main" val="1951294256"/>
                        </a:ext>
                      </a:extLst>
                    </a:gridCol>
                    <a:gridCol w="1871134">
                      <a:extLst>
                        <a:ext uri="{9D8B030D-6E8A-4147-A177-3AD203B41FA5}">
                          <a16:colId xmlns:a16="http://schemas.microsoft.com/office/drawing/2014/main" val="2486765925"/>
                        </a:ext>
                      </a:extLst>
                    </a:gridCol>
                    <a:gridCol w="1811867">
                      <a:extLst>
                        <a:ext uri="{9D8B030D-6E8A-4147-A177-3AD203B41FA5}">
                          <a16:colId xmlns:a16="http://schemas.microsoft.com/office/drawing/2014/main" val="2727676957"/>
                        </a:ext>
                      </a:extLst>
                    </a:gridCol>
                  </a:tblGrid>
                  <a:tr h="452404">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8"/>
                          <a:stretch>
                            <a:fillRect l="-123977" t="-6667" r="-881871" b="-328000"/>
                          </a:stretch>
                        </a:blipFill>
                      </a:tcPr>
                    </a:tc>
                    <a:tc>
                      <a:txBody>
                        <a:bodyPr/>
                        <a:lstStyle/>
                        <a:p>
                          <a:endParaRPr lang="zh-TW"/>
                        </a:p>
                      </a:txBody>
                      <a:tcPr>
                        <a:blipFill>
                          <a:blip r:embed="rId8"/>
                          <a:stretch>
                            <a:fillRect l="-83442" t="-6667" r="-228540" b="-328000"/>
                          </a:stretch>
                        </a:blipFill>
                      </a:tcPr>
                    </a:tc>
                    <a:tc>
                      <a:txBody>
                        <a:bodyPr/>
                        <a:lstStyle/>
                        <a:p>
                          <a:endParaRPr lang="zh-TW"/>
                        </a:p>
                      </a:txBody>
                      <a:tcPr>
                        <a:blipFill>
                          <a:blip r:embed="rId8"/>
                          <a:stretch>
                            <a:fillRect l="-190068" t="-6667" r="-136795" b="-328000"/>
                          </a:stretch>
                        </a:blipFill>
                      </a:tcPr>
                    </a:tc>
                    <a:tc gridSpan="2">
                      <a:txBody>
                        <a:bodyPr/>
                        <a:lstStyle/>
                        <a:p>
                          <a:pPr algn="ctr"/>
                          <a:r>
                            <a:rPr lang="en-US" altLang="zh-TW" i="0" dirty="0"/>
                            <a:t>Mean error</a:t>
                          </a:r>
                          <a:endParaRPr lang="zh-TW" altLang="en-US" i="0" dirty="0"/>
                        </a:p>
                      </a:txBody>
                      <a:tcPr/>
                    </a:tc>
                    <a:tc hMerge="1">
                      <a:txBody>
                        <a:bodyPr/>
                        <a:lstStyle/>
                        <a:p>
                          <a:endParaRPr lang="zh-TW" altLang="en-US"/>
                        </a:p>
                      </a:txBody>
                      <a:tcPr/>
                    </a:tc>
                    <a:extLst>
                      <a:ext uri="{0D108BD9-81ED-4DB2-BD59-A6C34878D82A}">
                        <a16:rowId xmlns:a16="http://schemas.microsoft.com/office/drawing/2014/main" val="3860471253"/>
                      </a:ext>
                    </a:extLst>
                  </a:tr>
                  <a:tr h="661213">
                    <a:tc>
                      <a:txBody>
                        <a:bodyPr/>
                        <a:lstStyle/>
                        <a:p>
                          <a:r>
                            <a:rPr lang="en-US" altLang="zh-TW" dirty="0"/>
                            <a:t>Left figure</a:t>
                          </a:r>
                          <a:endParaRPr lang="zh-TW" altLang="en-US" dirty="0"/>
                        </a:p>
                      </a:txBody>
                      <a:tcPr/>
                    </a:tc>
                    <a:tc>
                      <a:txBody>
                        <a:bodyPr/>
                        <a:lstStyle/>
                        <a:p>
                          <a:pPr algn="ctr"/>
                          <a:r>
                            <a:rPr lang="en-US" altLang="zh-TW" dirty="0"/>
                            <a:t>1791</a:t>
                          </a:r>
                          <a:endParaRPr lang="zh-TW" altLang="en-US" dirty="0"/>
                        </a:p>
                      </a:txBody>
                      <a:tcPr/>
                    </a:tc>
                    <a:tc>
                      <a:txBody>
                        <a:bodyPr/>
                        <a:lstStyle/>
                        <a:p>
                          <a:pPr algn="ctr"/>
                          <a:r>
                            <a:rPr lang="en-US" altLang="zh-TW" dirty="0"/>
                            <a:t>6.4954%</a:t>
                          </a:r>
                          <a:endParaRPr lang="zh-TW" altLang="en-US" dirty="0"/>
                        </a:p>
                      </a:txBody>
                      <a:tcPr/>
                    </a:tc>
                    <a:tc>
                      <a:txBody>
                        <a:bodyPr/>
                        <a:lstStyle/>
                        <a:p>
                          <a:pPr algn="ctr"/>
                          <a:r>
                            <a:rPr lang="en-US" altLang="zh-TW" dirty="0"/>
                            <a:t>29.1094mT</a:t>
                          </a:r>
                          <a:endParaRPr lang="zh-TW" altLang="en-US" dirty="0"/>
                        </a:p>
                      </a:txBody>
                      <a:tcPr/>
                    </a:tc>
                    <a:tc gridSpan="2">
                      <a:txBody>
                        <a:bodyPr/>
                        <a:lstStyle/>
                        <a:p>
                          <a:pPr algn="ctr"/>
                          <a:r>
                            <a:rPr lang="en-US" altLang="zh-TW" dirty="0"/>
                            <a:t>0.2190mT</a:t>
                          </a:r>
                          <a:endParaRPr lang="zh-TW" altLang="en-US" dirty="0"/>
                        </a:p>
                      </a:txBody>
                      <a:tcPr/>
                    </a:tc>
                    <a:tc hMerge="1">
                      <a:txBody>
                        <a:bodyPr/>
                        <a:lstStyle/>
                        <a:p>
                          <a:endParaRPr lang="zh-TW" altLang="en-US"/>
                        </a:p>
                      </a:txBody>
                      <a:tcPr/>
                    </a:tc>
                    <a:extLst>
                      <a:ext uri="{0D108BD9-81ED-4DB2-BD59-A6C34878D82A}">
                        <a16:rowId xmlns:a16="http://schemas.microsoft.com/office/drawing/2014/main" val="142448062"/>
                      </a:ext>
                    </a:extLst>
                  </a:tr>
                  <a:tr h="822960">
                    <a:tc>
                      <a:txBody>
                        <a:bodyPr/>
                        <a:lstStyle/>
                        <a:p>
                          <a:r>
                            <a:rPr lang="en-US" altLang="zh-TW" dirty="0"/>
                            <a:t>Right figure</a:t>
                          </a:r>
                          <a:endParaRPr lang="zh-TW" altLang="en-US" dirty="0"/>
                        </a:p>
                      </a:txBody>
                      <a:tcPr/>
                    </a:tc>
                    <a:tc>
                      <a:txBody>
                        <a:bodyPr/>
                        <a:lstStyle/>
                        <a:p>
                          <a:pPr algn="ctr"/>
                          <a:r>
                            <a:rPr lang="en-US" altLang="zh-TW" dirty="0"/>
                            <a:t>14066</a:t>
                          </a:r>
                          <a:endParaRPr lang="zh-TW" altLang="en-US" dirty="0"/>
                        </a:p>
                      </a:txBody>
                      <a:tcPr/>
                    </a:tc>
                    <a:tc>
                      <a:txBody>
                        <a:bodyPr/>
                        <a:lstStyle/>
                        <a:p>
                          <a:pPr algn="ctr"/>
                          <a:r>
                            <a:rPr lang="en-US" altLang="zh-TW" dirty="0"/>
                            <a:t>0.4751%</a:t>
                          </a:r>
                          <a:endParaRPr lang="zh-TW" altLang="en-US" dirty="0"/>
                        </a:p>
                      </a:txBody>
                      <a:tcPr/>
                    </a:tc>
                    <a:tc>
                      <a:txBody>
                        <a:bodyPr/>
                        <a:lstStyle/>
                        <a:p>
                          <a:pPr algn="ctr"/>
                          <a:r>
                            <a:rPr lang="en-US" altLang="zh-TW" dirty="0"/>
                            <a:t>30.7330mT</a:t>
                          </a:r>
                          <a:endParaRPr lang="zh-TW" altLang="en-US" dirty="0"/>
                        </a:p>
                      </a:txBody>
                      <a:tcPr/>
                    </a:tc>
                    <a:tc>
                      <a:txBody>
                        <a:bodyPr/>
                        <a:lstStyle/>
                        <a:p>
                          <a:endParaRPr lang="zh-TW"/>
                        </a:p>
                      </a:txBody>
                      <a:tcPr>
                        <a:blipFill>
                          <a:blip r:embed="rId8"/>
                          <a:stretch>
                            <a:fillRect l="-418567" t="-138235" r="-97394" b="-1471"/>
                          </a:stretch>
                        </a:blipFill>
                      </a:tcPr>
                    </a:tc>
                    <a:tc>
                      <a:txBody>
                        <a:bodyPr/>
                        <a:lstStyle/>
                        <a:p>
                          <a:endParaRPr lang="zh-TW"/>
                        </a:p>
                      </a:txBody>
                      <a:tcPr>
                        <a:blipFill>
                          <a:blip r:embed="rId8"/>
                          <a:stretch>
                            <a:fillRect l="-536027" t="-138235" r="-673" b="-1471"/>
                          </a:stretch>
                        </a:blipFill>
                      </a:tcPr>
                    </a:tc>
                    <a:extLst>
                      <a:ext uri="{0D108BD9-81ED-4DB2-BD59-A6C34878D82A}">
                        <a16:rowId xmlns:a16="http://schemas.microsoft.com/office/drawing/2014/main" val="1327120116"/>
                      </a:ext>
                    </a:extLst>
                  </a:tr>
                </a:tbl>
              </a:graphicData>
            </a:graphic>
          </p:graphicFrame>
        </mc:Fallback>
      </mc:AlternateContent>
      <p:sp>
        <p:nvSpPr>
          <p:cNvPr id="3" name="文字方塊 2">
            <a:extLst>
              <a:ext uri="{FF2B5EF4-FFF2-40B4-BE49-F238E27FC236}">
                <a16:creationId xmlns:a16="http://schemas.microsoft.com/office/drawing/2014/main" id="{7DA54126-8AD3-42B9-BDF5-6524E0886B14}"/>
              </a:ext>
            </a:extLst>
          </p:cNvPr>
          <p:cNvSpPr txBox="1"/>
          <p:nvPr/>
        </p:nvSpPr>
        <p:spPr>
          <a:xfrm>
            <a:off x="0" y="1247855"/>
            <a:ext cx="234526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Zhi</a:t>
            </a:r>
            <a:r>
              <a:rPr lang="en-US" altLang="zh-TW" dirty="0"/>
              <a:t> </a:t>
            </a:r>
            <a:r>
              <a:rPr lang="en-US" altLang="zh-TW" dirty="0" err="1"/>
              <a:t>peng</a:t>
            </a:r>
            <a:endParaRPr lang="zh-TW" altLang="en-US" dirty="0"/>
          </a:p>
        </p:txBody>
      </p:sp>
      <p:sp>
        <p:nvSpPr>
          <p:cNvPr id="35" name="文字方塊 34">
            <a:extLst>
              <a:ext uri="{FF2B5EF4-FFF2-40B4-BE49-F238E27FC236}">
                <a16:creationId xmlns:a16="http://schemas.microsoft.com/office/drawing/2014/main" id="{ABCA9A95-3FE0-4A15-B1F8-0C4668E5E092}"/>
              </a:ext>
            </a:extLst>
          </p:cNvPr>
          <p:cNvSpPr txBox="1"/>
          <p:nvPr/>
        </p:nvSpPr>
        <p:spPr>
          <a:xfrm>
            <a:off x="0" y="6488668"/>
            <a:ext cx="2675466" cy="369332"/>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Resolution:17uT</a:t>
            </a:r>
            <a:endParaRPr lang="zh-TW" altLang="en-US" dirty="0"/>
          </a:p>
        </p:txBody>
      </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6CDDE4AC-20AA-4D9B-AF1C-F770BF09E185}"/>
                  </a:ext>
                </a:extLst>
              </p:cNvPr>
              <p:cNvSpPr txBox="1"/>
              <p:nvPr/>
            </p:nvSpPr>
            <p:spPr>
              <a:xfrm>
                <a:off x="1785709" y="3841535"/>
                <a:ext cx="199253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i="0" smtClean="0">
                          <a:latin typeface="Cambria Math" panose="02040503050406030204" pitchFamily="18" charset="0"/>
                        </a:rPr>
                        <m:t>M</m:t>
                      </m:r>
                      <m:r>
                        <m:rPr>
                          <m:sty m:val="p"/>
                        </m:rPr>
                        <a:rPr lang="en-US" altLang="zh-TW" sz="1600" b="0" i="0" smtClean="0">
                          <a:latin typeface="Cambria Math" panose="02040503050406030204" pitchFamily="18" charset="0"/>
                        </a:rPr>
                        <m:t>odeling</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25" name="文字方塊 24">
                <a:extLst>
                  <a:ext uri="{FF2B5EF4-FFF2-40B4-BE49-F238E27FC236}">
                    <a16:creationId xmlns:a16="http://schemas.microsoft.com/office/drawing/2014/main" id="{6CDDE4AC-20AA-4D9B-AF1C-F770BF09E185}"/>
                  </a:ext>
                </a:extLst>
              </p:cNvPr>
              <p:cNvSpPr txBox="1">
                <a:spLocks noRot="1" noChangeAspect="1" noMove="1" noResize="1" noEditPoints="1" noAdjustHandles="1" noChangeArrowheads="1" noChangeShapeType="1" noTextEdit="1"/>
              </p:cNvSpPr>
              <p:nvPr/>
            </p:nvSpPr>
            <p:spPr>
              <a:xfrm>
                <a:off x="1785709" y="3841535"/>
                <a:ext cx="1992533" cy="246221"/>
              </a:xfrm>
              <a:prstGeom prst="rect">
                <a:avLst/>
              </a:prstGeom>
              <a:blipFill>
                <a:blip r:embed="rId9"/>
                <a:stretch>
                  <a:fillRect l="-612" b="-317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0AA4FED0-0F75-40C8-9A46-4976E16F6037}"/>
                  </a:ext>
                </a:extLst>
              </p:cNvPr>
              <p:cNvSpPr txBox="1"/>
              <p:nvPr/>
            </p:nvSpPr>
            <p:spPr>
              <a:xfrm>
                <a:off x="7764238" y="3886219"/>
                <a:ext cx="192969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Modeling</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29" name="文字方塊 28">
                <a:extLst>
                  <a:ext uri="{FF2B5EF4-FFF2-40B4-BE49-F238E27FC236}">
                    <a16:creationId xmlns:a16="http://schemas.microsoft.com/office/drawing/2014/main" id="{0AA4FED0-0F75-40C8-9A46-4976E16F6037}"/>
                  </a:ext>
                </a:extLst>
              </p:cNvPr>
              <p:cNvSpPr txBox="1">
                <a:spLocks noRot="1" noChangeAspect="1" noMove="1" noResize="1" noEditPoints="1" noAdjustHandles="1" noChangeArrowheads="1" noChangeShapeType="1" noTextEdit="1"/>
              </p:cNvSpPr>
              <p:nvPr/>
            </p:nvSpPr>
            <p:spPr>
              <a:xfrm>
                <a:off x="7764238" y="3886219"/>
                <a:ext cx="1929695" cy="246221"/>
              </a:xfrm>
              <a:prstGeom prst="rect">
                <a:avLst/>
              </a:prstGeom>
              <a:blipFill>
                <a:blip r:embed="rId10"/>
                <a:stretch>
                  <a:fillRect l="-3481" r="-949" b="-325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49432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19" name="文字方塊 18">
            <a:extLst>
              <a:ext uri="{FF2B5EF4-FFF2-40B4-BE49-F238E27FC236}">
                <a16:creationId xmlns:a16="http://schemas.microsoft.com/office/drawing/2014/main" id="{7AEE1245-C1D7-468D-B66E-D359C98E02EC}"/>
              </a:ext>
            </a:extLst>
          </p:cNvPr>
          <p:cNvSpPr txBox="1"/>
          <p:nvPr/>
        </p:nvSpPr>
        <p:spPr>
          <a:xfrm>
            <a:off x="6885600" y="840717"/>
            <a:ext cx="5384798" cy="480131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These two figures show the differences in the calibrated magnetic charge locations between the two models. The upper row presents the magnetic charge locations calibrated by the one-parameter model, shown using side views of poles P1 and P2. It can be clearly seen that, for the lower pole, some of the magnetic charge locations are located outside the pole. This is because the one-parameter model constrains the magnetic charges to lie along the actuator coordinate axes. The lower row presents the results of the eighteen-parameter model, in which the magnetic charge locations of the lower pole move inside the pole. This is more consistent with the expected physical situation. Moreover, the error histograms shown above also indicate that these magnetic charge locations are more consistent with the theoretical positions.</a:t>
            </a:r>
            <a:endParaRPr lang="zh-TW" altLang="en-US" dirty="0"/>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89A87B67-4717-4362-98CB-9141ED7DCE5C}"/>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89A87B67-4717-4362-98CB-9141ED7DCE5C}"/>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p:grpSp>
        <p:nvGrpSpPr>
          <p:cNvPr id="6" name="群組 5">
            <a:extLst>
              <a:ext uri="{FF2B5EF4-FFF2-40B4-BE49-F238E27FC236}">
                <a16:creationId xmlns:a16="http://schemas.microsoft.com/office/drawing/2014/main" id="{C89A0346-8189-4276-A7F0-0B064B6352FC}"/>
              </a:ext>
            </a:extLst>
          </p:cNvPr>
          <p:cNvGrpSpPr/>
          <p:nvPr/>
        </p:nvGrpSpPr>
        <p:grpSpPr>
          <a:xfrm>
            <a:off x="67661" y="1215969"/>
            <a:ext cx="6937032" cy="3354715"/>
            <a:chOff x="101527" y="1144012"/>
            <a:chExt cx="6937032" cy="3354715"/>
          </a:xfrm>
        </p:grpSpPr>
        <p:pic>
          <p:nvPicPr>
            <p:cNvPr id="5" name="圖片 4">
              <a:extLst>
                <a:ext uri="{FF2B5EF4-FFF2-40B4-BE49-F238E27FC236}">
                  <a16:creationId xmlns:a16="http://schemas.microsoft.com/office/drawing/2014/main" id="{A95DCD7E-C4E0-481E-BB54-103FC9611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235" y="1144012"/>
              <a:ext cx="6503365" cy="3004655"/>
            </a:xfrm>
            <a:prstGeom prst="rect">
              <a:avLst/>
            </a:prstGeom>
          </p:spPr>
        </p:pic>
        <p:grpSp>
          <p:nvGrpSpPr>
            <p:cNvPr id="32" name="群組 31">
              <a:extLst>
                <a:ext uri="{FF2B5EF4-FFF2-40B4-BE49-F238E27FC236}">
                  <a16:creationId xmlns:a16="http://schemas.microsoft.com/office/drawing/2014/main" id="{00AAE3B7-7BF1-4B56-BAE2-3D620CD83099}"/>
                </a:ext>
              </a:extLst>
            </p:cNvPr>
            <p:cNvGrpSpPr/>
            <p:nvPr/>
          </p:nvGrpSpPr>
          <p:grpSpPr>
            <a:xfrm>
              <a:off x="101527" y="1345441"/>
              <a:ext cx="6937032" cy="3153286"/>
              <a:chOff x="1625800" y="1853204"/>
              <a:chExt cx="9002701" cy="3165128"/>
            </a:xfrm>
          </p:grpSpPr>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2518E20F-8820-4061-B1C1-9B2B8E6A835C}"/>
                      </a:ext>
                    </a:extLst>
                  </p:cNvPr>
                  <p:cNvSpPr txBox="1"/>
                  <p:nvPr/>
                </p:nvSpPr>
                <p:spPr>
                  <a:xfrm rot="16200000">
                    <a:off x="1059395" y="2788942"/>
                    <a:ext cx="1409810"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3" name="文字方塊 32">
                    <a:extLst>
                      <a:ext uri="{FF2B5EF4-FFF2-40B4-BE49-F238E27FC236}">
                        <a16:creationId xmlns:a16="http://schemas.microsoft.com/office/drawing/2014/main" id="{2518E20F-8820-4061-B1C1-9B2B8E6A835C}"/>
                      </a:ext>
                    </a:extLst>
                  </p:cNvPr>
                  <p:cNvSpPr txBox="1">
                    <a:spLocks noRot="1" noChangeAspect="1" noMove="1" noResize="1" noEditPoints="1" noAdjustHandles="1" noChangeArrowheads="1" noChangeShapeType="1" noTextEdit="1"/>
                  </p:cNvSpPr>
                  <p:nvPr/>
                </p:nvSpPr>
                <p:spPr>
                  <a:xfrm rot="16200000">
                    <a:off x="1059395" y="2788942"/>
                    <a:ext cx="1409810" cy="277000"/>
                  </a:xfrm>
                  <a:prstGeom prst="rect">
                    <a:avLst/>
                  </a:prstGeom>
                  <a:blipFill>
                    <a:blip r:embed="rId4"/>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C76A7CE7-457D-4FFE-A3B1-39E0A8845413}"/>
                      </a:ext>
                    </a:extLst>
                  </p:cNvPr>
                  <p:cNvSpPr txBox="1"/>
                  <p:nvPr/>
                </p:nvSpPr>
                <p:spPr>
                  <a:xfrm>
                    <a:off x="3287298"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4" name="文字方塊 33">
                    <a:extLst>
                      <a:ext uri="{FF2B5EF4-FFF2-40B4-BE49-F238E27FC236}">
                        <a16:creationId xmlns:a16="http://schemas.microsoft.com/office/drawing/2014/main" id="{C76A7CE7-457D-4FFE-A3B1-39E0A8845413}"/>
                      </a:ext>
                    </a:extLst>
                  </p:cNvPr>
                  <p:cNvSpPr txBox="1">
                    <a:spLocks noRot="1" noChangeAspect="1" noMove="1" noResize="1" noEditPoints="1" noAdjustHandles="1" noChangeArrowheads="1" noChangeShapeType="1" noTextEdit="1"/>
                  </p:cNvSpPr>
                  <p:nvPr/>
                </p:nvSpPr>
                <p:spPr>
                  <a:xfrm>
                    <a:off x="3287298" y="4741333"/>
                    <a:ext cx="1436034" cy="276999"/>
                  </a:xfrm>
                  <a:prstGeom prst="rect">
                    <a:avLst/>
                  </a:prstGeom>
                  <a:blipFill>
                    <a:blip r:embed="rId5"/>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A2AF3DB8-6AEF-4EDC-934E-65275A38ABCE}"/>
                      </a:ext>
                    </a:extLst>
                  </p:cNvPr>
                  <p:cNvSpPr txBox="1"/>
                  <p:nvPr/>
                </p:nvSpPr>
                <p:spPr>
                  <a:xfrm>
                    <a:off x="7265875"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5" name="文字方塊 34">
                    <a:extLst>
                      <a:ext uri="{FF2B5EF4-FFF2-40B4-BE49-F238E27FC236}">
                        <a16:creationId xmlns:a16="http://schemas.microsoft.com/office/drawing/2014/main" id="{A2AF3DB8-6AEF-4EDC-934E-65275A38ABCE}"/>
                      </a:ext>
                    </a:extLst>
                  </p:cNvPr>
                  <p:cNvSpPr txBox="1">
                    <a:spLocks noRot="1" noChangeAspect="1" noMove="1" noResize="1" noEditPoints="1" noAdjustHandles="1" noChangeArrowheads="1" noChangeShapeType="1" noTextEdit="1"/>
                  </p:cNvSpPr>
                  <p:nvPr/>
                </p:nvSpPr>
                <p:spPr>
                  <a:xfrm>
                    <a:off x="7265875" y="4741333"/>
                    <a:ext cx="1436034" cy="276999"/>
                  </a:xfrm>
                  <a:prstGeom prst="rect">
                    <a:avLst/>
                  </a:prstGeom>
                  <a:blipFill>
                    <a:blip r:embed="rId6"/>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B76B494B-9CE2-48D5-ABD5-138500987A43}"/>
                      </a:ext>
                    </a:extLst>
                  </p:cNvPr>
                  <p:cNvSpPr txBox="1"/>
                  <p:nvPr/>
                </p:nvSpPr>
                <p:spPr>
                  <a:xfrm>
                    <a:off x="2739450" y="2974322"/>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𝟐</m:t>
                              </m:r>
                            </m:sub>
                          </m:sSub>
                        </m:oMath>
                      </m:oMathPara>
                    </a14:m>
                    <a:endParaRPr lang="zh-TW" altLang="en-US" b="1" dirty="0"/>
                  </a:p>
                </p:txBody>
              </p:sp>
            </mc:Choice>
            <mc:Fallback xmlns="">
              <p:sp>
                <p:nvSpPr>
                  <p:cNvPr id="36" name="文字方塊 35">
                    <a:extLst>
                      <a:ext uri="{FF2B5EF4-FFF2-40B4-BE49-F238E27FC236}">
                        <a16:creationId xmlns:a16="http://schemas.microsoft.com/office/drawing/2014/main" id="{B76B494B-9CE2-48D5-ABD5-138500987A43}"/>
                      </a:ext>
                    </a:extLst>
                  </p:cNvPr>
                  <p:cNvSpPr txBox="1">
                    <a:spLocks noRot="1" noChangeAspect="1" noMove="1" noResize="1" noEditPoints="1" noAdjustHandles="1" noChangeArrowheads="1" noChangeShapeType="1" noTextEdit="1"/>
                  </p:cNvSpPr>
                  <p:nvPr/>
                </p:nvSpPr>
                <p:spPr>
                  <a:xfrm>
                    <a:off x="2739450" y="2974322"/>
                    <a:ext cx="516103" cy="369332"/>
                  </a:xfrm>
                  <a:prstGeom prst="rect">
                    <a:avLst/>
                  </a:prstGeom>
                  <a:blipFill>
                    <a:blip r:embed="rId7"/>
                    <a:stretch>
                      <a:fillRect l="-27692" r="-29231"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2FCE35B-7D7F-464A-AA8F-6154C7ED7B93}"/>
                      </a:ext>
                    </a:extLst>
                  </p:cNvPr>
                  <p:cNvSpPr txBox="1"/>
                  <p:nvPr/>
                </p:nvSpPr>
                <p:spPr>
                  <a:xfrm>
                    <a:off x="9075800" y="3612821"/>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𝟏</m:t>
                              </m:r>
                            </m:sub>
                          </m:sSub>
                        </m:oMath>
                      </m:oMathPara>
                    </a14:m>
                    <a:endParaRPr lang="zh-TW" altLang="en-US" b="1" dirty="0"/>
                  </a:p>
                </p:txBody>
              </p:sp>
            </mc:Choice>
            <mc:Fallback xmlns="">
              <p:sp>
                <p:nvSpPr>
                  <p:cNvPr id="37" name="文字方塊 36">
                    <a:extLst>
                      <a:ext uri="{FF2B5EF4-FFF2-40B4-BE49-F238E27FC236}">
                        <a16:creationId xmlns:a16="http://schemas.microsoft.com/office/drawing/2014/main" id="{42FCE35B-7D7F-464A-AA8F-6154C7ED7B93}"/>
                      </a:ext>
                    </a:extLst>
                  </p:cNvPr>
                  <p:cNvSpPr txBox="1">
                    <a:spLocks noRot="1" noChangeAspect="1" noMove="1" noResize="1" noEditPoints="1" noAdjustHandles="1" noChangeArrowheads="1" noChangeShapeType="1" noTextEdit="1"/>
                  </p:cNvSpPr>
                  <p:nvPr/>
                </p:nvSpPr>
                <p:spPr>
                  <a:xfrm>
                    <a:off x="9075800" y="3612821"/>
                    <a:ext cx="516103" cy="369332"/>
                  </a:xfrm>
                  <a:prstGeom prst="rect">
                    <a:avLst/>
                  </a:prstGeom>
                  <a:blipFill>
                    <a:blip r:embed="rId8"/>
                    <a:stretch>
                      <a:fillRect l="-29231" r="-29231" b="-262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6CFB1552-A472-4518-825F-20F0BCA04B3E}"/>
                      </a:ext>
                    </a:extLst>
                  </p:cNvPr>
                  <p:cNvSpPr txBox="1"/>
                  <p:nvPr/>
                </p:nvSpPr>
                <p:spPr>
                  <a:xfrm>
                    <a:off x="4602953" y="3561266"/>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8" name="文字方塊 37">
                    <a:extLst>
                      <a:ext uri="{FF2B5EF4-FFF2-40B4-BE49-F238E27FC236}">
                        <a16:creationId xmlns:a16="http://schemas.microsoft.com/office/drawing/2014/main" id="{6CFB1552-A472-4518-825F-20F0BCA04B3E}"/>
                      </a:ext>
                    </a:extLst>
                  </p:cNvPr>
                  <p:cNvSpPr txBox="1">
                    <a:spLocks noRot="1" noChangeAspect="1" noMove="1" noResize="1" noEditPoints="1" noAdjustHandles="1" noChangeArrowheads="1" noChangeShapeType="1" noTextEdit="1"/>
                  </p:cNvSpPr>
                  <p:nvPr/>
                </p:nvSpPr>
                <p:spPr>
                  <a:xfrm>
                    <a:off x="4602953" y="3561266"/>
                    <a:ext cx="388696" cy="369332"/>
                  </a:xfrm>
                  <a:prstGeom prst="rect">
                    <a:avLst/>
                  </a:prstGeom>
                  <a:blipFill>
                    <a:blip r:embed="rId9"/>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48CAC5C3-013E-4DAB-B73B-F3B88B959FF6}"/>
                      </a:ext>
                    </a:extLst>
                  </p:cNvPr>
                  <p:cNvSpPr txBox="1"/>
                  <p:nvPr/>
                </p:nvSpPr>
                <p:spPr>
                  <a:xfrm>
                    <a:off x="6913368" y="1853204"/>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9" name="文字方塊 38">
                    <a:extLst>
                      <a:ext uri="{FF2B5EF4-FFF2-40B4-BE49-F238E27FC236}">
                        <a16:creationId xmlns:a16="http://schemas.microsoft.com/office/drawing/2014/main" id="{48CAC5C3-013E-4DAB-B73B-F3B88B959FF6}"/>
                      </a:ext>
                    </a:extLst>
                  </p:cNvPr>
                  <p:cNvSpPr txBox="1">
                    <a:spLocks noRot="1" noChangeAspect="1" noMove="1" noResize="1" noEditPoints="1" noAdjustHandles="1" noChangeArrowheads="1" noChangeShapeType="1" noTextEdit="1"/>
                  </p:cNvSpPr>
                  <p:nvPr/>
                </p:nvSpPr>
                <p:spPr>
                  <a:xfrm>
                    <a:off x="6913368" y="1853204"/>
                    <a:ext cx="388696" cy="369332"/>
                  </a:xfrm>
                  <a:prstGeom prst="rect">
                    <a:avLst/>
                  </a:prstGeom>
                  <a:blipFill>
                    <a:blip r:embed="rId10"/>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D9CB3744-E5F2-475B-A7FA-C3CE15D1FA90}"/>
                      </a:ext>
                    </a:extLst>
                  </p:cNvPr>
                  <p:cNvSpPr txBox="1"/>
                  <p:nvPr/>
                </p:nvSpPr>
                <p:spPr>
                  <a:xfrm rot="16200000">
                    <a:off x="9940235" y="2958220"/>
                    <a:ext cx="1068754" cy="307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41" name="文字方塊 40">
                    <a:extLst>
                      <a:ext uri="{FF2B5EF4-FFF2-40B4-BE49-F238E27FC236}">
                        <a16:creationId xmlns:a16="http://schemas.microsoft.com/office/drawing/2014/main" id="{D9CB3744-E5F2-475B-A7FA-C3CE15D1FA90}"/>
                      </a:ext>
                    </a:extLst>
                  </p:cNvPr>
                  <p:cNvSpPr txBox="1">
                    <a:spLocks noRot="1" noChangeAspect="1" noMove="1" noResize="1" noEditPoints="1" noAdjustHandles="1" noChangeArrowheads="1" noChangeShapeType="1" noTextEdit="1"/>
                  </p:cNvSpPr>
                  <p:nvPr/>
                </p:nvSpPr>
                <p:spPr>
                  <a:xfrm rot="16200000">
                    <a:off x="9940235" y="2958220"/>
                    <a:ext cx="1068754" cy="307778"/>
                  </a:xfrm>
                  <a:prstGeom prst="rect">
                    <a:avLst/>
                  </a:prstGeom>
                  <a:blipFill>
                    <a:blip r:embed="rId11"/>
                    <a:stretch>
                      <a:fillRect l="-2564" t="-8000" r="-74359"/>
                    </a:stretch>
                  </a:blipFill>
                </p:spPr>
                <p:txBody>
                  <a:bodyPr/>
                  <a:lstStyle/>
                  <a:p>
                    <a:r>
                      <a:rPr lang="zh-TW" altLang="en-US">
                        <a:noFill/>
                      </a:rPr>
                      <a:t> </a:t>
                    </a:r>
                  </a:p>
                </p:txBody>
              </p:sp>
            </mc:Fallback>
          </mc:AlternateContent>
        </p:grpSp>
      </p:grpSp>
      <p:sp>
        <p:nvSpPr>
          <p:cNvPr id="17" name="文字方塊 16">
            <a:extLst>
              <a:ext uri="{FF2B5EF4-FFF2-40B4-BE49-F238E27FC236}">
                <a16:creationId xmlns:a16="http://schemas.microsoft.com/office/drawing/2014/main" id="{A91C0FFE-50F0-4AB7-A5F1-BC95E437E53F}"/>
              </a:ext>
            </a:extLst>
          </p:cNvPr>
          <p:cNvSpPr txBox="1"/>
          <p:nvPr/>
        </p:nvSpPr>
        <p:spPr>
          <a:xfrm>
            <a:off x="57068" y="762337"/>
            <a:ext cx="7042090"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Long</a:t>
            </a:r>
            <a:endParaRPr lang="zh-TW" altLang="en-US" dirty="0"/>
          </a:p>
        </p:txBody>
      </p:sp>
    </p:spTree>
    <p:extLst>
      <p:ext uri="{BB962C8B-B14F-4D97-AF65-F5344CB8AC3E}">
        <p14:creationId xmlns:p14="http://schemas.microsoft.com/office/powerpoint/2010/main" val="1808899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19" name="文字方塊 18">
            <a:extLst>
              <a:ext uri="{FF2B5EF4-FFF2-40B4-BE49-F238E27FC236}">
                <a16:creationId xmlns:a16="http://schemas.microsoft.com/office/drawing/2014/main" id="{7AEE1245-C1D7-468D-B66E-D359C98E02EC}"/>
              </a:ext>
            </a:extLst>
          </p:cNvPr>
          <p:cNvSpPr txBox="1"/>
          <p:nvPr/>
        </p:nvSpPr>
        <p:spPr>
          <a:xfrm>
            <a:off x="6885600" y="840717"/>
            <a:ext cx="5384798" cy="480131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These two figures show the differences in the calibrated magnetic charge locations between the two models. The upper row presents the magnetic charge locations calibrated by the one-parameter model, shown using side views of poles P1 and P2. It can be clearly seen that, for the lower pole, some of the magnetic charge locations are located outside the pole. This is because the one-parameter model constrains the magnetic charges to lie along the actuator coordinate axes. The lower row presents the results of the eighteen-parameter model, in which the magnetic charge locations of the lower pole move inside the pole. This is more consistent with the expected physical situation. Moreover, the error histograms shown above also indicate that these magnetic charge locations are more consistent with the theoretical positions.</a:t>
            </a:r>
            <a:endParaRPr lang="zh-TW" altLang="en-US" dirty="0"/>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89A87B67-4717-4362-98CB-9141ED7DCE5C}"/>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89A87B67-4717-4362-98CB-9141ED7DCE5C}"/>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p:grpSp>
        <p:nvGrpSpPr>
          <p:cNvPr id="7" name="群組 6">
            <a:extLst>
              <a:ext uri="{FF2B5EF4-FFF2-40B4-BE49-F238E27FC236}">
                <a16:creationId xmlns:a16="http://schemas.microsoft.com/office/drawing/2014/main" id="{D868545B-64CC-4F78-B8E9-53886256D97A}"/>
              </a:ext>
            </a:extLst>
          </p:cNvPr>
          <p:cNvGrpSpPr/>
          <p:nvPr/>
        </p:nvGrpSpPr>
        <p:grpSpPr>
          <a:xfrm>
            <a:off x="162640" y="1229063"/>
            <a:ext cx="6936518" cy="3144376"/>
            <a:chOff x="67661" y="1246667"/>
            <a:chExt cx="6936518" cy="3144376"/>
          </a:xfrm>
        </p:grpSpPr>
        <p:pic>
          <p:nvPicPr>
            <p:cNvPr id="4" name="圖片 3">
              <a:extLst>
                <a:ext uri="{FF2B5EF4-FFF2-40B4-BE49-F238E27FC236}">
                  <a16:creationId xmlns:a16="http://schemas.microsoft.com/office/drawing/2014/main" id="{3702AF3F-C54E-419D-9B02-186AC2F8B1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278" y="1246667"/>
              <a:ext cx="6454344" cy="2834267"/>
            </a:xfrm>
            <a:prstGeom prst="rect">
              <a:avLst/>
            </a:prstGeom>
          </p:spPr>
        </p:pic>
        <p:grpSp>
          <p:nvGrpSpPr>
            <p:cNvPr id="32" name="群組 31">
              <a:extLst>
                <a:ext uri="{FF2B5EF4-FFF2-40B4-BE49-F238E27FC236}">
                  <a16:creationId xmlns:a16="http://schemas.microsoft.com/office/drawing/2014/main" id="{00AAE3B7-7BF1-4B56-BAE2-3D620CD83099}"/>
                </a:ext>
              </a:extLst>
            </p:cNvPr>
            <p:cNvGrpSpPr/>
            <p:nvPr/>
          </p:nvGrpSpPr>
          <p:grpSpPr>
            <a:xfrm>
              <a:off x="67661" y="1785349"/>
              <a:ext cx="6936518" cy="2605694"/>
              <a:chOff x="1625800" y="2222537"/>
              <a:chExt cx="9002034" cy="2615479"/>
            </a:xfrm>
          </p:grpSpPr>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2518E20F-8820-4061-B1C1-9B2B8E6A835C}"/>
                      </a:ext>
                    </a:extLst>
                  </p:cNvPr>
                  <p:cNvSpPr txBox="1"/>
                  <p:nvPr/>
                </p:nvSpPr>
                <p:spPr>
                  <a:xfrm rot="16200000">
                    <a:off x="1059395" y="2788942"/>
                    <a:ext cx="1409810"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3" name="文字方塊 32">
                    <a:extLst>
                      <a:ext uri="{FF2B5EF4-FFF2-40B4-BE49-F238E27FC236}">
                        <a16:creationId xmlns:a16="http://schemas.microsoft.com/office/drawing/2014/main" id="{2518E20F-8820-4061-B1C1-9B2B8E6A835C}"/>
                      </a:ext>
                    </a:extLst>
                  </p:cNvPr>
                  <p:cNvSpPr txBox="1">
                    <a:spLocks noRot="1" noChangeAspect="1" noMove="1" noResize="1" noEditPoints="1" noAdjustHandles="1" noChangeArrowheads="1" noChangeShapeType="1" noTextEdit="1"/>
                  </p:cNvSpPr>
                  <p:nvPr/>
                </p:nvSpPr>
                <p:spPr>
                  <a:xfrm rot="16200000">
                    <a:off x="1059395" y="2788942"/>
                    <a:ext cx="1409810" cy="277000"/>
                  </a:xfrm>
                  <a:prstGeom prst="rect">
                    <a:avLst/>
                  </a:prstGeom>
                  <a:blipFill>
                    <a:blip r:embed="rId4"/>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C76A7CE7-457D-4FFE-A3B1-39E0A8845413}"/>
                      </a:ext>
                    </a:extLst>
                  </p:cNvPr>
                  <p:cNvSpPr txBox="1"/>
                  <p:nvPr/>
                </p:nvSpPr>
                <p:spPr>
                  <a:xfrm>
                    <a:off x="3255553" y="4561017"/>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4" name="文字方塊 33">
                    <a:extLst>
                      <a:ext uri="{FF2B5EF4-FFF2-40B4-BE49-F238E27FC236}">
                        <a16:creationId xmlns:a16="http://schemas.microsoft.com/office/drawing/2014/main" id="{C76A7CE7-457D-4FFE-A3B1-39E0A8845413}"/>
                      </a:ext>
                    </a:extLst>
                  </p:cNvPr>
                  <p:cNvSpPr txBox="1">
                    <a:spLocks noRot="1" noChangeAspect="1" noMove="1" noResize="1" noEditPoints="1" noAdjustHandles="1" noChangeArrowheads="1" noChangeShapeType="1" noTextEdit="1"/>
                  </p:cNvSpPr>
                  <p:nvPr/>
                </p:nvSpPr>
                <p:spPr>
                  <a:xfrm>
                    <a:off x="3255553" y="4561017"/>
                    <a:ext cx="1436034" cy="276999"/>
                  </a:xfrm>
                  <a:prstGeom prst="rect">
                    <a:avLst/>
                  </a:prstGeom>
                  <a:blipFill>
                    <a:blip r:embed="rId5"/>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A2AF3DB8-6AEF-4EDC-934E-65275A38ABCE}"/>
                      </a:ext>
                    </a:extLst>
                  </p:cNvPr>
                  <p:cNvSpPr txBox="1"/>
                  <p:nvPr/>
                </p:nvSpPr>
                <p:spPr>
                  <a:xfrm>
                    <a:off x="7265875" y="4559615"/>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5" name="文字方塊 34">
                    <a:extLst>
                      <a:ext uri="{FF2B5EF4-FFF2-40B4-BE49-F238E27FC236}">
                        <a16:creationId xmlns:a16="http://schemas.microsoft.com/office/drawing/2014/main" id="{A2AF3DB8-6AEF-4EDC-934E-65275A38ABCE}"/>
                      </a:ext>
                    </a:extLst>
                  </p:cNvPr>
                  <p:cNvSpPr txBox="1">
                    <a:spLocks noRot="1" noChangeAspect="1" noMove="1" noResize="1" noEditPoints="1" noAdjustHandles="1" noChangeArrowheads="1" noChangeShapeType="1" noTextEdit="1"/>
                  </p:cNvSpPr>
                  <p:nvPr/>
                </p:nvSpPr>
                <p:spPr>
                  <a:xfrm>
                    <a:off x="7265875" y="4559615"/>
                    <a:ext cx="1436034" cy="276999"/>
                  </a:xfrm>
                  <a:prstGeom prst="rect">
                    <a:avLst/>
                  </a:prstGeom>
                  <a:blipFill>
                    <a:blip r:embed="rId6"/>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B76B494B-9CE2-48D5-ABD5-138500987A43}"/>
                      </a:ext>
                    </a:extLst>
                  </p:cNvPr>
                  <p:cNvSpPr txBox="1"/>
                  <p:nvPr/>
                </p:nvSpPr>
                <p:spPr>
                  <a:xfrm>
                    <a:off x="2871304" y="2716370"/>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𝟐</m:t>
                              </m:r>
                            </m:sub>
                          </m:sSub>
                        </m:oMath>
                      </m:oMathPara>
                    </a14:m>
                    <a:endParaRPr lang="zh-TW" altLang="en-US" b="1" dirty="0"/>
                  </a:p>
                </p:txBody>
              </p:sp>
            </mc:Choice>
            <mc:Fallback xmlns="">
              <p:sp>
                <p:nvSpPr>
                  <p:cNvPr id="36" name="文字方塊 35">
                    <a:extLst>
                      <a:ext uri="{FF2B5EF4-FFF2-40B4-BE49-F238E27FC236}">
                        <a16:creationId xmlns:a16="http://schemas.microsoft.com/office/drawing/2014/main" id="{B76B494B-9CE2-48D5-ABD5-138500987A43}"/>
                      </a:ext>
                    </a:extLst>
                  </p:cNvPr>
                  <p:cNvSpPr txBox="1">
                    <a:spLocks noRot="1" noChangeAspect="1" noMove="1" noResize="1" noEditPoints="1" noAdjustHandles="1" noChangeArrowheads="1" noChangeShapeType="1" noTextEdit="1"/>
                  </p:cNvSpPr>
                  <p:nvPr/>
                </p:nvSpPr>
                <p:spPr>
                  <a:xfrm>
                    <a:off x="2871304" y="2716370"/>
                    <a:ext cx="516103" cy="369332"/>
                  </a:xfrm>
                  <a:prstGeom prst="rect">
                    <a:avLst/>
                  </a:prstGeom>
                  <a:blipFill>
                    <a:blip r:embed="rId7"/>
                    <a:stretch>
                      <a:fillRect l="-27692" r="-29231"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2FCE35B-7D7F-464A-AA8F-6154C7ED7B93}"/>
                      </a:ext>
                    </a:extLst>
                  </p:cNvPr>
                  <p:cNvSpPr txBox="1"/>
                  <p:nvPr/>
                </p:nvSpPr>
                <p:spPr>
                  <a:xfrm>
                    <a:off x="8690920" y="3698971"/>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𝟏</m:t>
                              </m:r>
                            </m:sub>
                          </m:sSub>
                        </m:oMath>
                      </m:oMathPara>
                    </a14:m>
                    <a:endParaRPr lang="zh-TW" altLang="en-US" b="1" dirty="0"/>
                  </a:p>
                </p:txBody>
              </p:sp>
            </mc:Choice>
            <mc:Fallback xmlns="">
              <p:sp>
                <p:nvSpPr>
                  <p:cNvPr id="37" name="文字方塊 36">
                    <a:extLst>
                      <a:ext uri="{FF2B5EF4-FFF2-40B4-BE49-F238E27FC236}">
                        <a16:creationId xmlns:a16="http://schemas.microsoft.com/office/drawing/2014/main" id="{42FCE35B-7D7F-464A-AA8F-6154C7ED7B93}"/>
                      </a:ext>
                    </a:extLst>
                  </p:cNvPr>
                  <p:cNvSpPr txBox="1">
                    <a:spLocks noRot="1" noChangeAspect="1" noMove="1" noResize="1" noEditPoints="1" noAdjustHandles="1" noChangeArrowheads="1" noChangeShapeType="1" noTextEdit="1"/>
                  </p:cNvSpPr>
                  <p:nvPr/>
                </p:nvSpPr>
                <p:spPr>
                  <a:xfrm>
                    <a:off x="8690920" y="3698971"/>
                    <a:ext cx="516103" cy="369332"/>
                  </a:xfrm>
                  <a:prstGeom prst="rect">
                    <a:avLst/>
                  </a:prstGeom>
                  <a:blipFill>
                    <a:blip r:embed="rId8"/>
                    <a:stretch>
                      <a:fillRect l="-29231" r="-29231" b="-262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6CFB1552-A472-4518-825F-20F0BCA04B3E}"/>
                      </a:ext>
                    </a:extLst>
                  </p:cNvPr>
                  <p:cNvSpPr txBox="1"/>
                  <p:nvPr/>
                </p:nvSpPr>
                <p:spPr>
                  <a:xfrm>
                    <a:off x="4640757" y="2245553"/>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8" name="文字方塊 37">
                    <a:extLst>
                      <a:ext uri="{FF2B5EF4-FFF2-40B4-BE49-F238E27FC236}">
                        <a16:creationId xmlns:a16="http://schemas.microsoft.com/office/drawing/2014/main" id="{6CFB1552-A472-4518-825F-20F0BCA04B3E}"/>
                      </a:ext>
                    </a:extLst>
                  </p:cNvPr>
                  <p:cNvSpPr txBox="1">
                    <a:spLocks noRot="1" noChangeAspect="1" noMove="1" noResize="1" noEditPoints="1" noAdjustHandles="1" noChangeArrowheads="1" noChangeShapeType="1" noTextEdit="1"/>
                  </p:cNvSpPr>
                  <p:nvPr/>
                </p:nvSpPr>
                <p:spPr>
                  <a:xfrm>
                    <a:off x="4640757" y="2245553"/>
                    <a:ext cx="388696" cy="369332"/>
                  </a:xfrm>
                  <a:prstGeom prst="rect">
                    <a:avLst/>
                  </a:prstGeom>
                  <a:blipFill>
                    <a:blip r:embed="rId9"/>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48CAC5C3-013E-4DAB-B73B-F3B88B959FF6}"/>
                      </a:ext>
                    </a:extLst>
                  </p:cNvPr>
                  <p:cNvSpPr txBox="1"/>
                  <p:nvPr/>
                </p:nvSpPr>
                <p:spPr>
                  <a:xfrm>
                    <a:off x="7194070" y="2974322"/>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9" name="文字方塊 38">
                    <a:extLst>
                      <a:ext uri="{FF2B5EF4-FFF2-40B4-BE49-F238E27FC236}">
                        <a16:creationId xmlns:a16="http://schemas.microsoft.com/office/drawing/2014/main" id="{48CAC5C3-013E-4DAB-B73B-F3B88B959FF6}"/>
                      </a:ext>
                    </a:extLst>
                  </p:cNvPr>
                  <p:cNvSpPr txBox="1">
                    <a:spLocks noRot="1" noChangeAspect="1" noMove="1" noResize="1" noEditPoints="1" noAdjustHandles="1" noChangeArrowheads="1" noChangeShapeType="1" noTextEdit="1"/>
                  </p:cNvSpPr>
                  <p:nvPr/>
                </p:nvSpPr>
                <p:spPr>
                  <a:xfrm>
                    <a:off x="7194070" y="2974322"/>
                    <a:ext cx="388696" cy="369332"/>
                  </a:xfrm>
                  <a:prstGeom prst="rect">
                    <a:avLst/>
                  </a:prstGeom>
                  <a:blipFill>
                    <a:blip r:embed="rId10"/>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D9CB3744-E5F2-475B-A7FA-C3CE15D1FA90}"/>
                      </a:ext>
                    </a:extLst>
                  </p:cNvPr>
                  <p:cNvSpPr txBox="1"/>
                  <p:nvPr/>
                </p:nvSpPr>
                <p:spPr>
                  <a:xfrm rot="16200000">
                    <a:off x="9939568" y="2704716"/>
                    <a:ext cx="1068754" cy="307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41" name="文字方塊 40">
                    <a:extLst>
                      <a:ext uri="{FF2B5EF4-FFF2-40B4-BE49-F238E27FC236}">
                        <a16:creationId xmlns:a16="http://schemas.microsoft.com/office/drawing/2014/main" id="{D9CB3744-E5F2-475B-A7FA-C3CE15D1FA90}"/>
                      </a:ext>
                    </a:extLst>
                  </p:cNvPr>
                  <p:cNvSpPr txBox="1">
                    <a:spLocks noRot="1" noChangeAspect="1" noMove="1" noResize="1" noEditPoints="1" noAdjustHandles="1" noChangeArrowheads="1" noChangeShapeType="1" noTextEdit="1"/>
                  </p:cNvSpPr>
                  <p:nvPr/>
                </p:nvSpPr>
                <p:spPr>
                  <a:xfrm rot="16200000">
                    <a:off x="9939568" y="2704716"/>
                    <a:ext cx="1068754" cy="307778"/>
                  </a:xfrm>
                  <a:prstGeom prst="rect">
                    <a:avLst/>
                  </a:prstGeom>
                  <a:blipFill>
                    <a:blip r:embed="rId11"/>
                    <a:stretch>
                      <a:fillRect l="-5128" t="-8621" r="-74359"/>
                    </a:stretch>
                  </a:blipFill>
                </p:spPr>
                <p:txBody>
                  <a:bodyPr/>
                  <a:lstStyle/>
                  <a:p>
                    <a:r>
                      <a:rPr lang="zh-TW" altLang="en-US">
                        <a:noFill/>
                      </a:rPr>
                      <a:t> </a:t>
                    </a:r>
                  </a:p>
                </p:txBody>
              </p:sp>
            </mc:Fallback>
          </mc:AlternateContent>
        </p:grpSp>
      </p:grpSp>
      <p:sp>
        <p:nvSpPr>
          <p:cNvPr id="17" name="文字方塊 16">
            <a:extLst>
              <a:ext uri="{FF2B5EF4-FFF2-40B4-BE49-F238E27FC236}">
                <a16:creationId xmlns:a16="http://schemas.microsoft.com/office/drawing/2014/main" id="{A91C0FFE-50F0-4AB7-A5F1-BC95E437E53F}"/>
              </a:ext>
            </a:extLst>
          </p:cNvPr>
          <p:cNvSpPr txBox="1"/>
          <p:nvPr/>
        </p:nvSpPr>
        <p:spPr>
          <a:xfrm>
            <a:off x="57068" y="762337"/>
            <a:ext cx="7042090"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Zhi</a:t>
            </a:r>
            <a:r>
              <a:rPr lang="en-US" altLang="zh-TW" dirty="0"/>
              <a:t> </a:t>
            </a:r>
            <a:r>
              <a:rPr lang="en-US" altLang="zh-TW" dirty="0" err="1"/>
              <a:t>peng</a:t>
            </a:r>
            <a:endParaRPr lang="zh-TW" altLang="en-US" dirty="0"/>
          </a:p>
        </p:txBody>
      </p:sp>
    </p:spTree>
    <p:extLst>
      <p:ext uri="{BB962C8B-B14F-4D97-AF65-F5344CB8AC3E}">
        <p14:creationId xmlns:p14="http://schemas.microsoft.com/office/powerpoint/2010/main" val="2846713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grpSp>
        <p:nvGrpSpPr>
          <p:cNvPr id="9" name="群組 8">
            <a:extLst>
              <a:ext uri="{FF2B5EF4-FFF2-40B4-BE49-F238E27FC236}">
                <a16:creationId xmlns:a16="http://schemas.microsoft.com/office/drawing/2014/main" id="{25A00D6E-FD4E-4C44-90C8-33DF18B9660B}"/>
              </a:ext>
            </a:extLst>
          </p:cNvPr>
          <p:cNvGrpSpPr/>
          <p:nvPr/>
        </p:nvGrpSpPr>
        <p:grpSpPr>
          <a:xfrm>
            <a:off x="5805698" y="2065700"/>
            <a:ext cx="6256102" cy="4221833"/>
            <a:chOff x="5695631" y="1608499"/>
            <a:chExt cx="6256102" cy="4221833"/>
          </a:xfrm>
        </p:grpSpPr>
        <p:grpSp>
          <p:nvGrpSpPr>
            <p:cNvPr id="8" name="群組 7">
              <a:extLst>
                <a:ext uri="{FF2B5EF4-FFF2-40B4-BE49-F238E27FC236}">
                  <a16:creationId xmlns:a16="http://schemas.microsoft.com/office/drawing/2014/main" id="{9F80C108-027A-4201-8F65-42784A51CEDA}"/>
                </a:ext>
              </a:extLst>
            </p:cNvPr>
            <p:cNvGrpSpPr/>
            <p:nvPr/>
          </p:nvGrpSpPr>
          <p:grpSpPr>
            <a:xfrm>
              <a:off x="5695631" y="1608499"/>
              <a:ext cx="6256102" cy="4221833"/>
              <a:chOff x="5695631" y="1608499"/>
              <a:chExt cx="6256102" cy="4221833"/>
            </a:xfrm>
          </p:grpSpPr>
          <p:grpSp>
            <p:nvGrpSpPr>
              <p:cNvPr id="3" name="群組 2">
                <a:extLst>
                  <a:ext uri="{FF2B5EF4-FFF2-40B4-BE49-F238E27FC236}">
                    <a16:creationId xmlns:a16="http://schemas.microsoft.com/office/drawing/2014/main" id="{8EF352F0-E9DF-431D-860F-C569ABBF4B20}"/>
                  </a:ext>
                </a:extLst>
              </p:cNvPr>
              <p:cNvGrpSpPr/>
              <p:nvPr/>
            </p:nvGrpSpPr>
            <p:grpSpPr>
              <a:xfrm>
                <a:off x="5695631" y="1608499"/>
                <a:ext cx="6186529" cy="4221833"/>
                <a:chOff x="5695631" y="1608499"/>
                <a:chExt cx="6186529" cy="4221833"/>
              </a:xfrm>
            </p:grpSpPr>
            <p:pic>
              <p:nvPicPr>
                <p:cNvPr id="10" name="圖片 9">
                  <a:extLst>
                    <a:ext uri="{FF2B5EF4-FFF2-40B4-BE49-F238E27FC236}">
                      <a16:creationId xmlns:a16="http://schemas.microsoft.com/office/drawing/2014/main" id="{5CC497E2-F390-4154-8F1C-1D87643010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4962" y="1608499"/>
                  <a:ext cx="5817198" cy="3852501"/>
                </a:xfrm>
                <a:prstGeom prst="rect">
                  <a:avLst/>
                </a:prstGeom>
              </p:spPr>
            </p:pic>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5A6AAFD-256B-4151-9263-E0EA11C874AB}"/>
                        </a:ext>
                      </a:extLst>
                    </p:cNvPr>
                    <p:cNvSpPr txBox="1"/>
                    <p:nvPr/>
                  </p:nvSpPr>
                  <p:spPr>
                    <a:xfrm>
                      <a:off x="7664062" y="5461000"/>
                      <a:ext cx="191148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axis</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𝑚𝑚</m:t>
                            </m:r>
                            <m:r>
                              <a:rPr lang="en-US" altLang="zh-TW" sz="2400" b="0" i="1" smtClean="0">
                                <a:latin typeface="Cambria Math" panose="02040503050406030204" pitchFamily="18" charset="0"/>
                              </a:rPr>
                              <m:t>)</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4" name="文字方塊 3">
                      <a:extLst>
                        <a:ext uri="{FF2B5EF4-FFF2-40B4-BE49-F238E27FC236}">
                          <a16:creationId xmlns:a16="http://schemas.microsoft.com/office/drawing/2014/main" id="{55A6AAFD-256B-4151-9263-E0EA11C874AB}"/>
                        </a:ext>
                      </a:extLst>
                    </p:cNvPr>
                    <p:cNvSpPr txBox="1">
                      <a:spLocks noRot="1" noChangeAspect="1" noMove="1" noResize="1" noEditPoints="1" noAdjustHandles="1" noChangeArrowheads="1" noChangeShapeType="1" noTextEdit="1"/>
                    </p:cNvSpPr>
                    <p:nvPr/>
                  </p:nvSpPr>
                  <p:spPr>
                    <a:xfrm>
                      <a:off x="7664062" y="5461000"/>
                      <a:ext cx="1911485" cy="369332"/>
                    </a:xfrm>
                    <a:prstGeom prst="rect">
                      <a:avLst/>
                    </a:prstGeom>
                    <a:blipFill>
                      <a:blip r:embed="rId3"/>
                      <a:stretch>
                        <a:fillRect l="-1274" r="-5096" b="-3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C27E30DC-6168-42BC-906D-F547A5F9D1F4}"/>
                        </a:ext>
                      </a:extLst>
                    </p:cNvPr>
                    <p:cNvSpPr txBox="1"/>
                    <p:nvPr/>
                  </p:nvSpPr>
                  <p:spPr>
                    <a:xfrm rot="16200000">
                      <a:off x="4910863" y="3350082"/>
                      <a:ext cx="1938867"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axis</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𝑚𝑚</m:t>
                            </m:r>
                            <m:r>
                              <a:rPr lang="en-US" altLang="zh-TW" sz="2400" b="0" i="1" smtClean="0">
                                <a:latin typeface="Cambria Math" panose="02040503050406030204" pitchFamily="18" charset="0"/>
                              </a:rPr>
                              <m:t>)</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5" name="文字方塊 4">
                      <a:extLst>
                        <a:ext uri="{FF2B5EF4-FFF2-40B4-BE49-F238E27FC236}">
                          <a16:creationId xmlns:a16="http://schemas.microsoft.com/office/drawing/2014/main" id="{C27E30DC-6168-42BC-906D-F547A5F9D1F4}"/>
                        </a:ext>
                      </a:extLst>
                    </p:cNvPr>
                    <p:cNvSpPr txBox="1">
                      <a:spLocks noRot="1" noChangeAspect="1" noMove="1" noResize="1" noEditPoints="1" noAdjustHandles="1" noChangeArrowheads="1" noChangeShapeType="1" noTextEdit="1"/>
                    </p:cNvSpPr>
                    <p:nvPr/>
                  </p:nvSpPr>
                  <p:spPr>
                    <a:xfrm rot="16200000">
                      <a:off x="4910863" y="3350082"/>
                      <a:ext cx="1938867" cy="369332"/>
                    </a:xfrm>
                    <a:prstGeom prst="rect">
                      <a:avLst/>
                    </a:prstGeom>
                    <a:blipFill>
                      <a:blip r:embed="rId4"/>
                      <a:stretch>
                        <a:fillRect t="-4088" r="-36066" b="-314"/>
                      </a:stretch>
                    </a:blipFill>
                  </p:spPr>
                  <p:txBody>
                    <a:bodyPr/>
                    <a:lstStyle/>
                    <a:p>
                      <a:r>
                        <a:rPr lang="zh-TW" altLang="en-US">
                          <a:noFill/>
                        </a:rPr>
                        <a:t> </a:t>
                      </a:r>
                    </a:p>
                  </p:txBody>
                </p:sp>
              </mc:Fallback>
            </mc:AlternateContent>
          </p:grpSp>
          <p:sp>
            <p:nvSpPr>
              <p:cNvPr id="6" name="矩形 5">
                <a:extLst>
                  <a:ext uri="{FF2B5EF4-FFF2-40B4-BE49-F238E27FC236}">
                    <a16:creationId xmlns:a16="http://schemas.microsoft.com/office/drawing/2014/main" id="{5441C166-FB41-4404-9A7D-FEDB224D96EF}"/>
                  </a:ext>
                </a:extLst>
              </p:cNvPr>
              <p:cNvSpPr/>
              <p:nvPr/>
            </p:nvSpPr>
            <p:spPr>
              <a:xfrm>
                <a:off x="11582400" y="2810933"/>
                <a:ext cx="369333" cy="1176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3263E904-C403-47A7-8195-AD15D1F1D8B1}"/>
                    </a:ext>
                  </a:extLst>
                </p:cNvPr>
                <p:cNvSpPr txBox="1"/>
                <p:nvPr/>
              </p:nvSpPr>
              <p:spPr>
                <a:xfrm rot="16200000">
                  <a:off x="11168601" y="3224732"/>
                  <a:ext cx="1064755" cy="2371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7" name="文字方塊 6">
                  <a:extLst>
                    <a:ext uri="{FF2B5EF4-FFF2-40B4-BE49-F238E27FC236}">
                      <a16:creationId xmlns:a16="http://schemas.microsoft.com/office/drawing/2014/main" id="{3263E904-C403-47A7-8195-AD15D1F1D8B1}"/>
                    </a:ext>
                  </a:extLst>
                </p:cNvPr>
                <p:cNvSpPr txBox="1">
                  <a:spLocks noRot="1" noChangeAspect="1" noMove="1" noResize="1" noEditPoints="1" noAdjustHandles="1" noChangeArrowheads="1" noChangeShapeType="1" noTextEdit="1"/>
                </p:cNvSpPr>
                <p:nvPr/>
              </p:nvSpPr>
              <p:spPr>
                <a:xfrm rot="16200000">
                  <a:off x="11168601" y="3224732"/>
                  <a:ext cx="1064755" cy="237158"/>
                </a:xfrm>
                <a:prstGeom prst="rect">
                  <a:avLst/>
                </a:prstGeom>
                <a:blipFill>
                  <a:blip r:embed="rId5"/>
                  <a:stretch>
                    <a:fillRect l="-2564" t="-8000" r="-74359"/>
                  </a:stretch>
                </a:blipFill>
              </p:spPr>
              <p:txBody>
                <a:bodyPr/>
                <a:lstStyle/>
                <a:p>
                  <a:r>
                    <a:rPr lang="zh-TW" altLang="en-US">
                      <a:noFill/>
                    </a:rPr>
                    <a:t> </a:t>
                  </a:r>
                </a:p>
              </p:txBody>
            </p:sp>
          </mc:Fallback>
        </mc:AlternateContent>
      </p:grpSp>
      <p:sp>
        <p:nvSpPr>
          <p:cNvPr id="12" name="文字方塊 11">
            <a:extLst>
              <a:ext uri="{FF2B5EF4-FFF2-40B4-BE49-F238E27FC236}">
                <a16:creationId xmlns:a16="http://schemas.microsoft.com/office/drawing/2014/main" id="{A6270A5D-701A-4351-8D05-13126AF56E37}"/>
              </a:ext>
            </a:extLst>
          </p:cNvPr>
          <p:cNvSpPr txBox="1"/>
          <p:nvPr/>
        </p:nvSpPr>
        <p:spPr>
          <a:xfrm>
            <a:off x="103717" y="617796"/>
            <a:ext cx="5632407" cy="2862322"/>
          </a:xfrm>
          <a:prstGeom prst="rect">
            <a:avLst/>
          </a:prstGeom>
          <a:noFill/>
        </p:spPr>
        <p:txBody>
          <a:bodyPr wrap="square">
            <a:spAutoFit/>
          </a:bodyPr>
          <a:lstStyle/>
          <a:p>
            <a:pPr marL="285750" indent="-285750">
              <a:buFont typeface="Arial" panose="020B0604020202020204" pitchFamily="34" charset="0"/>
              <a:buChar char="•"/>
            </a:pPr>
            <a:r>
              <a:rPr lang="en-US" altLang="zh-TW" dirty="0"/>
              <a:t>This figure conveys the sensing concept: the Hall sensor measures the pole's leakage flux. The </a:t>
            </a:r>
            <a:r>
              <a:rPr lang="en-US" altLang="zh-TW" dirty="0" err="1"/>
              <a:t>colour</a:t>
            </a:r>
            <a:r>
              <a:rPr lang="en-US" altLang="zh-TW" dirty="0"/>
              <a:t>-coded arrows show the flux </a:t>
            </a:r>
            <a:r>
              <a:rPr lang="en-US" altLang="zh-TW" dirty="0" err="1"/>
              <a:t>channelled</a:t>
            </a:r>
            <a:r>
              <a:rPr lang="en-US" altLang="zh-TW" dirty="0"/>
              <a:t> inside the cone toward the tip, while the dashed arrows around the pole are the part that escapes through the lateral surface and returns through the air. The sensor (green patch) is mounted on that surface, so it sits in the leakage field rather than in the field between the tips, and the red arrow n⁺ marks the positive sense of what it reads (</a:t>
            </a:r>
            <a:r>
              <a:rPr lang="en-US" altLang="zh-TW" dirty="0" err="1"/>
              <a:t>b·n</a:t>
            </a:r>
            <a:r>
              <a:rPr lang="en-US" altLang="zh-TW" dirty="0"/>
              <a:t>⁺).</a:t>
            </a:r>
            <a:endParaRPr lang="zh-TW" altLang="en-US" dirty="0"/>
          </a:p>
        </p:txBody>
      </p:sp>
    </p:spTree>
    <p:extLst>
      <p:ext uri="{BB962C8B-B14F-4D97-AF65-F5344CB8AC3E}">
        <p14:creationId xmlns:p14="http://schemas.microsoft.com/office/powerpoint/2010/main" val="3724064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110416" y="804014"/>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110416" y="2449101"/>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grpSp>
        <p:nvGrpSpPr>
          <p:cNvPr id="5" name="群組 4">
            <a:extLst>
              <a:ext uri="{FF2B5EF4-FFF2-40B4-BE49-F238E27FC236}">
                <a16:creationId xmlns:a16="http://schemas.microsoft.com/office/drawing/2014/main" id="{8FE9ABEB-89BC-4168-B129-8FB78DC98D69}"/>
              </a:ext>
            </a:extLst>
          </p:cNvPr>
          <p:cNvGrpSpPr/>
          <p:nvPr/>
        </p:nvGrpSpPr>
        <p:grpSpPr>
          <a:xfrm>
            <a:off x="-65731" y="869520"/>
            <a:ext cx="3201548" cy="2629051"/>
            <a:chOff x="-34568" y="619043"/>
            <a:chExt cx="3201548" cy="2629051"/>
          </a:xfrm>
        </p:grpSpPr>
        <p:pic>
          <p:nvPicPr>
            <p:cNvPr id="4" name="圖片 3">
              <a:extLst>
                <a:ext uri="{FF2B5EF4-FFF2-40B4-BE49-F238E27FC236}">
                  <a16:creationId xmlns:a16="http://schemas.microsoft.com/office/drawing/2014/main" id="{8238E239-0659-4120-863F-786BD492D3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461" y="619043"/>
              <a:ext cx="2955519" cy="2382835"/>
            </a:xfrm>
            <a:prstGeom prst="rect">
              <a:avLst/>
            </a:prstGeom>
          </p:spPr>
        </p:pic>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678E7078-A51C-4AA2-9EF8-D725CC6E86D4}"/>
                    </a:ext>
                  </a:extLst>
                </p:cNvPr>
                <p:cNvSpPr txBox="1"/>
                <p:nvPr/>
              </p:nvSpPr>
              <p:spPr>
                <a:xfrm>
                  <a:off x="1143000" y="2972131"/>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7" name="文字方塊 16">
                  <a:extLst>
                    <a:ext uri="{FF2B5EF4-FFF2-40B4-BE49-F238E27FC236}">
                      <a16:creationId xmlns:a16="http://schemas.microsoft.com/office/drawing/2014/main" id="{678E7078-A51C-4AA2-9EF8-D725CC6E86D4}"/>
                    </a:ext>
                  </a:extLst>
                </p:cNvPr>
                <p:cNvSpPr txBox="1">
                  <a:spLocks noRot="1" noChangeAspect="1" noMove="1" noResize="1" noEditPoints="1" noAdjustHandles="1" noChangeArrowheads="1" noChangeShapeType="1" noTextEdit="1"/>
                </p:cNvSpPr>
                <p:nvPr/>
              </p:nvSpPr>
              <p:spPr>
                <a:xfrm>
                  <a:off x="1143000" y="2972131"/>
                  <a:ext cx="1106536" cy="275963"/>
                </a:xfrm>
                <a:prstGeom prst="rect">
                  <a:avLst/>
                </a:prstGeom>
                <a:blipFill>
                  <a:blip r:embed="rId12"/>
                  <a:stretch>
                    <a:fillRect l="-5525" t="-2222" r="-33702"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EBE875F1-6D13-4A07-89C5-609C93B9D6B9}"/>
                    </a:ext>
                  </a:extLst>
                </p:cNvPr>
                <p:cNvSpPr txBox="1"/>
                <p:nvPr/>
              </p:nvSpPr>
              <p:spPr>
                <a:xfrm rot="16200000">
                  <a:off x="-630115" y="1518415"/>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3" name="文字方塊 22">
                  <a:extLst>
                    <a:ext uri="{FF2B5EF4-FFF2-40B4-BE49-F238E27FC236}">
                      <a16:creationId xmlns:a16="http://schemas.microsoft.com/office/drawing/2014/main" id="{EBE875F1-6D13-4A07-89C5-609C93B9D6B9}"/>
                    </a:ext>
                  </a:extLst>
                </p:cNvPr>
                <p:cNvSpPr txBox="1">
                  <a:spLocks noRot="1" noChangeAspect="1" noMove="1" noResize="1" noEditPoints="1" noAdjustHandles="1" noChangeArrowheads="1" noChangeShapeType="1" noTextEdit="1"/>
                </p:cNvSpPr>
                <p:nvPr/>
              </p:nvSpPr>
              <p:spPr>
                <a:xfrm rot="16200000">
                  <a:off x="-630115" y="1518415"/>
                  <a:ext cx="1404535" cy="213442"/>
                </a:xfrm>
                <a:prstGeom prst="rect">
                  <a:avLst/>
                </a:prstGeom>
                <a:blipFill>
                  <a:blip r:embed="rId13"/>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2759E233-A565-4C6B-A6FD-F1F3E04D8C52}"/>
                    </a:ext>
                  </a:extLst>
                </p:cNvPr>
                <p:cNvSpPr txBox="1"/>
                <p:nvPr/>
              </p:nvSpPr>
              <p:spPr>
                <a:xfrm rot="678839">
                  <a:off x="1715529" y="1447116"/>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0" smtClean="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 name="文字方塊 2">
                  <a:extLst>
                    <a:ext uri="{FF2B5EF4-FFF2-40B4-BE49-F238E27FC236}">
                      <a16:creationId xmlns:a16="http://schemas.microsoft.com/office/drawing/2014/main" id="{2759E233-A565-4C6B-A6FD-F1F3E04D8C52}"/>
                    </a:ext>
                  </a:extLst>
                </p:cNvPr>
                <p:cNvSpPr txBox="1">
                  <a:spLocks noRot="1" noChangeAspect="1" noMove="1" noResize="1" noEditPoints="1" noAdjustHandles="1" noChangeArrowheads="1" noChangeShapeType="1" noTextEdit="1"/>
                </p:cNvSpPr>
                <p:nvPr/>
              </p:nvSpPr>
              <p:spPr>
                <a:xfrm rot="678839">
                  <a:off x="1715529" y="1447116"/>
                  <a:ext cx="503343" cy="246221"/>
                </a:xfrm>
                <a:prstGeom prst="rect">
                  <a:avLst/>
                </a:prstGeom>
                <a:blipFill>
                  <a:blip r:embed="rId14"/>
                  <a:stretch>
                    <a:fillRect l="-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9396AD2F-D4FF-4431-83EF-21F2C68EA698}"/>
                    </a:ext>
                  </a:extLst>
                </p:cNvPr>
                <p:cNvSpPr txBox="1"/>
                <p:nvPr/>
              </p:nvSpPr>
              <p:spPr>
                <a:xfrm rot="16976090">
                  <a:off x="1930496" y="1839262"/>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26" name="文字方塊 25">
                  <a:extLst>
                    <a:ext uri="{FF2B5EF4-FFF2-40B4-BE49-F238E27FC236}">
                      <a16:creationId xmlns:a16="http://schemas.microsoft.com/office/drawing/2014/main" id="{9396AD2F-D4FF-4431-83EF-21F2C68EA698}"/>
                    </a:ext>
                  </a:extLst>
                </p:cNvPr>
                <p:cNvSpPr txBox="1">
                  <a:spLocks noRot="1" noChangeAspect="1" noMove="1" noResize="1" noEditPoints="1" noAdjustHandles="1" noChangeArrowheads="1" noChangeShapeType="1" noTextEdit="1"/>
                </p:cNvSpPr>
                <p:nvPr/>
              </p:nvSpPr>
              <p:spPr>
                <a:xfrm rot="16976090">
                  <a:off x="1930496" y="1839262"/>
                  <a:ext cx="843092" cy="246221"/>
                </a:xfrm>
                <a:prstGeom prst="rect">
                  <a:avLst/>
                </a:prstGeom>
                <a:blipFill>
                  <a:blip r:embed="rId15"/>
                  <a:stretch>
                    <a:fillRect b="-1379"/>
                  </a:stretch>
                </a:blipFill>
              </p:spPr>
              <p:txBody>
                <a:bodyPr/>
                <a:lstStyle/>
                <a:p>
                  <a:r>
                    <a:rPr lang="zh-TW" altLang="en-US">
                      <a:noFill/>
                    </a:rPr>
                    <a:t> </a:t>
                  </a:r>
                </a:p>
              </p:txBody>
            </p:sp>
          </mc:Fallback>
        </mc:AlternateContent>
      </p:grpSp>
      <p:grpSp>
        <p:nvGrpSpPr>
          <p:cNvPr id="8" name="群組 7">
            <a:extLst>
              <a:ext uri="{FF2B5EF4-FFF2-40B4-BE49-F238E27FC236}">
                <a16:creationId xmlns:a16="http://schemas.microsoft.com/office/drawing/2014/main" id="{1360E81E-E71E-45BA-B332-92C61EB72938}"/>
              </a:ext>
            </a:extLst>
          </p:cNvPr>
          <p:cNvGrpSpPr/>
          <p:nvPr/>
        </p:nvGrpSpPr>
        <p:grpSpPr>
          <a:xfrm>
            <a:off x="115649" y="3580795"/>
            <a:ext cx="2891829" cy="3254066"/>
            <a:chOff x="72152" y="3256196"/>
            <a:chExt cx="2891829" cy="3254066"/>
          </a:xfrm>
        </p:grpSpPr>
        <p:pic>
          <p:nvPicPr>
            <p:cNvPr id="6" name="圖片 5">
              <a:extLst>
                <a:ext uri="{FF2B5EF4-FFF2-40B4-BE49-F238E27FC236}">
                  <a16:creationId xmlns:a16="http://schemas.microsoft.com/office/drawing/2014/main" id="{988C42B5-FBD1-4FD8-BABE-1FCBE073D28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93065" y="3256196"/>
              <a:ext cx="2570916" cy="3005448"/>
            </a:xfrm>
            <a:prstGeom prst="rect">
              <a:avLst/>
            </a:prstGeom>
          </p:spPr>
        </p:pic>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EE65A446-91AE-48EC-8330-BB70D7D76434}"/>
                    </a:ext>
                  </a:extLst>
                </p:cNvPr>
                <p:cNvSpPr txBox="1"/>
                <p:nvPr/>
              </p:nvSpPr>
              <p:spPr>
                <a:xfrm>
                  <a:off x="1210733" y="6234299"/>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4" name="文字方塊 23">
                  <a:extLst>
                    <a:ext uri="{FF2B5EF4-FFF2-40B4-BE49-F238E27FC236}">
                      <a16:creationId xmlns:a16="http://schemas.microsoft.com/office/drawing/2014/main" id="{EE65A446-91AE-48EC-8330-BB70D7D76434}"/>
                    </a:ext>
                  </a:extLst>
                </p:cNvPr>
                <p:cNvSpPr txBox="1">
                  <a:spLocks noRot="1" noChangeAspect="1" noMove="1" noResize="1" noEditPoints="1" noAdjustHandles="1" noChangeArrowheads="1" noChangeShapeType="1" noTextEdit="1"/>
                </p:cNvSpPr>
                <p:nvPr/>
              </p:nvSpPr>
              <p:spPr>
                <a:xfrm>
                  <a:off x="1210733" y="6234299"/>
                  <a:ext cx="1106536" cy="275963"/>
                </a:xfrm>
                <a:prstGeom prst="rect">
                  <a:avLst/>
                </a:prstGeom>
                <a:blipFill>
                  <a:blip r:embed="rId17"/>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5B2FF76E-ACA6-4049-80D6-58C7F2BBDA09}"/>
                    </a:ext>
                  </a:extLst>
                </p:cNvPr>
                <p:cNvSpPr txBox="1"/>
                <p:nvPr/>
              </p:nvSpPr>
              <p:spPr>
                <a:xfrm rot="16200000">
                  <a:off x="-523395" y="4479791"/>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5" name="文字方塊 24">
                  <a:extLst>
                    <a:ext uri="{FF2B5EF4-FFF2-40B4-BE49-F238E27FC236}">
                      <a16:creationId xmlns:a16="http://schemas.microsoft.com/office/drawing/2014/main" id="{5B2FF76E-ACA6-4049-80D6-58C7F2BBDA09}"/>
                    </a:ext>
                  </a:extLst>
                </p:cNvPr>
                <p:cNvSpPr txBox="1">
                  <a:spLocks noRot="1" noChangeAspect="1" noMove="1" noResize="1" noEditPoints="1" noAdjustHandles="1" noChangeArrowheads="1" noChangeShapeType="1" noTextEdit="1"/>
                </p:cNvSpPr>
                <p:nvPr/>
              </p:nvSpPr>
              <p:spPr>
                <a:xfrm rot="16200000">
                  <a:off x="-523395" y="4479791"/>
                  <a:ext cx="1404535" cy="213442"/>
                </a:xfrm>
                <a:prstGeom prst="rect">
                  <a:avLst/>
                </a:prstGeom>
                <a:blipFill>
                  <a:blip r:embed="rId18"/>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F613DD2C-B023-4F35-91ED-EE1F51433D80}"/>
                    </a:ext>
                  </a:extLst>
                </p:cNvPr>
                <p:cNvSpPr txBox="1"/>
                <p:nvPr/>
              </p:nvSpPr>
              <p:spPr>
                <a:xfrm rot="2762795">
                  <a:off x="1512329" y="4595311"/>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0" smtClean="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27" name="文字方塊 26">
                  <a:extLst>
                    <a:ext uri="{FF2B5EF4-FFF2-40B4-BE49-F238E27FC236}">
                      <a16:creationId xmlns:a16="http://schemas.microsoft.com/office/drawing/2014/main" id="{F613DD2C-B023-4F35-91ED-EE1F51433D80}"/>
                    </a:ext>
                  </a:extLst>
                </p:cNvPr>
                <p:cNvSpPr txBox="1">
                  <a:spLocks noRot="1" noChangeAspect="1" noMove="1" noResize="1" noEditPoints="1" noAdjustHandles="1" noChangeArrowheads="1" noChangeShapeType="1" noTextEdit="1"/>
                </p:cNvSpPr>
                <p:nvPr/>
              </p:nvSpPr>
              <p:spPr>
                <a:xfrm rot="2762795">
                  <a:off x="1512329" y="4595311"/>
                  <a:ext cx="503343" cy="246221"/>
                </a:xfrm>
                <a:prstGeom prst="rect">
                  <a:avLst/>
                </a:prstGeom>
                <a:blipFill>
                  <a:blip r:embed="rId19"/>
                  <a:stretch>
                    <a:fillRect l="-6897" t="-3409" r="-2299" b="-56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47113D68-EE0A-451D-89BE-43038D6F907C}"/>
                    </a:ext>
                  </a:extLst>
                </p:cNvPr>
                <p:cNvSpPr txBox="1"/>
                <p:nvPr/>
              </p:nvSpPr>
              <p:spPr>
                <a:xfrm rot="19242834">
                  <a:off x="1041020" y="4021896"/>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28" name="文字方塊 27">
                  <a:extLst>
                    <a:ext uri="{FF2B5EF4-FFF2-40B4-BE49-F238E27FC236}">
                      <a16:creationId xmlns:a16="http://schemas.microsoft.com/office/drawing/2014/main" id="{47113D68-EE0A-451D-89BE-43038D6F907C}"/>
                    </a:ext>
                  </a:extLst>
                </p:cNvPr>
                <p:cNvSpPr txBox="1">
                  <a:spLocks noRot="1" noChangeAspect="1" noMove="1" noResize="1" noEditPoints="1" noAdjustHandles="1" noChangeArrowheads="1" noChangeShapeType="1" noTextEdit="1"/>
                </p:cNvSpPr>
                <p:nvPr/>
              </p:nvSpPr>
              <p:spPr>
                <a:xfrm rot="19242834">
                  <a:off x="1041020" y="4021896"/>
                  <a:ext cx="843092" cy="246221"/>
                </a:xfrm>
                <a:prstGeom prst="rect">
                  <a:avLst/>
                </a:prstGeom>
                <a:blipFill>
                  <a:blip r:embed="rId20"/>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900" name="CalibV_s_mat"/>
              <p:cNvSpPr txBox="1"/>
              <p:nvPr/>
            </p:nvSpPr>
            <p:spPr>
              <a:xfrm>
                <a:off x="3509544" y="1158219"/>
                <a:ext cx="39116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050" b="0" i="1">
                              <a:latin typeface="Cambria Math" panose="02040503050406030204" pitchFamily="18" charset="0"/>
                            </a:rPr>
                          </m:ctrlPr>
                        </m:accPr>
                        <m:e>
                          <m:r>
                            <a:rPr lang="en-US" sz="1050" b="0" i="1">
                              <a:latin typeface="Cambria Math" panose="02040503050406030204" pitchFamily="18" charset="0"/>
                            </a:rPr>
                            <m:t>𝐷</m:t>
                          </m:r>
                        </m:e>
                      </m:acc>
                      <m:r>
                        <a:rPr lang="en-US" sz="1050" b="0" i="0">
                          <a:latin typeface="Cambria Math" panose="02040503050406030204" pitchFamily="18" charset="0"/>
                        </a:rPr>
                        <m:t> =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0.8333</m:t>
                                </m:r>
                              </m:e>
                              <m:e>
                                <m:r>
                                  <a:rPr lang="en-US" sz="1050" b="0" i="0">
                                    <a:latin typeface="Cambria Math" panose="02040503050406030204" pitchFamily="18" charset="0"/>
                                  </a:rPr>
                                  <m:t>−0.4701</m:t>
                                </m:r>
                              </m:e>
                              <m:e>
                                <m:r>
                                  <a:rPr lang="en-US" sz="1050" b="0" i="0">
                                    <a:latin typeface="Cambria Math" panose="02040503050406030204" pitchFamily="18" charset="0"/>
                                  </a:rPr>
                                  <m:t>−0.3324</m:t>
                                </m:r>
                              </m:e>
                              <m:e>
                                <m:r>
                                  <a:rPr lang="en-US" sz="1050" b="0" i="0">
                                    <a:latin typeface="Cambria Math" panose="02040503050406030204" pitchFamily="18" charset="0"/>
                                  </a:rPr>
                                  <m:t>−0.4255</m:t>
                                </m:r>
                              </m:e>
                              <m:e>
                                <m:r>
                                  <a:rPr lang="en-US" sz="1050" b="0" i="0">
                                    <a:latin typeface="Cambria Math" panose="02040503050406030204" pitchFamily="18" charset="0"/>
                                  </a:rPr>
                                  <m:t>−0.4318</m:t>
                                </m:r>
                              </m:e>
                              <m:e>
                                <m:r>
                                  <a:rPr lang="en-US" sz="1050" b="0" i="0">
                                    <a:latin typeface="Cambria Math" panose="02040503050406030204" pitchFamily="18" charset="0"/>
                                  </a:rPr>
                                  <m:t>−0.3290</m:t>
                                </m:r>
                              </m:e>
                            </m:mr>
                            <m:mr>
                              <m:e>
                                <m:r>
                                  <a:rPr lang="en-US" sz="1050" b="0" i="0">
                                    <a:latin typeface="Cambria Math" panose="02040503050406030204" pitchFamily="18" charset="0"/>
                                  </a:rPr>
                                  <m:t>−0.1459</m:t>
                                </m:r>
                              </m:e>
                              <m:e>
                                <m:r>
                                  <a:rPr lang="en-US" sz="1050" b="0" i="0">
                                    <a:latin typeface="Cambria Math" panose="02040503050406030204" pitchFamily="18" charset="0"/>
                                  </a:rPr>
                                  <m:t>1.3478</m:t>
                                </m:r>
                              </m:e>
                              <m:e>
                                <m:r>
                                  <a:rPr lang="en-US" sz="1050" b="0" i="0">
                                    <a:latin typeface="Cambria Math" panose="02040503050406030204" pitchFamily="18" charset="0"/>
                                  </a:rPr>
                                  <m:t>−0.0419</m:t>
                                </m:r>
                              </m:e>
                              <m:e>
                                <m:r>
                                  <a:rPr lang="en-US" sz="1050" b="0" i="0">
                                    <a:latin typeface="Cambria Math" panose="02040503050406030204" pitchFamily="18" charset="0"/>
                                  </a:rPr>
                                  <m:t>0.3311</m:t>
                                </m:r>
                              </m:e>
                              <m:e>
                                <m:r>
                                  <a:rPr lang="en-US" sz="1050" b="0" i="0">
                                    <a:latin typeface="Cambria Math" panose="02040503050406030204" pitchFamily="18" charset="0"/>
                                  </a:rPr>
                                  <m:t>0.3307</m:t>
                                </m:r>
                              </m:e>
                              <m:e>
                                <m:r>
                                  <a:rPr lang="en-US" sz="1050" b="0" i="0">
                                    <a:latin typeface="Cambria Math" panose="02040503050406030204" pitchFamily="18" charset="0"/>
                                  </a:rPr>
                                  <m:t>−0.0370</m:t>
                                </m:r>
                              </m:e>
                            </m:mr>
                            <m:mr>
                              <m:e>
                                <m:r>
                                  <a:rPr lang="en-US" sz="1050" b="0" i="0">
                                    <a:latin typeface="Cambria Math" panose="02040503050406030204" pitchFamily="18" charset="0"/>
                                  </a:rPr>
                                  <m:t>−0.3403</m:t>
                                </m:r>
                              </m:e>
                              <m:e>
                                <m:r>
                                  <a:rPr lang="en-US" sz="1050" b="0" i="0">
                                    <a:latin typeface="Cambria Math" panose="02040503050406030204" pitchFamily="18" charset="0"/>
                                  </a:rPr>
                                  <m:t>−0.4571</m:t>
                                </m:r>
                              </m:e>
                              <m:e>
                                <m:r>
                                  <a:rPr lang="en-US" sz="1050" b="0" i="0">
                                    <a:latin typeface="Cambria Math" panose="02040503050406030204" pitchFamily="18" charset="0"/>
                                  </a:rPr>
                                  <m:t>0.8096</m:t>
                                </m:r>
                              </m:e>
                              <m:e>
                                <m:r>
                                  <a:rPr lang="en-US" sz="1050" b="0" i="0">
                                    <a:latin typeface="Cambria Math" panose="02040503050406030204" pitchFamily="18" charset="0"/>
                                  </a:rPr>
                                  <m:t>−0.4931</m:t>
                                </m:r>
                              </m:e>
                              <m:e>
                                <m:r>
                                  <a:rPr lang="en-US" sz="1050" b="0" i="0">
                                    <a:latin typeface="Cambria Math" panose="02040503050406030204" pitchFamily="18" charset="0"/>
                                  </a:rPr>
                                  <m:t>−0.4613</m:t>
                                </m:r>
                              </m:e>
                              <m:e>
                                <m:r>
                                  <a:rPr lang="en-US" sz="1050" b="0" i="0">
                                    <a:latin typeface="Cambria Math" panose="02040503050406030204" pitchFamily="18" charset="0"/>
                                  </a:rPr>
                                  <m:t>−0.3456</m:t>
                                </m:r>
                              </m:e>
                            </m:mr>
                            <m:mr>
                              <m:e>
                                <m:r>
                                  <a:rPr lang="en-US" sz="1050" b="0" i="0">
                                    <a:latin typeface="Cambria Math" panose="02040503050406030204" pitchFamily="18" charset="0"/>
                                  </a:rPr>
                                  <m:t>0.0127</m:t>
                                </m:r>
                              </m:e>
                              <m:e>
                                <m:r>
                                  <a:rPr lang="en-US" sz="1050" b="0" i="0">
                                    <a:latin typeface="Cambria Math" panose="02040503050406030204" pitchFamily="18" charset="0"/>
                                  </a:rPr>
                                  <m:t>0.4012</m:t>
                                </m:r>
                              </m:e>
                              <m:e>
                                <m:r>
                                  <a:rPr lang="en-US" sz="1050" b="0" i="0">
                                    <a:latin typeface="Cambria Math" panose="02040503050406030204" pitchFamily="18" charset="0"/>
                                  </a:rPr>
                                  <m:t>−0.1179</m:t>
                                </m:r>
                              </m:e>
                              <m:e>
                                <m:r>
                                  <a:rPr lang="en-US" sz="1050" b="0" i="0">
                                    <a:latin typeface="Cambria Math" panose="02040503050406030204" pitchFamily="18" charset="0"/>
                                  </a:rPr>
                                  <m:t>1.4071</m:t>
                                </m:r>
                              </m:e>
                              <m:e>
                                <m:r>
                                  <a:rPr lang="en-US" sz="1050" b="0" i="0">
                                    <a:latin typeface="Cambria Math" panose="02040503050406030204" pitchFamily="18" charset="0"/>
                                  </a:rPr>
                                  <m:t>0.3973</m:t>
                                </m:r>
                              </m:e>
                              <m:e>
                                <m:r>
                                  <a:rPr lang="en-US" sz="1050" b="0" i="0">
                                    <a:latin typeface="Cambria Math" panose="02040503050406030204" pitchFamily="18" charset="0"/>
                                  </a:rPr>
                                  <m:t>−0.0031</m:t>
                                </m:r>
                              </m:e>
                            </m:mr>
                            <m:mr>
                              <m:e>
                                <m:r>
                                  <a:rPr lang="en-US" sz="1050" b="0" i="0">
                                    <a:latin typeface="Cambria Math" panose="02040503050406030204" pitchFamily="18" charset="0"/>
                                  </a:rPr>
                                  <m:t>0.0076</m:t>
                                </m:r>
                              </m:e>
                              <m:e>
                                <m:r>
                                  <a:rPr lang="en-US" sz="1050" b="0" i="0">
                                    <a:latin typeface="Cambria Math" panose="02040503050406030204" pitchFamily="18" charset="0"/>
                                  </a:rPr>
                                  <m:t>0.3819</m:t>
                                </m:r>
                              </m:e>
                              <m:e>
                                <m:r>
                                  <a:rPr lang="en-US" sz="1050" b="0" i="0">
                                    <a:latin typeface="Cambria Math" panose="02040503050406030204" pitchFamily="18" charset="0"/>
                                  </a:rPr>
                                  <m:t>−0.0139</m:t>
                                </m:r>
                              </m:e>
                              <m:e>
                                <m:r>
                                  <a:rPr lang="en-US" sz="1050" b="0" i="0">
                                    <a:latin typeface="Cambria Math" panose="02040503050406030204" pitchFamily="18" charset="0"/>
                                  </a:rPr>
                                  <m:t>0.3817</m:t>
                                </m:r>
                              </m:e>
                              <m:e>
                                <m:r>
                                  <a:rPr lang="en-US" sz="1050" b="0" i="0">
                                    <a:latin typeface="Cambria Math" panose="02040503050406030204" pitchFamily="18" charset="0"/>
                                  </a:rPr>
                                  <m:t>1.3975</m:t>
                                </m:r>
                              </m:e>
                              <m:e>
                                <m:r>
                                  <a:rPr lang="en-US" sz="1050" b="0" i="0">
                                    <a:latin typeface="Cambria Math" panose="02040503050406030204" pitchFamily="18" charset="0"/>
                                  </a:rPr>
                                  <m:t>−0.1289</m:t>
                                </m:r>
                              </m:e>
                            </m:mr>
                            <m:mr>
                              <m:e>
                                <m:r>
                                  <a:rPr lang="en-US" sz="1050" b="0" i="0">
                                    <a:latin typeface="Cambria Math" panose="02040503050406030204" pitchFamily="18" charset="0"/>
                                  </a:rPr>
                                  <m:t>−0.3337</m:t>
                                </m:r>
                              </m:e>
                              <m:e>
                                <m:r>
                                  <a:rPr lang="en-US" sz="1050" b="0" i="0">
                                    <a:latin typeface="Cambria Math" panose="02040503050406030204" pitchFamily="18" charset="0"/>
                                  </a:rPr>
                                  <m:t>−0.4360</m:t>
                                </m:r>
                              </m:e>
                              <m:e>
                                <m:r>
                                  <a:rPr lang="en-US" sz="1050" b="0" i="0">
                                    <a:latin typeface="Cambria Math" panose="02040503050406030204" pitchFamily="18" charset="0"/>
                                  </a:rPr>
                                  <m:t>−0.3366</m:t>
                                </m:r>
                              </m:e>
                              <m:e>
                                <m:r>
                                  <a:rPr lang="en-US" sz="1050" b="0" i="0">
                                    <a:latin typeface="Cambria Math" panose="02040503050406030204" pitchFamily="18" charset="0"/>
                                  </a:rPr>
                                  <m:t>−0.4378</m:t>
                                </m:r>
                              </m:e>
                              <m:e>
                                <m:r>
                                  <a:rPr lang="en-US" sz="1050" b="0" i="0">
                                    <a:latin typeface="Cambria Math" panose="02040503050406030204" pitchFamily="18" charset="0"/>
                                  </a:rPr>
                                  <m:t>−0.4911</m:t>
                                </m:r>
                              </m:e>
                              <m:e>
                                <m:r>
                                  <a:rPr lang="en-US" sz="1050" b="0" i="0">
                                    <a:latin typeface="Cambria Math" panose="02040503050406030204" pitchFamily="18" charset="0"/>
                                  </a:rPr>
                                  <m:t>0.8320</m:t>
                                </m:r>
                              </m:e>
                            </m:mr>
                          </m:m>
                        </m:e>
                      </m:d>
                      <m:r>
                        <a:rPr lang="en-US" sz="1050" b="0" i="0">
                          <a:latin typeface="Cambria Math" panose="02040503050406030204" pitchFamily="18" charset="0"/>
                        </a:rPr>
                        <m:t>  </m:t>
                      </m:r>
                    </m:oMath>
                  </m:oMathPara>
                </a14:m>
                <a:endParaRPr lang="en-US" sz="900" dirty="0"/>
              </a:p>
            </p:txBody>
          </p:sp>
        </mc:Choice>
        <mc:Fallback xmlns="">
          <p:sp>
            <p:nvSpPr>
              <p:cNvPr id="900" name="CalibV_s_mat"/>
              <p:cNvSpPr txBox="1">
                <a:spLocks noRot="1" noChangeAspect="1" noMove="1" noResize="1" noEditPoints="1" noAdjustHandles="1" noChangeArrowheads="1" noChangeShapeType="1" noTextEdit="1"/>
              </p:cNvSpPr>
              <p:nvPr/>
            </p:nvSpPr>
            <p:spPr>
              <a:xfrm>
                <a:off x="3509544" y="1158219"/>
                <a:ext cx="3911600" cy="868680"/>
              </a:xfrm>
              <a:prstGeom prst="rect">
                <a:avLst/>
              </a:prstGeom>
              <a:blipFill>
                <a:blip r:embed="rId21"/>
                <a:stretch>
                  <a:fillRect l="-6084" b="-35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1" name="CalibV_s_sc"/>
              <p:cNvSpPr txBox="1"/>
              <p:nvPr/>
            </p:nvSpPr>
            <p:spPr>
              <a:xfrm>
                <a:off x="3241649" y="2189453"/>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ℓ</m:t>
                          </m:r>
                        </m:e>
                      </m:acc>
                      <m:r>
                        <a:rPr lang="en-US" sz="1200" b="0" i="0">
                          <a:latin typeface="Cambria Math" panose="02040503050406030204" pitchFamily="18" charset="0"/>
                        </a:rPr>
                        <m:t> = 870.6 </m:t>
                      </m:r>
                      <m:r>
                        <m:rPr>
                          <m:sty m:val="p"/>
                        </m:rPr>
                        <a:rPr lang="en-US" sz="1200" b="0" i="0">
                          <a:latin typeface="Cambria Math" panose="02040503050406030204" pitchFamily="18" charset="0"/>
                        </a:rPr>
                        <m:t>μm</m:t>
                      </m:r>
                      <m:r>
                        <a:rPr lang="en-US" sz="1200" b="0" i="0">
                          <a:latin typeface="Cambria Math" panose="02040503050406030204" pitchFamily="18" charset="0"/>
                        </a:rPr>
                        <m:t>  </m:t>
                      </m:r>
                      <m:sPre>
                        <m:sPrePr>
                          <m:ctrlPr>
                            <a:rPr lang="en-US" sz="1200" b="0" i="1">
                              <a:latin typeface="Cambria Math" panose="02040503050406030204" pitchFamily="18" charset="0"/>
                            </a:rPr>
                          </m:ctrlPr>
                        </m:sPrePr>
                        <m:sub/>
                        <m:sup>
                          <m:r>
                            <a:rPr lang="en-US" sz="1200" b="0" i="1">
                              <a:latin typeface="Cambria Math" panose="02040503050406030204" pitchFamily="18" charset="0"/>
                            </a:rPr>
                            <m:t>𝐵</m:t>
                          </m:r>
                        </m:sup>
                        <m:e>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𝑔</m:t>
                                  </m:r>
                                </m:e>
                              </m:acc>
                            </m:e>
                            <m:sub>
                              <m:r>
                                <a:rPr lang="en-US" sz="1200" b="0" i="1">
                                  <a:latin typeface="Cambria Math" panose="02040503050406030204" pitchFamily="18" charset="0"/>
                                </a:rPr>
                                <m:t>𝑉</m:t>
                              </m:r>
                            </m:sub>
                          </m:sSub>
                        </m:e>
                      </m:sPre>
                      <m:r>
                        <a:rPr lang="en-US" sz="1200" b="0" i="0">
                          <a:latin typeface="Cambria Math" panose="02040503050406030204" pitchFamily="18" charset="0"/>
                        </a:rPr>
                        <m:t> = 5.0826×</m:t>
                      </m:r>
                      <m:sSup>
                        <m:sSupPr>
                          <m:ctrlPr>
                            <a:rPr lang="en-US" sz="1200" b="0" i="1">
                              <a:latin typeface="Cambria Math" panose="02040503050406030204" pitchFamily="18" charset="0"/>
                            </a:rPr>
                          </m:ctrlPr>
                        </m:sSupPr>
                        <m:e>
                          <m:r>
                            <a:rPr lang="en-US" sz="1200" b="0" i="0">
                              <a:latin typeface="Cambria Math" panose="02040503050406030204" pitchFamily="18" charset="0"/>
                            </a:rPr>
                            <m:t>10</m:t>
                          </m:r>
                        </m:e>
                        <m:sup>
                          <m:r>
                            <a:rPr lang="en-US" sz="1200" b="0" i="0">
                              <a:latin typeface="Cambria Math" panose="02040503050406030204" pitchFamily="18" charset="0"/>
                            </a:rPr>
                            <m:t>−3</m:t>
                          </m:r>
                        </m:sup>
                      </m:sSup>
                      <m:r>
                        <a:rPr lang="en-US" sz="1200" b="0" i="0">
                          <a:latin typeface="Cambria Math" panose="02040503050406030204" pitchFamily="18" charset="0"/>
                        </a:rPr>
                        <m:t> </m:t>
                      </m:r>
                      <m:r>
                        <m:rPr>
                          <m:sty m:val="p"/>
                        </m:rPr>
                        <a:rPr lang="en-US" sz="1200" b="0" i="0">
                          <a:latin typeface="Cambria Math" panose="02040503050406030204" pitchFamily="18" charset="0"/>
                        </a:rPr>
                        <m:t>mT</m:t>
                      </m:r>
                      <m:r>
                        <a:rPr lang="en-US" sz="1200" b="0" i="0">
                          <a:latin typeface="Cambria Math" panose="02040503050406030204" pitchFamily="18" charset="0"/>
                        </a:rPr>
                        <m:t>/</m:t>
                      </m:r>
                      <m:r>
                        <m:rPr>
                          <m:sty m:val="p"/>
                        </m:rPr>
                        <a:rPr lang="en-US" sz="1200" b="0" i="0">
                          <a:latin typeface="Cambria Math" panose="02040503050406030204" pitchFamily="18" charset="0"/>
                        </a:rPr>
                        <m:t>mV</m:t>
                      </m:r>
                      <m:r>
                        <a:rPr lang="en-US" sz="1200" b="0" i="0">
                          <a:latin typeface="Cambria Math" panose="02040503050406030204" pitchFamily="18" charset="0"/>
                        </a:rPr>
                        <m:t> </m:t>
                      </m:r>
                    </m:oMath>
                  </m:oMathPara>
                </a14:m>
                <a:endParaRPr lang="en-US" sz="1200" dirty="0"/>
              </a:p>
            </p:txBody>
          </p:sp>
        </mc:Choice>
        <mc:Fallback xmlns="">
          <p:sp>
            <p:nvSpPr>
              <p:cNvPr id="901" name="CalibV_s_sc"/>
              <p:cNvSpPr txBox="1">
                <a:spLocks noRot="1" noChangeAspect="1" noMove="1" noResize="1" noEditPoints="1" noAdjustHandles="1" noChangeArrowheads="1" noChangeShapeType="1" noTextEdit="1"/>
              </p:cNvSpPr>
              <p:nvPr/>
            </p:nvSpPr>
            <p:spPr>
              <a:xfrm>
                <a:off x="3241649" y="2189453"/>
                <a:ext cx="3556000" cy="256032"/>
              </a:xfrm>
              <a:prstGeom prst="rect">
                <a:avLst/>
              </a:prstGeom>
              <a:blipFill>
                <a:blip r:embed="rId22"/>
                <a:stretch>
                  <a:fillRect l="-858" t="-11905" r="-858" b="-190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2" name="CalibV_e_mat"/>
              <p:cNvSpPr txBox="1"/>
              <p:nvPr/>
            </p:nvSpPr>
            <p:spPr>
              <a:xfrm>
                <a:off x="3685606" y="2770616"/>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𝐷</m:t>
                          </m:r>
                        </m:e>
                      </m:acc>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−0.4506</m:t>
                                </m:r>
                              </m:e>
                              <m:e>
                                <m:r>
                                  <a:rPr lang="en-US" sz="1200" b="0" i="0">
                                    <a:latin typeface="Cambria Math" panose="02040503050406030204" pitchFamily="18" charset="0"/>
                                  </a:rPr>
                                  <m:t>−0.1912</m:t>
                                </m:r>
                              </m:e>
                              <m:e>
                                <m:r>
                                  <a:rPr lang="en-US" sz="1200" b="0" i="0">
                                    <a:latin typeface="Cambria Math" panose="02040503050406030204" pitchFamily="18" charset="0"/>
                                  </a:rPr>
                                  <m:t>−0.3974</m:t>
                                </m:r>
                              </m:e>
                              <m:e>
                                <m:r>
                                  <a:rPr lang="en-US" sz="1200" b="0" i="0">
                                    <a:latin typeface="Cambria Math" panose="02040503050406030204" pitchFamily="18" charset="0"/>
                                  </a:rPr>
                                  <m:t>−0.4005</m:t>
                                </m:r>
                              </m:e>
                              <m:e>
                                <m:r>
                                  <a:rPr lang="en-US" sz="1200" b="0" i="0">
                                    <a:latin typeface="Cambria Math" panose="02040503050406030204" pitchFamily="18" charset="0"/>
                                  </a:rPr>
                                  <m:t>−0.1902</m:t>
                                </m:r>
                              </m:e>
                            </m:mr>
                            <m:mr>
                              <m:e>
                                <m:r>
                                  <a:rPr lang="en-US" sz="1200" b="0" i="0">
                                    <a:latin typeface="Cambria Math" panose="02040503050406030204" pitchFamily="18" charset="0"/>
                                  </a:rPr>
                                  <m:t>−0.0121</m:t>
                                </m:r>
                              </m:e>
                              <m:e>
                                <m:r>
                                  <a:rPr lang="en-US" sz="1200" b="0" i="0">
                                    <a:latin typeface="Cambria Math" panose="02040503050406030204" pitchFamily="18" charset="0"/>
                                  </a:rPr>
                                  <m:t>1.1706</m:t>
                                </m:r>
                              </m:e>
                              <m:e>
                                <m:r>
                                  <a:rPr lang="en-US" sz="1200" b="0" i="0">
                                    <a:latin typeface="Cambria Math" panose="02040503050406030204" pitchFamily="18" charset="0"/>
                                  </a:rPr>
                                  <m:t>0.0025</m:t>
                                </m:r>
                              </m:e>
                              <m:e>
                                <m:r>
                                  <a:rPr lang="en-US" sz="1200" b="0" i="0">
                                    <a:latin typeface="Cambria Math" panose="02040503050406030204" pitchFamily="18" charset="0"/>
                                  </a:rPr>
                                  <m:t>0.3536</m:t>
                                </m:r>
                              </m:e>
                              <m:e>
                                <m:r>
                                  <a:rPr lang="en-US" sz="1200" b="0" i="0">
                                    <a:latin typeface="Cambria Math" panose="02040503050406030204" pitchFamily="18" charset="0"/>
                                  </a:rPr>
                                  <m:t>0.3563</m:t>
                                </m:r>
                              </m:e>
                              <m:e>
                                <m:r>
                                  <a:rPr lang="en-US" sz="1200" b="0" i="0">
                                    <a:latin typeface="Cambria Math" panose="02040503050406030204" pitchFamily="18" charset="0"/>
                                  </a:rPr>
                                  <m:t>0.0030</m:t>
                                </m:r>
                              </m:e>
                            </m:mr>
                            <m:mr>
                              <m:e>
                                <m:r>
                                  <a:rPr lang="en-US" sz="1200" b="0" i="0">
                                    <a:latin typeface="Cambria Math" panose="02040503050406030204" pitchFamily="18" charset="0"/>
                                  </a:rPr>
                                  <m:t>−0.2078</m:t>
                                </m:r>
                              </m:e>
                              <m:e>
                                <m:r>
                                  <a:rPr lang="en-US" sz="1200" b="0" i="0">
                                    <a:latin typeface="Cambria Math" panose="02040503050406030204" pitchFamily="18" charset="0"/>
                                  </a:rPr>
                                  <m:t>−0.4366</m:t>
                                </m:r>
                              </m:e>
                              <m:e>
                                <m:r>
                                  <a:rPr lang="en-US" sz="1200" b="0" i="0">
                                    <a:latin typeface="Cambria Math" panose="02040503050406030204" pitchFamily="18" charset="0"/>
                                  </a:rPr>
                                  <m:t>0.8323</m:t>
                                </m:r>
                              </m:e>
                              <m:e>
                                <m:r>
                                  <a:rPr lang="en-US" sz="1200" b="0" i="0">
                                    <a:latin typeface="Cambria Math" panose="02040503050406030204" pitchFamily="18" charset="0"/>
                                  </a:rPr>
                                  <m:t>−0.4739</m:t>
                                </m:r>
                              </m:e>
                              <m:e>
                                <m:r>
                                  <a:rPr lang="en-US" sz="1200" b="0" i="0">
                                    <a:latin typeface="Cambria Math" panose="02040503050406030204" pitchFamily="18" charset="0"/>
                                  </a:rPr>
                                  <m:t>−0.4337</m:t>
                                </m:r>
                              </m:e>
                              <m:e>
                                <m:r>
                                  <a:rPr lang="en-US" sz="1200" b="0" i="0">
                                    <a:latin typeface="Cambria Math" panose="02040503050406030204" pitchFamily="18" charset="0"/>
                                  </a:rPr>
                                  <m:t>−0.2084</m:t>
                                </m:r>
                              </m:e>
                            </m:mr>
                            <m:mr>
                              <m:e>
                                <m:r>
                                  <a:rPr lang="en-US" sz="1200" b="0" i="0">
                                    <a:latin typeface="Cambria Math" panose="02040503050406030204" pitchFamily="18" charset="0"/>
                                  </a:rPr>
                                  <m:t>0.0423</m:t>
                                </m:r>
                              </m:e>
                              <m:e>
                                <m:r>
                                  <a:rPr lang="en-US" sz="1200" b="0" i="0">
                                    <a:latin typeface="Cambria Math" panose="02040503050406030204" pitchFamily="18" charset="0"/>
                                  </a:rPr>
                                  <m:t>0.4092</m:t>
                                </m:r>
                              </m:e>
                              <m:e>
                                <m:r>
                                  <a:rPr lang="en-US" sz="1200" b="0" i="0">
                                    <a:latin typeface="Cambria Math" panose="02040503050406030204" pitchFamily="18" charset="0"/>
                                  </a:rPr>
                                  <m:t>0.0182</m:t>
                                </m:r>
                              </m:e>
                              <m:e>
                                <m:r>
                                  <a:rPr lang="en-US" sz="1200" b="0" i="0">
                                    <a:latin typeface="Cambria Math" panose="02040503050406030204" pitchFamily="18" charset="0"/>
                                  </a:rPr>
                                  <m:t>1.2265</m:t>
                                </m:r>
                              </m:e>
                              <m:e>
                                <m:r>
                                  <a:rPr lang="en-US" sz="1200" b="0" i="0">
                                    <a:latin typeface="Cambria Math" panose="02040503050406030204" pitchFamily="18" charset="0"/>
                                  </a:rPr>
                                  <m:t>0.4108</m:t>
                                </m:r>
                              </m:e>
                              <m:e>
                                <m:r>
                                  <a:rPr lang="en-US" sz="1200" b="0" i="0">
                                    <a:latin typeface="Cambria Math" panose="02040503050406030204" pitchFamily="18" charset="0"/>
                                  </a:rPr>
                                  <m:t>0.0303</m:t>
                                </m:r>
                              </m:e>
                            </m:mr>
                            <m:mr>
                              <m:e>
                                <m:r>
                                  <a:rPr lang="en-US" sz="1200" b="0" i="0">
                                    <a:latin typeface="Cambria Math" panose="02040503050406030204" pitchFamily="18" charset="0"/>
                                  </a:rPr>
                                  <m:t>0.0370</m:t>
                                </m:r>
                              </m:e>
                              <m:e>
                                <m:r>
                                  <a:rPr lang="en-US" sz="1200" b="0" i="0">
                                    <a:latin typeface="Cambria Math" panose="02040503050406030204" pitchFamily="18" charset="0"/>
                                  </a:rPr>
                                  <m:t>0.4017</m:t>
                                </m:r>
                              </m:e>
                              <m:e>
                                <m:r>
                                  <a:rPr lang="en-US" sz="1200" b="0" i="0">
                                    <a:latin typeface="Cambria Math" panose="02040503050406030204" pitchFamily="18" charset="0"/>
                                  </a:rPr>
                                  <m:t>0.0246</m:t>
                                </m:r>
                              </m:e>
                              <m:e>
                                <m:r>
                                  <a:rPr lang="en-US" sz="1200" b="0" i="0">
                                    <a:latin typeface="Cambria Math" panose="02040503050406030204" pitchFamily="18" charset="0"/>
                                  </a:rPr>
                                  <m:t>0.4026</m:t>
                                </m:r>
                              </m:e>
                              <m:e>
                                <m:r>
                                  <a:rPr lang="en-US" sz="1200" b="0" i="0">
                                    <a:latin typeface="Cambria Math" panose="02040503050406030204" pitchFamily="18" charset="0"/>
                                  </a:rPr>
                                  <m:t>1.2439</m:t>
                                </m:r>
                              </m:e>
                              <m:e>
                                <m:r>
                                  <a:rPr lang="en-US" sz="1200" b="0" i="0">
                                    <a:latin typeface="Cambria Math" panose="02040503050406030204" pitchFamily="18" charset="0"/>
                                  </a:rPr>
                                  <m:t>0.0051</m:t>
                                </m:r>
                              </m:e>
                            </m:mr>
                            <m:mr>
                              <m:e>
                                <m:r>
                                  <a:rPr lang="en-US" sz="1200" b="0" i="0">
                                    <a:latin typeface="Cambria Math" panose="02040503050406030204" pitchFamily="18" charset="0"/>
                                  </a:rPr>
                                  <m:t>−0.2009</m:t>
                                </m:r>
                              </m:e>
                              <m:e>
                                <m:r>
                                  <a:rPr lang="en-US" sz="1200" b="0" i="0">
                                    <a:latin typeface="Cambria Math" panose="02040503050406030204" pitchFamily="18" charset="0"/>
                                  </a:rPr>
                                  <m:t>−0.4141</m:t>
                                </m:r>
                              </m:e>
                              <m:e>
                                <m:r>
                                  <a:rPr lang="en-US" sz="1200" b="0" i="0">
                                    <a:latin typeface="Cambria Math" panose="02040503050406030204" pitchFamily="18" charset="0"/>
                                  </a:rPr>
                                  <m:t>−0.1971</m:t>
                                </m:r>
                              </m:e>
                              <m:e>
                                <m:r>
                                  <a:rPr lang="en-US" sz="1200" b="0" i="0">
                                    <a:latin typeface="Cambria Math" panose="02040503050406030204" pitchFamily="18" charset="0"/>
                                  </a:rPr>
                                  <m:t>−0.4117</m:t>
                                </m:r>
                              </m:e>
                              <m:e>
                                <m:r>
                                  <a:rPr lang="en-US" sz="1200" b="0" i="0">
                                    <a:latin typeface="Cambria Math" panose="02040503050406030204" pitchFamily="18" charset="0"/>
                                  </a:rPr>
                                  <m:t>−0.4634</m:t>
                                </m:r>
                              </m:e>
                              <m:e>
                                <m:r>
                                  <a:rPr lang="en-US" sz="1200" b="0" i="0">
                                    <a:latin typeface="Cambria Math" panose="02040503050406030204" pitchFamily="18" charset="0"/>
                                  </a:rPr>
                                  <m:t>0.8462</m:t>
                                </m:r>
                              </m:e>
                            </m:mr>
                          </m:m>
                        </m:e>
                      </m:d>
                      <m:r>
                        <a:rPr lang="en-US" sz="1200" b="0" i="0">
                          <a:latin typeface="Cambria Math" panose="02040503050406030204" pitchFamily="18" charset="0"/>
                        </a:rPr>
                        <m:t> </m:t>
                      </m:r>
                    </m:oMath>
                  </m:oMathPara>
                </a14:m>
                <a:endParaRPr lang="en-US" sz="1200" dirty="0"/>
              </a:p>
            </p:txBody>
          </p:sp>
        </mc:Choice>
        <mc:Fallback xmlns="">
          <p:sp>
            <p:nvSpPr>
              <p:cNvPr id="902" name="CalibV_e_mat"/>
              <p:cNvSpPr txBox="1">
                <a:spLocks noRot="1" noChangeAspect="1" noMove="1" noResize="1" noEditPoints="1" noAdjustHandles="1" noChangeArrowheads="1" noChangeShapeType="1" noTextEdit="1"/>
              </p:cNvSpPr>
              <p:nvPr/>
            </p:nvSpPr>
            <p:spPr>
              <a:xfrm>
                <a:off x="3685606" y="2770616"/>
                <a:ext cx="3793066" cy="868680"/>
              </a:xfrm>
              <a:prstGeom prst="rect">
                <a:avLst/>
              </a:prstGeom>
              <a:blipFill>
                <a:blip r:embed="rId23"/>
                <a:stretch>
                  <a:fillRect l="-13666" r="-8842" b="-174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3" name="CalibV_e_bias"/>
              <p:cNvSpPr txBox="1"/>
              <p:nvPr/>
            </p:nvSpPr>
            <p:spPr>
              <a:xfrm>
                <a:off x="3342803" y="3991344"/>
                <a:ext cx="3793065" cy="53906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050" b="0" i="1" smtClean="0">
                              <a:latin typeface="Cambria Math" panose="02040503050406030204" pitchFamily="18" charset="0"/>
                            </a:rPr>
                          </m:ctrlPr>
                        </m:accPr>
                        <m:e>
                          <m:r>
                            <a:rPr lang="en-US" altLang="zh-TW" sz="1050" b="0" i="1" smtClean="0">
                              <a:latin typeface="Cambria Math" panose="02040503050406030204" pitchFamily="18" charset="0"/>
                            </a:rPr>
                            <m:t>𝑒</m:t>
                          </m:r>
                        </m:e>
                      </m:acc>
                      <m:r>
                        <a:rPr lang="en-US" sz="1050" b="0" i="0">
                          <a:latin typeface="Cambria Math" panose="02040503050406030204" pitchFamily="18" charset="0"/>
                        </a:rPr>
                        <m:t>=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0.0136</m:t>
                                </m:r>
                              </m:e>
                              <m:e>
                                <m:r>
                                  <a:rPr lang="en-US" sz="1050" b="0" i="0">
                                    <a:latin typeface="Cambria Math" panose="02040503050406030204" pitchFamily="18" charset="0"/>
                                  </a:rPr>
                                  <m:t>0.0213</m:t>
                                </m:r>
                              </m:e>
                              <m:e>
                                <m:r>
                                  <a:rPr lang="en-US" sz="1050" b="0" i="0">
                                    <a:latin typeface="Cambria Math" panose="02040503050406030204" pitchFamily="18" charset="0"/>
                                  </a:rPr>
                                  <m:t>−0.1165</m:t>
                                </m:r>
                              </m:e>
                              <m:e>
                                <m:r>
                                  <a:rPr lang="en-US" sz="1050" b="0" i="0">
                                    <a:latin typeface="Cambria Math" panose="02040503050406030204" pitchFamily="18" charset="0"/>
                                  </a:rPr>
                                  <m:t>0.0005</m:t>
                                </m:r>
                              </m:e>
                              <m:e>
                                <m:r>
                                  <a:rPr lang="en-US" sz="1050" b="0" i="0">
                                    <a:latin typeface="Cambria Math" panose="02040503050406030204" pitchFamily="18" charset="0"/>
                                  </a:rPr>
                                  <m:t>−0.0002</m:t>
                                </m:r>
                              </m:e>
                              <m:e>
                                <m:r>
                                  <a:rPr lang="en-US" sz="1050" b="0" i="0">
                                    <a:latin typeface="Cambria Math" panose="02040503050406030204" pitchFamily="18" charset="0"/>
                                  </a:rPr>
                                  <m:t>−0.1175</m:t>
                                </m:r>
                              </m:e>
                            </m:mr>
                            <m:mr>
                              <m:e>
                                <m:r>
                                  <a:rPr lang="en-US" sz="1050" b="0" i="0">
                                    <a:latin typeface="Cambria Math" panose="02040503050406030204" pitchFamily="18" charset="0"/>
                                  </a:rPr>
                                  <m:t>−0.1142</m:t>
                                </m:r>
                              </m:e>
                              <m:e>
                                <m:r>
                                  <a:rPr lang="en-US" sz="1050" b="0" i="0">
                                    <a:latin typeface="Cambria Math" panose="02040503050406030204" pitchFamily="18" charset="0"/>
                                  </a:rPr>
                                  <m:t>0.0019</m:t>
                                </m:r>
                              </m:e>
                              <m:e>
                                <m:r>
                                  <a:rPr lang="en-US" sz="1050" b="0" i="0">
                                    <a:latin typeface="Cambria Math" panose="02040503050406030204" pitchFamily="18" charset="0"/>
                                  </a:rPr>
                                  <m:t>0.0199</m:t>
                                </m:r>
                              </m:e>
                              <m:e>
                                <m:r>
                                  <a:rPr lang="en-US" sz="1050" b="0" i="0">
                                    <a:latin typeface="Cambria Math" panose="02040503050406030204" pitchFamily="18" charset="0"/>
                                  </a:rPr>
                                  <m:t>0.0187</m:t>
                                </m:r>
                              </m:e>
                              <m:e>
                                <m:r>
                                  <a:rPr lang="en-US" sz="1050" b="0" i="0">
                                    <a:latin typeface="Cambria Math" panose="02040503050406030204" pitchFamily="18" charset="0"/>
                                  </a:rPr>
                                  <m:t>0.0002</m:t>
                                </m:r>
                              </m:e>
                              <m:e>
                                <m:r>
                                  <a:rPr lang="en-US" sz="1050" b="0" i="0">
                                    <a:latin typeface="Cambria Math" panose="02040503050406030204" pitchFamily="18" charset="0"/>
                                  </a:rPr>
                                  <m:t>−0.1162</m:t>
                                </m:r>
                              </m:e>
                            </m:mr>
                            <m:mr>
                              <m:e>
                                <m:r>
                                  <a:rPr lang="en-US" sz="1050" b="0" i="0">
                                    <a:latin typeface="Cambria Math" panose="02040503050406030204" pitchFamily="18" charset="0"/>
                                  </a:rPr>
                                  <m:t>0.1150</m:t>
                                </m:r>
                              </m:e>
                              <m:e>
                                <m:r>
                                  <a:rPr lang="en-US" sz="1050" b="0" i="0">
                                    <a:latin typeface="Cambria Math" panose="02040503050406030204" pitchFamily="18" charset="0"/>
                                  </a:rPr>
                                  <m:t>−0.0025</m:t>
                                </m:r>
                              </m:e>
                              <m:e>
                                <m:r>
                                  <a:rPr lang="en-US" sz="1050" b="0" i="0">
                                    <a:latin typeface="Cambria Math" panose="02040503050406030204" pitchFamily="18" charset="0"/>
                                  </a:rPr>
                                  <m:t>0.1157</m:t>
                                </m:r>
                              </m:e>
                              <m:e>
                                <m:r>
                                  <a:rPr lang="en-US" sz="1050" b="0" i="0">
                                    <a:latin typeface="Cambria Math" panose="02040503050406030204" pitchFamily="18" charset="0"/>
                                  </a:rPr>
                                  <m:t>−0.0012</m:t>
                                </m:r>
                              </m:e>
                              <m:e>
                                <m:r>
                                  <a:rPr lang="en-US" sz="1050" b="0" i="0">
                                    <a:latin typeface="Cambria Math" panose="02040503050406030204" pitchFamily="18" charset="0"/>
                                  </a:rPr>
                                  <m:t>−0.0112</m:t>
                                </m:r>
                              </m:e>
                              <m:e>
                                <m:r>
                                  <a:rPr lang="en-US" sz="1050" b="0" i="0">
                                    <a:latin typeface="Cambria Math" panose="02040503050406030204" pitchFamily="18" charset="0"/>
                                  </a:rPr>
                                  <m:t>−0.0178</m:t>
                                </m:r>
                              </m:e>
                            </m:mr>
                          </m:m>
                        </m:e>
                      </m:d>
                    </m:oMath>
                  </m:oMathPara>
                </a14:m>
                <a:endParaRPr lang="en-US" sz="1050" dirty="0"/>
              </a:p>
            </p:txBody>
          </p:sp>
        </mc:Choice>
        <mc:Fallback xmlns="">
          <p:sp>
            <p:nvSpPr>
              <p:cNvPr id="903" name="CalibV_e_bias"/>
              <p:cNvSpPr txBox="1">
                <a:spLocks noRot="1" noChangeAspect="1" noMove="1" noResize="1" noEditPoints="1" noAdjustHandles="1" noChangeArrowheads="1" noChangeShapeType="1" noTextEdit="1"/>
              </p:cNvSpPr>
              <p:nvPr/>
            </p:nvSpPr>
            <p:spPr>
              <a:xfrm>
                <a:off x="3342803" y="3991344"/>
                <a:ext cx="3793065" cy="539062"/>
              </a:xfrm>
              <a:prstGeom prst="rect">
                <a:avLst/>
              </a:prstGeom>
              <a:blipFill>
                <a:blip r:embed="rId24"/>
                <a:stretch>
                  <a:fillRect l="-4494" t="-2273" r="-288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4" name="CalibV_e_sc"/>
              <p:cNvSpPr txBox="1"/>
              <p:nvPr/>
            </p:nvSpPr>
            <p:spPr>
              <a:xfrm>
                <a:off x="3342803" y="4692808"/>
                <a:ext cx="3208867"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ℓ</m:t>
                          </m:r>
                        </m:e>
                      </m:acc>
                      <m:r>
                        <a:rPr lang="en-US" sz="1200" b="0" i="0">
                          <a:latin typeface="Cambria Math" panose="02040503050406030204" pitchFamily="18" charset="0"/>
                        </a:rPr>
                        <m:t> = 867.2 </m:t>
                      </m:r>
                      <m:r>
                        <m:rPr>
                          <m:sty m:val="p"/>
                        </m:rPr>
                        <a:rPr lang="en-US" sz="1200" b="0" i="0">
                          <a:latin typeface="Cambria Math" panose="02040503050406030204" pitchFamily="18" charset="0"/>
                        </a:rPr>
                        <m:t>μm</m:t>
                      </m:r>
                      <m:r>
                        <a:rPr lang="en-US" sz="1200" b="0" i="0">
                          <a:latin typeface="Cambria Math" panose="02040503050406030204" pitchFamily="18" charset="0"/>
                        </a:rPr>
                        <m:t>  </m:t>
                      </m:r>
                      <m:sPre>
                        <m:sPrePr>
                          <m:ctrlPr>
                            <a:rPr lang="en-US" sz="1200" b="0" i="1">
                              <a:latin typeface="Cambria Math" panose="02040503050406030204" pitchFamily="18" charset="0"/>
                            </a:rPr>
                          </m:ctrlPr>
                        </m:sPrePr>
                        <m:sub/>
                        <m:sup>
                          <m:r>
                            <a:rPr lang="en-US" sz="1200" b="0" i="1">
                              <a:latin typeface="Cambria Math" panose="02040503050406030204" pitchFamily="18" charset="0"/>
                            </a:rPr>
                            <m:t>𝐵</m:t>
                          </m:r>
                        </m:sup>
                        <m:e>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𝑔</m:t>
                                  </m:r>
                                </m:e>
                              </m:acc>
                            </m:e>
                            <m:sub>
                              <m:r>
                                <a:rPr lang="en-US" sz="1200" b="0" i="1">
                                  <a:latin typeface="Cambria Math" panose="02040503050406030204" pitchFamily="18" charset="0"/>
                                </a:rPr>
                                <m:t>𝑉</m:t>
                              </m:r>
                            </m:sub>
                          </m:sSub>
                        </m:e>
                      </m:sPre>
                      <m:r>
                        <a:rPr lang="en-US" sz="1200" b="0" i="0">
                          <a:latin typeface="Cambria Math" panose="02040503050406030204" pitchFamily="18" charset="0"/>
                        </a:rPr>
                        <m:t> = 5.9476×</m:t>
                      </m:r>
                      <m:sSup>
                        <m:sSupPr>
                          <m:ctrlPr>
                            <a:rPr lang="en-US" sz="1200" b="0" i="1">
                              <a:latin typeface="Cambria Math" panose="02040503050406030204" pitchFamily="18" charset="0"/>
                            </a:rPr>
                          </m:ctrlPr>
                        </m:sSupPr>
                        <m:e>
                          <m:r>
                            <a:rPr lang="en-US" sz="1200" b="0" i="0">
                              <a:latin typeface="Cambria Math" panose="02040503050406030204" pitchFamily="18" charset="0"/>
                            </a:rPr>
                            <m:t>10</m:t>
                          </m:r>
                        </m:e>
                        <m:sup>
                          <m:r>
                            <a:rPr lang="en-US" sz="1200" b="0" i="0">
                              <a:latin typeface="Cambria Math" panose="02040503050406030204" pitchFamily="18" charset="0"/>
                            </a:rPr>
                            <m:t>−3</m:t>
                          </m:r>
                        </m:sup>
                      </m:sSup>
                      <m:r>
                        <a:rPr lang="en-US" sz="1200" b="0" i="0">
                          <a:latin typeface="Cambria Math" panose="02040503050406030204" pitchFamily="18" charset="0"/>
                        </a:rPr>
                        <m:t> </m:t>
                      </m:r>
                      <m:r>
                        <m:rPr>
                          <m:sty m:val="p"/>
                        </m:rPr>
                        <a:rPr lang="en-US" sz="1200" b="0" i="0">
                          <a:latin typeface="Cambria Math" panose="02040503050406030204" pitchFamily="18" charset="0"/>
                        </a:rPr>
                        <m:t>mT</m:t>
                      </m:r>
                      <m:r>
                        <a:rPr lang="en-US" sz="1200" b="0" i="0">
                          <a:latin typeface="Cambria Math" panose="02040503050406030204" pitchFamily="18" charset="0"/>
                        </a:rPr>
                        <m:t>/</m:t>
                      </m:r>
                      <m:r>
                        <m:rPr>
                          <m:sty m:val="p"/>
                        </m:rPr>
                        <a:rPr lang="en-US" sz="1200" b="0" i="0">
                          <a:latin typeface="Cambria Math" panose="02040503050406030204" pitchFamily="18" charset="0"/>
                        </a:rPr>
                        <m:t>mV</m:t>
                      </m:r>
                    </m:oMath>
                  </m:oMathPara>
                </a14:m>
                <a:endParaRPr lang="en-US" sz="1200" dirty="0"/>
              </a:p>
            </p:txBody>
          </p:sp>
        </mc:Choice>
        <mc:Fallback xmlns="">
          <p:sp>
            <p:nvSpPr>
              <p:cNvPr id="904" name="CalibV_e_sc"/>
              <p:cNvSpPr txBox="1">
                <a:spLocks noRot="1" noChangeAspect="1" noMove="1" noResize="1" noEditPoints="1" noAdjustHandles="1" noChangeArrowheads="1" noChangeShapeType="1" noTextEdit="1"/>
              </p:cNvSpPr>
              <p:nvPr/>
            </p:nvSpPr>
            <p:spPr>
              <a:xfrm>
                <a:off x="3342803" y="4692808"/>
                <a:ext cx="3208867" cy="256032"/>
              </a:xfrm>
              <a:prstGeom prst="rect">
                <a:avLst/>
              </a:prstGeom>
              <a:blipFill>
                <a:blip r:embed="rId25"/>
                <a:stretch>
                  <a:fillRect l="-3795" t="-14286" r="-2657" b="-1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05D4D494-842A-47CF-AA77-F7674C9C2B84}"/>
                  </a:ext>
                </a:extLst>
              </p:cNvPr>
              <p:cNvSpPr txBox="1"/>
              <p:nvPr/>
            </p:nvSpPr>
            <p:spPr>
              <a:xfrm>
                <a:off x="7794871" y="1202365"/>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%=2.81%</m:t>
                      </m:r>
                    </m:oMath>
                  </m:oMathPara>
                </a14:m>
                <a:endParaRPr lang="zh-TW" altLang="en-US" sz="1400" dirty="0"/>
              </a:p>
            </p:txBody>
          </p:sp>
        </mc:Choice>
        <mc:Fallback xmlns="">
          <p:sp>
            <p:nvSpPr>
              <p:cNvPr id="30" name="文字方塊 29">
                <a:extLst>
                  <a:ext uri="{FF2B5EF4-FFF2-40B4-BE49-F238E27FC236}">
                    <a16:creationId xmlns:a16="http://schemas.microsoft.com/office/drawing/2014/main" id="{05D4D494-842A-47CF-AA77-F7674C9C2B84}"/>
                  </a:ext>
                </a:extLst>
              </p:cNvPr>
              <p:cNvSpPr txBox="1">
                <a:spLocks noRot="1" noChangeAspect="1" noMove="1" noResize="1" noEditPoints="1" noAdjustHandles="1" noChangeArrowheads="1" noChangeShapeType="1" noTextEdit="1"/>
              </p:cNvSpPr>
              <p:nvPr/>
            </p:nvSpPr>
            <p:spPr>
              <a:xfrm>
                <a:off x="7794871" y="1202365"/>
                <a:ext cx="4191000" cy="549509"/>
              </a:xfrm>
              <a:prstGeom prst="rect">
                <a:avLst/>
              </a:prstGeom>
              <a:blipFill>
                <a:blip r:embed="rId26"/>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C685C6EE-EA50-4331-ADBB-49A0A8EDD3B1}"/>
                  </a:ext>
                </a:extLst>
              </p:cNvPr>
              <p:cNvSpPr txBox="1"/>
              <p:nvPr/>
            </p:nvSpPr>
            <p:spPr>
              <a:xfrm>
                <a:off x="7794871" y="2770616"/>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%=0.35%</m:t>
                      </m:r>
                    </m:oMath>
                  </m:oMathPara>
                </a14:m>
                <a:endParaRPr lang="zh-TW" altLang="en-US" sz="1400" dirty="0"/>
              </a:p>
            </p:txBody>
          </p:sp>
        </mc:Choice>
        <mc:Fallback xmlns="">
          <p:sp>
            <p:nvSpPr>
              <p:cNvPr id="32" name="文字方塊 31">
                <a:extLst>
                  <a:ext uri="{FF2B5EF4-FFF2-40B4-BE49-F238E27FC236}">
                    <a16:creationId xmlns:a16="http://schemas.microsoft.com/office/drawing/2014/main" id="{C685C6EE-EA50-4331-ADBB-49A0A8EDD3B1}"/>
                  </a:ext>
                </a:extLst>
              </p:cNvPr>
              <p:cNvSpPr txBox="1">
                <a:spLocks noRot="1" noChangeAspect="1" noMove="1" noResize="1" noEditPoints="1" noAdjustHandles="1" noChangeArrowheads="1" noChangeShapeType="1" noTextEdit="1"/>
              </p:cNvSpPr>
              <p:nvPr/>
            </p:nvSpPr>
            <p:spPr>
              <a:xfrm>
                <a:off x="7794871" y="2770616"/>
                <a:ext cx="4191000" cy="549509"/>
              </a:xfrm>
              <a:prstGeom prst="rect">
                <a:avLst/>
              </a:prstGeom>
              <a:blipFill>
                <a:blip r:embed="rId2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50" name="CalibV_Vmat"/>
              <p:cNvSpPr txBox="1"/>
              <p:nvPr/>
            </p:nvSpPr>
            <p:spPr>
              <a:xfrm>
                <a:off x="2957124" y="5292768"/>
                <a:ext cx="6215426" cy="1527623"/>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𝑉</m:t>
                      </m:r>
                      <m:r>
                        <a:rPr lang="en-US" sz="1100" b="0" i="0">
                          <a:latin typeface="Cambria Math" panose="02040503050406030204" pitchFamily="18" charset="0"/>
                        </a:rPr>
                        <m:t> = </m:t>
                      </m:r>
                      <m:d>
                        <m:dPr>
                          <m:begChr m:val="["/>
                          <m:endChr m:val="]"/>
                          <m:ctrlPr>
                            <a:rPr lang="en-US" sz="1100" b="0" i="1">
                              <a:latin typeface="Cambria Math" panose="02040503050406030204" pitchFamily="18" charset="0"/>
                            </a:rPr>
                          </m:ctrlPr>
                        </m:dPr>
                        <m:e>
                          <m:m>
                            <m:mPr>
                              <m:mcs>
                                <m:mc>
                                  <m:mcPr>
                                    <m:count m:val="6"/>
                                    <m:mcJc m:val="center"/>
                                  </m:mcPr>
                                </m:mc>
                              </m:mcs>
                              <m:ctrlPr>
                                <a:rPr lang="en-US" sz="1100" b="0" i="1">
                                  <a:latin typeface="Cambria Math" panose="02040503050406030204" pitchFamily="18" charset="0"/>
                                </a:rPr>
                              </m:ctrlPr>
                            </m:mPr>
                            <m:mr>
                              <m:e>
                                <m:r>
                                  <a:rPr lang="en-US" sz="1100" b="0" i="0">
                                    <a:latin typeface="Cambria Math" panose="02040503050406030204" pitchFamily="18" charset="0"/>
                                  </a:rPr>
                                  <m:t>1396.4955</m:t>
                                </m:r>
                              </m:e>
                              <m:e>
                                <m:r>
                                  <a:rPr lang="en-US" sz="1100" b="0" i="0">
                                    <a:latin typeface="Cambria Math" panose="02040503050406030204" pitchFamily="18" charset="0"/>
                                  </a:rPr>
                                  <m:t>−44.8823</m:t>
                                </m:r>
                              </m:e>
                              <m:e>
                                <m:r>
                                  <a:rPr lang="en-US" sz="1100" b="0" i="0">
                                    <a:latin typeface="Cambria Math" panose="02040503050406030204" pitchFamily="18" charset="0"/>
                                  </a:rPr>
                                  <m:t>−296.1572</m:t>
                                </m:r>
                              </m:e>
                              <m:e>
                                <m:r>
                                  <a:rPr lang="en-US" sz="1100" b="0" i="0">
                                    <a:latin typeface="Cambria Math" panose="02040503050406030204" pitchFamily="18" charset="0"/>
                                  </a:rPr>
                                  <m:t>−238.4907</m:t>
                                </m:r>
                              </m:e>
                              <m:e>
                                <m:r>
                                  <a:rPr lang="en-US" sz="1100" b="0" i="0">
                                    <a:latin typeface="Cambria Math" panose="02040503050406030204" pitchFamily="18" charset="0"/>
                                  </a:rPr>
                                  <m:t>−248.9936</m:t>
                                </m:r>
                              </m:e>
                              <m:e>
                                <m:r>
                                  <a:rPr lang="en-US" sz="1100" b="0" i="0">
                                    <a:latin typeface="Cambria Math" panose="02040503050406030204" pitchFamily="18" charset="0"/>
                                  </a:rPr>
                                  <m:t>−294.5077</m:t>
                                </m:r>
                              </m:e>
                            </m:mr>
                            <m:mr>
                              <m:e>
                                <m:r>
                                  <a:rPr lang="en-US" sz="1100" b="0" i="0">
                                    <a:latin typeface="Cambria Math" panose="02040503050406030204" pitchFamily="18" charset="0"/>
                                  </a:rPr>
                                  <m:t>−52.4055</m:t>
                                </m:r>
                              </m:e>
                              <m:e>
                                <m:r>
                                  <a:rPr lang="en-US" sz="1100" b="0" i="0">
                                    <a:latin typeface="Cambria Math" panose="02040503050406030204" pitchFamily="18" charset="0"/>
                                  </a:rPr>
                                  <m:t>1598.7819</m:t>
                                </m:r>
                              </m:e>
                              <m:e>
                                <m:r>
                                  <a:rPr lang="en-US" sz="1100" b="0" i="0">
                                    <a:latin typeface="Cambria Math" panose="02040503050406030204" pitchFamily="18" charset="0"/>
                                  </a:rPr>
                                  <m:t>−235.7957</m:t>
                                </m:r>
                              </m:e>
                              <m:e>
                                <m:r>
                                  <a:rPr lang="en-US" sz="1100" b="0" i="0">
                                    <a:latin typeface="Cambria Math" panose="02040503050406030204" pitchFamily="18" charset="0"/>
                                  </a:rPr>
                                  <m:t>−507.9923</m:t>
                                </m:r>
                              </m:e>
                              <m:e>
                                <m:r>
                                  <a:rPr lang="en-US" sz="1100" b="0" i="0">
                                    <a:latin typeface="Cambria Math" panose="02040503050406030204" pitchFamily="18" charset="0"/>
                                  </a:rPr>
                                  <m:t>−515.0264</m:t>
                                </m:r>
                              </m:e>
                              <m:e>
                                <m:r>
                                  <a:rPr lang="en-US" sz="1100" b="0" i="0">
                                    <a:latin typeface="Cambria Math" panose="02040503050406030204" pitchFamily="18" charset="0"/>
                                  </a:rPr>
                                  <m:t>−237.7885</m:t>
                                </m:r>
                              </m:e>
                            </m:mr>
                            <m:mr>
                              <m:e>
                                <m:r>
                                  <a:rPr lang="en-US" sz="1100" b="0" i="0">
                                    <a:latin typeface="Cambria Math" panose="02040503050406030204" pitchFamily="18" charset="0"/>
                                  </a:rPr>
                                  <m:t>−294.0025</m:t>
                                </m:r>
                              </m:e>
                              <m:e>
                                <m:r>
                                  <a:rPr lang="en-US" sz="1100" b="0" i="0">
                                    <a:latin typeface="Cambria Math" panose="02040503050406030204" pitchFamily="18" charset="0"/>
                                  </a:rPr>
                                  <m:t>−233.7070</m:t>
                                </m:r>
                              </m:e>
                              <m:e>
                                <m:r>
                                  <a:rPr lang="en-US" sz="1100" b="0" i="0">
                                    <a:latin typeface="Cambria Math" panose="02040503050406030204" pitchFamily="18" charset="0"/>
                                  </a:rPr>
                                  <m:t>1395.0998</m:t>
                                </m:r>
                              </m:e>
                              <m:e>
                                <m:r>
                                  <a:rPr lang="en-US" sz="1100" b="0" i="0">
                                    <a:latin typeface="Cambria Math" panose="02040503050406030204" pitchFamily="18" charset="0"/>
                                  </a:rPr>
                                  <m:t>−46.3229</m:t>
                                </m:r>
                              </m:e>
                              <m:e>
                                <m:r>
                                  <a:rPr lang="en-US" sz="1100" b="0" i="0">
                                    <a:latin typeface="Cambria Math" panose="02040503050406030204" pitchFamily="18" charset="0"/>
                                  </a:rPr>
                                  <m:t>−240.9496</m:t>
                                </m:r>
                              </m:e>
                              <m:e>
                                <m:r>
                                  <a:rPr lang="en-US" sz="1100" b="0" i="0">
                                    <a:latin typeface="Cambria Math" panose="02040503050406030204" pitchFamily="18" charset="0"/>
                                  </a:rPr>
                                  <m:t>−294.4712</m:t>
                                </m:r>
                              </m:e>
                            </m:mr>
                            <m:mr>
                              <m:e>
                                <m:r>
                                  <a:rPr lang="en-US" sz="1100" b="0" i="0">
                                    <a:latin typeface="Cambria Math" panose="02040503050406030204" pitchFamily="18" charset="0"/>
                                  </a:rPr>
                                  <m:t>−235.1370</m:t>
                                </m:r>
                              </m:e>
                              <m:e>
                                <m:r>
                                  <a:rPr lang="en-US" sz="1100" b="0" i="0">
                                    <a:latin typeface="Cambria Math" panose="02040503050406030204" pitchFamily="18" charset="0"/>
                                  </a:rPr>
                                  <m:t>−531.8974</m:t>
                                </m:r>
                              </m:e>
                              <m:e>
                                <m:r>
                                  <a:rPr lang="en-US" sz="1100" b="0" i="0">
                                    <a:latin typeface="Cambria Math" panose="02040503050406030204" pitchFamily="18" charset="0"/>
                                  </a:rPr>
                                  <m:t>−51.5603</m:t>
                                </m:r>
                              </m:e>
                              <m:e>
                                <m:r>
                                  <a:rPr lang="en-US" sz="1100" b="0" i="0">
                                    <a:latin typeface="Cambria Math" panose="02040503050406030204" pitchFamily="18" charset="0"/>
                                  </a:rPr>
                                  <m:t>1584.0452</m:t>
                                </m:r>
                              </m:e>
                              <m:e>
                                <m:r>
                                  <a:rPr lang="en-US" sz="1100" b="0" i="0">
                                    <a:latin typeface="Cambria Math" panose="02040503050406030204" pitchFamily="18" charset="0"/>
                                  </a:rPr>
                                  <m:t>−527.8226</m:t>
                                </m:r>
                              </m:e>
                              <m:e>
                                <m:r>
                                  <a:rPr lang="en-US" sz="1100" b="0" i="0">
                                    <a:latin typeface="Cambria Math" panose="02040503050406030204" pitchFamily="18" charset="0"/>
                                  </a:rPr>
                                  <m:t>−225.8168</m:t>
                                </m:r>
                              </m:e>
                            </m:mr>
                            <m:mr>
                              <m:e>
                                <m:r>
                                  <a:rPr lang="en-US" sz="1100" b="0" i="0">
                                    <a:latin typeface="Cambria Math" panose="02040503050406030204" pitchFamily="18" charset="0"/>
                                  </a:rPr>
                                  <m:t>−241.7433</m:t>
                                </m:r>
                              </m:e>
                              <m:e>
                                <m:r>
                                  <a:rPr lang="en-US" sz="1100" b="0" i="0">
                                    <a:latin typeface="Cambria Math" panose="02040503050406030204" pitchFamily="18" charset="0"/>
                                  </a:rPr>
                                  <m:t>−521.2460</m:t>
                                </m:r>
                              </m:e>
                              <m:e>
                                <m:r>
                                  <a:rPr lang="en-US" sz="1100" b="0" i="0">
                                    <a:latin typeface="Cambria Math" panose="02040503050406030204" pitchFamily="18" charset="0"/>
                                  </a:rPr>
                                  <m:t>−229.5170</m:t>
                                </m:r>
                              </m:e>
                              <m:e>
                                <m:r>
                                  <a:rPr lang="en-US" sz="1100" b="0" i="0">
                                    <a:latin typeface="Cambria Math" panose="02040503050406030204" pitchFamily="18" charset="0"/>
                                  </a:rPr>
                                  <m:t>−520.2282</m:t>
                                </m:r>
                              </m:e>
                              <m:e>
                                <m:r>
                                  <a:rPr lang="en-US" sz="1100" b="0" i="0">
                                    <a:latin typeface="Cambria Math" panose="02040503050406030204" pitchFamily="18" charset="0"/>
                                  </a:rPr>
                                  <m:t>1580.6986</m:t>
                                </m:r>
                              </m:e>
                              <m:e>
                                <m:r>
                                  <a:rPr lang="en-US" sz="1100" b="0" i="0">
                                    <a:latin typeface="Cambria Math" panose="02040503050406030204" pitchFamily="18" charset="0"/>
                                  </a:rPr>
                                  <m:t>−48.3530</m:t>
                                </m:r>
                              </m:e>
                            </m:mr>
                            <m:mr>
                              <m:e>
                                <m:r>
                                  <a:rPr lang="en-US" sz="1100" b="0" i="0">
                                    <a:latin typeface="Cambria Math" panose="02040503050406030204" pitchFamily="18" charset="0"/>
                                  </a:rPr>
                                  <m:t>−287.8722</m:t>
                                </m:r>
                              </m:e>
                              <m:e>
                                <m:r>
                                  <a:rPr lang="en-US" sz="1100" b="0" i="0">
                                    <a:latin typeface="Cambria Math" panose="02040503050406030204" pitchFamily="18" charset="0"/>
                                  </a:rPr>
                                  <m:t>−243.2083</m:t>
                                </m:r>
                              </m:e>
                              <m:e>
                                <m:r>
                                  <a:rPr lang="en-US" sz="1100" b="0" i="0">
                                    <a:latin typeface="Cambria Math" panose="02040503050406030204" pitchFamily="18" charset="0"/>
                                  </a:rPr>
                                  <m:t>−296.8820</m:t>
                                </m:r>
                              </m:e>
                              <m:e>
                                <m:r>
                                  <a:rPr lang="en-US" sz="1100" b="0" i="0">
                                    <a:latin typeface="Cambria Math" panose="02040503050406030204" pitchFamily="18" charset="0"/>
                                  </a:rPr>
                                  <m:t>−235.1671</m:t>
                                </m:r>
                              </m:e>
                              <m:e>
                                <m:r>
                                  <a:rPr lang="en-US" sz="1100" b="0" i="0">
                                    <a:latin typeface="Cambria Math" panose="02040503050406030204" pitchFamily="18" charset="0"/>
                                  </a:rPr>
                                  <m:t>−44.7058</m:t>
                                </m:r>
                              </m:e>
                              <m:e>
                                <m:r>
                                  <a:rPr lang="en-US" sz="1100" b="0" i="0">
                                    <a:latin typeface="Cambria Math" panose="02040503050406030204" pitchFamily="18" charset="0"/>
                                  </a:rPr>
                                  <m:t>1382.8494</m:t>
                                </m:r>
                              </m:e>
                            </m:mr>
                          </m:m>
                        </m:e>
                      </m:d>
                      <m:r>
                        <a:rPr lang="zh-TW" altLang="en-US" sz="1100" i="1">
                          <a:latin typeface="Cambria Math" panose="02040503050406030204" pitchFamily="18" charset="0"/>
                        </a:rPr>
                        <m:t> </m:t>
                      </m:r>
                      <m:r>
                        <a:rPr lang="en-US" altLang="zh-TW" sz="1100" b="0" i="1" smtClean="0">
                          <a:latin typeface="Cambria Math" panose="02040503050406030204" pitchFamily="18" charset="0"/>
                        </a:rPr>
                        <m:t> (</m:t>
                      </m:r>
                      <m:r>
                        <a:rPr lang="en-US" altLang="zh-TW" sz="1100" b="0" i="1" smtClean="0">
                          <a:latin typeface="Cambria Math" panose="02040503050406030204" pitchFamily="18" charset="0"/>
                        </a:rPr>
                        <m:t>𝑚𝑉</m:t>
                      </m:r>
                      <m:r>
                        <a:rPr lang="en-US" altLang="zh-TW" sz="1100" b="0" i="1" smtClean="0">
                          <a:latin typeface="Cambria Math" panose="02040503050406030204" pitchFamily="18" charset="0"/>
                        </a:rPr>
                        <m:t>)</m:t>
                      </m:r>
                    </m:oMath>
                  </m:oMathPara>
                </a14:m>
                <a:endParaRPr lang="en-US" sz="900" dirty="0"/>
              </a:p>
            </p:txBody>
          </p:sp>
        </mc:Choice>
        <mc:Fallback xmlns="">
          <p:sp>
            <p:nvSpPr>
              <p:cNvPr id="950" name="CalibV_Vmat"/>
              <p:cNvSpPr txBox="1">
                <a:spLocks noRot="1" noChangeAspect="1" noMove="1" noResize="1" noEditPoints="1" noAdjustHandles="1" noChangeArrowheads="1" noChangeShapeType="1" noTextEdit="1"/>
              </p:cNvSpPr>
              <p:nvPr/>
            </p:nvSpPr>
            <p:spPr>
              <a:xfrm>
                <a:off x="2957124" y="5292768"/>
                <a:ext cx="6215426" cy="1527623"/>
              </a:xfrm>
              <a:prstGeom prst="rect">
                <a:avLst/>
              </a:prstGeom>
              <a:blipFill>
                <a:blip r:embed="rId2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41DBDD30-8739-417A-9ECC-F38CA06CA214}"/>
                  </a:ext>
                </a:extLst>
              </p:cNvPr>
              <p:cNvSpPr txBox="1"/>
              <p:nvPr/>
            </p:nvSpPr>
            <p:spPr>
              <a:xfrm>
                <a:off x="8551747" y="376422"/>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41DBDD30-8739-417A-9ECC-F38CA06CA214}"/>
                  </a:ext>
                </a:extLst>
              </p:cNvPr>
              <p:cNvSpPr txBox="1">
                <a:spLocks noRot="1" noChangeAspect="1" noMove="1" noResize="1" noEditPoints="1" noAdjustHandles="1" noChangeArrowheads="1" noChangeShapeType="1" noTextEdit="1"/>
              </p:cNvSpPr>
              <p:nvPr/>
            </p:nvSpPr>
            <p:spPr>
              <a:xfrm>
                <a:off x="8551747" y="376422"/>
                <a:ext cx="3688638" cy="321563"/>
              </a:xfrm>
              <a:prstGeom prst="rect">
                <a:avLst/>
              </a:prstGeom>
              <a:blipFill>
                <a:blip r:embed="rId29"/>
                <a:stretch>
                  <a:fillRect t="-15385" r="-3802" b="-25000"/>
                </a:stretch>
              </a:blipFill>
            </p:spPr>
            <p:txBody>
              <a:bodyPr/>
              <a:lstStyle/>
              <a:p>
                <a:r>
                  <a:rPr lang="zh-TW" altLang="en-US">
                    <a:noFill/>
                  </a:rPr>
                  <a:t> </a:t>
                </a:r>
              </a:p>
            </p:txBody>
          </p:sp>
        </mc:Fallback>
      </mc:AlternateContent>
      <p:sp>
        <p:nvSpPr>
          <p:cNvPr id="31" name="文字方塊 30">
            <a:extLst>
              <a:ext uri="{FF2B5EF4-FFF2-40B4-BE49-F238E27FC236}">
                <a16:creationId xmlns:a16="http://schemas.microsoft.com/office/drawing/2014/main" id="{24BF59E0-D28B-4DAD-91DA-4902102B7AE6}"/>
              </a:ext>
            </a:extLst>
          </p:cNvPr>
          <p:cNvSpPr txBox="1"/>
          <p:nvPr/>
        </p:nvSpPr>
        <p:spPr>
          <a:xfrm>
            <a:off x="115648" y="381812"/>
            <a:ext cx="7042090"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Long</a:t>
            </a:r>
            <a:endParaRPr lang="zh-TW" altLang="en-US" dirty="0"/>
          </a:p>
        </p:txBody>
      </p:sp>
    </p:spTree>
    <p:extLst>
      <p:ext uri="{BB962C8B-B14F-4D97-AF65-F5344CB8AC3E}">
        <p14:creationId xmlns:p14="http://schemas.microsoft.com/office/powerpoint/2010/main" val="1367279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127895" y="866752"/>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127895" y="2511839"/>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grpSp>
        <p:nvGrpSpPr>
          <p:cNvPr id="11" name="群組 10">
            <a:extLst>
              <a:ext uri="{FF2B5EF4-FFF2-40B4-BE49-F238E27FC236}">
                <a16:creationId xmlns:a16="http://schemas.microsoft.com/office/drawing/2014/main" id="{F8B1ABB2-778A-49C9-AFA2-90D17FFE48E7}"/>
              </a:ext>
            </a:extLst>
          </p:cNvPr>
          <p:cNvGrpSpPr/>
          <p:nvPr/>
        </p:nvGrpSpPr>
        <p:grpSpPr>
          <a:xfrm>
            <a:off x="-48385" y="914330"/>
            <a:ext cx="3252483" cy="2344135"/>
            <a:chOff x="-34701" y="601115"/>
            <a:chExt cx="3252483" cy="2344135"/>
          </a:xfrm>
        </p:grpSpPr>
        <p:pic>
          <p:nvPicPr>
            <p:cNvPr id="10" name="圖片 9">
              <a:extLst>
                <a:ext uri="{FF2B5EF4-FFF2-40B4-BE49-F238E27FC236}">
                  <a16:creationId xmlns:a16="http://schemas.microsoft.com/office/drawing/2014/main" id="{0E1B2118-8979-445C-AE40-2D7B23093C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306" y="601115"/>
              <a:ext cx="3014476" cy="2058086"/>
            </a:xfrm>
            <a:prstGeom prst="rect">
              <a:avLst/>
            </a:prstGeom>
          </p:spPr>
        </p:pic>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472A2684-72C2-4C5B-8160-BCFB1EA46AC0}"/>
                    </a:ext>
                  </a:extLst>
                </p:cNvPr>
                <p:cNvSpPr txBox="1"/>
                <p:nvPr/>
              </p:nvSpPr>
              <p:spPr>
                <a:xfrm>
                  <a:off x="1045794" y="2669287"/>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6" name="文字方塊 25">
                  <a:extLst>
                    <a:ext uri="{FF2B5EF4-FFF2-40B4-BE49-F238E27FC236}">
                      <a16:creationId xmlns:a16="http://schemas.microsoft.com/office/drawing/2014/main" id="{472A2684-72C2-4C5B-8160-BCFB1EA46AC0}"/>
                    </a:ext>
                  </a:extLst>
                </p:cNvPr>
                <p:cNvSpPr txBox="1">
                  <a:spLocks noRot="1" noChangeAspect="1" noMove="1" noResize="1" noEditPoints="1" noAdjustHandles="1" noChangeArrowheads="1" noChangeShapeType="1" noTextEdit="1"/>
                </p:cNvSpPr>
                <p:nvPr/>
              </p:nvSpPr>
              <p:spPr>
                <a:xfrm>
                  <a:off x="1045794" y="2669287"/>
                  <a:ext cx="1106536" cy="275963"/>
                </a:xfrm>
                <a:prstGeom prst="rect">
                  <a:avLst/>
                </a:prstGeom>
                <a:blipFill>
                  <a:blip r:embed="rId12"/>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D2AA26C0-3566-4313-BBA8-98963FD7E103}"/>
                    </a:ext>
                  </a:extLst>
                </p:cNvPr>
                <p:cNvSpPr txBox="1"/>
                <p:nvPr/>
              </p:nvSpPr>
              <p:spPr>
                <a:xfrm rot="16200000">
                  <a:off x="-630248" y="1277868"/>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7" name="文字方塊 26">
                  <a:extLst>
                    <a:ext uri="{FF2B5EF4-FFF2-40B4-BE49-F238E27FC236}">
                      <a16:creationId xmlns:a16="http://schemas.microsoft.com/office/drawing/2014/main" id="{D2AA26C0-3566-4313-BBA8-98963FD7E103}"/>
                    </a:ext>
                  </a:extLst>
                </p:cNvPr>
                <p:cNvSpPr txBox="1">
                  <a:spLocks noRot="1" noChangeAspect="1" noMove="1" noResize="1" noEditPoints="1" noAdjustHandles="1" noChangeArrowheads="1" noChangeShapeType="1" noTextEdit="1"/>
                </p:cNvSpPr>
                <p:nvPr/>
              </p:nvSpPr>
              <p:spPr>
                <a:xfrm rot="16200000">
                  <a:off x="-630248" y="1277868"/>
                  <a:ext cx="1404535" cy="213442"/>
                </a:xfrm>
                <a:prstGeom prst="rect">
                  <a:avLst/>
                </a:prstGeom>
                <a:blipFill>
                  <a:blip r:embed="rId13"/>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7E2BA711-BDB0-46F6-B316-8F3387FD23F6}"/>
                    </a:ext>
                  </a:extLst>
                </p:cNvPr>
                <p:cNvSpPr txBox="1"/>
                <p:nvPr/>
              </p:nvSpPr>
              <p:spPr>
                <a:xfrm rot="16976090">
                  <a:off x="2108984" y="1768527"/>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0" name="文字方塊 29">
                  <a:extLst>
                    <a:ext uri="{FF2B5EF4-FFF2-40B4-BE49-F238E27FC236}">
                      <a16:creationId xmlns:a16="http://schemas.microsoft.com/office/drawing/2014/main" id="{7E2BA711-BDB0-46F6-B316-8F3387FD23F6}"/>
                    </a:ext>
                  </a:extLst>
                </p:cNvPr>
                <p:cNvSpPr txBox="1">
                  <a:spLocks noRot="1" noChangeAspect="1" noMove="1" noResize="1" noEditPoints="1" noAdjustHandles="1" noChangeArrowheads="1" noChangeShapeType="1" noTextEdit="1"/>
                </p:cNvSpPr>
                <p:nvPr/>
              </p:nvSpPr>
              <p:spPr>
                <a:xfrm rot="16976090">
                  <a:off x="2108984" y="1768527"/>
                  <a:ext cx="843092" cy="246221"/>
                </a:xfrm>
                <a:prstGeom prst="rect">
                  <a:avLst/>
                </a:prstGeom>
                <a:blipFill>
                  <a:blip r:embed="rId14"/>
                  <a:stretch>
                    <a:fillRect b="-6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4D476910-9804-4F30-902D-4DA6EC29C3BD}"/>
                    </a:ext>
                  </a:extLst>
                </p:cNvPr>
                <p:cNvSpPr txBox="1"/>
                <p:nvPr/>
              </p:nvSpPr>
              <p:spPr>
                <a:xfrm rot="678839">
                  <a:off x="1695937" y="1336955"/>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1" name="文字方塊 30">
                  <a:extLst>
                    <a:ext uri="{FF2B5EF4-FFF2-40B4-BE49-F238E27FC236}">
                      <a16:creationId xmlns:a16="http://schemas.microsoft.com/office/drawing/2014/main" id="{4D476910-9804-4F30-902D-4DA6EC29C3BD}"/>
                    </a:ext>
                  </a:extLst>
                </p:cNvPr>
                <p:cNvSpPr txBox="1">
                  <a:spLocks noRot="1" noChangeAspect="1" noMove="1" noResize="1" noEditPoints="1" noAdjustHandles="1" noChangeArrowheads="1" noChangeShapeType="1" noTextEdit="1"/>
                </p:cNvSpPr>
                <p:nvPr/>
              </p:nvSpPr>
              <p:spPr>
                <a:xfrm rot="678839">
                  <a:off x="1695937" y="1336955"/>
                  <a:ext cx="503343" cy="246221"/>
                </a:xfrm>
                <a:prstGeom prst="rect">
                  <a:avLst/>
                </a:prstGeom>
                <a:blipFill>
                  <a:blip r:embed="rId15"/>
                  <a:stretch>
                    <a:fillRect l="-8989" r="-1124"/>
                  </a:stretch>
                </a:blipFill>
              </p:spPr>
              <p:txBody>
                <a:bodyPr/>
                <a:lstStyle/>
                <a:p>
                  <a:r>
                    <a:rPr lang="zh-TW" altLang="en-US">
                      <a:noFill/>
                    </a:rPr>
                    <a:t> </a:t>
                  </a:r>
                </a:p>
              </p:txBody>
            </p:sp>
          </mc:Fallback>
        </mc:AlternateContent>
      </p:grpSp>
      <p:grpSp>
        <p:nvGrpSpPr>
          <p:cNvPr id="12" name="群組 11">
            <a:extLst>
              <a:ext uri="{FF2B5EF4-FFF2-40B4-BE49-F238E27FC236}">
                <a16:creationId xmlns:a16="http://schemas.microsoft.com/office/drawing/2014/main" id="{079819BA-2246-4E2F-8920-F8581BF37279}"/>
              </a:ext>
            </a:extLst>
          </p:cNvPr>
          <p:cNvGrpSpPr/>
          <p:nvPr/>
        </p:nvGrpSpPr>
        <p:grpSpPr>
          <a:xfrm>
            <a:off x="49033" y="3388951"/>
            <a:ext cx="2837834" cy="3392828"/>
            <a:chOff x="62717" y="3075736"/>
            <a:chExt cx="2837834" cy="3392828"/>
          </a:xfrm>
        </p:grpSpPr>
        <p:pic>
          <p:nvPicPr>
            <p:cNvPr id="5" name="圖片 4">
              <a:extLst>
                <a:ext uri="{FF2B5EF4-FFF2-40B4-BE49-F238E27FC236}">
                  <a16:creationId xmlns:a16="http://schemas.microsoft.com/office/drawing/2014/main" id="{0E31BFEE-D2A3-4622-B97C-397DAA2F63A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66740" y="3075736"/>
              <a:ext cx="2533811" cy="3124361"/>
            </a:xfrm>
            <a:prstGeom prst="rect">
              <a:avLst/>
            </a:prstGeom>
          </p:spPr>
        </p:pic>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B1AB3FE2-4E70-4C38-BB01-9CD45BE7A717}"/>
                    </a:ext>
                  </a:extLst>
                </p:cNvPr>
                <p:cNvSpPr txBox="1"/>
                <p:nvPr/>
              </p:nvSpPr>
              <p:spPr>
                <a:xfrm>
                  <a:off x="1045794" y="6192601"/>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8" name="文字方塊 27">
                  <a:extLst>
                    <a:ext uri="{FF2B5EF4-FFF2-40B4-BE49-F238E27FC236}">
                      <a16:creationId xmlns:a16="http://schemas.microsoft.com/office/drawing/2014/main" id="{B1AB3FE2-4E70-4C38-BB01-9CD45BE7A717}"/>
                    </a:ext>
                  </a:extLst>
                </p:cNvPr>
                <p:cNvSpPr txBox="1">
                  <a:spLocks noRot="1" noChangeAspect="1" noMove="1" noResize="1" noEditPoints="1" noAdjustHandles="1" noChangeArrowheads="1" noChangeShapeType="1" noTextEdit="1"/>
                </p:cNvSpPr>
                <p:nvPr/>
              </p:nvSpPr>
              <p:spPr>
                <a:xfrm>
                  <a:off x="1045794" y="6192601"/>
                  <a:ext cx="1106536" cy="275963"/>
                </a:xfrm>
                <a:prstGeom prst="rect">
                  <a:avLst/>
                </a:prstGeom>
                <a:blipFill>
                  <a:blip r:embed="rId17"/>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5F1F8972-9FD8-4880-8DDF-14A9664CB3D6}"/>
                    </a:ext>
                  </a:extLst>
                </p:cNvPr>
                <p:cNvSpPr txBox="1"/>
                <p:nvPr/>
              </p:nvSpPr>
              <p:spPr>
                <a:xfrm rot="16200000">
                  <a:off x="-532830" y="4664423"/>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9" name="文字方塊 28">
                  <a:extLst>
                    <a:ext uri="{FF2B5EF4-FFF2-40B4-BE49-F238E27FC236}">
                      <a16:creationId xmlns:a16="http://schemas.microsoft.com/office/drawing/2014/main" id="{5F1F8972-9FD8-4880-8DDF-14A9664CB3D6}"/>
                    </a:ext>
                  </a:extLst>
                </p:cNvPr>
                <p:cNvSpPr txBox="1">
                  <a:spLocks noRot="1" noChangeAspect="1" noMove="1" noResize="1" noEditPoints="1" noAdjustHandles="1" noChangeArrowheads="1" noChangeShapeType="1" noTextEdit="1"/>
                </p:cNvSpPr>
                <p:nvPr/>
              </p:nvSpPr>
              <p:spPr>
                <a:xfrm rot="16200000">
                  <a:off x="-532830" y="4664423"/>
                  <a:ext cx="1404535" cy="213442"/>
                </a:xfrm>
                <a:prstGeom prst="rect">
                  <a:avLst/>
                </a:prstGeom>
                <a:blipFill>
                  <a:blip r:embed="rId18"/>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00A1019C-F400-46B4-B8F7-E4096A6658C0}"/>
                    </a:ext>
                  </a:extLst>
                </p:cNvPr>
                <p:cNvSpPr txBox="1"/>
                <p:nvPr/>
              </p:nvSpPr>
              <p:spPr>
                <a:xfrm rot="2864554">
                  <a:off x="1435579" y="4378977"/>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2" name="文字方塊 31">
                  <a:extLst>
                    <a:ext uri="{FF2B5EF4-FFF2-40B4-BE49-F238E27FC236}">
                      <a16:creationId xmlns:a16="http://schemas.microsoft.com/office/drawing/2014/main" id="{00A1019C-F400-46B4-B8F7-E4096A6658C0}"/>
                    </a:ext>
                  </a:extLst>
                </p:cNvPr>
                <p:cNvSpPr txBox="1">
                  <a:spLocks noRot="1" noChangeAspect="1" noMove="1" noResize="1" noEditPoints="1" noAdjustHandles="1" noChangeArrowheads="1" noChangeShapeType="1" noTextEdit="1"/>
                </p:cNvSpPr>
                <p:nvPr/>
              </p:nvSpPr>
              <p:spPr>
                <a:xfrm rot="2864554">
                  <a:off x="1435579" y="4378977"/>
                  <a:ext cx="503343" cy="246221"/>
                </a:xfrm>
                <a:prstGeom prst="rect">
                  <a:avLst/>
                </a:prstGeom>
                <a:blipFill>
                  <a:blip r:embed="rId19"/>
                  <a:stretch>
                    <a:fillRect l="-8140" t="-4494" b="-11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033A328B-D4B6-483F-883D-D9A49E44841D}"/>
                    </a:ext>
                  </a:extLst>
                </p:cNvPr>
                <p:cNvSpPr txBox="1"/>
                <p:nvPr/>
              </p:nvSpPr>
              <p:spPr>
                <a:xfrm rot="18991667">
                  <a:off x="875084" y="3618042"/>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3" name="文字方塊 32">
                  <a:extLst>
                    <a:ext uri="{FF2B5EF4-FFF2-40B4-BE49-F238E27FC236}">
                      <a16:creationId xmlns:a16="http://schemas.microsoft.com/office/drawing/2014/main" id="{033A328B-D4B6-483F-883D-D9A49E44841D}"/>
                    </a:ext>
                  </a:extLst>
                </p:cNvPr>
                <p:cNvSpPr txBox="1">
                  <a:spLocks noRot="1" noChangeAspect="1" noMove="1" noResize="1" noEditPoints="1" noAdjustHandles="1" noChangeArrowheads="1" noChangeShapeType="1" noTextEdit="1"/>
                </p:cNvSpPr>
                <p:nvPr/>
              </p:nvSpPr>
              <p:spPr>
                <a:xfrm rot="18991667">
                  <a:off x="875084" y="3618042"/>
                  <a:ext cx="843092" cy="246221"/>
                </a:xfrm>
                <a:prstGeom prst="rect">
                  <a:avLst/>
                </a:prstGeom>
                <a:blipFill>
                  <a:blip r:embed="rId20"/>
                  <a:stretch>
                    <a:fillRect b="-1600"/>
                  </a:stretch>
                </a:blipFill>
              </p:spPr>
              <p:txBody>
                <a:bodyPr/>
                <a:lstStyle/>
                <a:p>
                  <a:r>
                    <a:rPr lang="zh-TW" altLang="en-US">
                      <a:noFill/>
                    </a:rPr>
                    <a:t> </a:t>
                  </a:r>
                </a:p>
              </p:txBody>
            </p:sp>
          </mc:Fallback>
        </mc:AlternateContent>
      </p:grpSp>
      <p:sp>
        <p:nvSpPr>
          <p:cNvPr id="34" name="auto caption"/>
          <p:cNvSpPr txBox="1"/>
          <p:nvPr/>
        </p:nvSpPr>
        <p:spPr>
          <a:xfrm>
            <a:off x="2886867" y="5711378"/>
            <a:ext cx="9353518" cy="1463040"/>
          </a:xfrm>
          <a:prstGeom prst="rect">
            <a:avLst/>
          </a:prstGeom>
          <a:noFill/>
        </p:spPr>
        <p:txBody>
          <a:bodyPr wrap="square" rtlCol="0">
            <a:normAutofit/>
          </a:bodyPr>
          <a:lstStyle/>
          <a:p>
            <a:pPr marL="285750" indent="-285750"/>
            <a:r>
              <a:rPr lang="en-US" altLang="zh-TW" sz="1100" dirty="0"/>
              <a:t>Moving the sensors further out along the pole flank leaves the field model completely untouched: the effective length, the charge-offset matrix and the fit error are identical to the closer mounting — and identical to the current-based results as well, since both reduce to the same transfer matrix. Only the voltage scale changes: further from the tip the leakage field is weaker, so the measured voltages drop and the voltage gain rises to compensate. This is structural rather than coincidental — the field model is fitted from the workspace field alone, and the sensor geometry enters only afterwards, when the excitation is re-expressed in volts. The predictive accuracy of the model is therefore independent of where the sensor is mounted, and the mounting position becomes a free design choice, bounded in practice only by keeping the sensor voltage within its linear range.</a:t>
            </a:r>
          </a:p>
        </p:txBody>
      </p:sp>
      <mc:AlternateContent xmlns:mc="http://schemas.openxmlformats.org/markup-compatibility/2006" xmlns:a14="http://schemas.microsoft.com/office/drawing/2010/main">
        <mc:Choice Requires="a14">
          <p:sp>
            <p:nvSpPr>
              <p:cNvPr id="900" name="CalibV_s_mat"/>
              <p:cNvSpPr txBox="1"/>
              <p:nvPr/>
            </p:nvSpPr>
            <p:spPr>
              <a:xfrm>
                <a:off x="3186716" y="1245903"/>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−0.3799</m:t>
                                </m:r>
                              </m:e>
                              <m:e>
                                <m:r>
                                  <a:rPr lang="en-US" sz="900" b="0" i="0">
                                    <a:latin typeface="Cambria Math" panose="02040503050406030204" pitchFamily="18" charset="0"/>
                                  </a:rPr>
                                  <m:t>−0.2739</m:t>
                                </m:r>
                              </m:e>
                              <m:e>
                                <m:r>
                                  <a:rPr lang="en-US" sz="900" b="0" i="0">
                                    <a:latin typeface="Cambria Math" panose="02040503050406030204" pitchFamily="18" charset="0"/>
                                  </a:rPr>
                                  <m:t>−0.3177</m:t>
                                </m:r>
                              </m:e>
                              <m:e>
                                <m:r>
                                  <a:rPr lang="en-US" sz="900" b="0" i="0">
                                    <a:latin typeface="Cambria Math" panose="02040503050406030204" pitchFamily="18" charset="0"/>
                                  </a:rPr>
                                  <m:t>−0.3330</m:t>
                                </m:r>
                              </m:e>
                              <m:e>
                                <m:r>
                                  <a:rPr lang="en-US" sz="900" b="0" i="0">
                                    <a:latin typeface="Cambria Math" panose="02040503050406030204" pitchFamily="18" charset="0"/>
                                  </a:rPr>
                                  <m:t>−0.2670</m:t>
                                </m:r>
                              </m:e>
                            </m:mr>
                            <m:mr>
                              <m:e>
                                <m:r>
                                  <a:rPr lang="en-US" sz="900" b="0" i="0">
                                    <a:latin typeface="Cambria Math" panose="02040503050406030204" pitchFamily="18" charset="0"/>
                                  </a:rPr>
                                  <m:t>−0.2051</m:t>
                                </m:r>
                              </m:e>
                              <m:e>
                                <m:r>
                                  <a:rPr lang="en-US" sz="900" b="0" i="0">
                                    <a:latin typeface="Cambria Math" panose="02040503050406030204" pitchFamily="18" charset="0"/>
                                  </a:rPr>
                                  <m:t>1.2055</m:t>
                                </m:r>
                              </m:e>
                              <m:e>
                                <m:r>
                                  <a:rPr lang="en-US" sz="900" b="0" i="0">
                                    <a:latin typeface="Cambria Math" panose="02040503050406030204" pitchFamily="18" charset="0"/>
                                  </a:rPr>
                                  <m:t>−0.0861</m:t>
                                </m:r>
                              </m:e>
                              <m:e>
                                <m:r>
                                  <a:rPr lang="en-US" sz="900" b="0" i="0">
                                    <a:latin typeface="Cambria Math" panose="02040503050406030204" pitchFamily="18" charset="0"/>
                                  </a:rPr>
                                  <m:t>0.2062</m:t>
                                </m:r>
                              </m:e>
                              <m:e>
                                <m:r>
                                  <a:rPr lang="en-US" sz="900" b="0" i="0">
                                    <a:latin typeface="Cambria Math" panose="02040503050406030204" pitchFamily="18" charset="0"/>
                                  </a:rPr>
                                  <m:t>0.2116</m:t>
                                </m:r>
                              </m:e>
                              <m:e>
                                <m:r>
                                  <a:rPr lang="en-US" sz="900" b="0" i="0">
                                    <a:latin typeface="Cambria Math" panose="02040503050406030204" pitchFamily="18" charset="0"/>
                                  </a:rPr>
                                  <m:t>−0.0796</m:t>
                                </m:r>
                              </m:e>
                            </m:mr>
                            <m:mr>
                              <m:e>
                                <m:r>
                                  <a:rPr lang="en-US" sz="900" b="0" i="0">
                                    <a:latin typeface="Cambria Math" panose="02040503050406030204" pitchFamily="18" charset="0"/>
                                  </a:rPr>
                                  <m:t>−0.2707</m:t>
                                </m:r>
                              </m:e>
                              <m:e>
                                <m:r>
                                  <a:rPr lang="en-US" sz="900" b="0" i="0">
                                    <a:latin typeface="Cambria Math" panose="02040503050406030204" pitchFamily="18" charset="0"/>
                                  </a:rPr>
                                  <m:t>−0.3315</m:t>
                                </m:r>
                              </m:e>
                              <m:e>
                                <m:r>
                                  <a:rPr lang="en-US" sz="900" b="0" i="0">
                                    <a:latin typeface="Cambria Math" panose="02040503050406030204" pitchFamily="18" charset="0"/>
                                  </a:rPr>
                                  <m:t>0.8164</m:t>
                                </m:r>
                              </m:e>
                              <m:e>
                                <m:r>
                                  <a:rPr lang="en-US" sz="900" b="0" i="0">
                                    <a:latin typeface="Cambria Math" panose="02040503050406030204" pitchFamily="18" charset="0"/>
                                  </a:rPr>
                                  <m:t>−0.3881</m:t>
                                </m:r>
                              </m:e>
                              <m:e>
                                <m:r>
                                  <a:rPr lang="en-US" sz="900" b="0" i="0">
                                    <a:latin typeface="Cambria Math" panose="02040503050406030204" pitchFamily="18" charset="0"/>
                                  </a:rPr>
                                  <m:t>−0.3414</m:t>
                                </m:r>
                              </m:e>
                              <m:e>
                                <m:r>
                                  <a:rPr lang="en-US" sz="900" b="0" i="0">
                                    <a:latin typeface="Cambria Math" panose="02040503050406030204" pitchFamily="18" charset="0"/>
                                  </a:rPr>
                                  <m:t>−0.2777</m:t>
                                </m:r>
                              </m:e>
                            </m:mr>
                            <m:mr>
                              <m:e>
                                <m:r>
                                  <a:rPr lang="en-US" sz="900" b="0" i="0">
                                    <a:latin typeface="Cambria Math" panose="02040503050406030204" pitchFamily="18" charset="0"/>
                                  </a:rPr>
                                  <m:t>−0.0803</m:t>
                                </m:r>
                              </m:e>
                              <m:e>
                                <m:r>
                                  <a:rPr lang="en-US" sz="900" b="0" i="0">
                                    <a:latin typeface="Cambria Math" panose="02040503050406030204" pitchFamily="18" charset="0"/>
                                  </a:rPr>
                                  <m:t>0.2014</m:t>
                                </m:r>
                              </m:e>
                              <m:e>
                                <m:r>
                                  <a:rPr lang="en-US" sz="900" b="0" i="0">
                                    <a:latin typeface="Cambria Math" panose="02040503050406030204" pitchFamily="18" charset="0"/>
                                  </a:rPr>
                                  <m:t>−0.2186</m:t>
                                </m:r>
                              </m:e>
                              <m:e>
                                <m:r>
                                  <a:rPr lang="en-US" sz="900" b="0" i="0">
                                    <a:latin typeface="Cambria Math" panose="02040503050406030204" pitchFamily="18" charset="0"/>
                                  </a:rPr>
                                  <m:t>1.1850</m:t>
                                </m:r>
                              </m:e>
                              <m:e>
                                <m:r>
                                  <a:rPr lang="en-US" sz="900" b="0" i="0">
                                    <a:latin typeface="Cambria Math" panose="02040503050406030204" pitchFamily="18" charset="0"/>
                                  </a:rPr>
                                  <m:t>0.1981</m:t>
                                </m:r>
                              </m:e>
                              <m:e>
                                <m:r>
                                  <a:rPr lang="en-US" sz="900" b="0" i="0">
                                    <a:latin typeface="Cambria Math" panose="02040503050406030204" pitchFamily="18" charset="0"/>
                                  </a:rPr>
                                  <m:t>−0.0806</m:t>
                                </m:r>
                              </m:e>
                            </m:mr>
                            <m:mr>
                              <m:e>
                                <m:r>
                                  <a:rPr lang="en-US" sz="900" b="0" i="0">
                                    <a:latin typeface="Cambria Math" panose="02040503050406030204" pitchFamily="18" charset="0"/>
                                  </a:rPr>
                                  <m:t>−0.0859</m:t>
                                </m:r>
                              </m:e>
                              <m:e>
                                <m:r>
                                  <a:rPr lang="en-US" sz="900" b="0" i="0">
                                    <a:latin typeface="Cambria Math" panose="02040503050406030204" pitchFamily="18" charset="0"/>
                                  </a:rPr>
                                  <m:t>0.1907</m:t>
                                </m:r>
                              </m:e>
                              <m:e>
                                <m:r>
                                  <a:rPr lang="en-US" sz="900" b="0" i="0">
                                    <a:latin typeface="Cambria Math" panose="02040503050406030204" pitchFamily="18" charset="0"/>
                                  </a:rPr>
                                  <m:t>−0.0988</m:t>
                                </m:r>
                              </m:e>
                              <m:e>
                                <m:r>
                                  <a:rPr lang="en-US" sz="900" b="0" i="0">
                                    <a:latin typeface="Cambria Math" panose="02040503050406030204" pitchFamily="18" charset="0"/>
                                  </a:rPr>
                                  <m:t>0.1876</m:t>
                                </m:r>
                              </m:e>
                              <m:e>
                                <m:r>
                                  <a:rPr lang="en-US" sz="900" b="0" i="0">
                                    <a:latin typeface="Cambria Math" panose="02040503050406030204" pitchFamily="18" charset="0"/>
                                  </a:rPr>
                                  <m:t>1.1941</m:t>
                                </m:r>
                              </m:e>
                              <m:e>
                                <m:r>
                                  <a:rPr lang="en-US" sz="900" b="0" i="0">
                                    <a:latin typeface="Cambria Math" panose="02040503050406030204" pitchFamily="18" charset="0"/>
                                  </a:rPr>
                                  <m:t>−0.2218</m:t>
                                </m:r>
                              </m:e>
                            </m:mr>
                            <m:mr>
                              <m:e>
                                <m:r>
                                  <a:rPr lang="en-US" sz="900" b="0" i="0">
                                    <a:latin typeface="Cambria Math" panose="02040503050406030204" pitchFamily="18" charset="0"/>
                                  </a:rPr>
                                  <m:t>−0.2585</m:t>
                                </m:r>
                              </m:e>
                              <m:e>
                                <m:r>
                                  <a:rPr lang="en-US" sz="900" b="0" i="0">
                                    <a:latin typeface="Cambria Math" panose="02040503050406030204" pitchFamily="18" charset="0"/>
                                  </a:rPr>
                                  <m:t>−0.3162</m:t>
                                </m:r>
                              </m:e>
                              <m:e>
                                <m:r>
                                  <a:rPr lang="en-US" sz="900" b="0" i="0">
                                    <a:latin typeface="Cambria Math" panose="02040503050406030204" pitchFamily="18" charset="0"/>
                                  </a:rPr>
                                  <m:t>−0.2651</m:t>
                                </m:r>
                              </m:e>
                              <m:e>
                                <m:r>
                                  <a:rPr lang="en-US" sz="900" b="0" i="0">
                                    <a:latin typeface="Cambria Math" panose="02040503050406030204" pitchFamily="18" charset="0"/>
                                  </a:rPr>
                                  <m:t>−0.3089</m:t>
                                </m:r>
                              </m:e>
                              <m:e>
                                <m:r>
                                  <a:rPr lang="en-US" sz="900" b="0" i="0">
                                    <a:latin typeface="Cambria Math" panose="02040503050406030204" pitchFamily="18" charset="0"/>
                                  </a:rPr>
                                  <m:t>−0.3816</m:t>
                                </m:r>
                              </m:e>
                              <m:e>
                                <m:r>
                                  <a:rPr lang="en-US" sz="900" b="0" i="0">
                                    <a:latin typeface="Cambria Math" panose="02040503050406030204" pitchFamily="18" charset="0"/>
                                  </a:rPr>
                                  <m:t>0.8273</m:t>
                                </m:r>
                              </m:e>
                            </m:mr>
                          </m:m>
                        </m:e>
                      </m:d>
                      <m:r>
                        <a:rPr lang="en-US" sz="900" b="0" i="0">
                          <a:latin typeface="Cambria Math" panose="02040503050406030204" pitchFamily="18" charset="0"/>
                        </a:rPr>
                        <m:t> </m:t>
                      </m:r>
                    </m:oMath>
                  </m:oMathPara>
                </a14:m>
                <a:endParaRPr lang="en-US" sz="900" dirty="0"/>
              </a:p>
            </p:txBody>
          </p:sp>
        </mc:Choice>
        <mc:Fallback xmlns="">
          <p:sp>
            <p:nvSpPr>
              <p:cNvPr id="900" name="CalibV_s_mat"/>
              <p:cNvSpPr txBox="1">
                <a:spLocks noRot="1" noChangeAspect="1" noMove="1" noResize="1" noEditPoints="1" noAdjustHandles="1" noChangeArrowheads="1" noChangeShapeType="1" noTextEdit="1"/>
              </p:cNvSpPr>
              <p:nvPr/>
            </p:nvSpPr>
            <p:spPr>
              <a:xfrm>
                <a:off x="3186716" y="1245903"/>
                <a:ext cx="3793066" cy="868680"/>
              </a:xfrm>
              <a:prstGeom prst="rect">
                <a:avLst/>
              </a:prstGeom>
              <a:blipFill>
                <a:blip r:embed="rId2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1" name="CalibV_s_sc"/>
              <p:cNvSpPr txBox="1"/>
              <p:nvPr/>
            </p:nvSpPr>
            <p:spPr>
              <a:xfrm>
                <a:off x="3407405" y="2182655"/>
                <a:ext cx="3233712"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870.6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6.6137×</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oMath>
                  </m:oMathPara>
                </a14:m>
                <a:endParaRPr lang="en-US" sz="1100" dirty="0"/>
              </a:p>
            </p:txBody>
          </p:sp>
        </mc:Choice>
        <mc:Fallback xmlns="">
          <p:sp>
            <p:nvSpPr>
              <p:cNvPr id="901" name="CalibV_s_sc"/>
              <p:cNvSpPr txBox="1">
                <a:spLocks noRot="1" noChangeAspect="1" noMove="1" noResize="1" noEditPoints="1" noAdjustHandles="1" noChangeArrowheads="1" noChangeShapeType="1" noTextEdit="1"/>
              </p:cNvSpPr>
              <p:nvPr/>
            </p:nvSpPr>
            <p:spPr>
              <a:xfrm>
                <a:off x="3407405" y="2182655"/>
                <a:ext cx="3233712" cy="256032"/>
              </a:xfrm>
              <a:prstGeom prst="rect">
                <a:avLst/>
              </a:prstGeom>
              <a:blipFill>
                <a:blip r:embed="rId22"/>
                <a:stretch>
                  <a:fillRect t="-9524" b="-95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2" name="CalibV_e_mat"/>
              <p:cNvSpPr txBox="1"/>
              <p:nvPr/>
            </p:nvSpPr>
            <p:spPr>
              <a:xfrm>
                <a:off x="3186716" y="2928399"/>
                <a:ext cx="35560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−0.3880</m:t>
                                </m:r>
                              </m:e>
                              <m:e>
                                <m:r>
                                  <a:rPr lang="en-US" sz="900" b="0" i="0">
                                    <a:latin typeface="Cambria Math" panose="02040503050406030204" pitchFamily="18" charset="0"/>
                                  </a:rPr>
                                  <m:t>−0.1645</m:t>
                                </m:r>
                              </m:e>
                              <m:e>
                                <m:r>
                                  <a:rPr lang="en-US" sz="900" b="0" i="0">
                                    <a:latin typeface="Cambria Math" panose="02040503050406030204" pitchFamily="18" charset="0"/>
                                  </a:rPr>
                                  <m:t>−0.3171</m:t>
                                </m:r>
                              </m:e>
                              <m:e>
                                <m:r>
                                  <a:rPr lang="en-US" sz="900" b="0" i="0">
                                    <a:latin typeface="Cambria Math" panose="02040503050406030204" pitchFamily="18" charset="0"/>
                                  </a:rPr>
                                  <m:t>−0.3304</m:t>
                                </m:r>
                              </m:e>
                              <m:e>
                                <m:r>
                                  <a:rPr lang="en-US" sz="900" b="0" i="0">
                                    <a:latin typeface="Cambria Math" panose="02040503050406030204" pitchFamily="18" charset="0"/>
                                  </a:rPr>
                                  <m:t>−0.1609</m:t>
                                </m:r>
                              </m:e>
                            </m:mr>
                            <m:mr>
                              <m:e>
                                <m:r>
                                  <a:rPr lang="en-US" sz="900" b="0" i="0">
                                    <a:latin typeface="Cambria Math" panose="02040503050406030204" pitchFamily="18" charset="0"/>
                                  </a:rPr>
                                  <m:t>−0.0895</m:t>
                                </m:r>
                              </m:e>
                              <m:e>
                                <m:r>
                                  <a:rPr lang="en-US" sz="900" b="0" i="0">
                                    <a:latin typeface="Cambria Math" panose="02040503050406030204" pitchFamily="18" charset="0"/>
                                  </a:rPr>
                                  <m:t>1.0485</m:t>
                                </m:r>
                              </m:e>
                              <m:e>
                                <m:r>
                                  <a:rPr lang="en-US" sz="900" b="0" i="0">
                                    <a:latin typeface="Cambria Math" panose="02040503050406030204" pitchFamily="18" charset="0"/>
                                  </a:rPr>
                                  <m:t>−0.0584</m:t>
                                </m:r>
                              </m:e>
                              <m:e>
                                <m:r>
                                  <a:rPr lang="en-US" sz="900" b="0" i="0">
                                    <a:latin typeface="Cambria Math" panose="02040503050406030204" pitchFamily="18" charset="0"/>
                                  </a:rPr>
                                  <m:t>0.2272</m:t>
                                </m:r>
                              </m:e>
                              <m:e>
                                <m:r>
                                  <a:rPr lang="en-US" sz="900" b="0" i="0">
                                    <a:latin typeface="Cambria Math" panose="02040503050406030204" pitchFamily="18" charset="0"/>
                                  </a:rPr>
                                  <m:t>0.2342</m:t>
                                </m:r>
                              </m:e>
                              <m:e>
                                <m:r>
                                  <a:rPr lang="en-US" sz="900" b="0" i="0">
                                    <a:latin typeface="Cambria Math" panose="02040503050406030204" pitchFamily="18" charset="0"/>
                                  </a:rPr>
                                  <m:t>−0.0556</m:t>
                                </m:r>
                              </m:e>
                            </m:mr>
                            <m:mr>
                              <m:e>
                                <m:r>
                                  <a:rPr lang="en-US" sz="900" b="0" i="0">
                                    <a:latin typeface="Cambria Math" panose="02040503050406030204" pitchFamily="18" charset="0"/>
                                  </a:rPr>
                                  <m:t>−0.1691</m:t>
                                </m:r>
                              </m:e>
                              <m:e>
                                <m:r>
                                  <a:rPr lang="en-US" sz="900" b="0" i="0">
                                    <a:latin typeface="Cambria Math" panose="02040503050406030204" pitchFamily="18" charset="0"/>
                                  </a:rPr>
                                  <m:t>−0.3395</m:t>
                                </m:r>
                              </m:e>
                              <m:e>
                                <m:r>
                                  <a:rPr lang="en-US" sz="900" b="0" i="0">
                                    <a:latin typeface="Cambria Math" panose="02040503050406030204" pitchFamily="18" charset="0"/>
                                  </a:rPr>
                                  <m:t>0.8369</m:t>
                                </m:r>
                              </m:e>
                              <m:e>
                                <m:r>
                                  <a:rPr lang="en-US" sz="900" b="0" i="0">
                                    <a:latin typeface="Cambria Math" panose="02040503050406030204" pitchFamily="18" charset="0"/>
                                  </a:rPr>
                                  <m:t>−0.3959</m:t>
                                </m:r>
                              </m:e>
                              <m:e>
                                <m:r>
                                  <a:rPr lang="en-US" sz="900" b="0" i="0">
                                    <a:latin typeface="Cambria Math" panose="02040503050406030204" pitchFamily="18" charset="0"/>
                                  </a:rPr>
                                  <m:t>−0.3432</m:t>
                                </m:r>
                              </m:e>
                              <m:e>
                                <m:r>
                                  <a:rPr lang="en-US" sz="900" b="0" i="0">
                                    <a:latin typeface="Cambria Math" panose="02040503050406030204" pitchFamily="18" charset="0"/>
                                  </a:rPr>
                                  <m:t>−0.1734</m:t>
                                </m:r>
                              </m:e>
                            </m:mr>
                            <m:mr>
                              <m:e>
                                <m:r>
                                  <a:rPr lang="en-US" sz="900" b="0" i="0">
                                    <a:latin typeface="Cambria Math" panose="02040503050406030204" pitchFamily="18" charset="0"/>
                                  </a:rPr>
                                  <m:t>−0.0583</m:t>
                                </m:r>
                              </m:e>
                              <m:e>
                                <m:r>
                                  <a:rPr lang="en-US" sz="900" b="0" i="0">
                                    <a:latin typeface="Cambria Math" panose="02040503050406030204" pitchFamily="18" charset="0"/>
                                  </a:rPr>
                                  <m:t>0.2220</m:t>
                                </m:r>
                              </m:e>
                              <m:e>
                                <m:r>
                                  <a:rPr lang="en-US" sz="900" b="0" i="0">
                                    <a:latin typeface="Cambria Math" panose="02040503050406030204" pitchFamily="18" charset="0"/>
                                  </a:rPr>
                                  <m:t>−0.0938</m:t>
                                </m:r>
                              </m:e>
                              <m:e>
                                <m:r>
                                  <a:rPr lang="en-US" sz="900" b="0" i="0">
                                    <a:latin typeface="Cambria Math" panose="02040503050406030204" pitchFamily="18" charset="0"/>
                                  </a:rPr>
                                  <m:t>1.0389</m:t>
                                </m:r>
                              </m:e>
                              <m:e>
                                <m:r>
                                  <a:rPr lang="en-US" sz="900" b="0" i="0">
                                    <a:latin typeface="Cambria Math" panose="02040503050406030204" pitchFamily="18" charset="0"/>
                                  </a:rPr>
                                  <m:t>0.2236</m:t>
                                </m:r>
                              </m:e>
                              <m:e>
                                <m:r>
                                  <a:rPr lang="en-US" sz="900" b="0" i="0">
                                    <a:latin typeface="Cambria Math" panose="02040503050406030204" pitchFamily="18" charset="0"/>
                                  </a:rPr>
                                  <m:t>−0.0571</m:t>
                                </m:r>
                              </m:e>
                            </m:mr>
                            <m:mr>
                              <m:e>
                                <m:r>
                                  <a:rPr lang="en-US" sz="900" b="0" i="0">
                                    <a:latin typeface="Cambria Math" panose="02040503050406030204" pitchFamily="18" charset="0"/>
                                  </a:rPr>
                                  <m:t>−0.0651</m:t>
                                </m:r>
                              </m:e>
                              <m:e>
                                <m:r>
                                  <a:rPr lang="en-US" sz="900" b="0" i="0">
                                    <a:latin typeface="Cambria Math" panose="02040503050406030204" pitchFamily="18" charset="0"/>
                                  </a:rPr>
                                  <m:t>0.2181</m:t>
                                </m:r>
                              </m:e>
                              <m:e>
                                <m:r>
                                  <a:rPr lang="en-US" sz="900" b="0" i="0">
                                    <a:latin typeface="Cambria Math" panose="02040503050406030204" pitchFamily="18" charset="0"/>
                                  </a:rPr>
                                  <m:t>−0.0708</m:t>
                                </m:r>
                              </m:e>
                              <m:e>
                                <m:r>
                                  <a:rPr lang="en-US" sz="900" b="0" i="0">
                                    <a:latin typeface="Cambria Math" panose="02040503050406030204" pitchFamily="18" charset="0"/>
                                  </a:rPr>
                                  <m:t>0.2171</m:t>
                                </m:r>
                              </m:e>
                              <m:e>
                                <m:r>
                                  <a:rPr lang="en-US" sz="900" b="0" i="0">
                                    <a:latin typeface="Cambria Math" panose="02040503050406030204" pitchFamily="18" charset="0"/>
                                  </a:rPr>
                                  <m:t>1.0694</m:t>
                                </m:r>
                              </m:e>
                              <m:e>
                                <m:r>
                                  <a:rPr lang="en-US" sz="900" b="0" i="0">
                                    <a:latin typeface="Cambria Math" panose="02040503050406030204" pitchFamily="18" charset="0"/>
                                  </a:rPr>
                                  <m:t>−0.1021</m:t>
                                </m:r>
                              </m:e>
                            </m:mr>
                            <m:mr>
                              <m:e>
                                <m:r>
                                  <a:rPr lang="en-US" sz="900" b="0" i="0">
                                    <a:latin typeface="Cambria Math" panose="02040503050406030204" pitchFamily="18" charset="0"/>
                                  </a:rPr>
                                  <m:t>−0.1574</m:t>
                                </m:r>
                              </m:e>
                              <m:e>
                                <m:r>
                                  <a:rPr lang="en-US" sz="900" b="0" i="0">
                                    <a:latin typeface="Cambria Math" panose="02040503050406030204" pitchFamily="18" charset="0"/>
                                  </a:rPr>
                                  <m:t>−0.3229</m:t>
                                </m:r>
                              </m:e>
                              <m:e>
                                <m:r>
                                  <a:rPr lang="en-US" sz="900" b="0" i="0">
                                    <a:latin typeface="Cambria Math" panose="02040503050406030204" pitchFamily="18" charset="0"/>
                                  </a:rPr>
                                  <m:t>−0.1583</m:t>
                                </m:r>
                              </m:e>
                              <m:e>
                                <m:r>
                                  <a:rPr lang="en-US" sz="900" b="0" i="0">
                                    <a:latin typeface="Cambria Math" panose="02040503050406030204" pitchFamily="18" charset="0"/>
                                  </a:rPr>
                                  <m:t>−0.3115</m:t>
                                </m:r>
                              </m:e>
                              <m:e>
                                <m:r>
                                  <a:rPr lang="en-US" sz="900" b="0" i="0">
                                    <a:latin typeface="Cambria Math" panose="02040503050406030204" pitchFamily="18" charset="0"/>
                                  </a:rPr>
                                  <m:t>−0.3841</m:t>
                                </m:r>
                              </m:e>
                              <m:e>
                                <m:r>
                                  <a:rPr lang="en-US" sz="900" b="0" i="0">
                                    <a:latin typeface="Cambria Math" panose="02040503050406030204" pitchFamily="18" charset="0"/>
                                  </a:rPr>
                                  <m:t>0.8398</m:t>
                                </m:r>
                              </m:e>
                            </m:mr>
                          </m:m>
                        </m:e>
                      </m:d>
                    </m:oMath>
                  </m:oMathPara>
                </a14:m>
                <a:endParaRPr lang="en-US" sz="900" dirty="0"/>
              </a:p>
            </p:txBody>
          </p:sp>
        </mc:Choice>
        <mc:Fallback xmlns="">
          <p:sp>
            <p:nvSpPr>
              <p:cNvPr id="902" name="CalibV_e_mat"/>
              <p:cNvSpPr txBox="1">
                <a:spLocks noRot="1" noChangeAspect="1" noMove="1" noResize="1" noEditPoints="1" noAdjustHandles="1" noChangeArrowheads="1" noChangeShapeType="1" noTextEdit="1"/>
              </p:cNvSpPr>
              <p:nvPr/>
            </p:nvSpPr>
            <p:spPr>
              <a:xfrm>
                <a:off x="3186716" y="2928399"/>
                <a:ext cx="3556000" cy="868680"/>
              </a:xfrm>
              <a:prstGeom prst="rect">
                <a:avLst/>
              </a:prstGeom>
              <a:blipFill>
                <a:blip r:embed="rId2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3" name="CalibV_e_bias"/>
              <p:cNvSpPr txBox="1"/>
              <p:nvPr/>
            </p:nvSpPr>
            <p:spPr>
              <a:xfrm>
                <a:off x="3186716" y="3897663"/>
                <a:ext cx="3632200" cy="45720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900" b="0" i="1" smtClean="0">
                              <a:latin typeface="Cambria Math" panose="02040503050406030204" pitchFamily="18" charset="0"/>
                            </a:rPr>
                          </m:ctrlPr>
                        </m:accPr>
                        <m:e>
                          <m:r>
                            <a:rPr lang="en-US" altLang="zh-TW" sz="900" b="0" i="1" smtClean="0">
                              <a:latin typeface="Cambria Math" panose="02040503050406030204" pitchFamily="18" charset="0"/>
                            </a:rPr>
                            <m:t>𝑒</m:t>
                          </m:r>
                        </m:e>
                      </m:acc>
                      <m:r>
                        <a:rPr lang="en-US" sz="900" b="0" i="0">
                          <a:latin typeface="Cambria Math" panose="02040503050406030204" pitchFamily="18" charset="0"/>
                        </a:rPr>
                        <m:t>=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0.0136</m:t>
                                </m:r>
                              </m:e>
                              <m:e>
                                <m:r>
                                  <a:rPr lang="en-US" sz="900" b="0" i="0">
                                    <a:latin typeface="Cambria Math" panose="02040503050406030204" pitchFamily="18" charset="0"/>
                                  </a:rPr>
                                  <m:t>0.0213</m:t>
                                </m:r>
                              </m:e>
                              <m:e>
                                <m:r>
                                  <a:rPr lang="en-US" sz="900" b="0" i="0">
                                    <a:latin typeface="Cambria Math" panose="02040503050406030204" pitchFamily="18" charset="0"/>
                                  </a:rPr>
                                  <m:t>−0.1165</m:t>
                                </m:r>
                              </m:e>
                              <m:e>
                                <m:r>
                                  <a:rPr lang="en-US" sz="900" b="0" i="0">
                                    <a:latin typeface="Cambria Math" panose="02040503050406030204" pitchFamily="18" charset="0"/>
                                  </a:rPr>
                                  <m:t>0.0005</m:t>
                                </m:r>
                              </m:e>
                              <m:e>
                                <m:r>
                                  <a:rPr lang="en-US" sz="900" b="0" i="0">
                                    <a:latin typeface="Cambria Math" panose="02040503050406030204" pitchFamily="18" charset="0"/>
                                  </a:rPr>
                                  <m:t>−0.0002</m:t>
                                </m:r>
                              </m:e>
                              <m:e>
                                <m:r>
                                  <a:rPr lang="en-US" sz="900" b="0" i="0">
                                    <a:latin typeface="Cambria Math" panose="02040503050406030204" pitchFamily="18" charset="0"/>
                                  </a:rPr>
                                  <m:t>−0.1175</m:t>
                                </m:r>
                              </m:e>
                            </m:mr>
                            <m:mr>
                              <m:e>
                                <m:r>
                                  <a:rPr lang="en-US" sz="900" b="0" i="0">
                                    <a:latin typeface="Cambria Math" panose="02040503050406030204" pitchFamily="18" charset="0"/>
                                  </a:rPr>
                                  <m:t>−0.1142</m:t>
                                </m:r>
                              </m:e>
                              <m:e>
                                <m:r>
                                  <a:rPr lang="en-US" sz="900" b="0" i="0">
                                    <a:latin typeface="Cambria Math" panose="02040503050406030204" pitchFamily="18" charset="0"/>
                                  </a:rPr>
                                  <m:t>0.0019</m:t>
                                </m:r>
                              </m:e>
                              <m:e>
                                <m:r>
                                  <a:rPr lang="en-US" sz="900" b="0" i="0">
                                    <a:latin typeface="Cambria Math" panose="02040503050406030204" pitchFamily="18" charset="0"/>
                                  </a:rPr>
                                  <m:t>0.0199</m:t>
                                </m:r>
                              </m:e>
                              <m:e>
                                <m:r>
                                  <a:rPr lang="en-US" sz="900" b="0" i="0">
                                    <a:latin typeface="Cambria Math" panose="02040503050406030204" pitchFamily="18" charset="0"/>
                                  </a:rPr>
                                  <m:t>0.0187</m:t>
                                </m:r>
                              </m:e>
                              <m:e>
                                <m:r>
                                  <a:rPr lang="en-US" sz="900" b="0" i="0">
                                    <a:latin typeface="Cambria Math" panose="02040503050406030204" pitchFamily="18" charset="0"/>
                                  </a:rPr>
                                  <m:t>0.0002</m:t>
                                </m:r>
                              </m:e>
                              <m:e>
                                <m:r>
                                  <a:rPr lang="en-US" sz="900" b="0" i="0">
                                    <a:latin typeface="Cambria Math" panose="02040503050406030204" pitchFamily="18" charset="0"/>
                                  </a:rPr>
                                  <m:t>−0.1162</m:t>
                                </m:r>
                              </m:e>
                            </m:mr>
                            <m:mr>
                              <m:e>
                                <m:r>
                                  <a:rPr lang="en-US" sz="900" b="0" i="0">
                                    <a:latin typeface="Cambria Math" panose="02040503050406030204" pitchFamily="18" charset="0"/>
                                  </a:rPr>
                                  <m:t>0.1150</m:t>
                                </m:r>
                              </m:e>
                              <m:e>
                                <m:r>
                                  <a:rPr lang="en-US" sz="900" b="0" i="0">
                                    <a:latin typeface="Cambria Math" panose="02040503050406030204" pitchFamily="18" charset="0"/>
                                  </a:rPr>
                                  <m:t>−0.0025</m:t>
                                </m:r>
                              </m:e>
                              <m:e>
                                <m:r>
                                  <a:rPr lang="en-US" sz="900" b="0" i="0">
                                    <a:latin typeface="Cambria Math" panose="02040503050406030204" pitchFamily="18" charset="0"/>
                                  </a:rPr>
                                  <m:t>0.1157</m:t>
                                </m:r>
                              </m:e>
                              <m:e>
                                <m:r>
                                  <a:rPr lang="en-US" sz="900" b="0" i="0">
                                    <a:latin typeface="Cambria Math" panose="02040503050406030204" pitchFamily="18" charset="0"/>
                                  </a:rPr>
                                  <m:t>−0.0012</m:t>
                                </m:r>
                              </m:e>
                              <m:e>
                                <m:r>
                                  <a:rPr lang="en-US" sz="900" b="0" i="0">
                                    <a:latin typeface="Cambria Math" panose="02040503050406030204" pitchFamily="18" charset="0"/>
                                  </a:rPr>
                                  <m:t>−0.0112</m:t>
                                </m:r>
                              </m:e>
                              <m:e>
                                <m:r>
                                  <a:rPr lang="en-US" sz="900" b="0" i="0">
                                    <a:latin typeface="Cambria Math" panose="02040503050406030204" pitchFamily="18" charset="0"/>
                                  </a:rPr>
                                  <m:t>−0.0178</m:t>
                                </m:r>
                              </m:e>
                            </m:mr>
                          </m:m>
                        </m:e>
                      </m:d>
                    </m:oMath>
                  </m:oMathPara>
                </a14:m>
                <a:endParaRPr lang="en-US" sz="900" dirty="0"/>
              </a:p>
            </p:txBody>
          </p:sp>
        </mc:Choice>
        <mc:Fallback xmlns="">
          <p:sp>
            <p:nvSpPr>
              <p:cNvPr id="903" name="CalibV_e_bias"/>
              <p:cNvSpPr txBox="1">
                <a:spLocks noRot="1" noChangeAspect="1" noMove="1" noResize="1" noEditPoints="1" noAdjustHandles="1" noChangeArrowheads="1" noChangeShapeType="1" noTextEdit="1"/>
              </p:cNvSpPr>
              <p:nvPr/>
            </p:nvSpPr>
            <p:spPr>
              <a:xfrm>
                <a:off x="3186716" y="3897663"/>
                <a:ext cx="3632200" cy="457200"/>
              </a:xfrm>
              <a:prstGeom prst="rect">
                <a:avLst/>
              </a:prstGeom>
              <a:blipFill>
                <a:blip r:embed="rId24"/>
                <a:stretch>
                  <a:fillRect t="-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4" name="CalibV_e_sc"/>
              <p:cNvSpPr txBox="1"/>
              <p:nvPr/>
            </p:nvSpPr>
            <p:spPr>
              <a:xfrm>
                <a:off x="3186717" y="4428015"/>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867.2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7.5570×</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r>
                        <a:rPr lang="en-US" sz="1100" b="0" i="0">
                          <a:latin typeface="Cambria Math" panose="02040503050406030204" pitchFamily="18" charset="0"/>
                        </a:rPr>
                        <m:t> </m:t>
                      </m:r>
                    </m:oMath>
                  </m:oMathPara>
                </a14:m>
                <a:endParaRPr lang="en-US" sz="1100" dirty="0"/>
              </a:p>
            </p:txBody>
          </p:sp>
        </mc:Choice>
        <mc:Fallback xmlns="">
          <p:sp>
            <p:nvSpPr>
              <p:cNvPr id="904" name="CalibV_e_sc"/>
              <p:cNvSpPr txBox="1">
                <a:spLocks noRot="1" noChangeAspect="1" noMove="1" noResize="1" noEditPoints="1" noAdjustHandles="1" noChangeArrowheads="1" noChangeShapeType="1" noTextEdit="1"/>
              </p:cNvSpPr>
              <p:nvPr/>
            </p:nvSpPr>
            <p:spPr>
              <a:xfrm>
                <a:off x="3186717" y="4428015"/>
                <a:ext cx="3556000" cy="256032"/>
              </a:xfrm>
              <a:prstGeom prst="rect">
                <a:avLst/>
              </a:prstGeom>
              <a:blipFill>
                <a:blip r:embed="rId25"/>
                <a:stretch>
                  <a:fillRect t="-9524" b="-95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8AC383EA-779C-4C2C-B098-EF723DE49D7C}"/>
                  </a:ext>
                </a:extLst>
              </p:cNvPr>
              <p:cNvSpPr txBox="1"/>
              <p:nvPr/>
            </p:nvSpPr>
            <p:spPr>
              <a:xfrm>
                <a:off x="8551747" y="376422"/>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3" name="文字方塊 22">
                <a:extLst>
                  <a:ext uri="{FF2B5EF4-FFF2-40B4-BE49-F238E27FC236}">
                    <a16:creationId xmlns:a16="http://schemas.microsoft.com/office/drawing/2014/main" id="{8AC383EA-779C-4C2C-B098-EF723DE49D7C}"/>
                  </a:ext>
                </a:extLst>
              </p:cNvPr>
              <p:cNvSpPr txBox="1">
                <a:spLocks noRot="1" noChangeAspect="1" noMove="1" noResize="1" noEditPoints="1" noAdjustHandles="1" noChangeArrowheads="1" noChangeShapeType="1" noTextEdit="1"/>
              </p:cNvSpPr>
              <p:nvPr/>
            </p:nvSpPr>
            <p:spPr>
              <a:xfrm>
                <a:off x="8551747" y="376422"/>
                <a:ext cx="3688638" cy="321563"/>
              </a:xfrm>
              <a:prstGeom prst="rect">
                <a:avLst/>
              </a:prstGeom>
              <a:blipFill>
                <a:blip r:embed="rId26"/>
                <a:stretch>
                  <a:fillRect t="-15385" r="-3802"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0E47CCE1-4504-404E-836B-C65D993B87CC}"/>
                  </a:ext>
                </a:extLst>
              </p:cNvPr>
              <p:cNvSpPr txBox="1"/>
              <p:nvPr/>
            </p:nvSpPr>
            <p:spPr>
              <a:xfrm>
                <a:off x="6742716" y="1145319"/>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%=2.81%</m:t>
                      </m:r>
                    </m:oMath>
                  </m:oMathPara>
                </a14:m>
                <a:endParaRPr lang="zh-TW" altLang="en-US" sz="1400" dirty="0"/>
              </a:p>
            </p:txBody>
          </p:sp>
        </mc:Choice>
        <mc:Fallback xmlns="">
          <p:sp>
            <p:nvSpPr>
              <p:cNvPr id="24" name="文字方塊 23">
                <a:extLst>
                  <a:ext uri="{FF2B5EF4-FFF2-40B4-BE49-F238E27FC236}">
                    <a16:creationId xmlns:a16="http://schemas.microsoft.com/office/drawing/2014/main" id="{0E47CCE1-4504-404E-836B-C65D993B87CC}"/>
                  </a:ext>
                </a:extLst>
              </p:cNvPr>
              <p:cNvSpPr txBox="1">
                <a:spLocks noRot="1" noChangeAspect="1" noMove="1" noResize="1" noEditPoints="1" noAdjustHandles="1" noChangeArrowheads="1" noChangeShapeType="1" noTextEdit="1"/>
              </p:cNvSpPr>
              <p:nvPr/>
            </p:nvSpPr>
            <p:spPr>
              <a:xfrm>
                <a:off x="6742716" y="1145319"/>
                <a:ext cx="4191000" cy="549509"/>
              </a:xfrm>
              <a:prstGeom prst="rect">
                <a:avLst/>
              </a:prstGeom>
              <a:blipFill>
                <a:blip r:embed="rId2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EBA49798-FF6E-40E0-BBA9-161C19277A44}"/>
                  </a:ext>
                </a:extLst>
              </p:cNvPr>
              <p:cNvSpPr txBox="1"/>
              <p:nvPr/>
            </p:nvSpPr>
            <p:spPr>
              <a:xfrm>
                <a:off x="6818916" y="2896394"/>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%=0.35%</m:t>
                      </m:r>
                    </m:oMath>
                  </m:oMathPara>
                </a14:m>
                <a:endParaRPr lang="zh-TW" altLang="en-US" sz="1400" dirty="0"/>
              </a:p>
            </p:txBody>
          </p:sp>
        </mc:Choice>
        <mc:Fallback xmlns="">
          <p:sp>
            <p:nvSpPr>
              <p:cNvPr id="25" name="文字方塊 24">
                <a:extLst>
                  <a:ext uri="{FF2B5EF4-FFF2-40B4-BE49-F238E27FC236}">
                    <a16:creationId xmlns:a16="http://schemas.microsoft.com/office/drawing/2014/main" id="{EBA49798-FF6E-40E0-BBA9-161C19277A44}"/>
                  </a:ext>
                </a:extLst>
              </p:cNvPr>
              <p:cNvSpPr txBox="1">
                <a:spLocks noRot="1" noChangeAspect="1" noMove="1" noResize="1" noEditPoints="1" noAdjustHandles="1" noChangeArrowheads="1" noChangeShapeType="1" noTextEdit="1"/>
              </p:cNvSpPr>
              <p:nvPr/>
            </p:nvSpPr>
            <p:spPr>
              <a:xfrm>
                <a:off x="6818916" y="2896394"/>
                <a:ext cx="4191000" cy="549509"/>
              </a:xfrm>
              <a:prstGeom prst="rect">
                <a:avLst/>
              </a:prstGeom>
              <a:blipFill>
                <a:blip r:embed="rId28"/>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50" name="CalibV_Vmat"/>
              <p:cNvSpPr txBox="1"/>
              <p:nvPr/>
            </p:nvSpPr>
            <p:spPr>
              <a:xfrm>
                <a:off x="3204098" y="4684047"/>
                <a:ext cx="5192875" cy="947907"/>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𝑉</m:t>
                      </m:r>
                      <m:r>
                        <a:rPr lang="en-US" sz="1050" b="0" i="0">
                          <a:latin typeface="Cambria Math" panose="02040503050406030204" pitchFamily="18" charset="0"/>
                        </a:rPr>
                        <m:t> =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1158.8422</m:t>
                                </m:r>
                              </m:e>
                              <m:e>
                                <m:r>
                                  <a:rPr lang="en-US" sz="1050" b="0" i="0">
                                    <a:latin typeface="Cambria Math" panose="02040503050406030204" pitchFamily="18" charset="0"/>
                                  </a:rPr>
                                  <m:t>−23.5073</m:t>
                                </m:r>
                              </m:e>
                              <m:e>
                                <m:r>
                                  <a:rPr lang="en-US" sz="1050" b="0" i="0">
                                    <a:latin typeface="Cambria Math" panose="02040503050406030204" pitchFamily="18" charset="0"/>
                                  </a:rPr>
                                  <m:t>−213.6363</m:t>
                                </m:r>
                              </m:e>
                              <m:e>
                                <m:r>
                                  <a:rPr lang="en-US" sz="1050" b="0" i="0">
                                    <a:latin typeface="Cambria Math" panose="02040503050406030204" pitchFamily="18" charset="0"/>
                                  </a:rPr>
                                  <m:t>−208.6553</m:t>
                                </m:r>
                              </m:e>
                              <m:e>
                                <m:r>
                                  <a:rPr lang="en-US" sz="1050" b="0" i="0">
                                    <a:latin typeface="Cambria Math" panose="02040503050406030204" pitchFamily="18" charset="0"/>
                                  </a:rPr>
                                  <m:t>−201.9790</m:t>
                                </m:r>
                              </m:e>
                              <m:e>
                                <m:r>
                                  <a:rPr lang="en-US" sz="1050" b="0" i="0">
                                    <a:latin typeface="Cambria Math" panose="02040503050406030204" pitchFamily="18" charset="0"/>
                                  </a:rPr>
                                  <m:t>−217.6300</m:t>
                                </m:r>
                              </m:e>
                            </m:mr>
                            <m:mr>
                              <m:e>
                                <m:r>
                                  <a:rPr lang="en-US" sz="1050" b="0" i="0">
                                    <a:latin typeface="Cambria Math" panose="02040503050406030204" pitchFamily="18" charset="0"/>
                                  </a:rPr>
                                  <m:t>−25.8717</m:t>
                                </m:r>
                              </m:e>
                              <m:e>
                                <m:r>
                                  <a:rPr lang="en-US" sz="1050" b="0" i="0">
                                    <a:latin typeface="Cambria Math" panose="02040503050406030204" pitchFamily="18" charset="0"/>
                                  </a:rPr>
                                  <m:t>1269.5482</m:t>
                                </m:r>
                              </m:e>
                              <m:e>
                                <m:r>
                                  <a:rPr lang="en-US" sz="1050" b="0" i="0">
                                    <a:latin typeface="Cambria Math" panose="02040503050406030204" pitchFamily="18" charset="0"/>
                                  </a:rPr>
                                  <m:t>−194.3486</m:t>
                                </m:r>
                              </m:e>
                              <m:e>
                                <m:r>
                                  <a:rPr lang="en-US" sz="1050" b="0" i="0">
                                    <a:latin typeface="Cambria Math" panose="02040503050406030204" pitchFamily="18" charset="0"/>
                                  </a:rPr>
                                  <m:t>−385.8222</m:t>
                                </m:r>
                              </m:e>
                              <m:e>
                                <m:r>
                                  <a:rPr lang="en-US" sz="1050" b="0" i="0">
                                    <a:latin typeface="Cambria Math" panose="02040503050406030204" pitchFamily="18" charset="0"/>
                                  </a:rPr>
                                  <m:t>−394.9106</m:t>
                                </m:r>
                              </m:e>
                              <m:e>
                                <m:r>
                                  <a:rPr lang="en-US" sz="1050" b="0" i="0">
                                    <a:latin typeface="Cambria Math" panose="02040503050406030204" pitchFamily="18" charset="0"/>
                                  </a:rPr>
                                  <m:t>−196.2115</m:t>
                                </m:r>
                              </m:e>
                            </m:mr>
                            <m:mr>
                              <m:e>
                                <m:r>
                                  <a:rPr lang="en-US" sz="1050" b="0" i="0">
                                    <a:latin typeface="Cambria Math" panose="02040503050406030204" pitchFamily="18" charset="0"/>
                                  </a:rPr>
                                  <m:t>−214.4212</m:t>
                                </m:r>
                              </m:e>
                              <m:e>
                                <m:r>
                                  <a:rPr lang="en-US" sz="1050" b="0" i="0">
                                    <a:latin typeface="Cambria Math" panose="02040503050406030204" pitchFamily="18" charset="0"/>
                                  </a:rPr>
                                  <m:t>−207.6976</m:t>
                                </m:r>
                              </m:e>
                              <m:e>
                                <m:r>
                                  <a:rPr lang="en-US" sz="1050" b="0" i="0">
                                    <a:latin typeface="Cambria Math" panose="02040503050406030204" pitchFamily="18" charset="0"/>
                                  </a:rPr>
                                  <m:t>1163.4965</m:t>
                                </m:r>
                              </m:e>
                              <m:e>
                                <m:r>
                                  <a:rPr lang="en-US" sz="1050" b="0" i="0">
                                    <a:latin typeface="Cambria Math" panose="02040503050406030204" pitchFamily="18" charset="0"/>
                                  </a:rPr>
                                  <m:t>−23.2256</m:t>
                                </m:r>
                              </m:e>
                              <m:e>
                                <m:r>
                                  <a:rPr lang="en-US" sz="1050" b="0" i="0">
                                    <a:latin typeface="Cambria Math" panose="02040503050406030204" pitchFamily="18" charset="0"/>
                                  </a:rPr>
                                  <m:t>−202.4599</m:t>
                                </m:r>
                              </m:e>
                              <m:e>
                                <m:r>
                                  <a:rPr lang="en-US" sz="1050" b="0" i="0">
                                    <a:latin typeface="Cambria Math" panose="02040503050406030204" pitchFamily="18" charset="0"/>
                                  </a:rPr>
                                  <m:t>−213.3231</m:t>
                                </m:r>
                              </m:e>
                            </m:mr>
                            <m:mr>
                              <m:e>
                                <m:r>
                                  <a:rPr lang="en-US" sz="1050" b="0" i="0">
                                    <a:latin typeface="Cambria Math" panose="02040503050406030204" pitchFamily="18" charset="0"/>
                                  </a:rPr>
                                  <m:t>−194.6719</m:t>
                                </m:r>
                              </m:e>
                              <m:e>
                                <m:r>
                                  <a:rPr lang="en-US" sz="1050" b="0" i="0">
                                    <a:latin typeface="Cambria Math" panose="02040503050406030204" pitchFamily="18" charset="0"/>
                                  </a:rPr>
                                  <m:t>−391.3692</m:t>
                                </m:r>
                              </m:e>
                              <m:e>
                                <m:r>
                                  <a:rPr lang="en-US" sz="1050" b="0" i="0">
                                    <a:latin typeface="Cambria Math" panose="02040503050406030204" pitchFamily="18" charset="0"/>
                                  </a:rPr>
                                  <m:t>−25.8484</m:t>
                                </m:r>
                              </m:e>
                              <m:e>
                                <m:r>
                                  <a:rPr lang="en-US" sz="1050" b="0" i="0">
                                    <a:latin typeface="Cambria Math" panose="02040503050406030204" pitchFamily="18" charset="0"/>
                                  </a:rPr>
                                  <m:t>1277.5597</m:t>
                                </m:r>
                              </m:e>
                              <m:e>
                                <m:r>
                                  <a:rPr lang="en-US" sz="1050" b="0" i="0">
                                    <a:latin typeface="Cambria Math" panose="02040503050406030204" pitchFamily="18" charset="0"/>
                                  </a:rPr>
                                  <m:t>−387.7583</m:t>
                                </m:r>
                              </m:e>
                              <m:e>
                                <m:r>
                                  <a:rPr lang="en-US" sz="1050" b="0" i="0">
                                    <a:latin typeface="Cambria Math" panose="02040503050406030204" pitchFamily="18" charset="0"/>
                                  </a:rPr>
                                  <m:t>−200.4564</m:t>
                                </m:r>
                              </m:e>
                            </m:mr>
                            <m:mr>
                              <m:e>
                                <m:r>
                                  <a:rPr lang="en-US" sz="1050" b="0" i="0">
                                    <a:latin typeface="Cambria Math" panose="02040503050406030204" pitchFamily="18" charset="0"/>
                                  </a:rPr>
                                  <m:t>−194.2987</m:t>
                                </m:r>
                              </m:e>
                              <m:e>
                                <m:r>
                                  <a:rPr lang="en-US" sz="1050" b="0" i="0">
                                    <a:latin typeface="Cambria Math" panose="02040503050406030204" pitchFamily="18" charset="0"/>
                                  </a:rPr>
                                  <m:t>−382.7499</m:t>
                                </m:r>
                              </m:e>
                              <m:e>
                                <m:r>
                                  <a:rPr lang="en-US" sz="1050" b="0" i="0">
                                    <a:latin typeface="Cambria Math" panose="02040503050406030204" pitchFamily="18" charset="0"/>
                                  </a:rPr>
                                  <m:t>−190.9859</m:t>
                                </m:r>
                              </m:e>
                              <m:e>
                                <m:r>
                                  <a:rPr lang="en-US" sz="1050" b="0" i="0">
                                    <a:latin typeface="Cambria Math" panose="02040503050406030204" pitchFamily="18" charset="0"/>
                                  </a:rPr>
                                  <m:t>−380.5163</m:t>
                                </m:r>
                              </m:e>
                              <m:e>
                                <m:r>
                                  <a:rPr lang="en-US" sz="1050" b="0" i="0">
                                    <a:latin typeface="Cambria Math" panose="02040503050406030204" pitchFamily="18" charset="0"/>
                                  </a:rPr>
                                  <m:t>1258.5714</m:t>
                                </m:r>
                              </m:e>
                              <m:e>
                                <m:r>
                                  <a:rPr lang="en-US" sz="1050" b="0" i="0">
                                    <a:latin typeface="Cambria Math" panose="02040503050406030204" pitchFamily="18" charset="0"/>
                                  </a:rPr>
                                  <m:t>−25.1339</m:t>
                                </m:r>
                              </m:e>
                            </m:mr>
                            <m:mr>
                              <m:e>
                                <m:r>
                                  <a:rPr lang="en-US" sz="1050" b="0" i="0">
                                    <a:latin typeface="Cambria Math" panose="02040503050406030204" pitchFamily="18" charset="0"/>
                                  </a:rPr>
                                  <m:t>−215.1903</m:t>
                                </m:r>
                              </m:e>
                              <m:e>
                                <m:r>
                                  <a:rPr lang="en-US" sz="1050" b="0" i="0">
                                    <a:latin typeface="Cambria Math" panose="02040503050406030204" pitchFamily="18" charset="0"/>
                                  </a:rPr>
                                  <m:t>−205.8141</m:t>
                                </m:r>
                              </m:e>
                              <m:e>
                                <m:r>
                                  <a:rPr lang="en-US" sz="1050" b="0" i="0">
                                    <a:latin typeface="Cambria Math" panose="02040503050406030204" pitchFamily="18" charset="0"/>
                                  </a:rPr>
                                  <m:t>−218.6640</m:t>
                                </m:r>
                              </m:e>
                              <m:e>
                                <m:r>
                                  <a:rPr lang="en-US" sz="1050" b="0" i="0">
                                    <a:latin typeface="Cambria Math" panose="02040503050406030204" pitchFamily="18" charset="0"/>
                                  </a:rPr>
                                  <m:t>−213.0299</m:t>
                                </m:r>
                              </m:e>
                              <m:e>
                                <m:r>
                                  <a:rPr lang="en-US" sz="1050" b="0" i="0">
                                    <a:latin typeface="Cambria Math" panose="02040503050406030204" pitchFamily="18" charset="0"/>
                                  </a:rPr>
                                  <m:t>−23.0738</m:t>
                                </m:r>
                              </m:e>
                              <m:e>
                                <m:r>
                                  <a:rPr lang="en-US" sz="1050" b="0" i="0">
                                    <a:latin typeface="Cambria Math" panose="02040503050406030204" pitchFamily="18" charset="0"/>
                                  </a:rPr>
                                  <m:t>1164.5397</m:t>
                                </m:r>
                              </m:e>
                            </m:mr>
                          </m:m>
                        </m:e>
                      </m:d>
                      <m:r>
                        <a:rPr lang="en-US" sz="1050" b="0" i="0" smtClean="0">
                          <a:latin typeface="Cambria Math" panose="02040503050406030204" pitchFamily="18" charset="0"/>
                        </a:rPr>
                        <m:t>(</m:t>
                      </m:r>
                      <m:r>
                        <m:rPr>
                          <m:sty m:val="p"/>
                        </m:rPr>
                        <a:rPr lang="en-US" sz="1050" b="0" i="0" smtClean="0">
                          <a:latin typeface="Cambria Math" panose="02040503050406030204" pitchFamily="18" charset="0"/>
                        </a:rPr>
                        <m:t>mV</m:t>
                      </m:r>
                      <m:r>
                        <a:rPr lang="en-US" sz="1050" b="0" i="0" smtClean="0">
                          <a:latin typeface="Cambria Math" panose="02040503050406030204" pitchFamily="18" charset="0"/>
                        </a:rPr>
                        <m:t>)</m:t>
                      </m:r>
                    </m:oMath>
                  </m:oMathPara>
                </a14:m>
                <a:endParaRPr lang="en-US" sz="1050" dirty="0"/>
              </a:p>
            </p:txBody>
          </p:sp>
        </mc:Choice>
        <mc:Fallback xmlns="">
          <p:sp>
            <p:nvSpPr>
              <p:cNvPr id="950" name="CalibV_Vmat"/>
              <p:cNvSpPr txBox="1">
                <a:spLocks noRot="1" noChangeAspect="1" noMove="1" noResize="1" noEditPoints="1" noAdjustHandles="1" noChangeArrowheads="1" noChangeShapeType="1" noTextEdit="1"/>
              </p:cNvSpPr>
              <p:nvPr/>
            </p:nvSpPr>
            <p:spPr>
              <a:xfrm>
                <a:off x="3204098" y="4684047"/>
                <a:ext cx="5192875" cy="947907"/>
              </a:xfrm>
              <a:prstGeom prst="rect">
                <a:avLst/>
              </a:prstGeom>
              <a:blipFill>
                <a:blip r:embed="rId29"/>
                <a:stretch>
                  <a:fillRect l="-1293" r="-588"/>
                </a:stretch>
              </a:blipFill>
            </p:spPr>
            <p:txBody>
              <a:bodyPr/>
              <a:lstStyle/>
              <a:p>
                <a:r>
                  <a:rPr lang="zh-TW" altLang="en-US">
                    <a:noFill/>
                  </a:rPr>
                  <a:t> </a:t>
                </a:r>
              </a:p>
            </p:txBody>
          </p:sp>
        </mc:Fallback>
      </mc:AlternateContent>
      <p:sp>
        <p:nvSpPr>
          <p:cNvPr id="35" name="文字方塊 34">
            <a:extLst>
              <a:ext uri="{FF2B5EF4-FFF2-40B4-BE49-F238E27FC236}">
                <a16:creationId xmlns:a16="http://schemas.microsoft.com/office/drawing/2014/main" id="{8E4086C3-AC1E-40E1-9FA6-2AABEBDB7262}"/>
              </a:ext>
            </a:extLst>
          </p:cNvPr>
          <p:cNvSpPr txBox="1"/>
          <p:nvPr/>
        </p:nvSpPr>
        <p:spPr>
          <a:xfrm>
            <a:off x="115648" y="381812"/>
            <a:ext cx="7042090"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Long</a:t>
            </a:r>
            <a:endParaRPr lang="zh-TW" altLang="en-US" dirty="0"/>
          </a:p>
        </p:txBody>
      </p:sp>
    </p:spTree>
    <p:extLst>
      <p:ext uri="{BB962C8B-B14F-4D97-AF65-F5344CB8AC3E}">
        <p14:creationId xmlns:p14="http://schemas.microsoft.com/office/powerpoint/2010/main" val="14870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886200" y="609600"/>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886200" y="2463800"/>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grpSp>
        <p:nvGrpSpPr>
          <p:cNvPr id="6" name="群組 5">
            <a:extLst>
              <a:ext uri="{FF2B5EF4-FFF2-40B4-BE49-F238E27FC236}">
                <a16:creationId xmlns:a16="http://schemas.microsoft.com/office/drawing/2014/main" id="{BB931071-4CD8-492B-A6C4-8AB829E81679}"/>
              </a:ext>
            </a:extLst>
          </p:cNvPr>
          <p:cNvGrpSpPr/>
          <p:nvPr/>
        </p:nvGrpSpPr>
        <p:grpSpPr>
          <a:xfrm>
            <a:off x="215634" y="721409"/>
            <a:ext cx="3456881" cy="2455335"/>
            <a:chOff x="72610" y="815578"/>
            <a:chExt cx="3456881" cy="2455335"/>
          </a:xfrm>
        </p:grpSpPr>
        <p:pic>
          <p:nvPicPr>
            <p:cNvPr id="4" name="圖片 3">
              <a:extLst>
                <a:ext uri="{FF2B5EF4-FFF2-40B4-BE49-F238E27FC236}">
                  <a16:creationId xmlns:a16="http://schemas.microsoft.com/office/drawing/2014/main" id="{9E3BB951-8FB0-4AAF-843C-137421C023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659" y="815578"/>
              <a:ext cx="3170832" cy="2183945"/>
            </a:xfrm>
            <a:prstGeom prst="rect">
              <a:avLst/>
            </a:prstGeom>
          </p:spPr>
        </p:pic>
        <p:grpSp>
          <p:nvGrpSpPr>
            <p:cNvPr id="11" name="群組 10">
              <a:extLst>
                <a:ext uri="{FF2B5EF4-FFF2-40B4-BE49-F238E27FC236}">
                  <a16:creationId xmlns:a16="http://schemas.microsoft.com/office/drawing/2014/main" id="{F8B1ABB2-778A-49C9-AFA2-90D17FFE48E7}"/>
                </a:ext>
              </a:extLst>
            </p:cNvPr>
            <p:cNvGrpSpPr/>
            <p:nvPr/>
          </p:nvGrpSpPr>
          <p:grpSpPr>
            <a:xfrm>
              <a:off x="72610" y="998367"/>
              <a:ext cx="2794563" cy="2272546"/>
              <a:chOff x="86294" y="685152"/>
              <a:chExt cx="2794563" cy="2272546"/>
            </a:xfrm>
          </p:grpSpPr>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472A2684-72C2-4C5B-8160-BCFB1EA46AC0}"/>
                      </a:ext>
                    </a:extLst>
                  </p:cNvPr>
                  <p:cNvSpPr txBox="1"/>
                  <p:nvPr/>
                </p:nvSpPr>
                <p:spPr>
                  <a:xfrm>
                    <a:off x="1430416" y="2681735"/>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6" name="文字方塊 25">
                    <a:extLst>
                      <a:ext uri="{FF2B5EF4-FFF2-40B4-BE49-F238E27FC236}">
                        <a16:creationId xmlns:a16="http://schemas.microsoft.com/office/drawing/2014/main" id="{472A2684-72C2-4C5B-8160-BCFB1EA46AC0}"/>
                      </a:ext>
                    </a:extLst>
                  </p:cNvPr>
                  <p:cNvSpPr txBox="1">
                    <a:spLocks noRot="1" noChangeAspect="1" noMove="1" noResize="1" noEditPoints="1" noAdjustHandles="1" noChangeArrowheads="1" noChangeShapeType="1" noTextEdit="1"/>
                  </p:cNvSpPr>
                  <p:nvPr/>
                </p:nvSpPr>
                <p:spPr>
                  <a:xfrm>
                    <a:off x="1430416" y="2681735"/>
                    <a:ext cx="1106536" cy="275963"/>
                  </a:xfrm>
                  <a:prstGeom prst="rect">
                    <a:avLst/>
                  </a:prstGeom>
                  <a:blipFill>
                    <a:blip r:embed="rId3"/>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D2AA26C0-3566-4313-BBA8-98963FD7E103}"/>
                      </a:ext>
                    </a:extLst>
                  </p:cNvPr>
                  <p:cNvSpPr txBox="1"/>
                  <p:nvPr/>
                </p:nvSpPr>
                <p:spPr>
                  <a:xfrm rot="16200000">
                    <a:off x="-509253" y="1280699"/>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7" name="文字方塊 26">
                    <a:extLst>
                      <a:ext uri="{FF2B5EF4-FFF2-40B4-BE49-F238E27FC236}">
                        <a16:creationId xmlns:a16="http://schemas.microsoft.com/office/drawing/2014/main" id="{D2AA26C0-3566-4313-BBA8-98963FD7E103}"/>
                      </a:ext>
                    </a:extLst>
                  </p:cNvPr>
                  <p:cNvSpPr txBox="1">
                    <a:spLocks noRot="1" noChangeAspect="1" noMove="1" noResize="1" noEditPoints="1" noAdjustHandles="1" noChangeArrowheads="1" noChangeShapeType="1" noTextEdit="1"/>
                  </p:cNvSpPr>
                  <p:nvPr/>
                </p:nvSpPr>
                <p:spPr>
                  <a:xfrm rot="16200000">
                    <a:off x="-509253" y="1280699"/>
                    <a:ext cx="1404535" cy="213442"/>
                  </a:xfrm>
                  <a:prstGeom prst="rect">
                    <a:avLst/>
                  </a:prstGeom>
                  <a:blipFill>
                    <a:blip r:embed="rId4"/>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7E2BA711-BDB0-46F6-B316-8F3387FD23F6}"/>
                      </a:ext>
                    </a:extLst>
                  </p:cNvPr>
                  <p:cNvSpPr txBox="1"/>
                  <p:nvPr/>
                </p:nvSpPr>
                <p:spPr>
                  <a:xfrm rot="16200000">
                    <a:off x="2336201" y="1264309"/>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.588</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0" name="文字方塊 29">
                    <a:extLst>
                      <a:ext uri="{FF2B5EF4-FFF2-40B4-BE49-F238E27FC236}">
                        <a16:creationId xmlns:a16="http://schemas.microsoft.com/office/drawing/2014/main" id="{7E2BA711-BDB0-46F6-B316-8F3387FD23F6}"/>
                      </a:ext>
                    </a:extLst>
                  </p:cNvPr>
                  <p:cNvSpPr txBox="1">
                    <a:spLocks noRot="1" noChangeAspect="1" noMove="1" noResize="1" noEditPoints="1" noAdjustHandles="1" noChangeArrowheads="1" noChangeShapeType="1" noTextEdit="1"/>
                  </p:cNvSpPr>
                  <p:nvPr/>
                </p:nvSpPr>
                <p:spPr>
                  <a:xfrm rot="16200000">
                    <a:off x="2336201" y="1264309"/>
                    <a:ext cx="843092" cy="246221"/>
                  </a:xfrm>
                  <a:prstGeom prst="rect">
                    <a:avLst/>
                  </a:prstGeom>
                  <a:blipFill>
                    <a:blip r:embed="rId5"/>
                    <a:stretch>
                      <a:fillRect t="-4317" r="-4878" b="-719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4D476910-9804-4F30-902D-4DA6EC29C3BD}"/>
                      </a:ext>
                    </a:extLst>
                  </p:cNvPr>
                  <p:cNvSpPr txBox="1"/>
                  <p:nvPr/>
                </p:nvSpPr>
                <p:spPr>
                  <a:xfrm>
                    <a:off x="1732012" y="1969933"/>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1" name="文字方塊 30">
                    <a:extLst>
                      <a:ext uri="{FF2B5EF4-FFF2-40B4-BE49-F238E27FC236}">
                        <a16:creationId xmlns:a16="http://schemas.microsoft.com/office/drawing/2014/main" id="{4D476910-9804-4F30-902D-4DA6EC29C3BD}"/>
                      </a:ext>
                    </a:extLst>
                  </p:cNvPr>
                  <p:cNvSpPr txBox="1">
                    <a:spLocks noRot="1" noChangeAspect="1" noMove="1" noResize="1" noEditPoints="1" noAdjustHandles="1" noChangeArrowheads="1" noChangeShapeType="1" noTextEdit="1"/>
                  </p:cNvSpPr>
                  <p:nvPr/>
                </p:nvSpPr>
                <p:spPr>
                  <a:xfrm>
                    <a:off x="1732012" y="1969933"/>
                    <a:ext cx="503343" cy="246221"/>
                  </a:xfrm>
                  <a:prstGeom prst="rect">
                    <a:avLst/>
                  </a:prstGeom>
                  <a:blipFill>
                    <a:blip r:embed="rId6"/>
                    <a:stretch>
                      <a:fillRect l="-8434" r="-3614" b="-7500"/>
                    </a:stretch>
                  </a:blipFill>
                </p:spPr>
                <p:txBody>
                  <a:bodyPr/>
                  <a:lstStyle/>
                  <a:p>
                    <a:r>
                      <a:rPr lang="zh-TW" altLang="en-US">
                        <a:noFill/>
                      </a:rPr>
                      <a:t> </a:t>
                    </a:r>
                  </a:p>
                </p:txBody>
              </p:sp>
            </mc:Fallback>
          </mc:AlternateContent>
        </p:grpSp>
      </p:grpSp>
      <p:grpSp>
        <p:nvGrpSpPr>
          <p:cNvPr id="14" name="群組 13">
            <a:extLst>
              <a:ext uri="{FF2B5EF4-FFF2-40B4-BE49-F238E27FC236}">
                <a16:creationId xmlns:a16="http://schemas.microsoft.com/office/drawing/2014/main" id="{F3352201-F7DD-435B-B6B5-13B2FF498A8C}"/>
              </a:ext>
            </a:extLst>
          </p:cNvPr>
          <p:cNvGrpSpPr/>
          <p:nvPr/>
        </p:nvGrpSpPr>
        <p:grpSpPr>
          <a:xfrm>
            <a:off x="313179" y="3348934"/>
            <a:ext cx="3436202" cy="2400666"/>
            <a:chOff x="252753" y="3557168"/>
            <a:chExt cx="3436202" cy="2400666"/>
          </a:xfrm>
        </p:grpSpPr>
        <p:pic>
          <p:nvPicPr>
            <p:cNvPr id="13" name="圖片 12">
              <a:extLst>
                <a:ext uri="{FF2B5EF4-FFF2-40B4-BE49-F238E27FC236}">
                  <a16:creationId xmlns:a16="http://schemas.microsoft.com/office/drawing/2014/main" id="{259AF4D5-3FEE-44D1-AC03-CC90A67B71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7090" y="3557168"/>
              <a:ext cx="3151865" cy="2133982"/>
            </a:xfrm>
            <a:prstGeom prst="rect">
              <a:avLst/>
            </a:prstGeom>
          </p:spPr>
        </p:pic>
        <p:grpSp>
          <p:nvGrpSpPr>
            <p:cNvPr id="12" name="群組 11">
              <a:extLst>
                <a:ext uri="{FF2B5EF4-FFF2-40B4-BE49-F238E27FC236}">
                  <a16:creationId xmlns:a16="http://schemas.microsoft.com/office/drawing/2014/main" id="{079819BA-2246-4E2F-8920-F8581BF37279}"/>
                </a:ext>
              </a:extLst>
            </p:cNvPr>
            <p:cNvGrpSpPr/>
            <p:nvPr/>
          </p:nvGrpSpPr>
          <p:grpSpPr>
            <a:xfrm>
              <a:off x="252753" y="3786069"/>
              <a:ext cx="2387614" cy="2171765"/>
              <a:chOff x="266437" y="3472854"/>
              <a:chExt cx="2387614" cy="2171765"/>
            </a:xfrm>
          </p:grpSpPr>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B1AB3FE2-4E70-4C38-BB01-9CD45BE7A717}"/>
                      </a:ext>
                    </a:extLst>
                  </p:cNvPr>
                  <p:cNvSpPr txBox="1"/>
                  <p:nvPr/>
                </p:nvSpPr>
                <p:spPr>
                  <a:xfrm>
                    <a:off x="1547515" y="5368656"/>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8" name="文字方塊 27">
                    <a:extLst>
                      <a:ext uri="{FF2B5EF4-FFF2-40B4-BE49-F238E27FC236}">
                        <a16:creationId xmlns:a16="http://schemas.microsoft.com/office/drawing/2014/main" id="{B1AB3FE2-4E70-4C38-BB01-9CD45BE7A717}"/>
                      </a:ext>
                    </a:extLst>
                  </p:cNvPr>
                  <p:cNvSpPr txBox="1">
                    <a:spLocks noRot="1" noChangeAspect="1" noMove="1" noResize="1" noEditPoints="1" noAdjustHandles="1" noChangeArrowheads="1" noChangeShapeType="1" noTextEdit="1"/>
                  </p:cNvSpPr>
                  <p:nvPr/>
                </p:nvSpPr>
                <p:spPr>
                  <a:xfrm>
                    <a:off x="1547515" y="5368656"/>
                    <a:ext cx="1106536" cy="275963"/>
                  </a:xfrm>
                  <a:prstGeom prst="rect">
                    <a:avLst/>
                  </a:prstGeom>
                  <a:blipFill>
                    <a:blip r:embed="rId8"/>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5F1F8972-9FD8-4880-8DDF-14A9664CB3D6}"/>
                      </a:ext>
                    </a:extLst>
                  </p:cNvPr>
                  <p:cNvSpPr txBox="1"/>
                  <p:nvPr/>
                </p:nvSpPr>
                <p:spPr>
                  <a:xfrm rot="16200000">
                    <a:off x="-329110" y="4126309"/>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9" name="文字方塊 28">
                    <a:extLst>
                      <a:ext uri="{FF2B5EF4-FFF2-40B4-BE49-F238E27FC236}">
                        <a16:creationId xmlns:a16="http://schemas.microsoft.com/office/drawing/2014/main" id="{5F1F8972-9FD8-4880-8DDF-14A9664CB3D6}"/>
                      </a:ext>
                    </a:extLst>
                  </p:cNvPr>
                  <p:cNvSpPr txBox="1">
                    <a:spLocks noRot="1" noChangeAspect="1" noMove="1" noResize="1" noEditPoints="1" noAdjustHandles="1" noChangeArrowheads="1" noChangeShapeType="1" noTextEdit="1"/>
                  </p:cNvSpPr>
                  <p:nvPr/>
                </p:nvSpPr>
                <p:spPr>
                  <a:xfrm rot="16200000">
                    <a:off x="-329110" y="4126309"/>
                    <a:ext cx="1404535" cy="213442"/>
                  </a:xfrm>
                  <a:prstGeom prst="rect">
                    <a:avLst/>
                  </a:prstGeom>
                  <a:blipFill>
                    <a:blip r:embed="rId9"/>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00A1019C-F400-46B4-B8F7-E4096A6658C0}"/>
                      </a:ext>
                    </a:extLst>
                  </p:cNvPr>
                  <p:cNvSpPr txBox="1"/>
                  <p:nvPr/>
                </p:nvSpPr>
                <p:spPr>
                  <a:xfrm>
                    <a:off x="1597440" y="3472854"/>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2" name="文字方塊 31">
                    <a:extLst>
                      <a:ext uri="{FF2B5EF4-FFF2-40B4-BE49-F238E27FC236}">
                        <a16:creationId xmlns:a16="http://schemas.microsoft.com/office/drawing/2014/main" id="{00A1019C-F400-46B4-B8F7-E4096A6658C0}"/>
                      </a:ext>
                    </a:extLst>
                  </p:cNvPr>
                  <p:cNvSpPr txBox="1">
                    <a:spLocks noRot="1" noChangeAspect="1" noMove="1" noResize="1" noEditPoints="1" noAdjustHandles="1" noChangeArrowheads="1" noChangeShapeType="1" noTextEdit="1"/>
                  </p:cNvSpPr>
                  <p:nvPr/>
                </p:nvSpPr>
                <p:spPr>
                  <a:xfrm>
                    <a:off x="1597440" y="3472854"/>
                    <a:ext cx="503343" cy="246221"/>
                  </a:xfrm>
                  <a:prstGeom prst="rect">
                    <a:avLst/>
                  </a:prstGeom>
                  <a:blipFill>
                    <a:blip r:embed="rId10"/>
                    <a:stretch>
                      <a:fillRect l="-9756" r="-3659" b="-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033A328B-D4B6-483F-883D-D9A49E44841D}"/>
                      </a:ext>
                    </a:extLst>
                  </p:cNvPr>
                  <p:cNvSpPr txBox="1"/>
                  <p:nvPr/>
                </p:nvSpPr>
                <p:spPr>
                  <a:xfrm rot="16200000">
                    <a:off x="969899" y="4120741"/>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.588</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3" name="文字方塊 32">
                    <a:extLst>
                      <a:ext uri="{FF2B5EF4-FFF2-40B4-BE49-F238E27FC236}">
                        <a16:creationId xmlns:a16="http://schemas.microsoft.com/office/drawing/2014/main" id="{033A328B-D4B6-483F-883D-D9A49E44841D}"/>
                      </a:ext>
                    </a:extLst>
                  </p:cNvPr>
                  <p:cNvSpPr txBox="1">
                    <a:spLocks noRot="1" noChangeAspect="1" noMove="1" noResize="1" noEditPoints="1" noAdjustHandles="1" noChangeArrowheads="1" noChangeShapeType="1" noTextEdit="1"/>
                  </p:cNvSpPr>
                  <p:nvPr/>
                </p:nvSpPr>
                <p:spPr>
                  <a:xfrm rot="16200000">
                    <a:off x="969899" y="4120741"/>
                    <a:ext cx="843092" cy="246221"/>
                  </a:xfrm>
                  <a:prstGeom prst="rect">
                    <a:avLst/>
                  </a:prstGeom>
                  <a:blipFill>
                    <a:blip r:embed="rId11"/>
                    <a:stretch>
                      <a:fillRect t="-4317" r="-7500" b="-7194"/>
                    </a:stretch>
                  </a:blipFill>
                </p:spPr>
                <p:txBody>
                  <a:bodyPr/>
                  <a:lstStyle/>
                  <a:p>
                    <a:r>
                      <a:rPr lang="zh-TW" altLang="en-US">
                        <a:noFill/>
                      </a:rPr>
                      <a:t> </a:t>
                    </a:r>
                  </a:p>
                </p:txBody>
              </p:sp>
            </mc:Fallback>
          </mc:AlternateContent>
        </p:grpSp>
      </p:grpSp>
      <p:sp>
        <p:nvSpPr>
          <p:cNvPr id="34" name="auto caption"/>
          <p:cNvSpPr txBox="1"/>
          <p:nvPr/>
        </p:nvSpPr>
        <p:spPr>
          <a:xfrm>
            <a:off x="2886867" y="5711378"/>
            <a:ext cx="9353518" cy="1463040"/>
          </a:xfrm>
          <a:prstGeom prst="rect">
            <a:avLst/>
          </a:prstGeom>
          <a:noFill/>
        </p:spPr>
        <p:txBody>
          <a:bodyPr wrap="square" rtlCol="0">
            <a:normAutofit/>
          </a:bodyPr>
          <a:lstStyle/>
          <a:p>
            <a:pPr marL="285750" indent="-285750"/>
            <a:r>
              <a:rPr lang="en-US" altLang="zh-TW" sz="1100" dirty="0"/>
              <a:t>Moving the sensors further out along the pole flank leaves the field model completely untouched: the effective length, the charge-offset matrix and the fit error are identical to the closer mounting — and identical to the current-based results as well, since both reduce to the same transfer matrix. Only the voltage scale changes: further from the tip the leakage field is weaker, so the measured voltages drop and the voltage gain rises to compensate. This is structural rather than coincidental — the field model is fitted from the workspace field alone, and the sensor geometry enters only afterwards, when the excitation is re-expressed in volts. The predictive accuracy of the model is therefore independent of where the sensor is mounted, and the mounting position becomes a free design choice, bounded in practice only by keeping the sensor voltage within its linear range.</a:t>
            </a:r>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8AC383EA-779C-4C2C-B098-EF723DE49D7C}"/>
                  </a:ext>
                </a:extLst>
              </p:cNvPr>
              <p:cNvSpPr txBox="1"/>
              <p:nvPr/>
            </p:nvSpPr>
            <p:spPr>
              <a:xfrm>
                <a:off x="8551747" y="376422"/>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3" name="文字方塊 22">
                <a:extLst>
                  <a:ext uri="{FF2B5EF4-FFF2-40B4-BE49-F238E27FC236}">
                    <a16:creationId xmlns:a16="http://schemas.microsoft.com/office/drawing/2014/main" id="{8AC383EA-779C-4C2C-B098-EF723DE49D7C}"/>
                  </a:ext>
                </a:extLst>
              </p:cNvPr>
              <p:cNvSpPr txBox="1">
                <a:spLocks noRot="1" noChangeAspect="1" noMove="1" noResize="1" noEditPoints="1" noAdjustHandles="1" noChangeArrowheads="1" noChangeShapeType="1" noTextEdit="1"/>
              </p:cNvSpPr>
              <p:nvPr/>
            </p:nvSpPr>
            <p:spPr>
              <a:xfrm>
                <a:off x="8551747" y="376422"/>
                <a:ext cx="3688638" cy="321563"/>
              </a:xfrm>
              <a:prstGeom prst="rect">
                <a:avLst/>
              </a:prstGeom>
              <a:blipFill>
                <a:blip r:embed="rId26"/>
                <a:stretch>
                  <a:fillRect t="-15385" r="-3802" b="-25000"/>
                </a:stretch>
              </a:blipFill>
            </p:spPr>
            <p:txBody>
              <a:bodyPr/>
              <a:lstStyle/>
              <a:p>
                <a:r>
                  <a:rPr lang="zh-TW" altLang="en-US">
                    <a:noFill/>
                  </a:rPr>
                  <a:t> </a:t>
                </a:r>
              </a:p>
            </p:txBody>
          </p:sp>
        </mc:Fallback>
      </mc:AlternateContent>
      <p:sp>
        <p:nvSpPr>
          <p:cNvPr id="35" name="文字方塊 34">
            <a:extLst>
              <a:ext uri="{FF2B5EF4-FFF2-40B4-BE49-F238E27FC236}">
                <a16:creationId xmlns:a16="http://schemas.microsoft.com/office/drawing/2014/main" id="{8E4086C3-AC1E-40E1-9FA6-2AABEBDB7262}"/>
              </a:ext>
            </a:extLst>
          </p:cNvPr>
          <p:cNvSpPr txBox="1"/>
          <p:nvPr/>
        </p:nvSpPr>
        <p:spPr>
          <a:xfrm>
            <a:off x="115648" y="381812"/>
            <a:ext cx="7042090"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Zhi</a:t>
            </a:r>
            <a:r>
              <a:rPr lang="en-US" altLang="zh-TW" dirty="0"/>
              <a:t> </a:t>
            </a:r>
            <a:r>
              <a:rPr lang="en-US" altLang="zh-TW" dirty="0" err="1"/>
              <a:t>peng</a:t>
            </a:r>
            <a:endParaRPr lang="zh-TW" altLang="en-US" dirty="0"/>
          </a:p>
        </p:txBody>
      </p:sp>
      <mc:AlternateContent xmlns:mc="http://schemas.openxmlformats.org/markup-compatibility/2006" xmlns:a14="http://schemas.microsoft.com/office/drawing/2010/main">
        <mc:Choice Requires="a14">
          <p:sp>
            <p:nvSpPr>
              <p:cNvPr id="36" name="ZhiV_s_mat"/>
              <p:cNvSpPr txBox="1"/>
              <p:nvPr/>
            </p:nvSpPr>
            <p:spPr>
              <a:xfrm>
                <a:off x="3810000" y="1041400"/>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−0.1582</m:t>
                                </m:r>
                              </m:e>
                              <m:e>
                                <m:r>
                                  <a:rPr lang="en-US" sz="900" b="0" i="0">
                                    <a:latin typeface="Cambria Math" panose="02040503050406030204" pitchFamily="18" charset="0"/>
                                  </a:rPr>
                                  <m:t>−0.2582</m:t>
                                </m:r>
                              </m:e>
                              <m:e>
                                <m:r>
                                  <a:rPr lang="en-US" sz="900" b="0" i="0">
                                    <a:latin typeface="Cambria Math" panose="02040503050406030204" pitchFamily="18" charset="0"/>
                                  </a:rPr>
                                  <m:t>0.0255</m:t>
                                </m:r>
                              </m:e>
                              <m:e>
                                <m:r>
                                  <a:rPr lang="en-US" sz="900" b="0" i="0">
                                    <a:latin typeface="Cambria Math" panose="02040503050406030204" pitchFamily="18" charset="0"/>
                                  </a:rPr>
                                  <m:t>0.0261</m:t>
                                </m:r>
                              </m:e>
                              <m:e>
                                <m:r>
                                  <a:rPr lang="en-US" sz="900" b="0" i="0">
                                    <a:latin typeface="Cambria Math" panose="02040503050406030204" pitchFamily="18" charset="0"/>
                                  </a:rPr>
                                  <m:t>−0.2560</m:t>
                                </m:r>
                              </m:e>
                            </m:mr>
                            <m:mr>
                              <m:e>
                                <m:r>
                                  <a:rPr lang="en-US" sz="900" b="0" i="0">
                                    <a:latin typeface="Cambria Math" panose="02040503050406030204" pitchFamily="18" charset="0"/>
                                  </a:rPr>
                                  <m:t>−0.1499</m:t>
                                </m:r>
                              </m:e>
                              <m:e>
                                <m:r>
                                  <a:rPr lang="en-US" sz="900" b="0" i="0">
                                    <a:latin typeface="Cambria Math" panose="02040503050406030204" pitchFamily="18" charset="0"/>
                                  </a:rPr>
                                  <m:t>0.8431</m:t>
                                </m:r>
                              </m:e>
                              <m:e>
                                <m:r>
                                  <a:rPr lang="en-US" sz="900" b="0" i="0">
                                    <a:latin typeface="Cambria Math" panose="02040503050406030204" pitchFamily="18" charset="0"/>
                                  </a:rPr>
                                  <m:t>0.0379</m:t>
                                </m:r>
                              </m:e>
                              <m:e>
                                <m:r>
                                  <a:rPr lang="en-US" sz="900" b="0" i="0">
                                    <a:latin typeface="Cambria Math" panose="02040503050406030204" pitchFamily="18" charset="0"/>
                                  </a:rPr>
                                  <m:t>−0.2501</m:t>
                                </m:r>
                              </m:e>
                              <m:e>
                                <m:r>
                                  <a:rPr lang="en-US" sz="900" b="0" i="0">
                                    <a:latin typeface="Cambria Math" panose="02040503050406030204" pitchFamily="18" charset="0"/>
                                  </a:rPr>
                                  <m:t>−0.2509</m:t>
                                </m:r>
                              </m:e>
                              <m:e>
                                <m:r>
                                  <a:rPr lang="en-US" sz="900" b="0" i="0">
                                    <a:latin typeface="Cambria Math" panose="02040503050406030204" pitchFamily="18" charset="0"/>
                                  </a:rPr>
                                  <m:t>0.0403</m:t>
                                </m:r>
                              </m:e>
                            </m:mr>
                            <m:mr>
                              <m:e>
                                <m:r>
                                  <a:rPr lang="en-US" sz="900" b="0" i="0">
                                    <a:latin typeface="Cambria Math" panose="02040503050406030204" pitchFamily="18" charset="0"/>
                                  </a:rPr>
                                  <m:t>−0.2577</m:t>
                                </m:r>
                              </m:e>
                              <m:e>
                                <m:r>
                                  <a:rPr lang="en-US" sz="900" b="0" i="0">
                                    <a:latin typeface="Cambria Math" panose="02040503050406030204" pitchFamily="18" charset="0"/>
                                  </a:rPr>
                                  <m:t>0.0249</m:t>
                                </m:r>
                              </m:e>
                              <m:e>
                                <m:r>
                                  <a:rPr lang="en-US" sz="900" b="0" i="0">
                                    <a:latin typeface="Cambria Math" panose="02040503050406030204" pitchFamily="18" charset="0"/>
                                  </a:rPr>
                                  <m:t>0.8309</m:t>
                                </m:r>
                              </m:e>
                              <m:e>
                                <m:r>
                                  <a:rPr lang="en-US" sz="900" b="0" i="0">
                                    <a:latin typeface="Cambria Math" panose="02040503050406030204" pitchFamily="18" charset="0"/>
                                  </a:rPr>
                                  <m:t>−0.1615</m:t>
                                </m:r>
                              </m:e>
                              <m:e>
                                <m:r>
                                  <a:rPr lang="en-US" sz="900" b="0" i="0">
                                    <a:latin typeface="Cambria Math" panose="02040503050406030204" pitchFamily="18" charset="0"/>
                                  </a:rPr>
                                  <m:t>0.0235</m:t>
                                </m:r>
                              </m:e>
                              <m:e>
                                <m:r>
                                  <a:rPr lang="en-US" sz="900" b="0" i="0">
                                    <a:latin typeface="Cambria Math" panose="02040503050406030204" pitchFamily="18" charset="0"/>
                                  </a:rPr>
                                  <m:t>−0.2590</m:t>
                                </m:r>
                              </m:e>
                            </m:mr>
                            <m:mr>
                              <m:e>
                                <m:r>
                                  <a:rPr lang="en-US" sz="900" b="0" i="0">
                                    <a:latin typeface="Cambria Math" panose="02040503050406030204" pitchFamily="18" charset="0"/>
                                  </a:rPr>
                                  <m:t>0.0407</m:t>
                                </m:r>
                              </m:e>
                              <m:e>
                                <m:r>
                                  <a:rPr lang="en-US" sz="900" b="0" i="0">
                                    <a:latin typeface="Cambria Math" panose="02040503050406030204" pitchFamily="18" charset="0"/>
                                  </a:rPr>
                                  <m:t>−0.2494</m:t>
                                </m:r>
                              </m:e>
                              <m:e>
                                <m:r>
                                  <a:rPr lang="en-US" sz="900" b="0" i="0">
                                    <a:latin typeface="Cambria Math" panose="02040503050406030204" pitchFamily="18" charset="0"/>
                                  </a:rPr>
                                  <m:t>−0.1523</m:t>
                                </m:r>
                              </m:e>
                              <m:e>
                                <m:r>
                                  <a:rPr lang="en-US" sz="900" b="0" i="0">
                                    <a:latin typeface="Cambria Math" panose="02040503050406030204" pitchFamily="18" charset="0"/>
                                  </a:rPr>
                                  <m:t>0.8432</m:t>
                                </m:r>
                              </m:e>
                              <m:e>
                                <m:r>
                                  <a:rPr lang="en-US" sz="900" b="0" i="0">
                                    <a:latin typeface="Cambria Math" panose="02040503050406030204" pitchFamily="18" charset="0"/>
                                  </a:rPr>
                                  <m:t>−0.2503</m:t>
                                </m:r>
                              </m:e>
                              <m:e>
                                <m:r>
                                  <a:rPr lang="en-US" sz="900" b="0" i="0">
                                    <a:latin typeface="Cambria Math" panose="02040503050406030204" pitchFamily="18" charset="0"/>
                                  </a:rPr>
                                  <m:t>0.0395</m:t>
                                </m:r>
                              </m:e>
                            </m:mr>
                            <m:mr>
                              <m:e>
                                <m:r>
                                  <a:rPr lang="en-US" sz="900" b="0" i="0">
                                    <a:latin typeface="Cambria Math" panose="02040503050406030204" pitchFamily="18" charset="0"/>
                                  </a:rPr>
                                  <m:t>0.0396</m:t>
                                </m:r>
                              </m:e>
                              <m:e>
                                <m:r>
                                  <a:rPr lang="en-US" sz="900" b="0" i="0">
                                    <a:latin typeface="Cambria Math" panose="02040503050406030204" pitchFamily="18" charset="0"/>
                                  </a:rPr>
                                  <m:t>−0.2493</m:t>
                                </m:r>
                              </m:e>
                              <m:e>
                                <m:r>
                                  <a:rPr lang="en-US" sz="900" b="0" i="0">
                                    <a:latin typeface="Cambria Math" panose="02040503050406030204" pitchFamily="18" charset="0"/>
                                  </a:rPr>
                                  <m:t>0.0383</m:t>
                                </m:r>
                              </m:e>
                              <m:e>
                                <m:r>
                                  <a:rPr lang="en-US" sz="900" b="0" i="0">
                                    <a:latin typeface="Cambria Math" panose="02040503050406030204" pitchFamily="18" charset="0"/>
                                  </a:rPr>
                                  <m:t>−0.2502</m:t>
                                </m:r>
                              </m:e>
                              <m:e>
                                <m:r>
                                  <a:rPr lang="en-US" sz="900" b="0" i="0">
                                    <a:latin typeface="Cambria Math" panose="02040503050406030204" pitchFamily="18" charset="0"/>
                                  </a:rPr>
                                  <m:t>0.8435</m:t>
                                </m:r>
                              </m:e>
                              <m:e>
                                <m:r>
                                  <a:rPr lang="en-US" sz="900" b="0" i="0">
                                    <a:latin typeface="Cambria Math" panose="02040503050406030204" pitchFamily="18" charset="0"/>
                                  </a:rPr>
                                  <m:t>−0.1504</m:t>
                                </m:r>
                              </m:e>
                            </m:mr>
                            <m:mr>
                              <m:e>
                                <m:r>
                                  <a:rPr lang="en-US" sz="900" b="0" i="0">
                                    <a:latin typeface="Cambria Math" panose="02040503050406030204" pitchFamily="18" charset="0"/>
                                  </a:rPr>
                                  <m:t>−0.2566</m:t>
                                </m:r>
                              </m:e>
                              <m:e>
                                <m:r>
                                  <a:rPr lang="en-US" sz="900" b="0" i="0">
                                    <a:latin typeface="Cambria Math" panose="02040503050406030204" pitchFamily="18" charset="0"/>
                                  </a:rPr>
                                  <m:t>0.0251</m:t>
                                </m:r>
                              </m:e>
                              <m:e>
                                <m:r>
                                  <a:rPr lang="en-US" sz="900" b="0" i="0">
                                    <a:latin typeface="Cambria Math" panose="02040503050406030204" pitchFamily="18" charset="0"/>
                                  </a:rPr>
                                  <m:t>−0.2605</m:t>
                                </m:r>
                              </m:e>
                              <m:e>
                                <m:r>
                                  <a:rPr lang="en-US" sz="900" b="0" i="0">
                                    <a:latin typeface="Cambria Math" panose="02040503050406030204" pitchFamily="18" charset="0"/>
                                  </a:rPr>
                                  <m:t>0.0245</m:t>
                                </m:r>
                              </m:e>
                              <m:e>
                                <m:r>
                                  <a:rPr lang="en-US" sz="900" b="0" i="0">
                                    <a:latin typeface="Cambria Math" panose="02040503050406030204" pitchFamily="18" charset="0"/>
                                  </a:rPr>
                                  <m:t>−0.1614</m:t>
                                </m:r>
                              </m:e>
                              <m:e>
                                <m:r>
                                  <a:rPr lang="en-US" sz="900" b="0" i="0">
                                    <a:latin typeface="Cambria Math" panose="02040503050406030204" pitchFamily="18" charset="0"/>
                                  </a:rPr>
                                  <m:t>0.8317</m:t>
                                </m:r>
                              </m:e>
                            </m:mr>
                          </m:m>
                        </m:e>
                      </m:d>
                      <m:r>
                        <a:rPr lang="en-US" sz="900" b="0" i="0">
                          <a:latin typeface="Cambria Math" panose="02040503050406030204" pitchFamily="18" charset="0"/>
                        </a:rPr>
                        <m:t> </m:t>
                      </m:r>
                    </m:oMath>
                  </m:oMathPara>
                </a14:m>
                <a:endParaRPr lang="en-US" sz="900" dirty="0"/>
              </a:p>
            </p:txBody>
          </p:sp>
        </mc:Choice>
        <mc:Fallback xmlns="">
          <p:sp>
            <p:nvSpPr>
              <p:cNvPr id="36" name="ZhiV_s_mat"/>
              <p:cNvSpPr txBox="1">
                <a:spLocks noRot="1" noChangeAspect="1" noMove="1" noResize="1" noEditPoints="1" noAdjustHandles="1" noChangeArrowheads="1" noChangeShapeType="1" noTextEdit="1"/>
              </p:cNvSpPr>
              <p:nvPr/>
            </p:nvSpPr>
            <p:spPr>
              <a:xfrm>
                <a:off x="3810000" y="1041400"/>
                <a:ext cx="3793066" cy="868680"/>
              </a:xfrm>
              <a:prstGeom prst="rect">
                <a:avLst/>
              </a:prstGeom>
              <a:blipFill>
                <a:blip r:embed="rId2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ZhiV_s_sc"/>
              <p:cNvSpPr txBox="1"/>
              <p:nvPr/>
            </p:nvSpPr>
            <p:spPr>
              <a:xfrm>
                <a:off x="3886200" y="2077245"/>
                <a:ext cx="3233712"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744.5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8.0294×</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oMath>
                  </m:oMathPara>
                </a14:m>
                <a:endParaRPr lang="en-US" sz="1100" dirty="0"/>
              </a:p>
            </p:txBody>
          </p:sp>
        </mc:Choice>
        <mc:Fallback xmlns="">
          <p:sp>
            <p:nvSpPr>
              <p:cNvPr id="37" name="ZhiV_s_sc"/>
              <p:cNvSpPr txBox="1">
                <a:spLocks noRot="1" noChangeAspect="1" noMove="1" noResize="1" noEditPoints="1" noAdjustHandles="1" noChangeArrowheads="1" noChangeShapeType="1" noTextEdit="1"/>
              </p:cNvSpPr>
              <p:nvPr/>
            </p:nvSpPr>
            <p:spPr>
              <a:xfrm>
                <a:off x="3886200" y="2077245"/>
                <a:ext cx="3233712" cy="256032"/>
              </a:xfrm>
              <a:prstGeom prst="rect">
                <a:avLst/>
              </a:prstGeom>
              <a:blipFill>
                <a:blip r:embed="rId28"/>
                <a:stretch>
                  <a:fillRect t="-11905" b="-71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ZhiV_s_nmae">
                <a:extLst>
                  <a:ext uri="{FF2B5EF4-FFF2-40B4-BE49-F238E27FC236}">
                    <a16:creationId xmlns:a16="http://schemas.microsoft.com/office/drawing/2014/main" id="{0E47CCE1-4504-404E-836B-C65D993B87CC}"/>
                  </a:ext>
                </a:extLst>
              </p:cNvPr>
              <p:cNvSpPr txBox="1"/>
              <p:nvPr/>
            </p:nvSpPr>
            <p:spPr>
              <a:xfrm>
                <a:off x="7874000" y="889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%=10.53%</m:t>
                      </m:r>
                    </m:oMath>
                  </m:oMathPara>
                </a14:m>
                <a:endParaRPr lang="zh-TW" altLang="en-US" sz="1400" dirty="0"/>
              </a:p>
            </p:txBody>
          </p:sp>
        </mc:Choice>
        <mc:Fallback xmlns="">
          <p:sp>
            <p:nvSpPr>
              <p:cNvPr id="38" name="ZhiV_s_nmae">
                <a:extLst>
                  <a:ext uri="{FF2B5EF4-FFF2-40B4-BE49-F238E27FC236}">
                    <a16:creationId xmlns:a16="http://schemas.microsoft.com/office/drawing/2014/main" id="{0E47CCE1-4504-404E-836B-C65D993B87CC}"/>
                  </a:ext>
                </a:extLst>
              </p:cNvPr>
              <p:cNvSpPr txBox="1">
                <a:spLocks noRot="1" noChangeAspect="1" noMove="1" noResize="1" noEditPoints="1" noAdjustHandles="1" noChangeArrowheads="1" noChangeShapeType="1" noTextEdit="1"/>
              </p:cNvSpPr>
              <p:nvPr/>
            </p:nvSpPr>
            <p:spPr>
              <a:xfrm>
                <a:off x="7874000" y="889000"/>
                <a:ext cx="4191000" cy="549509"/>
              </a:xfrm>
              <a:prstGeom prst="rect">
                <a:avLst/>
              </a:prstGeom>
              <a:blipFill>
                <a:blip r:embed="rId2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ZhiV_e_mat"/>
              <p:cNvSpPr txBox="1"/>
              <p:nvPr/>
            </p:nvSpPr>
            <p:spPr>
              <a:xfrm>
                <a:off x="3810000" y="2895600"/>
                <a:ext cx="35560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−0.1783</m:t>
                                </m:r>
                              </m:e>
                              <m:e>
                                <m:r>
                                  <a:rPr lang="en-US" sz="900" b="0" i="0">
                                    <a:latin typeface="Cambria Math" panose="02040503050406030204" pitchFamily="18" charset="0"/>
                                  </a:rPr>
                                  <m:t>−0.1746</m:t>
                                </m:r>
                              </m:e>
                              <m:e>
                                <m:r>
                                  <a:rPr lang="en-US" sz="900" b="0" i="0">
                                    <a:latin typeface="Cambria Math" panose="02040503050406030204" pitchFamily="18" charset="0"/>
                                  </a:rPr>
                                  <m:t>−0.0627</m:t>
                                </m:r>
                              </m:e>
                              <m:e>
                                <m:r>
                                  <a:rPr lang="en-US" sz="900" b="0" i="0">
                                    <a:latin typeface="Cambria Math" panose="02040503050406030204" pitchFamily="18" charset="0"/>
                                  </a:rPr>
                                  <m:t>−0.0627</m:t>
                                </m:r>
                              </m:e>
                              <m:e>
                                <m:r>
                                  <a:rPr lang="en-US" sz="900" b="0" i="0">
                                    <a:latin typeface="Cambria Math" panose="02040503050406030204" pitchFamily="18" charset="0"/>
                                  </a:rPr>
                                  <m:t>−0.1743</m:t>
                                </m:r>
                              </m:e>
                            </m:mr>
                            <m:mr>
                              <m:e>
                                <m:r>
                                  <a:rPr lang="en-US" sz="900" b="0" i="0">
                                    <a:latin typeface="Cambria Math" panose="02040503050406030204" pitchFamily="18" charset="0"/>
                                  </a:rPr>
                                  <m:t>−0.1608</m:t>
                                </m:r>
                              </m:e>
                              <m:e>
                                <m:r>
                                  <a:rPr lang="en-US" sz="900" b="0" i="0">
                                    <a:latin typeface="Cambria Math" panose="02040503050406030204" pitchFamily="18" charset="0"/>
                                  </a:rPr>
                                  <m:t>0.8553</m:t>
                                </m:r>
                              </m:e>
                              <m:e>
                                <m:r>
                                  <a:rPr lang="en-US" sz="900" b="0" i="0">
                                    <a:latin typeface="Cambria Math" panose="02040503050406030204" pitchFamily="18" charset="0"/>
                                  </a:rPr>
                                  <m:t>−0.0403</m:t>
                                </m:r>
                              </m:e>
                              <m:e>
                                <m:r>
                                  <a:rPr lang="en-US" sz="900" b="0" i="0">
                                    <a:latin typeface="Cambria Math" panose="02040503050406030204" pitchFamily="18" charset="0"/>
                                  </a:rPr>
                                  <m:t>−0.1553</m:t>
                                </m:r>
                              </m:e>
                              <m:e>
                                <m:r>
                                  <a:rPr lang="en-US" sz="900" b="0" i="0">
                                    <a:latin typeface="Cambria Math" panose="02040503050406030204" pitchFamily="18" charset="0"/>
                                  </a:rPr>
                                  <m:t>−0.1557</m:t>
                                </m:r>
                              </m:e>
                              <m:e>
                                <m:r>
                                  <a:rPr lang="en-US" sz="900" b="0" i="0">
                                    <a:latin typeface="Cambria Math" panose="02040503050406030204" pitchFamily="18" charset="0"/>
                                  </a:rPr>
                                  <m:t>−0.0386</m:t>
                                </m:r>
                              </m:e>
                            </m:mr>
                            <m:mr>
                              <m:e>
                                <m:r>
                                  <a:rPr lang="en-US" sz="900" b="0" i="0">
                                    <a:latin typeface="Cambria Math" panose="02040503050406030204" pitchFamily="18" charset="0"/>
                                  </a:rPr>
                                  <m:t>−0.1770</m:t>
                                </m:r>
                              </m:e>
                              <m:e>
                                <m:r>
                                  <a:rPr lang="en-US" sz="900" b="0" i="0">
                                    <a:latin typeface="Cambria Math" panose="02040503050406030204" pitchFamily="18" charset="0"/>
                                  </a:rPr>
                                  <m:t>−0.0639</m:t>
                                </m:r>
                              </m:e>
                              <m:e>
                                <m:r>
                                  <a:rPr lang="en-US" sz="900" b="0" i="0">
                                    <a:latin typeface="Cambria Math" panose="02040503050406030204" pitchFamily="18" charset="0"/>
                                  </a:rPr>
                                  <m:t>0.8376</m:t>
                                </m:r>
                              </m:e>
                              <m:e>
                                <m:r>
                                  <a:rPr lang="en-US" sz="900" b="0" i="0">
                                    <a:latin typeface="Cambria Math" panose="02040503050406030204" pitchFamily="18" charset="0"/>
                                  </a:rPr>
                                  <m:t>−0.1817</m:t>
                                </m:r>
                              </m:e>
                              <m:e>
                                <m:r>
                                  <a:rPr lang="en-US" sz="900" b="0" i="0">
                                    <a:latin typeface="Cambria Math" panose="02040503050406030204" pitchFamily="18" charset="0"/>
                                  </a:rPr>
                                  <m:t>−0.0660</m:t>
                                </m:r>
                              </m:e>
                              <m:e>
                                <m:r>
                                  <a:rPr lang="en-US" sz="900" b="0" i="0">
                                    <a:latin typeface="Cambria Math" panose="02040503050406030204" pitchFamily="18" charset="0"/>
                                  </a:rPr>
                                  <m:t>−0.1781</m:t>
                                </m:r>
                              </m:e>
                            </m:mr>
                            <m:mr>
                              <m:e>
                                <m:r>
                                  <a:rPr lang="en-US" sz="900" b="0" i="0">
                                    <a:latin typeface="Cambria Math" panose="02040503050406030204" pitchFamily="18" charset="0"/>
                                  </a:rPr>
                                  <m:t>−0.0393</m:t>
                                </m:r>
                              </m:e>
                              <m:e>
                                <m:r>
                                  <a:rPr lang="en-US" sz="900" b="0" i="0">
                                    <a:latin typeface="Cambria Math" panose="02040503050406030204" pitchFamily="18" charset="0"/>
                                  </a:rPr>
                                  <m:t>−0.1562</m:t>
                                </m:r>
                              </m:e>
                              <m:e>
                                <m:r>
                                  <a:rPr lang="en-US" sz="900" b="0" i="0">
                                    <a:latin typeface="Cambria Math" panose="02040503050406030204" pitchFamily="18" charset="0"/>
                                  </a:rPr>
                                  <m:t>−0.1611</m:t>
                                </m:r>
                              </m:e>
                              <m:e>
                                <m:r>
                                  <a:rPr lang="en-US" sz="900" b="0" i="0">
                                    <a:latin typeface="Cambria Math" panose="02040503050406030204" pitchFamily="18" charset="0"/>
                                  </a:rPr>
                                  <m:t>0.8583</m:t>
                                </m:r>
                              </m:e>
                              <m:e>
                                <m:r>
                                  <a:rPr lang="en-US" sz="900" b="0" i="0">
                                    <a:latin typeface="Cambria Math" panose="02040503050406030204" pitchFamily="18" charset="0"/>
                                  </a:rPr>
                                  <m:t>−0.1558</m:t>
                                </m:r>
                              </m:e>
                              <m:e>
                                <m:r>
                                  <a:rPr lang="en-US" sz="900" b="0" i="0">
                                    <a:latin typeface="Cambria Math" panose="02040503050406030204" pitchFamily="18" charset="0"/>
                                  </a:rPr>
                                  <m:t>−0.0398</m:t>
                                </m:r>
                              </m:e>
                            </m:mr>
                            <m:mr>
                              <m:e>
                                <m:r>
                                  <a:rPr lang="en-US" sz="900" b="0" i="0">
                                    <a:latin typeface="Cambria Math" panose="02040503050406030204" pitchFamily="18" charset="0"/>
                                  </a:rPr>
                                  <m:t>−0.0403</m:t>
                                </m:r>
                              </m:e>
                              <m:e>
                                <m:r>
                                  <a:rPr lang="en-US" sz="900" b="0" i="0">
                                    <a:latin typeface="Cambria Math" panose="02040503050406030204" pitchFamily="18" charset="0"/>
                                  </a:rPr>
                                  <m:t>−0.1564</m:t>
                                </m:r>
                              </m:e>
                              <m:e>
                                <m:r>
                                  <a:rPr lang="en-US" sz="900" b="0" i="0">
                                    <a:latin typeface="Cambria Math" panose="02040503050406030204" pitchFamily="18" charset="0"/>
                                  </a:rPr>
                                  <m:t>−0.0402</m:t>
                                </m:r>
                              </m:e>
                              <m:e>
                                <m:r>
                                  <a:rPr lang="en-US" sz="900" b="0" i="0">
                                    <a:latin typeface="Cambria Math" panose="02040503050406030204" pitchFamily="18" charset="0"/>
                                  </a:rPr>
                                  <m:t>−0.1564</m:t>
                                </m:r>
                              </m:e>
                              <m:e>
                                <m:r>
                                  <a:rPr lang="en-US" sz="900" b="0" i="0">
                                    <a:latin typeface="Cambria Math" panose="02040503050406030204" pitchFamily="18" charset="0"/>
                                  </a:rPr>
                                  <m:t>0.8619</m:t>
                                </m:r>
                              </m:e>
                              <m:e>
                                <m:r>
                                  <a:rPr lang="en-US" sz="900" b="0" i="0">
                                    <a:latin typeface="Cambria Math" panose="02040503050406030204" pitchFamily="18" charset="0"/>
                                  </a:rPr>
                                  <m:t>−0.1614</m:t>
                                </m:r>
                              </m:e>
                            </m:mr>
                            <m:mr>
                              <m:e>
                                <m:r>
                                  <a:rPr lang="en-US" sz="900" b="0" i="0">
                                    <a:latin typeface="Cambria Math" panose="02040503050406030204" pitchFamily="18" charset="0"/>
                                  </a:rPr>
                                  <m:t>−0.1757</m:t>
                                </m:r>
                              </m:e>
                              <m:e>
                                <m:r>
                                  <a:rPr lang="en-US" sz="900" b="0" i="0">
                                    <a:latin typeface="Cambria Math" panose="02040503050406030204" pitchFamily="18" charset="0"/>
                                  </a:rPr>
                                  <m:t>−0.0638</m:t>
                                </m:r>
                              </m:e>
                              <m:e>
                                <m:r>
                                  <a:rPr lang="en-US" sz="900" b="0" i="0">
                                    <a:latin typeface="Cambria Math" panose="02040503050406030204" pitchFamily="18" charset="0"/>
                                  </a:rPr>
                                  <m:t>−0.1773</m:t>
                                </m:r>
                              </m:e>
                              <m:e>
                                <m:r>
                                  <a:rPr lang="en-US" sz="900" b="0" i="0">
                                    <a:latin typeface="Cambria Math" panose="02040503050406030204" pitchFamily="18" charset="0"/>
                                  </a:rPr>
                                  <m:t>−0.0646</m:t>
                                </m:r>
                              </m:e>
                              <m:e>
                                <m:r>
                                  <a:rPr lang="en-US" sz="900" b="0" i="0">
                                    <a:latin typeface="Cambria Math" panose="02040503050406030204" pitchFamily="18" charset="0"/>
                                  </a:rPr>
                                  <m:t>−0.1805</m:t>
                                </m:r>
                              </m:e>
                              <m:e>
                                <m:r>
                                  <a:rPr lang="en-US" sz="900" b="0" i="0">
                                    <a:latin typeface="Cambria Math" panose="02040503050406030204" pitchFamily="18" charset="0"/>
                                  </a:rPr>
                                  <m:t>0.8342</m:t>
                                </m:r>
                              </m:e>
                            </m:mr>
                          </m:m>
                        </m:e>
                      </m:d>
                    </m:oMath>
                  </m:oMathPara>
                </a14:m>
                <a:endParaRPr lang="en-US" sz="900" dirty="0"/>
              </a:p>
            </p:txBody>
          </p:sp>
        </mc:Choice>
        <mc:Fallback xmlns="">
          <p:sp>
            <p:nvSpPr>
              <p:cNvPr id="39" name="ZhiV_e_mat"/>
              <p:cNvSpPr txBox="1">
                <a:spLocks noRot="1" noChangeAspect="1" noMove="1" noResize="1" noEditPoints="1" noAdjustHandles="1" noChangeArrowheads="1" noChangeShapeType="1" noTextEdit="1"/>
              </p:cNvSpPr>
              <p:nvPr/>
            </p:nvSpPr>
            <p:spPr>
              <a:xfrm>
                <a:off x="3810000" y="2895600"/>
                <a:ext cx="3556000" cy="868680"/>
              </a:xfrm>
              <a:prstGeom prst="rect">
                <a:avLst/>
              </a:prstGeom>
              <a:blipFill>
                <a:blip r:embed="rId3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ZhiV_e_bias"/>
              <p:cNvSpPr txBox="1"/>
              <p:nvPr/>
            </p:nvSpPr>
            <p:spPr>
              <a:xfrm>
                <a:off x="3810000" y="3822700"/>
                <a:ext cx="3632200" cy="45720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900" b="0" i="1" smtClean="0">
                              <a:latin typeface="Cambria Math" panose="02040503050406030204" pitchFamily="18" charset="0"/>
                            </a:rPr>
                          </m:ctrlPr>
                        </m:accPr>
                        <m:e>
                          <m:r>
                            <a:rPr lang="en-US" altLang="zh-TW" sz="900" b="0" i="1" smtClean="0">
                              <a:latin typeface="Cambria Math" panose="02040503050406030204" pitchFamily="18" charset="0"/>
                            </a:rPr>
                            <m:t>𝑒</m:t>
                          </m:r>
                        </m:e>
                      </m:acc>
                      <m:r>
                        <a:rPr lang="en-US" sz="900" b="0" i="0">
                          <a:latin typeface="Cambria Math" panose="02040503050406030204" pitchFamily="18" charset="0"/>
                        </a:rPr>
                        <m:t>=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−0.0008</m:t>
                                </m:r>
                              </m:e>
                              <m:e>
                                <m:r>
                                  <a:rPr lang="en-US" sz="900" b="0" i="0">
                                    <a:latin typeface="Cambria Math" panose="02040503050406030204" pitchFamily="18" charset="0"/>
                                  </a:rPr>
                                  <m:t>0.0013</m:t>
                                </m:r>
                              </m:e>
                              <m:e>
                                <m:r>
                                  <a:rPr lang="en-US" sz="900" b="0" i="0">
                                    <a:latin typeface="Cambria Math" panose="02040503050406030204" pitchFamily="18" charset="0"/>
                                  </a:rPr>
                                  <m:t>−0.2149</m:t>
                                </m:r>
                              </m:e>
                              <m:e>
                                <m:r>
                                  <a:rPr lang="en-US" sz="900" b="0" i="0">
                                    <a:latin typeface="Cambria Math" panose="02040503050406030204" pitchFamily="18" charset="0"/>
                                  </a:rPr>
                                  <m:t>0.2140</m:t>
                                </m:r>
                              </m:e>
                              <m:e>
                                <m:r>
                                  <a:rPr lang="en-US" sz="900" b="0" i="0">
                                    <a:latin typeface="Cambria Math" panose="02040503050406030204" pitchFamily="18" charset="0"/>
                                  </a:rPr>
                                  <m:t>0.2148</m:t>
                                </m:r>
                              </m:e>
                              <m:e>
                                <m:r>
                                  <a:rPr lang="en-US" sz="900" b="0" i="0">
                                    <a:latin typeface="Cambria Math" panose="02040503050406030204" pitchFamily="18" charset="0"/>
                                  </a:rPr>
                                  <m:t>−0.2140</m:t>
                                </m:r>
                              </m:e>
                            </m:mr>
                            <m:mr>
                              <m:e>
                                <m:r>
                                  <a:rPr lang="en-US" sz="900" b="0" i="0">
                                    <a:latin typeface="Cambria Math" panose="02040503050406030204" pitchFamily="18" charset="0"/>
                                  </a:rPr>
                                  <m:t>−0.2137</m:t>
                                </m:r>
                              </m:e>
                              <m:e>
                                <m:r>
                                  <a:rPr lang="en-US" sz="900" b="0" i="0">
                                    <a:latin typeface="Cambria Math" panose="02040503050406030204" pitchFamily="18" charset="0"/>
                                  </a:rPr>
                                  <m:t>0.2139</m:t>
                                </m:r>
                              </m:e>
                              <m:e>
                                <m:r>
                                  <a:rPr lang="en-US" sz="900" b="0" i="0">
                                    <a:latin typeface="Cambria Math" panose="02040503050406030204" pitchFamily="18" charset="0"/>
                                  </a:rPr>
                                  <m:t>0.0011</m:t>
                                </m:r>
                              </m:e>
                              <m:e>
                                <m:r>
                                  <a:rPr lang="en-US" sz="900" b="0" i="0">
                                    <a:latin typeface="Cambria Math" panose="02040503050406030204" pitchFamily="18" charset="0"/>
                                  </a:rPr>
                                  <m:t>0.0002</m:t>
                                </m:r>
                              </m:e>
                              <m:e>
                                <m:r>
                                  <a:rPr lang="en-US" sz="900" b="0" i="0">
                                    <a:latin typeface="Cambria Math" panose="02040503050406030204" pitchFamily="18" charset="0"/>
                                  </a:rPr>
                                  <m:t>0.2156</m:t>
                                </m:r>
                              </m:e>
                              <m:e>
                                <m:r>
                                  <a:rPr lang="en-US" sz="900" b="0" i="0">
                                    <a:latin typeface="Cambria Math" panose="02040503050406030204" pitchFamily="18" charset="0"/>
                                  </a:rPr>
                                  <m:t>−0.2138</m:t>
                                </m:r>
                              </m:e>
                            </m:mr>
                            <m:mr>
                              <m:e>
                                <m:r>
                                  <a:rPr lang="en-US" sz="900" b="0" i="0">
                                    <a:latin typeface="Cambria Math" panose="02040503050406030204" pitchFamily="18" charset="0"/>
                                  </a:rPr>
                                  <m:t>0.2136</m:t>
                                </m:r>
                              </m:e>
                              <m:e>
                                <m:r>
                                  <a:rPr lang="en-US" sz="900" b="0" i="0">
                                    <a:latin typeface="Cambria Math" panose="02040503050406030204" pitchFamily="18" charset="0"/>
                                  </a:rPr>
                                  <m:t>−0.2143</m:t>
                                </m:r>
                              </m:e>
                              <m:e>
                                <m:r>
                                  <a:rPr lang="en-US" sz="900" b="0" i="0">
                                    <a:latin typeface="Cambria Math" panose="02040503050406030204" pitchFamily="18" charset="0"/>
                                  </a:rPr>
                                  <m:t>0.2143</m:t>
                                </m:r>
                              </m:e>
                              <m:e>
                                <m:r>
                                  <a:rPr lang="en-US" sz="900" b="0" i="0">
                                    <a:latin typeface="Cambria Math" panose="02040503050406030204" pitchFamily="18" charset="0"/>
                                  </a:rPr>
                                  <m:t>−0.2150</m:t>
                                </m:r>
                              </m:e>
                              <m:e>
                                <m:r>
                                  <a:rPr lang="en-US" sz="900" b="0" i="0">
                                    <a:latin typeface="Cambria Math" panose="02040503050406030204" pitchFamily="18" charset="0"/>
                                  </a:rPr>
                                  <m:t>0.0009</m:t>
                                </m:r>
                              </m:e>
                              <m:e>
                                <m:r>
                                  <a:rPr lang="en-US" sz="900" b="0" i="0">
                                    <a:latin typeface="Cambria Math" panose="02040503050406030204" pitchFamily="18" charset="0"/>
                                  </a:rPr>
                                  <m:t>−0.0003</m:t>
                                </m:r>
                              </m:e>
                            </m:mr>
                          </m:m>
                        </m:e>
                      </m:d>
                    </m:oMath>
                  </m:oMathPara>
                </a14:m>
                <a:endParaRPr lang="en-US" sz="900" dirty="0"/>
              </a:p>
            </p:txBody>
          </p:sp>
        </mc:Choice>
        <mc:Fallback xmlns="">
          <p:sp>
            <p:nvSpPr>
              <p:cNvPr id="40" name="ZhiV_e_bias"/>
              <p:cNvSpPr txBox="1">
                <a:spLocks noRot="1" noChangeAspect="1" noMove="1" noResize="1" noEditPoints="1" noAdjustHandles="1" noChangeArrowheads="1" noChangeShapeType="1" noTextEdit="1"/>
              </p:cNvSpPr>
              <p:nvPr/>
            </p:nvSpPr>
            <p:spPr>
              <a:xfrm>
                <a:off x="3810000" y="3822700"/>
                <a:ext cx="3632200" cy="457200"/>
              </a:xfrm>
              <a:prstGeom prst="rect">
                <a:avLst/>
              </a:prstGeom>
              <a:blipFill>
                <a:blip r:embed="rId31"/>
                <a:stretch>
                  <a:fillRect t="-2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ZhiV_e_sc"/>
              <p:cNvSpPr txBox="1"/>
              <p:nvPr/>
            </p:nvSpPr>
            <p:spPr>
              <a:xfrm>
                <a:off x="3810000" y="4330700"/>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597.6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8.5290×</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r>
                        <a:rPr lang="en-US" sz="1100" b="0" i="0">
                          <a:latin typeface="Cambria Math" panose="02040503050406030204" pitchFamily="18" charset="0"/>
                        </a:rPr>
                        <m:t> </m:t>
                      </m:r>
                    </m:oMath>
                  </m:oMathPara>
                </a14:m>
                <a:endParaRPr lang="en-US" sz="1100" dirty="0"/>
              </a:p>
            </p:txBody>
          </p:sp>
        </mc:Choice>
        <mc:Fallback xmlns="">
          <p:sp>
            <p:nvSpPr>
              <p:cNvPr id="41" name="ZhiV_e_sc"/>
              <p:cNvSpPr txBox="1">
                <a:spLocks noRot="1" noChangeAspect="1" noMove="1" noResize="1" noEditPoints="1" noAdjustHandles="1" noChangeArrowheads="1" noChangeShapeType="1" noTextEdit="1"/>
              </p:cNvSpPr>
              <p:nvPr/>
            </p:nvSpPr>
            <p:spPr>
              <a:xfrm>
                <a:off x="3810000" y="4330700"/>
                <a:ext cx="3556000" cy="256032"/>
              </a:xfrm>
              <a:prstGeom prst="rect">
                <a:avLst/>
              </a:prstGeom>
              <a:blipFill>
                <a:blip r:embed="rId32"/>
                <a:stretch>
                  <a:fillRect t="-9524" b="-95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ZhiV_e_nmae">
                <a:extLst>
                  <a:ext uri="{FF2B5EF4-FFF2-40B4-BE49-F238E27FC236}">
                    <a16:creationId xmlns:a16="http://schemas.microsoft.com/office/drawing/2014/main" id="{EBA49798-FF6E-40E0-BBA9-161C19277A44}"/>
                  </a:ext>
                </a:extLst>
              </p:cNvPr>
              <p:cNvSpPr txBox="1"/>
              <p:nvPr/>
            </p:nvSpPr>
            <p:spPr>
              <a:xfrm>
                <a:off x="7874000" y="28956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%=0.75%</m:t>
                      </m:r>
                    </m:oMath>
                  </m:oMathPara>
                </a14:m>
                <a:endParaRPr lang="zh-TW" altLang="en-US" sz="1400" dirty="0"/>
              </a:p>
            </p:txBody>
          </p:sp>
        </mc:Choice>
        <mc:Fallback xmlns="">
          <p:sp>
            <p:nvSpPr>
              <p:cNvPr id="42" name="ZhiV_e_nmae">
                <a:extLst>
                  <a:ext uri="{FF2B5EF4-FFF2-40B4-BE49-F238E27FC236}">
                    <a16:creationId xmlns:a16="http://schemas.microsoft.com/office/drawing/2014/main" id="{EBA49798-FF6E-40E0-BBA9-161C19277A44}"/>
                  </a:ext>
                </a:extLst>
              </p:cNvPr>
              <p:cNvSpPr txBox="1">
                <a:spLocks noRot="1" noChangeAspect="1" noMove="1" noResize="1" noEditPoints="1" noAdjustHandles="1" noChangeArrowheads="1" noChangeShapeType="1" noTextEdit="1"/>
              </p:cNvSpPr>
              <p:nvPr/>
            </p:nvSpPr>
            <p:spPr>
              <a:xfrm>
                <a:off x="7874000" y="2895600"/>
                <a:ext cx="4191000" cy="549509"/>
              </a:xfrm>
              <a:prstGeom prst="rect">
                <a:avLst/>
              </a:prstGeom>
              <a:blipFill>
                <a:blip r:embed="rId33"/>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ZhiV_V"/>
              <p:cNvSpPr txBox="1"/>
              <p:nvPr/>
            </p:nvSpPr>
            <p:spPr>
              <a:xfrm>
                <a:off x="4267200" y="4707408"/>
                <a:ext cx="5192875" cy="947907"/>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𝑉</m:t>
                      </m:r>
                      <m:r>
                        <a:rPr lang="en-US" sz="1050" b="0" i="0">
                          <a:latin typeface="Cambria Math" panose="02040503050406030204" pitchFamily="18" charset="0"/>
                        </a:rPr>
                        <m:t> =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4057.0198</m:t>
                                </m:r>
                              </m:e>
                              <m:e>
                                <m:r>
                                  <a:rPr lang="en-US" sz="1050" b="0" i="0">
                                    <a:latin typeface="Cambria Math" panose="02040503050406030204" pitchFamily="18" charset="0"/>
                                  </a:rPr>
                                  <m:t>−203.7635</m:t>
                                </m:r>
                              </m:e>
                              <m:e>
                                <m:r>
                                  <a:rPr lang="en-US" sz="1050" b="0" i="0">
                                    <a:latin typeface="Cambria Math" panose="02040503050406030204" pitchFamily="18" charset="0"/>
                                  </a:rPr>
                                  <m:t>−230.3685</m:t>
                                </m:r>
                              </m:e>
                              <m:e>
                                <m:r>
                                  <a:rPr lang="en-US" sz="1050" b="0" i="0">
                                    <a:latin typeface="Cambria Math" panose="02040503050406030204" pitchFamily="18" charset="0"/>
                                  </a:rPr>
                                  <m:t>−1019.0765</m:t>
                                </m:r>
                              </m:e>
                              <m:e>
                                <m:r>
                                  <a:rPr lang="en-US" sz="1050" b="0" i="0">
                                    <a:latin typeface="Cambria Math" panose="02040503050406030204" pitchFamily="18" charset="0"/>
                                  </a:rPr>
                                  <m:t>−1019.5890</m:t>
                                </m:r>
                              </m:e>
                              <m:e>
                                <m:r>
                                  <a:rPr lang="en-US" sz="1050" b="0" i="0">
                                    <a:latin typeface="Cambria Math" panose="02040503050406030204" pitchFamily="18" charset="0"/>
                                  </a:rPr>
                                  <m:t>−230.5135</m:t>
                                </m:r>
                              </m:e>
                            </m:mr>
                            <m:mr>
                              <m:e>
                                <m:r>
                                  <a:rPr lang="en-US" sz="1050" b="0" i="0">
                                    <a:latin typeface="Cambria Math" panose="02040503050406030204" pitchFamily="18" charset="0"/>
                                  </a:rPr>
                                  <m:t>−236.4145</m:t>
                                </m:r>
                              </m:e>
                              <m:e>
                                <m:r>
                                  <a:rPr lang="en-US" sz="1050" b="0" i="0">
                                    <a:latin typeface="Cambria Math" panose="02040503050406030204" pitchFamily="18" charset="0"/>
                                  </a:rPr>
                                  <m:t>3989.6282</m:t>
                                </m:r>
                              </m:e>
                              <m:e>
                                <m:r>
                                  <a:rPr lang="en-US" sz="1050" b="0" i="0">
                                    <a:latin typeface="Cambria Math" panose="02040503050406030204" pitchFamily="18" charset="0"/>
                                  </a:rPr>
                                  <m:t>−1076.6144</m:t>
                                </m:r>
                              </m:e>
                              <m:e>
                                <m:r>
                                  <a:rPr lang="en-US" sz="1050" b="0" i="0">
                                    <a:latin typeface="Cambria Math" panose="02040503050406030204" pitchFamily="18" charset="0"/>
                                  </a:rPr>
                                  <m:t>−268.5929</m:t>
                                </m:r>
                              </m:e>
                              <m:e>
                                <m:r>
                                  <a:rPr lang="en-US" sz="1050" b="0" i="0">
                                    <a:latin typeface="Cambria Math" panose="02040503050406030204" pitchFamily="18" charset="0"/>
                                  </a:rPr>
                                  <m:t>−268.2199</m:t>
                                </m:r>
                              </m:e>
                              <m:e>
                                <m:r>
                                  <a:rPr lang="en-US" sz="1050" b="0" i="0">
                                    <a:latin typeface="Cambria Math" panose="02040503050406030204" pitchFamily="18" charset="0"/>
                                  </a:rPr>
                                  <m:t>−1080.4810</m:t>
                                </m:r>
                              </m:e>
                            </m:mr>
                            <m:mr>
                              <m:e>
                                <m:r>
                                  <a:rPr lang="en-US" sz="1050" b="0" i="0">
                                    <a:latin typeface="Cambria Math" panose="02040503050406030204" pitchFamily="18" charset="0"/>
                                  </a:rPr>
                                  <m:t>−251.1851</m:t>
                                </m:r>
                              </m:e>
                              <m:e>
                                <m:r>
                                  <a:rPr lang="en-US" sz="1050" b="0" i="0">
                                    <a:latin typeface="Cambria Math" panose="02040503050406030204" pitchFamily="18" charset="0"/>
                                  </a:rPr>
                                  <m:t>−1066.3534</m:t>
                                </m:r>
                              </m:e>
                              <m:e>
                                <m:r>
                                  <a:rPr lang="en-US" sz="1050" b="0" i="0">
                                    <a:latin typeface="Cambria Math" panose="02040503050406030204" pitchFamily="18" charset="0"/>
                                  </a:rPr>
                                  <m:t>3605.6212</m:t>
                                </m:r>
                              </m:e>
                              <m:e>
                                <m:r>
                                  <a:rPr lang="en-US" sz="1050" b="0" i="0">
                                    <a:latin typeface="Cambria Math" panose="02040503050406030204" pitchFamily="18" charset="0"/>
                                  </a:rPr>
                                  <m:t>−169.1917</m:t>
                                </m:r>
                              </m:e>
                              <m:e>
                                <m:r>
                                  <a:rPr lang="en-US" sz="1050" b="0" i="0">
                                    <a:latin typeface="Cambria Math" panose="02040503050406030204" pitchFamily="18" charset="0"/>
                                  </a:rPr>
                                  <m:t>−884.8638</m:t>
                                </m:r>
                              </m:e>
                              <m:e>
                                <m:r>
                                  <a:rPr lang="en-US" sz="1050" b="0" i="0">
                                    <a:latin typeface="Cambria Math" panose="02040503050406030204" pitchFamily="18" charset="0"/>
                                  </a:rPr>
                                  <m:t>−272.1343</m:t>
                                </m:r>
                              </m:e>
                            </m:mr>
                            <m:mr>
                              <m:e>
                                <m:r>
                                  <a:rPr lang="en-US" sz="1050" b="0" i="0">
                                    <a:latin typeface="Cambria Math" panose="02040503050406030204" pitchFamily="18" charset="0"/>
                                  </a:rPr>
                                  <m:t>−1126.6398</m:t>
                                </m:r>
                              </m:e>
                              <m:e>
                                <m:r>
                                  <a:rPr lang="en-US" sz="1050" b="0" i="0">
                                    <a:latin typeface="Cambria Math" panose="02040503050406030204" pitchFamily="18" charset="0"/>
                                  </a:rPr>
                                  <m:t>−292.2599</m:t>
                                </m:r>
                              </m:e>
                              <m:e>
                                <m:r>
                                  <a:rPr lang="en-US" sz="1050" b="0" i="0">
                                    <a:latin typeface="Cambria Math" panose="02040503050406030204" pitchFamily="18" charset="0"/>
                                  </a:rPr>
                                  <m:t>−209.1224</m:t>
                                </m:r>
                              </m:e>
                              <m:e>
                                <m:r>
                                  <a:rPr lang="en-US" sz="1050" b="0" i="0">
                                    <a:latin typeface="Cambria Math" panose="02040503050406030204" pitchFamily="18" charset="0"/>
                                  </a:rPr>
                                  <m:t>3546.9067</m:t>
                                </m:r>
                              </m:e>
                              <m:e>
                                <m:r>
                                  <a:rPr lang="en-US" sz="1050" b="0" i="0">
                                    <a:latin typeface="Cambria Math" panose="02040503050406030204" pitchFamily="18" charset="0"/>
                                  </a:rPr>
                                  <m:t>−315.8605</m:t>
                                </m:r>
                              </m:e>
                              <m:e>
                                <m:r>
                                  <a:rPr lang="en-US" sz="1050" b="0" i="0">
                                    <a:latin typeface="Cambria Math" panose="02040503050406030204" pitchFamily="18" charset="0"/>
                                  </a:rPr>
                                  <m:t>−949.8581</m:t>
                                </m:r>
                              </m:e>
                            </m:mr>
                            <m:mr>
                              <m:e>
                                <m:r>
                                  <a:rPr lang="en-US" sz="1050" b="0" i="0">
                                    <a:latin typeface="Cambria Math" panose="02040503050406030204" pitchFamily="18" charset="0"/>
                                  </a:rPr>
                                  <m:t>−1122.0742</m:t>
                                </m:r>
                              </m:e>
                              <m:e>
                                <m:r>
                                  <a:rPr lang="en-US" sz="1050" b="0" i="0">
                                    <a:latin typeface="Cambria Math" panose="02040503050406030204" pitchFamily="18" charset="0"/>
                                  </a:rPr>
                                  <m:t>−292.3009</m:t>
                                </m:r>
                              </m:e>
                              <m:e>
                                <m:r>
                                  <a:rPr lang="en-US" sz="1050" b="0" i="0">
                                    <a:latin typeface="Cambria Math" panose="02040503050406030204" pitchFamily="18" charset="0"/>
                                  </a:rPr>
                                  <m:t>−946.5692</m:t>
                                </m:r>
                              </m:e>
                              <m:e>
                                <m:r>
                                  <a:rPr lang="en-US" sz="1050" b="0" i="0">
                                    <a:latin typeface="Cambria Math" panose="02040503050406030204" pitchFamily="18" charset="0"/>
                                  </a:rPr>
                                  <m:t>−314.8956</m:t>
                                </m:r>
                              </m:e>
                              <m:e>
                                <m:r>
                                  <a:rPr lang="en-US" sz="1050" b="0" i="0">
                                    <a:latin typeface="Cambria Math" panose="02040503050406030204" pitchFamily="18" charset="0"/>
                                  </a:rPr>
                                  <m:t>3537.2584</m:t>
                                </m:r>
                              </m:e>
                              <m:e>
                                <m:r>
                                  <a:rPr lang="en-US" sz="1050" b="0" i="0">
                                    <a:latin typeface="Cambria Math" panose="02040503050406030204" pitchFamily="18" charset="0"/>
                                  </a:rPr>
                                  <m:t>−208.6201</m:t>
                                </m:r>
                              </m:e>
                            </m:mr>
                            <m:mr>
                              <m:e>
                                <m:r>
                                  <a:rPr lang="en-US" sz="1050" b="0" i="0">
                                    <a:latin typeface="Cambria Math" panose="02040503050406030204" pitchFamily="18" charset="0"/>
                                  </a:rPr>
                                  <m:t>−253.8340</m:t>
                                </m:r>
                              </m:e>
                              <m:e>
                                <m:r>
                                  <a:rPr lang="en-US" sz="1050" b="0" i="0">
                                    <a:latin typeface="Cambria Math" panose="02040503050406030204" pitchFamily="18" charset="0"/>
                                  </a:rPr>
                                  <m:t>−1067.5789</m:t>
                                </m:r>
                              </m:e>
                              <m:e>
                                <m:r>
                                  <a:rPr lang="en-US" sz="1050" b="0" i="0">
                                    <a:latin typeface="Cambria Math" panose="02040503050406030204" pitchFamily="18" charset="0"/>
                                  </a:rPr>
                                  <m:t>−272.8701</m:t>
                                </m:r>
                              </m:e>
                              <m:e>
                                <m:r>
                                  <a:rPr lang="en-US" sz="1050" b="0" i="0">
                                    <a:latin typeface="Cambria Math" panose="02040503050406030204" pitchFamily="18" charset="0"/>
                                  </a:rPr>
                                  <m:t>−888.6158</m:t>
                                </m:r>
                              </m:e>
                              <m:e>
                                <m:r>
                                  <a:rPr lang="en-US" sz="1050" b="0" i="0">
                                    <a:latin typeface="Cambria Math" panose="02040503050406030204" pitchFamily="18" charset="0"/>
                                  </a:rPr>
                                  <m:t>−171.4135</m:t>
                                </m:r>
                              </m:e>
                              <m:e>
                                <m:r>
                                  <a:rPr lang="en-US" sz="1050" b="0" i="0">
                                    <a:latin typeface="Cambria Math" panose="02040503050406030204" pitchFamily="18" charset="0"/>
                                  </a:rPr>
                                  <m:t>3614.5865</m:t>
                                </m:r>
                              </m:e>
                            </m:mr>
                          </m:m>
                        </m:e>
                      </m:d>
                      <m:r>
                        <a:rPr lang="en-US" sz="1050" b="0" i="0" smtClean="0">
                          <a:latin typeface="Cambria Math" panose="02040503050406030204" pitchFamily="18" charset="0"/>
                        </a:rPr>
                        <m:t>(</m:t>
                      </m:r>
                      <m:r>
                        <m:rPr>
                          <m:sty m:val="p"/>
                        </m:rPr>
                        <a:rPr lang="en-US" sz="1050" b="0" i="0" smtClean="0">
                          <a:latin typeface="Cambria Math" panose="02040503050406030204" pitchFamily="18" charset="0"/>
                        </a:rPr>
                        <m:t>mV</m:t>
                      </m:r>
                      <m:r>
                        <a:rPr lang="en-US" sz="1050" b="0" i="0" smtClean="0">
                          <a:latin typeface="Cambria Math" panose="02040503050406030204" pitchFamily="18" charset="0"/>
                        </a:rPr>
                        <m:t>)</m:t>
                      </m:r>
                    </m:oMath>
                  </m:oMathPara>
                </a14:m>
                <a:endParaRPr lang="en-US" sz="1050" dirty="0"/>
              </a:p>
            </p:txBody>
          </p:sp>
        </mc:Choice>
        <mc:Fallback xmlns="">
          <p:sp>
            <p:nvSpPr>
              <p:cNvPr id="43" name="ZhiV_V"/>
              <p:cNvSpPr txBox="1">
                <a:spLocks noRot="1" noChangeAspect="1" noMove="1" noResize="1" noEditPoints="1" noAdjustHandles="1" noChangeArrowheads="1" noChangeShapeType="1" noTextEdit="1"/>
              </p:cNvSpPr>
              <p:nvPr/>
            </p:nvSpPr>
            <p:spPr>
              <a:xfrm>
                <a:off x="4267200" y="4707408"/>
                <a:ext cx="5192875" cy="947907"/>
              </a:xfrm>
              <a:prstGeom prst="rect">
                <a:avLst/>
              </a:prstGeom>
              <a:blipFill>
                <a:blip r:embed="rId34"/>
                <a:stretch>
                  <a:fillRect l="-5634" r="-493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22772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886200" y="609600"/>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886200" y="2463800"/>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sp>
        <p:nvSpPr>
          <p:cNvPr id="34" name="auto caption"/>
          <p:cNvSpPr txBox="1"/>
          <p:nvPr/>
        </p:nvSpPr>
        <p:spPr>
          <a:xfrm>
            <a:off x="2886867" y="5711378"/>
            <a:ext cx="9353518" cy="1463040"/>
          </a:xfrm>
          <a:prstGeom prst="rect">
            <a:avLst/>
          </a:prstGeom>
          <a:noFill/>
        </p:spPr>
        <p:txBody>
          <a:bodyPr wrap="square" rtlCol="0">
            <a:normAutofit/>
          </a:bodyPr>
          <a:lstStyle/>
          <a:p>
            <a:pPr marL="285750" indent="-285750"/>
            <a:r>
              <a:rPr lang="en-US" altLang="zh-TW" sz="1100" dirty="0"/>
              <a:t>Moving the sensors further out along the pole flank leaves the field model completely untouched: the effective length, the charge-offset matrix and the fit error are identical to the closer mounting — and identical to the current-based results as well, since both reduce to the same transfer matrix. Only the voltage scale changes: further from the tip the leakage field is weaker, so the measured voltages drop and the voltage gain rises to compensate. This is structural rather than coincidental — the field model is fitted from the workspace field alone, and the sensor geometry enters only afterwards, when the excitation is re-expressed in volts. The predictive accuracy of the model is therefore independent of where the sensor is mounted, and the mounting position becomes a free design choice, bounded in practice only by keeping the sensor voltage within its linear range.</a:t>
            </a:r>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8AC383EA-779C-4C2C-B098-EF723DE49D7C}"/>
                  </a:ext>
                </a:extLst>
              </p:cNvPr>
              <p:cNvSpPr txBox="1"/>
              <p:nvPr/>
            </p:nvSpPr>
            <p:spPr>
              <a:xfrm>
                <a:off x="8551747" y="376422"/>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3" name="文字方塊 22">
                <a:extLst>
                  <a:ext uri="{FF2B5EF4-FFF2-40B4-BE49-F238E27FC236}">
                    <a16:creationId xmlns:a16="http://schemas.microsoft.com/office/drawing/2014/main" id="{8AC383EA-779C-4C2C-B098-EF723DE49D7C}"/>
                  </a:ext>
                </a:extLst>
              </p:cNvPr>
              <p:cNvSpPr txBox="1">
                <a:spLocks noRot="1" noChangeAspect="1" noMove="1" noResize="1" noEditPoints="1" noAdjustHandles="1" noChangeArrowheads="1" noChangeShapeType="1" noTextEdit="1"/>
              </p:cNvSpPr>
              <p:nvPr/>
            </p:nvSpPr>
            <p:spPr>
              <a:xfrm>
                <a:off x="8551747" y="376422"/>
                <a:ext cx="3688638" cy="321563"/>
              </a:xfrm>
              <a:prstGeom prst="rect">
                <a:avLst/>
              </a:prstGeom>
              <a:blipFill>
                <a:blip r:embed="rId26"/>
                <a:stretch>
                  <a:fillRect t="-15385" r="-3802" b="-25000"/>
                </a:stretch>
              </a:blipFill>
            </p:spPr>
            <p:txBody>
              <a:bodyPr/>
              <a:lstStyle/>
              <a:p>
                <a:r>
                  <a:rPr lang="zh-TW" altLang="en-US">
                    <a:noFill/>
                  </a:rPr>
                  <a:t> </a:t>
                </a:r>
              </a:p>
            </p:txBody>
          </p:sp>
        </mc:Fallback>
      </mc:AlternateContent>
      <p:sp>
        <p:nvSpPr>
          <p:cNvPr id="36" name="文字方塊 35">
            <a:extLst>
              <a:ext uri="{FF2B5EF4-FFF2-40B4-BE49-F238E27FC236}">
                <a16:creationId xmlns:a16="http://schemas.microsoft.com/office/drawing/2014/main" id="{AFA08EE3-1494-4C76-807D-ED76B51B21EA}"/>
              </a:ext>
            </a:extLst>
          </p:cNvPr>
          <p:cNvSpPr txBox="1"/>
          <p:nvPr/>
        </p:nvSpPr>
        <p:spPr>
          <a:xfrm>
            <a:off x="115648" y="381812"/>
            <a:ext cx="7042090"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Zhi</a:t>
            </a:r>
            <a:r>
              <a:rPr lang="en-US" altLang="zh-TW" dirty="0"/>
              <a:t> </a:t>
            </a:r>
            <a:r>
              <a:rPr lang="en-US" altLang="zh-TW" dirty="0" err="1"/>
              <a:t>peng</a:t>
            </a:r>
            <a:endParaRPr lang="zh-TW" altLang="en-US" dirty="0"/>
          </a:p>
        </p:txBody>
      </p:sp>
      <p:grpSp>
        <p:nvGrpSpPr>
          <p:cNvPr id="6" name="群組 5">
            <a:extLst>
              <a:ext uri="{FF2B5EF4-FFF2-40B4-BE49-F238E27FC236}">
                <a16:creationId xmlns:a16="http://schemas.microsoft.com/office/drawing/2014/main" id="{EDBE8CAF-3231-485B-8086-7E1780F80E56}"/>
              </a:ext>
            </a:extLst>
          </p:cNvPr>
          <p:cNvGrpSpPr/>
          <p:nvPr/>
        </p:nvGrpSpPr>
        <p:grpSpPr>
          <a:xfrm>
            <a:off x="49033" y="1071374"/>
            <a:ext cx="3404415" cy="1940352"/>
            <a:chOff x="49033" y="1071374"/>
            <a:chExt cx="3404415" cy="1940352"/>
          </a:xfrm>
        </p:grpSpPr>
        <p:pic>
          <p:nvPicPr>
            <p:cNvPr id="4" name="圖片 3">
              <a:extLst>
                <a:ext uri="{FF2B5EF4-FFF2-40B4-BE49-F238E27FC236}">
                  <a16:creationId xmlns:a16="http://schemas.microsoft.com/office/drawing/2014/main" id="{4B650DDA-5CE0-48BD-B87F-9C833F2B52C3}"/>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348301" y="1165691"/>
              <a:ext cx="3105147" cy="1619687"/>
            </a:xfrm>
            <a:prstGeom prst="rect">
              <a:avLst/>
            </a:prstGeom>
          </p:spPr>
        </p:pic>
        <p:grpSp>
          <p:nvGrpSpPr>
            <p:cNvPr id="11" name="群組 10">
              <a:extLst>
                <a:ext uri="{FF2B5EF4-FFF2-40B4-BE49-F238E27FC236}">
                  <a16:creationId xmlns:a16="http://schemas.microsoft.com/office/drawing/2014/main" id="{F8B1ABB2-778A-49C9-AFA2-90D17FFE48E7}"/>
                </a:ext>
              </a:extLst>
            </p:cNvPr>
            <p:cNvGrpSpPr/>
            <p:nvPr/>
          </p:nvGrpSpPr>
          <p:grpSpPr>
            <a:xfrm>
              <a:off x="49033" y="1071374"/>
              <a:ext cx="2470711" cy="1940352"/>
              <a:chOff x="62717" y="758159"/>
              <a:chExt cx="2470711" cy="1940352"/>
            </a:xfrm>
          </p:grpSpPr>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472A2684-72C2-4C5B-8160-BCFB1EA46AC0}"/>
                      </a:ext>
                    </a:extLst>
                  </p:cNvPr>
                  <p:cNvSpPr txBox="1"/>
                  <p:nvPr/>
                </p:nvSpPr>
                <p:spPr>
                  <a:xfrm>
                    <a:off x="1426892" y="2422548"/>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6" name="文字方塊 25">
                    <a:extLst>
                      <a:ext uri="{FF2B5EF4-FFF2-40B4-BE49-F238E27FC236}">
                        <a16:creationId xmlns:a16="http://schemas.microsoft.com/office/drawing/2014/main" id="{472A2684-72C2-4C5B-8160-BCFB1EA46AC0}"/>
                      </a:ext>
                    </a:extLst>
                  </p:cNvPr>
                  <p:cNvSpPr txBox="1">
                    <a:spLocks noRot="1" noChangeAspect="1" noMove="1" noResize="1" noEditPoints="1" noAdjustHandles="1" noChangeArrowheads="1" noChangeShapeType="1" noTextEdit="1"/>
                  </p:cNvSpPr>
                  <p:nvPr/>
                </p:nvSpPr>
                <p:spPr>
                  <a:xfrm>
                    <a:off x="1426892" y="2422548"/>
                    <a:ext cx="1106536" cy="275963"/>
                  </a:xfrm>
                  <a:prstGeom prst="rect">
                    <a:avLst/>
                  </a:prstGeom>
                  <a:blipFill>
                    <a:blip r:embed="rId28"/>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D2AA26C0-3566-4313-BBA8-98963FD7E103}"/>
                      </a:ext>
                    </a:extLst>
                  </p:cNvPr>
                  <p:cNvSpPr txBox="1"/>
                  <p:nvPr/>
                </p:nvSpPr>
                <p:spPr>
                  <a:xfrm rot="16200000">
                    <a:off x="-532830" y="1353706"/>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7" name="文字方塊 26">
                    <a:extLst>
                      <a:ext uri="{FF2B5EF4-FFF2-40B4-BE49-F238E27FC236}">
                        <a16:creationId xmlns:a16="http://schemas.microsoft.com/office/drawing/2014/main" id="{D2AA26C0-3566-4313-BBA8-98963FD7E103}"/>
                      </a:ext>
                    </a:extLst>
                  </p:cNvPr>
                  <p:cNvSpPr txBox="1">
                    <a:spLocks noRot="1" noChangeAspect="1" noMove="1" noResize="1" noEditPoints="1" noAdjustHandles="1" noChangeArrowheads="1" noChangeShapeType="1" noTextEdit="1"/>
                  </p:cNvSpPr>
                  <p:nvPr/>
                </p:nvSpPr>
                <p:spPr>
                  <a:xfrm rot="16200000">
                    <a:off x="-532830" y="1353706"/>
                    <a:ext cx="1404535" cy="213442"/>
                  </a:xfrm>
                  <a:prstGeom prst="rect">
                    <a:avLst/>
                  </a:prstGeom>
                  <a:blipFill>
                    <a:blip r:embed="rId29"/>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4D476910-9804-4F30-902D-4DA6EC29C3BD}"/>
                      </a:ext>
                    </a:extLst>
                  </p:cNvPr>
                  <p:cNvSpPr txBox="1"/>
                  <p:nvPr/>
                </p:nvSpPr>
                <p:spPr>
                  <a:xfrm>
                    <a:off x="1711596" y="1916474"/>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1" name="文字方塊 30">
                    <a:extLst>
                      <a:ext uri="{FF2B5EF4-FFF2-40B4-BE49-F238E27FC236}">
                        <a16:creationId xmlns:a16="http://schemas.microsoft.com/office/drawing/2014/main" id="{4D476910-9804-4F30-902D-4DA6EC29C3BD}"/>
                      </a:ext>
                    </a:extLst>
                  </p:cNvPr>
                  <p:cNvSpPr txBox="1">
                    <a:spLocks noRot="1" noChangeAspect="1" noMove="1" noResize="1" noEditPoints="1" noAdjustHandles="1" noChangeArrowheads="1" noChangeShapeType="1" noTextEdit="1"/>
                  </p:cNvSpPr>
                  <p:nvPr/>
                </p:nvSpPr>
                <p:spPr>
                  <a:xfrm>
                    <a:off x="1711596" y="1916474"/>
                    <a:ext cx="503343" cy="246221"/>
                  </a:xfrm>
                  <a:prstGeom prst="rect">
                    <a:avLst/>
                  </a:prstGeom>
                  <a:blipFill>
                    <a:blip r:embed="rId30"/>
                    <a:stretch>
                      <a:fillRect l="-9756" r="-3659" b="-7500"/>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C9516816-DB2F-4319-AF93-6ACA9E9B3324}"/>
                    </a:ext>
                  </a:extLst>
                </p:cNvPr>
                <p:cNvSpPr txBox="1"/>
                <p:nvPr/>
              </p:nvSpPr>
              <p:spPr>
                <a:xfrm rot="16200000">
                  <a:off x="2473788" y="1590900"/>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.588</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7" name="文字方塊 36">
                  <a:extLst>
                    <a:ext uri="{FF2B5EF4-FFF2-40B4-BE49-F238E27FC236}">
                      <a16:creationId xmlns:a16="http://schemas.microsoft.com/office/drawing/2014/main" id="{C9516816-DB2F-4319-AF93-6ACA9E9B3324}"/>
                    </a:ext>
                  </a:extLst>
                </p:cNvPr>
                <p:cNvSpPr txBox="1">
                  <a:spLocks noRot="1" noChangeAspect="1" noMove="1" noResize="1" noEditPoints="1" noAdjustHandles="1" noChangeArrowheads="1" noChangeShapeType="1" noTextEdit="1"/>
                </p:cNvSpPr>
                <p:nvPr/>
              </p:nvSpPr>
              <p:spPr>
                <a:xfrm rot="16200000">
                  <a:off x="2473788" y="1590900"/>
                  <a:ext cx="843092" cy="246221"/>
                </a:xfrm>
                <a:prstGeom prst="rect">
                  <a:avLst/>
                </a:prstGeom>
                <a:blipFill>
                  <a:blip r:embed="rId31"/>
                  <a:stretch>
                    <a:fillRect t="-4348" r="-7500" b="-7971"/>
                  </a:stretch>
                </a:blipFill>
              </p:spPr>
              <p:txBody>
                <a:bodyPr/>
                <a:lstStyle/>
                <a:p>
                  <a:r>
                    <a:rPr lang="zh-TW" altLang="en-US">
                      <a:noFill/>
                    </a:rPr>
                    <a:t> </a:t>
                  </a:r>
                </a:p>
              </p:txBody>
            </p:sp>
          </mc:Fallback>
        </mc:AlternateContent>
      </p:grpSp>
      <p:grpSp>
        <p:nvGrpSpPr>
          <p:cNvPr id="14" name="群組 13">
            <a:extLst>
              <a:ext uri="{FF2B5EF4-FFF2-40B4-BE49-F238E27FC236}">
                <a16:creationId xmlns:a16="http://schemas.microsoft.com/office/drawing/2014/main" id="{1AE0B706-6C1F-457D-828A-F070ADDA6F0A}"/>
              </a:ext>
            </a:extLst>
          </p:cNvPr>
          <p:cNvGrpSpPr/>
          <p:nvPr/>
        </p:nvGrpSpPr>
        <p:grpSpPr>
          <a:xfrm>
            <a:off x="1" y="3623201"/>
            <a:ext cx="3470381" cy="1862509"/>
            <a:chOff x="1" y="3623201"/>
            <a:chExt cx="3470381" cy="1862509"/>
          </a:xfrm>
        </p:grpSpPr>
        <p:pic>
          <p:nvPicPr>
            <p:cNvPr id="13" name="圖片 12">
              <a:extLst>
                <a:ext uri="{FF2B5EF4-FFF2-40B4-BE49-F238E27FC236}">
                  <a16:creationId xmlns:a16="http://schemas.microsoft.com/office/drawing/2014/main" id="{CC66E620-1E4C-4BAD-BF35-30FADDFC9A9D}"/>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311547" y="3623201"/>
              <a:ext cx="3158835" cy="1619686"/>
            </a:xfrm>
            <a:prstGeom prst="rect">
              <a:avLst/>
            </a:prstGeom>
          </p:spPr>
        </p:pic>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1A506A8A-1B51-4340-AC1F-0EE3486CD03D}"/>
                    </a:ext>
                  </a:extLst>
                </p:cNvPr>
                <p:cNvSpPr txBox="1"/>
                <p:nvPr/>
              </p:nvSpPr>
              <p:spPr>
                <a:xfrm>
                  <a:off x="1237176" y="5209747"/>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8" name="文字方塊 37">
                  <a:extLst>
                    <a:ext uri="{FF2B5EF4-FFF2-40B4-BE49-F238E27FC236}">
                      <a16:creationId xmlns:a16="http://schemas.microsoft.com/office/drawing/2014/main" id="{1A506A8A-1B51-4340-AC1F-0EE3486CD03D}"/>
                    </a:ext>
                  </a:extLst>
                </p:cNvPr>
                <p:cNvSpPr txBox="1">
                  <a:spLocks noRot="1" noChangeAspect="1" noMove="1" noResize="1" noEditPoints="1" noAdjustHandles="1" noChangeArrowheads="1" noChangeShapeType="1" noTextEdit="1"/>
                </p:cNvSpPr>
                <p:nvPr/>
              </p:nvSpPr>
              <p:spPr>
                <a:xfrm>
                  <a:off x="1237176" y="5209747"/>
                  <a:ext cx="1106536" cy="275963"/>
                </a:xfrm>
                <a:prstGeom prst="rect">
                  <a:avLst/>
                </a:prstGeom>
                <a:blipFill>
                  <a:blip r:embed="rId33"/>
                  <a:stretch>
                    <a:fillRect l="-5525" t="-2222"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E2B51E95-4C70-4D26-829F-B9F266D0C225}"/>
                    </a:ext>
                  </a:extLst>
                </p:cNvPr>
                <p:cNvSpPr txBox="1"/>
                <p:nvPr/>
              </p:nvSpPr>
              <p:spPr>
                <a:xfrm rot="16200000">
                  <a:off x="-595546" y="4314752"/>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9" name="文字方塊 38">
                  <a:extLst>
                    <a:ext uri="{FF2B5EF4-FFF2-40B4-BE49-F238E27FC236}">
                      <a16:creationId xmlns:a16="http://schemas.microsoft.com/office/drawing/2014/main" id="{E2B51E95-4C70-4D26-829F-B9F266D0C225}"/>
                    </a:ext>
                  </a:extLst>
                </p:cNvPr>
                <p:cNvSpPr txBox="1">
                  <a:spLocks noRot="1" noChangeAspect="1" noMove="1" noResize="1" noEditPoints="1" noAdjustHandles="1" noChangeArrowheads="1" noChangeShapeType="1" noTextEdit="1"/>
                </p:cNvSpPr>
                <p:nvPr/>
              </p:nvSpPr>
              <p:spPr>
                <a:xfrm rot="16200000">
                  <a:off x="-595546" y="4314752"/>
                  <a:ext cx="1404535" cy="213442"/>
                </a:xfrm>
                <a:prstGeom prst="rect">
                  <a:avLst/>
                </a:prstGeom>
                <a:blipFill>
                  <a:blip r:embed="rId34"/>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781B6EC5-6E0B-46B4-9B65-F12EB61AE203}"/>
                    </a:ext>
                  </a:extLst>
                </p:cNvPr>
                <p:cNvSpPr txBox="1"/>
                <p:nvPr/>
              </p:nvSpPr>
              <p:spPr>
                <a:xfrm>
                  <a:off x="1463133" y="3736471"/>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40" name="文字方塊 39">
                  <a:extLst>
                    <a:ext uri="{FF2B5EF4-FFF2-40B4-BE49-F238E27FC236}">
                      <a16:creationId xmlns:a16="http://schemas.microsoft.com/office/drawing/2014/main" id="{781B6EC5-6E0B-46B4-9B65-F12EB61AE203}"/>
                    </a:ext>
                  </a:extLst>
                </p:cNvPr>
                <p:cNvSpPr txBox="1">
                  <a:spLocks noRot="1" noChangeAspect="1" noMove="1" noResize="1" noEditPoints="1" noAdjustHandles="1" noChangeArrowheads="1" noChangeShapeType="1" noTextEdit="1"/>
                </p:cNvSpPr>
                <p:nvPr/>
              </p:nvSpPr>
              <p:spPr>
                <a:xfrm>
                  <a:off x="1463133" y="3736471"/>
                  <a:ext cx="503343" cy="246221"/>
                </a:xfrm>
                <a:prstGeom prst="rect">
                  <a:avLst/>
                </a:prstGeom>
                <a:blipFill>
                  <a:blip r:embed="rId35"/>
                  <a:stretch>
                    <a:fillRect l="-9639" r="-3614" b="-7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CD5D392E-832D-4B27-8118-09316308AB80}"/>
                    </a:ext>
                  </a:extLst>
                </p:cNvPr>
                <p:cNvSpPr txBox="1"/>
                <p:nvPr/>
              </p:nvSpPr>
              <p:spPr>
                <a:xfrm rot="16200000">
                  <a:off x="604424" y="4398096"/>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.588</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41" name="文字方塊 40">
                  <a:extLst>
                    <a:ext uri="{FF2B5EF4-FFF2-40B4-BE49-F238E27FC236}">
                      <a16:creationId xmlns:a16="http://schemas.microsoft.com/office/drawing/2014/main" id="{CD5D392E-832D-4B27-8118-09316308AB80}"/>
                    </a:ext>
                  </a:extLst>
                </p:cNvPr>
                <p:cNvSpPr txBox="1">
                  <a:spLocks noRot="1" noChangeAspect="1" noMove="1" noResize="1" noEditPoints="1" noAdjustHandles="1" noChangeArrowheads="1" noChangeShapeType="1" noTextEdit="1"/>
                </p:cNvSpPr>
                <p:nvPr/>
              </p:nvSpPr>
              <p:spPr>
                <a:xfrm rot="16200000">
                  <a:off x="604424" y="4398096"/>
                  <a:ext cx="843092" cy="246221"/>
                </a:xfrm>
                <a:prstGeom prst="rect">
                  <a:avLst/>
                </a:prstGeom>
                <a:blipFill>
                  <a:blip r:embed="rId36"/>
                  <a:stretch>
                    <a:fillRect t="-5072" r="-7500" b="-7246"/>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42" name="ZhiV_s_mat"/>
              <p:cNvSpPr txBox="1"/>
              <p:nvPr/>
            </p:nvSpPr>
            <p:spPr>
              <a:xfrm>
                <a:off x="3810000" y="1041400"/>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−0.1619</m:t>
                                </m:r>
                              </m:e>
                              <m:e>
                                <m:r>
                                  <a:rPr lang="en-US" sz="900" b="0" i="0">
                                    <a:latin typeface="Cambria Math" panose="02040503050406030204" pitchFamily="18" charset="0"/>
                                  </a:rPr>
                                  <m:t>−0.2723</m:t>
                                </m:r>
                              </m:e>
                              <m:e>
                                <m:r>
                                  <a:rPr lang="en-US" sz="900" b="0" i="0">
                                    <a:latin typeface="Cambria Math" panose="02040503050406030204" pitchFamily="18" charset="0"/>
                                  </a:rPr>
                                  <m:t>−0.0000</m:t>
                                </m:r>
                              </m:e>
                              <m:e>
                                <m:r>
                                  <a:rPr lang="en-US" sz="900" b="0" i="0">
                                    <a:latin typeface="Cambria Math" panose="02040503050406030204" pitchFamily="18" charset="0"/>
                                  </a:rPr>
                                  <m:t>0.0012</m:t>
                                </m:r>
                              </m:e>
                              <m:e>
                                <m:r>
                                  <a:rPr lang="en-US" sz="900" b="0" i="0">
                                    <a:latin typeface="Cambria Math" panose="02040503050406030204" pitchFamily="18" charset="0"/>
                                  </a:rPr>
                                  <m:t>−0.2707</m:t>
                                </m:r>
                              </m:e>
                            </m:mr>
                            <m:mr>
                              <m:e>
                                <m:r>
                                  <a:rPr lang="en-US" sz="900" b="0" i="0">
                                    <a:latin typeface="Cambria Math" panose="02040503050406030204" pitchFamily="18" charset="0"/>
                                  </a:rPr>
                                  <m:t>−0.1525</m:t>
                                </m:r>
                              </m:e>
                              <m:e>
                                <m:r>
                                  <a:rPr lang="en-US" sz="900" b="0" i="0">
                                    <a:latin typeface="Cambria Math" panose="02040503050406030204" pitchFamily="18" charset="0"/>
                                  </a:rPr>
                                  <m:t>0.8523</m:t>
                                </m:r>
                              </m:e>
                              <m:e>
                                <m:r>
                                  <a:rPr lang="en-US" sz="900" b="0" i="0">
                                    <a:latin typeface="Cambria Math" panose="02040503050406030204" pitchFamily="18" charset="0"/>
                                  </a:rPr>
                                  <m:t>0.0218</m:t>
                                </m:r>
                              </m:e>
                              <m:e>
                                <m:r>
                                  <a:rPr lang="en-US" sz="900" b="0" i="0">
                                    <a:latin typeface="Cambria Math" panose="02040503050406030204" pitchFamily="18" charset="0"/>
                                  </a:rPr>
                                  <m:t>−0.2631</m:t>
                                </m:r>
                              </m:e>
                              <m:e>
                                <m:r>
                                  <a:rPr lang="en-US" sz="900" b="0" i="0">
                                    <a:latin typeface="Cambria Math" panose="02040503050406030204" pitchFamily="18" charset="0"/>
                                  </a:rPr>
                                  <m:t>−0.2631</m:t>
                                </m:r>
                              </m:e>
                              <m:e>
                                <m:r>
                                  <a:rPr lang="en-US" sz="900" b="0" i="0">
                                    <a:latin typeface="Cambria Math" panose="02040503050406030204" pitchFamily="18" charset="0"/>
                                  </a:rPr>
                                  <m:t>0.0229</m:t>
                                </m:r>
                              </m:e>
                            </m:mr>
                            <m:mr>
                              <m:e>
                                <m:r>
                                  <a:rPr lang="en-US" sz="900" b="0" i="0">
                                    <a:latin typeface="Cambria Math" panose="02040503050406030204" pitchFamily="18" charset="0"/>
                                  </a:rPr>
                                  <m:t>−0.2704</m:t>
                                </m:r>
                              </m:e>
                              <m:e>
                                <m:r>
                                  <a:rPr lang="en-US" sz="900" b="0" i="0">
                                    <a:latin typeface="Cambria Math" panose="02040503050406030204" pitchFamily="18" charset="0"/>
                                  </a:rPr>
                                  <m:t>0.0018</m:t>
                                </m:r>
                              </m:e>
                              <m:e>
                                <m:r>
                                  <a:rPr lang="en-US" sz="900" b="0" i="0">
                                    <a:latin typeface="Cambria Math" panose="02040503050406030204" pitchFamily="18" charset="0"/>
                                  </a:rPr>
                                  <m:t>0.8306</m:t>
                                </m:r>
                              </m:e>
                              <m:e>
                                <m:r>
                                  <a:rPr lang="en-US" sz="900" b="0" i="0">
                                    <a:latin typeface="Cambria Math" panose="02040503050406030204" pitchFamily="18" charset="0"/>
                                  </a:rPr>
                                  <m:t>−0.1644</m:t>
                                </m:r>
                              </m:e>
                              <m:e>
                                <m:r>
                                  <a:rPr lang="en-US" sz="900" b="0" i="0">
                                    <a:latin typeface="Cambria Math" panose="02040503050406030204" pitchFamily="18" charset="0"/>
                                  </a:rPr>
                                  <m:t>0.0012</m:t>
                                </m:r>
                              </m:e>
                              <m:e>
                                <m:r>
                                  <a:rPr lang="en-US" sz="900" b="0" i="0">
                                    <a:latin typeface="Cambria Math" panose="02040503050406030204" pitchFamily="18" charset="0"/>
                                  </a:rPr>
                                  <m:t>−0.2734</m:t>
                                </m:r>
                              </m:e>
                            </m:mr>
                            <m:mr>
                              <m:e>
                                <m:r>
                                  <a:rPr lang="en-US" sz="900" b="0" i="0">
                                    <a:latin typeface="Cambria Math" panose="02040503050406030204" pitchFamily="18" charset="0"/>
                                  </a:rPr>
                                  <m:t>0.0215</m:t>
                                </m:r>
                              </m:e>
                              <m:e>
                                <m:r>
                                  <a:rPr lang="en-US" sz="900" b="0" i="0">
                                    <a:latin typeface="Cambria Math" panose="02040503050406030204" pitchFamily="18" charset="0"/>
                                  </a:rPr>
                                  <m:t>−0.2629</m:t>
                                </m:r>
                              </m:e>
                              <m:e>
                                <m:r>
                                  <a:rPr lang="en-US" sz="900" b="0" i="0">
                                    <a:latin typeface="Cambria Math" panose="02040503050406030204" pitchFamily="18" charset="0"/>
                                  </a:rPr>
                                  <m:t>−0.1567</m:t>
                                </m:r>
                              </m:e>
                              <m:e>
                                <m:r>
                                  <a:rPr lang="en-US" sz="900" b="0" i="0">
                                    <a:latin typeface="Cambria Math" panose="02040503050406030204" pitchFamily="18" charset="0"/>
                                  </a:rPr>
                                  <m:t>0.8546</m:t>
                                </m:r>
                              </m:e>
                              <m:e>
                                <m:r>
                                  <a:rPr lang="en-US" sz="900" b="0" i="0">
                                    <a:latin typeface="Cambria Math" panose="02040503050406030204" pitchFamily="18" charset="0"/>
                                  </a:rPr>
                                  <m:t>−0.2649</m:t>
                                </m:r>
                              </m:e>
                              <m:e>
                                <m:r>
                                  <a:rPr lang="en-US" sz="900" b="0" i="0">
                                    <a:latin typeface="Cambria Math" panose="02040503050406030204" pitchFamily="18" charset="0"/>
                                  </a:rPr>
                                  <m:t>0.0213</m:t>
                                </m:r>
                              </m:e>
                            </m:mr>
                            <m:mr>
                              <m:e>
                                <m:r>
                                  <a:rPr lang="en-US" sz="900" b="0" i="0">
                                    <a:latin typeface="Cambria Math" panose="02040503050406030204" pitchFamily="18" charset="0"/>
                                  </a:rPr>
                                  <m:t>0.0214</m:t>
                                </m:r>
                              </m:e>
                              <m:e>
                                <m:r>
                                  <a:rPr lang="en-US" sz="900" b="0" i="0">
                                    <a:latin typeface="Cambria Math" panose="02040503050406030204" pitchFamily="18" charset="0"/>
                                  </a:rPr>
                                  <m:t>−0.2626</m:t>
                                </m:r>
                              </m:e>
                              <m:e>
                                <m:r>
                                  <a:rPr lang="en-US" sz="900" b="0" i="0">
                                    <a:latin typeface="Cambria Math" panose="02040503050406030204" pitchFamily="18" charset="0"/>
                                  </a:rPr>
                                  <m:t>0.0201</m:t>
                                </m:r>
                              </m:e>
                              <m:e>
                                <m:r>
                                  <a:rPr lang="en-US" sz="900" b="0" i="0">
                                    <a:latin typeface="Cambria Math" panose="02040503050406030204" pitchFamily="18" charset="0"/>
                                  </a:rPr>
                                  <m:t>−0.2647</m:t>
                                </m:r>
                              </m:e>
                              <m:e>
                                <m:r>
                                  <a:rPr lang="en-US" sz="900" b="0" i="0">
                                    <a:latin typeface="Cambria Math" panose="02040503050406030204" pitchFamily="18" charset="0"/>
                                  </a:rPr>
                                  <m:t>0.8535</m:t>
                                </m:r>
                              </m:e>
                              <m:e>
                                <m:r>
                                  <a:rPr lang="en-US" sz="900" b="0" i="0">
                                    <a:latin typeface="Cambria Math" panose="02040503050406030204" pitchFamily="18" charset="0"/>
                                  </a:rPr>
                                  <m:t>−0.1543</m:t>
                                </m:r>
                              </m:e>
                            </m:mr>
                            <m:mr>
                              <m:e>
                                <m:r>
                                  <a:rPr lang="en-US" sz="900" b="0" i="0">
                                    <a:latin typeface="Cambria Math" panose="02040503050406030204" pitchFamily="18" charset="0"/>
                                  </a:rPr>
                                  <m:t>−0.2710</m:t>
                                </m:r>
                              </m:e>
                              <m:e>
                                <m:r>
                                  <a:rPr lang="en-US" sz="900" b="0" i="0">
                                    <a:latin typeface="Cambria Math" panose="02040503050406030204" pitchFamily="18" charset="0"/>
                                  </a:rPr>
                                  <m:t>0.0020</m:t>
                                </m:r>
                              </m:e>
                              <m:e>
                                <m:r>
                                  <a:rPr lang="en-US" sz="900" b="0" i="0">
                                    <a:latin typeface="Cambria Math" panose="02040503050406030204" pitchFamily="18" charset="0"/>
                                  </a:rPr>
                                  <m:t>−0.2752</m:t>
                                </m:r>
                              </m:e>
                              <m:e>
                                <m:r>
                                  <a:rPr lang="en-US" sz="900" b="0" i="0">
                                    <a:latin typeface="Cambria Math" panose="02040503050406030204" pitchFamily="18" charset="0"/>
                                  </a:rPr>
                                  <m:t>0.0011</m:t>
                                </m:r>
                              </m:e>
                              <m:e>
                                <m:r>
                                  <a:rPr lang="en-US" sz="900" b="0" i="0">
                                    <a:latin typeface="Cambria Math" panose="02040503050406030204" pitchFamily="18" charset="0"/>
                                  </a:rPr>
                                  <m:t>−0.1657</m:t>
                                </m:r>
                              </m:e>
                              <m:e>
                                <m:r>
                                  <a:rPr lang="en-US" sz="900" b="0" i="0">
                                    <a:latin typeface="Cambria Math" panose="02040503050406030204" pitchFamily="18" charset="0"/>
                                  </a:rPr>
                                  <m:t>0.8324</m:t>
                                </m:r>
                              </m:e>
                            </m:mr>
                          </m:m>
                        </m:e>
                      </m:d>
                      <m:r>
                        <a:rPr lang="en-US" sz="900" b="0" i="0">
                          <a:latin typeface="Cambria Math" panose="02040503050406030204" pitchFamily="18" charset="0"/>
                        </a:rPr>
                        <m:t> </m:t>
                      </m:r>
                    </m:oMath>
                  </m:oMathPara>
                </a14:m>
                <a:endParaRPr lang="en-US" sz="900" dirty="0"/>
              </a:p>
            </p:txBody>
          </p:sp>
        </mc:Choice>
        <mc:Fallback xmlns="">
          <p:sp>
            <p:nvSpPr>
              <p:cNvPr id="42" name="ZhiV_s_mat"/>
              <p:cNvSpPr txBox="1">
                <a:spLocks noRot="1" noChangeAspect="1" noMove="1" noResize="1" noEditPoints="1" noAdjustHandles="1" noChangeArrowheads="1" noChangeShapeType="1" noTextEdit="1"/>
              </p:cNvSpPr>
              <p:nvPr/>
            </p:nvSpPr>
            <p:spPr>
              <a:xfrm>
                <a:off x="3810000" y="1041400"/>
                <a:ext cx="3793066" cy="868680"/>
              </a:xfrm>
              <a:prstGeom prst="rect">
                <a:avLst/>
              </a:prstGeom>
              <a:blipFill>
                <a:blip r:embed="rId3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ZhiV_s_sc"/>
              <p:cNvSpPr txBox="1"/>
              <p:nvPr/>
            </p:nvSpPr>
            <p:spPr>
              <a:xfrm>
                <a:off x="3810000" y="1968500"/>
                <a:ext cx="3233712"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744.5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1.0115×</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−2</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oMath>
                  </m:oMathPara>
                </a14:m>
                <a:endParaRPr lang="en-US" sz="1100" dirty="0"/>
              </a:p>
            </p:txBody>
          </p:sp>
        </mc:Choice>
        <mc:Fallback xmlns="">
          <p:sp>
            <p:nvSpPr>
              <p:cNvPr id="43" name="ZhiV_s_sc"/>
              <p:cNvSpPr txBox="1">
                <a:spLocks noRot="1" noChangeAspect="1" noMove="1" noResize="1" noEditPoints="1" noAdjustHandles="1" noChangeArrowheads="1" noChangeShapeType="1" noTextEdit="1"/>
              </p:cNvSpPr>
              <p:nvPr/>
            </p:nvSpPr>
            <p:spPr>
              <a:xfrm>
                <a:off x="3810000" y="1968500"/>
                <a:ext cx="3233712" cy="256032"/>
              </a:xfrm>
              <a:prstGeom prst="rect">
                <a:avLst/>
              </a:prstGeom>
              <a:blipFill>
                <a:blip r:embed="rId38"/>
                <a:stretch>
                  <a:fillRect t="-11905" b="-71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ZhiV_s_nmae">
                <a:extLst>
                  <a:ext uri="{FF2B5EF4-FFF2-40B4-BE49-F238E27FC236}">
                    <a16:creationId xmlns:a16="http://schemas.microsoft.com/office/drawing/2014/main" id="{0E47CCE1-4504-404E-836B-C65D993B87CC}"/>
                  </a:ext>
                </a:extLst>
              </p:cNvPr>
              <p:cNvSpPr txBox="1"/>
              <p:nvPr/>
            </p:nvSpPr>
            <p:spPr>
              <a:xfrm>
                <a:off x="7874000" y="889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%=10.53%</m:t>
                      </m:r>
                    </m:oMath>
                  </m:oMathPara>
                </a14:m>
                <a:endParaRPr lang="zh-TW" altLang="en-US" sz="1400" dirty="0"/>
              </a:p>
            </p:txBody>
          </p:sp>
        </mc:Choice>
        <mc:Fallback xmlns="">
          <p:sp>
            <p:nvSpPr>
              <p:cNvPr id="44" name="ZhiV_s_nmae">
                <a:extLst>
                  <a:ext uri="{FF2B5EF4-FFF2-40B4-BE49-F238E27FC236}">
                    <a16:creationId xmlns:a16="http://schemas.microsoft.com/office/drawing/2014/main" id="{0E47CCE1-4504-404E-836B-C65D993B87CC}"/>
                  </a:ext>
                </a:extLst>
              </p:cNvPr>
              <p:cNvSpPr txBox="1">
                <a:spLocks noRot="1" noChangeAspect="1" noMove="1" noResize="1" noEditPoints="1" noAdjustHandles="1" noChangeArrowheads="1" noChangeShapeType="1" noTextEdit="1"/>
              </p:cNvSpPr>
              <p:nvPr/>
            </p:nvSpPr>
            <p:spPr>
              <a:xfrm>
                <a:off x="7874000" y="889000"/>
                <a:ext cx="4191000" cy="549509"/>
              </a:xfrm>
              <a:prstGeom prst="rect">
                <a:avLst/>
              </a:prstGeom>
              <a:blipFill>
                <a:blip r:embed="rId2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ZhiV_e_mat"/>
              <p:cNvSpPr txBox="1"/>
              <p:nvPr/>
            </p:nvSpPr>
            <p:spPr>
              <a:xfrm>
                <a:off x="3810000" y="2895600"/>
                <a:ext cx="35560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−0.1862</m:t>
                                </m:r>
                              </m:e>
                              <m:e>
                                <m:r>
                                  <a:rPr lang="en-US" sz="900" b="0" i="0">
                                    <a:latin typeface="Cambria Math" panose="02040503050406030204" pitchFamily="18" charset="0"/>
                                  </a:rPr>
                                  <m:t>−0.1867</m:t>
                                </m:r>
                              </m:e>
                              <m:e>
                                <m:r>
                                  <a:rPr lang="en-US" sz="900" b="0" i="0">
                                    <a:latin typeface="Cambria Math" panose="02040503050406030204" pitchFamily="18" charset="0"/>
                                  </a:rPr>
                                  <m:t>−0.0929</m:t>
                                </m:r>
                              </m:e>
                              <m:e>
                                <m:r>
                                  <a:rPr lang="en-US" sz="900" b="0" i="0">
                                    <a:latin typeface="Cambria Math" panose="02040503050406030204" pitchFamily="18" charset="0"/>
                                  </a:rPr>
                                  <m:t>−0.0920</m:t>
                                </m:r>
                              </m:e>
                              <m:e>
                                <m:r>
                                  <a:rPr lang="en-US" sz="900" b="0" i="0">
                                    <a:latin typeface="Cambria Math" panose="02040503050406030204" pitchFamily="18" charset="0"/>
                                  </a:rPr>
                                  <m:t>−0.1867</m:t>
                                </m:r>
                              </m:e>
                            </m:mr>
                            <m:mr>
                              <m:e>
                                <m:r>
                                  <a:rPr lang="en-US" sz="900" b="0" i="0">
                                    <a:latin typeface="Cambria Math" panose="02040503050406030204" pitchFamily="18" charset="0"/>
                                  </a:rPr>
                                  <m:t>−0.1654</m:t>
                                </m:r>
                              </m:e>
                              <m:e>
                                <m:r>
                                  <a:rPr lang="en-US" sz="900" b="0" i="0">
                                    <a:latin typeface="Cambria Math" panose="02040503050406030204" pitchFamily="18" charset="0"/>
                                  </a:rPr>
                                  <m:t>0.8667</m:t>
                                </m:r>
                              </m:e>
                              <m:e>
                                <m:r>
                                  <a:rPr lang="en-US" sz="900" b="0" i="0">
                                    <a:latin typeface="Cambria Math" panose="02040503050406030204" pitchFamily="18" charset="0"/>
                                  </a:rPr>
                                  <m:t>−0.0579</m:t>
                                </m:r>
                              </m:e>
                              <m:e>
                                <m:r>
                                  <a:rPr lang="en-US" sz="900" b="0" i="0">
                                    <a:latin typeface="Cambria Math" panose="02040503050406030204" pitchFamily="18" charset="0"/>
                                  </a:rPr>
                                  <m:t>−0.1628</m:t>
                                </m:r>
                              </m:e>
                              <m:e>
                                <m:r>
                                  <a:rPr lang="en-US" sz="900" b="0" i="0">
                                    <a:latin typeface="Cambria Math" panose="02040503050406030204" pitchFamily="18" charset="0"/>
                                  </a:rPr>
                                  <m:t>−0.1627</m:t>
                                </m:r>
                              </m:e>
                              <m:e>
                                <m:r>
                                  <a:rPr lang="en-US" sz="900" b="0" i="0">
                                    <a:latin typeface="Cambria Math" panose="02040503050406030204" pitchFamily="18" charset="0"/>
                                  </a:rPr>
                                  <m:t>−0.0577</m:t>
                                </m:r>
                              </m:e>
                            </m:mr>
                            <m:mr>
                              <m:e>
                                <m:r>
                                  <a:rPr lang="en-US" sz="900" b="0" i="0">
                                    <a:latin typeface="Cambria Math" panose="02040503050406030204" pitchFamily="18" charset="0"/>
                                  </a:rPr>
                                  <m:t>−0.1874</m:t>
                                </m:r>
                              </m:e>
                              <m:e>
                                <m:r>
                                  <a:rPr lang="en-US" sz="900" b="0" i="0">
                                    <a:latin typeface="Cambria Math" panose="02040503050406030204" pitchFamily="18" charset="0"/>
                                  </a:rPr>
                                  <m:t>−0.0914</m:t>
                                </m:r>
                              </m:e>
                              <m:e>
                                <m:r>
                                  <a:rPr lang="en-US" sz="900" b="0" i="0">
                                    <a:latin typeface="Cambria Math" panose="02040503050406030204" pitchFamily="18" charset="0"/>
                                  </a:rPr>
                                  <m:t>0.8366</m:t>
                                </m:r>
                              </m:e>
                              <m:e>
                                <m:r>
                                  <a:rPr lang="en-US" sz="900" b="0" i="0">
                                    <a:latin typeface="Cambria Math" panose="02040503050406030204" pitchFamily="18" charset="0"/>
                                  </a:rPr>
                                  <m:t>−0.1892</m:t>
                                </m:r>
                              </m:e>
                              <m:e>
                                <m:r>
                                  <a:rPr lang="en-US" sz="900" b="0" i="0">
                                    <a:latin typeface="Cambria Math" panose="02040503050406030204" pitchFamily="18" charset="0"/>
                                  </a:rPr>
                                  <m:t>−0.0931</m:t>
                                </m:r>
                              </m:e>
                              <m:e>
                                <m:r>
                                  <a:rPr lang="en-US" sz="900" b="0" i="0">
                                    <a:latin typeface="Cambria Math" panose="02040503050406030204" pitchFamily="18" charset="0"/>
                                  </a:rPr>
                                  <m:t>−0.1903</m:t>
                                </m:r>
                              </m:e>
                            </m:mr>
                            <m:mr>
                              <m:e>
                                <m:r>
                                  <a:rPr lang="en-US" sz="900" b="0" i="0">
                                    <a:latin typeface="Cambria Math" panose="02040503050406030204" pitchFamily="18" charset="0"/>
                                  </a:rPr>
                                  <m:t>−0.0604</m:t>
                                </m:r>
                              </m:e>
                              <m:e>
                                <m:r>
                                  <a:rPr lang="en-US" sz="900" b="0" i="0">
                                    <a:latin typeface="Cambria Math" panose="02040503050406030204" pitchFamily="18" charset="0"/>
                                  </a:rPr>
                                  <m:t>−0.1647</m:t>
                                </m:r>
                              </m:e>
                              <m:e>
                                <m:r>
                                  <a:rPr lang="en-US" sz="900" b="0" i="0">
                                    <a:latin typeface="Cambria Math" panose="02040503050406030204" pitchFamily="18" charset="0"/>
                                  </a:rPr>
                                  <m:t>−0.1669</m:t>
                                </m:r>
                              </m:e>
                              <m:e>
                                <m:r>
                                  <a:rPr lang="en-US" sz="900" b="0" i="0">
                                    <a:latin typeface="Cambria Math" panose="02040503050406030204" pitchFamily="18" charset="0"/>
                                  </a:rPr>
                                  <m:t>0.8723</m:t>
                                </m:r>
                              </m:e>
                              <m:e>
                                <m:r>
                                  <a:rPr lang="en-US" sz="900" b="0" i="0">
                                    <a:latin typeface="Cambria Math" panose="02040503050406030204" pitchFamily="18" charset="0"/>
                                  </a:rPr>
                                  <m:t>−0.1649</m:t>
                                </m:r>
                              </m:e>
                              <m:e>
                                <m:r>
                                  <a:rPr lang="en-US" sz="900" b="0" i="0">
                                    <a:latin typeface="Cambria Math" panose="02040503050406030204" pitchFamily="18" charset="0"/>
                                  </a:rPr>
                                  <m:t>−0.0598</m:t>
                                </m:r>
                              </m:e>
                            </m:mr>
                            <m:mr>
                              <m:e>
                                <m:r>
                                  <a:rPr lang="en-US" sz="900" b="0" i="0">
                                    <a:latin typeface="Cambria Math" panose="02040503050406030204" pitchFamily="18" charset="0"/>
                                  </a:rPr>
                                  <m:t>−0.0605</m:t>
                                </m:r>
                              </m:e>
                              <m:e>
                                <m:r>
                                  <a:rPr lang="en-US" sz="900" b="0" i="0">
                                    <a:latin typeface="Cambria Math" panose="02040503050406030204" pitchFamily="18" charset="0"/>
                                  </a:rPr>
                                  <m:t>−0.1648</m:t>
                                </m:r>
                              </m:e>
                              <m:e>
                                <m:r>
                                  <a:rPr lang="en-US" sz="900" b="0" i="0">
                                    <a:latin typeface="Cambria Math" panose="02040503050406030204" pitchFamily="18" charset="0"/>
                                  </a:rPr>
                                  <m:t>−0.0599</m:t>
                                </m:r>
                              </m:e>
                              <m:e>
                                <m:r>
                                  <a:rPr lang="en-US" sz="900" b="0" i="0">
                                    <a:latin typeface="Cambria Math" panose="02040503050406030204" pitchFamily="18" charset="0"/>
                                  </a:rPr>
                                  <m:t>−0.1653</m:t>
                                </m:r>
                              </m:e>
                              <m:e>
                                <m:r>
                                  <a:rPr lang="en-US" sz="900" b="0" i="0">
                                    <a:latin typeface="Cambria Math" panose="02040503050406030204" pitchFamily="18" charset="0"/>
                                  </a:rPr>
                                  <m:t>0.8744</m:t>
                                </m:r>
                              </m:e>
                              <m:e>
                                <m:r>
                                  <a:rPr lang="en-US" sz="900" b="0" i="0">
                                    <a:latin typeface="Cambria Math" panose="02040503050406030204" pitchFamily="18" charset="0"/>
                                  </a:rPr>
                                  <m:t>−0.1669</m:t>
                                </m:r>
                              </m:e>
                            </m:mr>
                            <m:mr>
                              <m:e>
                                <m:r>
                                  <a:rPr lang="en-US" sz="900" b="0" i="0">
                                    <a:latin typeface="Cambria Math" panose="02040503050406030204" pitchFamily="18" charset="0"/>
                                  </a:rPr>
                                  <m:t>−0.1876</m:t>
                                </m:r>
                              </m:e>
                              <m:e>
                                <m:r>
                                  <a:rPr lang="en-US" sz="900" b="0" i="0">
                                    <a:latin typeface="Cambria Math" panose="02040503050406030204" pitchFamily="18" charset="0"/>
                                  </a:rPr>
                                  <m:t>−0.0913</m:t>
                                </m:r>
                              </m:e>
                              <m:e>
                                <m:r>
                                  <a:rPr lang="en-US" sz="900" b="0" i="0">
                                    <a:latin typeface="Cambria Math" panose="02040503050406030204" pitchFamily="18" charset="0"/>
                                  </a:rPr>
                                  <m:t>−0.1900</m:t>
                                </m:r>
                              </m:e>
                              <m:e>
                                <m:r>
                                  <a:rPr lang="en-US" sz="900" b="0" i="0">
                                    <a:latin typeface="Cambria Math" panose="02040503050406030204" pitchFamily="18" charset="0"/>
                                  </a:rPr>
                                  <m:t>−0.0929</m:t>
                                </m:r>
                              </m:e>
                              <m:e>
                                <m:r>
                                  <a:rPr lang="en-US" sz="900" b="0" i="0">
                                    <a:latin typeface="Cambria Math" panose="02040503050406030204" pitchFamily="18" charset="0"/>
                                  </a:rPr>
                                  <m:t>−0.1892</m:t>
                                </m:r>
                              </m:e>
                              <m:e>
                                <m:r>
                                  <a:rPr lang="en-US" sz="900" b="0" i="0">
                                    <a:latin typeface="Cambria Math" panose="02040503050406030204" pitchFamily="18" charset="0"/>
                                  </a:rPr>
                                  <m:t>0.8345</m:t>
                                </m:r>
                              </m:e>
                            </m:mr>
                          </m:m>
                        </m:e>
                      </m:d>
                    </m:oMath>
                  </m:oMathPara>
                </a14:m>
                <a:endParaRPr lang="en-US" sz="900" dirty="0"/>
              </a:p>
            </p:txBody>
          </p:sp>
        </mc:Choice>
        <mc:Fallback xmlns="">
          <p:sp>
            <p:nvSpPr>
              <p:cNvPr id="45" name="ZhiV_e_mat"/>
              <p:cNvSpPr txBox="1">
                <a:spLocks noRot="1" noChangeAspect="1" noMove="1" noResize="1" noEditPoints="1" noAdjustHandles="1" noChangeArrowheads="1" noChangeShapeType="1" noTextEdit="1"/>
              </p:cNvSpPr>
              <p:nvPr/>
            </p:nvSpPr>
            <p:spPr>
              <a:xfrm>
                <a:off x="3810000" y="2895600"/>
                <a:ext cx="3556000" cy="868680"/>
              </a:xfrm>
              <a:prstGeom prst="rect">
                <a:avLst/>
              </a:prstGeom>
              <a:blipFill>
                <a:blip r:embed="rId3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ZhiV_e_bias"/>
              <p:cNvSpPr txBox="1"/>
              <p:nvPr/>
            </p:nvSpPr>
            <p:spPr>
              <a:xfrm>
                <a:off x="3810000" y="3822700"/>
                <a:ext cx="3632200" cy="45720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900" b="0" i="1" smtClean="0">
                              <a:latin typeface="Cambria Math" panose="02040503050406030204" pitchFamily="18" charset="0"/>
                            </a:rPr>
                          </m:ctrlPr>
                        </m:accPr>
                        <m:e>
                          <m:r>
                            <a:rPr lang="en-US" altLang="zh-TW" sz="900" b="0" i="1" smtClean="0">
                              <a:latin typeface="Cambria Math" panose="02040503050406030204" pitchFamily="18" charset="0"/>
                            </a:rPr>
                            <m:t>𝑒</m:t>
                          </m:r>
                        </m:e>
                      </m:acc>
                      <m:r>
                        <a:rPr lang="en-US" sz="900" b="0" i="0">
                          <a:latin typeface="Cambria Math" panose="02040503050406030204" pitchFamily="18" charset="0"/>
                        </a:rPr>
                        <m:t>=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−0.0008</m:t>
                                </m:r>
                              </m:e>
                              <m:e>
                                <m:r>
                                  <a:rPr lang="en-US" sz="900" b="0" i="0">
                                    <a:latin typeface="Cambria Math" panose="02040503050406030204" pitchFamily="18" charset="0"/>
                                  </a:rPr>
                                  <m:t>0.0013</m:t>
                                </m:r>
                              </m:e>
                              <m:e>
                                <m:r>
                                  <a:rPr lang="en-US" sz="900" b="0" i="0">
                                    <a:latin typeface="Cambria Math" panose="02040503050406030204" pitchFamily="18" charset="0"/>
                                  </a:rPr>
                                  <m:t>−0.2149</m:t>
                                </m:r>
                              </m:e>
                              <m:e>
                                <m:r>
                                  <a:rPr lang="en-US" sz="900" b="0" i="0">
                                    <a:latin typeface="Cambria Math" panose="02040503050406030204" pitchFamily="18" charset="0"/>
                                  </a:rPr>
                                  <m:t>0.2140</m:t>
                                </m:r>
                              </m:e>
                              <m:e>
                                <m:r>
                                  <a:rPr lang="en-US" sz="900" b="0" i="0">
                                    <a:latin typeface="Cambria Math" panose="02040503050406030204" pitchFamily="18" charset="0"/>
                                  </a:rPr>
                                  <m:t>0.2148</m:t>
                                </m:r>
                              </m:e>
                              <m:e>
                                <m:r>
                                  <a:rPr lang="en-US" sz="900" b="0" i="0">
                                    <a:latin typeface="Cambria Math" panose="02040503050406030204" pitchFamily="18" charset="0"/>
                                  </a:rPr>
                                  <m:t>−0.2140</m:t>
                                </m:r>
                              </m:e>
                            </m:mr>
                            <m:mr>
                              <m:e>
                                <m:r>
                                  <a:rPr lang="en-US" sz="900" b="0" i="0">
                                    <a:latin typeface="Cambria Math" panose="02040503050406030204" pitchFamily="18" charset="0"/>
                                  </a:rPr>
                                  <m:t>−0.2137</m:t>
                                </m:r>
                              </m:e>
                              <m:e>
                                <m:r>
                                  <a:rPr lang="en-US" sz="900" b="0" i="0">
                                    <a:latin typeface="Cambria Math" panose="02040503050406030204" pitchFamily="18" charset="0"/>
                                  </a:rPr>
                                  <m:t>0.2139</m:t>
                                </m:r>
                              </m:e>
                              <m:e>
                                <m:r>
                                  <a:rPr lang="en-US" sz="900" b="0" i="0">
                                    <a:latin typeface="Cambria Math" panose="02040503050406030204" pitchFamily="18" charset="0"/>
                                  </a:rPr>
                                  <m:t>0.0011</m:t>
                                </m:r>
                              </m:e>
                              <m:e>
                                <m:r>
                                  <a:rPr lang="en-US" sz="900" b="0" i="0">
                                    <a:latin typeface="Cambria Math" panose="02040503050406030204" pitchFamily="18" charset="0"/>
                                  </a:rPr>
                                  <m:t>0.0002</m:t>
                                </m:r>
                              </m:e>
                              <m:e>
                                <m:r>
                                  <a:rPr lang="en-US" sz="900" b="0" i="0">
                                    <a:latin typeface="Cambria Math" panose="02040503050406030204" pitchFamily="18" charset="0"/>
                                  </a:rPr>
                                  <m:t>0.2156</m:t>
                                </m:r>
                              </m:e>
                              <m:e>
                                <m:r>
                                  <a:rPr lang="en-US" sz="900" b="0" i="0">
                                    <a:latin typeface="Cambria Math" panose="02040503050406030204" pitchFamily="18" charset="0"/>
                                  </a:rPr>
                                  <m:t>−0.2138</m:t>
                                </m:r>
                              </m:e>
                            </m:mr>
                            <m:mr>
                              <m:e>
                                <m:r>
                                  <a:rPr lang="en-US" sz="900" b="0" i="0">
                                    <a:latin typeface="Cambria Math" panose="02040503050406030204" pitchFamily="18" charset="0"/>
                                  </a:rPr>
                                  <m:t>0.2136</m:t>
                                </m:r>
                              </m:e>
                              <m:e>
                                <m:r>
                                  <a:rPr lang="en-US" sz="900" b="0" i="0">
                                    <a:latin typeface="Cambria Math" panose="02040503050406030204" pitchFamily="18" charset="0"/>
                                  </a:rPr>
                                  <m:t>−0.2143</m:t>
                                </m:r>
                              </m:e>
                              <m:e>
                                <m:r>
                                  <a:rPr lang="en-US" sz="900" b="0" i="0">
                                    <a:latin typeface="Cambria Math" panose="02040503050406030204" pitchFamily="18" charset="0"/>
                                  </a:rPr>
                                  <m:t>0.2143</m:t>
                                </m:r>
                              </m:e>
                              <m:e>
                                <m:r>
                                  <a:rPr lang="en-US" sz="900" b="0" i="0">
                                    <a:latin typeface="Cambria Math" panose="02040503050406030204" pitchFamily="18" charset="0"/>
                                  </a:rPr>
                                  <m:t>−0.2150</m:t>
                                </m:r>
                              </m:e>
                              <m:e>
                                <m:r>
                                  <a:rPr lang="en-US" sz="900" b="0" i="0">
                                    <a:latin typeface="Cambria Math" panose="02040503050406030204" pitchFamily="18" charset="0"/>
                                  </a:rPr>
                                  <m:t>0.0009</m:t>
                                </m:r>
                              </m:e>
                              <m:e>
                                <m:r>
                                  <a:rPr lang="en-US" sz="900" b="0" i="0">
                                    <a:latin typeface="Cambria Math" panose="02040503050406030204" pitchFamily="18" charset="0"/>
                                  </a:rPr>
                                  <m:t>−0.0003</m:t>
                                </m:r>
                              </m:e>
                            </m:mr>
                          </m:m>
                        </m:e>
                      </m:d>
                    </m:oMath>
                  </m:oMathPara>
                </a14:m>
                <a:endParaRPr lang="en-US" sz="900" dirty="0"/>
              </a:p>
            </p:txBody>
          </p:sp>
        </mc:Choice>
        <mc:Fallback xmlns="">
          <p:sp>
            <p:nvSpPr>
              <p:cNvPr id="46" name="ZhiV_e_bias"/>
              <p:cNvSpPr txBox="1">
                <a:spLocks noRot="1" noChangeAspect="1" noMove="1" noResize="1" noEditPoints="1" noAdjustHandles="1" noChangeArrowheads="1" noChangeShapeType="1" noTextEdit="1"/>
              </p:cNvSpPr>
              <p:nvPr/>
            </p:nvSpPr>
            <p:spPr>
              <a:xfrm>
                <a:off x="3810000" y="3822700"/>
                <a:ext cx="3632200" cy="457200"/>
              </a:xfrm>
              <a:prstGeom prst="rect">
                <a:avLst/>
              </a:prstGeom>
              <a:blipFill>
                <a:blip r:embed="rId31"/>
                <a:stretch>
                  <a:fillRect t="-2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ZhiV_e_sc"/>
              <p:cNvSpPr txBox="1"/>
              <p:nvPr/>
            </p:nvSpPr>
            <p:spPr>
              <a:xfrm>
                <a:off x="3810000" y="4330700"/>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597.6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1.0769×</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−2</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r>
                        <a:rPr lang="en-US" sz="1100" b="0" i="0">
                          <a:latin typeface="Cambria Math" panose="02040503050406030204" pitchFamily="18" charset="0"/>
                        </a:rPr>
                        <m:t> </m:t>
                      </m:r>
                    </m:oMath>
                  </m:oMathPara>
                </a14:m>
                <a:endParaRPr lang="en-US" sz="1100" dirty="0"/>
              </a:p>
            </p:txBody>
          </p:sp>
        </mc:Choice>
        <mc:Fallback xmlns="">
          <p:sp>
            <p:nvSpPr>
              <p:cNvPr id="47" name="ZhiV_e_sc"/>
              <p:cNvSpPr txBox="1">
                <a:spLocks noRot="1" noChangeAspect="1" noMove="1" noResize="1" noEditPoints="1" noAdjustHandles="1" noChangeArrowheads="1" noChangeShapeType="1" noTextEdit="1"/>
              </p:cNvSpPr>
              <p:nvPr/>
            </p:nvSpPr>
            <p:spPr>
              <a:xfrm>
                <a:off x="3810000" y="4330700"/>
                <a:ext cx="3556000" cy="256032"/>
              </a:xfrm>
              <a:prstGeom prst="rect">
                <a:avLst/>
              </a:prstGeom>
              <a:blipFill>
                <a:blip r:embed="rId40"/>
                <a:stretch>
                  <a:fillRect t="-9524" b="-95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ZhiV_e_nmae">
                <a:extLst>
                  <a:ext uri="{FF2B5EF4-FFF2-40B4-BE49-F238E27FC236}">
                    <a16:creationId xmlns:a16="http://schemas.microsoft.com/office/drawing/2014/main" id="{EBA49798-FF6E-40E0-BBA9-161C19277A44}"/>
                  </a:ext>
                </a:extLst>
              </p:cNvPr>
              <p:cNvSpPr txBox="1"/>
              <p:nvPr/>
            </p:nvSpPr>
            <p:spPr>
              <a:xfrm>
                <a:off x="7874000" y="28956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%=0.75%</m:t>
                      </m:r>
                    </m:oMath>
                  </m:oMathPara>
                </a14:m>
                <a:endParaRPr lang="zh-TW" altLang="en-US" sz="1400" dirty="0"/>
              </a:p>
            </p:txBody>
          </p:sp>
        </mc:Choice>
        <mc:Fallback xmlns="">
          <p:sp>
            <p:nvSpPr>
              <p:cNvPr id="48" name="ZhiV_e_nmae">
                <a:extLst>
                  <a:ext uri="{FF2B5EF4-FFF2-40B4-BE49-F238E27FC236}">
                    <a16:creationId xmlns:a16="http://schemas.microsoft.com/office/drawing/2014/main" id="{EBA49798-FF6E-40E0-BBA9-161C19277A44}"/>
                  </a:ext>
                </a:extLst>
              </p:cNvPr>
              <p:cNvSpPr txBox="1">
                <a:spLocks noRot="1" noChangeAspect="1" noMove="1" noResize="1" noEditPoints="1" noAdjustHandles="1" noChangeArrowheads="1" noChangeShapeType="1" noTextEdit="1"/>
              </p:cNvSpPr>
              <p:nvPr/>
            </p:nvSpPr>
            <p:spPr>
              <a:xfrm>
                <a:off x="7874000" y="2895600"/>
                <a:ext cx="4191000" cy="549509"/>
              </a:xfrm>
              <a:prstGeom prst="rect">
                <a:avLst/>
              </a:prstGeom>
              <a:blipFill>
                <a:blip r:embed="rId33"/>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ZhiV_V"/>
              <p:cNvSpPr txBox="1"/>
              <p:nvPr/>
            </p:nvSpPr>
            <p:spPr>
              <a:xfrm>
                <a:off x="3810000" y="4673600"/>
                <a:ext cx="5192875" cy="947907"/>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𝑉</m:t>
                      </m:r>
                      <m:r>
                        <a:rPr lang="en-US" sz="1050" b="0" i="0">
                          <a:latin typeface="Cambria Math" panose="02040503050406030204" pitchFamily="18" charset="0"/>
                        </a:rPr>
                        <m:t> =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3194.8553</m:t>
                                </m:r>
                              </m:e>
                              <m:e>
                                <m:r>
                                  <a:rPr lang="en-US" sz="1050" b="0" i="0">
                                    <a:latin typeface="Cambria Math" panose="02040503050406030204" pitchFamily="18" charset="0"/>
                                  </a:rPr>
                                  <m:t>−117.3275</m:t>
                                </m:r>
                              </m:e>
                              <m:e>
                                <m:r>
                                  <a:rPr lang="en-US" sz="1050" b="0" i="0">
                                    <a:latin typeface="Cambria Math" panose="02040503050406030204" pitchFamily="18" charset="0"/>
                                  </a:rPr>
                                  <m:t>−144.4692</m:t>
                                </m:r>
                              </m:e>
                              <m:e>
                                <m:r>
                                  <a:rPr lang="en-US" sz="1050" b="0" i="0">
                                    <a:latin typeface="Cambria Math" panose="02040503050406030204" pitchFamily="18" charset="0"/>
                                  </a:rPr>
                                  <m:t>−690.6945</m:t>
                                </m:r>
                              </m:e>
                              <m:e>
                                <m:r>
                                  <a:rPr lang="en-US" sz="1050" b="0" i="0">
                                    <a:latin typeface="Cambria Math" panose="02040503050406030204" pitchFamily="18" charset="0"/>
                                  </a:rPr>
                                  <m:t>−693.8828</m:t>
                                </m:r>
                              </m:e>
                              <m:e>
                                <m:r>
                                  <a:rPr lang="en-US" sz="1050" b="0" i="0">
                                    <a:latin typeface="Cambria Math" panose="02040503050406030204" pitchFamily="18" charset="0"/>
                                  </a:rPr>
                                  <m:t>−143.8277</m:t>
                                </m:r>
                              </m:e>
                            </m:mr>
                            <m:mr>
                              <m:e>
                                <m:r>
                                  <a:rPr lang="en-US" sz="1050" b="0" i="0">
                                    <a:latin typeface="Cambria Math" panose="02040503050406030204" pitchFamily="18" charset="0"/>
                                  </a:rPr>
                                  <m:t>−147.1312</m:t>
                                </m:r>
                              </m:e>
                              <m:e>
                                <m:r>
                                  <a:rPr lang="en-US" sz="1050" b="0" i="0">
                                    <a:latin typeface="Cambria Math" panose="02040503050406030204" pitchFamily="18" charset="0"/>
                                  </a:rPr>
                                  <m:t>3117.2840</m:t>
                                </m:r>
                              </m:e>
                              <m:e>
                                <m:r>
                                  <a:rPr lang="en-US" sz="1050" b="0" i="0">
                                    <a:latin typeface="Cambria Math" panose="02040503050406030204" pitchFamily="18" charset="0"/>
                                  </a:rPr>
                                  <m:t>−763.8698</m:t>
                                </m:r>
                              </m:e>
                              <m:e>
                                <m:r>
                                  <a:rPr lang="en-US" sz="1050" b="0" i="0">
                                    <a:latin typeface="Cambria Math" panose="02040503050406030204" pitchFamily="18" charset="0"/>
                                  </a:rPr>
                                  <m:t>−181.5529</m:t>
                                </m:r>
                              </m:e>
                              <m:e>
                                <m:r>
                                  <a:rPr lang="en-US" sz="1050" b="0" i="0">
                                    <a:latin typeface="Cambria Math" panose="02040503050406030204" pitchFamily="18" charset="0"/>
                                  </a:rPr>
                                  <m:t>−181.7863</m:t>
                                </m:r>
                              </m:e>
                              <m:e>
                                <m:r>
                                  <a:rPr lang="en-US" sz="1050" b="0" i="0">
                                    <a:latin typeface="Cambria Math" panose="02040503050406030204" pitchFamily="18" charset="0"/>
                                  </a:rPr>
                                  <m:t>−761.7138</m:t>
                                </m:r>
                              </m:e>
                            </m:mr>
                            <m:mr>
                              <m:e>
                                <m:r>
                                  <a:rPr lang="en-US" sz="1050" b="0" i="0">
                                    <a:latin typeface="Cambria Math" panose="02040503050406030204" pitchFamily="18" charset="0"/>
                                  </a:rPr>
                                  <m:t>−157.0378</m:t>
                                </m:r>
                              </m:e>
                              <m:e>
                                <m:r>
                                  <a:rPr lang="en-US" sz="1050" b="0" i="0">
                                    <a:latin typeface="Cambria Math" panose="02040503050406030204" pitchFamily="18" charset="0"/>
                                  </a:rPr>
                                  <m:t>−718.4597</m:t>
                                </m:r>
                              </m:e>
                              <m:e>
                                <m:r>
                                  <a:rPr lang="en-US" sz="1050" b="0" i="0">
                                    <a:latin typeface="Cambria Math" panose="02040503050406030204" pitchFamily="18" charset="0"/>
                                  </a:rPr>
                                  <m:t>2844.4753</m:t>
                                </m:r>
                              </m:e>
                              <m:e>
                                <m:r>
                                  <a:rPr lang="en-US" sz="1050" b="0" i="0">
                                    <a:latin typeface="Cambria Math" panose="02040503050406030204" pitchFamily="18" charset="0"/>
                                  </a:rPr>
                                  <m:t>−97.5260</m:t>
                                </m:r>
                              </m:e>
                              <m:e>
                                <m:r>
                                  <a:rPr lang="en-US" sz="1050" b="0" i="0">
                                    <a:latin typeface="Cambria Math" panose="02040503050406030204" pitchFamily="18" charset="0"/>
                                  </a:rPr>
                                  <m:t>−592.0820</m:t>
                                </m:r>
                              </m:e>
                              <m:e>
                                <m:r>
                                  <a:rPr lang="en-US" sz="1050" b="0" i="0">
                                    <a:latin typeface="Cambria Math" panose="02040503050406030204" pitchFamily="18" charset="0"/>
                                  </a:rPr>
                                  <m:t>−176.2582</m:t>
                                </m:r>
                              </m:e>
                            </m:mr>
                            <m:mr>
                              <m:e>
                                <m:r>
                                  <a:rPr lang="en-US" sz="1050" b="0" i="0">
                                    <a:latin typeface="Cambria Math" panose="02040503050406030204" pitchFamily="18" charset="0"/>
                                  </a:rPr>
                                  <m:t>−779.4693</m:t>
                                </m:r>
                              </m:e>
                              <m:e>
                                <m:r>
                                  <a:rPr lang="en-US" sz="1050" b="0" i="0">
                                    <a:latin typeface="Cambria Math" panose="02040503050406030204" pitchFamily="18" charset="0"/>
                                  </a:rPr>
                                  <m:t>−193.0518</m:t>
                                </m:r>
                              </m:e>
                              <m:e>
                                <m:r>
                                  <a:rPr lang="en-US" sz="1050" b="0" i="0">
                                    <a:latin typeface="Cambria Math" panose="02040503050406030204" pitchFamily="18" charset="0"/>
                                  </a:rPr>
                                  <m:t>−132.2696</m:t>
                                </m:r>
                              </m:e>
                              <m:e>
                                <m:r>
                                  <a:rPr lang="en-US" sz="1050" b="0" i="0">
                                    <a:latin typeface="Cambria Math" panose="02040503050406030204" pitchFamily="18" charset="0"/>
                                  </a:rPr>
                                  <m:t>2757.4837</m:t>
                                </m:r>
                              </m:e>
                              <m:e>
                                <m:r>
                                  <a:rPr lang="en-US" sz="1050" b="0" i="0">
                                    <a:latin typeface="Cambria Math" panose="02040503050406030204" pitchFamily="18" charset="0"/>
                                  </a:rPr>
                                  <m:t>−217.5690</m:t>
                                </m:r>
                              </m:e>
                              <m:e>
                                <m:r>
                                  <a:rPr lang="en-US" sz="1050" b="0" i="0">
                                    <a:latin typeface="Cambria Math" panose="02040503050406030204" pitchFamily="18" charset="0"/>
                                  </a:rPr>
                                  <m:t>−657.5762</m:t>
                                </m:r>
                              </m:e>
                            </m:mr>
                            <m:mr>
                              <m:e>
                                <m:r>
                                  <a:rPr lang="en-US" sz="1050" b="0" i="0">
                                    <a:latin typeface="Cambria Math" panose="02040503050406030204" pitchFamily="18" charset="0"/>
                                  </a:rPr>
                                  <m:t>−779.3156</m:t>
                                </m:r>
                              </m:e>
                              <m:e>
                                <m:r>
                                  <a:rPr lang="en-US" sz="1050" b="0" i="0">
                                    <a:latin typeface="Cambria Math" panose="02040503050406030204" pitchFamily="18" charset="0"/>
                                  </a:rPr>
                                  <m:t>−193.1855</m:t>
                                </m:r>
                              </m:e>
                              <m:e>
                                <m:r>
                                  <a:rPr lang="en-US" sz="1050" b="0" i="0">
                                    <a:latin typeface="Cambria Math" panose="02040503050406030204" pitchFamily="18" charset="0"/>
                                  </a:rPr>
                                  <m:t>−657.5229</m:t>
                                </m:r>
                              </m:e>
                              <m:e>
                                <m:r>
                                  <a:rPr lang="en-US" sz="1050" b="0" i="0">
                                    <a:latin typeface="Cambria Math" panose="02040503050406030204" pitchFamily="18" charset="0"/>
                                  </a:rPr>
                                  <m:t>−217.3208</m:t>
                                </m:r>
                              </m:e>
                              <m:e>
                                <m:r>
                                  <a:rPr lang="en-US" sz="1050" b="0" i="0">
                                    <a:latin typeface="Cambria Math" panose="02040503050406030204" pitchFamily="18" charset="0"/>
                                  </a:rPr>
                                  <m:t>2755.9319</m:t>
                                </m:r>
                              </m:e>
                              <m:e>
                                <m:r>
                                  <a:rPr lang="en-US" sz="1050" b="0" i="0">
                                    <a:latin typeface="Cambria Math" panose="02040503050406030204" pitchFamily="18" charset="0"/>
                                  </a:rPr>
                                  <m:t>−132.1218</m:t>
                                </m:r>
                              </m:e>
                            </m:mr>
                            <m:mr>
                              <m:e>
                                <m:r>
                                  <a:rPr lang="en-US" sz="1050" b="0" i="0">
                                    <a:latin typeface="Cambria Math" panose="02040503050406030204" pitchFamily="18" charset="0"/>
                                  </a:rPr>
                                  <m:t>−156.5529</m:t>
                                </m:r>
                              </m:e>
                              <m:e>
                                <m:r>
                                  <a:rPr lang="en-US" sz="1050" b="0" i="0">
                                    <a:latin typeface="Cambria Math" panose="02040503050406030204" pitchFamily="18" charset="0"/>
                                  </a:rPr>
                                  <m:t>−719.4387</m:t>
                                </m:r>
                              </m:e>
                              <m:e>
                                <m:r>
                                  <a:rPr lang="en-US" sz="1050" b="0" i="0">
                                    <a:latin typeface="Cambria Math" panose="02040503050406030204" pitchFamily="18" charset="0"/>
                                  </a:rPr>
                                  <m:t>−176.2635</m:t>
                                </m:r>
                              </m:e>
                              <m:e>
                                <m:r>
                                  <a:rPr lang="en-US" sz="1050" b="0" i="0">
                                    <a:latin typeface="Cambria Math" panose="02040503050406030204" pitchFamily="18" charset="0"/>
                                  </a:rPr>
                                  <m:t>−591.9505</m:t>
                                </m:r>
                              </m:e>
                              <m:e>
                                <m:r>
                                  <a:rPr lang="en-US" sz="1050" b="0" i="0">
                                    <a:latin typeface="Cambria Math" panose="02040503050406030204" pitchFamily="18" charset="0"/>
                                  </a:rPr>
                                  <m:t>−97.4567</m:t>
                                </m:r>
                              </m:e>
                              <m:e>
                                <m:r>
                                  <a:rPr lang="en-US" sz="1050" b="0" i="0">
                                    <a:latin typeface="Cambria Math" panose="02040503050406030204" pitchFamily="18" charset="0"/>
                                  </a:rPr>
                                  <m:t>2846.2025</m:t>
                                </m:r>
                              </m:e>
                            </m:mr>
                          </m:m>
                        </m:e>
                      </m:d>
                      <m:r>
                        <a:rPr lang="en-US" sz="1050" b="0" i="0" smtClean="0">
                          <a:latin typeface="Cambria Math" panose="02040503050406030204" pitchFamily="18" charset="0"/>
                        </a:rPr>
                        <m:t>(</m:t>
                      </m:r>
                      <m:r>
                        <m:rPr>
                          <m:sty m:val="p"/>
                        </m:rPr>
                        <a:rPr lang="en-US" sz="1050" b="0" i="0" smtClean="0">
                          <a:latin typeface="Cambria Math" panose="02040503050406030204" pitchFamily="18" charset="0"/>
                        </a:rPr>
                        <m:t>mV</m:t>
                      </m:r>
                      <m:r>
                        <a:rPr lang="en-US" sz="1050" b="0" i="0" smtClean="0">
                          <a:latin typeface="Cambria Math" panose="02040503050406030204" pitchFamily="18" charset="0"/>
                        </a:rPr>
                        <m:t>)</m:t>
                      </m:r>
                    </m:oMath>
                  </m:oMathPara>
                </a14:m>
                <a:endParaRPr lang="en-US" sz="1050" dirty="0"/>
              </a:p>
            </p:txBody>
          </p:sp>
        </mc:Choice>
        <mc:Fallback xmlns="">
          <p:sp>
            <p:nvSpPr>
              <p:cNvPr id="49" name="ZhiV_V"/>
              <p:cNvSpPr txBox="1">
                <a:spLocks noRot="1" noChangeAspect="1" noMove="1" noResize="1" noEditPoints="1" noAdjustHandles="1" noChangeArrowheads="1" noChangeShapeType="1" noTextEdit="1"/>
              </p:cNvSpPr>
              <p:nvPr/>
            </p:nvSpPr>
            <p:spPr>
              <a:xfrm>
                <a:off x="3810000" y="4673600"/>
                <a:ext cx="5192875" cy="947907"/>
              </a:xfrm>
              <a:prstGeom prst="rect">
                <a:avLst/>
              </a:prstGeom>
              <a:blipFill>
                <a:blip r:embed="rId41"/>
                <a:stretch>
                  <a:fillRect l="-1291" r="-46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94432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3" name="文字方塊 2">
            <a:extLst>
              <a:ext uri="{FF2B5EF4-FFF2-40B4-BE49-F238E27FC236}">
                <a16:creationId xmlns:a16="http://schemas.microsoft.com/office/drawing/2014/main" id="{8C7984F6-0281-4747-8F4D-3E7C18B8A63B}"/>
              </a:ext>
            </a:extLst>
          </p:cNvPr>
          <p:cNvSpPr txBox="1"/>
          <p:nvPr/>
        </p:nvSpPr>
        <p:spPr>
          <a:xfrm>
            <a:off x="409671" y="2626733"/>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5" name="文字方塊 4">
            <a:extLst>
              <a:ext uri="{FF2B5EF4-FFF2-40B4-BE49-F238E27FC236}">
                <a16:creationId xmlns:a16="http://schemas.microsoft.com/office/drawing/2014/main" id="{ABD4ECE5-F0B8-49EE-9F5A-DF43669489B7}"/>
              </a:ext>
            </a:extLst>
          </p:cNvPr>
          <p:cNvSpPr txBox="1"/>
          <p:nvPr/>
        </p:nvSpPr>
        <p:spPr>
          <a:xfrm>
            <a:off x="6418127" y="2649838"/>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grpSp>
        <p:nvGrpSpPr>
          <p:cNvPr id="6" name="群組 5">
            <a:extLst>
              <a:ext uri="{FF2B5EF4-FFF2-40B4-BE49-F238E27FC236}">
                <a16:creationId xmlns:a16="http://schemas.microsoft.com/office/drawing/2014/main" id="{09BCDCB1-9092-4EEE-B020-6AB25F6593D9}"/>
              </a:ext>
            </a:extLst>
          </p:cNvPr>
          <p:cNvGrpSpPr/>
          <p:nvPr/>
        </p:nvGrpSpPr>
        <p:grpSpPr>
          <a:xfrm>
            <a:off x="6804867" y="3222729"/>
            <a:ext cx="3410596" cy="2477943"/>
            <a:chOff x="373689" y="2613691"/>
            <a:chExt cx="3410596" cy="2477943"/>
          </a:xfrm>
        </p:grpSpPr>
        <p:pic>
          <p:nvPicPr>
            <p:cNvPr id="7" name="圖片 6">
              <a:extLst>
                <a:ext uri="{FF2B5EF4-FFF2-40B4-BE49-F238E27FC236}">
                  <a16:creationId xmlns:a16="http://schemas.microsoft.com/office/drawing/2014/main" id="{EAA45487-594C-4CAB-8051-280C7BD62FE4}"/>
                </a:ext>
              </a:extLst>
            </p:cNvPr>
            <p:cNvPicPr>
              <a:picLocks noChangeAspect="1"/>
            </p:cNvPicPr>
            <p:nvPr/>
          </p:nvPicPr>
          <p:blipFill rotWithShape="1">
            <a:blip r:embed="rId2">
              <a:extLst>
                <a:ext uri="{28A0092B-C50C-407E-A947-70E740481C1C}">
                  <a14:useLocalDpi xmlns:a14="http://schemas.microsoft.com/office/drawing/2010/main" val="0"/>
                </a:ext>
              </a:extLst>
            </a:blip>
            <a:srcRect l="21153" t="21077" r="17406" b="12392"/>
            <a:stretch/>
          </p:blipFill>
          <p:spPr>
            <a:xfrm>
              <a:off x="373689" y="2613691"/>
              <a:ext cx="3410596" cy="2477943"/>
            </a:xfrm>
            <a:prstGeom prst="rect">
              <a:avLst/>
            </a:prstGeom>
          </p:spPr>
        </p:pic>
        <p:grpSp>
          <p:nvGrpSpPr>
            <p:cNvPr id="9" name="群組 8">
              <a:extLst>
                <a:ext uri="{FF2B5EF4-FFF2-40B4-BE49-F238E27FC236}">
                  <a16:creationId xmlns:a16="http://schemas.microsoft.com/office/drawing/2014/main" id="{58CE3C77-D104-404F-82D4-0C83DAEED912}"/>
                </a:ext>
              </a:extLst>
            </p:cNvPr>
            <p:cNvGrpSpPr/>
            <p:nvPr/>
          </p:nvGrpSpPr>
          <p:grpSpPr>
            <a:xfrm>
              <a:off x="1491261" y="3253470"/>
              <a:ext cx="1228561" cy="1176562"/>
              <a:chOff x="2701406" y="2893183"/>
              <a:chExt cx="1228561" cy="1176562"/>
            </a:xfrm>
          </p:grpSpPr>
          <p:sp>
            <p:nvSpPr>
              <p:cNvPr id="13" name="文字方塊 12">
                <a:extLst>
                  <a:ext uri="{FF2B5EF4-FFF2-40B4-BE49-F238E27FC236}">
                    <a16:creationId xmlns:a16="http://schemas.microsoft.com/office/drawing/2014/main" id="{C0E75292-499D-410E-BCF9-A2D24F3B152B}"/>
                  </a:ext>
                </a:extLst>
              </p:cNvPr>
              <p:cNvSpPr txBox="1"/>
              <p:nvPr/>
            </p:nvSpPr>
            <p:spPr>
              <a:xfrm>
                <a:off x="3460750" y="3608079"/>
                <a:ext cx="43415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F88C5623-FFDF-438A-B840-17AF3FA5AA30}"/>
                  </a:ext>
                </a:extLst>
              </p:cNvPr>
              <p:cNvSpPr txBox="1"/>
              <p:nvPr/>
            </p:nvSpPr>
            <p:spPr>
              <a:xfrm>
                <a:off x="2818838" y="3184598"/>
                <a:ext cx="43201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EF756CA1-B35F-46FC-8E2D-8A602E20A801}"/>
                  </a:ext>
                </a:extLst>
              </p:cNvPr>
              <p:cNvSpPr txBox="1"/>
              <p:nvPr/>
            </p:nvSpPr>
            <p:spPr>
              <a:xfrm>
                <a:off x="3146620" y="2893183"/>
                <a:ext cx="53120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7ADAF09B-1C24-49E7-A12E-4FA623B349D7}"/>
                  </a:ext>
                </a:extLst>
              </p:cNvPr>
              <p:cNvSpPr txBox="1"/>
              <p:nvPr/>
            </p:nvSpPr>
            <p:spPr>
              <a:xfrm>
                <a:off x="2701406" y="3608079"/>
                <a:ext cx="44216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37C301C1-DDCC-438C-996B-2D11692E1DE3}"/>
                  </a:ext>
                </a:extLst>
              </p:cNvPr>
              <p:cNvSpPr txBox="1"/>
              <p:nvPr/>
            </p:nvSpPr>
            <p:spPr>
              <a:xfrm>
                <a:off x="3092558" y="3761968"/>
                <a:ext cx="45865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22A0295E-5236-4D9B-9E34-4666437E4B01}"/>
                  </a:ext>
                </a:extLst>
              </p:cNvPr>
              <p:cNvSpPr txBox="1"/>
              <p:nvPr/>
            </p:nvSpPr>
            <p:spPr>
              <a:xfrm>
                <a:off x="3499145" y="3162394"/>
                <a:ext cx="43082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grpSp>
      <p:grpSp>
        <p:nvGrpSpPr>
          <p:cNvPr id="4" name="群組 3">
            <a:extLst>
              <a:ext uri="{FF2B5EF4-FFF2-40B4-BE49-F238E27FC236}">
                <a16:creationId xmlns:a16="http://schemas.microsoft.com/office/drawing/2014/main" id="{1FDC83DC-92D9-4D5E-BBD7-36A1268AD8C9}"/>
              </a:ext>
            </a:extLst>
          </p:cNvPr>
          <p:cNvGrpSpPr/>
          <p:nvPr/>
        </p:nvGrpSpPr>
        <p:grpSpPr>
          <a:xfrm>
            <a:off x="575874" y="3278260"/>
            <a:ext cx="3509191" cy="2598287"/>
            <a:chOff x="667123" y="3381820"/>
            <a:chExt cx="3509191" cy="2598287"/>
          </a:xfrm>
        </p:grpSpPr>
        <p:pic>
          <p:nvPicPr>
            <p:cNvPr id="20" name="圖片 19">
              <a:extLst>
                <a:ext uri="{FF2B5EF4-FFF2-40B4-BE49-F238E27FC236}">
                  <a16:creationId xmlns:a16="http://schemas.microsoft.com/office/drawing/2014/main" id="{6A8FD489-3B78-4DCA-83AE-A0C17F587CFB}"/>
                </a:ext>
              </a:extLst>
            </p:cNvPr>
            <p:cNvPicPr>
              <a:picLocks noChangeAspect="1"/>
            </p:cNvPicPr>
            <p:nvPr/>
          </p:nvPicPr>
          <p:blipFill rotWithShape="1">
            <a:blip r:embed="rId3">
              <a:extLst>
                <a:ext uri="{28A0092B-C50C-407E-A947-70E740481C1C}">
                  <a14:useLocalDpi xmlns:a14="http://schemas.microsoft.com/office/drawing/2010/main" val="0"/>
                </a:ext>
              </a:extLst>
            </a:blip>
            <a:srcRect l="26359" t="20047" r="19666" b="12831"/>
            <a:stretch/>
          </p:blipFill>
          <p:spPr>
            <a:xfrm>
              <a:off x="667123" y="3381820"/>
              <a:ext cx="3509191" cy="2598287"/>
            </a:xfrm>
            <a:prstGeom prst="rect">
              <a:avLst/>
            </a:prstGeom>
          </p:spPr>
        </p:pic>
        <p:sp>
          <p:nvSpPr>
            <p:cNvPr id="21" name="文字方塊 20">
              <a:extLst>
                <a:ext uri="{FF2B5EF4-FFF2-40B4-BE49-F238E27FC236}">
                  <a16:creationId xmlns:a16="http://schemas.microsoft.com/office/drawing/2014/main" id="{E8C74A71-E267-4230-A329-BCD1C12EDE61}"/>
                </a:ext>
              </a:extLst>
            </p:cNvPr>
            <p:cNvSpPr txBox="1"/>
            <p:nvPr/>
          </p:nvSpPr>
          <p:spPr>
            <a:xfrm>
              <a:off x="2672497" y="4791315"/>
              <a:ext cx="50005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79ED01CA-201F-4FBD-B1BE-8C7F2E5A57F6}"/>
                </a:ext>
              </a:extLst>
            </p:cNvPr>
            <p:cNvSpPr txBox="1"/>
            <p:nvPr/>
          </p:nvSpPr>
          <p:spPr>
            <a:xfrm>
              <a:off x="1648976" y="4369251"/>
              <a:ext cx="50005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9B1A8B7B-69AC-402B-82C6-FA98B1FBEC36}"/>
                </a:ext>
              </a:extLst>
            </p:cNvPr>
            <p:cNvSpPr txBox="1"/>
            <p:nvPr/>
          </p:nvSpPr>
          <p:spPr>
            <a:xfrm>
              <a:off x="2080822" y="4023193"/>
              <a:ext cx="56534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46769671-FF10-4489-9DC5-83CD62854141}"/>
                </a:ext>
              </a:extLst>
            </p:cNvPr>
            <p:cNvSpPr txBox="1"/>
            <p:nvPr/>
          </p:nvSpPr>
          <p:spPr>
            <a:xfrm>
              <a:off x="2202260" y="5009637"/>
              <a:ext cx="70684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09D03EFE-B287-4CCF-94E7-84A1CD90A171}"/>
                </a:ext>
              </a:extLst>
            </p:cNvPr>
            <p:cNvSpPr txBox="1"/>
            <p:nvPr/>
          </p:nvSpPr>
          <p:spPr>
            <a:xfrm>
              <a:off x="1722778" y="4920250"/>
              <a:ext cx="716087"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1E74A96C-F4DC-406B-9866-99487CFE1AF9}"/>
                </a:ext>
              </a:extLst>
            </p:cNvPr>
            <p:cNvSpPr txBox="1"/>
            <p:nvPr/>
          </p:nvSpPr>
          <p:spPr>
            <a:xfrm>
              <a:off x="2646170" y="4218252"/>
              <a:ext cx="50005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sp>
        <p:nvSpPr>
          <p:cNvPr id="27" name="auto caption"/>
          <p:cNvSpPr txBox="1"/>
          <p:nvPr/>
        </p:nvSpPr>
        <p:spPr>
          <a:xfrm>
            <a:off x="282787" y="583936"/>
            <a:ext cx="11155680" cy="1325880"/>
          </a:xfrm>
          <a:prstGeom prst="rect">
            <a:avLst/>
          </a:prstGeom>
          <a:noFill/>
        </p:spPr>
        <p:txBody>
          <a:bodyPr wrap="square" rtlCol="0">
            <a:normAutofit lnSpcReduction="10000"/>
          </a:bodyPr>
          <a:lstStyle/>
          <a:p>
            <a:pPr marL="285750" indent="-285750"/>
            <a:r>
              <a:rPr lang="en-US" altLang="zh-TW" dirty="0"/>
              <a:t>Setup: The assessment that follows compares two six-pole actuator designs, Design 1 on a circular yoke and Design 2 on a planar square frame. Both are described by the same lumped-parameter model and use the pole numbering P1-P6 shown here.</a:t>
            </a:r>
          </a:p>
          <a:p>
            <a:pPr marL="285750" indent="-285750"/>
            <a:r>
              <a:rPr lang="en-US" altLang="zh-TW" dirty="0"/>
              <a:t>Sharing the model form and the pole numbering, the two differ only in geometry, so their calibrated parameters can be compared directly in the following slides.</a:t>
            </a:r>
          </a:p>
        </p:txBody>
      </p:sp>
    </p:spTree>
    <p:extLst>
      <p:ext uri="{BB962C8B-B14F-4D97-AF65-F5344CB8AC3E}">
        <p14:creationId xmlns:p14="http://schemas.microsoft.com/office/powerpoint/2010/main" val="2351545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26821"/>
            <a:ext cx="12192000" cy="3901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34" name="矩形 33">
            <a:extLst>
              <a:ext uri="{FF2B5EF4-FFF2-40B4-BE49-F238E27FC236}">
                <a16:creationId xmlns:a16="http://schemas.microsoft.com/office/drawing/2014/main" id="{79D2E760-7634-49B3-8738-C566096C37A8}"/>
              </a:ext>
            </a:extLst>
          </p:cNvPr>
          <p:cNvSpPr/>
          <p:nvPr/>
        </p:nvSpPr>
        <p:spPr>
          <a:xfrm>
            <a:off x="5460999" y="1928550"/>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1190983A-5C39-4886-9619-EB987BA08A5A}"/>
              </a:ext>
            </a:extLst>
          </p:cNvPr>
          <p:cNvSpPr/>
          <p:nvPr/>
        </p:nvSpPr>
        <p:spPr>
          <a:xfrm>
            <a:off x="10089400" y="2305645"/>
            <a:ext cx="154270" cy="2491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3" name="矩形 42">
            <a:extLst>
              <a:ext uri="{FF2B5EF4-FFF2-40B4-BE49-F238E27FC236}">
                <a16:creationId xmlns:a16="http://schemas.microsoft.com/office/drawing/2014/main" id="{DAC22EB2-D2BB-462C-BC74-58FD2DE4BA6A}"/>
              </a:ext>
            </a:extLst>
          </p:cNvPr>
          <p:cNvSpPr/>
          <p:nvPr/>
        </p:nvSpPr>
        <p:spPr>
          <a:xfrm>
            <a:off x="6256928"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8CA65E4A-CFB2-4EA2-85BD-0D9730ADE9B3}"/>
              </a:ext>
            </a:extLst>
          </p:cNvPr>
          <p:cNvSpPr/>
          <p:nvPr/>
        </p:nvSpPr>
        <p:spPr>
          <a:xfrm>
            <a:off x="8173347" y="3309968"/>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矩形 46">
            <a:extLst>
              <a:ext uri="{FF2B5EF4-FFF2-40B4-BE49-F238E27FC236}">
                <a16:creationId xmlns:a16="http://schemas.microsoft.com/office/drawing/2014/main" id="{F8240F74-EA98-4ED3-B43E-B311F02C30DD}"/>
              </a:ext>
            </a:extLst>
          </p:cNvPr>
          <p:cNvSpPr/>
          <p:nvPr/>
        </p:nvSpPr>
        <p:spPr>
          <a:xfrm>
            <a:off x="8932275"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E3B77C83-699E-461F-B4BA-8C2FA871DCA2}"/>
              </a:ext>
            </a:extLst>
          </p:cNvPr>
          <p:cNvSpPr/>
          <p:nvPr/>
        </p:nvSpPr>
        <p:spPr>
          <a:xfrm>
            <a:off x="5351905" y="2059278"/>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3D14EEA7-B1CC-4A28-BF80-872555CF32BF}"/>
              </a:ext>
            </a:extLst>
          </p:cNvPr>
          <p:cNvSpPr/>
          <p:nvPr/>
        </p:nvSpPr>
        <p:spPr>
          <a:xfrm>
            <a:off x="6535040" y="2906549"/>
            <a:ext cx="218554" cy="18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a:extLst>
              <a:ext uri="{FF2B5EF4-FFF2-40B4-BE49-F238E27FC236}">
                <a16:creationId xmlns:a16="http://schemas.microsoft.com/office/drawing/2014/main" id="{3FBA3E74-E0D9-4C92-89A1-FC1810D9C593}"/>
              </a:ext>
            </a:extLst>
          </p:cNvPr>
          <p:cNvSpPr/>
          <p:nvPr/>
        </p:nvSpPr>
        <p:spPr>
          <a:xfrm>
            <a:off x="10419603" y="2544525"/>
            <a:ext cx="61970" cy="410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6" name="群組 65">
            <a:extLst>
              <a:ext uri="{FF2B5EF4-FFF2-40B4-BE49-F238E27FC236}">
                <a16:creationId xmlns:a16="http://schemas.microsoft.com/office/drawing/2014/main" id="{B8B44E8A-7C69-40AF-868C-858D8E255A75}"/>
              </a:ext>
            </a:extLst>
          </p:cNvPr>
          <p:cNvGrpSpPr/>
          <p:nvPr/>
        </p:nvGrpSpPr>
        <p:grpSpPr>
          <a:xfrm>
            <a:off x="7498212" y="3763636"/>
            <a:ext cx="2973497" cy="2082167"/>
            <a:chOff x="6051068" y="3773292"/>
            <a:chExt cx="3462496" cy="2286540"/>
          </a:xfrm>
        </p:grpSpPr>
        <p:sp>
          <p:nvSpPr>
            <p:cNvPr id="61" name="矩形 60">
              <a:extLst>
                <a:ext uri="{FF2B5EF4-FFF2-40B4-BE49-F238E27FC236}">
                  <a16:creationId xmlns:a16="http://schemas.microsoft.com/office/drawing/2014/main" id="{654CDC74-E55F-4DBC-B616-357EBC5F4474}"/>
                </a:ext>
              </a:extLst>
            </p:cNvPr>
            <p:cNvSpPr/>
            <p:nvPr/>
          </p:nvSpPr>
          <p:spPr>
            <a:xfrm>
              <a:off x="8324876" y="5644809"/>
              <a:ext cx="258270"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CD1471C2-34F2-4760-BFF2-E80C9E428DEC}"/>
                </a:ext>
              </a:extLst>
            </p:cNvPr>
            <p:cNvSpPr/>
            <p:nvPr/>
          </p:nvSpPr>
          <p:spPr>
            <a:xfrm>
              <a:off x="6446961" y="3773292"/>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3" name="矩形 62">
              <a:extLst>
                <a:ext uri="{FF2B5EF4-FFF2-40B4-BE49-F238E27FC236}">
                  <a16:creationId xmlns:a16="http://schemas.microsoft.com/office/drawing/2014/main" id="{90FF13F8-3A65-4128-BC28-CAC513B4FB57}"/>
                </a:ext>
              </a:extLst>
            </p:cNvPr>
            <p:cNvSpPr/>
            <p:nvPr/>
          </p:nvSpPr>
          <p:spPr>
            <a:xfrm>
              <a:off x="6051068" y="5067090"/>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a:extLst>
                <a:ext uri="{FF2B5EF4-FFF2-40B4-BE49-F238E27FC236}">
                  <a16:creationId xmlns:a16="http://schemas.microsoft.com/office/drawing/2014/main" id="{5BAF1E9B-9DCD-467B-B70A-E5CD30B363C2}"/>
                </a:ext>
              </a:extLst>
            </p:cNvPr>
            <p:cNvSpPr/>
            <p:nvPr/>
          </p:nvSpPr>
          <p:spPr>
            <a:xfrm>
              <a:off x="7250039" y="5828298"/>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5" name="矩形 64">
              <a:extLst>
                <a:ext uri="{FF2B5EF4-FFF2-40B4-BE49-F238E27FC236}">
                  <a16:creationId xmlns:a16="http://schemas.microsoft.com/office/drawing/2014/main" id="{9D7F0799-F13A-4899-9213-C4590823EDB0}"/>
                </a:ext>
              </a:extLst>
            </p:cNvPr>
            <p:cNvSpPr/>
            <p:nvPr/>
          </p:nvSpPr>
          <p:spPr>
            <a:xfrm>
              <a:off x="9295009" y="4197827"/>
              <a:ext cx="218555" cy="922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79" name="矩形 78">
            <a:extLst>
              <a:ext uri="{FF2B5EF4-FFF2-40B4-BE49-F238E27FC236}">
                <a16:creationId xmlns:a16="http://schemas.microsoft.com/office/drawing/2014/main" id="{6EE2C76E-7851-4AB6-9A3E-18664BA7EDA9}"/>
              </a:ext>
            </a:extLst>
          </p:cNvPr>
          <p:cNvSpPr/>
          <p:nvPr/>
        </p:nvSpPr>
        <p:spPr>
          <a:xfrm>
            <a:off x="5106371" y="3533630"/>
            <a:ext cx="245534" cy="266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9" name="群組 8">
            <a:extLst>
              <a:ext uri="{FF2B5EF4-FFF2-40B4-BE49-F238E27FC236}">
                <a16:creationId xmlns:a16="http://schemas.microsoft.com/office/drawing/2014/main" id="{E31C501E-2BE5-49EF-B9EA-E57A5D7EB061}"/>
              </a:ext>
            </a:extLst>
          </p:cNvPr>
          <p:cNvGrpSpPr/>
          <p:nvPr/>
        </p:nvGrpSpPr>
        <p:grpSpPr>
          <a:xfrm>
            <a:off x="7047939" y="760013"/>
            <a:ext cx="3863123" cy="1926930"/>
            <a:chOff x="7047939" y="760013"/>
            <a:chExt cx="3863123" cy="1926930"/>
          </a:xfrm>
        </p:grpSpPr>
        <p:pic>
          <p:nvPicPr>
            <p:cNvPr id="7" name="圖片 6">
              <a:extLst>
                <a:ext uri="{FF2B5EF4-FFF2-40B4-BE49-F238E27FC236}">
                  <a16:creationId xmlns:a16="http://schemas.microsoft.com/office/drawing/2014/main" id="{CFD883F9-DD2C-400F-8467-52A57C3680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6006" y="910421"/>
              <a:ext cx="3507394" cy="1631975"/>
            </a:xfrm>
            <a:prstGeom prst="rect">
              <a:avLst/>
            </a:prstGeom>
          </p:spPr>
        </p:pic>
        <p:grpSp>
          <p:nvGrpSpPr>
            <p:cNvPr id="126" name="群組 125">
              <a:extLst>
                <a:ext uri="{FF2B5EF4-FFF2-40B4-BE49-F238E27FC236}">
                  <a16:creationId xmlns:a16="http://schemas.microsoft.com/office/drawing/2014/main" id="{D2C34612-FE87-41C5-9E68-80C0F016BEEF}"/>
                </a:ext>
              </a:extLst>
            </p:cNvPr>
            <p:cNvGrpSpPr/>
            <p:nvPr/>
          </p:nvGrpSpPr>
          <p:grpSpPr>
            <a:xfrm>
              <a:off x="7047939" y="760013"/>
              <a:ext cx="3863123" cy="1926930"/>
              <a:chOff x="5954489" y="996129"/>
              <a:chExt cx="3863123" cy="1926930"/>
            </a:xfrm>
          </p:grpSpPr>
          <p:grpSp>
            <p:nvGrpSpPr>
              <p:cNvPr id="104" name="群組 103">
                <a:extLst>
                  <a:ext uri="{FF2B5EF4-FFF2-40B4-BE49-F238E27FC236}">
                    <a16:creationId xmlns:a16="http://schemas.microsoft.com/office/drawing/2014/main" id="{A6B76983-543C-42CB-9656-7C72DACBE64A}"/>
                  </a:ext>
                </a:extLst>
              </p:cNvPr>
              <p:cNvGrpSpPr/>
              <p:nvPr/>
            </p:nvGrpSpPr>
            <p:grpSpPr>
              <a:xfrm>
                <a:off x="6048612" y="996130"/>
                <a:ext cx="3769000" cy="1869530"/>
                <a:chOff x="6031779" y="1026279"/>
                <a:chExt cx="3769000" cy="1832580"/>
              </a:xfrm>
            </p:grpSpPr>
            <p:grpSp>
              <p:nvGrpSpPr>
                <p:cNvPr id="103" name="群組 102">
                  <a:extLst>
                    <a:ext uri="{FF2B5EF4-FFF2-40B4-BE49-F238E27FC236}">
                      <a16:creationId xmlns:a16="http://schemas.microsoft.com/office/drawing/2014/main" id="{B312056C-7B99-454C-9849-1B693289290F}"/>
                    </a:ext>
                  </a:extLst>
                </p:cNvPr>
                <p:cNvGrpSpPr/>
                <p:nvPr/>
              </p:nvGrpSpPr>
              <p:grpSpPr>
                <a:xfrm>
                  <a:off x="6031779" y="1100186"/>
                  <a:ext cx="3703680" cy="1719070"/>
                  <a:chOff x="6031779" y="1100186"/>
                  <a:chExt cx="3703680" cy="1719070"/>
                </a:xfrm>
              </p:grpSpPr>
              <p:sp>
                <p:nvSpPr>
                  <p:cNvPr id="93" name="矩形 92">
                    <a:extLst>
                      <a:ext uri="{FF2B5EF4-FFF2-40B4-BE49-F238E27FC236}">
                        <a16:creationId xmlns:a16="http://schemas.microsoft.com/office/drawing/2014/main" id="{525AE447-9ED2-4513-9B43-301DCA1B05D1}"/>
                      </a:ext>
                    </a:extLst>
                  </p:cNvPr>
                  <p:cNvSpPr/>
                  <p:nvPr/>
                </p:nvSpPr>
                <p:spPr>
                  <a:xfrm>
                    <a:off x="6857852" y="1100186"/>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矩形 93">
                    <a:extLst>
                      <a:ext uri="{FF2B5EF4-FFF2-40B4-BE49-F238E27FC236}">
                        <a16:creationId xmlns:a16="http://schemas.microsoft.com/office/drawing/2014/main" id="{D65C1B0B-E03C-4C86-8C56-4B5AF5A3BD39}"/>
                      </a:ext>
                    </a:extLst>
                  </p:cNvPr>
                  <p:cNvSpPr/>
                  <p:nvPr/>
                </p:nvSpPr>
                <p:spPr>
                  <a:xfrm>
                    <a:off x="8407636" y="1100186"/>
                    <a:ext cx="308314" cy="1999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a:extLst>
                      <a:ext uri="{FF2B5EF4-FFF2-40B4-BE49-F238E27FC236}">
                        <a16:creationId xmlns:a16="http://schemas.microsoft.com/office/drawing/2014/main" id="{97A0856B-15B2-45BC-9274-DEE2C95991E2}"/>
                      </a:ext>
                    </a:extLst>
                  </p:cNvPr>
                  <p:cNvSpPr/>
                  <p:nvPr/>
                </p:nvSpPr>
                <p:spPr>
                  <a:xfrm>
                    <a:off x="7576681" y="1865243"/>
                    <a:ext cx="336141" cy="216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矩形 95">
                    <a:extLst>
                      <a:ext uri="{FF2B5EF4-FFF2-40B4-BE49-F238E27FC236}">
                        <a16:creationId xmlns:a16="http://schemas.microsoft.com/office/drawing/2014/main" id="{EAF62A92-51E9-40BA-860A-15EE3CC9F38C}"/>
                      </a:ext>
                    </a:extLst>
                  </p:cNvPr>
                  <p:cNvSpPr/>
                  <p:nvPr/>
                </p:nvSpPr>
                <p:spPr>
                  <a:xfrm>
                    <a:off x="6031779" y="1839773"/>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7" name="矩形 96">
                    <a:extLst>
                      <a:ext uri="{FF2B5EF4-FFF2-40B4-BE49-F238E27FC236}">
                        <a16:creationId xmlns:a16="http://schemas.microsoft.com/office/drawing/2014/main" id="{428B6E4B-BA92-4351-AF44-9EDCF9387C43}"/>
                      </a:ext>
                    </a:extLst>
                  </p:cNvPr>
                  <p:cNvSpPr/>
                  <p:nvPr/>
                </p:nvSpPr>
                <p:spPr>
                  <a:xfrm>
                    <a:off x="6805183" y="2629113"/>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a:extLst>
                      <a:ext uri="{FF2B5EF4-FFF2-40B4-BE49-F238E27FC236}">
                        <a16:creationId xmlns:a16="http://schemas.microsoft.com/office/drawing/2014/main" id="{10C9BAEF-BFCC-48D3-98B8-BA829C8B86D9}"/>
                      </a:ext>
                    </a:extLst>
                  </p:cNvPr>
                  <p:cNvSpPr/>
                  <p:nvPr/>
                </p:nvSpPr>
                <p:spPr>
                  <a:xfrm>
                    <a:off x="8387231" y="2614434"/>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a:extLst>
                      <a:ext uri="{FF2B5EF4-FFF2-40B4-BE49-F238E27FC236}">
                        <a16:creationId xmlns:a16="http://schemas.microsoft.com/office/drawing/2014/main" id="{A6345865-5CDE-4A43-810D-D8AAECD35F25}"/>
                      </a:ext>
                    </a:extLst>
                  </p:cNvPr>
                  <p:cNvSpPr/>
                  <p:nvPr/>
                </p:nvSpPr>
                <p:spPr>
                  <a:xfrm>
                    <a:off x="9574045" y="1663714"/>
                    <a:ext cx="161414" cy="453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矩形 99">
                    <a:extLst>
                      <a:ext uri="{FF2B5EF4-FFF2-40B4-BE49-F238E27FC236}">
                        <a16:creationId xmlns:a16="http://schemas.microsoft.com/office/drawing/2014/main" id="{AD847CB7-AB23-4174-880D-8148114705A1}"/>
                      </a:ext>
                    </a:extLst>
                  </p:cNvPr>
                  <p:cNvSpPr/>
                  <p:nvPr/>
                </p:nvSpPr>
                <p:spPr>
                  <a:xfrm>
                    <a:off x="9221158" y="1806141"/>
                    <a:ext cx="175304" cy="2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786A494C-BAF4-4D1F-BA9A-4460EFDB47C1}"/>
                        </a:ext>
                      </a:extLst>
                    </p:cNvPr>
                    <p:cNvSpPr txBox="1"/>
                    <p:nvPr/>
                  </p:nvSpPr>
                  <p:spPr>
                    <a:xfrm rot="16200000">
                      <a:off x="8745990" y="1804069"/>
                      <a:ext cx="183258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20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apacity</m:t>
                            </m:r>
                            <m:r>
                              <a:rPr lang="en-US" altLang="zh-TW" sz="1200" b="0" i="0" smtClean="0">
                                <a:latin typeface="Cambria Math" panose="02040503050406030204" pitchFamily="18" charset="0"/>
                                <a:ea typeface="Cambria Math" panose="02040503050406030204" pitchFamily="18" charset="0"/>
                              </a:rPr>
                              <m:t> </m:t>
                            </m:r>
                            <m:r>
                              <m:rPr>
                                <m:sty m:val="p"/>
                              </m:rPr>
                              <a:rPr lang="en-US" altLang="zh-TW" sz="1200" b="0" i="0" smtClean="0">
                                <a:latin typeface="Cambria Math" panose="02040503050406030204" pitchFamily="18" charset="0"/>
                                <a:ea typeface="Cambria Math" panose="02040503050406030204" pitchFamily="18" charset="0"/>
                              </a:rPr>
                              <m:t>measure</m:t>
                            </m:r>
                            <m:r>
                              <a:rPr lang="en-US" altLang="zh-TW" sz="1200" b="0" i="0" smtClean="0">
                                <a:latin typeface="Cambria Math" panose="02040503050406030204" pitchFamily="18" charset="0"/>
                                <a:ea typeface="Cambria Math" panose="02040503050406030204" pitchFamily="18" charset="0"/>
                              </a:rPr>
                              <m:t> </m:t>
                            </m:r>
                            <m:r>
                              <a:rPr lang="en-US" altLang="zh-TW" sz="1200" b="0" i="1" smtClean="0">
                                <a:latin typeface="Cambria Math" panose="02040503050406030204" pitchFamily="18" charset="0"/>
                                <a:ea typeface="Cambria Math" panose="02040503050406030204" pitchFamily="18" charset="0"/>
                              </a:rPr>
                              <m:t>(</m:t>
                            </m:r>
                            <m:f>
                              <m:fPr>
                                <m:type m:val="lin"/>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𝑚𝑇</m:t>
                                </m:r>
                              </m:num>
                              <m:den>
                                <m:r>
                                  <a:rPr lang="en-US" altLang="zh-TW" sz="1200" b="0" i="1" smtClean="0">
                                    <a:latin typeface="Cambria Math" panose="02040503050406030204" pitchFamily="18" charset="0"/>
                                    <a:ea typeface="Cambria Math" panose="02040503050406030204" pitchFamily="18" charset="0"/>
                                  </a:rPr>
                                  <m:t>𝐴</m:t>
                                </m:r>
                              </m:den>
                            </m:f>
                            <m:r>
                              <a:rPr lang="en-US" altLang="zh-TW" sz="12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59" name="文字方塊 58">
                      <a:extLst>
                        <a:ext uri="{FF2B5EF4-FFF2-40B4-BE49-F238E27FC236}">
                          <a16:creationId xmlns:a16="http://schemas.microsoft.com/office/drawing/2014/main" id="{786A494C-BAF4-4D1F-BA9A-4460EFDB47C1}"/>
                        </a:ext>
                      </a:extLst>
                    </p:cNvPr>
                    <p:cNvSpPr txBox="1">
                      <a:spLocks noRot="1" noChangeAspect="1" noMove="1" noResize="1" noEditPoints="1" noAdjustHandles="1" noChangeArrowheads="1" noChangeShapeType="1" noTextEdit="1"/>
                    </p:cNvSpPr>
                    <p:nvPr/>
                  </p:nvSpPr>
                  <p:spPr>
                    <a:xfrm rot="16200000">
                      <a:off x="8745990" y="1804069"/>
                      <a:ext cx="1832580" cy="276999"/>
                    </a:xfrm>
                    <a:prstGeom prst="rect">
                      <a:avLst/>
                    </a:prstGeom>
                    <a:blipFill>
                      <a:blip r:embed="rId3"/>
                      <a:stretch>
                        <a:fillRect l="-93478" t="-13725" r="-143478"/>
                      </a:stretch>
                    </a:blipFill>
                  </p:spPr>
                  <p:txBody>
                    <a:bodyPr/>
                    <a:lstStyle/>
                    <a:p>
                      <a:r>
                        <a:rPr lang="zh-TW" altLang="en-US">
                          <a:noFill/>
                        </a:rPr>
                        <a:t> </a:t>
                      </a:r>
                    </a:p>
                  </p:txBody>
                </p:sp>
              </mc:Fallback>
            </mc:AlternateContent>
          </p:grpSp>
          <p:sp>
            <p:nvSpPr>
              <p:cNvPr id="114" name="文字方塊 113">
                <a:extLst>
                  <a:ext uri="{FF2B5EF4-FFF2-40B4-BE49-F238E27FC236}">
                    <a16:creationId xmlns:a16="http://schemas.microsoft.com/office/drawing/2014/main" id="{E622866F-97AA-4705-A2C2-49B20B60A011}"/>
                  </a:ext>
                </a:extLst>
              </p:cNvPr>
              <p:cNvSpPr txBox="1"/>
              <p:nvPr/>
            </p:nvSpPr>
            <p:spPr>
              <a:xfrm>
                <a:off x="7549967" y="200589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5" name="文字方塊 114">
                <a:extLst>
                  <a:ext uri="{FF2B5EF4-FFF2-40B4-BE49-F238E27FC236}">
                    <a16:creationId xmlns:a16="http://schemas.microsoft.com/office/drawing/2014/main" id="{BF354481-1145-4CE9-A8D7-E3EB0E045610}"/>
                  </a:ext>
                </a:extLst>
              </p:cNvPr>
              <p:cNvSpPr txBox="1"/>
              <p:nvPr/>
            </p:nvSpPr>
            <p:spPr>
              <a:xfrm>
                <a:off x="7618085" y="166868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6" name="文字方塊 115">
                <a:extLst>
                  <a:ext uri="{FF2B5EF4-FFF2-40B4-BE49-F238E27FC236}">
                    <a16:creationId xmlns:a16="http://schemas.microsoft.com/office/drawing/2014/main" id="{36C778ED-A77C-4E31-B310-802AEAED8562}"/>
                  </a:ext>
                </a:extLst>
              </p:cNvPr>
              <p:cNvSpPr txBox="1"/>
              <p:nvPr/>
            </p:nvSpPr>
            <p:spPr>
              <a:xfrm>
                <a:off x="6749644" y="99612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7" name="文字方塊 116">
                <a:extLst>
                  <a:ext uri="{FF2B5EF4-FFF2-40B4-BE49-F238E27FC236}">
                    <a16:creationId xmlns:a16="http://schemas.microsoft.com/office/drawing/2014/main" id="{FC4BE724-CC8A-4AAD-AE24-C6703DBE7809}"/>
                  </a:ext>
                </a:extLst>
              </p:cNvPr>
              <p:cNvSpPr txBox="1"/>
              <p:nvPr/>
            </p:nvSpPr>
            <p:spPr>
              <a:xfrm>
                <a:off x="5954489" y="174400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8" name="文字方塊 117">
                <a:extLst>
                  <a:ext uri="{FF2B5EF4-FFF2-40B4-BE49-F238E27FC236}">
                    <a16:creationId xmlns:a16="http://schemas.microsoft.com/office/drawing/2014/main" id="{872148E4-1375-478B-B410-534E4E752F65}"/>
                  </a:ext>
                </a:extLst>
              </p:cNvPr>
              <p:cNvSpPr txBox="1"/>
              <p:nvPr/>
            </p:nvSpPr>
            <p:spPr>
              <a:xfrm>
                <a:off x="6784179" y="261528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9" name="文字方塊 118">
                <a:extLst>
                  <a:ext uri="{FF2B5EF4-FFF2-40B4-BE49-F238E27FC236}">
                    <a16:creationId xmlns:a16="http://schemas.microsoft.com/office/drawing/2014/main" id="{92DFC208-7E33-4AFA-9692-4CE531AC23A6}"/>
                  </a:ext>
                </a:extLst>
              </p:cNvPr>
              <p:cNvSpPr txBox="1"/>
              <p:nvPr/>
            </p:nvSpPr>
            <p:spPr>
              <a:xfrm>
                <a:off x="8375762" y="1019647"/>
                <a:ext cx="38009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0" name="文字方塊 119">
                <a:extLst>
                  <a:ext uri="{FF2B5EF4-FFF2-40B4-BE49-F238E27FC236}">
                    <a16:creationId xmlns:a16="http://schemas.microsoft.com/office/drawing/2014/main" id="{0C02D05A-19CA-4649-8B73-FF2BACB0F342}"/>
                  </a:ext>
                </a:extLst>
              </p:cNvPr>
              <p:cNvSpPr txBox="1"/>
              <p:nvPr/>
            </p:nvSpPr>
            <p:spPr>
              <a:xfrm>
                <a:off x="8427913" y="260815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1" name="文字方塊 120">
                <a:extLst>
                  <a:ext uri="{FF2B5EF4-FFF2-40B4-BE49-F238E27FC236}">
                    <a16:creationId xmlns:a16="http://schemas.microsoft.com/office/drawing/2014/main" id="{F88C7781-126C-4732-B416-731CA551DC04}"/>
                  </a:ext>
                </a:extLst>
              </p:cNvPr>
              <p:cNvSpPr txBox="1"/>
              <p:nvPr/>
            </p:nvSpPr>
            <p:spPr>
              <a:xfrm>
                <a:off x="9146551" y="194048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2" name="文字方塊 121">
                    <a:extLst>
                      <a:ext uri="{FF2B5EF4-FFF2-40B4-BE49-F238E27FC236}">
                        <a16:creationId xmlns:a16="http://schemas.microsoft.com/office/drawing/2014/main" id="{E4ABD7FA-40B3-4FE8-BC0D-584449707A8F}"/>
                      </a:ext>
                    </a:extLst>
                  </p:cNvPr>
                  <p:cNvSpPr txBox="1"/>
                  <p:nvPr/>
                </p:nvSpPr>
                <p:spPr>
                  <a:xfrm>
                    <a:off x="7089658" y="1894180"/>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2" name="文字方塊 121">
                    <a:extLst>
                      <a:ext uri="{FF2B5EF4-FFF2-40B4-BE49-F238E27FC236}">
                        <a16:creationId xmlns:a16="http://schemas.microsoft.com/office/drawing/2014/main" id="{E4ABD7FA-40B3-4FE8-BC0D-584449707A8F}"/>
                      </a:ext>
                    </a:extLst>
                  </p:cNvPr>
                  <p:cNvSpPr txBox="1">
                    <a:spLocks noRot="1" noChangeAspect="1" noMove="1" noResize="1" noEditPoints="1" noAdjustHandles="1" noChangeArrowheads="1" noChangeShapeType="1" noTextEdit="1"/>
                  </p:cNvSpPr>
                  <p:nvPr/>
                </p:nvSpPr>
                <p:spPr>
                  <a:xfrm>
                    <a:off x="7089658" y="1894180"/>
                    <a:ext cx="332369" cy="30777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3" name="文字方塊 122">
                    <a:extLst>
                      <a:ext uri="{FF2B5EF4-FFF2-40B4-BE49-F238E27FC236}">
                        <a16:creationId xmlns:a16="http://schemas.microsoft.com/office/drawing/2014/main" id="{EC2CC104-96C8-4CFE-8762-71B98E94DB61}"/>
                      </a:ext>
                    </a:extLst>
                  </p:cNvPr>
                  <p:cNvSpPr txBox="1"/>
                  <p:nvPr/>
                </p:nvSpPr>
                <p:spPr>
                  <a:xfrm>
                    <a:off x="6654418" y="140498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3" name="文字方塊 122">
                    <a:extLst>
                      <a:ext uri="{FF2B5EF4-FFF2-40B4-BE49-F238E27FC236}">
                        <a16:creationId xmlns:a16="http://schemas.microsoft.com/office/drawing/2014/main" id="{EC2CC104-96C8-4CFE-8762-71B98E94DB61}"/>
                      </a:ext>
                    </a:extLst>
                  </p:cNvPr>
                  <p:cNvSpPr txBox="1">
                    <a:spLocks noRot="1" noChangeAspect="1" noMove="1" noResize="1" noEditPoints="1" noAdjustHandles="1" noChangeArrowheads="1" noChangeShapeType="1" noTextEdit="1"/>
                  </p:cNvSpPr>
                  <p:nvPr/>
                </p:nvSpPr>
                <p:spPr>
                  <a:xfrm>
                    <a:off x="6654418" y="1404983"/>
                    <a:ext cx="332369" cy="307777"/>
                  </a:xfrm>
                  <a:prstGeom prst="rect">
                    <a:avLst/>
                  </a:prstGeom>
                  <a:blipFill>
                    <a:blip r:embed="rId5"/>
                    <a:stretch>
                      <a:fillRect b="-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4" name="文字方塊 123">
                    <a:extLst>
                      <a:ext uri="{FF2B5EF4-FFF2-40B4-BE49-F238E27FC236}">
                        <a16:creationId xmlns:a16="http://schemas.microsoft.com/office/drawing/2014/main" id="{22776C41-A1CC-4F49-B102-F5A60EC60753}"/>
                      </a:ext>
                    </a:extLst>
                  </p:cNvPr>
                  <p:cNvSpPr txBox="1"/>
                  <p:nvPr/>
                </p:nvSpPr>
                <p:spPr>
                  <a:xfrm>
                    <a:off x="8638499" y="1886078"/>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4" name="文字方塊 123">
                    <a:extLst>
                      <a:ext uri="{FF2B5EF4-FFF2-40B4-BE49-F238E27FC236}">
                        <a16:creationId xmlns:a16="http://schemas.microsoft.com/office/drawing/2014/main" id="{22776C41-A1CC-4F49-B102-F5A60EC60753}"/>
                      </a:ext>
                    </a:extLst>
                  </p:cNvPr>
                  <p:cNvSpPr txBox="1">
                    <a:spLocks noRot="1" noChangeAspect="1" noMove="1" noResize="1" noEditPoints="1" noAdjustHandles="1" noChangeArrowheads="1" noChangeShapeType="1" noTextEdit="1"/>
                  </p:cNvSpPr>
                  <p:nvPr/>
                </p:nvSpPr>
                <p:spPr>
                  <a:xfrm>
                    <a:off x="8638499" y="1886078"/>
                    <a:ext cx="332369" cy="30777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5" name="文字方塊 124">
                    <a:extLst>
                      <a:ext uri="{FF2B5EF4-FFF2-40B4-BE49-F238E27FC236}">
                        <a16:creationId xmlns:a16="http://schemas.microsoft.com/office/drawing/2014/main" id="{8B69D8F6-84BA-4CE6-9868-BCC4F0E7F1D4}"/>
                      </a:ext>
                    </a:extLst>
                  </p:cNvPr>
                  <p:cNvSpPr txBox="1"/>
                  <p:nvPr/>
                </p:nvSpPr>
                <p:spPr>
                  <a:xfrm>
                    <a:off x="8276856" y="1486891"/>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5" name="文字方塊 124">
                    <a:extLst>
                      <a:ext uri="{FF2B5EF4-FFF2-40B4-BE49-F238E27FC236}">
                        <a16:creationId xmlns:a16="http://schemas.microsoft.com/office/drawing/2014/main" id="{8B69D8F6-84BA-4CE6-9868-BCC4F0E7F1D4}"/>
                      </a:ext>
                    </a:extLst>
                  </p:cNvPr>
                  <p:cNvSpPr txBox="1">
                    <a:spLocks noRot="1" noChangeAspect="1" noMove="1" noResize="1" noEditPoints="1" noAdjustHandles="1" noChangeArrowheads="1" noChangeShapeType="1" noTextEdit="1"/>
                  </p:cNvSpPr>
                  <p:nvPr/>
                </p:nvSpPr>
                <p:spPr>
                  <a:xfrm>
                    <a:off x="8276856" y="1486891"/>
                    <a:ext cx="332369" cy="307777"/>
                  </a:xfrm>
                  <a:prstGeom prst="rect">
                    <a:avLst/>
                  </a:prstGeom>
                  <a:blipFill>
                    <a:blip r:embed="rId7"/>
                    <a:stretch>
                      <a:fillRect/>
                    </a:stretch>
                  </a:blipFill>
                </p:spPr>
                <p:txBody>
                  <a:bodyPr/>
                  <a:lstStyle/>
                  <a:p>
                    <a:r>
                      <a:rPr lang="zh-TW" altLang="en-US">
                        <a:noFill/>
                      </a:rPr>
                      <a:t> </a:t>
                    </a:r>
                  </a:p>
                </p:txBody>
              </p:sp>
            </mc:Fallback>
          </mc:AlternateContent>
        </p:grpSp>
      </p:grpSp>
      <p:grpSp>
        <p:nvGrpSpPr>
          <p:cNvPr id="10" name="群組 9">
            <a:extLst>
              <a:ext uri="{FF2B5EF4-FFF2-40B4-BE49-F238E27FC236}">
                <a16:creationId xmlns:a16="http://schemas.microsoft.com/office/drawing/2014/main" id="{F076E878-AEC7-4745-A52A-8D018051BE1B}"/>
              </a:ext>
            </a:extLst>
          </p:cNvPr>
          <p:cNvGrpSpPr/>
          <p:nvPr/>
        </p:nvGrpSpPr>
        <p:grpSpPr>
          <a:xfrm>
            <a:off x="7945169" y="2954874"/>
            <a:ext cx="2490071" cy="2026779"/>
            <a:chOff x="7945169" y="2954874"/>
            <a:chExt cx="2490071" cy="2026779"/>
          </a:xfrm>
        </p:grpSpPr>
        <p:pic>
          <p:nvPicPr>
            <p:cNvPr id="4" name="圖片 3">
              <a:extLst>
                <a:ext uri="{FF2B5EF4-FFF2-40B4-BE49-F238E27FC236}">
                  <a16:creationId xmlns:a16="http://schemas.microsoft.com/office/drawing/2014/main" id="{8068726C-9194-4471-A02B-4DED5BAA94E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30410" y="3090294"/>
              <a:ext cx="2172905" cy="1769696"/>
            </a:xfrm>
            <a:prstGeom prst="rect">
              <a:avLst/>
            </a:prstGeom>
          </p:spPr>
        </p:pic>
        <p:grpSp>
          <p:nvGrpSpPr>
            <p:cNvPr id="133" name="群組 132">
              <a:extLst>
                <a:ext uri="{FF2B5EF4-FFF2-40B4-BE49-F238E27FC236}">
                  <a16:creationId xmlns:a16="http://schemas.microsoft.com/office/drawing/2014/main" id="{05AB593D-3DDE-47C0-93D0-1FF33E1F6E12}"/>
                </a:ext>
              </a:extLst>
            </p:cNvPr>
            <p:cNvGrpSpPr/>
            <p:nvPr/>
          </p:nvGrpSpPr>
          <p:grpSpPr>
            <a:xfrm>
              <a:off x="7945169" y="2954874"/>
              <a:ext cx="2490071" cy="2026779"/>
              <a:chOff x="8018969" y="3442605"/>
              <a:chExt cx="2490071" cy="2026779"/>
            </a:xfrm>
          </p:grpSpPr>
          <p:grpSp>
            <p:nvGrpSpPr>
              <p:cNvPr id="111" name="群組 110">
                <a:extLst>
                  <a:ext uri="{FF2B5EF4-FFF2-40B4-BE49-F238E27FC236}">
                    <a16:creationId xmlns:a16="http://schemas.microsoft.com/office/drawing/2014/main" id="{B429A72B-68DB-41E5-9A77-601937261BE5}"/>
                  </a:ext>
                </a:extLst>
              </p:cNvPr>
              <p:cNvGrpSpPr/>
              <p:nvPr/>
            </p:nvGrpSpPr>
            <p:grpSpPr>
              <a:xfrm>
                <a:off x="8061395" y="3442605"/>
                <a:ext cx="2447645" cy="1971389"/>
                <a:chOff x="7393095" y="3875212"/>
                <a:chExt cx="2447645" cy="1971389"/>
              </a:xfrm>
            </p:grpSpPr>
            <p:grpSp>
              <p:nvGrpSpPr>
                <p:cNvPr id="110" name="群組 109">
                  <a:extLst>
                    <a:ext uri="{FF2B5EF4-FFF2-40B4-BE49-F238E27FC236}">
                      <a16:creationId xmlns:a16="http://schemas.microsoft.com/office/drawing/2014/main" id="{185FE1CC-FA74-495A-8F4C-C27BFA14E0E5}"/>
                    </a:ext>
                  </a:extLst>
                </p:cNvPr>
                <p:cNvGrpSpPr/>
                <p:nvPr/>
              </p:nvGrpSpPr>
              <p:grpSpPr>
                <a:xfrm>
                  <a:off x="7393095" y="3875212"/>
                  <a:ext cx="2388559" cy="1971389"/>
                  <a:chOff x="7393095" y="3875212"/>
                  <a:chExt cx="2388559" cy="1971389"/>
                </a:xfrm>
              </p:grpSpPr>
              <p:sp>
                <p:nvSpPr>
                  <p:cNvPr id="105" name="矩形 104">
                    <a:extLst>
                      <a:ext uri="{FF2B5EF4-FFF2-40B4-BE49-F238E27FC236}">
                        <a16:creationId xmlns:a16="http://schemas.microsoft.com/office/drawing/2014/main" id="{CEDE6DB8-73CE-4D0B-83CA-F007F7A25032}"/>
                      </a:ext>
                    </a:extLst>
                  </p:cNvPr>
                  <p:cNvSpPr/>
                  <p:nvPr/>
                </p:nvSpPr>
                <p:spPr>
                  <a:xfrm>
                    <a:off x="8253479" y="3875212"/>
                    <a:ext cx="277776" cy="2558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矩形 105">
                    <a:extLst>
                      <a:ext uri="{FF2B5EF4-FFF2-40B4-BE49-F238E27FC236}">
                        <a16:creationId xmlns:a16="http://schemas.microsoft.com/office/drawing/2014/main" id="{DCD55C8F-296C-4E3C-984F-6EDF4B36539C}"/>
                      </a:ext>
                    </a:extLst>
                  </p:cNvPr>
                  <p:cNvSpPr/>
                  <p:nvPr/>
                </p:nvSpPr>
                <p:spPr>
                  <a:xfrm>
                    <a:off x="7393095" y="4788351"/>
                    <a:ext cx="277776" cy="210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矩形 106">
                    <a:extLst>
                      <a:ext uri="{FF2B5EF4-FFF2-40B4-BE49-F238E27FC236}">
                        <a16:creationId xmlns:a16="http://schemas.microsoft.com/office/drawing/2014/main" id="{CEA50DE1-0099-4B8E-B054-E2A2A728394C}"/>
                      </a:ext>
                    </a:extLst>
                  </p:cNvPr>
                  <p:cNvSpPr/>
                  <p:nvPr/>
                </p:nvSpPr>
                <p:spPr>
                  <a:xfrm>
                    <a:off x="8248334" y="5635762"/>
                    <a:ext cx="277776" cy="21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矩形 107">
                    <a:extLst>
                      <a:ext uri="{FF2B5EF4-FFF2-40B4-BE49-F238E27FC236}">
                        <a16:creationId xmlns:a16="http://schemas.microsoft.com/office/drawing/2014/main" id="{88D8E9D5-10C5-46A7-B1DD-C0FE37EAF05E}"/>
                      </a:ext>
                    </a:extLst>
                  </p:cNvPr>
                  <p:cNvSpPr/>
                  <p:nvPr/>
                </p:nvSpPr>
                <p:spPr>
                  <a:xfrm>
                    <a:off x="9147877" y="4788350"/>
                    <a:ext cx="221795" cy="21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矩形 108">
                    <a:extLst>
                      <a:ext uri="{FF2B5EF4-FFF2-40B4-BE49-F238E27FC236}">
                        <a16:creationId xmlns:a16="http://schemas.microsoft.com/office/drawing/2014/main" id="{2C626AEB-C80F-423D-A1AB-96EACC0012E6}"/>
                      </a:ext>
                    </a:extLst>
                  </p:cNvPr>
                  <p:cNvSpPr/>
                  <p:nvPr/>
                </p:nvSpPr>
                <p:spPr>
                  <a:xfrm>
                    <a:off x="9599653" y="4576159"/>
                    <a:ext cx="182001" cy="575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1" name="文字方塊 100">
                      <a:extLst>
                        <a:ext uri="{FF2B5EF4-FFF2-40B4-BE49-F238E27FC236}">
                          <a16:creationId xmlns:a16="http://schemas.microsoft.com/office/drawing/2014/main" id="{D20AA81C-7F37-4628-A13A-25DB08A1B0F2}"/>
                        </a:ext>
                      </a:extLst>
                    </p:cNvPr>
                    <p:cNvSpPr txBox="1"/>
                    <p:nvPr/>
                  </p:nvSpPr>
                  <p:spPr>
                    <a:xfrm rot="16200000">
                      <a:off x="8785951" y="4777791"/>
                      <a:ext cx="183258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20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apacity</m:t>
                            </m:r>
                            <m:r>
                              <a:rPr lang="en-US" altLang="zh-TW" sz="1200" b="0" i="0" smtClean="0">
                                <a:latin typeface="Cambria Math" panose="02040503050406030204" pitchFamily="18" charset="0"/>
                                <a:ea typeface="Cambria Math" panose="02040503050406030204" pitchFamily="18" charset="0"/>
                              </a:rPr>
                              <m:t> </m:t>
                            </m:r>
                            <m:r>
                              <m:rPr>
                                <m:sty m:val="p"/>
                              </m:rPr>
                              <a:rPr lang="en-US" altLang="zh-TW" sz="1200" b="0" i="0" smtClean="0">
                                <a:latin typeface="Cambria Math" panose="02040503050406030204" pitchFamily="18" charset="0"/>
                                <a:ea typeface="Cambria Math" panose="02040503050406030204" pitchFamily="18" charset="0"/>
                              </a:rPr>
                              <m:t>measure</m:t>
                            </m:r>
                            <m:r>
                              <a:rPr lang="en-US" altLang="zh-TW" sz="1200" b="0" i="0" smtClean="0">
                                <a:latin typeface="Cambria Math" panose="02040503050406030204" pitchFamily="18" charset="0"/>
                                <a:ea typeface="Cambria Math" panose="02040503050406030204" pitchFamily="18" charset="0"/>
                              </a:rPr>
                              <m:t> </m:t>
                            </m:r>
                            <m:r>
                              <a:rPr lang="en-US" altLang="zh-TW" sz="1200" b="0" i="1" smtClean="0">
                                <a:latin typeface="Cambria Math" panose="02040503050406030204" pitchFamily="18" charset="0"/>
                                <a:ea typeface="Cambria Math" panose="02040503050406030204" pitchFamily="18" charset="0"/>
                              </a:rPr>
                              <m:t>(</m:t>
                            </m:r>
                            <m:f>
                              <m:fPr>
                                <m:type m:val="lin"/>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𝑚𝑇</m:t>
                                </m:r>
                              </m:num>
                              <m:den>
                                <m:r>
                                  <a:rPr lang="en-US" altLang="zh-TW" sz="1200" b="0" i="1" smtClean="0">
                                    <a:latin typeface="Cambria Math" panose="02040503050406030204" pitchFamily="18" charset="0"/>
                                    <a:ea typeface="Cambria Math" panose="02040503050406030204" pitchFamily="18" charset="0"/>
                                  </a:rPr>
                                  <m:t>𝐴</m:t>
                                </m:r>
                              </m:den>
                            </m:f>
                            <m:r>
                              <a:rPr lang="en-US" altLang="zh-TW" sz="12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101" name="文字方塊 100">
                      <a:extLst>
                        <a:ext uri="{FF2B5EF4-FFF2-40B4-BE49-F238E27FC236}">
                          <a16:creationId xmlns:a16="http://schemas.microsoft.com/office/drawing/2014/main" id="{D20AA81C-7F37-4628-A13A-25DB08A1B0F2}"/>
                        </a:ext>
                      </a:extLst>
                    </p:cNvPr>
                    <p:cNvSpPr txBox="1">
                      <a:spLocks noRot="1" noChangeAspect="1" noMove="1" noResize="1" noEditPoints="1" noAdjustHandles="1" noChangeArrowheads="1" noChangeShapeType="1" noTextEdit="1"/>
                    </p:cNvSpPr>
                    <p:nvPr/>
                  </p:nvSpPr>
                  <p:spPr>
                    <a:xfrm rot="16200000">
                      <a:off x="8785951" y="4777791"/>
                      <a:ext cx="1832580" cy="276999"/>
                    </a:xfrm>
                    <a:prstGeom prst="rect">
                      <a:avLst/>
                    </a:prstGeom>
                    <a:blipFill>
                      <a:blip r:embed="rId13"/>
                      <a:stretch>
                        <a:fillRect l="-95556" t="-16000" r="-148889"/>
                      </a:stretch>
                    </a:blipFill>
                  </p:spPr>
                  <p:txBody>
                    <a:bodyPr/>
                    <a:lstStyle/>
                    <a:p>
                      <a:r>
                        <a:rPr lang="zh-TW" altLang="en-US">
                          <a:noFill/>
                        </a:rPr>
                        <a:t> </a:t>
                      </a:r>
                    </a:p>
                  </p:txBody>
                </p:sp>
              </mc:Fallback>
            </mc:AlternateContent>
          </p:grpSp>
          <p:sp>
            <p:nvSpPr>
              <p:cNvPr id="127" name="文字方塊 126">
                <a:extLst>
                  <a:ext uri="{FF2B5EF4-FFF2-40B4-BE49-F238E27FC236}">
                    <a16:creationId xmlns:a16="http://schemas.microsoft.com/office/drawing/2014/main" id="{CDEC9209-7690-47D1-8032-24B7836DC655}"/>
                  </a:ext>
                </a:extLst>
              </p:cNvPr>
              <p:cNvSpPr txBox="1"/>
              <p:nvPr/>
            </p:nvSpPr>
            <p:spPr>
              <a:xfrm>
                <a:off x="8018969" y="425497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8" name="文字方塊 127">
                <a:extLst>
                  <a:ext uri="{FF2B5EF4-FFF2-40B4-BE49-F238E27FC236}">
                    <a16:creationId xmlns:a16="http://schemas.microsoft.com/office/drawing/2014/main" id="{D74981A4-1E26-4DB7-83C6-33379484CDF8}"/>
                  </a:ext>
                </a:extLst>
              </p:cNvPr>
              <p:cNvSpPr txBox="1"/>
              <p:nvPr/>
            </p:nvSpPr>
            <p:spPr>
              <a:xfrm>
                <a:off x="8906027" y="347660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9" name="文字方塊 128">
                <a:extLst>
                  <a:ext uri="{FF2B5EF4-FFF2-40B4-BE49-F238E27FC236}">
                    <a16:creationId xmlns:a16="http://schemas.microsoft.com/office/drawing/2014/main" id="{8962DFBE-B504-4F5F-A4F2-59323633F711}"/>
                  </a:ext>
                </a:extLst>
              </p:cNvPr>
              <p:cNvSpPr txBox="1"/>
              <p:nvPr/>
            </p:nvSpPr>
            <p:spPr>
              <a:xfrm>
                <a:off x="8906027" y="516160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0" name="文字方塊 129">
                <a:extLst>
                  <a:ext uri="{FF2B5EF4-FFF2-40B4-BE49-F238E27FC236}">
                    <a16:creationId xmlns:a16="http://schemas.microsoft.com/office/drawing/2014/main" id="{DA7B902F-473B-42D1-B8E1-2790BCFA74C8}"/>
                  </a:ext>
                </a:extLst>
              </p:cNvPr>
              <p:cNvSpPr txBox="1"/>
              <p:nvPr/>
            </p:nvSpPr>
            <p:spPr>
              <a:xfrm>
                <a:off x="9745876" y="440885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1" name="文字方塊 130">
                    <a:extLst>
                      <a:ext uri="{FF2B5EF4-FFF2-40B4-BE49-F238E27FC236}">
                        <a16:creationId xmlns:a16="http://schemas.microsoft.com/office/drawing/2014/main" id="{A1426993-665E-4AF4-BC9A-4D892A836CB1}"/>
                      </a:ext>
                    </a:extLst>
                  </p:cNvPr>
                  <p:cNvSpPr txBox="1"/>
                  <p:nvPr/>
                </p:nvSpPr>
                <p:spPr>
                  <a:xfrm>
                    <a:off x="9205841" y="437782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1" name="文字方塊 130">
                    <a:extLst>
                      <a:ext uri="{FF2B5EF4-FFF2-40B4-BE49-F238E27FC236}">
                        <a16:creationId xmlns:a16="http://schemas.microsoft.com/office/drawing/2014/main" id="{A1426993-665E-4AF4-BC9A-4D892A836CB1}"/>
                      </a:ext>
                    </a:extLst>
                  </p:cNvPr>
                  <p:cNvSpPr txBox="1">
                    <a:spLocks noRot="1" noChangeAspect="1" noMove="1" noResize="1" noEditPoints="1" noAdjustHandles="1" noChangeArrowheads="1" noChangeShapeType="1" noTextEdit="1"/>
                  </p:cNvSpPr>
                  <p:nvPr/>
                </p:nvSpPr>
                <p:spPr>
                  <a:xfrm>
                    <a:off x="9205841" y="4377825"/>
                    <a:ext cx="332369" cy="307777"/>
                  </a:xfrm>
                  <a:prstGeom prst="rect">
                    <a:avLst/>
                  </a:prstGeom>
                  <a:blipFill>
                    <a:blip r:embed="rId14"/>
                    <a:stretch>
                      <a:fillRect b="-19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2" name="文字方塊 131">
                    <a:extLst>
                      <a:ext uri="{FF2B5EF4-FFF2-40B4-BE49-F238E27FC236}">
                        <a16:creationId xmlns:a16="http://schemas.microsoft.com/office/drawing/2014/main" id="{06B8C82E-92F7-445B-99DE-A74AF1C2956D}"/>
                      </a:ext>
                    </a:extLst>
                  </p:cNvPr>
                  <p:cNvSpPr txBox="1"/>
                  <p:nvPr/>
                </p:nvSpPr>
                <p:spPr>
                  <a:xfrm>
                    <a:off x="8829736" y="3889488"/>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2" name="文字方塊 131">
                    <a:extLst>
                      <a:ext uri="{FF2B5EF4-FFF2-40B4-BE49-F238E27FC236}">
                        <a16:creationId xmlns:a16="http://schemas.microsoft.com/office/drawing/2014/main" id="{06B8C82E-92F7-445B-99DE-A74AF1C2956D}"/>
                      </a:ext>
                    </a:extLst>
                  </p:cNvPr>
                  <p:cNvSpPr txBox="1">
                    <a:spLocks noRot="1" noChangeAspect="1" noMove="1" noResize="1" noEditPoints="1" noAdjustHandles="1" noChangeArrowheads="1" noChangeShapeType="1" noTextEdit="1"/>
                  </p:cNvSpPr>
                  <p:nvPr/>
                </p:nvSpPr>
                <p:spPr>
                  <a:xfrm>
                    <a:off x="8829736" y="3889488"/>
                    <a:ext cx="332369" cy="307777"/>
                  </a:xfrm>
                  <a:prstGeom prst="rect">
                    <a:avLst/>
                  </a:prstGeom>
                  <a:blipFill>
                    <a:blip r:embed="rId7"/>
                    <a:stretch>
                      <a:fillRect/>
                    </a:stretch>
                  </a:blipFill>
                </p:spPr>
                <p:txBody>
                  <a:bodyPr/>
                  <a:lstStyle/>
                  <a:p>
                    <a:r>
                      <a:rPr lang="zh-TW" altLang="en-US">
                        <a:noFill/>
                      </a:rPr>
                      <a:t> </a:t>
                    </a:r>
                  </a:p>
                </p:txBody>
              </p:sp>
            </mc:Fallback>
          </mc:AlternateContent>
        </p:grpSp>
      </p:grpSp>
      <p:sp>
        <p:nvSpPr>
          <p:cNvPr id="67" name="auto caption">
            <a:extLst>
              <a:ext uri="{FF2B5EF4-FFF2-40B4-BE49-F238E27FC236}">
                <a16:creationId xmlns:a16="http://schemas.microsoft.com/office/drawing/2014/main" id="{B939D688-74BF-48DD-B637-E4F31386B5C8}"/>
              </a:ext>
            </a:extLst>
          </p:cNvPr>
          <p:cNvSpPr txBox="1"/>
          <p:nvPr/>
        </p:nvSpPr>
        <p:spPr>
          <a:xfrm>
            <a:off x="153910" y="885799"/>
            <a:ext cx="6375566" cy="5862134"/>
          </a:xfrm>
          <a:prstGeom prst="rect">
            <a:avLst/>
          </a:prstGeom>
          <a:noFill/>
        </p:spPr>
        <p:txBody>
          <a:bodyPr wrap="square" rtlCol="0">
            <a:normAutofit/>
          </a:bodyPr>
          <a:lstStyle/>
          <a:p>
            <a:pPr marL="285750" indent="-285750">
              <a:buFont typeface="Arial" panose="020B0604020202020204" pitchFamily="34" charset="0"/>
              <a:buChar char="•"/>
            </a:pPr>
            <a:r>
              <a:rPr lang="en-US" altLang="zh-TW" sz="1600" dirty="0"/>
              <a:t>The three reference planes are mutually orthogonal and all pass through the origin; the inset shows how they sit inside the pole-tip sphere, each disc extending out to that sphere. On every plane the calibrated model is evaluated point by point and the capacity measure is mapped in polar form, with the two pole pairs lying in that plane marked on the rim. The pattern is the same everywhere: the capacity is lowest at the center, grows steadily outwards, and reaches its maxima in four lobes pointing at the in-plane poles, with troughs between them. This is the gain signature of Design A: the gain is not uniform over the workspace but is smallest at the center and largest along the pole axes near the tips, and its variation with direction follows the pole layout directly. Because the three maps are indistinguishable, the gain field carries the full symmetry of the six-pole arrangement — six poles of equal strength, arranged as three opposing pairs whose axes are mutually perpendicular. The consequence is that the gain is limited not by any particular plane or direction, but by radial position: the lowest gain of the whole workspace sits at its center.</a:t>
            </a:r>
          </a:p>
        </p:txBody>
      </p:sp>
    </p:spTree>
    <p:extLst>
      <p:ext uri="{BB962C8B-B14F-4D97-AF65-F5344CB8AC3E}">
        <p14:creationId xmlns:p14="http://schemas.microsoft.com/office/powerpoint/2010/main" val="45208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文字方塊 63">
            <a:extLst>
              <a:ext uri="{FF2B5EF4-FFF2-40B4-BE49-F238E27FC236}">
                <a16:creationId xmlns:a16="http://schemas.microsoft.com/office/drawing/2014/main" id="{5B421D71-8641-46AC-AFEE-B118C73A4CD4}"/>
              </a:ext>
            </a:extLst>
          </p:cNvPr>
          <p:cNvSpPr txBox="1"/>
          <p:nvPr/>
        </p:nvSpPr>
        <p:spPr>
          <a:xfrm>
            <a:off x="186061" y="950588"/>
            <a:ext cx="6176432" cy="3693319"/>
          </a:xfrm>
          <a:prstGeom prst="rect">
            <a:avLst/>
          </a:prstGeom>
          <a:noFill/>
        </p:spPr>
        <p:txBody>
          <a:bodyPr wrap="square">
            <a:spAutoFit/>
          </a:bodyPr>
          <a:lstStyle/>
          <a:p>
            <a:pPr marL="285750" indent="-285750">
              <a:buFont typeface="Arial" panose="020B0604020202020204" pitchFamily="34" charset="0"/>
              <a:buChar char="•"/>
            </a:pPr>
            <a:r>
              <a:rPr lang="zh-TW" altLang="en-US" dirty="0"/>
              <a:t>Same three planes and the same calibrated model as before, but now mapping the isotropy. The picture is the exact complement of the capacity map: isotropy is highest at the centre and decays outwards in an almost circular pattern, reaching its lowest values at the rim. The reason is geometric — at the centre all six poles are equidistant, so the three singular values are nearly equal and the system can push with almost the same strength in any direction; moving outwards means approaching one pole pair while receding from the other two, so one singular value grows while the others shrink and the ratio collapses. Again the three planes are indistinguishable, confirming that the isotropy inherits the symmetry of the pole layout.</a:t>
            </a:r>
          </a:p>
        </p:txBody>
      </p:sp>
      <p:grpSp>
        <p:nvGrpSpPr>
          <p:cNvPr id="7" name="群組 6">
            <a:extLst>
              <a:ext uri="{FF2B5EF4-FFF2-40B4-BE49-F238E27FC236}">
                <a16:creationId xmlns:a16="http://schemas.microsoft.com/office/drawing/2014/main" id="{CA0CB9F4-235A-4616-BC61-7AFFCEE4ABAB}"/>
              </a:ext>
            </a:extLst>
          </p:cNvPr>
          <p:cNvGrpSpPr/>
          <p:nvPr/>
        </p:nvGrpSpPr>
        <p:grpSpPr>
          <a:xfrm>
            <a:off x="7156700" y="696453"/>
            <a:ext cx="4116568" cy="1894811"/>
            <a:chOff x="7156700" y="696453"/>
            <a:chExt cx="4116568" cy="1894811"/>
          </a:xfrm>
        </p:grpSpPr>
        <p:pic>
          <p:nvPicPr>
            <p:cNvPr id="5" name="圖片 4">
              <a:extLst>
                <a:ext uri="{FF2B5EF4-FFF2-40B4-BE49-F238E27FC236}">
                  <a16:creationId xmlns:a16="http://schemas.microsoft.com/office/drawing/2014/main" id="{22E3FC60-916B-4B6C-9BAE-8363C5CCFB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1264" y="815524"/>
              <a:ext cx="3793335" cy="1651300"/>
            </a:xfrm>
            <a:prstGeom prst="rect">
              <a:avLst/>
            </a:prstGeom>
          </p:spPr>
        </p:pic>
        <p:grpSp>
          <p:nvGrpSpPr>
            <p:cNvPr id="17" name="群組 16">
              <a:extLst>
                <a:ext uri="{FF2B5EF4-FFF2-40B4-BE49-F238E27FC236}">
                  <a16:creationId xmlns:a16="http://schemas.microsoft.com/office/drawing/2014/main" id="{8BE4C305-B690-4A6A-AB62-66C15A5C438C}"/>
                </a:ext>
              </a:extLst>
            </p:cNvPr>
            <p:cNvGrpSpPr/>
            <p:nvPr/>
          </p:nvGrpSpPr>
          <p:grpSpPr>
            <a:xfrm>
              <a:off x="7156700" y="696453"/>
              <a:ext cx="4116568" cy="1894811"/>
              <a:chOff x="6923595" y="822679"/>
              <a:chExt cx="4116568" cy="1894811"/>
            </a:xfrm>
          </p:grpSpPr>
          <p:grpSp>
            <p:nvGrpSpPr>
              <p:cNvPr id="15" name="群組 14">
                <a:extLst>
                  <a:ext uri="{FF2B5EF4-FFF2-40B4-BE49-F238E27FC236}">
                    <a16:creationId xmlns:a16="http://schemas.microsoft.com/office/drawing/2014/main" id="{612F600C-B391-4D02-BE5B-9A6D0B54E62C}"/>
                  </a:ext>
                </a:extLst>
              </p:cNvPr>
              <p:cNvGrpSpPr/>
              <p:nvPr/>
            </p:nvGrpSpPr>
            <p:grpSpPr>
              <a:xfrm>
                <a:off x="6923595" y="822679"/>
                <a:ext cx="4116568" cy="1894811"/>
                <a:chOff x="6923595" y="822679"/>
                <a:chExt cx="4116568" cy="1894811"/>
              </a:xfrm>
            </p:grpSpPr>
            <p:grpSp>
              <p:nvGrpSpPr>
                <p:cNvPr id="11" name="群組 10">
                  <a:extLst>
                    <a:ext uri="{FF2B5EF4-FFF2-40B4-BE49-F238E27FC236}">
                      <a16:creationId xmlns:a16="http://schemas.microsoft.com/office/drawing/2014/main" id="{D2C9EE08-81D0-4C2D-B956-F0B60EAB80F7}"/>
                    </a:ext>
                  </a:extLst>
                </p:cNvPr>
                <p:cNvGrpSpPr/>
                <p:nvPr/>
              </p:nvGrpSpPr>
              <p:grpSpPr>
                <a:xfrm>
                  <a:off x="7007767" y="885799"/>
                  <a:ext cx="3987845" cy="1773589"/>
                  <a:chOff x="7007767" y="885799"/>
                  <a:chExt cx="3987845" cy="1773589"/>
                </a:xfrm>
              </p:grpSpPr>
              <p:sp>
                <p:nvSpPr>
                  <p:cNvPr id="10" name="矩形 9">
                    <a:extLst>
                      <a:ext uri="{FF2B5EF4-FFF2-40B4-BE49-F238E27FC236}">
                        <a16:creationId xmlns:a16="http://schemas.microsoft.com/office/drawing/2014/main" id="{F5F07B25-EAB2-4083-9FAC-EFC85D2120CD}"/>
                      </a:ext>
                    </a:extLst>
                  </p:cNvPr>
                  <p:cNvSpPr/>
                  <p:nvPr/>
                </p:nvSpPr>
                <p:spPr>
                  <a:xfrm>
                    <a:off x="7831667" y="885799"/>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矩形 69">
                    <a:extLst>
                      <a:ext uri="{FF2B5EF4-FFF2-40B4-BE49-F238E27FC236}">
                        <a16:creationId xmlns:a16="http://schemas.microsoft.com/office/drawing/2014/main" id="{FC3083EF-83C7-450B-8ADE-A99B46B37053}"/>
                      </a:ext>
                    </a:extLst>
                  </p:cNvPr>
                  <p:cNvSpPr/>
                  <p:nvPr/>
                </p:nvSpPr>
                <p:spPr>
                  <a:xfrm>
                    <a:off x="7007767" y="1663102"/>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矩形 71">
                    <a:extLst>
                      <a:ext uri="{FF2B5EF4-FFF2-40B4-BE49-F238E27FC236}">
                        <a16:creationId xmlns:a16="http://schemas.microsoft.com/office/drawing/2014/main" id="{3722C7AD-6A4A-4007-AF36-5CCD4C5E8597}"/>
                      </a:ext>
                    </a:extLst>
                  </p:cNvPr>
                  <p:cNvSpPr/>
                  <p:nvPr/>
                </p:nvSpPr>
                <p:spPr>
                  <a:xfrm>
                    <a:off x="7827456" y="2465882"/>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8C041678-A44A-4B2F-A86A-6D773426879F}"/>
                      </a:ext>
                    </a:extLst>
                  </p:cNvPr>
                  <p:cNvSpPr/>
                  <p:nvPr/>
                </p:nvSpPr>
                <p:spPr>
                  <a:xfrm>
                    <a:off x="8639145" y="1664810"/>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矩形 73">
                    <a:extLst>
                      <a:ext uri="{FF2B5EF4-FFF2-40B4-BE49-F238E27FC236}">
                        <a16:creationId xmlns:a16="http://schemas.microsoft.com/office/drawing/2014/main" id="{0AB71390-058C-48DB-8F99-4472D1421CE3}"/>
                      </a:ext>
                    </a:extLst>
                  </p:cNvPr>
                  <p:cNvSpPr/>
                  <p:nvPr/>
                </p:nvSpPr>
                <p:spPr>
                  <a:xfrm>
                    <a:off x="9586634" y="904164"/>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a:extLst>
                      <a:ext uri="{FF2B5EF4-FFF2-40B4-BE49-F238E27FC236}">
                        <a16:creationId xmlns:a16="http://schemas.microsoft.com/office/drawing/2014/main" id="{276E6E7F-1958-4F14-9108-30888D35FA5F}"/>
                      </a:ext>
                    </a:extLst>
                  </p:cNvPr>
                  <p:cNvSpPr/>
                  <p:nvPr/>
                </p:nvSpPr>
                <p:spPr>
                  <a:xfrm>
                    <a:off x="9481831" y="2454945"/>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矩形 75">
                    <a:extLst>
                      <a:ext uri="{FF2B5EF4-FFF2-40B4-BE49-F238E27FC236}">
                        <a16:creationId xmlns:a16="http://schemas.microsoft.com/office/drawing/2014/main" id="{4FA014DA-9FFB-44C8-BC87-9425A4C49C84}"/>
                      </a:ext>
                    </a:extLst>
                  </p:cNvPr>
                  <p:cNvSpPr/>
                  <p:nvPr/>
                </p:nvSpPr>
                <p:spPr>
                  <a:xfrm>
                    <a:off x="10374310" y="1574534"/>
                    <a:ext cx="190544" cy="349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矩形 76">
                    <a:extLst>
                      <a:ext uri="{FF2B5EF4-FFF2-40B4-BE49-F238E27FC236}">
                        <a16:creationId xmlns:a16="http://schemas.microsoft.com/office/drawing/2014/main" id="{D3E9EE23-9AC3-43BC-BF47-30C82E12B2A2}"/>
                      </a:ext>
                    </a:extLst>
                  </p:cNvPr>
                  <p:cNvSpPr/>
                  <p:nvPr/>
                </p:nvSpPr>
                <p:spPr>
                  <a:xfrm>
                    <a:off x="10805068" y="1701472"/>
                    <a:ext cx="190544" cy="162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8" name="文字方塊 77">
                      <a:extLst>
                        <a:ext uri="{FF2B5EF4-FFF2-40B4-BE49-F238E27FC236}">
                          <a16:creationId xmlns:a16="http://schemas.microsoft.com/office/drawing/2014/main" id="{6E093EB9-B763-4483-A907-3DD06211420D}"/>
                        </a:ext>
                      </a:extLst>
                    </p:cNvPr>
                    <p:cNvSpPr txBox="1"/>
                    <p:nvPr/>
                  </p:nvSpPr>
                  <p:spPr>
                    <a:xfrm rot="16200000">
                      <a:off x="10458485" y="1654818"/>
                      <a:ext cx="85557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Isotropy</m:t>
                            </m:r>
                          </m:oMath>
                        </m:oMathPara>
                      </a14:m>
                      <a:endParaRPr lang="zh-TW" altLang="en-US" sz="1400" dirty="0"/>
                    </a:p>
                  </p:txBody>
                </p:sp>
              </mc:Choice>
              <mc:Fallback xmlns="">
                <p:sp>
                  <p:nvSpPr>
                    <p:cNvPr id="78" name="文字方塊 77">
                      <a:extLst>
                        <a:ext uri="{FF2B5EF4-FFF2-40B4-BE49-F238E27FC236}">
                          <a16:creationId xmlns:a16="http://schemas.microsoft.com/office/drawing/2014/main" id="{6E093EB9-B763-4483-A907-3DD06211420D}"/>
                        </a:ext>
                      </a:extLst>
                    </p:cNvPr>
                    <p:cNvSpPr txBox="1">
                      <a:spLocks noRot="1" noChangeAspect="1" noMove="1" noResize="1" noEditPoints="1" noAdjustHandles="1" noChangeArrowheads="1" noChangeShapeType="1" noTextEdit="1"/>
                    </p:cNvSpPr>
                    <p:nvPr/>
                  </p:nvSpPr>
                  <p:spPr>
                    <a:xfrm rot="16200000">
                      <a:off x="10458485" y="1654818"/>
                      <a:ext cx="855579" cy="307777"/>
                    </a:xfrm>
                    <a:prstGeom prst="rect">
                      <a:avLst/>
                    </a:prstGeom>
                    <a:blipFill>
                      <a:blip r:embed="rId3"/>
                      <a:stretch>
                        <a:fillRect r="-6000"/>
                      </a:stretch>
                    </a:blipFill>
                  </p:spPr>
                  <p:txBody>
                    <a:bodyPr/>
                    <a:lstStyle/>
                    <a:p>
                      <a:r>
                        <a:rPr lang="zh-TW" altLang="en-US">
                          <a:noFill/>
                        </a:rPr>
                        <a:t> </a:t>
                      </a:r>
                    </a:p>
                  </p:txBody>
                </p:sp>
              </mc:Fallback>
            </mc:AlternateContent>
            <p:sp>
              <p:nvSpPr>
                <p:cNvPr id="80" name="文字方塊 79">
                  <a:extLst>
                    <a:ext uri="{FF2B5EF4-FFF2-40B4-BE49-F238E27FC236}">
                      <a16:creationId xmlns:a16="http://schemas.microsoft.com/office/drawing/2014/main" id="{9B8EB1CD-A79B-47D9-AB70-E74BF30A65B7}"/>
                    </a:ext>
                  </a:extLst>
                </p:cNvPr>
                <p:cNvSpPr txBox="1"/>
                <p:nvPr/>
              </p:nvSpPr>
              <p:spPr>
                <a:xfrm>
                  <a:off x="8547048" y="171639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0" name="文字方塊 89">
                  <a:extLst>
                    <a:ext uri="{FF2B5EF4-FFF2-40B4-BE49-F238E27FC236}">
                      <a16:creationId xmlns:a16="http://schemas.microsoft.com/office/drawing/2014/main" id="{92D55786-83DD-4F8D-8DFD-BE3DCCAD1169}"/>
                    </a:ext>
                  </a:extLst>
                </p:cNvPr>
                <p:cNvSpPr txBox="1"/>
                <p:nvPr/>
              </p:nvSpPr>
              <p:spPr>
                <a:xfrm>
                  <a:off x="7726146" y="83200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1" name="文字方塊 90">
                  <a:extLst>
                    <a:ext uri="{FF2B5EF4-FFF2-40B4-BE49-F238E27FC236}">
                      <a16:creationId xmlns:a16="http://schemas.microsoft.com/office/drawing/2014/main" id="{481EAFC4-8465-4D04-8689-9DA473F00F16}"/>
                    </a:ext>
                  </a:extLst>
                </p:cNvPr>
                <p:cNvSpPr txBox="1"/>
                <p:nvPr/>
              </p:nvSpPr>
              <p:spPr>
                <a:xfrm>
                  <a:off x="6923595" y="150093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2" name="文字方塊 91">
                  <a:extLst>
                    <a:ext uri="{FF2B5EF4-FFF2-40B4-BE49-F238E27FC236}">
                      <a16:creationId xmlns:a16="http://schemas.microsoft.com/office/drawing/2014/main" id="{58303001-9243-4CE3-AB16-9F0D7C0BAA8D}"/>
                    </a:ext>
                  </a:extLst>
                </p:cNvPr>
                <p:cNvSpPr txBox="1"/>
                <p:nvPr/>
              </p:nvSpPr>
              <p:spPr>
                <a:xfrm>
                  <a:off x="7728906" y="2375986"/>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3" name="文字方塊 92">
                  <a:extLst>
                    <a:ext uri="{FF2B5EF4-FFF2-40B4-BE49-F238E27FC236}">
                      <a16:creationId xmlns:a16="http://schemas.microsoft.com/office/drawing/2014/main" id="{B50C7079-CAA8-4007-9D2F-2B2CD971FFD6}"/>
                    </a:ext>
                  </a:extLst>
                </p:cNvPr>
                <p:cNvSpPr txBox="1"/>
                <p:nvPr/>
              </p:nvSpPr>
              <p:spPr>
                <a:xfrm>
                  <a:off x="8674497" y="147509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9" name="文字方塊 98">
                  <a:extLst>
                    <a:ext uri="{FF2B5EF4-FFF2-40B4-BE49-F238E27FC236}">
                      <a16:creationId xmlns:a16="http://schemas.microsoft.com/office/drawing/2014/main" id="{523FB46B-214B-4674-A0BB-F7A2E5B66450}"/>
                    </a:ext>
                  </a:extLst>
                </p:cNvPr>
                <p:cNvSpPr txBox="1"/>
                <p:nvPr/>
              </p:nvSpPr>
              <p:spPr>
                <a:xfrm>
                  <a:off x="9489536" y="82267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00" name="文字方塊 99">
                  <a:extLst>
                    <a:ext uri="{FF2B5EF4-FFF2-40B4-BE49-F238E27FC236}">
                      <a16:creationId xmlns:a16="http://schemas.microsoft.com/office/drawing/2014/main" id="{6D0655F7-DECE-4E33-B8DB-34EAEA9FBCCD}"/>
                    </a:ext>
                  </a:extLst>
                </p:cNvPr>
                <p:cNvSpPr txBox="1"/>
                <p:nvPr/>
              </p:nvSpPr>
              <p:spPr>
                <a:xfrm>
                  <a:off x="9489535" y="240971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01" name="文字方塊 100">
                  <a:extLst>
                    <a:ext uri="{FF2B5EF4-FFF2-40B4-BE49-F238E27FC236}">
                      <a16:creationId xmlns:a16="http://schemas.microsoft.com/office/drawing/2014/main" id="{15C241B5-3C9B-4E25-96F6-629915F58BB4}"/>
                    </a:ext>
                  </a:extLst>
                </p:cNvPr>
                <p:cNvSpPr txBox="1"/>
                <p:nvPr/>
              </p:nvSpPr>
              <p:spPr>
                <a:xfrm>
                  <a:off x="10275561" y="172229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7" name="文字方塊 136">
                      <a:extLst>
                        <a:ext uri="{FF2B5EF4-FFF2-40B4-BE49-F238E27FC236}">
                          <a16:creationId xmlns:a16="http://schemas.microsoft.com/office/drawing/2014/main" id="{D255ABDE-FE08-4D92-985E-D28FA82E5F65}"/>
                        </a:ext>
                      </a:extLst>
                    </p:cNvPr>
                    <p:cNvSpPr txBox="1"/>
                    <p:nvPr/>
                  </p:nvSpPr>
                  <p:spPr>
                    <a:xfrm>
                      <a:off x="8077108" y="174807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7" name="文字方塊 136">
                      <a:extLst>
                        <a:ext uri="{FF2B5EF4-FFF2-40B4-BE49-F238E27FC236}">
                          <a16:creationId xmlns:a16="http://schemas.microsoft.com/office/drawing/2014/main" id="{D255ABDE-FE08-4D92-985E-D28FA82E5F65}"/>
                        </a:ext>
                      </a:extLst>
                    </p:cNvPr>
                    <p:cNvSpPr txBox="1">
                      <a:spLocks noRot="1" noChangeAspect="1" noMove="1" noResize="1" noEditPoints="1" noAdjustHandles="1" noChangeArrowheads="1" noChangeShapeType="1" noTextEdit="1"/>
                    </p:cNvSpPr>
                    <p:nvPr/>
                  </p:nvSpPr>
                  <p:spPr>
                    <a:xfrm>
                      <a:off x="8077108" y="1748079"/>
                      <a:ext cx="332369" cy="30777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8" name="文字方塊 137">
                      <a:extLst>
                        <a:ext uri="{FF2B5EF4-FFF2-40B4-BE49-F238E27FC236}">
                          <a16:creationId xmlns:a16="http://schemas.microsoft.com/office/drawing/2014/main" id="{04DB010C-9BAE-4354-BDBC-05D6FEB0ED55}"/>
                        </a:ext>
                      </a:extLst>
                    </p:cNvPr>
                    <p:cNvSpPr txBox="1"/>
                    <p:nvPr/>
                  </p:nvSpPr>
                  <p:spPr>
                    <a:xfrm>
                      <a:off x="7609788" y="128613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8" name="文字方塊 137">
                      <a:extLst>
                        <a:ext uri="{FF2B5EF4-FFF2-40B4-BE49-F238E27FC236}">
                          <a16:creationId xmlns:a16="http://schemas.microsoft.com/office/drawing/2014/main" id="{04DB010C-9BAE-4354-BDBC-05D6FEB0ED55}"/>
                        </a:ext>
                      </a:extLst>
                    </p:cNvPr>
                    <p:cNvSpPr txBox="1">
                      <a:spLocks noRot="1" noChangeAspect="1" noMove="1" noResize="1" noEditPoints="1" noAdjustHandles="1" noChangeArrowheads="1" noChangeShapeType="1" noTextEdit="1"/>
                    </p:cNvSpPr>
                    <p:nvPr/>
                  </p:nvSpPr>
                  <p:spPr>
                    <a:xfrm>
                      <a:off x="7609788" y="1286136"/>
                      <a:ext cx="332369" cy="307777"/>
                    </a:xfrm>
                    <a:prstGeom prst="rect">
                      <a:avLst/>
                    </a:prstGeom>
                    <a:blipFill>
                      <a:blip r:embed="rId5"/>
                      <a:stretch>
                        <a:fillRect b="-1961"/>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39" name="文字方塊 138">
                    <a:extLst>
                      <a:ext uri="{FF2B5EF4-FFF2-40B4-BE49-F238E27FC236}">
                        <a16:creationId xmlns:a16="http://schemas.microsoft.com/office/drawing/2014/main" id="{74515AE3-A20F-4F0C-AD65-88EE10FC7A5A}"/>
                      </a:ext>
                    </a:extLst>
                  </p:cNvPr>
                  <p:cNvSpPr txBox="1"/>
                  <p:nvPr/>
                </p:nvSpPr>
                <p:spPr>
                  <a:xfrm>
                    <a:off x="9804337" y="167062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9" name="文字方塊 138">
                    <a:extLst>
                      <a:ext uri="{FF2B5EF4-FFF2-40B4-BE49-F238E27FC236}">
                        <a16:creationId xmlns:a16="http://schemas.microsoft.com/office/drawing/2014/main" id="{74515AE3-A20F-4F0C-AD65-88EE10FC7A5A}"/>
                      </a:ext>
                    </a:extLst>
                  </p:cNvPr>
                  <p:cNvSpPr txBox="1">
                    <a:spLocks noRot="1" noChangeAspect="1" noMove="1" noResize="1" noEditPoints="1" noAdjustHandles="1" noChangeArrowheads="1" noChangeShapeType="1" noTextEdit="1"/>
                  </p:cNvSpPr>
                  <p:nvPr/>
                </p:nvSpPr>
                <p:spPr>
                  <a:xfrm>
                    <a:off x="9804337" y="1670625"/>
                    <a:ext cx="332369" cy="30777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0" name="文字方塊 139">
                    <a:extLst>
                      <a:ext uri="{FF2B5EF4-FFF2-40B4-BE49-F238E27FC236}">
                        <a16:creationId xmlns:a16="http://schemas.microsoft.com/office/drawing/2014/main" id="{62CB1572-73EF-459D-972D-CB9A0157F7EF}"/>
                      </a:ext>
                    </a:extLst>
                  </p:cNvPr>
                  <p:cNvSpPr txBox="1"/>
                  <p:nvPr/>
                </p:nvSpPr>
                <p:spPr>
                  <a:xfrm>
                    <a:off x="9353246" y="129350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0" name="文字方塊 139">
                    <a:extLst>
                      <a:ext uri="{FF2B5EF4-FFF2-40B4-BE49-F238E27FC236}">
                        <a16:creationId xmlns:a16="http://schemas.microsoft.com/office/drawing/2014/main" id="{62CB1572-73EF-459D-972D-CB9A0157F7EF}"/>
                      </a:ext>
                    </a:extLst>
                  </p:cNvPr>
                  <p:cNvSpPr txBox="1">
                    <a:spLocks noRot="1" noChangeAspect="1" noMove="1" noResize="1" noEditPoints="1" noAdjustHandles="1" noChangeArrowheads="1" noChangeShapeType="1" noTextEdit="1"/>
                  </p:cNvSpPr>
                  <p:nvPr/>
                </p:nvSpPr>
                <p:spPr>
                  <a:xfrm>
                    <a:off x="9353246" y="1293503"/>
                    <a:ext cx="332369" cy="307777"/>
                  </a:xfrm>
                  <a:prstGeom prst="rect">
                    <a:avLst/>
                  </a:prstGeom>
                  <a:blipFill>
                    <a:blip r:embed="rId7"/>
                    <a:stretch>
                      <a:fillRect/>
                    </a:stretch>
                  </a:blipFill>
                </p:spPr>
                <p:txBody>
                  <a:bodyPr/>
                  <a:lstStyle/>
                  <a:p>
                    <a:r>
                      <a:rPr lang="zh-TW" altLang="en-US">
                        <a:noFill/>
                      </a:rPr>
                      <a:t> </a:t>
                    </a:r>
                  </a:p>
                </p:txBody>
              </p:sp>
            </mc:Fallback>
          </mc:AlternateContent>
        </p:grpSp>
      </p:grpSp>
      <p:grpSp>
        <p:nvGrpSpPr>
          <p:cNvPr id="18" name="群組 17">
            <a:extLst>
              <a:ext uri="{FF2B5EF4-FFF2-40B4-BE49-F238E27FC236}">
                <a16:creationId xmlns:a16="http://schemas.microsoft.com/office/drawing/2014/main" id="{A415CD8F-9E0E-4E5E-B0A8-D95470451723}"/>
              </a:ext>
            </a:extLst>
          </p:cNvPr>
          <p:cNvGrpSpPr/>
          <p:nvPr/>
        </p:nvGrpSpPr>
        <p:grpSpPr>
          <a:xfrm>
            <a:off x="7920557" y="2783295"/>
            <a:ext cx="2522513" cy="2127726"/>
            <a:chOff x="7885930" y="3644615"/>
            <a:chExt cx="2982392" cy="2400473"/>
          </a:xfrm>
        </p:grpSpPr>
        <p:pic>
          <p:nvPicPr>
            <p:cNvPr id="9" name="圖片 8">
              <a:extLst>
                <a:ext uri="{FF2B5EF4-FFF2-40B4-BE49-F238E27FC236}">
                  <a16:creationId xmlns:a16="http://schemas.microsoft.com/office/drawing/2014/main" id="{C971302C-428C-4B5C-AABD-8E8B866D6DC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10053" y="3724539"/>
              <a:ext cx="2737424" cy="2214093"/>
            </a:xfrm>
            <a:prstGeom prst="rect">
              <a:avLst/>
            </a:prstGeom>
          </p:spPr>
        </p:pic>
        <p:grpSp>
          <p:nvGrpSpPr>
            <p:cNvPr id="14" name="群組 13">
              <a:extLst>
                <a:ext uri="{FF2B5EF4-FFF2-40B4-BE49-F238E27FC236}">
                  <a16:creationId xmlns:a16="http://schemas.microsoft.com/office/drawing/2014/main" id="{04A1EDD4-6ABC-4799-BBCC-2AA9A741A982}"/>
                </a:ext>
              </a:extLst>
            </p:cNvPr>
            <p:cNvGrpSpPr/>
            <p:nvPr/>
          </p:nvGrpSpPr>
          <p:grpSpPr>
            <a:xfrm>
              <a:off x="7885930" y="3644615"/>
              <a:ext cx="2982392" cy="2400473"/>
              <a:chOff x="7885930" y="3644615"/>
              <a:chExt cx="2982392" cy="2400473"/>
            </a:xfrm>
          </p:grpSpPr>
          <p:grpSp>
            <p:nvGrpSpPr>
              <p:cNvPr id="13" name="群組 12">
                <a:extLst>
                  <a:ext uri="{FF2B5EF4-FFF2-40B4-BE49-F238E27FC236}">
                    <a16:creationId xmlns:a16="http://schemas.microsoft.com/office/drawing/2014/main" id="{92E71AB5-F95C-4C50-942F-461AE8C8E21F}"/>
                  </a:ext>
                </a:extLst>
              </p:cNvPr>
              <p:cNvGrpSpPr/>
              <p:nvPr/>
            </p:nvGrpSpPr>
            <p:grpSpPr>
              <a:xfrm>
                <a:off x="7983958" y="3667301"/>
                <a:ext cx="2862761" cy="2338334"/>
                <a:chOff x="7983958" y="3667301"/>
                <a:chExt cx="2862761" cy="2338334"/>
              </a:xfrm>
            </p:grpSpPr>
            <p:sp>
              <p:nvSpPr>
                <p:cNvPr id="12" name="矩形 11">
                  <a:extLst>
                    <a:ext uri="{FF2B5EF4-FFF2-40B4-BE49-F238E27FC236}">
                      <a16:creationId xmlns:a16="http://schemas.microsoft.com/office/drawing/2014/main" id="{88E7A9EA-9DAB-451E-9FA8-F7163EE33F2E}"/>
                    </a:ext>
                  </a:extLst>
                </p:cNvPr>
                <p:cNvSpPr/>
                <p:nvPr/>
              </p:nvSpPr>
              <p:spPr>
                <a:xfrm>
                  <a:off x="10044950" y="4669308"/>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矩形 101">
                  <a:extLst>
                    <a:ext uri="{FF2B5EF4-FFF2-40B4-BE49-F238E27FC236}">
                      <a16:creationId xmlns:a16="http://schemas.microsoft.com/office/drawing/2014/main" id="{697C6A31-1322-4648-82CE-4C68B357ADE9}"/>
                    </a:ext>
                  </a:extLst>
                </p:cNvPr>
                <p:cNvSpPr/>
                <p:nvPr/>
              </p:nvSpPr>
              <p:spPr>
                <a:xfrm>
                  <a:off x="9022607" y="3667301"/>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矩形 102">
                  <a:extLst>
                    <a:ext uri="{FF2B5EF4-FFF2-40B4-BE49-F238E27FC236}">
                      <a16:creationId xmlns:a16="http://schemas.microsoft.com/office/drawing/2014/main" id="{252EA268-F4BF-4F6E-BC68-B74D1AB21EDC}"/>
                    </a:ext>
                  </a:extLst>
                </p:cNvPr>
                <p:cNvSpPr/>
                <p:nvPr/>
              </p:nvSpPr>
              <p:spPr>
                <a:xfrm>
                  <a:off x="7983958" y="4686154"/>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 name="矩形 129">
                  <a:extLst>
                    <a:ext uri="{FF2B5EF4-FFF2-40B4-BE49-F238E27FC236}">
                      <a16:creationId xmlns:a16="http://schemas.microsoft.com/office/drawing/2014/main" id="{FD58DA12-398D-4D81-A4DB-E7FFB2E04049}"/>
                    </a:ext>
                  </a:extLst>
                </p:cNvPr>
                <p:cNvSpPr/>
                <p:nvPr/>
              </p:nvSpPr>
              <p:spPr>
                <a:xfrm>
                  <a:off x="9009363" y="5738875"/>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 name="矩形 130">
                  <a:extLst>
                    <a:ext uri="{FF2B5EF4-FFF2-40B4-BE49-F238E27FC236}">
                      <a16:creationId xmlns:a16="http://schemas.microsoft.com/office/drawing/2014/main" id="{AAD8F26C-0C60-4BB4-A028-E7D8A910AD0D}"/>
                    </a:ext>
                  </a:extLst>
                </p:cNvPr>
                <p:cNvSpPr/>
                <p:nvPr/>
              </p:nvSpPr>
              <p:spPr>
                <a:xfrm>
                  <a:off x="10621601" y="4624884"/>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32" name="文字方塊 131">
                    <a:extLst>
                      <a:ext uri="{FF2B5EF4-FFF2-40B4-BE49-F238E27FC236}">
                        <a16:creationId xmlns:a16="http://schemas.microsoft.com/office/drawing/2014/main" id="{59C8220B-BA68-40B1-A2D1-60274F35F105}"/>
                      </a:ext>
                    </a:extLst>
                  </p:cNvPr>
                  <p:cNvSpPr txBox="1"/>
                  <p:nvPr/>
                </p:nvSpPr>
                <p:spPr>
                  <a:xfrm rot="16200000">
                    <a:off x="10286644" y="4737755"/>
                    <a:ext cx="85557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Isotropy</m:t>
                          </m:r>
                        </m:oMath>
                      </m:oMathPara>
                    </a14:m>
                    <a:endParaRPr lang="zh-TW" altLang="en-US" sz="1400" dirty="0"/>
                  </a:p>
                </p:txBody>
              </p:sp>
            </mc:Choice>
            <mc:Fallback xmlns="">
              <p:sp>
                <p:nvSpPr>
                  <p:cNvPr id="132" name="文字方塊 131">
                    <a:extLst>
                      <a:ext uri="{FF2B5EF4-FFF2-40B4-BE49-F238E27FC236}">
                        <a16:creationId xmlns:a16="http://schemas.microsoft.com/office/drawing/2014/main" id="{59C8220B-BA68-40B1-A2D1-60274F35F105}"/>
                      </a:ext>
                    </a:extLst>
                  </p:cNvPr>
                  <p:cNvSpPr txBox="1">
                    <a:spLocks noRot="1" noChangeAspect="1" noMove="1" noResize="1" noEditPoints="1" noAdjustHandles="1" noChangeArrowheads="1" noChangeShapeType="1" noTextEdit="1"/>
                  </p:cNvSpPr>
                  <p:nvPr/>
                </p:nvSpPr>
                <p:spPr>
                  <a:xfrm rot="16200000">
                    <a:off x="10286644" y="4737755"/>
                    <a:ext cx="855579" cy="307777"/>
                  </a:xfrm>
                  <a:prstGeom prst="rect">
                    <a:avLst/>
                  </a:prstGeom>
                  <a:blipFill>
                    <a:blip r:embed="rId9"/>
                    <a:stretch>
                      <a:fillRect t="-7258" r="-25581"/>
                    </a:stretch>
                  </a:blipFill>
                </p:spPr>
                <p:txBody>
                  <a:bodyPr/>
                  <a:lstStyle/>
                  <a:p>
                    <a:r>
                      <a:rPr lang="zh-TW" altLang="en-US">
                        <a:noFill/>
                      </a:rPr>
                      <a:t> </a:t>
                    </a:r>
                  </a:p>
                </p:txBody>
              </p:sp>
            </mc:Fallback>
          </mc:AlternateContent>
          <p:sp>
            <p:nvSpPr>
              <p:cNvPr id="133" name="文字方塊 132">
                <a:extLst>
                  <a:ext uri="{FF2B5EF4-FFF2-40B4-BE49-F238E27FC236}">
                    <a16:creationId xmlns:a16="http://schemas.microsoft.com/office/drawing/2014/main" id="{6AB274B3-0995-4EEB-9013-E9FCFC70773D}"/>
                  </a:ext>
                </a:extLst>
              </p:cNvPr>
              <p:cNvSpPr txBox="1"/>
              <p:nvPr/>
            </p:nvSpPr>
            <p:spPr>
              <a:xfrm>
                <a:off x="7885930" y="4548241"/>
                <a:ext cx="497957" cy="347230"/>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4" name="文字方塊 133">
                <a:extLst>
                  <a:ext uri="{FF2B5EF4-FFF2-40B4-BE49-F238E27FC236}">
                    <a16:creationId xmlns:a16="http://schemas.microsoft.com/office/drawing/2014/main" id="{860FFD41-4F96-4780-8E19-D375CBC57F46}"/>
                  </a:ext>
                </a:extLst>
              </p:cNvPr>
              <p:cNvSpPr txBox="1"/>
              <p:nvPr/>
            </p:nvSpPr>
            <p:spPr>
              <a:xfrm>
                <a:off x="8923420" y="3644615"/>
                <a:ext cx="508069" cy="347230"/>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5" name="文字方塊 134">
                <a:extLst>
                  <a:ext uri="{FF2B5EF4-FFF2-40B4-BE49-F238E27FC236}">
                    <a16:creationId xmlns:a16="http://schemas.microsoft.com/office/drawing/2014/main" id="{18CB05BB-851D-48E2-B2C0-383926E2DC69}"/>
                  </a:ext>
                </a:extLst>
              </p:cNvPr>
              <p:cNvSpPr txBox="1"/>
              <p:nvPr/>
            </p:nvSpPr>
            <p:spPr>
              <a:xfrm>
                <a:off x="8906756" y="5697858"/>
                <a:ext cx="524733" cy="347230"/>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6" name="文字方塊 135">
                <a:extLst>
                  <a:ext uri="{FF2B5EF4-FFF2-40B4-BE49-F238E27FC236}">
                    <a16:creationId xmlns:a16="http://schemas.microsoft.com/office/drawing/2014/main" id="{268A4645-B4C9-4C93-9DD7-258346092438}"/>
                  </a:ext>
                </a:extLst>
              </p:cNvPr>
              <p:cNvSpPr txBox="1"/>
              <p:nvPr/>
            </p:nvSpPr>
            <p:spPr>
              <a:xfrm>
                <a:off x="9978086" y="4802688"/>
                <a:ext cx="519506" cy="347230"/>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1" name="文字方塊 140">
                    <a:extLst>
                      <a:ext uri="{FF2B5EF4-FFF2-40B4-BE49-F238E27FC236}">
                        <a16:creationId xmlns:a16="http://schemas.microsoft.com/office/drawing/2014/main" id="{881B35F0-DFFE-4DE0-A1B4-E40D2CB808D8}"/>
                      </a:ext>
                    </a:extLst>
                  </p:cNvPr>
                  <p:cNvSpPr txBox="1"/>
                  <p:nvPr/>
                </p:nvSpPr>
                <p:spPr>
                  <a:xfrm>
                    <a:off x="9274555" y="475538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1" name="文字方塊 140">
                    <a:extLst>
                      <a:ext uri="{FF2B5EF4-FFF2-40B4-BE49-F238E27FC236}">
                        <a16:creationId xmlns:a16="http://schemas.microsoft.com/office/drawing/2014/main" id="{881B35F0-DFFE-4DE0-A1B4-E40D2CB808D8}"/>
                      </a:ext>
                    </a:extLst>
                  </p:cNvPr>
                  <p:cNvSpPr txBox="1">
                    <a:spLocks noRot="1" noChangeAspect="1" noMove="1" noResize="1" noEditPoints="1" noAdjustHandles="1" noChangeArrowheads="1" noChangeShapeType="1" noTextEdit="1"/>
                  </p:cNvSpPr>
                  <p:nvPr/>
                </p:nvSpPr>
                <p:spPr>
                  <a:xfrm>
                    <a:off x="9274555" y="4755386"/>
                    <a:ext cx="332369" cy="307777"/>
                  </a:xfrm>
                  <a:prstGeom prst="rect">
                    <a:avLst/>
                  </a:prstGeom>
                  <a:blipFill>
                    <a:blip r:embed="rId10"/>
                    <a:stretch>
                      <a:fillRect r="-2174" b="-1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2" name="文字方塊 141">
                    <a:extLst>
                      <a:ext uri="{FF2B5EF4-FFF2-40B4-BE49-F238E27FC236}">
                        <a16:creationId xmlns:a16="http://schemas.microsoft.com/office/drawing/2014/main" id="{82249A39-0601-4737-8A03-EA956AB6FF5A}"/>
                      </a:ext>
                    </a:extLst>
                  </p:cNvPr>
                  <p:cNvSpPr txBox="1"/>
                  <p:nvPr/>
                </p:nvSpPr>
                <p:spPr>
                  <a:xfrm>
                    <a:off x="8841152" y="422522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2" name="文字方塊 141">
                    <a:extLst>
                      <a:ext uri="{FF2B5EF4-FFF2-40B4-BE49-F238E27FC236}">
                        <a16:creationId xmlns:a16="http://schemas.microsoft.com/office/drawing/2014/main" id="{82249A39-0601-4737-8A03-EA956AB6FF5A}"/>
                      </a:ext>
                    </a:extLst>
                  </p:cNvPr>
                  <p:cNvSpPr txBox="1">
                    <a:spLocks noRot="1" noChangeAspect="1" noMove="1" noResize="1" noEditPoints="1" noAdjustHandles="1" noChangeArrowheads="1" noChangeShapeType="1" noTextEdit="1"/>
                  </p:cNvSpPr>
                  <p:nvPr/>
                </p:nvSpPr>
                <p:spPr>
                  <a:xfrm>
                    <a:off x="8841152" y="4225225"/>
                    <a:ext cx="332369" cy="307777"/>
                  </a:xfrm>
                  <a:prstGeom prst="rect">
                    <a:avLst/>
                  </a:prstGeom>
                  <a:blipFill>
                    <a:blip r:embed="rId11"/>
                    <a:stretch>
                      <a:fillRect b="-4444"/>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14130841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98886" y="383190"/>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矩形 31">
            <a:extLst>
              <a:ext uri="{FF2B5EF4-FFF2-40B4-BE49-F238E27FC236}">
                <a16:creationId xmlns:a16="http://schemas.microsoft.com/office/drawing/2014/main" id="{735F99E3-440E-4460-B29E-1B9638171658}"/>
              </a:ext>
            </a:extLst>
          </p:cNvPr>
          <p:cNvSpPr/>
          <p:nvPr/>
        </p:nvSpPr>
        <p:spPr>
          <a:xfrm>
            <a:off x="9934416" y="1018389"/>
            <a:ext cx="218554"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7B2555E3-898A-435A-9CA9-B6575FB7B1AA}"/>
              </a:ext>
            </a:extLst>
          </p:cNvPr>
          <p:cNvSpPr/>
          <p:nvPr/>
        </p:nvSpPr>
        <p:spPr>
          <a:xfrm>
            <a:off x="9794725" y="4840409"/>
            <a:ext cx="46779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D872CA14-590B-4B25-8D56-51869107EFD2}"/>
              </a:ext>
            </a:extLst>
          </p:cNvPr>
          <p:cNvGrpSpPr/>
          <p:nvPr/>
        </p:nvGrpSpPr>
        <p:grpSpPr>
          <a:xfrm>
            <a:off x="6875133" y="3508868"/>
            <a:ext cx="3168560" cy="2172283"/>
            <a:chOff x="6867344" y="3740617"/>
            <a:chExt cx="3168560" cy="2172283"/>
          </a:xfrm>
        </p:grpSpPr>
        <p:sp>
          <p:nvSpPr>
            <p:cNvPr id="48" name="矩形 47">
              <a:extLst>
                <a:ext uri="{FF2B5EF4-FFF2-40B4-BE49-F238E27FC236}">
                  <a16:creationId xmlns:a16="http://schemas.microsoft.com/office/drawing/2014/main" id="{B096E37E-8AC9-44B3-8AC0-85DBA5186884}"/>
                </a:ext>
              </a:extLst>
            </p:cNvPr>
            <p:cNvSpPr/>
            <p:nvPr/>
          </p:nvSpPr>
          <p:spPr>
            <a:xfrm>
              <a:off x="8832312" y="4530195"/>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78A5635-6392-4A3A-8FB5-9101D27D904D}"/>
                </a:ext>
              </a:extLst>
            </p:cNvPr>
            <p:cNvSpPr/>
            <p:nvPr/>
          </p:nvSpPr>
          <p:spPr>
            <a:xfrm>
              <a:off x="7680057" y="374061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623D93-181D-445B-A97C-8949FD369C96}"/>
                </a:ext>
              </a:extLst>
            </p:cNvPr>
            <p:cNvSpPr/>
            <p:nvPr/>
          </p:nvSpPr>
          <p:spPr>
            <a:xfrm>
              <a:off x="6867344" y="490140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291D2EE2-3DA4-43C1-834D-6A683319D87B}"/>
                </a:ext>
              </a:extLst>
            </p:cNvPr>
            <p:cNvSpPr/>
            <p:nvPr/>
          </p:nvSpPr>
          <p:spPr>
            <a:xfrm>
              <a:off x="8022867" y="5680623"/>
              <a:ext cx="279399"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62E44167-7C8B-4193-8CDE-E0AF63648A86}"/>
                </a:ext>
              </a:extLst>
            </p:cNvPr>
            <p:cNvSpPr/>
            <p:nvPr/>
          </p:nvSpPr>
          <p:spPr>
            <a:xfrm>
              <a:off x="9817350" y="470198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54607F0B-9399-46DC-A751-46D610BD1351}"/>
              </a:ext>
            </a:extLst>
          </p:cNvPr>
          <p:cNvGrpSpPr/>
          <p:nvPr/>
        </p:nvGrpSpPr>
        <p:grpSpPr>
          <a:xfrm>
            <a:off x="7345935" y="1930440"/>
            <a:ext cx="3264315" cy="2877114"/>
            <a:chOff x="7276685" y="1998989"/>
            <a:chExt cx="3264315" cy="2877114"/>
          </a:xfrm>
        </p:grpSpPr>
        <p:sp>
          <p:nvSpPr>
            <p:cNvPr id="7" name="矩形 6">
              <a:extLst>
                <a:ext uri="{FF2B5EF4-FFF2-40B4-BE49-F238E27FC236}">
                  <a16:creationId xmlns:a16="http://schemas.microsoft.com/office/drawing/2014/main" id="{29F3120E-FFA5-49F9-B607-4539075AF0F8}"/>
                </a:ext>
              </a:extLst>
            </p:cNvPr>
            <p:cNvSpPr/>
            <p:nvPr/>
          </p:nvSpPr>
          <p:spPr>
            <a:xfrm>
              <a:off x="9145978" y="4605175"/>
              <a:ext cx="1395022"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2F909DB8-68B5-4CC8-88B1-5CEC2797D52D}"/>
                </a:ext>
              </a:extLst>
            </p:cNvPr>
            <p:cNvSpPr/>
            <p:nvPr/>
          </p:nvSpPr>
          <p:spPr>
            <a:xfrm rot="16200000">
              <a:off x="6616710" y="2658964"/>
              <a:ext cx="1590877"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6" name="文字方塊 35">
            <a:extLst>
              <a:ext uri="{FF2B5EF4-FFF2-40B4-BE49-F238E27FC236}">
                <a16:creationId xmlns:a16="http://schemas.microsoft.com/office/drawing/2014/main" id="{BC8D4A16-5CCA-40C5-9964-FFF5383065ED}"/>
              </a:ext>
            </a:extLst>
          </p:cNvPr>
          <p:cNvSpPr txBox="1"/>
          <p:nvPr/>
        </p:nvSpPr>
        <p:spPr>
          <a:xfrm>
            <a:off x="76852" y="703212"/>
            <a:ext cx="6176432" cy="4247317"/>
          </a:xfrm>
          <a:prstGeom prst="rect">
            <a:avLst/>
          </a:prstGeom>
          <a:noFill/>
        </p:spPr>
        <p:txBody>
          <a:bodyPr wrap="square">
            <a:spAutoFit/>
          </a:bodyPr>
          <a:lstStyle/>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zh-TW" altLang="en-US" dirty="0"/>
              <a:t>The three distributions separate clearly, and the separation is asymmetric: the largest singular value is roughly twice the other two and spreads over a wide range with a long tail towards high values, while the second and third are narrow and overlap heavily. Over most of its workspace Design A therefore has one dominant direction and two comparable, weaker ones, rather than three directions of similar strength; the isotropy deficit seen on the previous slide is driven mainly by the strong axis pulling away, not by the weakest axis collapsing. The long tail belongs to the points closest to the pole tips — the same points that form the four red lobes of the capacity map on slide 14.</a:t>
            </a:r>
            <a:endParaRPr lang="en-US" altLang="zh-TW" dirty="0"/>
          </a:p>
          <a:p>
            <a:pPr marL="285750" indent="-285750">
              <a:buFont typeface="Arial" panose="020B0604020202020204" pitchFamily="34" charset="0"/>
              <a:buChar char="•"/>
            </a:pPr>
            <a:r>
              <a:rPr lang="en-US" altLang="zh-TW" dirty="0"/>
              <a:t>Both histograms have the same resolution (22.17uT/A).</a:t>
            </a:r>
          </a:p>
          <a:p>
            <a:pPr marL="285750" indent="-285750">
              <a:buFont typeface="Arial" panose="020B0604020202020204" pitchFamily="34" charset="0"/>
              <a:buChar char="•"/>
            </a:pPr>
            <a:endParaRPr lang="zh-TW" altLang="en-US" dirty="0"/>
          </a:p>
        </p:txBody>
      </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1031946347"/>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11</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22</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33</m:t>
                                    </m:r>
                                  </m:sub>
                                </m:sSub>
                              </m:oMath>
                            </m:oMathPara>
                          </a14:m>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15.722</a:t>
                          </a:r>
                          <a:endParaRPr lang="zh-TW" altLang="en-US" dirty="0"/>
                        </a:p>
                      </a:txBody>
                      <a:tcPr/>
                    </a:tc>
                    <a:tc>
                      <a:txBody>
                        <a:bodyPr/>
                        <a:lstStyle/>
                        <a:p>
                          <a:pPr algn="ctr"/>
                          <a:r>
                            <a:rPr lang="en-US" altLang="zh-TW" dirty="0"/>
                            <a:t>14.403</a:t>
                          </a:r>
                          <a:endParaRPr lang="zh-TW" altLang="en-US" dirty="0"/>
                        </a:p>
                      </a:txBody>
                      <a:tcPr/>
                    </a:tc>
                    <a:tc>
                      <a:txBody>
                        <a:bodyPr/>
                        <a:lstStyle/>
                        <a:p>
                          <a:pPr algn="ctr"/>
                          <a:r>
                            <a:rPr lang="en-US" altLang="zh-TW" dirty="0"/>
                            <a:t>13.852</a:t>
                          </a:r>
                          <a:endParaRPr lang="zh-TW" altLang="en-US" dirty="0"/>
                        </a:p>
                      </a:txBody>
                      <a:tcPr/>
                    </a:tc>
                    <a:extLst>
                      <a:ext uri="{0D108BD9-81ED-4DB2-BD59-A6C34878D82A}">
                        <a16:rowId xmlns:a16="http://schemas.microsoft.com/office/drawing/2014/main" val="3046649366"/>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1031946347"/>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2"/>
                          <a:stretch>
                            <a:fillRect l="-100299" t="-14516" r="-200299" b="-270968"/>
                          </a:stretch>
                        </a:blipFill>
                      </a:tcPr>
                    </a:tc>
                    <a:tc>
                      <a:txBody>
                        <a:bodyPr/>
                        <a:lstStyle/>
                        <a:p>
                          <a:endParaRPr lang="zh-TW"/>
                        </a:p>
                      </a:txBody>
                      <a:tcPr>
                        <a:blipFill>
                          <a:blip r:embed="rId2"/>
                          <a:stretch>
                            <a:fillRect l="-200901" t="-14516" r="-100901" b="-270968"/>
                          </a:stretch>
                        </a:blipFill>
                      </a:tcPr>
                    </a:tc>
                    <a:tc>
                      <a:txBody>
                        <a:bodyPr/>
                        <a:lstStyle/>
                        <a:p>
                          <a:endParaRPr lang="zh-TW"/>
                        </a:p>
                      </a:txBody>
                      <a:tcPr>
                        <a:blipFill>
                          <a:blip r:embed="rId2"/>
                          <a:stretch>
                            <a:fillRect l="-300000" t="-14516" r="-599" b="-270968"/>
                          </a:stretch>
                        </a:blipFill>
                      </a:tcPr>
                    </a:tc>
                    <a:extLst>
                      <a:ext uri="{0D108BD9-81ED-4DB2-BD59-A6C34878D82A}">
                        <a16:rowId xmlns:a16="http://schemas.microsoft.com/office/drawing/2014/main" val="168208475"/>
                      </a:ext>
                    </a:extLst>
                  </a:tr>
                  <a:tr h="370840">
                    <a:tc>
                      <a:txBody>
                        <a:bodyPr/>
                        <a:lstStyle/>
                        <a:p>
                          <a:endParaRPr lang="zh-TW"/>
                        </a:p>
                      </a:txBody>
                      <a:tcPr>
                        <a:blipFill>
                          <a:blip r:embed="rId2"/>
                          <a:stretch>
                            <a:fillRect l="-299" t="-116393" r="-300299" b="-175410"/>
                          </a:stretch>
                        </a:blipFill>
                      </a:tcPr>
                    </a:tc>
                    <a:tc>
                      <a:txBody>
                        <a:bodyPr/>
                        <a:lstStyle/>
                        <a:p>
                          <a:pPr algn="ctr"/>
                          <a:r>
                            <a:rPr lang="en-US" altLang="zh-TW" dirty="0"/>
                            <a:t>15.722</a:t>
                          </a:r>
                          <a:endParaRPr lang="zh-TW" altLang="en-US" dirty="0"/>
                        </a:p>
                      </a:txBody>
                      <a:tcPr/>
                    </a:tc>
                    <a:tc>
                      <a:txBody>
                        <a:bodyPr/>
                        <a:lstStyle/>
                        <a:p>
                          <a:pPr algn="ctr"/>
                          <a:r>
                            <a:rPr lang="en-US" altLang="zh-TW" dirty="0"/>
                            <a:t>14.403</a:t>
                          </a:r>
                          <a:endParaRPr lang="zh-TW" altLang="en-US" dirty="0"/>
                        </a:p>
                      </a:txBody>
                      <a:tcPr/>
                    </a:tc>
                    <a:tc>
                      <a:txBody>
                        <a:bodyPr/>
                        <a:lstStyle/>
                        <a:p>
                          <a:pPr algn="ctr"/>
                          <a:r>
                            <a:rPr lang="en-US" altLang="zh-TW" dirty="0"/>
                            <a:t>13.852</a:t>
                          </a:r>
                          <a:endParaRPr lang="zh-TW" altLang="en-US" dirty="0"/>
                        </a:p>
                      </a:txBody>
                      <a:tcPr/>
                    </a:tc>
                    <a:extLst>
                      <a:ext uri="{0D108BD9-81ED-4DB2-BD59-A6C34878D82A}">
                        <a16:rowId xmlns:a16="http://schemas.microsoft.com/office/drawing/2014/main" val="3046649366"/>
                      </a:ext>
                    </a:extLst>
                  </a:tr>
                </a:tbl>
              </a:graphicData>
            </a:graphic>
          </p:graphicFrame>
        </mc:Fallback>
      </mc:AlternateContent>
      <p:grpSp>
        <p:nvGrpSpPr>
          <p:cNvPr id="12" name="群組 11">
            <a:extLst>
              <a:ext uri="{FF2B5EF4-FFF2-40B4-BE49-F238E27FC236}">
                <a16:creationId xmlns:a16="http://schemas.microsoft.com/office/drawing/2014/main" id="{D177AD4C-735A-4F4A-9C04-ED23F0E9A6D4}"/>
              </a:ext>
            </a:extLst>
          </p:cNvPr>
          <p:cNvGrpSpPr/>
          <p:nvPr/>
        </p:nvGrpSpPr>
        <p:grpSpPr>
          <a:xfrm>
            <a:off x="7632757" y="1610738"/>
            <a:ext cx="3297710" cy="2582671"/>
            <a:chOff x="7632757" y="1610738"/>
            <a:chExt cx="3297710" cy="2582671"/>
          </a:xfrm>
        </p:grpSpPr>
        <p:pic>
          <p:nvPicPr>
            <p:cNvPr id="5" name="圖片 4">
              <a:extLst>
                <a:ext uri="{FF2B5EF4-FFF2-40B4-BE49-F238E27FC236}">
                  <a16:creationId xmlns:a16="http://schemas.microsoft.com/office/drawing/2014/main" id="{DD6CD9D5-FA40-410B-A0DD-111E09DABD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3628" y="1635621"/>
              <a:ext cx="3116839" cy="2426143"/>
            </a:xfrm>
            <a:prstGeom prst="rect">
              <a:avLst/>
            </a:prstGeom>
          </p:spPr>
        </p:pic>
        <p:grpSp>
          <p:nvGrpSpPr>
            <p:cNvPr id="15" name="群組 14">
              <a:extLst>
                <a:ext uri="{FF2B5EF4-FFF2-40B4-BE49-F238E27FC236}">
                  <a16:creationId xmlns:a16="http://schemas.microsoft.com/office/drawing/2014/main" id="{B0A18187-7F13-41AC-A9F7-1436480D630C}"/>
                </a:ext>
              </a:extLst>
            </p:cNvPr>
            <p:cNvGrpSpPr/>
            <p:nvPr/>
          </p:nvGrpSpPr>
          <p:grpSpPr>
            <a:xfrm>
              <a:off x="7632757" y="1610738"/>
              <a:ext cx="2402343" cy="2582671"/>
              <a:chOff x="7874443" y="1891367"/>
              <a:chExt cx="2402343" cy="2582671"/>
            </a:xfrm>
          </p:grpSpPr>
          <p:grpSp>
            <p:nvGrpSpPr>
              <p:cNvPr id="14" name="群組 13">
                <a:extLst>
                  <a:ext uri="{FF2B5EF4-FFF2-40B4-BE49-F238E27FC236}">
                    <a16:creationId xmlns:a16="http://schemas.microsoft.com/office/drawing/2014/main" id="{C299C441-BCF8-4475-BFF9-35587BD5D694}"/>
                  </a:ext>
                </a:extLst>
              </p:cNvPr>
              <p:cNvGrpSpPr/>
              <p:nvPr/>
            </p:nvGrpSpPr>
            <p:grpSpPr>
              <a:xfrm>
                <a:off x="7975691" y="2368750"/>
                <a:ext cx="2238330" cy="2017538"/>
                <a:chOff x="7975691" y="2368750"/>
                <a:chExt cx="2238330" cy="2017538"/>
              </a:xfrm>
            </p:grpSpPr>
            <p:sp>
              <p:nvSpPr>
                <p:cNvPr id="11" name="矩形 10">
                  <a:extLst>
                    <a:ext uri="{FF2B5EF4-FFF2-40B4-BE49-F238E27FC236}">
                      <a16:creationId xmlns:a16="http://schemas.microsoft.com/office/drawing/2014/main" id="{F3FAB7FA-B1DA-4330-B83C-E622173A04E6}"/>
                    </a:ext>
                  </a:extLst>
                </p:cNvPr>
                <p:cNvSpPr/>
                <p:nvPr/>
              </p:nvSpPr>
              <p:spPr>
                <a:xfrm>
                  <a:off x="9223695" y="4165600"/>
                  <a:ext cx="990326" cy="220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583C597C-6CE1-44DE-B1A0-2232A829391D}"/>
                    </a:ext>
                  </a:extLst>
                </p:cNvPr>
                <p:cNvSpPr/>
                <p:nvPr/>
              </p:nvSpPr>
              <p:spPr>
                <a:xfrm rot="16200000">
                  <a:off x="7425377" y="2919064"/>
                  <a:ext cx="1321315" cy="220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4A527870-9240-4CAE-A7BD-03FC80337E83}"/>
                      </a:ext>
                    </a:extLst>
                  </p:cNvPr>
                  <p:cNvSpPr txBox="1"/>
                  <p:nvPr/>
                </p:nvSpPr>
                <p:spPr>
                  <a:xfrm>
                    <a:off x="8444206" y="4104706"/>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C</m:t>
                          </m:r>
                          <m:r>
                            <m:rPr>
                              <m:sty m:val="p"/>
                            </m:rPr>
                            <a:rPr lang="en-US" altLang="zh-TW" b="0" i="0" smtClean="0">
                              <a:latin typeface="Cambria Math" panose="02040503050406030204" pitchFamily="18" charset="0"/>
                              <a:ea typeface="Cambria Math" panose="02040503050406030204" pitchFamily="18" charset="0"/>
                            </a:rPr>
                            <m:t>apacity</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measure</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29" name="文字方塊 28">
                    <a:extLst>
                      <a:ext uri="{FF2B5EF4-FFF2-40B4-BE49-F238E27FC236}">
                        <a16:creationId xmlns:a16="http://schemas.microsoft.com/office/drawing/2014/main" id="{4A527870-9240-4CAE-A7BD-03FC80337E83}"/>
                      </a:ext>
                    </a:extLst>
                  </p:cNvPr>
                  <p:cNvSpPr txBox="1">
                    <a:spLocks noRot="1" noChangeAspect="1" noMove="1" noResize="1" noEditPoints="1" noAdjustHandles="1" noChangeArrowheads="1" noChangeShapeType="1" noTextEdit="1"/>
                  </p:cNvSpPr>
                  <p:nvPr/>
                </p:nvSpPr>
                <p:spPr>
                  <a:xfrm>
                    <a:off x="8444206" y="4104706"/>
                    <a:ext cx="1832580" cy="369332"/>
                  </a:xfrm>
                  <a:prstGeom prst="rect">
                    <a:avLst/>
                  </a:prstGeom>
                  <a:blipFill>
                    <a:blip r:embed="rId4"/>
                    <a:stretch>
                      <a:fillRect t="-116393" r="-73000" b="-17541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4F5B4198-2C45-4E9A-B669-499DD550D761}"/>
                      </a:ext>
                    </a:extLst>
                  </p:cNvPr>
                  <p:cNvSpPr txBox="1"/>
                  <p:nvPr/>
                </p:nvSpPr>
                <p:spPr>
                  <a:xfrm rot="16200000">
                    <a:off x="6916873" y="2848937"/>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77" name="文字方塊 76">
                    <a:extLst>
                      <a:ext uri="{FF2B5EF4-FFF2-40B4-BE49-F238E27FC236}">
                        <a16:creationId xmlns:a16="http://schemas.microsoft.com/office/drawing/2014/main" id="{4F5B4198-2C45-4E9A-B669-499DD550D761}"/>
                      </a:ext>
                    </a:extLst>
                  </p:cNvPr>
                  <p:cNvSpPr txBox="1">
                    <a:spLocks noRot="1" noChangeAspect="1" noMove="1" noResize="1" noEditPoints="1" noAdjustHandles="1" noChangeArrowheads="1" noChangeShapeType="1" noTextEdit="1"/>
                  </p:cNvSpPr>
                  <p:nvPr/>
                </p:nvSpPr>
                <p:spPr>
                  <a:xfrm rot="16200000">
                    <a:off x="6916873" y="2848937"/>
                    <a:ext cx="2192139" cy="276999"/>
                  </a:xfrm>
                  <a:prstGeom prst="rect">
                    <a:avLst/>
                  </a:prstGeom>
                  <a:blipFill>
                    <a:blip r:embed="rId5"/>
                    <a:stretch>
                      <a:fillRect l="-2174" t="-2778" r="-32609" b="-2222"/>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2174014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sp>
        <p:nvSpPr>
          <p:cNvPr id="34" name="矩形 33">
            <a:extLst>
              <a:ext uri="{FF2B5EF4-FFF2-40B4-BE49-F238E27FC236}">
                <a16:creationId xmlns:a16="http://schemas.microsoft.com/office/drawing/2014/main" id="{79D2E760-7634-49B3-8738-C566096C37A8}"/>
              </a:ext>
            </a:extLst>
          </p:cNvPr>
          <p:cNvSpPr/>
          <p:nvPr/>
        </p:nvSpPr>
        <p:spPr>
          <a:xfrm>
            <a:off x="5460999" y="1928550"/>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1190983A-5C39-4886-9619-EB987BA08A5A}"/>
              </a:ext>
            </a:extLst>
          </p:cNvPr>
          <p:cNvSpPr/>
          <p:nvPr/>
        </p:nvSpPr>
        <p:spPr>
          <a:xfrm>
            <a:off x="10764014" y="1722998"/>
            <a:ext cx="159369" cy="294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3" name="矩形 42">
            <a:extLst>
              <a:ext uri="{FF2B5EF4-FFF2-40B4-BE49-F238E27FC236}">
                <a16:creationId xmlns:a16="http://schemas.microsoft.com/office/drawing/2014/main" id="{DAC22EB2-D2BB-462C-BC74-58FD2DE4BA6A}"/>
              </a:ext>
            </a:extLst>
          </p:cNvPr>
          <p:cNvSpPr/>
          <p:nvPr/>
        </p:nvSpPr>
        <p:spPr>
          <a:xfrm>
            <a:off x="6256928"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8CA65E4A-CFB2-4EA2-85BD-0D9730ADE9B3}"/>
              </a:ext>
            </a:extLst>
          </p:cNvPr>
          <p:cNvSpPr/>
          <p:nvPr/>
        </p:nvSpPr>
        <p:spPr>
          <a:xfrm>
            <a:off x="8173347" y="353856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矩形 46">
            <a:extLst>
              <a:ext uri="{FF2B5EF4-FFF2-40B4-BE49-F238E27FC236}">
                <a16:creationId xmlns:a16="http://schemas.microsoft.com/office/drawing/2014/main" id="{F8240F74-EA98-4ED3-B43E-B311F02C30DD}"/>
              </a:ext>
            </a:extLst>
          </p:cNvPr>
          <p:cNvSpPr/>
          <p:nvPr/>
        </p:nvSpPr>
        <p:spPr>
          <a:xfrm>
            <a:off x="8932275"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E3B77C83-699E-461F-B4BA-8C2FA871DCA2}"/>
              </a:ext>
            </a:extLst>
          </p:cNvPr>
          <p:cNvSpPr/>
          <p:nvPr/>
        </p:nvSpPr>
        <p:spPr>
          <a:xfrm>
            <a:off x="5351905" y="2059278"/>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3D14EEA7-B1CC-4A28-BF80-872555CF32BF}"/>
              </a:ext>
            </a:extLst>
          </p:cNvPr>
          <p:cNvSpPr/>
          <p:nvPr/>
        </p:nvSpPr>
        <p:spPr>
          <a:xfrm>
            <a:off x="6535040" y="2906549"/>
            <a:ext cx="218554" cy="18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a:extLst>
              <a:ext uri="{FF2B5EF4-FFF2-40B4-BE49-F238E27FC236}">
                <a16:creationId xmlns:a16="http://schemas.microsoft.com/office/drawing/2014/main" id="{3FBA3E74-E0D9-4C92-89A1-FC1810D9C593}"/>
              </a:ext>
            </a:extLst>
          </p:cNvPr>
          <p:cNvSpPr/>
          <p:nvPr/>
        </p:nvSpPr>
        <p:spPr>
          <a:xfrm>
            <a:off x="10419603" y="2544525"/>
            <a:ext cx="61970" cy="410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6" name="群組 65">
            <a:extLst>
              <a:ext uri="{FF2B5EF4-FFF2-40B4-BE49-F238E27FC236}">
                <a16:creationId xmlns:a16="http://schemas.microsoft.com/office/drawing/2014/main" id="{B8B44E8A-7C69-40AF-868C-858D8E255A75}"/>
              </a:ext>
            </a:extLst>
          </p:cNvPr>
          <p:cNvGrpSpPr/>
          <p:nvPr/>
        </p:nvGrpSpPr>
        <p:grpSpPr>
          <a:xfrm>
            <a:off x="7498215" y="3763636"/>
            <a:ext cx="3083568" cy="2082167"/>
            <a:chOff x="6051068" y="3773292"/>
            <a:chExt cx="3590668" cy="2286540"/>
          </a:xfrm>
        </p:grpSpPr>
        <p:sp>
          <p:nvSpPr>
            <p:cNvPr id="61" name="矩形 60">
              <a:extLst>
                <a:ext uri="{FF2B5EF4-FFF2-40B4-BE49-F238E27FC236}">
                  <a16:creationId xmlns:a16="http://schemas.microsoft.com/office/drawing/2014/main" id="{654CDC74-E55F-4DBC-B616-357EBC5F4474}"/>
                </a:ext>
              </a:extLst>
            </p:cNvPr>
            <p:cNvSpPr/>
            <p:nvPr/>
          </p:nvSpPr>
          <p:spPr>
            <a:xfrm>
              <a:off x="8324876" y="5644809"/>
              <a:ext cx="258270"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CD1471C2-34F2-4760-BFF2-E80C9E428DEC}"/>
                </a:ext>
              </a:extLst>
            </p:cNvPr>
            <p:cNvSpPr/>
            <p:nvPr/>
          </p:nvSpPr>
          <p:spPr>
            <a:xfrm>
              <a:off x="6446961" y="3773292"/>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3" name="矩形 62">
              <a:extLst>
                <a:ext uri="{FF2B5EF4-FFF2-40B4-BE49-F238E27FC236}">
                  <a16:creationId xmlns:a16="http://schemas.microsoft.com/office/drawing/2014/main" id="{90FF13F8-3A65-4128-BC28-CAC513B4FB57}"/>
                </a:ext>
              </a:extLst>
            </p:cNvPr>
            <p:cNvSpPr/>
            <p:nvPr/>
          </p:nvSpPr>
          <p:spPr>
            <a:xfrm>
              <a:off x="6051068" y="5067090"/>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a:extLst>
                <a:ext uri="{FF2B5EF4-FFF2-40B4-BE49-F238E27FC236}">
                  <a16:creationId xmlns:a16="http://schemas.microsoft.com/office/drawing/2014/main" id="{5BAF1E9B-9DCD-467B-B70A-E5CD30B363C2}"/>
                </a:ext>
              </a:extLst>
            </p:cNvPr>
            <p:cNvSpPr/>
            <p:nvPr/>
          </p:nvSpPr>
          <p:spPr>
            <a:xfrm>
              <a:off x="7250039" y="5828298"/>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5" name="矩形 64">
              <a:extLst>
                <a:ext uri="{FF2B5EF4-FFF2-40B4-BE49-F238E27FC236}">
                  <a16:creationId xmlns:a16="http://schemas.microsoft.com/office/drawing/2014/main" id="{9D7F0799-F13A-4899-9213-C4590823EDB0}"/>
                </a:ext>
              </a:extLst>
            </p:cNvPr>
            <p:cNvSpPr/>
            <p:nvPr/>
          </p:nvSpPr>
          <p:spPr>
            <a:xfrm>
              <a:off x="9423181" y="4151337"/>
              <a:ext cx="218555" cy="922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79" name="矩形 78">
            <a:extLst>
              <a:ext uri="{FF2B5EF4-FFF2-40B4-BE49-F238E27FC236}">
                <a16:creationId xmlns:a16="http://schemas.microsoft.com/office/drawing/2014/main" id="{6EE2C76E-7851-4AB6-9A3E-18664BA7EDA9}"/>
              </a:ext>
            </a:extLst>
          </p:cNvPr>
          <p:cNvSpPr/>
          <p:nvPr/>
        </p:nvSpPr>
        <p:spPr>
          <a:xfrm>
            <a:off x="5106371" y="3533630"/>
            <a:ext cx="245534" cy="266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auto caption">
            <a:extLst>
              <a:ext uri="{FF2B5EF4-FFF2-40B4-BE49-F238E27FC236}">
                <a16:creationId xmlns:a16="http://schemas.microsoft.com/office/drawing/2014/main" id="{B939D688-74BF-48DD-B637-E4F31386B5C8}"/>
              </a:ext>
            </a:extLst>
          </p:cNvPr>
          <p:cNvSpPr txBox="1"/>
          <p:nvPr/>
        </p:nvSpPr>
        <p:spPr>
          <a:xfrm>
            <a:off x="153910" y="885799"/>
            <a:ext cx="6375566" cy="5862134"/>
          </a:xfrm>
          <a:prstGeom prst="rect">
            <a:avLst/>
          </a:prstGeom>
          <a:noFill/>
        </p:spPr>
        <p:txBody>
          <a:bodyPr wrap="square" rtlCol="0">
            <a:normAutofit/>
          </a:bodyPr>
          <a:lstStyle/>
          <a:p>
            <a:pPr marL="285750" indent="-285750">
              <a:buFont typeface="Arial" panose="020B0604020202020204" pitchFamily="34" charset="0"/>
              <a:buChar char="•"/>
            </a:pPr>
            <a:endParaRPr lang="en-US" altLang="zh-TW" sz="1600" dirty="0"/>
          </a:p>
        </p:txBody>
      </p:sp>
      <p:sp>
        <p:nvSpPr>
          <p:cNvPr id="24" name="文字方塊 23">
            <a:extLst>
              <a:ext uri="{FF2B5EF4-FFF2-40B4-BE49-F238E27FC236}">
                <a16:creationId xmlns:a16="http://schemas.microsoft.com/office/drawing/2014/main" id="{8FBFCE35-671F-43E8-AFE4-D4E5FC738992}"/>
              </a:ext>
            </a:extLst>
          </p:cNvPr>
          <p:cNvSpPr txBox="1"/>
          <p:nvPr/>
        </p:nvSpPr>
        <p:spPr>
          <a:xfrm>
            <a:off x="148346" y="1041403"/>
            <a:ext cx="6176432" cy="2031325"/>
          </a:xfrm>
          <a:prstGeom prst="rect">
            <a:avLst/>
          </a:prstGeom>
          <a:noFill/>
        </p:spPr>
        <p:txBody>
          <a:bodyPr wrap="square">
            <a:spAutoFit/>
          </a:bodyPr>
          <a:lstStyle/>
          <a:p>
            <a:pPr marL="285750" indent="-285750">
              <a:buFont typeface="Arial" panose="020B0604020202020204" pitchFamily="34" charset="0"/>
              <a:buChar char="•"/>
            </a:pPr>
            <a:r>
              <a:rPr lang="en-US" altLang="zh-TW" dirty="0" err="1"/>
              <a:t>Zhi</a:t>
            </a:r>
            <a:r>
              <a:rPr lang="en-US" altLang="zh-TW" dirty="0"/>
              <a:t>-Peng delivers 2.71× the actuation strength of Long Fei (39.58 vs 14.62 </a:t>
            </a:r>
            <a:r>
              <a:rPr lang="en-US" altLang="zh-TW" dirty="0" err="1"/>
              <a:t>mT</a:t>
            </a:r>
            <a:r>
              <a:rPr lang="en-US" altLang="zh-TW" dirty="0"/>
              <a:t>/A). Both share the same pattern: weakest at the </a:t>
            </a:r>
            <a:r>
              <a:rPr lang="en-US" altLang="zh-TW" dirty="0" err="1"/>
              <a:t>centre</a:t>
            </a:r>
            <a:r>
              <a:rPr lang="en-US" altLang="zh-TW" dirty="0"/>
              <a:t>, strengthening toward the pole tips, and almost constant with direction within the calibration radius</a:t>
            </a:r>
            <a:r>
              <a:rPr lang="zh-TW" altLang="en-US" dirty="0"/>
              <a:t>，</a:t>
            </a:r>
            <a:r>
              <a:rPr lang="en-US" altLang="zh-TW" dirty="0"/>
              <a:t>the planar hexapole wins outright on strength, and it is a pure gain improvement — the field shape is not degraded, and the advantage holds uniformly across the workspace.</a:t>
            </a:r>
            <a:endParaRPr lang="zh-TW" altLang="en-US" dirty="0"/>
          </a:p>
        </p:txBody>
      </p:sp>
      <p:grpSp>
        <p:nvGrpSpPr>
          <p:cNvPr id="72" name="群組 71">
            <a:extLst>
              <a:ext uri="{FF2B5EF4-FFF2-40B4-BE49-F238E27FC236}">
                <a16:creationId xmlns:a16="http://schemas.microsoft.com/office/drawing/2014/main" id="{14AACBA3-DE4A-4DE2-94DD-5FA7E272AAF8}"/>
              </a:ext>
            </a:extLst>
          </p:cNvPr>
          <p:cNvGrpSpPr/>
          <p:nvPr/>
        </p:nvGrpSpPr>
        <p:grpSpPr>
          <a:xfrm>
            <a:off x="8658186" y="3222831"/>
            <a:ext cx="2351419" cy="1929892"/>
            <a:chOff x="8230185" y="3441294"/>
            <a:chExt cx="2351419" cy="1929892"/>
          </a:xfrm>
        </p:grpSpPr>
        <p:pic>
          <p:nvPicPr>
            <p:cNvPr id="32" name="圖片 31">
              <a:extLst>
                <a:ext uri="{FF2B5EF4-FFF2-40B4-BE49-F238E27FC236}">
                  <a16:creationId xmlns:a16="http://schemas.microsoft.com/office/drawing/2014/main" id="{68410EBA-52D5-4DB1-9DAD-07090B7069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8847" y="3560318"/>
              <a:ext cx="2085617" cy="1698605"/>
            </a:xfrm>
            <a:prstGeom prst="rect">
              <a:avLst/>
            </a:prstGeom>
          </p:spPr>
        </p:pic>
        <p:grpSp>
          <p:nvGrpSpPr>
            <p:cNvPr id="18" name="群組 17">
              <a:extLst>
                <a:ext uri="{FF2B5EF4-FFF2-40B4-BE49-F238E27FC236}">
                  <a16:creationId xmlns:a16="http://schemas.microsoft.com/office/drawing/2014/main" id="{22DEE182-220C-4694-B0E8-4F293D6F7DFF}"/>
                </a:ext>
              </a:extLst>
            </p:cNvPr>
            <p:cNvGrpSpPr/>
            <p:nvPr/>
          </p:nvGrpSpPr>
          <p:grpSpPr>
            <a:xfrm>
              <a:off x="8230185" y="3441294"/>
              <a:ext cx="2351419" cy="1929892"/>
              <a:chOff x="8221376" y="3620073"/>
              <a:chExt cx="2351419" cy="1929892"/>
            </a:xfrm>
          </p:grpSpPr>
          <p:grpSp>
            <p:nvGrpSpPr>
              <p:cNvPr id="17" name="群組 16">
                <a:extLst>
                  <a:ext uri="{FF2B5EF4-FFF2-40B4-BE49-F238E27FC236}">
                    <a16:creationId xmlns:a16="http://schemas.microsoft.com/office/drawing/2014/main" id="{55BB4621-7BD9-4679-83DF-BFD7799DF865}"/>
                  </a:ext>
                </a:extLst>
              </p:cNvPr>
              <p:cNvGrpSpPr/>
              <p:nvPr/>
            </p:nvGrpSpPr>
            <p:grpSpPr>
              <a:xfrm>
                <a:off x="8273172" y="3704853"/>
                <a:ext cx="2286376" cy="1779937"/>
                <a:chOff x="8273172" y="3704853"/>
                <a:chExt cx="2286376" cy="1779937"/>
              </a:xfrm>
            </p:grpSpPr>
            <p:sp>
              <p:nvSpPr>
                <p:cNvPr id="5" name="矩形 4">
                  <a:extLst>
                    <a:ext uri="{FF2B5EF4-FFF2-40B4-BE49-F238E27FC236}">
                      <a16:creationId xmlns:a16="http://schemas.microsoft.com/office/drawing/2014/main" id="{814C6145-C47B-4D69-AAD2-1C7FDFF05D7C}"/>
                    </a:ext>
                  </a:extLst>
                </p:cNvPr>
                <p:cNvSpPr/>
                <p:nvPr/>
              </p:nvSpPr>
              <p:spPr>
                <a:xfrm>
                  <a:off x="8979362" y="3704853"/>
                  <a:ext cx="471534" cy="1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0791F678-56AB-42BA-961F-31FF4CB4DF2D}"/>
                    </a:ext>
                  </a:extLst>
                </p:cNvPr>
                <p:cNvSpPr/>
                <p:nvPr/>
              </p:nvSpPr>
              <p:spPr>
                <a:xfrm>
                  <a:off x="8273172" y="4495665"/>
                  <a:ext cx="244903"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9F216946-C27D-48B6-9FC9-3A7938C80A01}"/>
                    </a:ext>
                  </a:extLst>
                </p:cNvPr>
                <p:cNvSpPr/>
                <p:nvPr/>
              </p:nvSpPr>
              <p:spPr>
                <a:xfrm>
                  <a:off x="8951784" y="5303872"/>
                  <a:ext cx="471534" cy="180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a:extLst>
                    <a:ext uri="{FF2B5EF4-FFF2-40B4-BE49-F238E27FC236}">
                      <a16:creationId xmlns:a16="http://schemas.microsoft.com/office/drawing/2014/main" id="{D95603DB-8850-4931-9119-271118BBBC31}"/>
                    </a:ext>
                  </a:extLst>
                </p:cNvPr>
                <p:cNvSpPr/>
                <p:nvPr/>
              </p:nvSpPr>
              <p:spPr>
                <a:xfrm>
                  <a:off x="9924223" y="4410200"/>
                  <a:ext cx="244903" cy="2833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矩形 13">
                  <a:extLst>
                    <a:ext uri="{FF2B5EF4-FFF2-40B4-BE49-F238E27FC236}">
                      <a16:creationId xmlns:a16="http://schemas.microsoft.com/office/drawing/2014/main" id="{1329119F-C529-4B40-91BE-B411B4240C93}"/>
                    </a:ext>
                  </a:extLst>
                </p:cNvPr>
                <p:cNvSpPr/>
                <p:nvPr/>
              </p:nvSpPr>
              <p:spPr>
                <a:xfrm>
                  <a:off x="10370107" y="4314578"/>
                  <a:ext cx="189441" cy="584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81" name="文字方塊 80">
                <a:extLst>
                  <a:ext uri="{FF2B5EF4-FFF2-40B4-BE49-F238E27FC236}">
                    <a16:creationId xmlns:a16="http://schemas.microsoft.com/office/drawing/2014/main" id="{52CF3FFF-4A3A-4DF8-9571-F600210FEEA8}"/>
                  </a:ext>
                </a:extLst>
              </p:cNvPr>
              <p:cNvSpPr txBox="1"/>
              <p:nvPr/>
            </p:nvSpPr>
            <p:spPr>
              <a:xfrm>
                <a:off x="8221376" y="431668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2" name="文字方塊 81">
                <a:extLst>
                  <a:ext uri="{FF2B5EF4-FFF2-40B4-BE49-F238E27FC236}">
                    <a16:creationId xmlns:a16="http://schemas.microsoft.com/office/drawing/2014/main" id="{853AC494-5F6E-45D3-8AB8-45F0C907BFD2}"/>
                  </a:ext>
                </a:extLst>
              </p:cNvPr>
              <p:cNvSpPr txBox="1"/>
              <p:nvPr/>
            </p:nvSpPr>
            <p:spPr>
              <a:xfrm>
                <a:off x="9046233" y="362007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3" name="文字方塊 82">
                <a:extLst>
                  <a:ext uri="{FF2B5EF4-FFF2-40B4-BE49-F238E27FC236}">
                    <a16:creationId xmlns:a16="http://schemas.microsoft.com/office/drawing/2014/main" id="{8C1B137E-27CA-4FA8-BD49-47C50D6F832A}"/>
                  </a:ext>
                </a:extLst>
              </p:cNvPr>
              <p:cNvSpPr txBox="1"/>
              <p:nvPr/>
            </p:nvSpPr>
            <p:spPr>
              <a:xfrm>
                <a:off x="9024924" y="524044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4" name="文字方塊 83">
                <a:extLst>
                  <a:ext uri="{FF2B5EF4-FFF2-40B4-BE49-F238E27FC236}">
                    <a16:creationId xmlns:a16="http://schemas.microsoft.com/office/drawing/2014/main" id="{7712404E-07B6-4F6E-AF69-1455B3E1A4BB}"/>
                  </a:ext>
                </a:extLst>
              </p:cNvPr>
              <p:cNvSpPr txBox="1"/>
              <p:nvPr/>
            </p:nvSpPr>
            <p:spPr>
              <a:xfrm>
                <a:off x="9844910" y="449546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5" name="文字方塊 84">
                    <a:extLst>
                      <a:ext uri="{FF2B5EF4-FFF2-40B4-BE49-F238E27FC236}">
                        <a16:creationId xmlns:a16="http://schemas.microsoft.com/office/drawing/2014/main" id="{540B8155-584E-4A94-B7CA-1691DEFFD750}"/>
                      </a:ext>
                    </a:extLst>
                  </p:cNvPr>
                  <p:cNvSpPr txBox="1"/>
                  <p:nvPr/>
                </p:nvSpPr>
                <p:spPr>
                  <a:xfrm>
                    <a:off x="9312538" y="458296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85" name="文字方塊 84">
                    <a:extLst>
                      <a:ext uri="{FF2B5EF4-FFF2-40B4-BE49-F238E27FC236}">
                        <a16:creationId xmlns:a16="http://schemas.microsoft.com/office/drawing/2014/main" id="{540B8155-584E-4A94-B7CA-1691DEFFD750}"/>
                      </a:ext>
                    </a:extLst>
                  </p:cNvPr>
                  <p:cNvSpPr txBox="1">
                    <a:spLocks noRot="1" noChangeAspect="1" noMove="1" noResize="1" noEditPoints="1" noAdjustHandles="1" noChangeArrowheads="1" noChangeShapeType="1" noTextEdit="1"/>
                  </p:cNvSpPr>
                  <p:nvPr/>
                </p:nvSpPr>
                <p:spPr>
                  <a:xfrm>
                    <a:off x="9312538" y="4582969"/>
                    <a:ext cx="332369" cy="307777"/>
                  </a:xfrm>
                  <a:prstGeom prst="rect">
                    <a:avLst/>
                  </a:prstGeom>
                  <a:blipFill>
                    <a:blip r:embed="rId12"/>
                    <a:stretch>
                      <a:fillRect b="-19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6" name="文字方塊 85">
                    <a:extLst>
                      <a:ext uri="{FF2B5EF4-FFF2-40B4-BE49-F238E27FC236}">
                        <a16:creationId xmlns:a16="http://schemas.microsoft.com/office/drawing/2014/main" id="{867489ED-A813-4081-8B30-C7D8958005DE}"/>
                      </a:ext>
                    </a:extLst>
                  </p:cNvPr>
                  <p:cNvSpPr txBox="1"/>
                  <p:nvPr/>
                </p:nvSpPr>
                <p:spPr>
                  <a:xfrm>
                    <a:off x="8845267" y="409514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86" name="文字方塊 85">
                    <a:extLst>
                      <a:ext uri="{FF2B5EF4-FFF2-40B4-BE49-F238E27FC236}">
                        <a16:creationId xmlns:a16="http://schemas.microsoft.com/office/drawing/2014/main" id="{867489ED-A813-4081-8B30-C7D8958005DE}"/>
                      </a:ext>
                    </a:extLst>
                  </p:cNvPr>
                  <p:cNvSpPr txBox="1">
                    <a:spLocks noRot="1" noChangeAspect="1" noMove="1" noResize="1" noEditPoints="1" noAdjustHandles="1" noChangeArrowheads="1" noChangeShapeType="1" noTextEdit="1"/>
                  </p:cNvSpPr>
                  <p:nvPr/>
                </p:nvSpPr>
                <p:spPr>
                  <a:xfrm>
                    <a:off x="8845267" y="4095143"/>
                    <a:ext cx="332369" cy="307777"/>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0" name="文字方塊 79">
                    <a:extLst>
                      <a:ext uri="{FF2B5EF4-FFF2-40B4-BE49-F238E27FC236}">
                        <a16:creationId xmlns:a16="http://schemas.microsoft.com/office/drawing/2014/main" id="{27CD9186-2EE6-4F6E-A706-803E24D40A26}"/>
                      </a:ext>
                    </a:extLst>
                  </p:cNvPr>
                  <p:cNvSpPr txBox="1"/>
                  <p:nvPr/>
                </p:nvSpPr>
                <p:spPr>
                  <a:xfrm rot="16200000">
                    <a:off x="9518006" y="4495175"/>
                    <a:ext cx="183258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20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apacity</m:t>
                          </m:r>
                          <m:r>
                            <a:rPr lang="en-US" altLang="zh-TW" sz="1200" b="0" i="0" smtClean="0">
                              <a:latin typeface="Cambria Math" panose="02040503050406030204" pitchFamily="18" charset="0"/>
                              <a:ea typeface="Cambria Math" panose="02040503050406030204" pitchFamily="18" charset="0"/>
                            </a:rPr>
                            <m:t> </m:t>
                          </m:r>
                          <m:r>
                            <m:rPr>
                              <m:sty m:val="p"/>
                            </m:rPr>
                            <a:rPr lang="en-US" altLang="zh-TW" sz="1200" b="0" i="0" smtClean="0">
                              <a:latin typeface="Cambria Math" panose="02040503050406030204" pitchFamily="18" charset="0"/>
                              <a:ea typeface="Cambria Math" panose="02040503050406030204" pitchFamily="18" charset="0"/>
                            </a:rPr>
                            <m:t>measure</m:t>
                          </m:r>
                          <m:r>
                            <a:rPr lang="en-US" altLang="zh-TW" sz="1200" b="0" i="0" smtClean="0">
                              <a:latin typeface="Cambria Math" panose="02040503050406030204" pitchFamily="18" charset="0"/>
                              <a:ea typeface="Cambria Math" panose="02040503050406030204" pitchFamily="18" charset="0"/>
                            </a:rPr>
                            <m:t> </m:t>
                          </m:r>
                          <m:r>
                            <a:rPr lang="en-US" altLang="zh-TW" sz="1200" b="0" i="1" smtClean="0">
                              <a:latin typeface="Cambria Math" panose="02040503050406030204" pitchFamily="18" charset="0"/>
                              <a:ea typeface="Cambria Math" panose="02040503050406030204" pitchFamily="18" charset="0"/>
                            </a:rPr>
                            <m:t>(</m:t>
                          </m:r>
                          <m:f>
                            <m:fPr>
                              <m:type m:val="lin"/>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𝑚𝑇</m:t>
                              </m:r>
                            </m:num>
                            <m:den>
                              <m:r>
                                <a:rPr lang="en-US" altLang="zh-TW" sz="1200" b="0" i="1" smtClean="0">
                                  <a:latin typeface="Cambria Math" panose="02040503050406030204" pitchFamily="18" charset="0"/>
                                  <a:ea typeface="Cambria Math" panose="02040503050406030204" pitchFamily="18" charset="0"/>
                                </a:rPr>
                                <m:t>𝐴</m:t>
                              </m:r>
                            </m:den>
                          </m:f>
                          <m:r>
                            <a:rPr lang="en-US" altLang="zh-TW" sz="12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80" name="文字方塊 79">
                    <a:extLst>
                      <a:ext uri="{FF2B5EF4-FFF2-40B4-BE49-F238E27FC236}">
                        <a16:creationId xmlns:a16="http://schemas.microsoft.com/office/drawing/2014/main" id="{27CD9186-2EE6-4F6E-A706-803E24D40A26}"/>
                      </a:ext>
                    </a:extLst>
                  </p:cNvPr>
                  <p:cNvSpPr txBox="1">
                    <a:spLocks noRot="1" noChangeAspect="1" noMove="1" noResize="1" noEditPoints="1" noAdjustHandles="1" noChangeArrowheads="1" noChangeShapeType="1" noTextEdit="1"/>
                  </p:cNvSpPr>
                  <p:nvPr/>
                </p:nvSpPr>
                <p:spPr>
                  <a:xfrm rot="16200000">
                    <a:off x="9518006" y="4495175"/>
                    <a:ext cx="1832580" cy="276999"/>
                  </a:xfrm>
                  <a:prstGeom prst="rect">
                    <a:avLst/>
                  </a:prstGeom>
                  <a:blipFill>
                    <a:blip r:embed="rId14"/>
                    <a:stretch>
                      <a:fillRect l="-95556" t="-16000" r="-148889"/>
                    </a:stretch>
                  </a:blipFill>
                </p:spPr>
                <p:txBody>
                  <a:bodyPr/>
                  <a:lstStyle/>
                  <a:p>
                    <a:r>
                      <a:rPr lang="zh-TW" altLang="en-US">
                        <a:noFill/>
                      </a:rPr>
                      <a:t> </a:t>
                    </a:r>
                  </a:p>
                </p:txBody>
              </p:sp>
            </mc:Fallback>
          </mc:AlternateContent>
        </p:grpSp>
      </p:grpSp>
      <p:grpSp>
        <p:nvGrpSpPr>
          <p:cNvPr id="19" name="群組 18">
            <a:extLst>
              <a:ext uri="{FF2B5EF4-FFF2-40B4-BE49-F238E27FC236}">
                <a16:creationId xmlns:a16="http://schemas.microsoft.com/office/drawing/2014/main" id="{7202CFBD-9269-4883-8211-E36862A41FFB}"/>
              </a:ext>
            </a:extLst>
          </p:cNvPr>
          <p:cNvGrpSpPr/>
          <p:nvPr/>
        </p:nvGrpSpPr>
        <p:grpSpPr>
          <a:xfrm>
            <a:off x="7540534" y="936697"/>
            <a:ext cx="4091333" cy="2029789"/>
            <a:chOff x="2455747" y="3707902"/>
            <a:chExt cx="4465292" cy="2204294"/>
          </a:xfrm>
        </p:grpSpPr>
        <p:grpSp>
          <p:nvGrpSpPr>
            <p:cNvPr id="11" name="群組 10">
              <a:extLst>
                <a:ext uri="{FF2B5EF4-FFF2-40B4-BE49-F238E27FC236}">
                  <a16:creationId xmlns:a16="http://schemas.microsoft.com/office/drawing/2014/main" id="{88CFC4CA-1454-4D8A-9B44-947B4D19CDD9}"/>
                </a:ext>
              </a:extLst>
            </p:cNvPr>
            <p:cNvGrpSpPr/>
            <p:nvPr/>
          </p:nvGrpSpPr>
          <p:grpSpPr>
            <a:xfrm>
              <a:off x="2455747" y="3707902"/>
              <a:ext cx="4465292" cy="2204294"/>
              <a:chOff x="6916509" y="812253"/>
              <a:chExt cx="4465292" cy="2204294"/>
            </a:xfrm>
          </p:grpSpPr>
          <p:pic>
            <p:nvPicPr>
              <p:cNvPr id="7" name="圖片 6">
                <a:extLst>
                  <a:ext uri="{FF2B5EF4-FFF2-40B4-BE49-F238E27FC236}">
                    <a16:creationId xmlns:a16="http://schemas.microsoft.com/office/drawing/2014/main" id="{67FBDC49-9CDD-46DA-8E47-5203D9A6CB9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220559" y="1014669"/>
                <a:ext cx="4056682" cy="1799788"/>
              </a:xfrm>
              <a:prstGeom prst="rect">
                <a:avLst/>
              </a:prstGeom>
            </p:spPr>
          </p:pic>
          <p:grpSp>
            <p:nvGrpSpPr>
              <p:cNvPr id="13" name="群組 12">
                <a:extLst>
                  <a:ext uri="{FF2B5EF4-FFF2-40B4-BE49-F238E27FC236}">
                    <a16:creationId xmlns:a16="http://schemas.microsoft.com/office/drawing/2014/main" id="{23F78EBC-70AE-46C7-8747-578090779B11}"/>
                  </a:ext>
                </a:extLst>
              </p:cNvPr>
              <p:cNvGrpSpPr/>
              <p:nvPr/>
            </p:nvGrpSpPr>
            <p:grpSpPr>
              <a:xfrm>
                <a:off x="6916509" y="812253"/>
                <a:ext cx="4465292" cy="2204294"/>
                <a:chOff x="6916509" y="812253"/>
                <a:chExt cx="4465292" cy="2204294"/>
              </a:xfrm>
            </p:grpSpPr>
            <p:grpSp>
              <p:nvGrpSpPr>
                <p:cNvPr id="12" name="群組 11">
                  <a:extLst>
                    <a:ext uri="{FF2B5EF4-FFF2-40B4-BE49-F238E27FC236}">
                      <a16:creationId xmlns:a16="http://schemas.microsoft.com/office/drawing/2014/main" id="{11A70DA8-E9B0-420E-B026-CEFC7B78C7F4}"/>
                    </a:ext>
                  </a:extLst>
                </p:cNvPr>
                <p:cNvGrpSpPr/>
                <p:nvPr/>
              </p:nvGrpSpPr>
              <p:grpSpPr>
                <a:xfrm>
                  <a:off x="6916509" y="812253"/>
                  <a:ext cx="4367353" cy="2204294"/>
                  <a:chOff x="6916509" y="812253"/>
                  <a:chExt cx="4367353" cy="2204294"/>
                </a:xfrm>
              </p:grpSpPr>
              <p:sp>
                <p:nvSpPr>
                  <p:cNvPr id="3" name="矩形 2">
                    <a:extLst>
                      <a:ext uri="{FF2B5EF4-FFF2-40B4-BE49-F238E27FC236}">
                        <a16:creationId xmlns:a16="http://schemas.microsoft.com/office/drawing/2014/main" id="{FB7DEFC0-C83A-40F7-A246-1F3C181E9589}"/>
                      </a:ext>
                    </a:extLst>
                  </p:cNvPr>
                  <p:cNvSpPr/>
                  <p:nvPr/>
                </p:nvSpPr>
                <p:spPr>
                  <a:xfrm>
                    <a:off x="8869295" y="1730429"/>
                    <a:ext cx="381137"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id="{563B98D0-02FC-439F-AE72-8BAD0770C69D}"/>
                      </a:ext>
                    </a:extLst>
                  </p:cNvPr>
                  <p:cNvSpPr/>
                  <p:nvPr/>
                </p:nvSpPr>
                <p:spPr>
                  <a:xfrm>
                    <a:off x="7944187" y="812253"/>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extLst>
                      <a:ext uri="{FF2B5EF4-FFF2-40B4-BE49-F238E27FC236}">
                        <a16:creationId xmlns:a16="http://schemas.microsoft.com/office/drawing/2014/main" id="{C8494D76-B74B-4484-B710-DEA0CE05DEF5}"/>
                      </a:ext>
                    </a:extLst>
                  </p:cNvPr>
                  <p:cNvSpPr/>
                  <p:nvPr/>
                </p:nvSpPr>
                <p:spPr>
                  <a:xfrm>
                    <a:off x="6916509" y="1762948"/>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a:extLst>
                      <a:ext uri="{FF2B5EF4-FFF2-40B4-BE49-F238E27FC236}">
                        <a16:creationId xmlns:a16="http://schemas.microsoft.com/office/drawing/2014/main" id="{1A688309-ECAA-470D-BE33-2A7B523A5D69}"/>
                      </a:ext>
                    </a:extLst>
                  </p:cNvPr>
                  <p:cNvSpPr/>
                  <p:nvPr/>
                </p:nvSpPr>
                <p:spPr>
                  <a:xfrm>
                    <a:off x="7933529" y="2671674"/>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a:extLst>
                      <a:ext uri="{FF2B5EF4-FFF2-40B4-BE49-F238E27FC236}">
                        <a16:creationId xmlns:a16="http://schemas.microsoft.com/office/drawing/2014/main" id="{D51C8839-26B5-4A4C-881B-A322C2415EDE}"/>
                      </a:ext>
                    </a:extLst>
                  </p:cNvPr>
                  <p:cNvSpPr/>
                  <p:nvPr/>
                </p:nvSpPr>
                <p:spPr>
                  <a:xfrm>
                    <a:off x="9779728" y="940322"/>
                    <a:ext cx="453262" cy="240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8F0B43A3-93E1-4BD2-B103-10B5D89BA837}"/>
                      </a:ext>
                    </a:extLst>
                  </p:cNvPr>
                  <p:cNvSpPr/>
                  <p:nvPr/>
                </p:nvSpPr>
                <p:spPr>
                  <a:xfrm>
                    <a:off x="11168543" y="1646527"/>
                    <a:ext cx="115319" cy="5948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8FA6A81E-4DAC-4EAA-8C02-C230117F7CEF}"/>
                      </a:ext>
                    </a:extLst>
                  </p:cNvPr>
                  <p:cNvSpPr/>
                  <p:nvPr/>
                </p:nvSpPr>
                <p:spPr>
                  <a:xfrm>
                    <a:off x="9757220" y="2671674"/>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EFBDAE91-6189-4E4D-883C-0FD776BDB2CB}"/>
                        </a:ext>
                      </a:extLst>
                    </p:cNvPr>
                    <p:cNvSpPr txBox="1"/>
                    <p:nvPr/>
                  </p:nvSpPr>
                  <p:spPr>
                    <a:xfrm rot="16200000">
                      <a:off x="10308538" y="1722089"/>
                      <a:ext cx="1869527"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20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apacity</m:t>
                            </m:r>
                            <m:r>
                              <a:rPr lang="en-US" altLang="zh-TW" sz="1200" b="0" i="0" smtClean="0">
                                <a:latin typeface="Cambria Math" panose="02040503050406030204" pitchFamily="18" charset="0"/>
                                <a:ea typeface="Cambria Math" panose="02040503050406030204" pitchFamily="18" charset="0"/>
                              </a:rPr>
                              <m:t> </m:t>
                            </m:r>
                            <m:r>
                              <m:rPr>
                                <m:sty m:val="p"/>
                              </m:rPr>
                              <a:rPr lang="en-US" altLang="zh-TW" sz="1200" b="0" i="0" smtClean="0">
                                <a:latin typeface="Cambria Math" panose="02040503050406030204" pitchFamily="18" charset="0"/>
                                <a:ea typeface="Cambria Math" panose="02040503050406030204" pitchFamily="18" charset="0"/>
                              </a:rPr>
                              <m:t>measure</m:t>
                            </m:r>
                            <m:r>
                              <a:rPr lang="en-US" altLang="zh-TW" sz="1200" b="0" i="0" smtClean="0">
                                <a:latin typeface="Cambria Math" panose="02040503050406030204" pitchFamily="18" charset="0"/>
                                <a:ea typeface="Cambria Math" panose="02040503050406030204" pitchFamily="18" charset="0"/>
                              </a:rPr>
                              <m:t> </m:t>
                            </m:r>
                            <m:r>
                              <a:rPr lang="en-US" altLang="zh-TW" sz="1200" b="0" i="1" smtClean="0">
                                <a:latin typeface="Cambria Math" panose="02040503050406030204" pitchFamily="18" charset="0"/>
                                <a:ea typeface="Cambria Math" panose="02040503050406030204" pitchFamily="18" charset="0"/>
                              </a:rPr>
                              <m:t>(</m:t>
                            </m:r>
                            <m:f>
                              <m:fPr>
                                <m:type m:val="lin"/>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𝑚𝑇</m:t>
                                </m:r>
                              </m:num>
                              <m:den>
                                <m:r>
                                  <a:rPr lang="en-US" altLang="zh-TW" sz="1200" b="0" i="1" smtClean="0">
                                    <a:latin typeface="Cambria Math" panose="02040503050406030204" pitchFamily="18" charset="0"/>
                                    <a:ea typeface="Cambria Math" panose="02040503050406030204" pitchFamily="18" charset="0"/>
                                  </a:rPr>
                                  <m:t>𝐴</m:t>
                                </m:r>
                              </m:den>
                            </m:f>
                            <m:r>
                              <a:rPr lang="en-US" altLang="zh-TW" sz="12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57" name="文字方塊 56">
                      <a:extLst>
                        <a:ext uri="{FF2B5EF4-FFF2-40B4-BE49-F238E27FC236}">
                          <a16:creationId xmlns:a16="http://schemas.microsoft.com/office/drawing/2014/main" id="{EFBDAE91-6189-4E4D-883C-0FD776BDB2CB}"/>
                        </a:ext>
                      </a:extLst>
                    </p:cNvPr>
                    <p:cNvSpPr txBox="1">
                      <a:spLocks noRot="1" noChangeAspect="1" noMove="1" noResize="1" noEditPoints="1" noAdjustHandles="1" noChangeArrowheads="1" noChangeShapeType="1" noTextEdit="1"/>
                    </p:cNvSpPr>
                    <p:nvPr/>
                  </p:nvSpPr>
                  <p:spPr>
                    <a:xfrm rot="16200000">
                      <a:off x="10308538" y="1722089"/>
                      <a:ext cx="1869527" cy="276999"/>
                    </a:xfrm>
                    <a:prstGeom prst="rect">
                      <a:avLst/>
                    </a:prstGeom>
                    <a:blipFill>
                      <a:blip r:embed="rId16"/>
                      <a:stretch>
                        <a:fillRect l="-102381" t="-23404" r="-166667"/>
                      </a:stretch>
                    </a:blipFill>
                  </p:spPr>
                  <p:txBody>
                    <a:bodyPr/>
                    <a:lstStyle/>
                    <a:p>
                      <a:r>
                        <a:rPr lang="zh-TW" altLang="en-US">
                          <a:noFill/>
                        </a:rPr>
                        <a:t> </a:t>
                      </a:r>
                    </a:p>
                  </p:txBody>
                </p:sp>
              </mc:Fallback>
            </mc:AlternateContent>
            <p:sp>
              <p:nvSpPr>
                <p:cNvPr id="39" name="文字方塊 38">
                  <a:extLst>
                    <a:ext uri="{FF2B5EF4-FFF2-40B4-BE49-F238E27FC236}">
                      <a16:creationId xmlns:a16="http://schemas.microsoft.com/office/drawing/2014/main" id="{6FEFB949-8C79-4170-A169-EF49AF40D4C6}"/>
                    </a:ext>
                  </a:extLst>
                </p:cNvPr>
                <p:cNvSpPr txBox="1"/>
                <p:nvPr/>
              </p:nvSpPr>
              <p:spPr>
                <a:xfrm>
                  <a:off x="7937883" y="92017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0" name="文字方塊 39">
                  <a:extLst>
                    <a:ext uri="{FF2B5EF4-FFF2-40B4-BE49-F238E27FC236}">
                      <a16:creationId xmlns:a16="http://schemas.microsoft.com/office/drawing/2014/main" id="{743B2967-29F8-465B-B884-7228C5279B20}"/>
                    </a:ext>
                  </a:extLst>
                </p:cNvPr>
                <p:cNvSpPr txBox="1"/>
                <p:nvPr/>
              </p:nvSpPr>
              <p:spPr>
                <a:xfrm>
                  <a:off x="7053388" y="164652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1" name="文字方塊 40">
                  <a:extLst>
                    <a:ext uri="{FF2B5EF4-FFF2-40B4-BE49-F238E27FC236}">
                      <a16:creationId xmlns:a16="http://schemas.microsoft.com/office/drawing/2014/main" id="{04FD0DA2-53F6-40AD-A52B-DDA949A6354B}"/>
                    </a:ext>
                  </a:extLst>
                </p:cNvPr>
                <p:cNvSpPr txBox="1"/>
                <p:nvPr/>
              </p:nvSpPr>
              <p:spPr>
                <a:xfrm>
                  <a:off x="7960231" y="260772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4" name="文字方塊 43">
                  <a:extLst>
                    <a:ext uri="{FF2B5EF4-FFF2-40B4-BE49-F238E27FC236}">
                      <a16:creationId xmlns:a16="http://schemas.microsoft.com/office/drawing/2014/main" id="{7D1CD685-DE49-4892-B90B-9A309ED5300B}"/>
                    </a:ext>
                  </a:extLst>
                </p:cNvPr>
                <p:cNvSpPr txBox="1"/>
                <p:nvPr/>
              </p:nvSpPr>
              <p:spPr>
                <a:xfrm>
                  <a:off x="9783364" y="89312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5" name="文字方塊 44">
                  <a:extLst>
                    <a:ext uri="{FF2B5EF4-FFF2-40B4-BE49-F238E27FC236}">
                      <a16:creationId xmlns:a16="http://schemas.microsoft.com/office/drawing/2014/main" id="{5F8EF116-F605-404F-A7E7-4CC8EFAD1CDA}"/>
                    </a:ext>
                  </a:extLst>
                </p:cNvPr>
                <p:cNvSpPr txBox="1"/>
                <p:nvPr/>
              </p:nvSpPr>
              <p:spPr>
                <a:xfrm>
                  <a:off x="9803023" y="262822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8" name="文字方塊 57">
                  <a:extLst>
                    <a:ext uri="{FF2B5EF4-FFF2-40B4-BE49-F238E27FC236}">
                      <a16:creationId xmlns:a16="http://schemas.microsoft.com/office/drawing/2014/main" id="{ACA22AB4-DD5C-44F2-9B94-A855DA63B72F}"/>
                    </a:ext>
                  </a:extLst>
                </p:cNvPr>
                <p:cNvSpPr txBox="1"/>
                <p:nvPr/>
              </p:nvSpPr>
              <p:spPr>
                <a:xfrm>
                  <a:off x="8798075" y="185303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9" name="文字方塊 58">
                  <a:extLst>
                    <a:ext uri="{FF2B5EF4-FFF2-40B4-BE49-F238E27FC236}">
                      <a16:creationId xmlns:a16="http://schemas.microsoft.com/office/drawing/2014/main" id="{06C8698D-9F77-4BB8-BE90-EEA0504474EC}"/>
                    </a:ext>
                  </a:extLst>
                </p:cNvPr>
                <p:cNvSpPr txBox="1"/>
                <p:nvPr/>
              </p:nvSpPr>
              <p:spPr>
                <a:xfrm>
                  <a:off x="8956003" y="165190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60" name="文字方塊 59">
                  <a:extLst>
                    <a:ext uri="{FF2B5EF4-FFF2-40B4-BE49-F238E27FC236}">
                      <a16:creationId xmlns:a16="http://schemas.microsoft.com/office/drawing/2014/main" id="{663B200D-D195-4F6F-8D2E-3E58C9C0B9EF}"/>
                    </a:ext>
                  </a:extLst>
                </p:cNvPr>
                <p:cNvSpPr txBox="1"/>
                <p:nvPr/>
              </p:nvSpPr>
              <p:spPr>
                <a:xfrm>
                  <a:off x="10639667" y="193362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4FA5E863-69D9-4E94-9E8E-CB25CF9BA993}"/>
                    </a:ext>
                  </a:extLst>
                </p:cNvPr>
                <p:cNvSpPr txBox="1"/>
                <p:nvPr/>
              </p:nvSpPr>
              <p:spPr>
                <a:xfrm>
                  <a:off x="3343186" y="4277041"/>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3" name="文字方塊 52">
                  <a:extLst>
                    <a:ext uri="{FF2B5EF4-FFF2-40B4-BE49-F238E27FC236}">
                      <a16:creationId xmlns:a16="http://schemas.microsoft.com/office/drawing/2014/main" id="{4FA5E863-69D9-4E94-9E8E-CB25CF9BA993}"/>
                    </a:ext>
                  </a:extLst>
                </p:cNvPr>
                <p:cNvSpPr txBox="1">
                  <a:spLocks noRot="1" noChangeAspect="1" noMove="1" noResize="1" noEditPoints="1" noAdjustHandles="1" noChangeArrowheads="1" noChangeShapeType="1" noTextEdit="1"/>
                </p:cNvSpPr>
                <p:nvPr/>
              </p:nvSpPr>
              <p:spPr>
                <a:xfrm>
                  <a:off x="3343186" y="4277041"/>
                  <a:ext cx="332369" cy="307777"/>
                </a:xfrm>
                <a:prstGeom prst="rect">
                  <a:avLst/>
                </a:prstGeom>
                <a:blipFill>
                  <a:blip r:embed="rId17"/>
                  <a:stretch>
                    <a:fillRect b="-130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3466B6D5-E082-4974-BC7C-83DA50FBD643}"/>
                    </a:ext>
                  </a:extLst>
                </p:cNvPr>
                <p:cNvSpPr txBox="1"/>
                <p:nvPr/>
              </p:nvSpPr>
              <p:spPr>
                <a:xfrm>
                  <a:off x="3802864" y="4748687"/>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2" name="文字方塊 51">
                  <a:extLst>
                    <a:ext uri="{FF2B5EF4-FFF2-40B4-BE49-F238E27FC236}">
                      <a16:creationId xmlns:a16="http://schemas.microsoft.com/office/drawing/2014/main" id="{3466B6D5-E082-4974-BC7C-83DA50FBD643}"/>
                    </a:ext>
                  </a:extLst>
                </p:cNvPr>
                <p:cNvSpPr txBox="1">
                  <a:spLocks noRot="1" noChangeAspect="1" noMove="1" noResize="1" noEditPoints="1" noAdjustHandles="1" noChangeArrowheads="1" noChangeShapeType="1" noTextEdit="1"/>
                </p:cNvSpPr>
                <p:nvPr/>
              </p:nvSpPr>
              <p:spPr>
                <a:xfrm>
                  <a:off x="3802864" y="4748687"/>
                  <a:ext cx="332369" cy="307777"/>
                </a:xfrm>
                <a:prstGeom prst="rect">
                  <a:avLst/>
                </a:prstGeom>
                <a:blipFill>
                  <a:blip r:embed="rId18"/>
                  <a:stretch>
                    <a:fillRect b="-21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2D95AAF3-657B-4E85-A93E-232AFF17D1B9}"/>
                    </a:ext>
                  </a:extLst>
                </p:cNvPr>
                <p:cNvSpPr txBox="1"/>
                <p:nvPr/>
              </p:nvSpPr>
              <p:spPr>
                <a:xfrm>
                  <a:off x="5235416" y="424450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5" name="文字方塊 54">
                  <a:extLst>
                    <a:ext uri="{FF2B5EF4-FFF2-40B4-BE49-F238E27FC236}">
                      <a16:creationId xmlns:a16="http://schemas.microsoft.com/office/drawing/2014/main" id="{2D95AAF3-657B-4E85-A93E-232AFF17D1B9}"/>
                    </a:ext>
                  </a:extLst>
                </p:cNvPr>
                <p:cNvSpPr txBox="1">
                  <a:spLocks noRot="1" noChangeAspect="1" noMove="1" noResize="1" noEditPoints="1" noAdjustHandles="1" noChangeArrowheads="1" noChangeShapeType="1" noTextEdit="1"/>
                </p:cNvSpPr>
                <p:nvPr/>
              </p:nvSpPr>
              <p:spPr>
                <a:xfrm>
                  <a:off x="5235416" y="4244503"/>
                  <a:ext cx="332369" cy="307777"/>
                </a:xfrm>
                <a:prstGeom prst="rect">
                  <a:avLst/>
                </a:prstGeom>
                <a:blipFill>
                  <a:blip r:embed="rId19"/>
                  <a:stretch>
                    <a:fillRect b="-21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06575CDD-D32D-4C7A-A6D6-FC30A9C5669B}"/>
                    </a:ext>
                  </a:extLst>
                </p:cNvPr>
                <p:cNvSpPr txBox="1"/>
                <p:nvPr/>
              </p:nvSpPr>
              <p:spPr>
                <a:xfrm>
                  <a:off x="5646538" y="473760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4" name="文字方塊 53">
                  <a:extLst>
                    <a:ext uri="{FF2B5EF4-FFF2-40B4-BE49-F238E27FC236}">
                      <a16:creationId xmlns:a16="http://schemas.microsoft.com/office/drawing/2014/main" id="{06575CDD-D32D-4C7A-A6D6-FC30A9C5669B}"/>
                    </a:ext>
                  </a:extLst>
                </p:cNvPr>
                <p:cNvSpPr txBox="1">
                  <a:spLocks noRot="1" noChangeAspect="1" noMove="1" noResize="1" noEditPoints="1" noAdjustHandles="1" noChangeArrowheads="1" noChangeShapeType="1" noTextEdit="1"/>
                </p:cNvSpPr>
                <p:nvPr/>
              </p:nvSpPr>
              <p:spPr>
                <a:xfrm>
                  <a:off x="5646538" y="4737606"/>
                  <a:ext cx="332369" cy="307777"/>
                </a:xfrm>
                <a:prstGeom prst="rect">
                  <a:avLst/>
                </a:prstGeom>
                <a:blipFill>
                  <a:blip r:embed="rId20"/>
                  <a:stretch>
                    <a:fillRect/>
                  </a:stretch>
                </a:blipFill>
              </p:spPr>
              <p:txBody>
                <a:bodyPr/>
                <a:lstStyle/>
                <a:p>
                  <a:r>
                    <a:rPr lang="zh-TW" altLang="en-US">
                      <a:noFill/>
                    </a:rPr>
                    <a:t> </a:t>
                  </a:r>
                </a:p>
              </p:txBody>
            </p:sp>
          </mc:Fallback>
        </mc:AlternateContent>
        <p:sp>
          <p:nvSpPr>
            <p:cNvPr id="15" name="矩形 14">
              <a:extLst>
                <a:ext uri="{FF2B5EF4-FFF2-40B4-BE49-F238E27FC236}">
                  <a16:creationId xmlns:a16="http://schemas.microsoft.com/office/drawing/2014/main" id="{7140F9FF-18DA-48B7-8C65-D638467A7012}"/>
                </a:ext>
              </a:extLst>
            </p:cNvPr>
            <p:cNvSpPr/>
            <p:nvPr/>
          </p:nvSpPr>
          <p:spPr>
            <a:xfrm>
              <a:off x="6282957" y="4653664"/>
              <a:ext cx="203153" cy="223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1751353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5CE909AB-7F0B-4394-A735-F542BEB3695B}"/>
              </a:ext>
            </a:extLst>
          </p:cNvPr>
          <p:cNvSpPr txBox="1"/>
          <p:nvPr/>
        </p:nvSpPr>
        <p:spPr>
          <a:xfrm>
            <a:off x="103410" y="975445"/>
            <a:ext cx="6096410" cy="2308324"/>
          </a:xfrm>
          <a:prstGeom prst="rect">
            <a:avLst/>
          </a:prstGeom>
          <a:noFill/>
        </p:spPr>
        <p:txBody>
          <a:bodyPr wrap="square">
            <a:spAutoFit/>
          </a:bodyPr>
          <a:lstStyle/>
          <a:p>
            <a:pPr marL="285750" indent="-285750">
              <a:buFont typeface="Arial" panose="020B0604020202020204" pitchFamily="34" charset="0"/>
              <a:buChar char="•"/>
            </a:pPr>
            <a:r>
              <a:rPr lang="zh-TW" altLang="en-US" dirty="0"/>
              <a:t>Zhi-Peng reaches only 0.62× the isotropy of Long Fei (0.544 vs 0.884). Long Fei's high-κ region is concentric about the origin, whereas Zhi-Peng's is offset, split into two diagonal lobes, and decays faster with radius.</a:t>
            </a:r>
            <a:r>
              <a:rPr lang="en-US" altLang="zh-TW" dirty="0"/>
              <a:t> the gain is bought at the cost of isotropy. More importantly, </a:t>
            </a:r>
            <a:r>
              <a:rPr lang="en-US" altLang="zh-TW" dirty="0" err="1"/>
              <a:t>Zhi</a:t>
            </a:r>
            <a:r>
              <a:rPr lang="en-US" altLang="zh-TW" dirty="0"/>
              <a:t>-Peng's best-isotropy point is not the origin — Long Fei gives the most balanced three-axis control simply by staying at the </a:t>
            </a:r>
            <a:r>
              <a:rPr lang="en-US" altLang="zh-TW" dirty="0" err="1"/>
              <a:t>centre</a:t>
            </a:r>
            <a:r>
              <a:rPr lang="en-US" altLang="zh-TW" dirty="0"/>
              <a:t>, whereas </a:t>
            </a:r>
            <a:r>
              <a:rPr lang="en-US" altLang="zh-TW" dirty="0" err="1"/>
              <a:t>Zhi</a:t>
            </a:r>
            <a:r>
              <a:rPr lang="en-US" altLang="zh-TW" dirty="0"/>
              <a:t>-Peng offers no such sweet spot.</a:t>
            </a:r>
            <a:endParaRPr lang="zh-TW" altLang="en-US" dirty="0"/>
          </a:p>
        </p:txBody>
      </p:sp>
      <p:grpSp>
        <p:nvGrpSpPr>
          <p:cNvPr id="12" name="群組 11">
            <a:extLst>
              <a:ext uri="{FF2B5EF4-FFF2-40B4-BE49-F238E27FC236}">
                <a16:creationId xmlns:a16="http://schemas.microsoft.com/office/drawing/2014/main" id="{AB31ABE0-EF81-4393-B20F-8B94B513C0AB}"/>
              </a:ext>
            </a:extLst>
          </p:cNvPr>
          <p:cNvGrpSpPr/>
          <p:nvPr/>
        </p:nvGrpSpPr>
        <p:grpSpPr>
          <a:xfrm>
            <a:off x="6654559" y="754419"/>
            <a:ext cx="5096416" cy="2285308"/>
            <a:chOff x="6654559" y="754419"/>
            <a:chExt cx="5096416" cy="2285308"/>
          </a:xfrm>
        </p:grpSpPr>
        <p:pic>
          <p:nvPicPr>
            <p:cNvPr id="6" name="圖片 5">
              <a:extLst>
                <a:ext uri="{FF2B5EF4-FFF2-40B4-BE49-F238E27FC236}">
                  <a16:creationId xmlns:a16="http://schemas.microsoft.com/office/drawing/2014/main" id="{196C02F7-00A5-4DDC-8346-D006754732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4445" y="818272"/>
              <a:ext cx="4854104" cy="2145460"/>
            </a:xfrm>
            <a:prstGeom prst="rect">
              <a:avLst/>
            </a:prstGeom>
          </p:spPr>
        </p:pic>
        <p:grpSp>
          <p:nvGrpSpPr>
            <p:cNvPr id="9" name="群組 8">
              <a:extLst>
                <a:ext uri="{FF2B5EF4-FFF2-40B4-BE49-F238E27FC236}">
                  <a16:creationId xmlns:a16="http://schemas.microsoft.com/office/drawing/2014/main" id="{E0A4D1A0-7FA6-495C-B437-6876730F0155}"/>
                </a:ext>
              </a:extLst>
            </p:cNvPr>
            <p:cNvGrpSpPr/>
            <p:nvPr/>
          </p:nvGrpSpPr>
          <p:grpSpPr>
            <a:xfrm>
              <a:off x="6654559" y="754419"/>
              <a:ext cx="5096416" cy="2285308"/>
              <a:chOff x="6654559" y="754419"/>
              <a:chExt cx="5096416" cy="2285308"/>
            </a:xfrm>
          </p:grpSpPr>
          <p:grpSp>
            <p:nvGrpSpPr>
              <p:cNvPr id="7" name="群組 6">
                <a:extLst>
                  <a:ext uri="{FF2B5EF4-FFF2-40B4-BE49-F238E27FC236}">
                    <a16:creationId xmlns:a16="http://schemas.microsoft.com/office/drawing/2014/main" id="{69355053-8531-4B1F-BFAA-AB8A92D0B7EF}"/>
                  </a:ext>
                </a:extLst>
              </p:cNvPr>
              <p:cNvGrpSpPr/>
              <p:nvPr/>
            </p:nvGrpSpPr>
            <p:grpSpPr>
              <a:xfrm>
                <a:off x="6723479" y="797676"/>
                <a:ext cx="5023709" cy="2185286"/>
                <a:chOff x="6723479" y="797676"/>
                <a:chExt cx="5023709" cy="2185286"/>
              </a:xfrm>
            </p:grpSpPr>
            <p:sp>
              <p:nvSpPr>
                <p:cNvPr id="3" name="矩形 2">
                  <a:extLst>
                    <a:ext uri="{FF2B5EF4-FFF2-40B4-BE49-F238E27FC236}">
                      <a16:creationId xmlns:a16="http://schemas.microsoft.com/office/drawing/2014/main" id="{066663A0-2A15-4D43-A779-45D3A4D46AEC}"/>
                    </a:ext>
                  </a:extLst>
                </p:cNvPr>
                <p:cNvSpPr/>
                <p:nvPr/>
              </p:nvSpPr>
              <p:spPr>
                <a:xfrm>
                  <a:off x="7704667" y="797676"/>
                  <a:ext cx="304800" cy="1777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DA1EE470-B38E-431A-BBF5-EB11EA15FCDA}"/>
                    </a:ext>
                  </a:extLst>
                </p:cNvPr>
                <p:cNvSpPr/>
                <p:nvPr/>
              </p:nvSpPr>
              <p:spPr>
                <a:xfrm>
                  <a:off x="8749622" y="1806034"/>
                  <a:ext cx="436709"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79BB90AF-E6FA-436F-A46A-20A62593B5EF}"/>
                    </a:ext>
                  </a:extLst>
                </p:cNvPr>
                <p:cNvSpPr/>
                <p:nvPr/>
              </p:nvSpPr>
              <p:spPr>
                <a:xfrm>
                  <a:off x="7638712" y="2792556"/>
                  <a:ext cx="436709" cy="190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B807006A-EF85-4562-98C2-1789A732EE34}"/>
                    </a:ext>
                  </a:extLst>
                </p:cNvPr>
                <p:cNvSpPr/>
                <p:nvPr/>
              </p:nvSpPr>
              <p:spPr>
                <a:xfrm>
                  <a:off x="6723479" y="1814501"/>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28576603-9475-47D3-AF98-C00BDEC45B96}"/>
                    </a:ext>
                  </a:extLst>
                </p:cNvPr>
                <p:cNvSpPr/>
                <p:nvPr/>
              </p:nvSpPr>
              <p:spPr>
                <a:xfrm>
                  <a:off x="9867199" y="803617"/>
                  <a:ext cx="436709"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A54048D2-C0DE-4C4F-9F1E-0693E33DFFB9}"/>
                    </a:ext>
                  </a:extLst>
                </p:cNvPr>
                <p:cNvSpPr/>
                <p:nvPr/>
              </p:nvSpPr>
              <p:spPr>
                <a:xfrm>
                  <a:off x="9912334" y="2802870"/>
                  <a:ext cx="436709"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id="{FFB2CBE2-454E-49C7-9237-73C780844D5C}"/>
                    </a:ext>
                  </a:extLst>
                </p:cNvPr>
                <p:cNvSpPr/>
                <p:nvPr/>
              </p:nvSpPr>
              <p:spPr>
                <a:xfrm>
                  <a:off x="10985455" y="1728448"/>
                  <a:ext cx="218555" cy="3415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a:extLst>
                    <a:ext uri="{FF2B5EF4-FFF2-40B4-BE49-F238E27FC236}">
                      <a16:creationId xmlns:a16="http://schemas.microsoft.com/office/drawing/2014/main" id="{91DA95A0-9053-4284-BB4B-6C2D36EDF2D9}"/>
                    </a:ext>
                  </a:extLst>
                </p:cNvPr>
                <p:cNvSpPr/>
                <p:nvPr/>
              </p:nvSpPr>
              <p:spPr>
                <a:xfrm>
                  <a:off x="11528632" y="1683507"/>
                  <a:ext cx="218556" cy="4206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F2B53346-329C-4222-BD3D-25F664BF71DB}"/>
                      </a:ext>
                    </a:extLst>
                  </p:cNvPr>
                  <p:cNvSpPr txBox="1"/>
                  <p:nvPr/>
                </p:nvSpPr>
                <p:spPr>
                  <a:xfrm rot="16200000">
                    <a:off x="11056969" y="1666385"/>
                    <a:ext cx="1049457"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Isotropy</m:t>
                          </m:r>
                        </m:oMath>
                      </m:oMathPara>
                    </a14:m>
                    <a:endParaRPr lang="zh-TW" altLang="en-US" sz="1600" dirty="0"/>
                  </a:p>
                </p:txBody>
              </p:sp>
            </mc:Choice>
            <mc:Fallback xmlns="">
              <p:sp>
                <p:nvSpPr>
                  <p:cNvPr id="33" name="文字方塊 32">
                    <a:extLst>
                      <a:ext uri="{FF2B5EF4-FFF2-40B4-BE49-F238E27FC236}">
                        <a16:creationId xmlns:a16="http://schemas.microsoft.com/office/drawing/2014/main" id="{F2B53346-329C-4222-BD3D-25F664BF71DB}"/>
                      </a:ext>
                    </a:extLst>
                  </p:cNvPr>
                  <p:cNvSpPr txBox="1">
                    <a:spLocks noRot="1" noChangeAspect="1" noMove="1" noResize="1" noEditPoints="1" noAdjustHandles="1" noChangeArrowheads="1" noChangeShapeType="1" noTextEdit="1"/>
                  </p:cNvSpPr>
                  <p:nvPr/>
                </p:nvSpPr>
                <p:spPr>
                  <a:xfrm rot="16200000">
                    <a:off x="11056969" y="1666385"/>
                    <a:ext cx="1049457" cy="338554"/>
                  </a:xfrm>
                  <a:prstGeom prst="rect">
                    <a:avLst/>
                  </a:prstGeom>
                  <a:blipFill>
                    <a:blip r:embed="rId3"/>
                    <a:stretch>
                      <a:fillRect r="-8929"/>
                    </a:stretch>
                  </a:blipFill>
                </p:spPr>
                <p:txBody>
                  <a:bodyPr/>
                  <a:lstStyle/>
                  <a:p>
                    <a:r>
                      <a:rPr lang="zh-TW" altLang="en-US">
                        <a:noFill/>
                      </a:rPr>
                      <a:t> </a:t>
                    </a:r>
                  </a:p>
                </p:txBody>
              </p:sp>
            </mc:Fallback>
          </mc:AlternateContent>
          <p:sp>
            <p:nvSpPr>
              <p:cNvPr id="36" name="文字方塊 35">
                <a:extLst>
                  <a:ext uri="{FF2B5EF4-FFF2-40B4-BE49-F238E27FC236}">
                    <a16:creationId xmlns:a16="http://schemas.microsoft.com/office/drawing/2014/main" id="{46D7EB7F-B437-4C1E-8C67-E972B568E642}"/>
                  </a:ext>
                </a:extLst>
              </p:cNvPr>
              <p:cNvSpPr txBox="1"/>
              <p:nvPr/>
            </p:nvSpPr>
            <p:spPr>
              <a:xfrm>
                <a:off x="7646479" y="75736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7" name="文字方塊 36">
                <a:extLst>
                  <a:ext uri="{FF2B5EF4-FFF2-40B4-BE49-F238E27FC236}">
                    <a16:creationId xmlns:a16="http://schemas.microsoft.com/office/drawing/2014/main" id="{C6DD08B8-1F70-4D6A-B6EB-01194B3B2274}"/>
                  </a:ext>
                </a:extLst>
              </p:cNvPr>
              <p:cNvSpPr txBox="1"/>
              <p:nvPr/>
            </p:nvSpPr>
            <p:spPr>
              <a:xfrm>
                <a:off x="6654559" y="163015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8" name="文字方塊 37">
                <a:extLst>
                  <a:ext uri="{FF2B5EF4-FFF2-40B4-BE49-F238E27FC236}">
                    <a16:creationId xmlns:a16="http://schemas.microsoft.com/office/drawing/2014/main" id="{D60510BD-6D91-4688-AA6E-6524AE41DD60}"/>
                  </a:ext>
                </a:extLst>
              </p:cNvPr>
              <p:cNvSpPr txBox="1"/>
              <p:nvPr/>
            </p:nvSpPr>
            <p:spPr>
              <a:xfrm>
                <a:off x="7660264" y="273195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9" name="文字方塊 38">
                <a:extLst>
                  <a:ext uri="{FF2B5EF4-FFF2-40B4-BE49-F238E27FC236}">
                    <a16:creationId xmlns:a16="http://schemas.microsoft.com/office/drawing/2014/main" id="{47191FA6-66B4-4CB7-95ED-5A806F8C41FD}"/>
                  </a:ext>
                </a:extLst>
              </p:cNvPr>
              <p:cNvSpPr txBox="1"/>
              <p:nvPr/>
            </p:nvSpPr>
            <p:spPr>
              <a:xfrm>
                <a:off x="9882734" y="75441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0" name="文字方塊 39">
                <a:extLst>
                  <a:ext uri="{FF2B5EF4-FFF2-40B4-BE49-F238E27FC236}">
                    <a16:creationId xmlns:a16="http://schemas.microsoft.com/office/drawing/2014/main" id="{23C388AF-48D0-4F28-9422-5BAB6D9C6650}"/>
                  </a:ext>
                </a:extLst>
              </p:cNvPr>
              <p:cNvSpPr txBox="1"/>
              <p:nvPr/>
            </p:nvSpPr>
            <p:spPr>
              <a:xfrm>
                <a:off x="9882734" y="271353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1" name="文字方塊 40">
                <a:extLst>
                  <a:ext uri="{FF2B5EF4-FFF2-40B4-BE49-F238E27FC236}">
                    <a16:creationId xmlns:a16="http://schemas.microsoft.com/office/drawing/2014/main" id="{32C205D9-3D4F-4577-BC5D-3EC2B2B28E7D}"/>
                  </a:ext>
                </a:extLst>
              </p:cNvPr>
              <p:cNvSpPr txBox="1"/>
              <p:nvPr/>
            </p:nvSpPr>
            <p:spPr>
              <a:xfrm>
                <a:off x="8632275" y="183566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2" name="文字方塊 41">
                <a:extLst>
                  <a:ext uri="{FF2B5EF4-FFF2-40B4-BE49-F238E27FC236}">
                    <a16:creationId xmlns:a16="http://schemas.microsoft.com/office/drawing/2014/main" id="{ACEAA104-E9B9-4896-AF25-12B7240B7E87}"/>
                  </a:ext>
                </a:extLst>
              </p:cNvPr>
              <p:cNvSpPr txBox="1"/>
              <p:nvPr/>
            </p:nvSpPr>
            <p:spPr>
              <a:xfrm>
                <a:off x="8881008" y="159712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3" name="文字方塊 42">
                <a:extLst>
                  <a:ext uri="{FF2B5EF4-FFF2-40B4-BE49-F238E27FC236}">
                    <a16:creationId xmlns:a16="http://schemas.microsoft.com/office/drawing/2014/main" id="{4463D846-11D2-4909-AC2A-DC12DE06EC64}"/>
                  </a:ext>
                </a:extLst>
              </p:cNvPr>
              <p:cNvSpPr txBox="1"/>
              <p:nvPr/>
            </p:nvSpPr>
            <p:spPr>
              <a:xfrm>
                <a:off x="10896870" y="186882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4543C79D-C8D4-4070-B22B-57B5E22FB84D}"/>
                      </a:ext>
                    </a:extLst>
                  </p:cNvPr>
                  <p:cNvSpPr txBox="1"/>
                  <p:nvPr/>
                </p:nvSpPr>
                <p:spPr>
                  <a:xfrm>
                    <a:off x="8059884" y="1908632"/>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4" name="文字方塊 43">
                    <a:extLst>
                      <a:ext uri="{FF2B5EF4-FFF2-40B4-BE49-F238E27FC236}">
                        <a16:creationId xmlns:a16="http://schemas.microsoft.com/office/drawing/2014/main" id="{4543C79D-C8D4-4070-B22B-57B5E22FB84D}"/>
                      </a:ext>
                    </a:extLst>
                  </p:cNvPr>
                  <p:cNvSpPr txBox="1">
                    <a:spLocks noRot="1" noChangeAspect="1" noMove="1" noResize="1" noEditPoints="1" noAdjustHandles="1" noChangeArrowheads="1" noChangeShapeType="1" noTextEdit="1"/>
                  </p:cNvSpPr>
                  <p:nvPr/>
                </p:nvSpPr>
                <p:spPr>
                  <a:xfrm>
                    <a:off x="8059884" y="1908632"/>
                    <a:ext cx="332369" cy="30777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9CD170C5-141E-4CBF-852E-6A45291E4F7A}"/>
                      </a:ext>
                    </a:extLst>
                  </p:cNvPr>
                  <p:cNvSpPr txBox="1"/>
                  <p:nvPr/>
                </p:nvSpPr>
                <p:spPr>
                  <a:xfrm>
                    <a:off x="7538482" y="128793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8" name="文字方塊 47">
                    <a:extLst>
                      <a:ext uri="{FF2B5EF4-FFF2-40B4-BE49-F238E27FC236}">
                        <a16:creationId xmlns:a16="http://schemas.microsoft.com/office/drawing/2014/main" id="{9CD170C5-141E-4CBF-852E-6A45291E4F7A}"/>
                      </a:ext>
                    </a:extLst>
                  </p:cNvPr>
                  <p:cNvSpPr txBox="1">
                    <a:spLocks noRot="1" noChangeAspect="1" noMove="1" noResize="1" noEditPoints="1" noAdjustHandles="1" noChangeArrowheads="1" noChangeShapeType="1" noTextEdit="1"/>
                  </p:cNvSpPr>
                  <p:nvPr/>
                </p:nvSpPr>
                <p:spPr>
                  <a:xfrm>
                    <a:off x="7538482" y="1287935"/>
                    <a:ext cx="332369" cy="307777"/>
                  </a:xfrm>
                  <a:prstGeom prst="rect">
                    <a:avLst/>
                  </a:prstGeom>
                  <a:blipFill>
                    <a:blip r:embed="rId5"/>
                    <a:stretch>
                      <a:fillRect b="-19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97526D06-CC63-4E20-BEDC-AE749A143D8A}"/>
                      </a:ext>
                    </a:extLst>
                  </p:cNvPr>
                  <p:cNvSpPr txBox="1"/>
                  <p:nvPr/>
                </p:nvSpPr>
                <p:spPr>
                  <a:xfrm>
                    <a:off x="10380420" y="191676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9" name="文字方塊 48">
                    <a:extLst>
                      <a:ext uri="{FF2B5EF4-FFF2-40B4-BE49-F238E27FC236}">
                        <a16:creationId xmlns:a16="http://schemas.microsoft.com/office/drawing/2014/main" id="{97526D06-CC63-4E20-BEDC-AE749A143D8A}"/>
                      </a:ext>
                    </a:extLst>
                  </p:cNvPr>
                  <p:cNvSpPr txBox="1">
                    <a:spLocks noRot="1" noChangeAspect="1" noMove="1" noResize="1" noEditPoints="1" noAdjustHandles="1" noChangeArrowheads="1" noChangeShapeType="1" noTextEdit="1"/>
                  </p:cNvSpPr>
                  <p:nvPr/>
                </p:nvSpPr>
                <p:spPr>
                  <a:xfrm>
                    <a:off x="10380420" y="1916765"/>
                    <a:ext cx="332369" cy="30777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E586B4D8-B9B1-456E-9FA7-CFC535F32B8D}"/>
                      </a:ext>
                    </a:extLst>
                  </p:cNvPr>
                  <p:cNvSpPr txBox="1"/>
                  <p:nvPr/>
                </p:nvSpPr>
                <p:spPr>
                  <a:xfrm>
                    <a:off x="9791466" y="125445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0" name="文字方塊 49">
                    <a:extLst>
                      <a:ext uri="{FF2B5EF4-FFF2-40B4-BE49-F238E27FC236}">
                        <a16:creationId xmlns:a16="http://schemas.microsoft.com/office/drawing/2014/main" id="{E586B4D8-B9B1-456E-9FA7-CFC535F32B8D}"/>
                      </a:ext>
                    </a:extLst>
                  </p:cNvPr>
                  <p:cNvSpPr txBox="1">
                    <a:spLocks noRot="1" noChangeAspect="1" noMove="1" noResize="1" noEditPoints="1" noAdjustHandles="1" noChangeArrowheads="1" noChangeShapeType="1" noTextEdit="1"/>
                  </p:cNvSpPr>
                  <p:nvPr/>
                </p:nvSpPr>
                <p:spPr>
                  <a:xfrm>
                    <a:off x="9791466" y="1254456"/>
                    <a:ext cx="332369" cy="307777"/>
                  </a:xfrm>
                  <a:prstGeom prst="rect">
                    <a:avLst/>
                  </a:prstGeom>
                  <a:blipFill>
                    <a:blip r:embed="rId7"/>
                    <a:stretch>
                      <a:fillRect/>
                    </a:stretch>
                  </a:blipFill>
                </p:spPr>
                <p:txBody>
                  <a:bodyPr/>
                  <a:lstStyle/>
                  <a:p>
                    <a:r>
                      <a:rPr lang="zh-TW" altLang="en-US">
                        <a:noFill/>
                      </a:rPr>
                      <a:t> </a:t>
                    </a:r>
                  </a:p>
                </p:txBody>
              </p:sp>
            </mc:Fallback>
          </mc:AlternateContent>
        </p:grpSp>
      </p:grpSp>
      <p:grpSp>
        <p:nvGrpSpPr>
          <p:cNvPr id="29" name="群組 28">
            <a:extLst>
              <a:ext uri="{FF2B5EF4-FFF2-40B4-BE49-F238E27FC236}">
                <a16:creationId xmlns:a16="http://schemas.microsoft.com/office/drawing/2014/main" id="{513145FC-D415-42EF-8F47-FD6054CE858B}"/>
              </a:ext>
            </a:extLst>
          </p:cNvPr>
          <p:cNvGrpSpPr/>
          <p:nvPr/>
        </p:nvGrpSpPr>
        <p:grpSpPr>
          <a:xfrm>
            <a:off x="7870850" y="3386665"/>
            <a:ext cx="2913575" cy="2289491"/>
            <a:chOff x="7870850" y="3386665"/>
            <a:chExt cx="2913575" cy="2289491"/>
          </a:xfrm>
        </p:grpSpPr>
        <p:pic>
          <p:nvPicPr>
            <p:cNvPr id="28" name="圖片 27">
              <a:extLst>
                <a:ext uri="{FF2B5EF4-FFF2-40B4-BE49-F238E27FC236}">
                  <a16:creationId xmlns:a16="http://schemas.microsoft.com/office/drawing/2014/main" id="{D69B8C79-1303-4622-8C61-6B80EBE965A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08706" y="3464198"/>
              <a:ext cx="2624073" cy="2122412"/>
            </a:xfrm>
            <a:prstGeom prst="rect">
              <a:avLst/>
            </a:prstGeom>
          </p:spPr>
        </p:pic>
        <p:grpSp>
          <p:nvGrpSpPr>
            <p:cNvPr id="11" name="群組 10">
              <a:extLst>
                <a:ext uri="{FF2B5EF4-FFF2-40B4-BE49-F238E27FC236}">
                  <a16:creationId xmlns:a16="http://schemas.microsoft.com/office/drawing/2014/main" id="{FC25E01C-03E8-4714-B671-9402B31C7C8D}"/>
                </a:ext>
              </a:extLst>
            </p:cNvPr>
            <p:cNvGrpSpPr/>
            <p:nvPr/>
          </p:nvGrpSpPr>
          <p:grpSpPr>
            <a:xfrm>
              <a:off x="7870850" y="3386665"/>
              <a:ext cx="2913575" cy="2289491"/>
              <a:chOff x="7870850" y="3386665"/>
              <a:chExt cx="2913575" cy="2289491"/>
            </a:xfrm>
          </p:grpSpPr>
          <p:grpSp>
            <p:nvGrpSpPr>
              <p:cNvPr id="10" name="群組 9">
                <a:extLst>
                  <a:ext uri="{FF2B5EF4-FFF2-40B4-BE49-F238E27FC236}">
                    <a16:creationId xmlns:a16="http://schemas.microsoft.com/office/drawing/2014/main" id="{5882E288-83CB-4429-9376-16291456A531}"/>
                  </a:ext>
                </a:extLst>
              </p:cNvPr>
              <p:cNvGrpSpPr/>
              <p:nvPr/>
            </p:nvGrpSpPr>
            <p:grpSpPr>
              <a:xfrm>
                <a:off x="7966144" y="3457780"/>
                <a:ext cx="2818281" cy="2161789"/>
                <a:chOff x="7966144" y="3457780"/>
                <a:chExt cx="2818281" cy="2161789"/>
              </a:xfrm>
            </p:grpSpPr>
            <p:sp>
              <p:nvSpPr>
                <p:cNvPr id="22" name="矩形 21">
                  <a:extLst>
                    <a:ext uri="{FF2B5EF4-FFF2-40B4-BE49-F238E27FC236}">
                      <a16:creationId xmlns:a16="http://schemas.microsoft.com/office/drawing/2014/main" id="{B0183DDC-6CF5-43DD-A985-8AACBD43AC2C}"/>
                    </a:ext>
                  </a:extLst>
                </p:cNvPr>
                <p:cNvSpPr/>
                <p:nvPr/>
              </p:nvSpPr>
              <p:spPr>
                <a:xfrm>
                  <a:off x="8993178" y="3457780"/>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DCC76607-AC9C-44A9-927A-CBCCDEFF1E7E}"/>
                    </a:ext>
                  </a:extLst>
                </p:cNvPr>
                <p:cNvSpPr/>
                <p:nvPr/>
              </p:nvSpPr>
              <p:spPr>
                <a:xfrm>
                  <a:off x="7966144" y="4432986"/>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a:extLst>
                    <a:ext uri="{FF2B5EF4-FFF2-40B4-BE49-F238E27FC236}">
                      <a16:creationId xmlns:a16="http://schemas.microsoft.com/office/drawing/2014/main" id="{FE682C27-A024-41A5-B374-05289C829835}"/>
                    </a:ext>
                  </a:extLst>
                </p:cNvPr>
                <p:cNvSpPr/>
                <p:nvPr/>
              </p:nvSpPr>
              <p:spPr>
                <a:xfrm>
                  <a:off x="8975862" y="5439477"/>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id="{D812B3E4-3553-410A-8F8F-BF0230CBA0B0}"/>
                    </a:ext>
                  </a:extLst>
                </p:cNvPr>
                <p:cNvSpPr/>
                <p:nvPr/>
              </p:nvSpPr>
              <p:spPr>
                <a:xfrm>
                  <a:off x="9959342" y="4421934"/>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extLst>
                    <a:ext uri="{FF2B5EF4-FFF2-40B4-BE49-F238E27FC236}">
                      <a16:creationId xmlns:a16="http://schemas.microsoft.com/office/drawing/2014/main" id="{F98E43F1-8F14-47C9-A4BB-94768E7FEABE}"/>
                    </a:ext>
                  </a:extLst>
                </p:cNvPr>
                <p:cNvSpPr/>
                <p:nvPr/>
              </p:nvSpPr>
              <p:spPr>
                <a:xfrm>
                  <a:off x="10565871" y="4436284"/>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51" name="文字方塊 50">
                <a:extLst>
                  <a:ext uri="{FF2B5EF4-FFF2-40B4-BE49-F238E27FC236}">
                    <a16:creationId xmlns:a16="http://schemas.microsoft.com/office/drawing/2014/main" id="{E8199158-1BBA-48A4-9C66-85A151EC58AE}"/>
                  </a:ext>
                </a:extLst>
              </p:cNvPr>
              <p:cNvSpPr txBox="1"/>
              <p:nvPr/>
            </p:nvSpPr>
            <p:spPr>
              <a:xfrm>
                <a:off x="7870850" y="424965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2" name="文字方塊 51">
                <a:extLst>
                  <a:ext uri="{FF2B5EF4-FFF2-40B4-BE49-F238E27FC236}">
                    <a16:creationId xmlns:a16="http://schemas.microsoft.com/office/drawing/2014/main" id="{A54BBE8C-0244-4691-BA06-BD15DBED9F7D}"/>
                  </a:ext>
                </a:extLst>
              </p:cNvPr>
              <p:cNvSpPr txBox="1"/>
              <p:nvPr/>
            </p:nvSpPr>
            <p:spPr>
              <a:xfrm>
                <a:off x="8868812" y="338666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3" name="文字方塊 52">
                <a:extLst>
                  <a:ext uri="{FF2B5EF4-FFF2-40B4-BE49-F238E27FC236}">
                    <a16:creationId xmlns:a16="http://schemas.microsoft.com/office/drawing/2014/main" id="{437E939A-A4E2-4DE4-A25F-FE73D7B4D09B}"/>
                  </a:ext>
                </a:extLst>
              </p:cNvPr>
              <p:cNvSpPr txBox="1"/>
              <p:nvPr/>
            </p:nvSpPr>
            <p:spPr>
              <a:xfrm>
                <a:off x="8891505" y="536837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4" name="文字方塊 53">
                <a:extLst>
                  <a:ext uri="{FF2B5EF4-FFF2-40B4-BE49-F238E27FC236}">
                    <a16:creationId xmlns:a16="http://schemas.microsoft.com/office/drawing/2014/main" id="{AB124178-F659-4087-B362-F501C53AC314}"/>
                  </a:ext>
                </a:extLst>
              </p:cNvPr>
              <p:cNvSpPr txBox="1"/>
              <p:nvPr/>
            </p:nvSpPr>
            <p:spPr>
              <a:xfrm>
                <a:off x="9882734" y="447748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E0593648-6206-4AA7-8668-795C2DF122C3}"/>
                      </a:ext>
                    </a:extLst>
                  </p:cNvPr>
                  <p:cNvSpPr txBox="1"/>
                  <p:nvPr/>
                </p:nvSpPr>
                <p:spPr>
                  <a:xfrm>
                    <a:off x="9275192" y="4490514"/>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5" name="文字方塊 54">
                    <a:extLst>
                      <a:ext uri="{FF2B5EF4-FFF2-40B4-BE49-F238E27FC236}">
                        <a16:creationId xmlns:a16="http://schemas.microsoft.com/office/drawing/2014/main" id="{E0593648-6206-4AA7-8668-795C2DF122C3}"/>
                      </a:ext>
                    </a:extLst>
                  </p:cNvPr>
                  <p:cNvSpPr txBox="1">
                    <a:spLocks noRot="1" noChangeAspect="1" noMove="1" noResize="1" noEditPoints="1" noAdjustHandles="1" noChangeArrowheads="1" noChangeShapeType="1" noTextEdit="1"/>
                  </p:cNvSpPr>
                  <p:nvPr/>
                </p:nvSpPr>
                <p:spPr>
                  <a:xfrm>
                    <a:off x="9275192" y="4490514"/>
                    <a:ext cx="332369" cy="307777"/>
                  </a:xfrm>
                  <a:prstGeom prst="rect">
                    <a:avLst/>
                  </a:prstGeom>
                  <a:blipFill>
                    <a:blip r:embed="rId9"/>
                    <a:stretch>
                      <a:fillRect b="-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2CBEC5B6-53B3-4B1C-8C10-12503C16B8D1}"/>
                      </a:ext>
                    </a:extLst>
                  </p:cNvPr>
                  <p:cNvSpPr txBox="1"/>
                  <p:nvPr/>
                </p:nvSpPr>
                <p:spPr>
                  <a:xfrm>
                    <a:off x="8769722" y="3913037"/>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6" name="文字方塊 55">
                    <a:extLst>
                      <a:ext uri="{FF2B5EF4-FFF2-40B4-BE49-F238E27FC236}">
                        <a16:creationId xmlns:a16="http://schemas.microsoft.com/office/drawing/2014/main" id="{2CBEC5B6-53B3-4B1C-8C10-12503C16B8D1}"/>
                      </a:ext>
                    </a:extLst>
                  </p:cNvPr>
                  <p:cNvSpPr txBox="1">
                    <a:spLocks noRot="1" noChangeAspect="1" noMove="1" noResize="1" noEditPoints="1" noAdjustHandles="1" noChangeArrowheads="1" noChangeShapeType="1" noTextEdit="1"/>
                  </p:cNvSpPr>
                  <p:nvPr/>
                </p:nvSpPr>
                <p:spPr>
                  <a:xfrm>
                    <a:off x="8769722" y="3913037"/>
                    <a:ext cx="332369" cy="307777"/>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D17A7547-B19D-4CA8-815A-4C78A6BCDC7C}"/>
                      </a:ext>
                    </a:extLst>
                  </p:cNvPr>
                  <p:cNvSpPr txBox="1"/>
                  <p:nvPr/>
                </p:nvSpPr>
                <p:spPr>
                  <a:xfrm rot="16200000">
                    <a:off x="10037507" y="4239336"/>
                    <a:ext cx="1049457"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Isotropy</m:t>
                          </m:r>
                        </m:oMath>
                      </m:oMathPara>
                    </a14:m>
                    <a:endParaRPr lang="zh-TW" altLang="en-US" sz="1600" dirty="0"/>
                  </a:p>
                </p:txBody>
              </p:sp>
            </mc:Choice>
            <mc:Fallback xmlns="">
              <p:sp>
                <p:nvSpPr>
                  <p:cNvPr id="57" name="文字方塊 56">
                    <a:extLst>
                      <a:ext uri="{FF2B5EF4-FFF2-40B4-BE49-F238E27FC236}">
                        <a16:creationId xmlns:a16="http://schemas.microsoft.com/office/drawing/2014/main" id="{D17A7547-B19D-4CA8-815A-4C78A6BCDC7C}"/>
                      </a:ext>
                    </a:extLst>
                  </p:cNvPr>
                  <p:cNvSpPr txBox="1">
                    <a:spLocks noRot="1" noChangeAspect="1" noMove="1" noResize="1" noEditPoints="1" noAdjustHandles="1" noChangeArrowheads="1" noChangeShapeType="1" noTextEdit="1"/>
                  </p:cNvSpPr>
                  <p:nvPr/>
                </p:nvSpPr>
                <p:spPr>
                  <a:xfrm rot="16200000">
                    <a:off x="10037507" y="4239336"/>
                    <a:ext cx="1049457" cy="338554"/>
                  </a:xfrm>
                  <a:prstGeom prst="rect">
                    <a:avLst/>
                  </a:prstGeom>
                  <a:blipFill>
                    <a:blip r:embed="rId11"/>
                    <a:stretch>
                      <a:fillRect r="-9091"/>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40881400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98886" y="383190"/>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sp>
        <p:nvSpPr>
          <p:cNvPr id="24" name="矩形 23">
            <a:extLst>
              <a:ext uri="{FF2B5EF4-FFF2-40B4-BE49-F238E27FC236}">
                <a16:creationId xmlns:a16="http://schemas.microsoft.com/office/drawing/2014/main" id="{5ECAF6AD-8DD4-4627-A1FD-CEEA914062EB}"/>
              </a:ext>
            </a:extLst>
          </p:cNvPr>
          <p:cNvSpPr/>
          <p:nvPr/>
        </p:nvSpPr>
        <p:spPr>
          <a:xfrm>
            <a:off x="9428540" y="5341459"/>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D872CA14-590B-4B25-8D56-51869107EFD2}"/>
              </a:ext>
            </a:extLst>
          </p:cNvPr>
          <p:cNvGrpSpPr/>
          <p:nvPr/>
        </p:nvGrpSpPr>
        <p:grpSpPr>
          <a:xfrm>
            <a:off x="6875133" y="3508868"/>
            <a:ext cx="3168560" cy="2172283"/>
            <a:chOff x="6867344" y="3740617"/>
            <a:chExt cx="3168560" cy="2172283"/>
          </a:xfrm>
        </p:grpSpPr>
        <p:sp>
          <p:nvSpPr>
            <p:cNvPr id="48" name="矩形 47">
              <a:extLst>
                <a:ext uri="{FF2B5EF4-FFF2-40B4-BE49-F238E27FC236}">
                  <a16:creationId xmlns:a16="http://schemas.microsoft.com/office/drawing/2014/main" id="{B096E37E-8AC9-44B3-8AC0-85DBA5186884}"/>
                </a:ext>
              </a:extLst>
            </p:cNvPr>
            <p:cNvSpPr/>
            <p:nvPr/>
          </p:nvSpPr>
          <p:spPr>
            <a:xfrm>
              <a:off x="8832312" y="4530195"/>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78A5635-6392-4A3A-8FB5-9101D27D904D}"/>
                </a:ext>
              </a:extLst>
            </p:cNvPr>
            <p:cNvSpPr/>
            <p:nvPr/>
          </p:nvSpPr>
          <p:spPr>
            <a:xfrm>
              <a:off x="7680057" y="374061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623D93-181D-445B-A97C-8949FD369C96}"/>
                </a:ext>
              </a:extLst>
            </p:cNvPr>
            <p:cNvSpPr/>
            <p:nvPr/>
          </p:nvSpPr>
          <p:spPr>
            <a:xfrm>
              <a:off x="6867344" y="490140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291D2EE2-3DA4-43C1-834D-6A683319D87B}"/>
                </a:ext>
              </a:extLst>
            </p:cNvPr>
            <p:cNvSpPr/>
            <p:nvPr/>
          </p:nvSpPr>
          <p:spPr>
            <a:xfrm>
              <a:off x="8022867" y="5680623"/>
              <a:ext cx="279399"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62E44167-7C8B-4193-8CDE-E0AF63648A86}"/>
                </a:ext>
              </a:extLst>
            </p:cNvPr>
            <p:cNvSpPr/>
            <p:nvPr/>
          </p:nvSpPr>
          <p:spPr>
            <a:xfrm>
              <a:off x="9817350" y="470198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54607F0B-9399-46DC-A751-46D610BD1351}"/>
              </a:ext>
            </a:extLst>
          </p:cNvPr>
          <p:cNvGrpSpPr/>
          <p:nvPr/>
        </p:nvGrpSpPr>
        <p:grpSpPr>
          <a:xfrm>
            <a:off x="7345935" y="1930440"/>
            <a:ext cx="3264315" cy="2877114"/>
            <a:chOff x="7276685" y="1998989"/>
            <a:chExt cx="3264315" cy="2877114"/>
          </a:xfrm>
        </p:grpSpPr>
        <p:sp>
          <p:nvSpPr>
            <p:cNvPr id="7" name="矩形 6">
              <a:extLst>
                <a:ext uri="{FF2B5EF4-FFF2-40B4-BE49-F238E27FC236}">
                  <a16:creationId xmlns:a16="http://schemas.microsoft.com/office/drawing/2014/main" id="{29F3120E-FFA5-49F9-B607-4539075AF0F8}"/>
                </a:ext>
              </a:extLst>
            </p:cNvPr>
            <p:cNvSpPr/>
            <p:nvPr/>
          </p:nvSpPr>
          <p:spPr>
            <a:xfrm>
              <a:off x="9145978" y="4605175"/>
              <a:ext cx="1395022"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2F909DB8-68B5-4CC8-88B1-5CEC2797D52D}"/>
                </a:ext>
              </a:extLst>
            </p:cNvPr>
            <p:cNvSpPr/>
            <p:nvPr/>
          </p:nvSpPr>
          <p:spPr>
            <a:xfrm rot="16200000">
              <a:off x="6616710" y="2658964"/>
              <a:ext cx="1590877"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2480200935"/>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11</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22</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33</m:t>
                                    </m:r>
                                  </m:sub>
                                </m:sSub>
                              </m:oMath>
                            </m:oMathPara>
                          </a14:m>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50.196</a:t>
                          </a:r>
                          <a:endParaRPr lang="zh-TW" altLang="en-US" dirty="0"/>
                        </a:p>
                      </a:txBody>
                      <a:tcPr/>
                    </a:tc>
                    <a:tc>
                      <a:txBody>
                        <a:bodyPr/>
                        <a:lstStyle/>
                        <a:p>
                          <a:pPr algn="ctr"/>
                          <a:r>
                            <a:rPr lang="en-US" altLang="zh-TW" dirty="0"/>
                            <a:t>45.304</a:t>
                          </a:r>
                          <a:endParaRPr lang="zh-TW" altLang="en-US" dirty="0"/>
                        </a:p>
                      </a:txBody>
                      <a:tcPr/>
                    </a:tc>
                    <a:tc>
                      <a:txBody>
                        <a:bodyPr/>
                        <a:lstStyle/>
                        <a:p>
                          <a:pPr algn="ctr"/>
                          <a:r>
                            <a:rPr lang="en-US" altLang="zh-TW" dirty="0"/>
                            <a:t>27.105</a:t>
                          </a:r>
                          <a:endParaRPr lang="zh-TW" altLang="en-US" dirty="0"/>
                        </a:p>
                      </a:txBody>
                      <a:tcPr/>
                    </a:tc>
                    <a:extLst>
                      <a:ext uri="{0D108BD9-81ED-4DB2-BD59-A6C34878D82A}">
                        <a16:rowId xmlns:a16="http://schemas.microsoft.com/office/drawing/2014/main" val="3046649366"/>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2480200935"/>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2"/>
                          <a:stretch>
                            <a:fillRect l="-100299" t="-14516" r="-200299" b="-270968"/>
                          </a:stretch>
                        </a:blipFill>
                      </a:tcPr>
                    </a:tc>
                    <a:tc>
                      <a:txBody>
                        <a:bodyPr/>
                        <a:lstStyle/>
                        <a:p>
                          <a:endParaRPr lang="zh-TW"/>
                        </a:p>
                      </a:txBody>
                      <a:tcPr>
                        <a:blipFill>
                          <a:blip r:embed="rId2"/>
                          <a:stretch>
                            <a:fillRect l="-200901" t="-14516" r="-100901" b="-270968"/>
                          </a:stretch>
                        </a:blipFill>
                      </a:tcPr>
                    </a:tc>
                    <a:tc>
                      <a:txBody>
                        <a:bodyPr/>
                        <a:lstStyle/>
                        <a:p>
                          <a:endParaRPr lang="zh-TW"/>
                        </a:p>
                      </a:txBody>
                      <a:tcPr>
                        <a:blipFill>
                          <a:blip r:embed="rId2"/>
                          <a:stretch>
                            <a:fillRect l="-300000" t="-14516" r="-599" b="-270968"/>
                          </a:stretch>
                        </a:blipFill>
                      </a:tcPr>
                    </a:tc>
                    <a:extLst>
                      <a:ext uri="{0D108BD9-81ED-4DB2-BD59-A6C34878D82A}">
                        <a16:rowId xmlns:a16="http://schemas.microsoft.com/office/drawing/2014/main" val="168208475"/>
                      </a:ext>
                    </a:extLst>
                  </a:tr>
                  <a:tr h="370840">
                    <a:tc>
                      <a:txBody>
                        <a:bodyPr/>
                        <a:lstStyle/>
                        <a:p>
                          <a:endParaRPr lang="zh-TW"/>
                        </a:p>
                      </a:txBody>
                      <a:tcPr>
                        <a:blipFill>
                          <a:blip r:embed="rId2"/>
                          <a:stretch>
                            <a:fillRect l="-299" t="-116393" r="-300299" b="-175410"/>
                          </a:stretch>
                        </a:blipFill>
                      </a:tcPr>
                    </a:tc>
                    <a:tc>
                      <a:txBody>
                        <a:bodyPr/>
                        <a:lstStyle/>
                        <a:p>
                          <a:pPr algn="ctr"/>
                          <a:r>
                            <a:rPr lang="en-US" altLang="zh-TW" dirty="0"/>
                            <a:t>50.196</a:t>
                          </a:r>
                          <a:endParaRPr lang="zh-TW" altLang="en-US" dirty="0"/>
                        </a:p>
                      </a:txBody>
                      <a:tcPr/>
                    </a:tc>
                    <a:tc>
                      <a:txBody>
                        <a:bodyPr/>
                        <a:lstStyle/>
                        <a:p>
                          <a:pPr algn="ctr"/>
                          <a:r>
                            <a:rPr lang="en-US" altLang="zh-TW" dirty="0"/>
                            <a:t>45.304</a:t>
                          </a:r>
                          <a:endParaRPr lang="zh-TW" altLang="en-US" dirty="0"/>
                        </a:p>
                      </a:txBody>
                      <a:tcPr/>
                    </a:tc>
                    <a:tc>
                      <a:txBody>
                        <a:bodyPr/>
                        <a:lstStyle/>
                        <a:p>
                          <a:pPr algn="ctr"/>
                          <a:r>
                            <a:rPr lang="en-US" altLang="zh-TW" dirty="0"/>
                            <a:t>27.105</a:t>
                          </a:r>
                          <a:endParaRPr lang="zh-TW" altLang="en-US" dirty="0"/>
                        </a:p>
                      </a:txBody>
                      <a:tcPr/>
                    </a:tc>
                    <a:extLst>
                      <a:ext uri="{0D108BD9-81ED-4DB2-BD59-A6C34878D82A}">
                        <a16:rowId xmlns:a16="http://schemas.microsoft.com/office/drawing/2014/main" val="3046649366"/>
                      </a:ext>
                    </a:extLst>
                  </a:tr>
                </a:tbl>
              </a:graphicData>
            </a:graphic>
          </p:graphicFrame>
        </mc:Fallback>
      </mc:AlternateContent>
      <p:grpSp>
        <p:nvGrpSpPr>
          <p:cNvPr id="6" name="群組 5">
            <a:extLst>
              <a:ext uri="{FF2B5EF4-FFF2-40B4-BE49-F238E27FC236}">
                <a16:creationId xmlns:a16="http://schemas.microsoft.com/office/drawing/2014/main" id="{5D678379-C101-459D-9D33-8B6D2F752BCB}"/>
              </a:ext>
            </a:extLst>
          </p:cNvPr>
          <p:cNvGrpSpPr/>
          <p:nvPr/>
        </p:nvGrpSpPr>
        <p:grpSpPr>
          <a:xfrm>
            <a:off x="7892156" y="1748553"/>
            <a:ext cx="3478931" cy="2661719"/>
            <a:chOff x="7892156" y="1748553"/>
            <a:chExt cx="3478931" cy="2661719"/>
          </a:xfrm>
        </p:grpSpPr>
        <p:pic>
          <p:nvPicPr>
            <p:cNvPr id="4" name="圖片 3">
              <a:extLst>
                <a:ext uri="{FF2B5EF4-FFF2-40B4-BE49-F238E27FC236}">
                  <a16:creationId xmlns:a16="http://schemas.microsoft.com/office/drawing/2014/main" id="{3FE6D976-42C9-4004-B7E1-75E8CC3DB9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7659" y="1748553"/>
              <a:ext cx="3353428" cy="2533634"/>
            </a:xfrm>
            <a:prstGeom prst="rect">
              <a:avLst/>
            </a:prstGeom>
          </p:spPr>
        </p:pic>
        <p:grpSp>
          <p:nvGrpSpPr>
            <p:cNvPr id="14" name="群組 13">
              <a:extLst>
                <a:ext uri="{FF2B5EF4-FFF2-40B4-BE49-F238E27FC236}">
                  <a16:creationId xmlns:a16="http://schemas.microsoft.com/office/drawing/2014/main" id="{9228C93D-A0C7-4332-A130-971EC1FF61DC}"/>
                </a:ext>
              </a:extLst>
            </p:cNvPr>
            <p:cNvGrpSpPr/>
            <p:nvPr/>
          </p:nvGrpSpPr>
          <p:grpSpPr>
            <a:xfrm>
              <a:off x="7892156" y="1767111"/>
              <a:ext cx="2452674" cy="2643161"/>
              <a:chOff x="7942932" y="1692281"/>
              <a:chExt cx="2452674" cy="2643161"/>
            </a:xfrm>
          </p:grpSpPr>
          <p:grpSp>
            <p:nvGrpSpPr>
              <p:cNvPr id="13" name="群組 12">
                <a:extLst>
                  <a:ext uri="{FF2B5EF4-FFF2-40B4-BE49-F238E27FC236}">
                    <a16:creationId xmlns:a16="http://schemas.microsoft.com/office/drawing/2014/main" id="{754FF10A-2874-44FD-BACF-660085804C6B}"/>
                  </a:ext>
                </a:extLst>
              </p:cNvPr>
              <p:cNvGrpSpPr/>
              <p:nvPr/>
            </p:nvGrpSpPr>
            <p:grpSpPr>
              <a:xfrm>
                <a:off x="8058302" y="2133601"/>
                <a:ext cx="2212525" cy="2104299"/>
                <a:chOff x="8058302" y="2133601"/>
                <a:chExt cx="2212525" cy="2104299"/>
              </a:xfrm>
            </p:grpSpPr>
            <p:sp>
              <p:nvSpPr>
                <p:cNvPr id="11" name="矩形 10">
                  <a:extLst>
                    <a:ext uri="{FF2B5EF4-FFF2-40B4-BE49-F238E27FC236}">
                      <a16:creationId xmlns:a16="http://schemas.microsoft.com/office/drawing/2014/main" id="{869E58BC-ED95-4378-BC0D-F59778A5C307}"/>
                    </a:ext>
                  </a:extLst>
                </p:cNvPr>
                <p:cNvSpPr/>
                <p:nvPr/>
              </p:nvSpPr>
              <p:spPr>
                <a:xfrm>
                  <a:off x="9215228" y="4063653"/>
                  <a:ext cx="1055599" cy="1742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DED10F6C-0A24-4858-8A80-9E6F4DCE2834}"/>
                    </a:ext>
                  </a:extLst>
                </p:cNvPr>
                <p:cNvSpPr/>
                <p:nvPr/>
              </p:nvSpPr>
              <p:spPr>
                <a:xfrm rot="16200000">
                  <a:off x="7564648" y="2627255"/>
                  <a:ext cx="1153048" cy="1657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4A527870-9240-4CAE-A7BD-03FC80337E83}"/>
                      </a:ext>
                    </a:extLst>
                  </p:cNvPr>
                  <p:cNvSpPr txBox="1"/>
                  <p:nvPr/>
                </p:nvSpPr>
                <p:spPr>
                  <a:xfrm>
                    <a:off x="8563026" y="3966110"/>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C</m:t>
                          </m:r>
                          <m:r>
                            <m:rPr>
                              <m:sty m:val="p"/>
                            </m:rPr>
                            <a:rPr lang="en-US" altLang="zh-TW" b="0" i="0" smtClean="0">
                              <a:latin typeface="Cambria Math" panose="02040503050406030204" pitchFamily="18" charset="0"/>
                              <a:ea typeface="Cambria Math" panose="02040503050406030204" pitchFamily="18" charset="0"/>
                            </a:rPr>
                            <m:t>apacity</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measure</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29" name="文字方塊 28">
                    <a:extLst>
                      <a:ext uri="{FF2B5EF4-FFF2-40B4-BE49-F238E27FC236}">
                        <a16:creationId xmlns:a16="http://schemas.microsoft.com/office/drawing/2014/main" id="{4A527870-9240-4CAE-A7BD-03FC80337E83}"/>
                      </a:ext>
                    </a:extLst>
                  </p:cNvPr>
                  <p:cNvSpPr txBox="1">
                    <a:spLocks noRot="1" noChangeAspect="1" noMove="1" noResize="1" noEditPoints="1" noAdjustHandles="1" noChangeArrowheads="1" noChangeShapeType="1" noTextEdit="1"/>
                  </p:cNvSpPr>
                  <p:nvPr/>
                </p:nvSpPr>
                <p:spPr>
                  <a:xfrm>
                    <a:off x="8563026" y="3966110"/>
                    <a:ext cx="1832580" cy="369332"/>
                  </a:xfrm>
                  <a:prstGeom prst="rect">
                    <a:avLst/>
                  </a:prstGeom>
                  <a:blipFill>
                    <a:blip r:embed="rId4"/>
                    <a:stretch>
                      <a:fillRect t="-118333" r="-72757" b="-18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4F5B4198-2C45-4E9A-B669-499DD550D761}"/>
                      </a:ext>
                    </a:extLst>
                  </p:cNvPr>
                  <p:cNvSpPr txBox="1"/>
                  <p:nvPr/>
                </p:nvSpPr>
                <p:spPr>
                  <a:xfrm rot="16200000">
                    <a:off x="6985362" y="2649851"/>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77" name="文字方塊 76">
                    <a:extLst>
                      <a:ext uri="{FF2B5EF4-FFF2-40B4-BE49-F238E27FC236}">
                        <a16:creationId xmlns:a16="http://schemas.microsoft.com/office/drawing/2014/main" id="{4F5B4198-2C45-4E9A-B669-499DD550D761}"/>
                      </a:ext>
                    </a:extLst>
                  </p:cNvPr>
                  <p:cNvSpPr txBox="1">
                    <a:spLocks noRot="1" noChangeAspect="1" noMove="1" noResize="1" noEditPoints="1" noAdjustHandles="1" noChangeArrowheads="1" noChangeShapeType="1" noTextEdit="1"/>
                  </p:cNvSpPr>
                  <p:nvPr/>
                </p:nvSpPr>
                <p:spPr>
                  <a:xfrm rot="16200000">
                    <a:off x="6985362" y="2649851"/>
                    <a:ext cx="2192139" cy="276999"/>
                  </a:xfrm>
                  <a:prstGeom prst="rect">
                    <a:avLst/>
                  </a:prstGeom>
                  <a:blipFill>
                    <a:blip r:embed="rId5"/>
                    <a:stretch>
                      <a:fillRect l="-4444" t="-3064" r="-35556" b="-2507"/>
                    </a:stretch>
                  </a:blipFill>
                </p:spPr>
                <p:txBody>
                  <a:bodyPr/>
                  <a:lstStyle/>
                  <a:p>
                    <a:r>
                      <a:rPr lang="zh-TW" altLang="en-US">
                        <a:noFill/>
                      </a:rPr>
                      <a:t> </a:t>
                    </a:r>
                  </a:p>
                </p:txBody>
              </p:sp>
            </mc:Fallback>
          </mc:AlternateContent>
        </p:grpSp>
      </p:grpSp>
      <p:sp>
        <p:nvSpPr>
          <p:cNvPr id="32" name="文字方塊 31">
            <a:extLst>
              <a:ext uri="{FF2B5EF4-FFF2-40B4-BE49-F238E27FC236}">
                <a16:creationId xmlns:a16="http://schemas.microsoft.com/office/drawing/2014/main" id="{BFC30FDF-C840-49F5-871F-B583D17F27FD}"/>
              </a:ext>
            </a:extLst>
          </p:cNvPr>
          <p:cNvSpPr txBox="1"/>
          <p:nvPr/>
        </p:nvSpPr>
        <p:spPr>
          <a:xfrm>
            <a:off x="321964" y="3855632"/>
            <a:ext cx="6176432"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Both histograms have the same resolution (184.5uT/A).</a:t>
            </a:r>
          </a:p>
        </p:txBody>
      </p:sp>
      <p:sp>
        <p:nvSpPr>
          <p:cNvPr id="36" name="文字方塊 35">
            <a:extLst>
              <a:ext uri="{FF2B5EF4-FFF2-40B4-BE49-F238E27FC236}">
                <a16:creationId xmlns:a16="http://schemas.microsoft.com/office/drawing/2014/main" id="{BCEA6580-59CB-491D-9A56-1E4B23E7DF7D}"/>
              </a:ext>
            </a:extLst>
          </p:cNvPr>
          <p:cNvSpPr txBox="1"/>
          <p:nvPr/>
        </p:nvSpPr>
        <p:spPr>
          <a:xfrm>
            <a:off x="212687" y="786378"/>
            <a:ext cx="6176432" cy="2031325"/>
          </a:xfrm>
          <a:prstGeom prst="rect">
            <a:avLst/>
          </a:prstGeom>
          <a:noFill/>
        </p:spPr>
        <p:txBody>
          <a:bodyPr wrap="square">
            <a:spAutoFit/>
          </a:bodyPr>
          <a:lstStyle/>
          <a:p>
            <a:pPr marL="285750" indent="-285750">
              <a:buFont typeface="Arial" panose="020B0604020202020204" pitchFamily="34" charset="0"/>
              <a:buChar char="•"/>
            </a:pPr>
            <a:r>
              <a:rPr lang="zh-TW" altLang="en-US" dirty="0"/>
              <a:t>The three singular values are σ₁ = 50.25, σ₂ = 45.39 and σ₃ = 27.26 mT/A. σ₁ and σ₂ differ by only 10.7 %, whereas σ₃ falls 40 % below σ₂ (σ₁/σ₃ = 1.84). All three distributions are tight，</a:t>
            </a:r>
            <a:r>
              <a:rPr lang="en-US" altLang="zh-TW" dirty="0"/>
              <a:t>the controllable set is an oblate ellipsoid — two strong axes and one weak — not a sphere. The weakest third axis is the bottleneck of the whole actuator, since it sets the force available in the worst direction.</a:t>
            </a:r>
            <a:endParaRPr lang="zh-TW" altLang="en-US" dirty="0"/>
          </a:p>
        </p:txBody>
      </p:sp>
    </p:spTree>
    <p:extLst>
      <p:ext uri="{BB962C8B-B14F-4D97-AF65-F5344CB8AC3E}">
        <p14:creationId xmlns:p14="http://schemas.microsoft.com/office/powerpoint/2010/main" val="17095549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r>
              <a:rPr lang="en-US" altLang="zh-TW" dirty="0"/>
              <a:t>(Have gap)</a:t>
            </a:r>
            <a:endParaRPr lang="zh-TW" altLang="en-US" dirty="0"/>
          </a:p>
        </p:txBody>
      </p:sp>
      <p:sp>
        <p:nvSpPr>
          <p:cNvPr id="34" name="矩形 33">
            <a:extLst>
              <a:ext uri="{FF2B5EF4-FFF2-40B4-BE49-F238E27FC236}">
                <a16:creationId xmlns:a16="http://schemas.microsoft.com/office/drawing/2014/main" id="{79D2E760-7634-49B3-8738-C566096C37A8}"/>
              </a:ext>
            </a:extLst>
          </p:cNvPr>
          <p:cNvSpPr/>
          <p:nvPr/>
        </p:nvSpPr>
        <p:spPr>
          <a:xfrm>
            <a:off x="5460999" y="1928550"/>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1190983A-5C39-4886-9619-EB987BA08A5A}"/>
              </a:ext>
            </a:extLst>
          </p:cNvPr>
          <p:cNvSpPr/>
          <p:nvPr/>
        </p:nvSpPr>
        <p:spPr>
          <a:xfrm>
            <a:off x="10875387" y="1723933"/>
            <a:ext cx="159369" cy="294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3" name="矩形 42">
            <a:extLst>
              <a:ext uri="{FF2B5EF4-FFF2-40B4-BE49-F238E27FC236}">
                <a16:creationId xmlns:a16="http://schemas.microsoft.com/office/drawing/2014/main" id="{DAC22EB2-D2BB-462C-BC74-58FD2DE4BA6A}"/>
              </a:ext>
            </a:extLst>
          </p:cNvPr>
          <p:cNvSpPr/>
          <p:nvPr/>
        </p:nvSpPr>
        <p:spPr>
          <a:xfrm>
            <a:off x="6256928"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8CA65E4A-CFB2-4EA2-85BD-0D9730ADE9B3}"/>
              </a:ext>
            </a:extLst>
          </p:cNvPr>
          <p:cNvSpPr/>
          <p:nvPr/>
        </p:nvSpPr>
        <p:spPr>
          <a:xfrm>
            <a:off x="8173347" y="353856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矩形 46">
            <a:extLst>
              <a:ext uri="{FF2B5EF4-FFF2-40B4-BE49-F238E27FC236}">
                <a16:creationId xmlns:a16="http://schemas.microsoft.com/office/drawing/2014/main" id="{F8240F74-EA98-4ED3-B43E-B311F02C30DD}"/>
              </a:ext>
            </a:extLst>
          </p:cNvPr>
          <p:cNvSpPr/>
          <p:nvPr/>
        </p:nvSpPr>
        <p:spPr>
          <a:xfrm>
            <a:off x="8932275"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E3B77C83-699E-461F-B4BA-8C2FA871DCA2}"/>
              </a:ext>
            </a:extLst>
          </p:cNvPr>
          <p:cNvSpPr/>
          <p:nvPr/>
        </p:nvSpPr>
        <p:spPr>
          <a:xfrm>
            <a:off x="5351905" y="2059278"/>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3D14EEA7-B1CC-4A28-BF80-872555CF32BF}"/>
              </a:ext>
            </a:extLst>
          </p:cNvPr>
          <p:cNvSpPr/>
          <p:nvPr/>
        </p:nvSpPr>
        <p:spPr>
          <a:xfrm>
            <a:off x="6535040" y="2906549"/>
            <a:ext cx="218554" cy="18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a:extLst>
              <a:ext uri="{FF2B5EF4-FFF2-40B4-BE49-F238E27FC236}">
                <a16:creationId xmlns:a16="http://schemas.microsoft.com/office/drawing/2014/main" id="{3FBA3E74-E0D9-4C92-89A1-FC1810D9C593}"/>
              </a:ext>
            </a:extLst>
          </p:cNvPr>
          <p:cNvSpPr/>
          <p:nvPr/>
        </p:nvSpPr>
        <p:spPr>
          <a:xfrm>
            <a:off x="10419603" y="2544525"/>
            <a:ext cx="61970" cy="410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6" name="群組 65">
            <a:extLst>
              <a:ext uri="{FF2B5EF4-FFF2-40B4-BE49-F238E27FC236}">
                <a16:creationId xmlns:a16="http://schemas.microsoft.com/office/drawing/2014/main" id="{B8B44E8A-7C69-40AF-868C-858D8E255A75}"/>
              </a:ext>
            </a:extLst>
          </p:cNvPr>
          <p:cNvGrpSpPr/>
          <p:nvPr/>
        </p:nvGrpSpPr>
        <p:grpSpPr>
          <a:xfrm>
            <a:off x="7498215" y="3763636"/>
            <a:ext cx="3083568" cy="2082167"/>
            <a:chOff x="6051068" y="3773292"/>
            <a:chExt cx="3590668" cy="2286540"/>
          </a:xfrm>
        </p:grpSpPr>
        <p:sp>
          <p:nvSpPr>
            <p:cNvPr id="61" name="矩形 60">
              <a:extLst>
                <a:ext uri="{FF2B5EF4-FFF2-40B4-BE49-F238E27FC236}">
                  <a16:creationId xmlns:a16="http://schemas.microsoft.com/office/drawing/2014/main" id="{654CDC74-E55F-4DBC-B616-357EBC5F4474}"/>
                </a:ext>
              </a:extLst>
            </p:cNvPr>
            <p:cNvSpPr/>
            <p:nvPr/>
          </p:nvSpPr>
          <p:spPr>
            <a:xfrm>
              <a:off x="8324876" y="5644809"/>
              <a:ext cx="258270"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CD1471C2-34F2-4760-BFF2-E80C9E428DEC}"/>
                </a:ext>
              </a:extLst>
            </p:cNvPr>
            <p:cNvSpPr/>
            <p:nvPr/>
          </p:nvSpPr>
          <p:spPr>
            <a:xfrm>
              <a:off x="6446961" y="3773292"/>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3" name="矩形 62">
              <a:extLst>
                <a:ext uri="{FF2B5EF4-FFF2-40B4-BE49-F238E27FC236}">
                  <a16:creationId xmlns:a16="http://schemas.microsoft.com/office/drawing/2014/main" id="{90FF13F8-3A65-4128-BC28-CAC513B4FB57}"/>
                </a:ext>
              </a:extLst>
            </p:cNvPr>
            <p:cNvSpPr/>
            <p:nvPr/>
          </p:nvSpPr>
          <p:spPr>
            <a:xfrm>
              <a:off x="6051068" y="5067090"/>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a:extLst>
                <a:ext uri="{FF2B5EF4-FFF2-40B4-BE49-F238E27FC236}">
                  <a16:creationId xmlns:a16="http://schemas.microsoft.com/office/drawing/2014/main" id="{5BAF1E9B-9DCD-467B-B70A-E5CD30B363C2}"/>
                </a:ext>
              </a:extLst>
            </p:cNvPr>
            <p:cNvSpPr/>
            <p:nvPr/>
          </p:nvSpPr>
          <p:spPr>
            <a:xfrm>
              <a:off x="7250039" y="5828298"/>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5" name="矩形 64">
              <a:extLst>
                <a:ext uri="{FF2B5EF4-FFF2-40B4-BE49-F238E27FC236}">
                  <a16:creationId xmlns:a16="http://schemas.microsoft.com/office/drawing/2014/main" id="{9D7F0799-F13A-4899-9213-C4590823EDB0}"/>
                </a:ext>
              </a:extLst>
            </p:cNvPr>
            <p:cNvSpPr/>
            <p:nvPr/>
          </p:nvSpPr>
          <p:spPr>
            <a:xfrm>
              <a:off x="9423181" y="4151337"/>
              <a:ext cx="218555" cy="922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79" name="矩形 78">
            <a:extLst>
              <a:ext uri="{FF2B5EF4-FFF2-40B4-BE49-F238E27FC236}">
                <a16:creationId xmlns:a16="http://schemas.microsoft.com/office/drawing/2014/main" id="{6EE2C76E-7851-4AB6-9A3E-18664BA7EDA9}"/>
              </a:ext>
            </a:extLst>
          </p:cNvPr>
          <p:cNvSpPr/>
          <p:nvPr/>
        </p:nvSpPr>
        <p:spPr>
          <a:xfrm>
            <a:off x="5106371" y="3533630"/>
            <a:ext cx="245534" cy="266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auto caption">
            <a:extLst>
              <a:ext uri="{FF2B5EF4-FFF2-40B4-BE49-F238E27FC236}">
                <a16:creationId xmlns:a16="http://schemas.microsoft.com/office/drawing/2014/main" id="{B939D688-74BF-48DD-B637-E4F31386B5C8}"/>
              </a:ext>
            </a:extLst>
          </p:cNvPr>
          <p:cNvSpPr txBox="1"/>
          <p:nvPr/>
        </p:nvSpPr>
        <p:spPr>
          <a:xfrm>
            <a:off x="153910" y="885799"/>
            <a:ext cx="6375566" cy="5862134"/>
          </a:xfrm>
          <a:prstGeom prst="rect">
            <a:avLst/>
          </a:prstGeom>
          <a:noFill/>
        </p:spPr>
        <p:txBody>
          <a:bodyPr wrap="square" rtlCol="0">
            <a:normAutofit/>
          </a:bodyPr>
          <a:lstStyle/>
          <a:p>
            <a:pPr marL="285750" indent="-285750">
              <a:buFont typeface="Arial" panose="020B0604020202020204" pitchFamily="34" charset="0"/>
              <a:buChar char="•"/>
            </a:pPr>
            <a:endParaRPr lang="en-US" altLang="zh-TW" sz="1600" dirty="0"/>
          </a:p>
        </p:txBody>
      </p:sp>
      <p:sp>
        <p:nvSpPr>
          <p:cNvPr id="24" name="文字方塊 23">
            <a:extLst>
              <a:ext uri="{FF2B5EF4-FFF2-40B4-BE49-F238E27FC236}">
                <a16:creationId xmlns:a16="http://schemas.microsoft.com/office/drawing/2014/main" id="{8FBFCE35-671F-43E8-AFE4-D4E5FC738992}"/>
              </a:ext>
            </a:extLst>
          </p:cNvPr>
          <p:cNvSpPr txBox="1"/>
          <p:nvPr/>
        </p:nvSpPr>
        <p:spPr>
          <a:xfrm>
            <a:off x="148346" y="1041403"/>
            <a:ext cx="6176432" cy="2031325"/>
          </a:xfrm>
          <a:prstGeom prst="rect">
            <a:avLst/>
          </a:prstGeom>
          <a:noFill/>
        </p:spPr>
        <p:txBody>
          <a:bodyPr wrap="square">
            <a:spAutoFit/>
          </a:bodyPr>
          <a:lstStyle/>
          <a:p>
            <a:pPr marL="285750" indent="-285750">
              <a:buFont typeface="Arial" panose="020B0604020202020204" pitchFamily="34" charset="0"/>
              <a:buChar char="•"/>
            </a:pPr>
            <a:r>
              <a:rPr lang="en-US" altLang="zh-TW" dirty="0" err="1"/>
              <a:t>Zhi</a:t>
            </a:r>
            <a:r>
              <a:rPr lang="en-US" altLang="zh-TW" dirty="0"/>
              <a:t>-Peng delivers 2.71× the actuation strength of Long Fei (39.58 vs 14.62 </a:t>
            </a:r>
            <a:r>
              <a:rPr lang="en-US" altLang="zh-TW" dirty="0" err="1"/>
              <a:t>mT</a:t>
            </a:r>
            <a:r>
              <a:rPr lang="en-US" altLang="zh-TW" dirty="0"/>
              <a:t>/A). Both share the same pattern: weakest at the </a:t>
            </a:r>
            <a:r>
              <a:rPr lang="en-US" altLang="zh-TW" dirty="0" err="1"/>
              <a:t>centre</a:t>
            </a:r>
            <a:r>
              <a:rPr lang="en-US" altLang="zh-TW" dirty="0"/>
              <a:t>, strengthening toward the pole tips, and almost constant with direction within the calibration radius</a:t>
            </a:r>
            <a:r>
              <a:rPr lang="zh-TW" altLang="en-US" dirty="0"/>
              <a:t>，</a:t>
            </a:r>
            <a:r>
              <a:rPr lang="en-US" altLang="zh-TW" dirty="0"/>
              <a:t>the planar hexapole wins outright on strength, and it is a pure gain improvement — the field shape is not degraded, and the advantage holds uniformly across the workspace.</a:t>
            </a:r>
            <a:endParaRPr lang="zh-TW" altLang="en-US" dirty="0"/>
          </a:p>
        </p:txBody>
      </p:sp>
      <p:grpSp>
        <p:nvGrpSpPr>
          <p:cNvPr id="20" name="群組 19">
            <a:extLst>
              <a:ext uri="{FF2B5EF4-FFF2-40B4-BE49-F238E27FC236}">
                <a16:creationId xmlns:a16="http://schemas.microsoft.com/office/drawing/2014/main" id="{6D718F14-26ED-4D79-ACD1-36F1CE5822FC}"/>
              </a:ext>
            </a:extLst>
          </p:cNvPr>
          <p:cNvGrpSpPr/>
          <p:nvPr/>
        </p:nvGrpSpPr>
        <p:grpSpPr>
          <a:xfrm>
            <a:off x="8387907" y="3258670"/>
            <a:ext cx="2627143" cy="2146998"/>
            <a:chOff x="8407613" y="3207991"/>
            <a:chExt cx="2627143" cy="2146998"/>
          </a:xfrm>
        </p:grpSpPr>
        <p:pic>
          <p:nvPicPr>
            <p:cNvPr id="9" name="圖片 8">
              <a:extLst>
                <a:ext uri="{FF2B5EF4-FFF2-40B4-BE49-F238E27FC236}">
                  <a16:creationId xmlns:a16="http://schemas.microsoft.com/office/drawing/2014/main" id="{2DD782EE-42A9-4C29-846F-C3C6C89E2A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88615" y="3317918"/>
              <a:ext cx="2342457" cy="1907786"/>
            </a:xfrm>
            <a:prstGeom prst="rect">
              <a:avLst/>
            </a:prstGeom>
          </p:spPr>
        </p:pic>
        <p:grpSp>
          <p:nvGrpSpPr>
            <p:cNvPr id="18" name="群組 17">
              <a:extLst>
                <a:ext uri="{FF2B5EF4-FFF2-40B4-BE49-F238E27FC236}">
                  <a16:creationId xmlns:a16="http://schemas.microsoft.com/office/drawing/2014/main" id="{22DEE182-220C-4694-B0E8-4F293D6F7DFF}"/>
                </a:ext>
              </a:extLst>
            </p:cNvPr>
            <p:cNvGrpSpPr/>
            <p:nvPr/>
          </p:nvGrpSpPr>
          <p:grpSpPr>
            <a:xfrm>
              <a:off x="8407613" y="3207991"/>
              <a:ext cx="2627143" cy="2146998"/>
              <a:chOff x="7970803" y="3605233"/>
              <a:chExt cx="2627143" cy="2146998"/>
            </a:xfrm>
          </p:grpSpPr>
          <p:grpSp>
            <p:nvGrpSpPr>
              <p:cNvPr id="17" name="群組 16">
                <a:extLst>
                  <a:ext uri="{FF2B5EF4-FFF2-40B4-BE49-F238E27FC236}">
                    <a16:creationId xmlns:a16="http://schemas.microsoft.com/office/drawing/2014/main" id="{55BB4621-7BD9-4679-83DF-BFD7799DF865}"/>
                  </a:ext>
                </a:extLst>
              </p:cNvPr>
              <p:cNvGrpSpPr/>
              <p:nvPr/>
            </p:nvGrpSpPr>
            <p:grpSpPr>
              <a:xfrm>
                <a:off x="8050919" y="3704853"/>
                <a:ext cx="2508629" cy="1961519"/>
                <a:chOff x="8050919" y="3704853"/>
                <a:chExt cx="2508629" cy="1961519"/>
              </a:xfrm>
            </p:grpSpPr>
            <p:sp>
              <p:nvSpPr>
                <p:cNvPr id="5" name="矩形 4">
                  <a:extLst>
                    <a:ext uri="{FF2B5EF4-FFF2-40B4-BE49-F238E27FC236}">
                      <a16:creationId xmlns:a16="http://schemas.microsoft.com/office/drawing/2014/main" id="{814C6145-C47B-4D69-AAD2-1C7FDFF05D7C}"/>
                    </a:ext>
                  </a:extLst>
                </p:cNvPr>
                <p:cNvSpPr/>
                <p:nvPr/>
              </p:nvSpPr>
              <p:spPr>
                <a:xfrm>
                  <a:off x="8979362" y="3704853"/>
                  <a:ext cx="471534" cy="1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0791F678-56AB-42BA-961F-31FF4CB4DF2D}"/>
                    </a:ext>
                  </a:extLst>
                </p:cNvPr>
                <p:cNvSpPr/>
                <p:nvPr/>
              </p:nvSpPr>
              <p:spPr>
                <a:xfrm>
                  <a:off x="8050919" y="4584386"/>
                  <a:ext cx="244903"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9F216946-C27D-48B6-9FC9-3A7938C80A01}"/>
                    </a:ext>
                  </a:extLst>
                </p:cNvPr>
                <p:cNvSpPr/>
                <p:nvPr/>
              </p:nvSpPr>
              <p:spPr>
                <a:xfrm>
                  <a:off x="8807818" y="5485454"/>
                  <a:ext cx="471534" cy="180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a:extLst>
                    <a:ext uri="{FF2B5EF4-FFF2-40B4-BE49-F238E27FC236}">
                      <a16:creationId xmlns:a16="http://schemas.microsoft.com/office/drawing/2014/main" id="{D95603DB-8850-4931-9119-271118BBBC31}"/>
                    </a:ext>
                  </a:extLst>
                </p:cNvPr>
                <p:cNvSpPr/>
                <p:nvPr/>
              </p:nvSpPr>
              <p:spPr>
                <a:xfrm>
                  <a:off x="9907731" y="4512739"/>
                  <a:ext cx="244903" cy="2833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矩形 13">
                  <a:extLst>
                    <a:ext uri="{FF2B5EF4-FFF2-40B4-BE49-F238E27FC236}">
                      <a16:creationId xmlns:a16="http://schemas.microsoft.com/office/drawing/2014/main" id="{1329119F-C529-4B40-91BE-B411B4240C93}"/>
                    </a:ext>
                  </a:extLst>
                </p:cNvPr>
                <p:cNvSpPr/>
                <p:nvPr/>
              </p:nvSpPr>
              <p:spPr>
                <a:xfrm>
                  <a:off x="10370107" y="4314578"/>
                  <a:ext cx="189441" cy="584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81" name="文字方塊 80">
                <a:extLst>
                  <a:ext uri="{FF2B5EF4-FFF2-40B4-BE49-F238E27FC236}">
                    <a16:creationId xmlns:a16="http://schemas.microsoft.com/office/drawing/2014/main" id="{52CF3FFF-4A3A-4DF8-9571-F600210FEEA8}"/>
                  </a:ext>
                </a:extLst>
              </p:cNvPr>
              <p:cNvSpPr txBox="1"/>
              <p:nvPr/>
            </p:nvSpPr>
            <p:spPr>
              <a:xfrm>
                <a:off x="7970803" y="439798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2" name="文字方塊 81">
                <a:extLst>
                  <a:ext uri="{FF2B5EF4-FFF2-40B4-BE49-F238E27FC236}">
                    <a16:creationId xmlns:a16="http://schemas.microsoft.com/office/drawing/2014/main" id="{853AC494-5F6E-45D3-8AB8-45F0C907BFD2}"/>
                  </a:ext>
                </a:extLst>
              </p:cNvPr>
              <p:cNvSpPr txBox="1"/>
              <p:nvPr/>
            </p:nvSpPr>
            <p:spPr>
              <a:xfrm>
                <a:off x="8927322" y="360523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3" name="文字方塊 82">
                <a:extLst>
                  <a:ext uri="{FF2B5EF4-FFF2-40B4-BE49-F238E27FC236}">
                    <a16:creationId xmlns:a16="http://schemas.microsoft.com/office/drawing/2014/main" id="{8C1B137E-27CA-4FA8-BD49-47C50D6F832A}"/>
                  </a:ext>
                </a:extLst>
              </p:cNvPr>
              <p:cNvSpPr txBox="1"/>
              <p:nvPr/>
            </p:nvSpPr>
            <p:spPr>
              <a:xfrm>
                <a:off x="8914264" y="544445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4" name="文字方塊 83">
                <a:extLst>
                  <a:ext uri="{FF2B5EF4-FFF2-40B4-BE49-F238E27FC236}">
                    <a16:creationId xmlns:a16="http://schemas.microsoft.com/office/drawing/2014/main" id="{7712404E-07B6-4F6E-AF69-1455B3E1A4BB}"/>
                  </a:ext>
                </a:extLst>
              </p:cNvPr>
              <p:cNvSpPr txBox="1"/>
              <p:nvPr/>
            </p:nvSpPr>
            <p:spPr>
              <a:xfrm>
                <a:off x="9802070" y="470384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5" name="文字方塊 84">
                    <a:extLst>
                      <a:ext uri="{FF2B5EF4-FFF2-40B4-BE49-F238E27FC236}">
                        <a16:creationId xmlns:a16="http://schemas.microsoft.com/office/drawing/2014/main" id="{540B8155-584E-4A94-B7CA-1691DEFFD750}"/>
                      </a:ext>
                    </a:extLst>
                  </p:cNvPr>
                  <p:cNvSpPr txBox="1"/>
                  <p:nvPr/>
                </p:nvSpPr>
                <p:spPr>
                  <a:xfrm>
                    <a:off x="9312538" y="458296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85" name="文字方塊 84">
                    <a:extLst>
                      <a:ext uri="{FF2B5EF4-FFF2-40B4-BE49-F238E27FC236}">
                        <a16:creationId xmlns:a16="http://schemas.microsoft.com/office/drawing/2014/main" id="{540B8155-584E-4A94-B7CA-1691DEFFD750}"/>
                      </a:ext>
                    </a:extLst>
                  </p:cNvPr>
                  <p:cNvSpPr txBox="1">
                    <a:spLocks noRot="1" noChangeAspect="1" noMove="1" noResize="1" noEditPoints="1" noAdjustHandles="1" noChangeArrowheads="1" noChangeShapeType="1" noTextEdit="1"/>
                  </p:cNvSpPr>
                  <p:nvPr/>
                </p:nvSpPr>
                <p:spPr>
                  <a:xfrm>
                    <a:off x="9312538" y="4582969"/>
                    <a:ext cx="332369" cy="307777"/>
                  </a:xfrm>
                  <a:prstGeom prst="rect">
                    <a:avLst/>
                  </a:prstGeom>
                  <a:blipFill>
                    <a:blip r:embed="rId12"/>
                    <a:stretch>
                      <a:fillRect b="-19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6" name="文字方塊 85">
                    <a:extLst>
                      <a:ext uri="{FF2B5EF4-FFF2-40B4-BE49-F238E27FC236}">
                        <a16:creationId xmlns:a16="http://schemas.microsoft.com/office/drawing/2014/main" id="{867489ED-A813-4081-8B30-C7D8958005DE}"/>
                      </a:ext>
                    </a:extLst>
                  </p:cNvPr>
                  <p:cNvSpPr txBox="1"/>
                  <p:nvPr/>
                </p:nvSpPr>
                <p:spPr>
                  <a:xfrm>
                    <a:off x="8845267" y="409514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86" name="文字方塊 85">
                    <a:extLst>
                      <a:ext uri="{FF2B5EF4-FFF2-40B4-BE49-F238E27FC236}">
                        <a16:creationId xmlns:a16="http://schemas.microsoft.com/office/drawing/2014/main" id="{867489ED-A813-4081-8B30-C7D8958005DE}"/>
                      </a:ext>
                    </a:extLst>
                  </p:cNvPr>
                  <p:cNvSpPr txBox="1">
                    <a:spLocks noRot="1" noChangeAspect="1" noMove="1" noResize="1" noEditPoints="1" noAdjustHandles="1" noChangeArrowheads="1" noChangeShapeType="1" noTextEdit="1"/>
                  </p:cNvSpPr>
                  <p:nvPr/>
                </p:nvSpPr>
                <p:spPr>
                  <a:xfrm>
                    <a:off x="8845267" y="4095143"/>
                    <a:ext cx="332369" cy="307777"/>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0" name="文字方塊 79">
                    <a:extLst>
                      <a:ext uri="{FF2B5EF4-FFF2-40B4-BE49-F238E27FC236}">
                        <a16:creationId xmlns:a16="http://schemas.microsoft.com/office/drawing/2014/main" id="{27CD9186-2EE6-4F6E-A706-803E24D40A26}"/>
                      </a:ext>
                    </a:extLst>
                  </p:cNvPr>
                  <p:cNvSpPr txBox="1"/>
                  <p:nvPr/>
                </p:nvSpPr>
                <p:spPr>
                  <a:xfrm rot="16200000">
                    <a:off x="9543157" y="4510852"/>
                    <a:ext cx="183258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20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apacity</m:t>
                          </m:r>
                          <m:r>
                            <a:rPr lang="en-US" altLang="zh-TW" sz="1200" b="0" i="0" smtClean="0">
                              <a:latin typeface="Cambria Math" panose="02040503050406030204" pitchFamily="18" charset="0"/>
                              <a:ea typeface="Cambria Math" panose="02040503050406030204" pitchFamily="18" charset="0"/>
                            </a:rPr>
                            <m:t> </m:t>
                          </m:r>
                          <m:r>
                            <m:rPr>
                              <m:sty m:val="p"/>
                            </m:rPr>
                            <a:rPr lang="en-US" altLang="zh-TW" sz="1200" b="0" i="0" smtClean="0">
                              <a:latin typeface="Cambria Math" panose="02040503050406030204" pitchFamily="18" charset="0"/>
                              <a:ea typeface="Cambria Math" panose="02040503050406030204" pitchFamily="18" charset="0"/>
                            </a:rPr>
                            <m:t>measure</m:t>
                          </m:r>
                          <m:r>
                            <a:rPr lang="en-US" altLang="zh-TW" sz="1200" b="0" i="0" smtClean="0">
                              <a:latin typeface="Cambria Math" panose="02040503050406030204" pitchFamily="18" charset="0"/>
                              <a:ea typeface="Cambria Math" panose="02040503050406030204" pitchFamily="18" charset="0"/>
                            </a:rPr>
                            <m:t> </m:t>
                          </m:r>
                          <m:r>
                            <a:rPr lang="en-US" altLang="zh-TW" sz="1200" b="0" i="1" smtClean="0">
                              <a:latin typeface="Cambria Math" panose="02040503050406030204" pitchFamily="18" charset="0"/>
                              <a:ea typeface="Cambria Math" panose="02040503050406030204" pitchFamily="18" charset="0"/>
                            </a:rPr>
                            <m:t>(</m:t>
                          </m:r>
                          <m:f>
                            <m:fPr>
                              <m:type m:val="lin"/>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𝑚𝑇</m:t>
                              </m:r>
                            </m:num>
                            <m:den>
                              <m:r>
                                <a:rPr lang="en-US" altLang="zh-TW" sz="1200" b="0" i="1" smtClean="0">
                                  <a:latin typeface="Cambria Math" panose="02040503050406030204" pitchFamily="18" charset="0"/>
                                  <a:ea typeface="Cambria Math" panose="02040503050406030204" pitchFamily="18" charset="0"/>
                                </a:rPr>
                                <m:t>𝐴</m:t>
                              </m:r>
                            </m:den>
                          </m:f>
                          <m:r>
                            <a:rPr lang="en-US" altLang="zh-TW" sz="12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80" name="文字方塊 79">
                    <a:extLst>
                      <a:ext uri="{FF2B5EF4-FFF2-40B4-BE49-F238E27FC236}">
                        <a16:creationId xmlns:a16="http://schemas.microsoft.com/office/drawing/2014/main" id="{27CD9186-2EE6-4F6E-A706-803E24D40A26}"/>
                      </a:ext>
                    </a:extLst>
                  </p:cNvPr>
                  <p:cNvSpPr txBox="1">
                    <a:spLocks noRot="1" noChangeAspect="1" noMove="1" noResize="1" noEditPoints="1" noAdjustHandles="1" noChangeArrowheads="1" noChangeShapeType="1" noTextEdit="1"/>
                  </p:cNvSpPr>
                  <p:nvPr/>
                </p:nvSpPr>
                <p:spPr>
                  <a:xfrm rot="16200000">
                    <a:off x="9543157" y="4510852"/>
                    <a:ext cx="1832580" cy="276999"/>
                  </a:xfrm>
                  <a:prstGeom prst="rect">
                    <a:avLst/>
                  </a:prstGeom>
                  <a:blipFill>
                    <a:blip r:embed="rId14"/>
                    <a:stretch>
                      <a:fillRect l="-93478" t="-16000" r="-143478"/>
                    </a:stretch>
                  </a:blipFill>
                </p:spPr>
                <p:txBody>
                  <a:bodyPr/>
                  <a:lstStyle/>
                  <a:p>
                    <a:r>
                      <a:rPr lang="zh-TW" altLang="en-US">
                        <a:noFill/>
                      </a:rPr>
                      <a:t> </a:t>
                    </a:r>
                  </a:p>
                </p:txBody>
              </p:sp>
            </mc:Fallback>
          </mc:AlternateContent>
        </p:grpSp>
      </p:grpSp>
      <p:grpSp>
        <p:nvGrpSpPr>
          <p:cNvPr id="21" name="群組 20">
            <a:extLst>
              <a:ext uri="{FF2B5EF4-FFF2-40B4-BE49-F238E27FC236}">
                <a16:creationId xmlns:a16="http://schemas.microsoft.com/office/drawing/2014/main" id="{6715CF6A-402B-4407-8EF7-9D9DFBD64E3E}"/>
              </a:ext>
            </a:extLst>
          </p:cNvPr>
          <p:cNvGrpSpPr/>
          <p:nvPr/>
        </p:nvGrpSpPr>
        <p:grpSpPr>
          <a:xfrm>
            <a:off x="7381842" y="949388"/>
            <a:ext cx="4157694" cy="2029789"/>
            <a:chOff x="7381842" y="949388"/>
            <a:chExt cx="4157694" cy="2029789"/>
          </a:xfrm>
        </p:grpSpPr>
        <p:pic>
          <p:nvPicPr>
            <p:cNvPr id="6" name="圖片 5">
              <a:extLst>
                <a:ext uri="{FF2B5EF4-FFF2-40B4-BE49-F238E27FC236}">
                  <a16:creationId xmlns:a16="http://schemas.microsoft.com/office/drawing/2014/main" id="{33CCD460-CA6E-4B47-B8F6-67AC601EC62F}"/>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619688" y="1120704"/>
              <a:ext cx="3761022" cy="1668616"/>
            </a:xfrm>
            <a:prstGeom prst="rect">
              <a:avLst/>
            </a:prstGeom>
          </p:spPr>
        </p:pic>
        <p:grpSp>
          <p:nvGrpSpPr>
            <p:cNvPr id="13" name="群組 12">
              <a:extLst>
                <a:ext uri="{FF2B5EF4-FFF2-40B4-BE49-F238E27FC236}">
                  <a16:creationId xmlns:a16="http://schemas.microsoft.com/office/drawing/2014/main" id="{23F78EBC-70AE-46C7-8747-578090779B11}"/>
                </a:ext>
              </a:extLst>
            </p:cNvPr>
            <p:cNvGrpSpPr/>
            <p:nvPr/>
          </p:nvGrpSpPr>
          <p:grpSpPr>
            <a:xfrm>
              <a:off x="7381842" y="949388"/>
              <a:ext cx="4157694" cy="2029789"/>
              <a:chOff x="6916509" y="812253"/>
              <a:chExt cx="4537719" cy="2204294"/>
            </a:xfrm>
          </p:grpSpPr>
          <p:grpSp>
            <p:nvGrpSpPr>
              <p:cNvPr id="12" name="群組 11">
                <a:extLst>
                  <a:ext uri="{FF2B5EF4-FFF2-40B4-BE49-F238E27FC236}">
                    <a16:creationId xmlns:a16="http://schemas.microsoft.com/office/drawing/2014/main" id="{11A70DA8-E9B0-420E-B026-CEFC7B78C7F4}"/>
                  </a:ext>
                </a:extLst>
              </p:cNvPr>
              <p:cNvGrpSpPr/>
              <p:nvPr/>
            </p:nvGrpSpPr>
            <p:grpSpPr>
              <a:xfrm>
                <a:off x="6916509" y="812253"/>
                <a:ext cx="4367353" cy="2204294"/>
                <a:chOff x="6916509" y="812253"/>
                <a:chExt cx="4367353" cy="2204294"/>
              </a:xfrm>
            </p:grpSpPr>
            <p:sp>
              <p:nvSpPr>
                <p:cNvPr id="3" name="矩形 2">
                  <a:extLst>
                    <a:ext uri="{FF2B5EF4-FFF2-40B4-BE49-F238E27FC236}">
                      <a16:creationId xmlns:a16="http://schemas.microsoft.com/office/drawing/2014/main" id="{FB7DEFC0-C83A-40F7-A246-1F3C181E9589}"/>
                    </a:ext>
                  </a:extLst>
                </p:cNvPr>
                <p:cNvSpPr/>
                <p:nvPr/>
              </p:nvSpPr>
              <p:spPr>
                <a:xfrm>
                  <a:off x="8869295" y="1730429"/>
                  <a:ext cx="381137"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id="{563B98D0-02FC-439F-AE72-8BAD0770C69D}"/>
                    </a:ext>
                  </a:extLst>
                </p:cNvPr>
                <p:cNvSpPr/>
                <p:nvPr/>
              </p:nvSpPr>
              <p:spPr>
                <a:xfrm>
                  <a:off x="7944187" y="812253"/>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extLst>
                    <a:ext uri="{FF2B5EF4-FFF2-40B4-BE49-F238E27FC236}">
                      <a16:creationId xmlns:a16="http://schemas.microsoft.com/office/drawing/2014/main" id="{C8494D76-B74B-4484-B710-DEA0CE05DEF5}"/>
                    </a:ext>
                  </a:extLst>
                </p:cNvPr>
                <p:cNvSpPr/>
                <p:nvPr/>
              </p:nvSpPr>
              <p:spPr>
                <a:xfrm>
                  <a:off x="6916509" y="1762948"/>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a:extLst>
                    <a:ext uri="{FF2B5EF4-FFF2-40B4-BE49-F238E27FC236}">
                      <a16:creationId xmlns:a16="http://schemas.microsoft.com/office/drawing/2014/main" id="{1A688309-ECAA-470D-BE33-2A7B523A5D69}"/>
                    </a:ext>
                  </a:extLst>
                </p:cNvPr>
                <p:cNvSpPr/>
                <p:nvPr/>
              </p:nvSpPr>
              <p:spPr>
                <a:xfrm>
                  <a:off x="7933529" y="2671674"/>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a:extLst>
                    <a:ext uri="{FF2B5EF4-FFF2-40B4-BE49-F238E27FC236}">
                      <a16:creationId xmlns:a16="http://schemas.microsoft.com/office/drawing/2014/main" id="{D51C8839-26B5-4A4C-881B-A322C2415EDE}"/>
                    </a:ext>
                  </a:extLst>
                </p:cNvPr>
                <p:cNvSpPr/>
                <p:nvPr/>
              </p:nvSpPr>
              <p:spPr>
                <a:xfrm>
                  <a:off x="9779728" y="921932"/>
                  <a:ext cx="453262" cy="240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8F0B43A3-93E1-4BD2-B103-10B5D89BA837}"/>
                    </a:ext>
                  </a:extLst>
                </p:cNvPr>
                <p:cNvSpPr/>
                <p:nvPr/>
              </p:nvSpPr>
              <p:spPr>
                <a:xfrm>
                  <a:off x="11168543" y="1646527"/>
                  <a:ext cx="115319" cy="5948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8FA6A81E-4DAC-4EAA-8C02-C230117F7CEF}"/>
                    </a:ext>
                  </a:extLst>
                </p:cNvPr>
                <p:cNvSpPr/>
                <p:nvPr/>
              </p:nvSpPr>
              <p:spPr>
                <a:xfrm>
                  <a:off x="9757220" y="2671674"/>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EFBDAE91-6189-4E4D-883C-0FD776BDB2CB}"/>
                      </a:ext>
                    </a:extLst>
                  </p:cNvPr>
                  <p:cNvSpPr txBox="1"/>
                  <p:nvPr/>
                </p:nvSpPr>
                <p:spPr>
                  <a:xfrm rot="16200000">
                    <a:off x="10380965" y="1805462"/>
                    <a:ext cx="1869527"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20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apacity</m:t>
                          </m:r>
                          <m:r>
                            <a:rPr lang="en-US" altLang="zh-TW" sz="1200" b="0" i="0" smtClean="0">
                              <a:latin typeface="Cambria Math" panose="02040503050406030204" pitchFamily="18" charset="0"/>
                              <a:ea typeface="Cambria Math" panose="02040503050406030204" pitchFamily="18" charset="0"/>
                            </a:rPr>
                            <m:t> </m:t>
                          </m:r>
                          <m:r>
                            <m:rPr>
                              <m:sty m:val="p"/>
                            </m:rPr>
                            <a:rPr lang="en-US" altLang="zh-TW" sz="1200" b="0" i="0" smtClean="0">
                              <a:latin typeface="Cambria Math" panose="02040503050406030204" pitchFamily="18" charset="0"/>
                              <a:ea typeface="Cambria Math" panose="02040503050406030204" pitchFamily="18" charset="0"/>
                            </a:rPr>
                            <m:t>measure</m:t>
                          </m:r>
                          <m:r>
                            <a:rPr lang="en-US" altLang="zh-TW" sz="1200" b="0" i="0" smtClean="0">
                              <a:latin typeface="Cambria Math" panose="02040503050406030204" pitchFamily="18" charset="0"/>
                              <a:ea typeface="Cambria Math" panose="02040503050406030204" pitchFamily="18" charset="0"/>
                            </a:rPr>
                            <m:t> </m:t>
                          </m:r>
                          <m:r>
                            <a:rPr lang="en-US" altLang="zh-TW" sz="1200" b="0" i="1" smtClean="0">
                              <a:latin typeface="Cambria Math" panose="02040503050406030204" pitchFamily="18" charset="0"/>
                              <a:ea typeface="Cambria Math" panose="02040503050406030204" pitchFamily="18" charset="0"/>
                            </a:rPr>
                            <m:t>(</m:t>
                          </m:r>
                          <m:f>
                            <m:fPr>
                              <m:type m:val="lin"/>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𝑚𝑇</m:t>
                              </m:r>
                            </m:num>
                            <m:den>
                              <m:r>
                                <a:rPr lang="en-US" altLang="zh-TW" sz="1200" b="0" i="1" smtClean="0">
                                  <a:latin typeface="Cambria Math" panose="02040503050406030204" pitchFamily="18" charset="0"/>
                                  <a:ea typeface="Cambria Math" panose="02040503050406030204" pitchFamily="18" charset="0"/>
                                </a:rPr>
                                <m:t>𝐴</m:t>
                              </m:r>
                            </m:den>
                          </m:f>
                          <m:r>
                            <a:rPr lang="en-US" altLang="zh-TW" sz="12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57" name="文字方塊 56">
                    <a:extLst>
                      <a:ext uri="{FF2B5EF4-FFF2-40B4-BE49-F238E27FC236}">
                        <a16:creationId xmlns:a16="http://schemas.microsoft.com/office/drawing/2014/main" id="{EFBDAE91-6189-4E4D-883C-0FD776BDB2CB}"/>
                      </a:ext>
                    </a:extLst>
                  </p:cNvPr>
                  <p:cNvSpPr txBox="1">
                    <a:spLocks noRot="1" noChangeAspect="1" noMove="1" noResize="1" noEditPoints="1" noAdjustHandles="1" noChangeArrowheads="1" noChangeShapeType="1" noTextEdit="1"/>
                  </p:cNvSpPr>
                  <p:nvPr/>
                </p:nvSpPr>
                <p:spPr>
                  <a:xfrm rot="16200000">
                    <a:off x="10380965" y="1805462"/>
                    <a:ext cx="1869527" cy="276999"/>
                  </a:xfrm>
                  <a:prstGeom prst="rect">
                    <a:avLst/>
                  </a:prstGeom>
                  <a:blipFill>
                    <a:blip r:embed="rId16"/>
                    <a:stretch>
                      <a:fillRect l="-102381" t="-23322" r="-166667"/>
                    </a:stretch>
                  </a:blipFill>
                </p:spPr>
                <p:txBody>
                  <a:bodyPr/>
                  <a:lstStyle/>
                  <a:p>
                    <a:r>
                      <a:rPr lang="zh-TW" altLang="en-US">
                        <a:noFill/>
                      </a:rPr>
                      <a:t> </a:t>
                    </a:r>
                  </a:p>
                </p:txBody>
              </p:sp>
            </mc:Fallback>
          </mc:AlternateContent>
          <p:sp>
            <p:nvSpPr>
              <p:cNvPr id="39" name="文字方塊 38">
                <a:extLst>
                  <a:ext uri="{FF2B5EF4-FFF2-40B4-BE49-F238E27FC236}">
                    <a16:creationId xmlns:a16="http://schemas.microsoft.com/office/drawing/2014/main" id="{6FEFB949-8C79-4170-A169-EF49AF40D4C6}"/>
                  </a:ext>
                </a:extLst>
              </p:cNvPr>
              <p:cNvSpPr txBox="1"/>
              <p:nvPr/>
            </p:nvSpPr>
            <p:spPr>
              <a:xfrm>
                <a:off x="7927916" y="81899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0" name="文字方塊 39">
                <a:extLst>
                  <a:ext uri="{FF2B5EF4-FFF2-40B4-BE49-F238E27FC236}">
                    <a16:creationId xmlns:a16="http://schemas.microsoft.com/office/drawing/2014/main" id="{743B2967-29F8-465B-B884-7228C5279B20}"/>
                  </a:ext>
                </a:extLst>
              </p:cNvPr>
              <p:cNvSpPr txBox="1"/>
              <p:nvPr/>
            </p:nvSpPr>
            <p:spPr>
              <a:xfrm>
                <a:off x="6952687" y="1590701"/>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1" name="文字方塊 40">
                <a:extLst>
                  <a:ext uri="{FF2B5EF4-FFF2-40B4-BE49-F238E27FC236}">
                    <a16:creationId xmlns:a16="http://schemas.microsoft.com/office/drawing/2014/main" id="{04FD0DA2-53F6-40AD-A52B-DDA949A6354B}"/>
                  </a:ext>
                </a:extLst>
              </p:cNvPr>
              <p:cNvSpPr txBox="1"/>
              <p:nvPr/>
            </p:nvSpPr>
            <p:spPr>
              <a:xfrm>
                <a:off x="7839757" y="265647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4" name="文字方塊 43">
                <a:extLst>
                  <a:ext uri="{FF2B5EF4-FFF2-40B4-BE49-F238E27FC236}">
                    <a16:creationId xmlns:a16="http://schemas.microsoft.com/office/drawing/2014/main" id="{7D1CD685-DE49-4892-B90B-9A309ED5300B}"/>
                  </a:ext>
                </a:extLst>
              </p:cNvPr>
              <p:cNvSpPr txBox="1"/>
              <p:nvPr/>
            </p:nvSpPr>
            <p:spPr>
              <a:xfrm>
                <a:off x="9757220" y="83881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5" name="文字方塊 44">
                <a:extLst>
                  <a:ext uri="{FF2B5EF4-FFF2-40B4-BE49-F238E27FC236}">
                    <a16:creationId xmlns:a16="http://schemas.microsoft.com/office/drawing/2014/main" id="{5F8EF116-F605-404F-A7E7-4CC8EFAD1CDA}"/>
                  </a:ext>
                </a:extLst>
              </p:cNvPr>
              <p:cNvSpPr txBox="1"/>
              <p:nvPr/>
            </p:nvSpPr>
            <p:spPr>
              <a:xfrm>
                <a:off x="9803023" y="262822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8" name="文字方塊 57">
                <a:extLst>
                  <a:ext uri="{FF2B5EF4-FFF2-40B4-BE49-F238E27FC236}">
                    <a16:creationId xmlns:a16="http://schemas.microsoft.com/office/drawing/2014/main" id="{ACA22AB4-DD5C-44F2-9B94-A855DA63B72F}"/>
                  </a:ext>
                </a:extLst>
              </p:cNvPr>
              <p:cNvSpPr txBox="1"/>
              <p:nvPr/>
            </p:nvSpPr>
            <p:spPr>
              <a:xfrm>
                <a:off x="8798075" y="185303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9" name="文字方塊 58">
                <a:extLst>
                  <a:ext uri="{FF2B5EF4-FFF2-40B4-BE49-F238E27FC236}">
                    <a16:creationId xmlns:a16="http://schemas.microsoft.com/office/drawing/2014/main" id="{06C8698D-9F77-4BB8-BE90-EEA0504474EC}"/>
                  </a:ext>
                </a:extLst>
              </p:cNvPr>
              <p:cNvSpPr txBox="1"/>
              <p:nvPr/>
            </p:nvSpPr>
            <p:spPr>
              <a:xfrm>
                <a:off x="8882307" y="158705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60" name="文字方塊 59">
                <a:extLst>
                  <a:ext uri="{FF2B5EF4-FFF2-40B4-BE49-F238E27FC236}">
                    <a16:creationId xmlns:a16="http://schemas.microsoft.com/office/drawing/2014/main" id="{663B200D-D195-4F6F-8D2E-3E58C9C0B9EF}"/>
                  </a:ext>
                </a:extLst>
              </p:cNvPr>
              <p:cNvSpPr txBox="1"/>
              <p:nvPr/>
            </p:nvSpPr>
            <p:spPr>
              <a:xfrm>
                <a:off x="10650614" y="189874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4FA5E863-69D9-4E94-9E8E-CB25CF9BA993}"/>
                  </a:ext>
                </a:extLst>
              </p:cNvPr>
              <p:cNvSpPr txBox="1"/>
              <p:nvPr/>
            </p:nvSpPr>
            <p:spPr>
              <a:xfrm>
                <a:off x="8156279" y="1471924"/>
                <a:ext cx="304534" cy="2834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3" name="文字方塊 52">
                <a:extLst>
                  <a:ext uri="{FF2B5EF4-FFF2-40B4-BE49-F238E27FC236}">
                    <a16:creationId xmlns:a16="http://schemas.microsoft.com/office/drawing/2014/main" id="{4FA5E863-69D9-4E94-9E8E-CB25CF9BA993}"/>
                  </a:ext>
                </a:extLst>
              </p:cNvPr>
              <p:cNvSpPr txBox="1">
                <a:spLocks noRot="1" noChangeAspect="1" noMove="1" noResize="1" noEditPoints="1" noAdjustHandles="1" noChangeArrowheads="1" noChangeShapeType="1" noTextEdit="1"/>
              </p:cNvSpPr>
              <p:nvPr/>
            </p:nvSpPr>
            <p:spPr>
              <a:xfrm>
                <a:off x="8156279" y="1471924"/>
                <a:ext cx="304534" cy="283412"/>
              </a:xfrm>
              <a:prstGeom prst="rect">
                <a:avLst/>
              </a:prstGeom>
              <a:blipFill>
                <a:blip r:embed="rId17"/>
                <a:stretch>
                  <a:fillRect b="-106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3466B6D5-E082-4974-BC7C-83DA50FBD643}"/>
                  </a:ext>
                </a:extLst>
              </p:cNvPr>
              <p:cNvSpPr txBox="1"/>
              <p:nvPr/>
            </p:nvSpPr>
            <p:spPr>
              <a:xfrm>
                <a:off x="8616141" y="1907778"/>
                <a:ext cx="304534" cy="2834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2" name="文字方塊 51">
                <a:extLst>
                  <a:ext uri="{FF2B5EF4-FFF2-40B4-BE49-F238E27FC236}">
                    <a16:creationId xmlns:a16="http://schemas.microsoft.com/office/drawing/2014/main" id="{3466B6D5-E082-4974-BC7C-83DA50FBD643}"/>
                  </a:ext>
                </a:extLst>
              </p:cNvPr>
              <p:cNvSpPr txBox="1">
                <a:spLocks noRot="1" noChangeAspect="1" noMove="1" noResize="1" noEditPoints="1" noAdjustHandles="1" noChangeArrowheads="1" noChangeShapeType="1" noTextEdit="1"/>
              </p:cNvSpPr>
              <p:nvPr/>
            </p:nvSpPr>
            <p:spPr>
              <a:xfrm>
                <a:off x="8616141" y="1907778"/>
                <a:ext cx="304534" cy="283412"/>
              </a:xfrm>
              <a:prstGeom prst="rect">
                <a:avLst/>
              </a:prstGeom>
              <a:blipFill>
                <a:blip r:embed="rId18"/>
                <a:stretch>
                  <a:fillRect b="-21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2D95AAF3-657B-4E85-A93E-232AFF17D1B9}"/>
                  </a:ext>
                </a:extLst>
              </p:cNvPr>
              <p:cNvSpPr txBox="1"/>
              <p:nvPr/>
            </p:nvSpPr>
            <p:spPr>
              <a:xfrm>
                <a:off x="9887766" y="1443408"/>
                <a:ext cx="304534" cy="2834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5" name="文字方塊 54">
                <a:extLst>
                  <a:ext uri="{FF2B5EF4-FFF2-40B4-BE49-F238E27FC236}">
                    <a16:creationId xmlns:a16="http://schemas.microsoft.com/office/drawing/2014/main" id="{2D95AAF3-657B-4E85-A93E-232AFF17D1B9}"/>
                  </a:ext>
                </a:extLst>
              </p:cNvPr>
              <p:cNvSpPr txBox="1">
                <a:spLocks noRot="1" noChangeAspect="1" noMove="1" noResize="1" noEditPoints="1" noAdjustHandles="1" noChangeArrowheads="1" noChangeShapeType="1" noTextEdit="1"/>
              </p:cNvSpPr>
              <p:nvPr/>
            </p:nvSpPr>
            <p:spPr>
              <a:xfrm>
                <a:off x="9887766" y="1443408"/>
                <a:ext cx="304534" cy="283412"/>
              </a:xfrm>
              <a:prstGeom prst="rect">
                <a:avLst/>
              </a:prstGeom>
              <a:blipFill>
                <a:blip r:embed="rId19"/>
                <a:stretch>
                  <a:fillRect b="-21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06575CDD-D32D-4C7A-A6D6-FC30A9C5669B}"/>
                  </a:ext>
                </a:extLst>
              </p:cNvPr>
              <p:cNvSpPr txBox="1"/>
              <p:nvPr/>
            </p:nvSpPr>
            <p:spPr>
              <a:xfrm>
                <a:off x="10313128" y="1923549"/>
                <a:ext cx="304534" cy="2834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4" name="文字方塊 53">
                <a:extLst>
                  <a:ext uri="{FF2B5EF4-FFF2-40B4-BE49-F238E27FC236}">
                    <a16:creationId xmlns:a16="http://schemas.microsoft.com/office/drawing/2014/main" id="{06575CDD-D32D-4C7A-A6D6-FC30A9C5669B}"/>
                  </a:ext>
                </a:extLst>
              </p:cNvPr>
              <p:cNvSpPr txBox="1">
                <a:spLocks noRot="1" noChangeAspect="1" noMove="1" noResize="1" noEditPoints="1" noAdjustHandles="1" noChangeArrowheads="1" noChangeShapeType="1" noTextEdit="1"/>
              </p:cNvSpPr>
              <p:nvPr/>
            </p:nvSpPr>
            <p:spPr>
              <a:xfrm>
                <a:off x="10313128" y="1923549"/>
                <a:ext cx="304534" cy="283412"/>
              </a:xfrm>
              <a:prstGeom prst="rect">
                <a:avLst/>
              </a:prstGeom>
              <a:blipFill>
                <a:blip r:embed="rId18"/>
                <a:stretch>
                  <a:fillRect b="-2174"/>
                </a:stretch>
              </a:blipFill>
            </p:spPr>
            <p:txBody>
              <a:bodyPr/>
              <a:lstStyle/>
              <a:p>
                <a:r>
                  <a:rPr lang="zh-TW" altLang="en-US">
                    <a:noFill/>
                  </a:rPr>
                  <a:t> </a:t>
                </a:r>
              </a:p>
            </p:txBody>
          </p:sp>
        </mc:Fallback>
      </mc:AlternateContent>
      <p:sp>
        <p:nvSpPr>
          <p:cNvPr id="15" name="矩形 14">
            <a:extLst>
              <a:ext uri="{FF2B5EF4-FFF2-40B4-BE49-F238E27FC236}">
                <a16:creationId xmlns:a16="http://schemas.microsoft.com/office/drawing/2014/main" id="{7140F9FF-18DA-48B7-8C65-D638467A7012}"/>
              </a:ext>
            </a:extLst>
          </p:cNvPr>
          <p:cNvSpPr/>
          <p:nvPr/>
        </p:nvSpPr>
        <p:spPr>
          <a:xfrm>
            <a:off x="10887603" y="1809416"/>
            <a:ext cx="186139" cy="20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9582556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51683" y="525777"/>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136130" y="85709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5CE909AB-7F0B-4394-A735-F542BEB3695B}"/>
              </a:ext>
            </a:extLst>
          </p:cNvPr>
          <p:cNvSpPr txBox="1"/>
          <p:nvPr/>
        </p:nvSpPr>
        <p:spPr>
          <a:xfrm>
            <a:off x="103410" y="975445"/>
            <a:ext cx="6096410" cy="2308324"/>
          </a:xfrm>
          <a:prstGeom prst="rect">
            <a:avLst/>
          </a:prstGeom>
          <a:noFill/>
        </p:spPr>
        <p:txBody>
          <a:bodyPr wrap="square">
            <a:spAutoFit/>
          </a:bodyPr>
          <a:lstStyle/>
          <a:p>
            <a:pPr marL="285750" indent="-285750">
              <a:buFont typeface="Arial" panose="020B0604020202020204" pitchFamily="34" charset="0"/>
              <a:buChar char="•"/>
            </a:pPr>
            <a:r>
              <a:rPr lang="zh-TW" altLang="en-US" dirty="0"/>
              <a:t>Zhi-Peng reaches only 0.62× the isotropy of Long Fei (0.544 vs 0.884). Long Fei's high-κ region is concentric about the origin, whereas Zhi-Peng's is offset, split into two diagonal lobes, and decays faster with radius.</a:t>
            </a:r>
            <a:r>
              <a:rPr lang="en-US" altLang="zh-TW" dirty="0"/>
              <a:t> the gain is bought at the cost of isotropy. More importantly, </a:t>
            </a:r>
            <a:r>
              <a:rPr lang="en-US" altLang="zh-TW" dirty="0" err="1"/>
              <a:t>Zhi</a:t>
            </a:r>
            <a:r>
              <a:rPr lang="en-US" altLang="zh-TW" dirty="0"/>
              <a:t>-Peng's best-isotropy point is not the origin — Long Fei gives the most balanced three-axis control simply by staying at the </a:t>
            </a:r>
            <a:r>
              <a:rPr lang="en-US" altLang="zh-TW" dirty="0" err="1"/>
              <a:t>centre</a:t>
            </a:r>
            <a:r>
              <a:rPr lang="en-US" altLang="zh-TW" dirty="0"/>
              <a:t>, whereas </a:t>
            </a:r>
            <a:r>
              <a:rPr lang="en-US" altLang="zh-TW" dirty="0" err="1"/>
              <a:t>Zhi</a:t>
            </a:r>
            <a:r>
              <a:rPr lang="en-US" altLang="zh-TW" dirty="0"/>
              <a:t>-Peng offers no such sweet spot.</a:t>
            </a:r>
            <a:endParaRPr lang="zh-TW" altLang="en-US" dirty="0"/>
          </a:p>
        </p:txBody>
      </p:sp>
      <p:grpSp>
        <p:nvGrpSpPr>
          <p:cNvPr id="30" name="群組 29">
            <a:extLst>
              <a:ext uri="{FF2B5EF4-FFF2-40B4-BE49-F238E27FC236}">
                <a16:creationId xmlns:a16="http://schemas.microsoft.com/office/drawing/2014/main" id="{94941D83-44BA-4F60-9F48-81F0F57A8353}"/>
              </a:ext>
            </a:extLst>
          </p:cNvPr>
          <p:cNvGrpSpPr/>
          <p:nvPr/>
        </p:nvGrpSpPr>
        <p:grpSpPr>
          <a:xfrm>
            <a:off x="6723479" y="797676"/>
            <a:ext cx="5003721" cy="2191022"/>
            <a:chOff x="6723479" y="797676"/>
            <a:chExt cx="5003721" cy="2191022"/>
          </a:xfrm>
        </p:grpSpPr>
        <p:pic>
          <p:nvPicPr>
            <p:cNvPr id="27" name="圖片 26">
              <a:extLst>
                <a:ext uri="{FF2B5EF4-FFF2-40B4-BE49-F238E27FC236}">
                  <a16:creationId xmlns:a16="http://schemas.microsoft.com/office/drawing/2014/main" id="{00E190EB-3E08-4399-813F-F99EB34676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8666" y="943595"/>
              <a:ext cx="4321150" cy="1909900"/>
            </a:xfrm>
            <a:prstGeom prst="rect">
              <a:avLst/>
            </a:prstGeom>
          </p:spPr>
        </p:pic>
        <p:grpSp>
          <p:nvGrpSpPr>
            <p:cNvPr id="9" name="群組 8">
              <a:extLst>
                <a:ext uri="{FF2B5EF4-FFF2-40B4-BE49-F238E27FC236}">
                  <a16:creationId xmlns:a16="http://schemas.microsoft.com/office/drawing/2014/main" id="{E0A4D1A0-7FA6-495C-B437-6876730F0155}"/>
                </a:ext>
              </a:extLst>
            </p:cNvPr>
            <p:cNvGrpSpPr/>
            <p:nvPr/>
          </p:nvGrpSpPr>
          <p:grpSpPr>
            <a:xfrm>
              <a:off x="6723479" y="797676"/>
              <a:ext cx="5003721" cy="2191022"/>
              <a:chOff x="6723479" y="797676"/>
              <a:chExt cx="5003721" cy="2191022"/>
            </a:xfrm>
          </p:grpSpPr>
          <p:grpSp>
            <p:nvGrpSpPr>
              <p:cNvPr id="7" name="群組 6">
                <a:extLst>
                  <a:ext uri="{FF2B5EF4-FFF2-40B4-BE49-F238E27FC236}">
                    <a16:creationId xmlns:a16="http://schemas.microsoft.com/office/drawing/2014/main" id="{69355053-8531-4B1F-BFAA-AB8A92D0B7EF}"/>
                  </a:ext>
                </a:extLst>
              </p:cNvPr>
              <p:cNvGrpSpPr/>
              <p:nvPr/>
            </p:nvGrpSpPr>
            <p:grpSpPr>
              <a:xfrm>
                <a:off x="6723479" y="797676"/>
                <a:ext cx="4998308" cy="2093672"/>
                <a:chOff x="6723479" y="797676"/>
                <a:chExt cx="4998308" cy="2093672"/>
              </a:xfrm>
            </p:grpSpPr>
            <p:sp>
              <p:nvSpPr>
                <p:cNvPr id="3" name="矩形 2">
                  <a:extLst>
                    <a:ext uri="{FF2B5EF4-FFF2-40B4-BE49-F238E27FC236}">
                      <a16:creationId xmlns:a16="http://schemas.microsoft.com/office/drawing/2014/main" id="{066663A0-2A15-4D43-A779-45D3A4D46AEC}"/>
                    </a:ext>
                  </a:extLst>
                </p:cNvPr>
                <p:cNvSpPr/>
                <p:nvPr/>
              </p:nvSpPr>
              <p:spPr>
                <a:xfrm>
                  <a:off x="7704667" y="797676"/>
                  <a:ext cx="304800" cy="1777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DA1EE470-B38E-431A-BBF5-EB11EA15FCDA}"/>
                    </a:ext>
                  </a:extLst>
                </p:cNvPr>
                <p:cNvSpPr/>
                <p:nvPr/>
              </p:nvSpPr>
              <p:spPr>
                <a:xfrm>
                  <a:off x="8992796" y="1814501"/>
                  <a:ext cx="420647"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矩形 14">
                  <a:extLst>
                    <a:ext uri="{FF2B5EF4-FFF2-40B4-BE49-F238E27FC236}">
                      <a16:creationId xmlns:a16="http://schemas.microsoft.com/office/drawing/2014/main" id="{79BB90AF-E6FA-436F-A46A-20A62593B5EF}"/>
                    </a:ext>
                  </a:extLst>
                </p:cNvPr>
                <p:cNvSpPr/>
                <p:nvPr/>
              </p:nvSpPr>
              <p:spPr>
                <a:xfrm>
                  <a:off x="8053214" y="2701061"/>
                  <a:ext cx="436709" cy="190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B807006A-EF85-4562-98C2-1789A732EE34}"/>
                    </a:ext>
                  </a:extLst>
                </p:cNvPr>
                <p:cNvSpPr/>
                <p:nvPr/>
              </p:nvSpPr>
              <p:spPr>
                <a:xfrm>
                  <a:off x="6723479" y="1814501"/>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28576603-9475-47D3-AF98-C00BDEC45B96}"/>
                    </a:ext>
                  </a:extLst>
                </p:cNvPr>
                <p:cNvSpPr/>
                <p:nvPr/>
              </p:nvSpPr>
              <p:spPr>
                <a:xfrm>
                  <a:off x="10010369" y="905580"/>
                  <a:ext cx="436709"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A54048D2-C0DE-4C4F-9F1E-0693E33DFFB9}"/>
                    </a:ext>
                  </a:extLst>
                </p:cNvPr>
                <p:cNvSpPr/>
                <p:nvPr/>
              </p:nvSpPr>
              <p:spPr>
                <a:xfrm>
                  <a:off x="9986760" y="2701061"/>
                  <a:ext cx="436709"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id="{FFB2CBE2-454E-49C7-9237-73C780844D5C}"/>
                    </a:ext>
                  </a:extLst>
                </p:cNvPr>
                <p:cNvSpPr/>
                <p:nvPr/>
              </p:nvSpPr>
              <p:spPr>
                <a:xfrm>
                  <a:off x="10985455" y="1728448"/>
                  <a:ext cx="218555" cy="3415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a:extLst>
                    <a:ext uri="{FF2B5EF4-FFF2-40B4-BE49-F238E27FC236}">
                      <a16:creationId xmlns:a16="http://schemas.microsoft.com/office/drawing/2014/main" id="{91DA95A0-9053-4284-BB4B-6C2D36EDF2D9}"/>
                    </a:ext>
                  </a:extLst>
                </p:cNvPr>
                <p:cNvSpPr/>
                <p:nvPr/>
              </p:nvSpPr>
              <p:spPr>
                <a:xfrm>
                  <a:off x="11503231" y="1683507"/>
                  <a:ext cx="218556" cy="4206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F2B53346-329C-4222-BD3D-25F664BF71DB}"/>
                      </a:ext>
                    </a:extLst>
                  </p:cNvPr>
                  <p:cNvSpPr txBox="1"/>
                  <p:nvPr/>
                </p:nvSpPr>
                <p:spPr>
                  <a:xfrm rot="16200000">
                    <a:off x="11033194" y="1722685"/>
                    <a:ext cx="1049457"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Isotropy</m:t>
                          </m:r>
                        </m:oMath>
                      </m:oMathPara>
                    </a14:m>
                    <a:endParaRPr lang="zh-TW" altLang="en-US" sz="1600" dirty="0"/>
                  </a:p>
                </p:txBody>
              </p:sp>
            </mc:Choice>
            <mc:Fallback xmlns="">
              <p:sp>
                <p:nvSpPr>
                  <p:cNvPr id="33" name="文字方塊 32">
                    <a:extLst>
                      <a:ext uri="{FF2B5EF4-FFF2-40B4-BE49-F238E27FC236}">
                        <a16:creationId xmlns:a16="http://schemas.microsoft.com/office/drawing/2014/main" id="{F2B53346-329C-4222-BD3D-25F664BF71DB}"/>
                      </a:ext>
                    </a:extLst>
                  </p:cNvPr>
                  <p:cNvSpPr txBox="1">
                    <a:spLocks noRot="1" noChangeAspect="1" noMove="1" noResize="1" noEditPoints="1" noAdjustHandles="1" noChangeArrowheads="1" noChangeShapeType="1" noTextEdit="1"/>
                  </p:cNvSpPr>
                  <p:nvPr/>
                </p:nvSpPr>
                <p:spPr>
                  <a:xfrm rot="16200000">
                    <a:off x="11033194" y="1722685"/>
                    <a:ext cx="1049457" cy="338554"/>
                  </a:xfrm>
                  <a:prstGeom prst="rect">
                    <a:avLst/>
                  </a:prstGeom>
                  <a:blipFill>
                    <a:blip r:embed="rId3"/>
                    <a:stretch>
                      <a:fillRect r="-8929"/>
                    </a:stretch>
                  </a:blipFill>
                </p:spPr>
                <p:txBody>
                  <a:bodyPr/>
                  <a:lstStyle/>
                  <a:p>
                    <a:r>
                      <a:rPr lang="zh-TW" altLang="en-US">
                        <a:noFill/>
                      </a:rPr>
                      <a:t> </a:t>
                    </a:r>
                  </a:p>
                </p:txBody>
              </p:sp>
            </mc:Fallback>
          </mc:AlternateContent>
          <p:sp>
            <p:nvSpPr>
              <p:cNvPr id="37" name="文字方塊 36">
                <a:extLst>
                  <a:ext uri="{FF2B5EF4-FFF2-40B4-BE49-F238E27FC236}">
                    <a16:creationId xmlns:a16="http://schemas.microsoft.com/office/drawing/2014/main" id="{C6DD08B8-1F70-4D6A-B6EB-01194B3B2274}"/>
                  </a:ext>
                </a:extLst>
              </p:cNvPr>
              <p:cNvSpPr txBox="1"/>
              <p:nvPr/>
            </p:nvSpPr>
            <p:spPr>
              <a:xfrm>
                <a:off x="7126667" y="157455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8" name="文字方塊 37">
                <a:extLst>
                  <a:ext uri="{FF2B5EF4-FFF2-40B4-BE49-F238E27FC236}">
                    <a16:creationId xmlns:a16="http://schemas.microsoft.com/office/drawing/2014/main" id="{D60510BD-6D91-4688-AA6E-6524AE41DD60}"/>
                  </a:ext>
                </a:extLst>
              </p:cNvPr>
              <p:cNvSpPr txBox="1"/>
              <p:nvPr/>
            </p:nvSpPr>
            <p:spPr>
              <a:xfrm>
                <a:off x="8103804" y="266816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9" name="文字方塊 38">
                <a:extLst>
                  <a:ext uri="{FF2B5EF4-FFF2-40B4-BE49-F238E27FC236}">
                    <a16:creationId xmlns:a16="http://schemas.microsoft.com/office/drawing/2014/main" id="{47191FA6-66B4-4CB7-95ED-5A806F8C41FD}"/>
                  </a:ext>
                </a:extLst>
              </p:cNvPr>
              <p:cNvSpPr txBox="1"/>
              <p:nvPr/>
            </p:nvSpPr>
            <p:spPr>
              <a:xfrm>
                <a:off x="10025905" y="81935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0" name="文字方塊 39">
                <a:extLst>
                  <a:ext uri="{FF2B5EF4-FFF2-40B4-BE49-F238E27FC236}">
                    <a16:creationId xmlns:a16="http://schemas.microsoft.com/office/drawing/2014/main" id="{23C388AF-48D0-4F28-9422-5BAB6D9C6650}"/>
                  </a:ext>
                </a:extLst>
              </p:cNvPr>
              <p:cNvSpPr txBox="1"/>
              <p:nvPr/>
            </p:nvSpPr>
            <p:spPr>
              <a:xfrm>
                <a:off x="9951706" y="2680921"/>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1" name="文字方塊 40">
                <a:extLst>
                  <a:ext uri="{FF2B5EF4-FFF2-40B4-BE49-F238E27FC236}">
                    <a16:creationId xmlns:a16="http://schemas.microsoft.com/office/drawing/2014/main" id="{32C205D9-3D4F-4577-BC5D-3EC2B2B28E7D}"/>
                  </a:ext>
                </a:extLst>
              </p:cNvPr>
              <p:cNvSpPr txBox="1"/>
              <p:nvPr/>
            </p:nvSpPr>
            <p:spPr>
              <a:xfrm>
                <a:off x="8938057" y="186684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2" name="文字方塊 41">
                <a:extLst>
                  <a:ext uri="{FF2B5EF4-FFF2-40B4-BE49-F238E27FC236}">
                    <a16:creationId xmlns:a16="http://schemas.microsoft.com/office/drawing/2014/main" id="{ACEAA104-E9B9-4896-AF25-12B7240B7E87}"/>
                  </a:ext>
                </a:extLst>
              </p:cNvPr>
              <p:cNvSpPr txBox="1"/>
              <p:nvPr/>
            </p:nvSpPr>
            <p:spPr>
              <a:xfrm>
                <a:off x="9102091" y="162815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3" name="文字方塊 42">
                <a:extLst>
                  <a:ext uri="{FF2B5EF4-FFF2-40B4-BE49-F238E27FC236}">
                    <a16:creationId xmlns:a16="http://schemas.microsoft.com/office/drawing/2014/main" id="{4463D846-11D2-4909-AC2A-DC12DE06EC64}"/>
                  </a:ext>
                </a:extLst>
              </p:cNvPr>
              <p:cNvSpPr txBox="1"/>
              <p:nvPr/>
            </p:nvSpPr>
            <p:spPr>
              <a:xfrm>
                <a:off x="10897423" y="182183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4543C79D-C8D4-4070-B22B-57B5E22FB84D}"/>
                      </a:ext>
                    </a:extLst>
                  </p:cNvPr>
                  <p:cNvSpPr txBox="1"/>
                  <p:nvPr/>
                </p:nvSpPr>
                <p:spPr>
                  <a:xfrm>
                    <a:off x="8398034" y="1872377"/>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4" name="文字方塊 43">
                    <a:extLst>
                      <a:ext uri="{FF2B5EF4-FFF2-40B4-BE49-F238E27FC236}">
                        <a16:creationId xmlns:a16="http://schemas.microsoft.com/office/drawing/2014/main" id="{4543C79D-C8D4-4070-B22B-57B5E22FB84D}"/>
                      </a:ext>
                    </a:extLst>
                  </p:cNvPr>
                  <p:cNvSpPr txBox="1">
                    <a:spLocks noRot="1" noChangeAspect="1" noMove="1" noResize="1" noEditPoints="1" noAdjustHandles="1" noChangeArrowheads="1" noChangeShapeType="1" noTextEdit="1"/>
                  </p:cNvSpPr>
                  <p:nvPr/>
                </p:nvSpPr>
                <p:spPr>
                  <a:xfrm>
                    <a:off x="8398034" y="1872377"/>
                    <a:ext cx="332369" cy="30777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9CD170C5-141E-4CBF-852E-6A45291E4F7A}"/>
                      </a:ext>
                    </a:extLst>
                  </p:cNvPr>
                  <p:cNvSpPr txBox="1"/>
                  <p:nvPr/>
                </p:nvSpPr>
                <p:spPr>
                  <a:xfrm>
                    <a:off x="7843282" y="128670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8" name="文字方塊 47">
                    <a:extLst>
                      <a:ext uri="{FF2B5EF4-FFF2-40B4-BE49-F238E27FC236}">
                        <a16:creationId xmlns:a16="http://schemas.microsoft.com/office/drawing/2014/main" id="{9CD170C5-141E-4CBF-852E-6A45291E4F7A}"/>
                      </a:ext>
                    </a:extLst>
                  </p:cNvPr>
                  <p:cNvSpPr txBox="1">
                    <a:spLocks noRot="1" noChangeAspect="1" noMove="1" noResize="1" noEditPoints="1" noAdjustHandles="1" noChangeArrowheads="1" noChangeShapeType="1" noTextEdit="1"/>
                  </p:cNvSpPr>
                  <p:nvPr/>
                </p:nvSpPr>
                <p:spPr>
                  <a:xfrm>
                    <a:off x="7843282" y="1286705"/>
                    <a:ext cx="332369" cy="307777"/>
                  </a:xfrm>
                  <a:prstGeom prst="rect">
                    <a:avLst/>
                  </a:prstGeom>
                  <a:blipFill>
                    <a:blip r:embed="rId5"/>
                    <a:stretch>
                      <a:fillRect b="-19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97526D06-CC63-4E20-BEDC-AE749A143D8A}"/>
                      </a:ext>
                    </a:extLst>
                  </p:cNvPr>
                  <p:cNvSpPr txBox="1"/>
                  <p:nvPr/>
                </p:nvSpPr>
                <p:spPr>
                  <a:xfrm>
                    <a:off x="10380419" y="184973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9" name="文字方塊 48">
                    <a:extLst>
                      <a:ext uri="{FF2B5EF4-FFF2-40B4-BE49-F238E27FC236}">
                        <a16:creationId xmlns:a16="http://schemas.microsoft.com/office/drawing/2014/main" id="{97526D06-CC63-4E20-BEDC-AE749A143D8A}"/>
                      </a:ext>
                    </a:extLst>
                  </p:cNvPr>
                  <p:cNvSpPr txBox="1">
                    <a:spLocks noRot="1" noChangeAspect="1" noMove="1" noResize="1" noEditPoints="1" noAdjustHandles="1" noChangeArrowheads="1" noChangeShapeType="1" noTextEdit="1"/>
                  </p:cNvSpPr>
                  <p:nvPr/>
                </p:nvSpPr>
                <p:spPr>
                  <a:xfrm>
                    <a:off x="10380419" y="1849739"/>
                    <a:ext cx="332369" cy="30777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E586B4D8-B9B1-456E-9FA7-CFC535F32B8D}"/>
                      </a:ext>
                    </a:extLst>
                  </p:cNvPr>
                  <p:cNvSpPr txBox="1"/>
                  <p:nvPr/>
                </p:nvSpPr>
                <p:spPr>
                  <a:xfrm>
                    <a:off x="9902434" y="126347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0" name="文字方塊 49">
                    <a:extLst>
                      <a:ext uri="{FF2B5EF4-FFF2-40B4-BE49-F238E27FC236}">
                        <a16:creationId xmlns:a16="http://schemas.microsoft.com/office/drawing/2014/main" id="{E586B4D8-B9B1-456E-9FA7-CFC535F32B8D}"/>
                      </a:ext>
                    </a:extLst>
                  </p:cNvPr>
                  <p:cNvSpPr txBox="1">
                    <a:spLocks noRot="1" noChangeAspect="1" noMove="1" noResize="1" noEditPoints="1" noAdjustHandles="1" noChangeArrowheads="1" noChangeShapeType="1" noTextEdit="1"/>
                  </p:cNvSpPr>
                  <p:nvPr/>
                </p:nvSpPr>
                <p:spPr>
                  <a:xfrm>
                    <a:off x="9902434" y="1263475"/>
                    <a:ext cx="332369" cy="307777"/>
                  </a:xfrm>
                  <a:prstGeom prst="rect">
                    <a:avLst/>
                  </a:prstGeom>
                  <a:blipFill>
                    <a:blip r:embed="rId6"/>
                    <a:stretch>
                      <a:fillRect/>
                    </a:stretch>
                  </a:blipFill>
                </p:spPr>
                <p:txBody>
                  <a:bodyPr/>
                  <a:lstStyle/>
                  <a:p>
                    <a:r>
                      <a:rPr lang="zh-TW" altLang="en-US">
                        <a:noFill/>
                      </a:rPr>
                      <a:t> </a:t>
                    </a:r>
                  </a:p>
                </p:txBody>
              </p:sp>
            </mc:Fallback>
          </mc:AlternateContent>
          <p:sp>
            <p:nvSpPr>
              <p:cNvPr id="36" name="文字方塊 35">
                <a:extLst>
                  <a:ext uri="{FF2B5EF4-FFF2-40B4-BE49-F238E27FC236}">
                    <a16:creationId xmlns:a16="http://schemas.microsoft.com/office/drawing/2014/main" id="{46D7EB7F-B437-4C1E-8C67-E972B568E642}"/>
                  </a:ext>
                </a:extLst>
              </p:cNvPr>
              <p:cNvSpPr txBox="1"/>
              <p:nvPr/>
            </p:nvSpPr>
            <p:spPr>
              <a:xfrm>
                <a:off x="8034820" y="86520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grpSp>
      <p:grpSp>
        <p:nvGrpSpPr>
          <p:cNvPr id="31" name="群組 30">
            <a:extLst>
              <a:ext uri="{FF2B5EF4-FFF2-40B4-BE49-F238E27FC236}">
                <a16:creationId xmlns:a16="http://schemas.microsoft.com/office/drawing/2014/main" id="{00DD4D76-94C7-43B3-BD5A-7416B9FCBEE2}"/>
              </a:ext>
            </a:extLst>
          </p:cNvPr>
          <p:cNvGrpSpPr/>
          <p:nvPr/>
        </p:nvGrpSpPr>
        <p:grpSpPr>
          <a:xfrm>
            <a:off x="7773738" y="3337112"/>
            <a:ext cx="3010687" cy="2346299"/>
            <a:chOff x="7773738" y="3337112"/>
            <a:chExt cx="3010687" cy="2346299"/>
          </a:xfrm>
        </p:grpSpPr>
        <p:pic>
          <p:nvPicPr>
            <p:cNvPr id="5" name="圖片 4">
              <a:extLst>
                <a:ext uri="{FF2B5EF4-FFF2-40B4-BE49-F238E27FC236}">
                  <a16:creationId xmlns:a16="http://schemas.microsoft.com/office/drawing/2014/main" id="{80B2F8DF-1196-41EE-AB30-C2989B6142A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71064" y="3440114"/>
              <a:ext cx="2650440" cy="2143738"/>
            </a:xfrm>
            <a:prstGeom prst="rect">
              <a:avLst/>
            </a:prstGeom>
          </p:spPr>
        </p:pic>
        <p:grpSp>
          <p:nvGrpSpPr>
            <p:cNvPr id="11" name="群組 10">
              <a:extLst>
                <a:ext uri="{FF2B5EF4-FFF2-40B4-BE49-F238E27FC236}">
                  <a16:creationId xmlns:a16="http://schemas.microsoft.com/office/drawing/2014/main" id="{FC25E01C-03E8-4714-B671-9402B31C7C8D}"/>
                </a:ext>
              </a:extLst>
            </p:cNvPr>
            <p:cNvGrpSpPr/>
            <p:nvPr/>
          </p:nvGrpSpPr>
          <p:grpSpPr>
            <a:xfrm>
              <a:off x="7773738" y="3337112"/>
              <a:ext cx="3010687" cy="2346299"/>
              <a:chOff x="7773738" y="3337112"/>
              <a:chExt cx="3010687" cy="2346299"/>
            </a:xfrm>
          </p:grpSpPr>
          <p:grpSp>
            <p:nvGrpSpPr>
              <p:cNvPr id="10" name="群組 9">
                <a:extLst>
                  <a:ext uri="{FF2B5EF4-FFF2-40B4-BE49-F238E27FC236}">
                    <a16:creationId xmlns:a16="http://schemas.microsoft.com/office/drawing/2014/main" id="{5882E288-83CB-4429-9376-16291456A531}"/>
                  </a:ext>
                </a:extLst>
              </p:cNvPr>
              <p:cNvGrpSpPr/>
              <p:nvPr/>
            </p:nvGrpSpPr>
            <p:grpSpPr>
              <a:xfrm>
                <a:off x="7949210" y="3440846"/>
                <a:ext cx="2835215" cy="2178723"/>
                <a:chOff x="7949210" y="3440846"/>
                <a:chExt cx="2835215" cy="2178723"/>
              </a:xfrm>
            </p:grpSpPr>
            <p:sp>
              <p:nvSpPr>
                <p:cNvPr id="22" name="矩形 21">
                  <a:extLst>
                    <a:ext uri="{FF2B5EF4-FFF2-40B4-BE49-F238E27FC236}">
                      <a16:creationId xmlns:a16="http://schemas.microsoft.com/office/drawing/2014/main" id="{B0183DDC-6CF5-43DD-A985-8AACBD43AC2C}"/>
                    </a:ext>
                  </a:extLst>
                </p:cNvPr>
                <p:cNvSpPr/>
                <p:nvPr/>
              </p:nvSpPr>
              <p:spPr>
                <a:xfrm>
                  <a:off x="8967777" y="3440846"/>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矩形 22">
                  <a:extLst>
                    <a:ext uri="{FF2B5EF4-FFF2-40B4-BE49-F238E27FC236}">
                      <a16:creationId xmlns:a16="http://schemas.microsoft.com/office/drawing/2014/main" id="{DCC76607-AC9C-44A9-927A-CBCCDEFF1E7E}"/>
                    </a:ext>
                  </a:extLst>
                </p:cNvPr>
                <p:cNvSpPr/>
                <p:nvPr/>
              </p:nvSpPr>
              <p:spPr>
                <a:xfrm>
                  <a:off x="7949210" y="4432986"/>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a:extLst>
                    <a:ext uri="{FF2B5EF4-FFF2-40B4-BE49-F238E27FC236}">
                      <a16:creationId xmlns:a16="http://schemas.microsoft.com/office/drawing/2014/main" id="{FE682C27-A024-41A5-B374-05289C829835}"/>
                    </a:ext>
                  </a:extLst>
                </p:cNvPr>
                <p:cNvSpPr/>
                <p:nvPr/>
              </p:nvSpPr>
              <p:spPr>
                <a:xfrm>
                  <a:off x="8958928" y="5439477"/>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id="{D812B3E4-3553-410A-8F8F-BF0230CBA0B0}"/>
                    </a:ext>
                  </a:extLst>
                </p:cNvPr>
                <p:cNvSpPr/>
                <p:nvPr/>
              </p:nvSpPr>
              <p:spPr>
                <a:xfrm>
                  <a:off x="9959342" y="4421934"/>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extLst>
                    <a:ext uri="{FF2B5EF4-FFF2-40B4-BE49-F238E27FC236}">
                      <a16:creationId xmlns:a16="http://schemas.microsoft.com/office/drawing/2014/main" id="{F98E43F1-8F14-47C9-A4BB-94768E7FEABE}"/>
                    </a:ext>
                  </a:extLst>
                </p:cNvPr>
                <p:cNvSpPr/>
                <p:nvPr/>
              </p:nvSpPr>
              <p:spPr>
                <a:xfrm>
                  <a:off x="10565871" y="4436284"/>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51" name="文字方塊 50">
                <a:extLst>
                  <a:ext uri="{FF2B5EF4-FFF2-40B4-BE49-F238E27FC236}">
                    <a16:creationId xmlns:a16="http://schemas.microsoft.com/office/drawing/2014/main" id="{E8199158-1BBA-48A4-9C66-85A151EC58AE}"/>
                  </a:ext>
                </a:extLst>
              </p:cNvPr>
              <p:cNvSpPr txBox="1"/>
              <p:nvPr/>
            </p:nvSpPr>
            <p:spPr>
              <a:xfrm>
                <a:off x="7773738" y="420420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2" name="文字方塊 51">
                <a:extLst>
                  <a:ext uri="{FF2B5EF4-FFF2-40B4-BE49-F238E27FC236}">
                    <a16:creationId xmlns:a16="http://schemas.microsoft.com/office/drawing/2014/main" id="{A54BBE8C-0244-4691-BA06-BD15DBED9F7D}"/>
                  </a:ext>
                </a:extLst>
              </p:cNvPr>
              <p:cNvSpPr txBox="1"/>
              <p:nvPr/>
            </p:nvSpPr>
            <p:spPr>
              <a:xfrm>
                <a:off x="8854019" y="333711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3" name="文字方塊 52">
                <a:extLst>
                  <a:ext uri="{FF2B5EF4-FFF2-40B4-BE49-F238E27FC236}">
                    <a16:creationId xmlns:a16="http://schemas.microsoft.com/office/drawing/2014/main" id="{437E939A-A4E2-4DE4-A25F-FE73D7B4D09B}"/>
                  </a:ext>
                </a:extLst>
              </p:cNvPr>
              <p:cNvSpPr txBox="1"/>
              <p:nvPr/>
            </p:nvSpPr>
            <p:spPr>
              <a:xfrm>
                <a:off x="8875111" y="537563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4" name="文字方塊 53">
                <a:extLst>
                  <a:ext uri="{FF2B5EF4-FFF2-40B4-BE49-F238E27FC236}">
                    <a16:creationId xmlns:a16="http://schemas.microsoft.com/office/drawing/2014/main" id="{AB124178-F659-4087-B362-F501C53AC314}"/>
                  </a:ext>
                </a:extLst>
              </p:cNvPr>
              <p:cNvSpPr txBox="1"/>
              <p:nvPr/>
            </p:nvSpPr>
            <p:spPr>
              <a:xfrm>
                <a:off x="9882734" y="447748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E0593648-6206-4AA7-8668-795C2DF122C3}"/>
                      </a:ext>
                    </a:extLst>
                  </p:cNvPr>
                  <p:cNvSpPr txBox="1"/>
                  <p:nvPr/>
                </p:nvSpPr>
                <p:spPr>
                  <a:xfrm>
                    <a:off x="9275192" y="4490514"/>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5" name="文字方塊 54">
                    <a:extLst>
                      <a:ext uri="{FF2B5EF4-FFF2-40B4-BE49-F238E27FC236}">
                        <a16:creationId xmlns:a16="http://schemas.microsoft.com/office/drawing/2014/main" id="{E0593648-6206-4AA7-8668-795C2DF122C3}"/>
                      </a:ext>
                    </a:extLst>
                  </p:cNvPr>
                  <p:cNvSpPr txBox="1">
                    <a:spLocks noRot="1" noChangeAspect="1" noMove="1" noResize="1" noEditPoints="1" noAdjustHandles="1" noChangeArrowheads="1" noChangeShapeType="1" noTextEdit="1"/>
                  </p:cNvSpPr>
                  <p:nvPr/>
                </p:nvSpPr>
                <p:spPr>
                  <a:xfrm>
                    <a:off x="9275192" y="4490514"/>
                    <a:ext cx="332369" cy="307777"/>
                  </a:xfrm>
                  <a:prstGeom prst="rect">
                    <a:avLst/>
                  </a:prstGeom>
                  <a:blipFill>
                    <a:blip r:embed="rId9"/>
                    <a:stretch>
                      <a:fillRect b="-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2CBEC5B6-53B3-4B1C-8C10-12503C16B8D1}"/>
                      </a:ext>
                    </a:extLst>
                  </p:cNvPr>
                  <p:cNvSpPr txBox="1"/>
                  <p:nvPr/>
                </p:nvSpPr>
                <p:spPr>
                  <a:xfrm>
                    <a:off x="8769722" y="3913037"/>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6" name="文字方塊 55">
                    <a:extLst>
                      <a:ext uri="{FF2B5EF4-FFF2-40B4-BE49-F238E27FC236}">
                        <a16:creationId xmlns:a16="http://schemas.microsoft.com/office/drawing/2014/main" id="{2CBEC5B6-53B3-4B1C-8C10-12503C16B8D1}"/>
                      </a:ext>
                    </a:extLst>
                  </p:cNvPr>
                  <p:cNvSpPr txBox="1">
                    <a:spLocks noRot="1" noChangeAspect="1" noMove="1" noResize="1" noEditPoints="1" noAdjustHandles="1" noChangeArrowheads="1" noChangeShapeType="1" noTextEdit="1"/>
                  </p:cNvSpPr>
                  <p:nvPr/>
                </p:nvSpPr>
                <p:spPr>
                  <a:xfrm>
                    <a:off x="8769722" y="3913037"/>
                    <a:ext cx="332369" cy="307777"/>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D17A7547-B19D-4CA8-815A-4C78A6BCDC7C}"/>
                      </a:ext>
                    </a:extLst>
                  </p:cNvPr>
                  <p:cNvSpPr txBox="1"/>
                  <p:nvPr/>
                </p:nvSpPr>
                <p:spPr>
                  <a:xfrm rot="16200000">
                    <a:off x="10037507" y="4239336"/>
                    <a:ext cx="1049457"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Isotropy</m:t>
                          </m:r>
                        </m:oMath>
                      </m:oMathPara>
                    </a14:m>
                    <a:endParaRPr lang="zh-TW" altLang="en-US" sz="1600" dirty="0"/>
                  </a:p>
                </p:txBody>
              </p:sp>
            </mc:Choice>
            <mc:Fallback xmlns="">
              <p:sp>
                <p:nvSpPr>
                  <p:cNvPr id="57" name="文字方塊 56">
                    <a:extLst>
                      <a:ext uri="{FF2B5EF4-FFF2-40B4-BE49-F238E27FC236}">
                        <a16:creationId xmlns:a16="http://schemas.microsoft.com/office/drawing/2014/main" id="{D17A7547-B19D-4CA8-815A-4C78A6BCDC7C}"/>
                      </a:ext>
                    </a:extLst>
                  </p:cNvPr>
                  <p:cNvSpPr txBox="1">
                    <a:spLocks noRot="1" noChangeAspect="1" noMove="1" noResize="1" noEditPoints="1" noAdjustHandles="1" noChangeArrowheads="1" noChangeShapeType="1" noTextEdit="1"/>
                  </p:cNvSpPr>
                  <p:nvPr/>
                </p:nvSpPr>
                <p:spPr>
                  <a:xfrm rot="16200000">
                    <a:off x="10037507" y="4239336"/>
                    <a:ext cx="1049457" cy="338554"/>
                  </a:xfrm>
                  <a:prstGeom prst="rect">
                    <a:avLst/>
                  </a:prstGeom>
                  <a:blipFill>
                    <a:blip r:embed="rId11"/>
                    <a:stretch>
                      <a:fillRect r="-9091"/>
                    </a:stretch>
                  </a:blipFill>
                </p:spPr>
                <p:txBody>
                  <a:bodyPr/>
                  <a:lstStyle/>
                  <a:p>
                    <a:r>
                      <a:rPr lang="zh-TW" altLang="en-US">
                        <a:noFill/>
                      </a:rPr>
                      <a:t> </a:t>
                    </a:r>
                  </a:p>
                </p:txBody>
              </p:sp>
            </mc:Fallback>
          </mc:AlternateContent>
        </p:grpSp>
      </p:grpSp>
      <p:sp>
        <p:nvSpPr>
          <p:cNvPr id="58" name="文字方塊 57">
            <a:extLst>
              <a:ext uri="{FF2B5EF4-FFF2-40B4-BE49-F238E27FC236}">
                <a16:creationId xmlns:a16="http://schemas.microsoft.com/office/drawing/2014/main" id="{52EAC0FC-7EF6-4007-A77D-33D382D23C97}"/>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r>
              <a:rPr lang="en-US" altLang="zh-TW" dirty="0"/>
              <a:t>(Have gap)</a:t>
            </a:r>
            <a:endParaRPr lang="zh-TW" altLang="en-US" dirty="0"/>
          </a:p>
        </p:txBody>
      </p:sp>
      <p:sp>
        <p:nvSpPr>
          <p:cNvPr id="59" name="矩形 58">
            <a:extLst>
              <a:ext uri="{FF2B5EF4-FFF2-40B4-BE49-F238E27FC236}">
                <a16:creationId xmlns:a16="http://schemas.microsoft.com/office/drawing/2014/main" id="{05CABD0C-4D83-45AC-A1FD-250739AAD28E}"/>
              </a:ext>
            </a:extLst>
          </p:cNvPr>
          <p:cNvSpPr/>
          <p:nvPr/>
        </p:nvSpPr>
        <p:spPr>
          <a:xfrm>
            <a:off x="7011272" y="1805592"/>
            <a:ext cx="420647"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3693383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24" name="矩形 23">
            <a:extLst>
              <a:ext uri="{FF2B5EF4-FFF2-40B4-BE49-F238E27FC236}">
                <a16:creationId xmlns:a16="http://schemas.microsoft.com/office/drawing/2014/main" id="{5ECAF6AD-8DD4-4627-A1FD-CEEA914062EB}"/>
              </a:ext>
            </a:extLst>
          </p:cNvPr>
          <p:cNvSpPr/>
          <p:nvPr/>
        </p:nvSpPr>
        <p:spPr>
          <a:xfrm>
            <a:off x="9428540" y="5341459"/>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D872CA14-590B-4B25-8D56-51869107EFD2}"/>
              </a:ext>
            </a:extLst>
          </p:cNvPr>
          <p:cNvGrpSpPr/>
          <p:nvPr/>
        </p:nvGrpSpPr>
        <p:grpSpPr>
          <a:xfrm>
            <a:off x="6875133" y="3508868"/>
            <a:ext cx="3168560" cy="2172283"/>
            <a:chOff x="6867344" y="3740617"/>
            <a:chExt cx="3168560" cy="2172283"/>
          </a:xfrm>
        </p:grpSpPr>
        <p:sp>
          <p:nvSpPr>
            <p:cNvPr id="48" name="矩形 47">
              <a:extLst>
                <a:ext uri="{FF2B5EF4-FFF2-40B4-BE49-F238E27FC236}">
                  <a16:creationId xmlns:a16="http://schemas.microsoft.com/office/drawing/2014/main" id="{B096E37E-8AC9-44B3-8AC0-85DBA5186884}"/>
                </a:ext>
              </a:extLst>
            </p:cNvPr>
            <p:cNvSpPr/>
            <p:nvPr/>
          </p:nvSpPr>
          <p:spPr>
            <a:xfrm>
              <a:off x="8832312" y="4530195"/>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78A5635-6392-4A3A-8FB5-9101D27D904D}"/>
                </a:ext>
              </a:extLst>
            </p:cNvPr>
            <p:cNvSpPr/>
            <p:nvPr/>
          </p:nvSpPr>
          <p:spPr>
            <a:xfrm>
              <a:off x="7680057" y="374061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623D93-181D-445B-A97C-8949FD369C96}"/>
                </a:ext>
              </a:extLst>
            </p:cNvPr>
            <p:cNvSpPr/>
            <p:nvPr/>
          </p:nvSpPr>
          <p:spPr>
            <a:xfrm>
              <a:off x="6867344" y="490140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291D2EE2-3DA4-43C1-834D-6A683319D87B}"/>
                </a:ext>
              </a:extLst>
            </p:cNvPr>
            <p:cNvSpPr/>
            <p:nvPr/>
          </p:nvSpPr>
          <p:spPr>
            <a:xfrm>
              <a:off x="8022867" y="5680623"/>
              <a:ext cx="279399"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62E44167-7C8B-4193-8CDE-E0AF63648A86}"/>
                </a:ext>
              </a:extLst>
            </p:cNvPr>
            <p:cNvSpPr/>
            <p:nvPr/>
          </p:nvSpPr>
          <p:spPr>
            <a:xfrm>
              <a:off x="9817350" y="470198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54607F0B-9399-46DC-A751-46D610BD1351}"/>
              </a:ext>
            </a:extLst>
          </p:cNvPr>
          <p:cNvGrpSpPr/>
          <p:nvPr/>
        </p:nvGrpSpPr>
        <p:grpSpPr>
          <a:xfrm>
            <a:off x="7345935" y="1930440"/>
            <a:ext cx="3264315" cy="2877114"/>
            <a:chOff x="7276685" y="1998989"/>
            <a:chExt cx="3264315" cy="2877114"/>
          </a:xfrm>
        </p:grpSpPr>
        <p:sp>
          <p:nvSpPr>
            <p:cNvPr id="7" name="矩形 6">
              <a:extLst>
                <a:ext uri="{FF2B5EF4-FFF2-40B4-BE49-F238E27FC236}">
                  <a16:creationId xmlns:a16="http://schemas.microsoft.com/office/drawing/2014/main" id="{29F3120E-FFA5-49F9-B607-4539075AF0F8}"/>
                </a:ext>
              </a:extLst>
            </p:cNvPr>
            <p:cNvSpPr/>
            <p:nvPr/>
          </p:nvSpPr>
          <p:spPr>
            <a:xfrm>
              <a:off x="9145978" y="4605175"/>
              <a:ext cx="1395022"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2F909DB8-68B5-4CC8-88B1-5CEC2797D52D}"/>
                </a:ext>
              </a:extLst>
            </p:cNvPr>
            <p:cNvSpPr/>
            <p:nvPr/>
          </p:nvSpPr>
          <p:spPr>
            <a:xfrm rot="16200000">
              <a:off x="6616710" y="2658964"/>
              <a:ext cx="1590877"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3563063190"/>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11</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22</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33</m:t>
                                    </m:r>
                                  </m:sub>
                                </m:sSub>
                              </m:oMath>
                            </m:oMathPara>
                          </a14:m>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32.34</a:t>
                          </a:r>
                          <a:endParaRPr lang="zh-TW" altLang="en-US" dirty="0"/>
                        </a:p>
                      </a:txBody>
                      <a:tcPr/>
                    </a:tc>
                    <a:tc>
                      <a:txBody>
                        <a:bodyPr/>
                        <a:lstStyle/>
                        <a:p>
                          <a:pPr algn="ctr"/>
                          <a:r>
                            <a:rPr lang="en-US" altLang="zh-TW" dirty="0"/>
                            <a:t>27.588</a:t>
                          </a:r>
                          <a:endParaRPr lang="zh-TW" altLang="en-US" dirty="0"/>
                        </a:p>
                      </a:txBody>
                      <a:tcPr/>
                    </a:tc>
                    <a:tc>
                      <a:txBody>
                        <a:bodyPr/>
                        <a:lstStyle/>
                        <a:p>
                          <a:pPr algn="ctr"/>
                          <a:r>
                            <a:rPr lang="en-US" altLang="zh-TW" dirty="0"/>
                            <a:t>15.54</a:t>
                          </a:r>
                          <a:endParaRPr lang="zh-TW" altLang="en-US" dirty="0"/>
                        </a:p>
                      </a:txBody>
                      <a:tcPr/>
                    </a:tc>
                    <a:extLst>
                      <a:ext uri="{0D108BD9-81ED-4DB2-BD59-A6C34878D82A}">
                        <a16:rowId xmlns:a16="http://schemas.microsoft.com/office/drawing/2014/main" val="3046649366"/>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3563063190"/>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2"/>
                          <a:stretch>
                            <a:fillRect l="-100299" t="-14516" r="-200299" b="-270968"/>
                          </a:stretch>
                        </a:blipFill>
                      </a:tcPr>
                    </a:tc>
                    <a:tc>
                      <a:txBody>
                        <a:bodyPr/>
                        <a:lstStyle/>
                        <a:p>
                          <a:endParaRPr lang="zh-TW"/>
                        </a:p>
                      </a:txBody>
                      <a:tcPr>
                        <a:blipFill>
                          <a:blip r:embed="rId2"/>
                          <a:stretch>
                            <a:fillRect l="-200901" t="-14516" r="-100901" b="-270968"/>
                          </a:stretch>
                        </a:blipFill>
                      </a:tcPr>
                    </a:tc>
                    <a:tc>
                      <a:txBody>
                        <a:bodyPr/>
                        <a:lstStyle/>
                        <a:p>
                          <a:endParaRPr lang="zh-TW"/>
                        </a:p>
                      </a:txBody>
                      <a:tcPr>
                        <a:blipFill>
                          <a:blip r:embed="rId2"/>
                          <a:stretch>
                            <a:fillRect l="-300000" t="-14516" r="-599" b="-270968"/>
                          </a:stretch>
                        </a:blipFill>
                      </a:tcPr>
                    </a:tc>
                    <a:extLst>
                      <a:ext uri="{0D108BD9-81ED-4DB2-BD59-A6C34878D82A}">
                        <a16:rowId xmlns:a16="http://schemas.microsoft.com/office/drawing/2014/main" val="168208475"/>
                      </a:ext>
                    </a:extLst>
                  </a:tr>
                  <a:tr h="370840">
                    <a:tc>
                      <a:txBody>
                        <a:bodyPr/>
                        <a:lstStyle/>
                        <a:p>
                          <a:endParaRPr lang="zh-TW"/>
                        </a:p>
                      </a:txBody>
                      <a:tcPr>
                        <a:blipFill>
                          <a:blip r:embed="rId2"/>
                          <a:stretch>
                            <a:fillRect l="-299" t="-116393" r="-300299" b="-175410"/>
                          </a:stretch>
                        </a:blipFill>
                      </a:tcPr>
                    </a:tc>
                    <a:tc>
                      <a:txBody>
                        <a:bodyPr/>
                        <a:lstStyle/>
                        <a:p>
                          <a:pPr algn="ctr"/>
                          <a:r>
                            <a:rPr lang="en-US" altLang="zh-TW" dirty="0"/>
                            <a:t>32.34</a:t>
                          </a:r>
                          <a:endParaRPr lang="zh-TW" altLang="en-US" dirty="0"/>
                        </a:p>
                      </a:txBody>
                      <a:tcPr/>
                    </a:tc>
                    <a:tc>
                      <a:txBody>
                        <a:bodyPr/>
                        <a:lstStyle/>
                        <a:p>
                          <a:pPr algn="ctr"/>
                          <a:r>
                            <a:rPr lang="en-US" altLang="zh-TW" dirty="0"/>
                            <a:t>27.588</a:t>
                          </a:r>
                          <a:endParaRPr lang="zh-TW" altLang="en-US" dirty="0"/>
                        </a:p>
                      </a:txBody>
                      <a:tcPr/>
                    </a:tc>
                    <a:tc>
                      <a:txBody>
                        <a:bodyPr/>
                        <a:lstStyle/>
                        <a:p>
                          <a:pPr algn="ctr"/>
                          <a:r>
                            <a:rPr lang="en-US" altLang="zh-TW" dirty="0"/>
                            <a:t>15.54</a:t>
                          </a:r>
                          <a:endParaRPr lang="zh-TW" altLang="en-US" dirty="0"/>
                        </a:p>
                      </a:txBody>
                      <a:tcPr/>
                    </a:tc>
                    <a:extLst>
                      <a:ext uri="{0D108BD9-81ED-4DB2-BD59-A6C34878D82A}">
                        <a16:rowId xmlns:a16="http://schemas.microsoft.com/office/drawing/2014/main" val="3046649366"/>
                      </a:ext>
                    </a:extLst>
                  </a:tr>
                </a:tbl>
              </a:graphicData>
            </a:graphic>
          </p:graphicFrame>
        </mc:Fallback>
      </mc:AlternateContent>
      <p:grpSp>
        <p:nvGrpSpPr>
          <p:cNvPr id="9" name="群組 8">
            <a:extLst>
              <a:ext uri="{FF2B5EF4-FFF2-40B4-BE49-F238E27FC236}">
                <a16:creationId xmlns:a16="http://schemas.microsoft.com/office/drawing/2014/main" id="{1A0DC67B-40AE-4DEA-96C0-2D364C9A853F}"/>
              </a:ext>
            </a:extLst>
          </p:cNvPr>
          <p:cNvGrpSpPr/>
          <p:nvPr/>
        </p:nvGrpSpPr>
        <p:grpSpPr>
          <a:xfrm>
            <a:off x="7859379" y="1757203"/>
            <a:ext cx="3469612" cy="2653069"/>
            <a:chOff x="7859379" y="1757203"/>
            <a:chExt cx="3469612" cy="2653069"/>
          </a:xfrm>
        </p:grpSpPr>
        <p:pic>
          <p:nvPicPr>
            <p:cNvPr id="5" name="圖片 4">
              <a:extLst>
                <a:ext uri="{FF2B5EF4-FFF2-40B4-BE49-F238E27FC236}">
                  <a16:creationId xmlns:a16="http://schemas.microsoft.com/office/drawing/2014/main" id="{A663957F-2D0E-422F-ACBC-A81317249C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1770" y="1812334"/>
              <a:ext cx="3307221" cy="2498723"/>
            </a:xfrm>
            <a:prstGeom prst="rect">
              <a:avLst/>
            </a:prstGeom>
          </p:spPr>
        </p:pic>
        <p:grpSp>
          <p:nvGrpSpPr>
            <p:cNvPr id="14" name="群組 13">
              <a:extLst>
                <a:ext uri="{FF2B5EF4-FFF2-40B4-BE49-F238E27FC236}">
                  <a16:creationId xmlns:a16="http://schemas.microsoft.com/office/drawing/2014/main" id="{9228C93D-A0C7-4332-A130-971EC1FF61DC}"/>
                </a:ext>
              </a:extLst>
            </p:cNvPr>
            <p:cNvGrpSpPr/>
            <p:nvPr/>
          </p:nvGrpSpPr>
          <p:grpSpPr>
            <a:xfrm>
              <a:off x="7859379" y="1757203"/>
              <a:ext cx="2485451" cy="2653069"/>
              <a:chOff x="7910155" y="1682373"/>
              <a:chExt cx="2485451" cy="2653069"/>
            </a:xfrm>
          </p:grpSpPr>
          <p:grpSp>
            <p:nvGrpSpPr>
              <p:cNvPr id="13" name="群組 12">
                <a:extLst>
                  <a:ext uri="{FF2B5EF4-FFF2-40B4-BE49-F238E27FC236}">
                    <a16:creationId xmlns:a16="http://schemas.microsoft.com/office/drawing/2014/main" id="{754FF10A-2874-44FD-BACF-660085804C6B}"/>
                  </a:ext>
                </a:extLst>
              </p:cNvPr>
              <p:cNvGrpSpPr/>
              <p:nvPr/>
            </p:nvGrpSpPr>
            <p:grpSpPr>
              <a:xfrm>
                <a:off x="8058302" y="2133601"/>
                <a:ext cx="2212525" cy="2104299"/>
                <a:chOff x="8058302" y="2133601"/>
                <a:chExt cx="2212525" cy="2104299"/>
              </a:xfrm>
            </p:grpSpPr>
            <p:sp>
              <p:nvSpPr>
                <p:cNvPr id="11" name="矩形 10">
                  <a:extLst>
                    <a:ext uri="{FF2B5EF4-FFF2-40B4-BE49-F238E27FC236}">
                      <a16:creationId xmlns:a16="http://schemas.microsoft.com/office/drawing/2014/main" id="{869E58BC-ED95-4378-BC0D-F59778A5C307}"/>
                    </a:ext>
                  </a:extLst>
                </p:cNvPr>
                <p:cNvSpPr/>
                <p:nvPr/>
              </p:nvSpPr>
              <p:spPr>
                <a:xfrm>
                  <a:off x="9215228" y="4063653"/>
                  <a:ext cx="1055599" cy="1742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DED10F6C-0A24-4858-8A80-9E6F4DCE2834}"/>
                    </a:ext>
                  </a:extLst>
                </p:cNvPr>
                <p:cNvSpPr/>
                <p:nvPr/>
              </p:nvSpPr>
              <p:spPr>
                <a:xfrm rot="16200000">
                  <a:off x="7564648" y="2627255"/>
                  <a:ext cx="1153048" cy="1657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4A527870-9240-4CAE-A7BD-03FC80337E83}"/>
                      </a:ext>
                    </a:extLst>
                  </p:cNvPr>
                  <p:cNvSpPr txBox="1"/>
                  <p:nvPr/>
                </p:nvSpPr>
                <p:spPr>
                  <a:xfrm>
                    <a:off x="8563026" y="3966110"/>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C</m:t>
                          </m:r>
                          <m:r>
                            <m:rPr>
                              <m:sty m:val="p"/>
                            </m:rPr>
                            <a:rPr lang="en-US" altLang="zh-TW" b="0" i="0" smtClean="0">
                              <a:latin typeface="Cambria Math" panose="02040503050406030204" pitchFamily="18" charset="0"/>
                              <a:ea typeface="Cambria Math" panose="02040503050406030204" pitchFamily="18" charset="0"/>
                            </a:rPr>
                            <m:t>apacity</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measure</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29" name="文字方塊 28">
                    <a:extLst>
                      <a:ext uri="{FF2B5EF4-FFF2-40B4-BE49-F238E27FC236}">
                        <a16:creationId xmlns:a16="http://schemas.microsoft.com/office/drawing/2014/main" id="{4A527870-9240-4CAE-A7BD-03FC80337E83}"/>
                      </a:ext>
                    </a:extLst>
                  </p:cNvPr>
                  <p:cNvSpPr txBox="1">
                    <a:spLocks noRot="1" noChangeAspect="1" noMove="1" noResize="1" noEditPoints="1" noAdjustHandles="1" noChangeArrowheads="1" noChangeShapeType="1" noTextEdit="1"/>
                  </p:cNvSpPr>
                  <p:nvPr/>
                </p:nvSpPr>
                <p:spPr>
                  <a:xfrm>
                    <a:off x="8563026" y="3966110"/>
                    <a:ext cx="1832580" cy="369332"/>
                  </a:xfrm>
                  <a:prstGeom prst="rect">
                    <a:avLst/>
                  </a:prstGeom>
                  <a:blipFill>
                    <a:blip r:embed="rId4"/>
                    <a:stretch>
                      <a:fillRect t="-118333" r="-72757" b="-18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4F5B4198-2C45-4E9A-B669-499DD550D761}"/>
                      </a:ext>
                    </a:extLst>
                  </p:cNvPr>
                  <p:cNvSpPr txBox="1"/>
                  <p:nvPr/>
                </p:nvSpPr>
                <p:spPr>
                  <a:xfrm rot="16200000">
                    <a:off x="6952585" y="2639943"/>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77" name="文字方塊 76">
                    <a:extLst>
                      <a:ext uri="{FF2B5EF4-FFF2-40B4-BE49-F238E27FC236}">
                        <a16:creationId xmlns:a16="http://schemas.microsoft.com/office/drawing/2014/main" id="{4F5B4198-2C45-4E9A-B669-499DD550D761}"/>
                      </a:ext>
                    </a:extLst>
                  </p:cNvPr>
                  <p:cNvSpPr txBox="1">
                    <a:spLocks noRot="1" noChangeAspect="1" noMove="1" noResize="1" noEditPoints="1" noAdjustHandles="1" noChangeArrowheads="1" noChangeShapeType="1" noTextEdit="1"/>
                  </p:cNvSpPr>
                  <p:nvPr/>
                </p:nvSpPr>
                <p:spPr>
                  <a:xfrm rot="16200000">
                    <a:off x="6952585" y="2639943"/>
                    <a:ext cx="2192139" cy="276999"/>
                  </a:xfrm>
                  <a:prstGeom prst="rect">
                    <a:avLst/>
                  </a:prstGeom>
                  <a:blipFill>
                    <a:blip r:embed="rId5"/>
                    <a:stretch>
                      <a:fillRect l="-2174" t="-2778" r="-32609" b="-2222"/>
                    </a:stretch>
                  </a:blipFill>
                </p:spPr>
                <p:txBody>
                  <a:bodyPr/>
                  <a:lstStyle/>
                  <a:p>
                    <a:r>
                      <a:rPr lang="zh-TW" altLang="en-US">
                        <a:noFill/>
                      </a:rPr>
                      <a:t> </a:t>
                    </a:r>
                  </a:p>
                </p:txBody>
              </p:sp>
            </mc:Fallback>
          </mc:AlternateContent>
        </p:grpSp>
      </p:grpSp>
      <p:sp>
        <p:nvSpPr>
          <p:cNvPr id="32" name="文字方塊 31">
            <a:extLst>
              <a:ext uri="{FF2B5EF4-FFF2-40B4-BE49-F238E27FC236}">
                <a16:creationId xmlns:a16="http://schemas.microsoft.com/office/drawing/2014/main" id="{BFC30FDF-C840-49F5-871F-B583D17F27FD}"/>
              </a:ext>
            </a:extLst>
          </p:cNvPr>
          <p:cNvSpPr txBox="1"/>
          <p:nvPr/>
        </p:nvSpPr>
        <p:spPr>
          <a:xfrm>
            <a:off x="321964" y="3855632"/>
            <a:ext cx="6176432"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Both histograms have the same resolution (130.89uT/A).</a:t>
            </a:r>
          </a:p>
        </p:txBody>
      </p:sp>
      <p:sp>
        <p:nvSpPr>
          <p:cNvPr id="36" name="文字方塊 35">
            <a:extLst>
              <a:ext uri="{FF2B5EF4-FFF2-40B4-BE49-F238E27FC236}">
                <a16:creationId xmlns:a16="http://schemas.microsoft.com/office/drawing/2014/main" id="{BCEA6580-59CB-491D-9A56-1E4B23E7DF7D}"/>
              </a:ext>
            </a:extLst>
          </p:cNvPr>
          <p:cNvSpPr txBox="1"/>
          <p:nvPr/>
        </p:nvSpPr>
        <p:spPr>
          <a:xfrm>
            <a:off x="212687" y="786378"/>
            <a:ext cx="6176432" cy="2031325"/>
          </a:xfrm>
          <a:prstGeom prst="rect">
            <a:avLst/>
          </a:prstGeom>
          <a:noFill/>
        </p:spPr>
        <p:txBody>
          <a:bodyPr wrap="square">
            <a:spAutoFit/>
          </a:bodyPr>
          <a:lstStyle/>
          <a:p>
            <a:pPr marL="285750" indent="-285750">
              <a:buFont typeface="Arial" panose="020B0604020202020204" pitchFamily="34" charset="0"/>
              <a:buChar char="•"/>
            </a:pPr>
            <a:r>
              <a:rPr lang="zh-TW" altLang="en-US" dirty="0"/>
              <a:t>The three singular values are σ₁ = 50.25, σ₂ = 45.39 and σ₃ = 27.26 mT/A. σ₁ and σ₂ differ by only 10.7 %, whereas σ₃ falls 40 % below σ₂ (σ₁/σ₃ = 1.84). All three distributions are tight，</a:t>
            </a:r>
            <a:r>
              <a:rPr lang="en-US" altLang="zh-TW" dirty="0"/>
              <a:t>the controllable set is an oblate ellipsoid — two strong axes and one weak — not a sphere. The weakest third axis is the bottleneck of the whole actuator, since it sets the force available in the worst direction.</a:t>
            </a:r>
            <a:endParaRPr lang="zh-TW" altLang="en-US" dirty="0"/>
          </a:p>
        </p:txBody>
      </p:sp>
      <p:sp>
        <p:nvSpPr>
          <p:cNvPr id="38" name="文字方塊 37">
            <a:extLst>
              <a:ext uri="{FF2B5EF4-FFF2-40B4-BE49-F238E27FC236}">
                <a16:creationId xmlns:a16="http://schemas.microsoft.com/office/drawing/2014/main" id="{AB84E969-29EF-4675-811E-DF8EC32587D4}"/>
              </a:ext>
            </a:extLst>
          </p:cNvPr>
          <p:cNvSpPr txBox="1"/>
          <p:nvPr/>
        </p:nvSpPr>
        <p:spPr>
          <a:xfrm>
            <a:off x="84666" y="417046"/>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r>
              <a:rPr lang="en-US" altLang="zh-TW" dirty="0"/>
              <a:t>(Have gap)</a:t>
            </a:r>
            <a:endParaRPr lang="zh-TW" altLang="en-US" dirty="0"/>
          </a:p>
        </p:txBody>
      </p:sp>
    </p:spTree>
    <p:extLst>
      <p:ext uri="{BB962C8B-B14F-4D97-AF65-F5344CB8AC3E}">
        <p14:creationId xmlns:p14="http://schemas.microsoft.com/office/powerpoint/2010/main" val="24070342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24" name="矩形 23">
            <a:extLst>
              <a:ext uri="{FF2B5EF4-FFF2-40B4-BE49-F238E27FC236}">
                <a16:creationId xmlns:a16="http://schemas.microsoft.com/office/drawing/2014/main" id="{5ECAF6AD-8DD4-4627-A1FD-CEEA914062EB}"/>
              </a:ext>
            </a:extLst>
          </p:cNvPr>
          <p:cNvSpPr/>
          <p:nvPr/>
        </p:nvSpPr>
        <p:spPr>
          <a:xfrm>
            <a:off x="9428540" y="5341459"/>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D872CA14-590B-4B25-8D56-51869107EFD2}"/>
              </a:ext>
            </a:extLst>
          </p:cNvPr>
          <p:cNvGrpSpPr/>
          <p:nvPr/>
        </p:nvGrpSpPr>
        <p:grpSpPr>
          <a:xfrm>
            <a:off x="6875133" y="3508868"/>
            <a:ext cx="3168560" cy="2172283"/>
            <a:chOff x="6867344" y="3740617"/>
            <a:chExt cx="3168560" cy="2172283"/>
          </a:xfrm>
        </p:grpSpPr>
        <p:sp>
          <p:nvSpPr>
            <p:cNvPr id="48" name="矩形 47">
              <a:extLst>
                <a:ext uri="{FF2B5EF4-FFF2-40B4-BE49-F238E27FC236}">
                  <a16:creationId xmlns:a16="http://schemas.microsoft.com/office/drawing/2014/main" id="{B096E37E-8AC9-44B3-8AC0-85DBA5186884}"/>
                </a:ext>
              </a:extLst>
            </p:cNvPr>
            <p:cNvSpPr/>
            <p:nvPr/>
          </p:nvSpPr>
          <p:spPr>
            <a:xfrm>
              <a:off x="8832312" y="4530195"/>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78A5635-6392-4A3A-8FB5-9101D27D904D}"/>
                </a:ext>
              </a:extLst>
            </p:cNvPr>
            <p:cNvSpPr/>
            <p:nvPr/>
          </p:nvSpPr>
          <p:spPr>
            <a:xfrm>
              <a:off x="7680057" y="374061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623D93-181D-445B-A97C-8949FD369C96}"/>
                </a:ext>
              </a:extLst>
            </p:cNvPr>
            <p:cNvSpPr/>
            <p:nvPr/>
          </p:nvSpPr>
          <p:spPr>
            <a:xfrm>
              <a:off x="6867344" y="490140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291D2EE2-3DA4-43C1-834D-6A683319D87B}"/>
                </a:ext>
              </a:extLst>
            </p:cNvPr>
            <p:cNvSpPr/>
            <p:nvPr/>
          </p:nvSpPr>
          <p:spPr>
            <a:xfrm>
              <a:off x="8022867" y="5680623"/>
              <a:ext cx="279399"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62E44167-7C8B-4193-8CDE-E0AF63648A86}"/>
                </a:ext>
              </a:extLst>
            </p:cNvPr>
            <p:cNvSpPr/>
            <p:nvPr/>
          </p:nvSpPr>
          <p:spPr>
            <a:xfrm>
              <a:off x="9817350" y="470198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54607F0B-9399-46DC-A751-46D610BD1351}"/>
              </a:ext>
            </a:extLst>
          </p:cNvPr>
          <p:cNvGrpSpPr/>
          <p:nvPr/>
        </p:nvGrpSpPr>
        <p:grpSpPr>
          <a:xfrm>
            <a:off x="7345935" y="1930440"/>
            <a:ext cx="3264315" cy="2877114"/>
            <a:chOff x="7276685" y="1998989"/>
            <a:chExt cx="3264315" cy="2877114"/>
          </a:xfrm>
        </p:grpSpPr>
        <p:sp>
          <p:nvSpPr>
            <p:cNvPr id="7" name="矩形 6">
              <a:extLst>
                <a:ext uri="{FF2B5EF4-FFF2-40B4-BE49-F238E27FC236}">
                  <a16:creationId xmlns:a16="http://schemas.microsoft.com/office/drawing/2014/main" id="{29F3120E-FFA5-49F9-B607-4539075AF0F8}"/>
                </a:ext>
              </a:extLst>
            </p:cNvPr>
            <p:cNvSpPr/>
            <p:nvPr/>
          </p:nvSpPr>
          <p:spPr>
            <a:xfrm>
              <a:off x="9145978" y="4605175"/>
              <a:ext cx="1395022"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2F909DB8-68B5-4CC8-88B1-5CEC2797D52D}"/>
                </a:ext>
              </a:extLst>
            </p:cNvPr>
            <p:cNvSpPr/>
            <p:nvPr/>
          </p:nvSpPr>
          <p:spPr>
            <a:xfrm rot="16200000">
              <a:off x="6616710" y="2658964"/>
              <a:ext cx="1590877"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1704568932"/>
                  </p:ext>
                </p:extLst>
              </p:nvPr>
            </p:nvGraphicFramePr>
            <p:xfrm>
              <a:off x="418353" y="5640945"/>
              <a:ext cx="4714281" cy="1010920"/>
            </p:xfrm>
            <a:graphic>
              <a:graphicData uri="http://schemas.openxmlformats.org/drawingml/2006/table">
                <a:tbl>
                  <a:tblPr firstRow="1" bandRow="1">
                    <a:tableStyleId>{5940675A-B579-460E-94D1-54222C63F5DA}</a:tableStyleId>
                  </a:tblPr>
                  <a:tblGrid>
                    <a:gridCol w="1571427">
                      <a:extLst>
                        <a:ext uri="{9D8B030D-6E8A-4147-A177-3AD203B41FA5}">
                          <a16:colId xmlns:a16="http://schemas.microsoft.com/office/drawing/2014/main" val="1576531335"/>
                        </a:ext>
                      </a:extLst>
                    </a:gridCol>
                    <a:gridCol w="1571427">
                      <a:extLst>
                        <a:ext uri="{9D8B030D-6E8A-4147-A177-3AD203B41FA5}">
                          <a16:colId xmlns:a16="http://schemas.microsoft.com/office/drawing/2014/main" val="3507019064"/>
                        </a:ext>
                      </a:extLst>
                    </a:gridCol>
                    <a:gridCol w="1571427">
                      <a:extLst>
                        <a:ext uri="{9D8B030D-6E8A-4147-A177-3AD203B41FA5}">
                          <a16:colId xmlns:a16="http://schemas.microsoft.com/office/drawing/2014/main" val="1921430209"/>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11</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22</m:t>
                                    </m:r>
                                  </m:sub>
                                </m:sSub>
                              </m:oMath>
                            </m:oMathPara>
                          </a14:m>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24</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39.468</a:t>
                          </a:r>
                          <a:endParaRPr lang="zh-TW" altLang="en-US" dirty="0"/>
                        </a:p>
                        <a:p>
                          <a:pPr algn="ctr"/>
                          <a:endParaRPr lang="zh-TW" altLang="en-US" dirty="0"/>
                        </a:p>
                      </a:txBody>
                      <a:tcPr/>
                    </a:tc>
                    <a:extLst>
                      <a:ext uri="{0D108BD9-81ED-4DB2-BD59-A6C34878D82A}">
                        <a16:rowId xmlns:a16="http://schemas.microsoft.com/office/drawing/2014/main" val="3046649366"/>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1704568932"/>
                  </p:ext>
                </p:extLst>
              </p:nvPr>
            </p:nvGraphicFramePr>
            <p:xfrm>
              <a:off x="418353" y="5640945"/>
              <a:ext cx="4714281" cy="1010920"/>
            </p:xfrm>
            <a:graphic>
              <a:graphicData uri="http://schemas.openxmlformats.org/drawingml/2006/table">
                <a:tbl>
                  <a:tblPr firstRow="1" bandRow="1">
                    <a:tableStyleId>{5940675A-B579-460E-94D1-54222C63F5DA}</a:tableStyleId>
                  </a:tblPr>
                  <a:tblGrid>
                    <a:gridCol w="1571427">
                      <a:extLst>
                        <a:ext uri="{9D8B030D-6E8A-4147-A177-3AD203B41FA5}">
                          <a16:colId xmlns:a16="http://schemas.microsoft.com/office/drawing/2014/main" val="1576531335"/>
                        </a:ext>
                      </a:extLst>
                    </a:gridCol>
                    <a:gridCol w="1571427">
                      <a:extLst>
                        <a:ext uri="{9D8B030D-6E8A-4147-A177-3AD203B41FA5}">
                          <a16:colId xmlns:a16="http://schemas.microsoft.com/office/drawing/2014/main" val="3507019064"/>
                        </a:ext>
                      </a:extLst>
                    </a:gridCol>
                    <a:gridCol w="1571427">
                      <a:extLst>
                        <a:ext uri="{9D8B030D-6E8A-4147-A177-3AD203B41FA5}">
                          <a16:colId xmlns:a16="http://schemas.microsoft.com/office/drawing/2014/main" val="1921430209"/>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2"/>
                          <a:stretch>
                            <a:fillRect l="-100388" t="-16393" r="-101163" b="-275410"/>
                          </a:stretch>
                        </a:blipFill>
                      </a:tcPr>
                    </a:tc>
                    <a:tc>
                      <a:txBody>
                        <a:bodyPr/>
                        <a:lstStyle/>
                        <a:p>
                          <a:endParaRPr lang="zh-TW"/>
                        </a:p>
                      </a:txBody>
                      <a:tcPr>
                        <a:blipFill>
                          <a:blip r:embed="rId2"/>
                          <a:stretch>
                            <a:fillRect l="-200388" t="-16393" r="-1163" b="-275410"/>
                          </a:stretch>
                        </a:blipFill>
                      </a:tcPr>
                    </a:tc>
                    <a:extLst>
                      <a:ext uri="{0D108BD9-81ED-4DB2-BD59-A6C34878D82A}">
                        <a16:rowId xmlns:a16="http://schemas.microsoft.com/office/drawing/2014/main" val="168208475"/>
                      </a:ext>
                    </a:extLst>
                  </a:tr>
                  <a:tr h="640080">
                    <a:tc>
                      <a:txBody>
                        <a:bodyPr/>
                        <a:lstStyle/>
                        <a:p>
                          <a:endParaRPr lang="zh-TW"/>
                        </a:p>
                      </a:txBody>
                      <a:tcPr>
                        <a:blipFill>
                          <a:blip r:embed="rId2"/>
                          <a:stretch>
                            <a:fillRect l="-388" t="-66981" r="-201163" b="-58491"/>
                          </a:stretch>
                        </a:blipFill>
                      </a:tcPr>
                    </a:tc>
                    <a:tc>
                      <a:txBody>
                        <a:bodyPr/>
                        <a:lstStyle/>
                        <a:p>
                          <a:pPr algn="ctr"/>
                          <a:r>
                            <a:rPr lang="en-US" altLang="zh-TW" dirty="0"/>
                            <a:t>24</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39.468</a:t>
                          </a:r>
                          <a:endParaRPr lang="zh-TW" altLang="en-US" dirty="0"/>
                        </a:p>
                        <a:p>
                          <a:pPr algn="ctr"/>
                          <a:endParaRPr lang="zh-TW" altLang="en-US" dirty="0"/>
                        </a:p>
                      </a:txBody>
                      <a:tcPr/>
                    </a:tc>
                    <a:extLst>
                      <a:ext uri="{0D108BD9-81ED-4DB2-BD59-A6C34878D82A}">
                        <a16:rowId xmlns:a16="http://schemas.microsoft.com/office/drawing/2014/main" val="3046649366"/>
                      </a:ext>
                    </a:extLst>
                  </a:tr>
                </a:tbl>
              </a:graphicData>
            </a:graphic>
          </p:graphicFrame>
        </mc:Fallback>
      </mc:AlternateContent>
      <p:grpSp>
        <p:nvGrpSpPr>
          <p:cNvPr id="9" name="群組 8">
            <a:extLst>
              <a:ext uri="{FF2B5EF4-FFF2-40B4-BE49-F238E27FC236}">
                <a16:creationId xmlns:a16="http://schemas.microsoft.com/office/drawing/2014/main" id="{53E83F7D-D2AF-40C4-9D7E-EC9B3985D995}"/>
              </a:ext>
            </a:extLst>
          </p:cNvPr>
          <p:cNvGrpSpPr/>
          <p:nvPr/>
        </p:nvGrpSpPr>
        <p:grpSpPr>
          <a:xfrm>
            <a:off x="1027685" y="2480733"/>
            <a:ext cx="3361626" cy="2653771"/>
            <a:chOff x="1027685" y="2480733"/>
            <a:chExt cx="3361626" cy="2653771"/>
          </a:xfrm>
        </p:grpSpPr>
        <p:pic>
          <p:nvPicPr>
            <p:cNvPr id="6" name="圖片 5">
              <a:extLst>
                <a:ext uri="{FF2B5EF4-FFF2-40B4-BE49-F238E27FC236}">
                  <a16:creationId xmlns:a16="http://schemas.microsoft.com/office/drawing/2014/main" id="{F5E05D4E-5BE3-45F3-85A6-05BB9745E3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1677" y="2559428"/>
              <a:ext cx="3227634" cy="2455333"/>
            </a:xfrm>
            <a:prstGeom prst="rect">
              <a:avLst/>
            </a:prstGeom>
          </p:spPr>
        </p:pic>
        <p:grpSp>
          <p:nvGrpSpPr>
            <p:cNvPr id="14" name="群組 13">
              <a:extLst>
                <a:ext uri="{FF2B5EF4-FFF2-40B4-BE49-F238E27FC236}">
                  <a16:creationId xmlns:a16="http://schemas.microsoft.com/office/drawing/2014/main" id="{9228C93D-A0C7-4332-A130-971EC1FF61DC}"/>
                </a:ext>
              </a:extLst>
            </p:cNvPr>
            <p:cNvGrpSpPr/>
            <p:nvPr/>
          </p:nvGrpSpPr>
          <p:grpSpPr>
            <a:xfrm>
              <a:off x="1027685" y="2480733"/>
              <a:ext cx="2348000" cy="2653771"/>
              <a:chOff x="8048647" y="1431213"/>
              <a:chExt cx="2348000" cy="2653771"/>
            </a:xfrm>
          </p:grpSpPr>
          <p:grpSp>
            <p:nvGrpSpPr>
              <p:cNvPr id="13" name="群組 12">
                <a:extLst>
                  <a:ext uri="{FF2B5EF4-FFF2-40B4-BE49-F238E27FC236}">
                    <a16:creationId xmlns:a16="http://schemas.microsoft.com/office/drawing/2014/main" id="{754FF10A-2874-44FD-BACF-660085804C6B}"/>
                  </a:ext>
                </a:extLst>
              </p:cNvPr>
              <p:cNvGrpSpPr/>
              <p:nvPr/>
            </p:nvGrpSpPr>
            <p:grpSpPr>
              <a:xfrm>
                <a:off x="8159906" y="2057398"/>
                <a:ext cx="2236741" cy="1901408"/>
                <a:chOff x="8159906" y="2057398"/>
                <a:chExt cx="2236741" cy="1901408"/>
              </a:xfrm>
            </p:grpSpPr>
            <p:sp>
              <p:nvSpPr>
                <p:cNvPr id="11" name="矩形 10">
                  <a:extLst>
                    <a:ext uri="{FF2B5EF4-FFF2-40B4-BE49-F238E27FC236}">
                      <a16:creationId xmlns:a16="http://schemas.microsoft.com/office/drawing/2014/main" id="{869E58BC-ED95-4378-BC0D-F59778A5C307}"/>
                    </a:ext>
                  </a:extLst>
                </p:cNvPr>
                <p:cNvSpPr/>
                <p:nvPr/>
              </p:nvSpPr>
              <p:spPr>
                <a:xfrm>
                  <a:off x="9341048" y="3784559"/>
                  <a:ext cx="1055599" cy="1742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DED10F6C-0A24-4858-8A80-9E6F4DCE2834}"/>
                    </a:ext>
                  </a:extLst>
                </p:cNvPr>
                <p:cNvSpPr/>
                <p:nvPr/>
              </p:nvSpPr>
              <p:spPr>
                <a:xfrm rot="16200000">
                  <a:off x="7666252" y="2551052"/>
                  <a:ext cx="1153048" cy="1657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4A527870-9240-4CAE-A7BD-03FC80337E83}"/>
                      </a:ext>
                    </a:extLst>
                  </p:cNvPr>
                  <p:cNvSpPr txBox="1"/>
                  <p:nvPr/>
                </p:nvSpPr>
                <p:spPr>
                  <a:xfrm>
                    <a:off x="8564067" y="3715652"/>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C</m:t>
                          </m:r>
                          <m:r>
                            <m:rPr>
                              <m:sty m:val="p"/>
                            </m:rPr>
                            <a:rPr lang="en-US" altLang="zh-TW" b="0" i="0" smtClean="0">
                              <a:latin typeface="Cambria Math" panose="02040503050406030204" pitchFamily="18" charset="0"/>
                              <a:ea typeface="Cambria Math" panose="02040503050406030204" pitchFamily="18" charset="0"/>
                            </a:rPr>
                            <m:t>apacity</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measure</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29" name="文字方塊 28">
                    <a:extLst>
                      <a:ext uri="{FF2B5EF4-FFF2-40B4-BE49-F238E27FC236}">
                        <a16:creationId xmlns:a16="http://schemas.microsoft.com/office/drawing/2014/main" id="{4A527870-9240-4CAE-A7BD-03FC80337E83}"/>
                      </a:ext>
                    </a:extLst>
                  </p:cNvPr>
                  <p:cNvSpPr txBox="1">
                    <a:spLocks noRot="1" noChangeAspect="1" noMove="1" noResize="1" noEditPoints="1" noAdjustHandles="1" noChangeArrowheads="1" noChangeShapeType="1" noTextEdit="1"/>
                  </p:cNvSpPr>
                  <p:nvPr/>
                </p:nvSpPr>
                <p:spPr>
                  <a:xfrm>
                    <a:off x="8564067" y="3715652"/>
                    <a:ext cx="1832580" cy="369332"/>
                  </a:xfrm>
                  <a:prstGeom prst="rect">
                    <a:avLst/>
                  </a:prstGeom>
                  <a:blipFill>
                    <a:blip r:embed="rId4"/>
                    <a:stretch>
                      <a:fillRect t="-118333" r="-72757" b="-18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4F5B4198-2C45-4E9A-B669-499DD550D761}"/>
                      </a:ext>
                    </a:extLst>
                  </p:cNvPr>
                  <p:cNvSpPr txBox="1"/>
                  <p:nvPr/>
                </p:nvSpPr>
                <p:spPr>
                  <a:xfrm rot="16200000">
                    <a:off x="7091077" y="2388783"/>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77" name="文字方塊 76">
                    <a:extLst>
                      <a:ext uri="{FF2B5EF4-FFF2-40B4-BE49-F238E27FC236}">
                        <a16:creationId xmlns:a16="http://schemas.microsoft.com/office/drawing/2014/main" id="{4F5B4198-2C45-4E9A-B669-499DD550D761}"/>
                      </a:ext>
                    </a:extLst>
                  </p:cNvPr>
                  <p:cNvSpPr txBox="1">
                    <a:spLocks noRot="1" noChangeAspect="1" noMove="1" noResize="1" noEditPoints="1" noAdjustHandles="1" noChangeArrowheads="1" noChangeShapeType="1" noTextEdit="1"/>
                  </p:cNvSpPr>
                  <p:nvPr/>
                </p:nvSpPr>
                <p:spPr>
                  <a:xfrm rot="16200000">
                    <a:off x="7091077" y="2388783"/>
                    <a:ext cx="2192139" cy="276999"/>
                  </a:xfrm>
                  <a:prstGeom prst="rect">
                    <a:avLst/>
                  </a:prstGeom>
                  <a:blipFill>
                    <a:blip r:embed="rId5"/>
                    <a:stretch>
                      <a:fillRect l="-4444" t="-2778" r="-35556" b="-2222"/>
                    </a:stretch>
                  </a:blipFill>
                </p:spPr>
                <p:txBody>
                  <a:bodyPr/>
                  <a:lstStyle/>
                  <a:p>
                    <a:r>
                      <a:rPr lang="zh-TW" altLang="en-US">
                        <a:noFill/>
                      </a:rPr>
                      <a:t> </a:t>
                    </a:r>
                  </a:p>
                </p:txBody>
              </p:sp>
            </mc:Fallback>
          </mc:AlternateContent>
        </p:grpSp>
      </p:grpSp>
      <p:sp>
        <p:nvSpPr>
          <p:cNvPr id="32" name="文字方塊 31">
            <a:extLst>
              <a:ext uri="{FF2B5EF4-FFF2-40B4-BE49-F238E27FC236}">
                <a16:creationId xmlns:a16="http://schemas.microsoft.com/office/drawing/2014/main" id="{BFC30FDF-C840-49F5-871F-B583D17F27FD}"/>
              </a:ext>
            </a:extLst>
          </p:cNvPr>
          <p:cNvSpPr txBox="1"/>
          <p:nvPr/>
        </p:nvSpPr>
        <p:spPr>
          <a:xfrm>
            <a:off x="0" y="5115245"/>
            <a:ext cx="6176432"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Histograms have the same resolution (0.05mT/A).</a:t>
            </a:r>
          </a:p>
        </p:txBody>
      </p:sp>
      <p:sp>
        <p:nvSpPr>
          <p:cNvPr id="36" name="文字方塊 35">
            <a:extLst>
              <a:ext uri="{FF2B5EF4-FFF2-40B4-BE49-F238E27FC236}">
                <a16:creationId xmlns:a16="http://schemas.microsoft.com/office/drawing/2014/main" id="{BCEA6580-59CB-491D-9A56-1E4B23E7DF7D}"/>
              </a:ext>
            </a:extLst>
          </p:cNvPr>
          <p:cNvSpPr txBox="1"/>
          <p:nvPr/>
        </p:nvSpPr>
        <p:spPr>
          <a:xfrm>
            <a:off x="86839" y="787785"/>
            <a:ext cx="11555980" cy="1200329"/>
          </a:xfrm>
          <a:prstGeom prst="rect">
            <a:avLst/>
          </a:prstGeom>
          <a:noFill/>
        </p:spPr>
        <p:txBody>
          <a:bodyPr wrap="square">
            <a:spAutoFit/>
          </a:bodyPr>
          <a:lstStyle/>
          <a:p>
            <a:pPr marL="285750" indent="-285750">
              <a:buFont typeface="Wingdings" panose="05000000000000000000" pitchFamily="2" charset="2"/>
              <a:buChar char="l"/>
            </a:pPr>
            <a:r>
              <a:rPr lang="zh-TW" altLang="en-US" dirty="0"/>
              <a:t>The three singular values are σ₁ = 50.25, σ₂ = 45.39 and σ₃ = 27.26 mT/A. σ₁ and σ₂ differ by only 10.7 %, whereas σ₃ falls 40 % below σ₂ (σ₁/σ₃ = 1.84). All three distributions are tight，</a:t>
            </a:r>
            <a:r>
              <a:rPr lang="en-US" altLang="zh-TW" dirty="0"/>
              <a:t>the controllable set is an oblate ellipsoid — two strong axes and one weak — not a sphere. The weakest third axis is the bottleneck of the whole actuator, since it sets the force available in the worst direction.</a:t>
            </a:r>
            <a:endParaRPr lang="zh-TW" altLang="en-US" dirty="0"/>
          </a:p>
        </p:txBody>
      </p:sp>
      <p:sp>
        <p:nvSpPr>
          <p:cNvPr id="38" name="文字方塊 37">
            <a:extLst>
              <a:ext uri="{FF2B5EF4-FFF2-40B4-BE49-F238E27FC236}">
                <a16:creationId xmlns:a16="http://schemas.microsoft.com/office/drawing/2014/main" id="{AB84E969-29EF-4675-811E-DF8EC32587D4}"/>
              </a:ext>
            </a:extLst>
          </p:cNvPr>
          <p:cNvSpPr txBox="1"/>
          <p:nvPr/>
        </p:nvSpPr>
        <p:spPr>
          <a:xfrm>
            <a:off x="143934" y="417046"/>
            <a:ext cx="3588625"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err="1"/>
              <a:t>DesignB</a:t>
            </a:r>
            <a:r>
              <a:rPr lang="en-US" altLang="zh-TW" dirty="0"/>
              <a:t>(Have gap &amp; No gap</a:t>
            </a:r>
            <a:r>
              <a:rPr lang="zh-TW" altLang="en-US" dirty="0"/>
              <a:t> </a:t>
            </a:r>
            <a:r>
              <a:rPr lang="en-US" altLang="zh-TW" dirty="0"/>
              <a:t>)</a:t>
            </a:r>
            <a:endParaRPr lang="zh-TW" altLang="en-US" dirty="0"/>
          </a:p>
        </p:txBody>
      </p:sp>
      <mc:AlternateContent xmlns:mc="http://schemas.openxmlformats.org/markup-compatibility/2006" xmlns:a14="http://schemas.microsoft.com/office/drawing/2010/main">
        <mc:Choice Requires="a14">
          <p:graphicFrame>
            <p:nvGraphicFramePr>
              <p:cNvPr id="31" name="表格 10">
                <a:extLst>
                  <a:ext uri="{FF2B5EF4-FFF2-40B4-BE49-F238E27FC236}">
                    <a16:creationId xmlns:a16="http://schemas.microsoft.com/office/drawing/2014/main" id="{CAF158FD-5D4F-4D95-94B5-6812F8B4A312}"/>
                  </a:ext>
                </a:extLst>
              </p:cNvPr>
              <p:cNvGraphicFramePr>
                <a:graphicFrameLocks noGrp="1"/>
              </p:cNvGraphicFramePr>
              <p:nvPr>
                <p:extLst>
                  <p:ext uri="{D42A27DB-BD31-4B8C-83A1-F6EECF244321}">
                    <p14:modId xmlns:p14="http://schemas.microsoft.com/office/powerpoint/2010/main" val="472827516"/>
                  </p:ext>
                </p:extLst>
              </p:nvPr>
            </p:nvGraphicFramePr>
            <p:xfrm>
              <a:off x="6771189" y="5649329"/>
              <a:ext cx="4997478" cy="1010918"/>
            </p:xfrm>
            <a:graphic>
              <a:graphicData uri="http://schemas.openxmlformats.org/drawingml/2006/table">
                <a:tbl>
                  <a:tblPr firstRow="1" bandRow="1">
                    <a:tableStyleId>{5940675A-B579-460E-94D1-54222C63F5DA}</a:tableStyleId>
                  </a:tblPr>
                  <a:tblGrid>
                    <a:gridCol w="1665826">
                      <a:extLst>
                        <a:ext uri="{9D8B030D-6E8A-4147-A177-3AD203B41FA5}">
                          <a16:colId xmlns:a16="http://schemas.microsoft.com/office/drawing/2014/main" val="1576531335"/>
                        </a:ext>
                      </a:extLst>
                    </a:gridCol>
                    <a:gridCol w="1665826">
                      <a:extLst>
                        <a:ext uri="{9D8B030D-6E8A-4147-A177-3AD203B41FA5}">
                          <a16:colId xmlns:a16="http://schemas.microsoft.com/office/drawing/2014/main" val="3507019064"/>
                        </a:ext>
                      </a:extLst>
                    </a:gridCol>
                    <a:gridCol w="1665826">
                      <a:extLst>
                        <a:ext uri="{9D8B030D-6E8A-4147-A177-3AD203B41FA5}">
                          <a16:colId xmlns:a16="http://schemas.microsoft.com/office/drawing/2014/main" val="1921430209"/>
                        </a:ext>
                      </a:extLst>
                    </a:gridCol>
                  </a:tblGrid>
                  <a:tr h="505459">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11</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22</m:t>
                                    </m:r>
                                  </m:sub>
                                </m:sSub>
                              </m:oMath>
                            </m:oMathPara>
                          </a14:m>
                          <a:endParaRPr lang="zh-TW" altLang="en-US" dirty="0"/>
                        </a:p>
                      </a:txBody>
                      <a:tcPr/>
                    </a:tc>
                    <a:extLst>
                      <a:ext uri="{0D108BD9-81ED-4DB2-BD59-A6C34878D82A}">
                        <a16:rowId xmlns:a16="http://schemas.microsoft.com/office/drawing/2014/main" val="168208475"/>
                      </a:ext>
                    </a:extLst>
                  </a:tr>
                  <a:tr h="505459">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0.4820</a:t>
                          </a:r>
                          <a:endParaRPr lang="zh-TW" altLang="en-US" dirty="0"/>
                        </a:p>
                      </a:txBody>
                      <a:tcPr/>
                    </a:tc>
                    <a:tc>
                      <a:txBody>
                        <a:bodyPr/>
                        <a:lstStyle/>
                        <a:p>
                          <a:pPr algn="ctr"/>
                          <a:r>
                            <a:rPr lang="en-US" altLang="zh-TW" dirty="0"/>
                            <a:t>0.5415</a:t>
                          </a:r>
                          <a:endParaRPr lang="zh-TW" altLang="en-US" dirty="0"/>
                        </a:p>
                      </a:txBody>
                      <a:tcPr/>
                    </a:tc>
                    <a:extLst>
                      <a:ext uri="{0D108BD9-81ED-4DB2-BD59-A6C34878D82A}">
                        <a16:rowId xmlns:a16="http://schemas.microsoft.com/office/drawing/2014/main" val="3046649366"/>
                      </a:ext>
                    </a:extLst>
                  </a:tr>
                </a:tbl>
              </a:graphicData>
            </a:graphic>
          </p:graphicFrame>
        </mc:Choice>
        <mc:Fallback xmlns="">
          <p:graphicFrame>
            <p:nvGraphicFramePr>
              <p:cNvPr id="31" name="表格 10">
                <a:extLst>
                  <a:ext uri="{FF2B5EF4-FFF2-40B4-BE49-F238E27FC236}">
                    <a16:creationId xmlns:a16="http://schemas.microsoft.com/office/drawing/2014/main" id="{CAF158FD-5D4F-4D95-94B5-6812F8B4A312}"/>
                  </a:ext>
                </a:extLst>
              </p:cNvPr>
              <p:cNvGraphicFramePr>
                <a:graphicFrameLocks noGrp="1"/>
              </p:cNvGraphicFramePr>
              <p:nvPr>
                <p:extLst>
                  <p:ext uri="{D42A27DB-BD31-4B8C-83A1-F6EECF244321}">
                    <p14:modId xmlns:p14="http://schemas.microsoft.com/office/powerpoint/2010/main" val="472827516"/>
                  </p:ext>
                </p:extLst>
              </p:nvPr>
            </p:nvGraphicFramePr>
            <p:xfrm>
              <a:off x="6771189" y="5649329"/>
              <a:ext cx="4997478" cy="1010918"/>
            </p:xfrm>
            <a:graphic>
              <a:graphicData uri="http://schemas.openxmlformats.org/drawingml/2006/table">
                <a:tbl>
                  <a:tblPr firstRow="1" bandRow="1">
                    <a:tableStyleId>{5940675A-B579-460E-94D1-54222C63F5DA}</a:tableStyleId>
                  </a:tblPr>
                  <a:tblGrid>
                    <a:gridCol w="1665826">
                      <a:extLst>
                        <a:ext uri="{9D8B030D-6E8A-4147-A177-3AD203B41FA5}">
                          <a16:colId xmlns:a16="http://schemas.microsoft.com/office/drawing/2014/main" val="1576531335"/>
                        </a:ext>
                      </a:extLst>
                    </a:gridCol>
                    <a:gridCol w="1665826">
                      <a:extLst>
                        <a:ext uri="{9D8B030D-6E8A-4147-A177-3AD203B41FA5}">
                          <a16:colId xmlns:a16="http://schemas.microsoft.com/office/drawing/2014/main" val="3507019064"/>
                        </a:ext>
                      </a:extLst>
                    </a:gridCol>
                    <a:gridCol w="1665826">
                      <a:extLst>
                        <a:ext uri="{9D8B030D-6E8A-4147-A177-3AD203B41FA5}">
                          <a16:colId xmlns:a16="http://schemas.microsoft.com/office/drawing/2014/main" val="1921430209"/>
                        </a:ext>
                      </a:extLst>
                    </a:gridCol>
                  </a:tblGrid>
                  <a:tr h="505459">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6"/>
                          <a:stretch>
                            <a:fillRect l="-100733" t="-1190" r="-101099" b="-200000"/>
                          </a:stretch>
                        </a:blipFill>
                      </a:tcPr>
                    </a:tc>
                    <a:tc>
                      <a:txBody>
                        <a:bodyPr/>
                        <a:lstStyle/>
                        <a:p>
                          <a:endParaRPr lang="zh-TW"/>
                        </a:p>
                      </a:txBody>
                      <a:tcPr>
                        <a:blipFill>
                          <a:blip r:embed="rId6"/>
                          <a:stretch>
                            <a:fillRect l="-200000" t="-1190" r="-730" b="-200000"/>
                          </a:stretch>
                        </a:blipFill>
                      </a:tcPr>
                    </a:tc>
                    <a:extLst>
                      <a:ext uri="{0D108BD9-81ED-4DB2-BD59-A6C34878D82A}">
                        <a16:rowId xmlns:a16="http://schemas.microsoft.com/office/drawing/2014/main" val="168208475"/>
                      </a:ext>
                    </a:extLst>
                  </a:tr>
                  <a:tr h="505459">
                    <a:tc>
                      <a:txBody>
                        <a:bodyPr/>
                        <a:lstStyle/>
                        <a:p>
                          <a:endParaRPr lang="zh-TW"/>
                        </a:p>
                      </a:txBody>
                      <a:tcPr>
                        <a:blipFill>
                          <a:blip r:embed="rId6"/>
                          <a:stretch>
                            <a:fillRect l="-365" t="-102410" r="-200365" b="-102410"/>
                          </a:stretch>
                        </a:blipFill>
                      </a:tcPr>
                    </a:tc>
                    <a:tc>
                      <a:txBody>
                        <a:bodyPr/>
                        <a:lstStyle/>
                        <a:p>
                          <a:pPr algn="ctr"/>
                          <a:r>
                            <a:rPr lang="en-US" altLang="zh-TW" dirty="0"/>
                            <a:t>0.4820</a:t>
                          </a:r>
                          <a:endParaRPr lang="zh-TW" altLang="en-US" dirty="0"/>
                        </a:p>
                      </a:txBody>
                      <a:tcPr/>
                    </a:tc>
                    <a:tc>
                      <a:txBody>
                        <a:bodyPr/>
                        <a:lstStyle/>
                        <a:p>
                          <a:pPr algn="ctr"/>
                          <a:r>
                            <a:rPr lang="en-US" altLang="zh-TW" dirty="0"/>
                            <a:t>0.5415</a:t>
                          </a:r>
                          <a:endParaRPr lang="zh-TW" altLang="en-US" dirty="0"/>
                        </a:p>
                      </a:txBody>
                      <a:tcPr/>
                    </a:tc>
                    <a:extLst>
                      <a:ext uri="{0D108BD9-81ED-4DB2-BD59-A6C34878D82A}">
                        <a16:rowId xmlns:a16="http://schemas.microsoft.com/office/drawing/2014/main" val="3046649366"/>
                      </a:ext>
                    </a:extLst>
                  </a:tr>
                </a:tbl>
              </a:graphicData>
            </a:graphic>
          </p:graphicFrame>
        </mc:Fallback>
      </mc:AlternateContent>
      <p:grpSp>
        <p:nvGrpSpPr>
          <p:cNvPr id="16" name="群組 15">
            <a:extLst>
              <a:ext uri="{FF2B5EF4-FFF2-40B4-BE49-F238E27FC236}">
                <a16:creationId xmlns:a16="http://schemas.microsoft.com/office/drawing/2014/main" id="{3A9AA9E3-AE2E-4EAD-9AD9-87B21E4A3849}"/>
              </a:ext>
            </a:extLst>
          </p:cNvPr>
          <p:cNvGrpSpPr/>
          <p:nvPr/>
        </p:nvGrpSpPr>
        <p:grpSpPr>
          <a:xfrm>
            <a:off x="7296389" y="2495653"/>
            <a:ext cx="3554169" cy="2682732"/>
            <a:chOff x="7296389" y="2495653"/>
            <a:chExt cx="3554169" cy="2682732"/>
          </a:xfrm>
        </p:grpSpPr>
        <p:grpSp>
          <p:nvGrpSpPr>
            <p:cNvPr id="15" name="群組 14">
              <a:extLst>
                <a:ext uri="{FF2B5EF4-FFF2-40B4-BE49-F238E27FC236}">
                  <a16:creationId xmlns:a16="http://schemas.microsoft.com/office/drawing/2014/main" id="{E22C9A3F-F9F1-4DE8-870B-392C9E5BF626}"/>
                </a:ext>
              </a:extLst>
            </p:cNvPr>
            <p:cNvGrpSpPr/>
            <p:nvPr/>
          </p:nvGrpSpPr>
          <p:grpSpPr>
            <a:xfrm>
              <a:off x="7296389" y="2495653"/>
              <a:ext cx="3554169" cy="2600146"/>
              <a:chOff x="7296389" y="2495653"/>
              <a:chExt cx="3554169" cy="2600146"/>
            </a:xfrm>
          </p:grpSpPr>
          <p:pic>
            <p:nvPicPr>
              <p:cNvPr id="4" name="圖片 3">
                <a:extLst>
                  <a:ext uri="{FF2B5EF4-FFF2-40B4-BE49-F238E27FC236}">
                    <a16:creationId xmlns:a16="http://schemas.microsoft.com/office/drawing/2014/main" id="{1DF93882-BEAE-4255-927B-C32B3E47DCA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88620" y="2495653"/>
                <a:ext cx="3361938" cy="2521831"/>
              </a:xfrm>
              <a:prstGeom prst="rect">
                <a:avLst/>
              </a:prstGeom>
            </p:spPr>
          </p:pic>
          <p:sp>
            <p:nvSpPr>
              <p:cNvPr id="12" name="矩形 11">
                <a:extLst>
                  <a:ext uri="{FF2B5EF4-FFF2-40B4-BE49-F238E27FC236}">
                    <a16:creationId xmlns:a16="http://schemas.microsoft.com/office/drawing/2014/main" id="{D040F599-6FC1-44A8-8C27-B8DD4A286249}"/>
                  </a:ext>
                </a:extLst>
              </p:cNvPr>
              <p:cNvSpPr/>
              <p:nvPr/>
            </p:nvSpPr>
            <p:spPr>
              <a:xfrm>
                <a:off x="9169589" y="4873940"/>
                <a:ext cx="386953"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矩形 38">
                <a:extLst>
                  <a:ext uri="{FF2B5EF4-FFF2-40B4-BE49-F238E27FC236}">
                    <a16:creationId xmlns:a16="http://schemas.microsoft.com/office/drawing/2014/main" id="{98EB2E09-E69D-43D9-9DB4-3AEB2E852106}"/>
                  </a:ext>
                </a:extLst>
              </p:cNvPr>
              <p:cNvSpPr/>
              <p:nvPr/>
            </p:nvSpPr>
            <p:spPr>
              <a:xfrm>
                <a:off x="7296389" y="3106323"/>
                <a:ext cx="328942" cy="11536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9F3BB33E-CCE5-4B81-AC4D-328FD9F17DB1}"/>
                    </a:ext>
                  </a:extLst>
                </p:cNvPr>
                <p:cNvSpPr txBox="1"/>
                <p:nvPr/>
              </p:nvSpPr>
              <p:spPr>
                <a:xfrm>
                  <a:off x="8298938" y="4809053"/>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I</m:t>
                        </m:r>
                        <m:r>
                          <m:rPr>
                            <m:sty m:val="p"/>
                          </m:rPr>
                          <a:rPr lang="en-US" altLang="zh-TW" b="0" i="0" smtClean="0">
                            <a:latin typeface="Cambria Math" panose="02040503050406030204" pitchFamily="18" charset="0"/>
                            <a:ea typeface="Cambria Math" panose="02040503050406030204" pitchFamily="18" charset="0"/>
                          </a:rPr>
                          <m:t>sotropy</m:t>
                        </m:r>
                      </m:oMath>
                    </m:oMathPara>
                  </a14:m>
                  <a:endParaRPr lang="zh-TW" altLang="en-US" sz="2400" dirty="0"/>
                </a:p>
              </p:txBody>
            </p:sp>
          </mc:Choice>
          <mc:Fallback xmlns="">
            <p:sp>
              <p:nvSpPr>
                <p:cNvPr id="40" name="文字方塊 39">
                  <a:extLst>
                    <a:ext uri="{FF2B5EF4-FFF2-40B4-BE49-F238E27FC236}">
                      <a16:creationId xmlns:a16="http://schemas.microsoft.com/office/drawing/2014/main" id="{9F3BB33E-CCE5-4B81-AC4D-328FD9F17DB1}"/>
                    </a:ext>
                  </a:extLst>
                </p:cNvPr>
                <p:cNvSpPr txBox="1">
                  <a:spLocks noRot="1" noChangeAspect="1" noMove="1" noResize="1" noEditPoints="1" noAdjustHandles="1" noChangeArrowheads="1" noChangeShapeType="1" noTextEdit="1"/>
                </p:cNvSpPr>
                <p:nvPr/>
              </p:nvSpPr>
              <p:spPr>
                <a:xfrm>
                  <a:off x="8298938" y="4809053"/>
                  <a:ext cx="1832580" cy="369332"/>
                </a:xfrm>
                <a:prstGeom prst="rect">
                  <a:avLst/>
                </a:prstGeom>
                <a:blipFill>
                  <a:blip r:embed="rId8"/>
                  <a:stretch>
                    <a:fillRect b="-1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A2D3E256-5700-43EB-B5A0-FE5D57B0C00D}"/>
                    </a:ext>
                  </a:extLst>
                </p:cNvPr>
                <p:cNvSpPr txBox="1"/>
                <p:nvPr/>
              </p:nvSpPr>
              <p:spPr>
                <a:xfrm rot="16200000">
                  <a:off x="6359945" y="3534958"/>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41" name="文字方塊 40">
                  <a:extLst>
                    <a:ext uri="{FF2B5EF4-FFF2-40B4-BE49-F238E27FC236}">
                      <a16:creationId xmlns:a16="http://schemas.microsoft.com/office/drawing/2014/main" id="{A2D3E256-5700-43EB-B5A0-FE5D57B0C00D}"/>
                    </a:ext>
                  </a:extLst>
                </p:cNvPr>
                <p:cNvSpPr txBox="1">
                  <a:spLocks noRot="1" noChangeAspect="1" noMove="1" noResize="1" noEditPoints="1" noAdjustHandles="1" noChangeArrowheads="1" noChangeShapeType="1" noTextEdit="1"/>
                </p:cNvSpPr>
                <p:nvPr/>
              </p:nvSpPr>
              <p:spPr>
                <a:xfrm rot="16200000">
                  <a:off x="6359945" y="3534958"/>
                  <a:ext cx="2192139" cy="276999"/>
                </a:xfrm>
                <a:prstGeom prst="rect">
                  <a:avLst/>
                </a:prstGeom>
                <a:blipFill>
                  <a:blip r:embed="rId9"/>
                  <a:stretch>
                    <a:fillRect l="-2174" t="-3064" r="-32609" b="-2507"/>
                  </a:stretch>
                </a:blipFill>
              </p:spPr>
              <p:txBody>
                <a:bodyPr/>
                <a:lstStyle/>
                <a:p>
                  <a:r>
                    <a:rPr lang="zh-TW" altLang="en-US">
                      <a:noFill/>
                    </a:rPr>
                    <a:t> </a:t>
                  </a:r>
                </a:p>
              </p:txBody>
            </p:sp>
          </mc:Fallback>
        </mc:AlternateContent>
      </p:grpSp>
      <p:sp>
        <p:nvSpPr>
          <p:cNvPr id="43" name="文字方塊 42">
            <a:extLst>
              <a:ext uri="{FF2B5EF4-FFF2-40B4-BE49-F238E27FC236}">
                <a16:creationId xmlns:a16="http://schemas.microsoft.com/office/drawing/2014/main" id="{82F28938-2A5C-4416-BA1A-71DD43EDEEF8}"/>
              </a:ext>
            </a:extLst>
          </p:cNvPr>
          <p:cNvSpPr txBox="1"/>
          <p:nvPr/>
        </p:nvSpPr>
        <p:spPr>
          <a:xfrm>
            <a:off x="6592957" y="5166639"/>
            <a:ext cx="6176432"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Histograms have the same resolution (0.011).</a:t>
            </a:r>
          </a:p>
        </p:txBody>
      </p:sp>
    </p:spTree>
    <p:extLst>
      <p:ext uri="{BB962C8B-B14F-4D97-AF65-F5344CB8AC3E}">
        <p14:creationId xmlns:p14="http://schemas.microsoft.com/office/powerpoint/2010/main" val="8542564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83567"/>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𝑊𝑜𝑟𝑘𝑠𝑝𝑎𝑐𝑒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𝑟𝑎𝑑𝑖𝑢𝑠</m:t>
                    </m:r>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ℓ</m:t>
                        </m:r>
                      </m:e>
                    </m:acc>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83567"/>
              </a:xfrm>
              <a:prstGeom prst="rect">
                <a:avLst/>
              </a:prstGeom>
              <a:blipFill>
                <a:blip r:embed="rId2"/>
                <a:stretch>
                  <a:fillRect l="-311" t="-1613" b="-209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103976"/>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𝐹𝑙𝑢𝑥</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𝑑𝑖𝑠𝑡𝑟𝑖𝑏𝑢𝑡𝑖𝑜𝑛</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𝑚𝑎𝑡𝑟𝑖𝑥</m:t>
                    </m:r>
                    <m:r>
                      <a:rPr lang="en-US" altLang="zh-TW" b="0"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103976"/>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7423A256-C166-4717-91CD-2EEEBEC6306E}"/>
                  </a:ext>
                </a:extLst>
              </p:cNvPr>
              <p:cNvSpPr txBox="1"/>
              <p:nvPr/>
            </p:nvSpPr>
            <p:spPr>
              <a:xfrm>
                <a:off x="110067" y="1641632"/>
                <a:ext cx="4258733" cy="39767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𝐶𝑢𝑟𝑟𝑒𝑛𝑡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𝑓𝑖𝑒𝑙𝑑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endParaRPr lang="zh-TW" altLang="en-US" dirty="0"/>
              </a:p>
            </p:txBody>
          </p:sp>
        </mc:Choice>
        <mc:Fallback xmlns="">
          <p:sp>
            <p:nvSpPr>
              <p:cNvPr id="15" name="文字方塊 14">
                <a:extLst>
                  <a:ext uri="{FF2B5EF4-FFF2-40B4-BE49-F238E27FC236}">
                    <a16:creationId xmlns:a16="http://schemas.microsoft.com/office/drawing/2014/main" id="{7423A256-C166-4717-91CD-2EEEBEC6306E}"/>
                  </a:ext>
                </a:extLst>
              </p:cNvPr>
              <p:cNvSpPr txBox="1">
                <a:spLocks noRot="1" noChangeAspect="1" noMove="1" noResize="1" noEditPoints="1" noAdjustHandles="1" noChangeArrowheads="1" noChangeShapeType="1" noTextEdit="1"/>
              </p:cNvSpPr>
              <p:nvPr/>
            </p:nvSpPr>
            <p:spPr>
              <a:xfrm>
                <a:off x="110067" y="1641632"/>
                <a:ext cx="4258733" cy="397673"/>
              </a:xfrm>
              <a:prstGeom prst="rect">
                <a:avLst/>
              </a:prstGeom>
              <a:blipFill>
                <a:blip r:embed="rId4"/>
                <a:stretch>
                  <a:fillRect l="-858" b="-151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594BBAD5-0B9C-40E7-A139-CD14DD1A069D}"/>
                  </a:ext>
                </a:extLst>
              </p:cNvPr>
              <p:cNvSpPr txBox="1"/>
              <p:nvPr/>
            </p:nvSpPr>
            <p:spPr>
              <a:xfrm>
                <a:off x="110065" y="2855412"/>
                <a:ext cx="8585202" cy="65601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𝑃𝑟𝑒𝑑𝑖𝑐𝑡</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𝑒𝑟𝑟𝑜𝑟</m:t>
                    </m:r>
                    <m:r>
                      <a:rPr lang="en-US" altLang="zh-TW" b="0" i="1" smtClean="0">
                        <a:latin typeface="Cambria Math" panose="02040503050406030204" pitchFamily="18" charset="0"/>
                        <a:ea typeface="Cambria Math" panose="02040503050406030204" pitchFamily="18" charset="0"/>
                      </a:rPr>
                      <m:t>=</m:t>
                    </m:r>
                    <m:rad>
                      <m:radPr>
                        <m:degHide m:val="on"/>
                        <m:ctrlPr>
                          <a:rPr lang="en-US" altLang="zh-TW" b="0" i="1" smtClean="0">
                            <a:latin typeface="Cambria Math" panose="02040503050406030204" pitchFamily="18" charset="0"/>
                            <a:ea typeface="Cambria Math" panose="02040503050406030204" pitchFamily="18" charset="0"/>
                          </a:rPr>
                        </m:ctrlPr>
                      </m:radPr>
                      <m:deg/>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𝐽</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𝑝</m:t>
                                </m:r>
                              </m:sub>
                            </m:sSub>
                          </m:den>
                        </m:f>
                      </m:e>
                    </m:rad>
                    <m:r>
                      <a:rPr lang="en-US" altLang="zh-TW" b="0" i="1" smtClean="0">
                        <a:latin typeface="Cambria Math" panose="02040503050406030204" pitchFamily="18" charset="0"/>
                        <a:ea typeface="Cambria Math" panose="02040503050406030204" pitchFamily="18" charset="0"/>
                      </a:rPr>
                      <m:t> </m:t>
                    </m:r>
                  </m:oMath>
                </a14:m>
                <a:r>
                  <a:rPr lang="en-US" altLang="zh-TW" dirty="0"/>
                  <a:t>, where </a:t>
                </a:r>
                <a14:m>
                  <m:oMath xmlns:m="http://schemas.openxmlformats.org/officeDocument/2006/math">
                    <m:r>
                      <a:rPr lang="en-US" altLang="zh-TW" b="0" i="1" smtClean="0">
                        <a:latin typeface="Cambria Math" panose="02040503050406030204" pitchFamily="18" charset="0"/>
                      </a:rPr>
                      <m:t>𝐽</m:t>
                    </m:r>
                    <m:r>
                      <a:rPr lang="en-US" altLang="zh-TW" b="0" i="1" smtClean="0">
                        <a:latin typeface="Cambria Math" panose="02040503050406030204" pitchFamily="18" charset="0"/>
                      </a:rPr>
                      <m:t>=</m:t>
                    </m:r>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𝑗</m:t>
                        </m:r>
                      </m:sub>
                      <m:sup/>
                      <m:e>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𝑖</m:t>
                            </m:r>
                          </m:sub>
                          <m:sup/>
                          <m:e>
                            <m:sSup>
                              <m:sSupPr>
                                <m:ctrlPr>
                                  <a:rPr lang="en-US" altLang="zh-TW" b="0" i="1" smtClean="0">
                                    <a:latin typeface="Cambria Math" panose="02040503050406030204" pitchFamily="18" charset="0"/>
                                  </a:rPr>
                                </m:ctrlPr>
                              </m:sSupPr>
                              <m:e>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𝜀</m:t>
                                    </m:r>
                                  </m:e>
                                  <m:sub>
                                    <m:r>
                                      <a:rPr lang="en-US" altLang="zh-TW" b="0" i="1" smtClean="0">
                                        <a:latin typeface="Cambria Math" panose="02040503050406030204" pitchFamily="18" charset="0"/>
                                      </a:rPr>
                                      <m:t>𝑖𝑗</m:t>
                                    </m:r>
                                  </m:sub>
                                </m:sSub>
                              </m:e>
                              <m:sup>
                                <m:r>
                                  <a:rPr lang="en-US" altLang="zh-TW" b="0" i="1" smtClean="0">
                                    <a:latin typeface="Cambria Math" panose="02040503050406030204" pitchFamily="18" charset="0"/>
                                  </a:rPr>
                                  <m:t>𝑇</m:t>
                                </m:r>
                              </m:sup>
                            </m:sSup>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𝜀</m:t>
                                </m:r>
                              </m:e>
                              <m:sub>
                                <m:r>
                                  <a:rPr lang="en-US" altLang="zh-TW" b="0" i="1" smtClean="0">
                                    <a:latin typeface="Cambria Math" panose="02040503050406030204" pitchFamily="18" charset="0"/>
                                  </a:rPr>
                                  <m:t>𝑖𝑗</m:t>
                                </m:r>
                              </m:sub>
                            </m:sSub>
                          </m:e>
                        </m:nary>
                      </m:e>
                    </m:nary>
                  </m:oMath>
                </a14:m>
                <a:endParaRPr lang="zh-TW" altLang="en-US" dirty="0"/>
              </a:p>
            </p:txBody>
          </p:sp>
        </mc:Choice>
        <mc:Fallback xmlns="">
          <p:sp>
            <p:nvSpPr>
              <p:cNvPr id="20" name="文字方塊 19">
                <a:extLst>
                  <a:ext uri="{FF2B5EF4-FFF2-40B4-BE49-F238E27FC236}">
                    <a16:creationId xmlns:a16="http://schemas.microsoft.com/office/drawing/2014/main" id="{594BBAD5-0B9C-40E7-A139-CD14DD1A069D}"/>
                  </a:ext>
                </a:extLst>
              </p:cNvPr>
              <p:cNvSpPr txBox="1">
                <a:spLocks noRot="1" noChangeAspect="1" noMove="1" noResize="1" noEditPoints="1" noAdjustHandles="1" noChangeArrowheads="1" noChangeShapeType="1" noTextEdit="1"/>
              </p:cNvSpPr>
              <p:nvPr/>
            </p:nvSpPr>
            <p:spPr>
              <a:xfrm>
                <a:off x="110065" y="2855412"/>
                <a:ext cx="8585202" cy="656013"/>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110066" y="2289415"/>
                <a:ext cx="4258733" cy="39767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𝑉𝑜𝑙𝑡𝑎𝑔𝑒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𝑓𝑖𝑒𝑙𝑑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oMath>
                </a14:m>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110066" y="2289415"/>
                <a:ext cx="4258733" cy="397673"/>
              </a:xfrm>
              <a:prstGeom prst="rect">
                <a:avLst/>
              </a:prstGeom>
              <a:blipFill>
                <a:blip r:embed="rId7"/>
                <a:stretch>
                  <a:fillRect l="-858" b="-169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7A83D49E-FBA0-44F1-BA58-A7ED9A0C3CBA}"/>
                  </a:ext>
                </a:extLst>
              </p:cNvPr>
              <p:cNvSpPr txBox="1"/>
              <p:nvPr/>
            </p:nvSpPr>
            <p:spPr>
              <a:xfrm>
                <a:off x="110062" y="4250299"/>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𝐼𝑠𝑜𝑡𝑟𝑜𝑝𝑦</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𝜅</m:t>
                    </m:r>
                  </m:oMath>
                </a14:m>
                <a:endParaRPr lang="zh-TW" altLang="en-US" dirty="0"/>
              </a:p>
            </p:txBody>
          </p:sp>
        </mc:Choice>
        <mc:Fallback xmlns="">
          <p:sp>
            <p:nvSpPr>
              <p:cNvPr id="10" name="文字方塊 9">
                <a:extLst>
                  <a:ext uri="{FF2B5EF4-FFF2-40B4-BE49-F238E27FC236}">
                    <a16:creationId xmlns:a16="http://schemas.microsoft.com/office/drawing/2014/main" id="{7A83D49E-FBA0-44F1-BA58-A7ED9A0C3CBA}"/>
                  </a:ext>
                </a:extLst>
              </p:cNvPr>
              <p:cNvSpPr txBox="1">
                <a:spLocks noRot="1" noChangeAspect="1" noMove="1" noResize="1" noEditPoints="1" noAdjustHandles="1" noChangeArrowheads="1" noChangeShapeType="1" noTextEdit="1"/>
              </p:cNvSpPr>
              <p:nvPr/>
            </p:nvSpPr>
            <p:spPr>
              <a:xfrm>
                <a:off x="110062" y="4250299"/>
                <a:ext cx="4258733" cy="369332"/>
              </a:xfrm>
              <a:prstGeom prst="rect">
                <a:avLst/>
              </a:prstGeom>
              <a:blipFill>
                <a:blip r:embed="rId8"/>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CC97BA21-92F0-4A4F-926E-5D3A151931D0}"/>
                  </a:ext>
                </a:extLst>
              </p:cNvPr>
              <p:cNvSpPr txBox="1"/>
              <p:nvPr/>
            </p:nvSpPr>
            <p:spPr>
              <a:xfrm>
                <a:off x="110062" y="3598807"/>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i="1" smtClean="0">
                        <a:latin typeface="Cambria Math" panose="02040503050406030204" pitchFamily="18" charset="0"/>
                        <a:ea typeface="Cambria Math" panose="02040503050406030204" pitchFamily="18" charset="0"/>
                      </a:rPr>
                      <m:t>𝐶</m:t>
                    </m:r>
                    <m:r>
                      <a:rPr lang="en-US" altLang="zh-TW" b="0" i="1" smtClean="0">
                        <a:latin typeface="Cambria Math" panose="02040503050406030204" pitchFamily="18" charset="0"/>
                        <a:ea typeface="Cambria Math" panose="02040503050406030204" pitchFamily="18" charset="0"/>
                      </a:rPr>
                      <m:t>𝑎𝑝𝑎𝑐𝑖𝑡𝑦</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𝑚𝑒𝑎𝑠𝑢𝑟𝑒</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𝒞</m:t>
                    </m:r>
                    <m:r>
                      <a:rPr lang="en-US" altLang="zh-TW" b="0" i="1" smtClean="0">
                        <a:latin typeface="Cambria Math" panose="02040503050406030204" pitchFamily="18" charset="0"/>
                        <a:ea typeface="Cambria Math" panose="02040503050406030204" pitchFamily="18" charset="0"/>
                      </a:rPr>
                      <m:t> (</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1" name="文字方塊 10">
                <a:extLst>
                  <a:ext uri="{FF2B5EF4-FFF2-40B4-BE49-F238E27FC236}">
                    <a16:creationId xmlns:a16="http://schemas.microsoft.com/office/drawing/2014/main" id="{CC97BA21-92F0-4A4F-926E-5D3A151931D0}"/>
                  </a:ext>
                </a:extLst>
              </p:cNvPr>
              <p:cNvSpPr txBox="1">
                <a:spLocks noRot="1" noChangeAspect="1" noMove="1" noResize="1" noEditPoints="1" noAdjustHandles="1" noChangeArrowheads="1" noChangeShapeType="1" noTextEdit="1"/>
              </p:cNvSpPr>
              <p:nvPr/>
            </p:nvSpPr>
            <p:spPr>
              <a:xfrm>
                <a:off x="110062" y="3598807"/>
                <a:ext cx="4258733" cy="369332"/>
              </a:xfrm>
              <a:prstGeom prst="rect">
                <a:avLst/>
              </a:prstGeom>
              <a:blipFill>
                <a:blip r:embed="rId9"/>
                <a:stretch>
                  <a:fillRect l="-858" t="-116393" b="-17541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AF6FC7C5-863F-44FE-B7F6-035F92FE2774}"/>
                  </a:ext>
                </a:extLst>
              </p:cNvPr>
              <p:cNvSpPr txBox="1"/>
              <p:nvPr/>
            </p:nvSpPr>
            <p:spPr>
              <a:xfrm>
                <a:off x="110061" y="5527641"/>
                <a:ext cx="4258733" cy="621709"/>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𝐴𝑣𝑒𝑟𝑎𝑔𝑒</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𝑓𝑖𝑒𝑙𝑑</m:t>
                    </m:r>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b="0" i="1" smtClean="0">
                                <a:latin typeface="Cambria Math" panose="02040503050406030204" pitchFamily="18" charset="0"/>
                                <a:ea typeface="Cambria Math" panose="02040503050406030204" pitchFamily="18" charset="0"/>
                              </a:rPr>
                              <m:t>𝑗</m:t>
                            </m:r>
                          </m:sub>
                          <m:sup/>
                          <m:e>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b="0" i="1" smtClean="0">
                                    <a:latin typeface="Cambria Math" panose="02040503050406030204" pitchFamily="18" charset="0"/>
                                    <a:ea typeface="Cambria Math" panose="02040503050406030204" pitchFamily="18" charset="0"/>
                                  </a:rPr>
                                  <m:t>𝑖</m:t>
                                </m:r>
                              </m:sub>
                              <m:sup/>
                              <m:e>
                                <m:d>
                                  <m:dPr>
                                    <m:begChr m:val="‖"/>
                                    <m:endChr m:val="‖"/>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e>
                                </m:d>
                              </m:e>
                            </m:nary>
                          </m:e>
                        </m:nary>
                      </m:num>
                      <m:den>
                        <m:r>
                          <a:rPr lang="en-US" altLang="zh-TW" b="0" i="1" smtClean="0">
                            <a:latin typeface="Cambria Math" panose="02040503050406030204" pitchFamily="18" charset="0"/>
                            <a:ea typeface="Cambria Math" panose="02040503050406030204" pitchFamily="18" charset="0"/>
                          </a:rPr>
                          <m:t>6×</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𝑝</m:t>
                            </m:r>
                          </m:sub>
                        </m:sSub>
                      </m:den>
                    </m:f>
                  </m:oMath>
                </a14:m>
                <a:endParaRPr lang="zh-TW" altLang="en-US" dirty="0"/>
              </a:p>
            </p:txBody>
          </p:sp>
        </mc:Choice>
        <mc:Fallback xmlns="">
          <p:sp>
            <p:nvSpPr>
              <p:cNvPr id="12" name="文字方塊 11">
                <a:extLst>
                  <a:ext uri="{FF2B5EF4-FFF2-40B4-BE49-F238E27FC236}">
                    <a16:creationId xmlns:a16="http://schemas.microsoft.com/office/drawing/2014/main" id="{AF6FC7C5-863F-44FE-B7F6-035F92FE2774}"/>
                  </a:ext>
                </a:extLst>
              </p:cNvPr>
              <p:cNvSpPr txBox="1">
                <a:spLocks noRot="1" noChangeAspect="1" noMove="1" noResize="1" noEditPoints="1" noAdjustHandles="1" noChangeArrowheads="1" noChangeShapeType="1" noTextEdit="1"/>
              </p:cNvSpPr>
              <p:nvPr/>
            </p:nvSpPr>
            <p:spPr>
              <a:xfrm>
                <a:off x="110061" y="5527641"/>
                <a:ext cx="4258733" cy="621709"/>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8DE89842-7151-467A-86A6-2337273E03CC}"/>
                  </a:ext>
                </a:extLst>
              </p:cNvPr>
              <p:cNvSpPr txBox="1"/>
              <p:nvPr/>
            </p:nvSpPr>
            <p:spPr>
              <a:xfrm>
                <a:off x="110061" y="4760826"/>
                <a:ext cx="4258733" cy="665054"/>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𝐹𝑟𝑜𝑏𝑒𝑛𝑖𝑢𝑠</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𝑒𝑟𝑟𝑜𝑟</m:t>
                    </m:r>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sSub>
                          <m:sSubPr>
                            <m:ctrlPr>
                              <a:rPr lang="en-US" altLang="zh-TW" b="0" i="1" smtClean="0">
                                <a:latin typeface="Cambria Math" panose="02040503050406030204" pitchFamily="18" charset="0"/>
                                <a:ea typeface="Cambria Math" panose="02040503050406030204" pitchFamily="18" charset="0"/>
                              </a:rPr>
                            </m:ctrlPr>
                          </m:sSubPr>
                          <m:e>
                            <m:d>
                              <m:dPr>
                                <m:begChr m:val="‖"/>
                                <m:endChr m:val="‖"/>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acc>
                                      <m:accPr>
                                        <m:chr m:val="̅"/>
                                        <m:ctrlPr>
                                          <a:rPr lang="en-US" altLang="zh-TW" b="0" i="1" smtClean="0">
                                            <a:latin typeface="Cambria Math" panose="02040503050406030204" pitchFamily="18" charset="0"/>
                                            <a:ea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𝐾</m:t>
                                        </m:r>
                                      </m:e>
                                    </m:acc>
                                  </m:e>
                                  <m:sub>
                                    <m:r>
                                      <a:rPr lang="en-US" altLang="zh-TW" b="0" i="1" smtClean="0">
                                        <a:latin typeface="Cambria Math" panose="02040503050406030204" pitchFamily="18" charset="0"/>
                                        <a:ea typeface="Cambria Math" panose="02040503050406030204" pitchFamily="18" charset="0"/>
                                      </a:rPr>
                                      <m:t>𝐼</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acc>
                                      <m:accPr>
                                        <m:chr m:val="̅"/>
                                        <m:ctrlPr>
                                          <a:rPr lang="en-US" altLang="zh-TW" b="0" i="1" smtClean="0">
                                            <a:latin typeface="Cambria Math" panose="02040503050406030204" pitchFamily="18" charset="0"/>
                                            <a:ea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𝐾</m:t>
                                        </m:r>
                                      </m:e>
                                    </m:acc>
                                  </m:e>
                                  <m:sub>
                                    <m:r>
                                      <a:rPr lang="en-US" altLang="zh-TW" b="0" i="1" smtClean="0">
                                        <a:latin typeface="Cambria Math" panose="02040503050406030204" pitchFamily="18" charset="0"/>
                                        <a:ea typeface="Cambria Math" panose="02040503050406030204" pitchFamily="18" charset="0"/>
                                      </a:rPr>
                                      <m:t>𝐼</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𝑎𝑙𝑙</m:t>
                                    </m:r>
                                    <m:r>
                                      <a:rPr lang="en-US" altLang="zh-TW" b="0" i="1" smtClean="0">
                                        <a:latin typeface="Cambria Math" panose="02040503050406030204" pitchFamily="18" charset="0"/>
                                        <a:ea typeface="Cambria Math" panose="02040503050406030204" pitchFamily="18" charset="0"/>
                                      </a:rPr>
                                      <m:t>_</m:t>
                                    </m:r>
                                    <m:r>
                                      <a:rPr lang="en-US" altLang="zh-TW" b="0" i="1" smtClean="0">
                                        <a:latin typeface="Cambria Math" panose="02040503050406030204" pitchFamily="18" charset="0"/>
                                        <a:ea typeface="Cambria Math" panose="02040503050406030204" pitchFamily="18" charset="0"/>
                                      </a:rPr>
                                      <m:t>𝑔𝑟𝑖𝑑</m:t>
                                    </m:r>
                                  </m:sub>
                                </m:sSub>
                              </m:e>
                            </m:d>
                          </m:e>
                          <m:sub>
                            <m:r>
                              <a:rPr lang="en-US" altLang="zh-TW" b="0" i="1" smtClean="0">
                                <a:latin typeface="Cambria Math" panose="02040503050406030204" pitchFamily="18" charset="0"/>
                                <a:ea typeface="Cambria Math" panose="02040503050406030204" pitchFamily="18" charset="0"/>
                              </a:rPr>
                              <m:t>𝐹</m:t>
                            </m:r>
                          </m:sub>
                        </m:sSub>
                      </m:num>
                      <m:den>
                        <m:sSub>
                          <m:sSubPr>
                            <m:ctrlPr>
                              <a:rPr lang="en-US" altLang="zh-TW" i="1">
                                <a:latin typeface="Cambria Math" panose="02040503050406030204" pitchFamily="18" charset="0"/>
                                <a:ea typeface="Cambria Math" panose="02040503050406030204" pitchFamily="18" charset="0"/>
                              </a:rPr>
                            </m:ctrlPr>
                          </m:sSubPr>
                          <m:e>
                            <m:d>
                              <m:dPr>
                                <m:begChr m:val="‖"/>
                                <m:endChr m:val="‖"/>
                                <m:ctrlPr>
                                  <a:rPr lang="en-US" altLang="zh-TW" i="1">
                                    <a:latin typeface="Cambria Math" panose="02040503050406030204" pitchFamily="18" charset="0"/>
                                    <a:ea typeface="Cambria Math" panose="02040503050406030204" pitchFamily="18" charset="0"/>
                                  </a:rPr>
                                </m:ctrlPr>
                              </m:dPr>
                              <m:e>
                                <m:sSub>
                                  <m:sSubPr>
                                    <m:ctrlPr>
                                      <a:rPr lang="en-US" altLang="zh-TW" i="1">
                                        <a:latin typeface="Cambria Math" panose="02040503050406030204" pitchFamily="18" charset="0"/>
                                        <a:ea typeface="Cambria Math" panose="02040503050406030204" pitchFamily="18" charset="0"/>
                                      </a:rPr>
                                    </m:ctrlPr>
                                  </m:sSubPr>
                                  <m:e>
                                    <m:acc>
                                      <m:accPr>
                                        <m:chr m:val="̅"/>
                                        <m:ctrlPr>
                                          <a:rPr lang="en-US" altLang="zh-TW" i="1">
                                            <a:latin typeface="Cambria Math" panose="02040503050406030204" pitchFamily="18" charset="0"/>
                                            <a:ea typeface="Cambria Math" panose="02040503050406030204" pitchFamily="18" charset="0"/>
                                          </a:rPr>
                                        </m:ctrlPr>
                                      </m:accPr>
                                      <m:e>
                                        <m:r>
                                          <a:rPr lang="en-US" altLang="zh-TW" i="1">
                                            <a:latin typeface="Cambria Math" panose="02040503050406030204" pitchFamily="18" charset="0"/>
                                            <a:ea typeface="Cambria Math" panose="02040503050406030204" pitchFamily="18" charset="0"/>
                                          </a:rPr>
                                          <m:t>𝐾</m:t>
                                        </m:r>
                                      </m:e>
                                    </m:acc>
                                  </m:e>
                                  <m:sub>
                                    <m:r>
                                      <a:rPr lang="en-US" altLang="zh-TW" i="1">
                                        <a:latin typeface="Cambria Math" panose="02040503050406030204" pitchFamily="18" charset="0"/>
                                        <a:ea typeface="Cambria Math" panose="02040503050406030204" pitchFamily="18" charset="0"/>
                                      </a:rPr>
                                      <m:t>𝐼</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𝑎𝑙𝑙</m:t>
                                    </m:r>
                                    <m:r>
                                      <a:rPr lang="en-US" altLang="zh-TW" i="1">
                                        <a:latin typeface="Cambria Math" panose="02040503050406030204" pitchFamily="18" charset="0"/>
                                        <a:ea typeface="Cambria Math" panose="02040503050406030204" pitchFamily="18" charset="0"/>
                                      </a:rPr>
                                      <m:t>_</m:t>
                                    </m:r>
                                    <m:r>
                                      <a:rPr lang="en-US" altLang="zh-TW" i="1">
                                        <a:latin typeface="Cambria Math" panose="02040503050406030204" pitchFamily="18" charset="0"/>
                                        <a:ea typeface="Cambria Math" panose="02040503050406030204" pitchFamily="18" charset="0"/>
                                      </a:rPr>
                                      <m:t>𝑔𝑟𝑖𝑑</m:t>
                                    </m:r>
                                  </m:sub>
                                </m:sSub>
                              </m:e>
                            </m:d>
                          </m:e>
                          <m:sub>
                            <m:r>
                              <a:rPr lang="en-US" altLang="zh-TW" i="1">
                                <a:latin typeface="Cambria Math" panose="02040503050406030204" pitchFamily="18" charset="0"/>
                                <a:ea typeface="Cambria Math" panose="02040503050406030204" pitchFamily="18" charset="0"/>
                              </a:rPr>
                              <m:t>𝐹</m:t>
                            </m:r>
                          </m:sub>
                        </m:sSub>
                      </m:den>
                    </m:f>
                  </m:oMath>
                </a14:m>
                <a:endParaRPr lang="zh-TW" altLang="en-US" dirty="0"/>
              </a:p>
            </p:txBody>
          </p:sp>
        </mc:Choice>
        <mc:Fallback xmlns="">
          <p:sp>
            <p:nvSpPr>
              <p:cNvPr id="13" name="文字方塊 12">
                <a:extLst>
                  <a:ext uri="{FF2B5EF4-FFF2-40B4-BE49-F238E27FC236}">
                    <a16:creationId xmlns:a16="http://schemas.microsoft.com/office/drawing/2014/main" id="{8DE89842-7151-467A-86A6-2337273E03CC}"/>
                  </a:ext>
                </a:extLst>
              </p:cNvPr>
              <p:cNvSpPr txBox="1">
                <a:spLocks noRot="1" noChangeAspect="1" noMove="1" noResize="1" noEditPoints="1" noAdjustHandles="1" noChangeArrowheads="1" noChangeShapeType="1" noTextEdit="1"/>
              </p:cNvSpPr>
              <p:nvPr/>
            </p:nvSpPr>
            <p:spPr>
              <a:xfrm>
                <a:off x="110061" y="4760826"/>
                <a:ext cx="4258733" cy="665054"/>
              </a:xfrm>
              <a:prstGeom prst="rect">
                <a:avLst/>
              </a:prstGeom>
              <a:blipFill>
                <a:blip r:embed="rId11"/>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194034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59233" y="552085"/>
                <a:ext cx="11763465" cy="383567"/>
              </a:xfrm>
              <a:prstGeom prst="rect">
                <a:avLst/>
              </a:prstGeom>
              <a:noFill/>
            </p:spPr>
            <p:txBody>
              <a:bodyPr wrap="square">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𝑊𝑜𝑟𝑘𝑠𝑝𝑎𝑐𝑒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𝑟𝑎𝑑𝑖𝑢𝑠</m:t>
                    </m:r>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ℓ</m:t>
                        </m:r>
                      </m:e>
                    </m:acc>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59233" y="552085"/>
                <a:ext cx="11763465" cy="383567"/>
              </a:xfrm>
              <a:prstGeom prst="rect">
                <a:avLst/>
              </a:prstGeom>
              <a:blipFill>
                <a:blip r:embed="rId2"/>
                <a:stretch>
                  <a:fillRect l="-311" t="-1613" b="-20968"/>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0647D3D0-9FF6-4140-B548-39CBAA2EB1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6329" y="4088360"/>
            <a:ext cx="3210826" cy="2294515"/>
          </a:xfrm>
          <a:prstGeom prst="rect">
            <a:avLst/>
          </a:prstGeom>
        </p:spPr>
      </p:pic>
      <p:grpSp>
        <p:nvGrpSpPr>
          <p:cNvPr id="17" name="群組 16">
            <a:extLst>
              <a:ext uri="{FF2B5EF4-FFF2-40B4-BE49-F238E27FC236}">
                <a16:creationId xmlns:a16="http://schemas.microsoft.com/office/drawing/2014/main" id="{D5DCB92A-C2CC-48C2-97DE-948C909F08A7}"/>
              </a:ext>
            </a:extLst>
          </p:cNvPr>
          <p:cNvGrpSpPr/>
          <p:nvPr/>
        </p:nvGrpSpPr>
        <p:grpSpPr>
          <a:xfrm>
            <a:off x="471801" y="4018851"/>
            <a:ext cx="3410596" cy="2477943"/>
            <a:chOff x="373689" y="2613691"/>
            <a:chExt cx="3410596" cy="2477943"/>
          </a:xfrm>
        </p:grpSpPr>
        <p:pic>
          <p:nvPicPr>
            <p:cNvPr id="19" name="圖片 18">
              <a:extLst>
                <a:ext uri="{FF2B5EF4-FFF2-40B4-BE49-F238E27FC236}">
                  <a16:creationId xmlns:a16="http://schemas.microsoft.com/office/drawing/2014/main" id="{FC330E8D-6BCC-41C6-B0DB-5FE7EA37C8C1}"/>
                </a:ext>
              </a:extLst>
            </p:cNvPr>
            <p:cNvPicPr>
              <a:picLocks noChangeAspect="1"/>
            </p:cNvPicPr>
            <p:nvPr/>
          </p:nvPicPr>
          <p:blipFill rotWithShape="1">
            <a:blip r:embed="rId4">
              <a:extLst>
                <a:ext uri="{28A0092B-C50C-407E-A947-70E740481C1C}">
                  <a14:useLocalDpi xmlns:a14="http://schemas.microsoft.com/office/drawing/2010/main" val="0"/>
                </a:ext>
              </a:extLst>
            </a:blip>
            <a:srcRect l="21153" t="21077" r="17406" b="12392"/>
            <a:stretch/>
          </p:blipFill>
          <p:spPr>
            <a:xfrm>
              <a:off x="373689" y="2613691"/>
              <a:ext cx="3410596" cy="2477943"/>
            </a:xfrm>
            <a:prstGeom prst="rect">
              <a:avLst/>
            </a:prstGeom>
          </p:spPr>
        </p:pic>
        <p:grpSp>
          <p:nvGrpSpPr>
            <p:cNvPr id="22" name="群組 21">
              <a:extLst>
                <a:ext uri="{FF2B5EF4-FFF2-40B4-BE49-F238E27FC236}">
                  <a16:creationId xmlns:a16="http://schemas.microsoft.com/office/drawing/2014/main" id="{DB8F274B-4DAF-4AE2-BE62-D92E24C57442}"/>
                </a:ext>
              </a:extLst>
            </p:cNvPr>
            <p:cNvGrpSpPr/>
            <p:nvPr/>
          </p:nvGrpSpPr>
          <p:grpSpPr>
            <a:xfrm>
              <a:off x="1491261" y="3253470"/>
              <a:ext cx="1228561" cy="1176562"/>
              <a:chOff x="2701406" y="2893183"/>
              <a:chExt cx="1228561" cy="1176562"/>
            </a:xfrm>
          </p:grpSpPr>
          <p:sp>
            <p:nvSpPr>
              <p:cNvPr id="23" name="文字方塊 22">
                <a:extLst>
                  <a:ext uri="{FF2B5EF4-FFF2-40B4-BE49-F238E27FC236}">
                    <a16:creationId xmlns:a16="http://schemas.microsoft.com/office/drawing/2014/main" id="{6BD75219-C42D-4D54-88E5-4573E03F3677}"/>
                  </a:ext>
                </a:extLst>
              </p:cNvPr>
              <p:cNvSpPr txBox="1"/>
              <p:nvPr/>
            </p:nvSpPr>
            <p:spPr>
              <a:xfrm>
                <a:off x="3460750" y="3608079"/>
                <a:ext cx="43415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34991103-86F3-49F6-A3C3-DDE3ADEA97E2}"/>
                  </a:ext>
                </a:extLst>
              </p:cNvPr>
              <p:cNvSpPr txBox="1"/>
              <p:nvPr/>
            </p:nvSpPr>
            <p:spPr>
              <a:xfrm>
                <a:off x="2818838" y="3184598"/>
                <a:ext cx="43201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6D0543C9-5E6C-418D-A06E-680AF4C05D6D}"/>
                  </a:ext>
                </a:extLst>
              </p:cNvPr>
              <p:cNvSpPr txBox="1"/>
              <p:nvPr/>
            </p:nvSpPr>
            <p:spPr>
              <a:xfrm>
                <a:off x="3146620" y="2893183"/>
                <a:ext cx="53120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BCD00A2C-BA1F-41B9-8A73-D0F94B1F2451}"/>
                  </a:ext>
                </a:extLst>
              </p:cNvPr>
              <p:cNvSpPr txBox="1"/>
              <p:nvPr/>
            </p:nvSpPr>
            <p:spPr>
              <a:xfrm>
                <a:off x="2701406" y="3608079"/>
                <a:ext cx="44216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7" name="文字方塊 26">
                <a:extLst>
                  <a:ext uri="{FF2B5EF4-FFF2-40B4-BE49-F238E27FC236}">
                    <a16:creationId xmlns:a16="http://schemas.microsoft.com/office/drawing/2014/main" id="{406168C3-D1C8-468C-8D28-7BA7E39E927D}"/>
                  </a:ext>
                </a:extLst>
              </p:cNvPr>
              <p:cNvSpPr txBox="1"/>
              <p:nvPr/>
            </p:nvSpPr>
            <p:spPr>
              <a:xfrm>
                <a:off x="3092558" y="3761968"/>
                <a:ext cx="45865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8" name="文字方塊 27">
                <a:extLst>
                  <a:ext uri="{FF2B5EF4-FFF2-40B4-BE49-F238E27FC236}">
                    <a16:creationId xmlns:a16="http://schemas.microsoft.com/office/drawing/2014/main" id="{E38B544D-7295-4CAB-8C33-BB9A1C9CDC6D}"/>
                  </a:ext>
                </a:extLst>
              </p:cNvPr>
              <p:cNvSpPr txBox="1"/>
              <p:nvPr/>
            </p:nvSpPr>
            <p:spPr>
              <a:xfrm>
                <a:off x="3499145" y="3162394"/>
                <a:ext cx="43082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grpSp>
      <p:sp>
        <p:nvSpPr>
          <p:cNvPr id="29" name="文字方塊 28">
            <a:extLst>
              <a:ext uri="{FF2B5EF4-FFF2-40B4-BE49-F238E27FC236}">
                <a16:creationId xmlns:a16="http://schemas.microsoft.com/office/drawing/2014/main" id="{B459F242-878E-4EA0-B6AE-FDEFA054C93A}"/>
              </a:ext>
            </a:extLst>
          </p:cNvPr>
          <p:cNvSpPr txBox="1"/>
          <p:nvPr/>
        </p:nvSpPr>
        <p:spPr>
          <a:xfrm>
            <a:off x="349006" y="3533815"/>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sp>
        <p:nvSpPr>
          <p:cNvPr id="30" name="文字方塊 29">
            <a:extLst>
              <a:ext uri="{FF2B5EF4-FFF2-40B4-BE49-F238E27FC236}">
                <a16:creationId xmlns:a16="http://schemas.microsoft.com/office/drawing/2014/main" id="{248A8998-E88A-436B-A067-92F7F5072A47}"/>
              </a:ext>
            </a:extLst>
          </p:cNvPr>
          <p:cNvSpPr txBox="1"/>
          <p:nvPr/>
        </p:nvSpPr>
        <p:spPr>
          <a:xfrm>
            <a:off x="5056473" y="3533815"/>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DesignC</a:t>
            </a:r>
            <a:endParaRPr lang="zh-TW" altLang="en-US" dirty="0"/>
          </a:p>
        </p:txBody>
      </p:sp>
      <p:grpSp>
        <p:nvGrpSpPr>
          <p:cNvPr id="7" name="群組 6">
            <a:extLst>
              <a:ext uri="{FF2B5EF4-FFF2-40B4-BE49-F238E27FC236}">
                <a16:creationId xmlns:a16="http://schemas.microsoft.com/office/drawing/2014/main" id="{3080E505-0B6D-4B88-9EE9-98CA92D1328A}"/>
              </a:ext>
            </a:extLst>
          </p:cNvPr>
          <p:cNvGrpSpPr/>
          <p:nvPr/>
        </p:nvGrpSpPr>
        <p:grpSpPr>
          <a:xfrm>
            <a:off x="8454198" y="4045375"/>
            <a:ext cx="3597701" cy="2424894"/>
            <a:chOff x="8454198" y="4045375"/>
            <a:chExt cx="3597701" cy="2424894"/>
          </a:xfrm>
        </p:grpSpPr>
        <p:pic>
          <p:nvPicPr>
            <p:cNvPr id="6" name="圖片 5">
              <a:extLst>
                <a:ext uri="{FF2B5EF4-FFF2-40B4-BE49-F238E27FC236}">
                  <a16:creationId xmlns:a16="http://schemas.microsoft.com/office/drawing/2014/main" id="{71979FCB-0DDE-4C82-860D-B2C916C24D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54198" y="4045375"/>
              <a:ext cx="3597701" cy="2424894"/>
            </a:xfrm>
            <a:prstGeom prst="rect">
              <a:avLst/>
            </a:prstGeom>
          </p:spPr>
        </p:pic>
        <p:sp>
          <p:nvSpPr>
            <p:cNvPr id="31" name="文字方塊 30">
              <a:extLst>
                <a:ext uri="{FF2B5EF4-FFF2-40B4-BE49-F238E27FC236}">
                  <a16:creationId xmlns:a16="http://schemas.microsoft.com/office/drawing/2014/main" id="{DB9B5FEF-C4D2-4AD2-B41E-3992F91B2441}"/>
                </a:ext>
              </a:extLst>
            </p:cNvPr>
            <p:cNvSpPr txBox="1"/>
            <p:nvPr/>
          </p:nvSpPr>
          <p:spPr>
            <a:xfrm>
              <a:off x="10385549" y="5292277"/>
              <a:ext cx="43415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2" name="文字方塊 31">
              <a:extLst>
                <a:ext uri="{FF2B5EF4-FFF2-40B4-BE49-F238E27FC236}">
                  <a16:creationId xmlns:a16="http://schemas.microsoft.com/office/drawing/2014/main" id="{0F4AF7AA-2ACA-4C79-8938-4160674CC25D}"/>
                </a:ext>
              </a:extLst>
            </p:cNvPr>
            <p:cNvSpPr txBox="1"/>
            <p:nvPr/>
          </p:nvSpPr>
          <p:spPr>
            <a:xfrm>
              <a:off x="10450291" y="4899667"/>
              <a:ext cx="43082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3" name="文字方塊 32">
              <a:extLst>
                <a:ext uri="{FF2B5EF4-FFF2-40B4-BE49-F238E27FC236}">
                  <a16:creationId xmlns:a16="http://schemas.microsoft.com/office/drawing/2014/main" id="{BD51B2C1-40C9-4DB6-B965-B7973671D77D}"/>
                </a:ext>
              </a:extLst>
            </p:cNvPr>
            <p:cNvSpPr txBox="1"/>
            <p:nvPr/>
          </p:nvSpPr>
          <p:spPr>
            <a:xfrm>
              <a:off x="10071418" y="4658630"/>
              <a:ext cx="53120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4" name="文字方塊 33">
              <a:extLst>
                <a:ext uri="{FF2B5EF4-FFF2-40B4-BE49-F238E27FC236}">
                  <a16:creationId xmlns:a16="http://schemas.microsoft.com/office/drawing/2014/main" id="{609D8DB5-A122-45F5-8E99-D00485F511C6}"/>
                </a:ext>
              </a:extLst>
            </p:cNvPr>
            <p:cNvSpPr txBox="1"/>
            <p:nvPr/>
          </p:nvSpPr>
          <p:spPr>
            <a:xfrm>
              <a:off x="9675926" y="4975453"/>
              <a:ext cx="43201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5" name="文字方塊 34">
              <a:extLst>
                <a:ext uri="{FF2B5EF4-FFF2-40B4-BE49-F238E27FC236}">
                  <a16:creationId xmlns:a16="http://schemas.microsoft.com/office/drawing/2014/main" id="{BCB3A743-BE66-4767-9E38-52CDF5C05447}"/>
                </a:ext>
              </a:extLst>
            </p:cNvPr>
            <p:cNvSpPr txBox="1"/>
            <p:nvPr/>
          </p:nvSpPr>
          <p:spPr>
            <a:xfrm>
              <a:off x="9650064" y="5300623"/>
              <a:ext cx="44216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6" name="文字方塊 35">
              <a:extLst>
                <a:ext uri="{FF2B5EF4-FFF2-40B4-BE49-F238E27FC236}">
                  <a16:creationId xmlns:a16="http://schemas.microsoft.com/office/drawing/2014/main" id="{88D50B68-29C0-4370-A463-0A54C5E73CEE}"/>
                </a:ext>
              </a:extLst>
            </p:cNvPr>
            <p:cNvSpPr txBox="1"/>
            <p:nvPr/>
          </p:nvSpPr>
          <p:spPr>
            <a:xfrm>
              <a:off x="10093006" y="5463558"/>
              <a:ext cx="45865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4531473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59233" y="552085"/>
                <a:ext cx="11763465" cy="383567"/>
              </a:xfrm>
              <a:prstGeom prst="rect">
                <a:avLst/>
              </a:prstGeom>
              <a:noFill/>
            </p:spPr>
            <p:txBody>
              <a:bodyPr wrap="square">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𝑊𝑜𝑟𝑘𝑠𝑝𝑎𝑐𝑒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𝑟𝑎𝑑𝑖𝑢𝑠</m:t>
                    </m:r>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ℓ</m:t>
                        </m:r>
                      </m:e>
                    </m:acc>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59233" y="552085"/>
                <a:ext cx="11763465" cy="383567"/>
              </a:xfrm>
              <a:prstGeom prst="rect">
                <a:avLst/>
              </a:prstGeom>
              <a:blipFill>
                <a:blip r:embed="rId2"/>
                <a:stretch>
                  <a:fillRect l="-311" t="-1613" b="-209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V2_s_mat"/>
              <p:cNvSpPr txBox="1"/>
              <p:nvPr/>
            </p:nvSpPr>
            <p:spPr>
              <a:xfrm>
                <a:off x="509166" y="3385667"/>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−0.0681</m:t>
                                </m:r>
                              </m:e>
                              <m:e>
                                <m:r>
                                  <a:rPr lang="en-US" sz="1200" b="0" i="0">
                                    <a:latin typeface="Cambria Math" panose="02040503050406030204" pitchFamily="18" charset="0"/>
                                  </a:rPr>
                                  <m:t>−0.2541</m:t>
                                </m:r>
                              </m:e>
                              <m:e>
                                <m:r>
                                  <a:rPr lang="en-US" sz="1200" b="0" i="0">
                                    <a:latin typeface="Cambria Math" panose="02040503050406030204" pitchFamily="18" charset="0"/>
                                  </a:rPr>
                                  <m:t>−0.0761</m:t>
                                </m:r>
                              </m:e>
                              <m:e>
                                <m:r>
                                  <a:rPr lang="en-US" sz="1200" b="0" i="0">
                                    <a:latin typeface="Cambria Math" panose="02040503050406030204" pitchFamily="18" charset="0"/>
                                  </a:rPr>
                                  <m:t>−0.0729</m:t>
                                </m:r>
                              </m:e>
                              <m:e>
                                <m:r>
                                  <a:rPr lang="en-US" sz="1200" b="0" i="0">
                                    <a:latin typeface="Cambria Math" panose="02040503050406030204" pitchFamily="18" charset="0"/>
                                  </a:rPr>
                                  <m:t>−0.2526</m:t>
                                </m:r>
                              </m:e>
                            </m:mr>
                            <m:mr>
                              <m:e>
                                <m:r>
                                  <a:rPr lang="en-US" sz="1200" b="0" i="0">
                                    <a:latin typeface="Cambria Math" panose="02040503050406030204" pitchFamily="18" charset="0"/>
                                  </a:rPr>
                                  <m:t>−0.0693</m:t>
                                </m:r>
                              </m:e>
                              <m:e>
                                <m:r>
                                  <a:rPr lang="en-US" sz="1200" b="0" i="0">
                                    <a:latin typeface="Cambria Math" panose="02040503050406030204" pitchFamily="18" charset="0"/>
                                  </a:rPr>
                                  <m:t>0.8216</m:t>
                                </m:r>
                              </m:e>
                              <m:e>
                                <m:r>
                                  <a:rPr lang="en-US" sz="1200" b="0" i="0">
                                    <a:latin typeface="Cambria Math" panose="02040503050406030204" pitchFamily="18" charset="0"/>
                                  </a:rPr>
                                  <m:t>−0.0802</m:t>
                                </m:r>
                              </m:e>
                              <m:e>
                                <m:r>
                                  <a:rPr lang="en-US" sz="1200" b="0" i="0">
                                    <a:latin typeface="Cambria Math" panose="02040503050406030204" pitchFamily="18" charset="0"/>
                                  </a:rPr>
                                  <m:t>−0.2611</m:t>
                                </m:r>
                              </m:e>
                              <m:e>
                                <m:r>
                                  <a:rPr lang="en-US" sz="1200" b="0" i="0">
                                    <a:latin typeface="Cambria Math" panose="02040503050406030204" pitchFamily="18" charset="0"/>
                                  </a:rPr>
                                  <m:t>−0.2575</m:t>
                                </m:r>
                              </m:e>
                              <m:e>
                                <m:r>
                                  <a:rPr lang="en-US" sz="1200" b="0" i="0">
                                    <a:latin typeface="Cambria Math" panose="02040503050406030204" pitchFamily="18" charset="0"/>
                                  </a:rPr>
                                  <m:t>−0.0790</m:t>
                                </m:r>
                              </m:e>
                            </m:mr>
                            <m:mr>
                              <m:e>
                                <m:r>
                                  <a:rPr lang="en-US" sz="1200" b="0" i="0">
                                    <a:latin typeface="Cambria Math" panose="02040503050406030204" pitchFamily="18" charset="0"/>
                                  </a:rPr>
                                  <m:t>−0.2512</m:t>
                                </m:r>
                              </m:e>
                              <m:e>
                                <m:r>
                                  <a:rPr lang="en-US" sz="1200" b="0" i="0">
                                    <a:latin typeface="Cambria Math" panose="02040503050406030204" pitchFamily="18" charset="0"/>
                                  </a:rPr>
                                  <m:t>−0.0757</m:t>
                                </m:r>
                              </m:e>
                              <m:e>
                                <m:r>
                                  <a:rPr lang="en-US" sz="1200" b="0" i="0">
                                    <a:latin typeface="Cambria Math" panose="02040503050406030204" pitchFamily="18" charset="0"/>
                                  </a:rPr>
                                  <m:t>0.8284</m:t>
                                </m:r>
                              </m:e>
                              <m:e>
                                <m:r>
                                  <a:rPr lang="en-US" sz="1200" b="0" i="0">
                                    <a:latin typeface="Cambria Math" panose="02040503050406030204" pitchFamily="18" charset="0"/>
                                  </a:rPr>
                                  <m:t>−0.0698</m:t>
                                </m:r>
                              </m:e>
                              <m:e>
                                <m:r>
                                  <a:rPr lang="en-US" sz="1200" b="0" i="0">
                                    <a:latin typeface="Cambria Math" panose="02040503050406030204" pitchFamily="18" charset="0"/>
                                  </a:rPr>
                                  <m:t>−0.0749</m:t>
                                </m:r>
                              </m:e>
                              <m:e>
                                <m:r>
                                  <a:rPr lang="en-US" sz="1200" b="0" i="0">
                                    <a:latin typeface="Cambria Math" panose="02040503050406030204" pitchFamily="18" charset="0"/>
                                  </a:rPr>
                                  <m:t>−0.2522</m:t>
                                </m:r>
                              </m:e>
                            </m:mr>
                            <m:mr>
                              <m:e>
                                <m:r>
                                  <a:rPr lang="en-US" sz="1200" b="0" i="0">
                                    <a:latin typeface="Cambria Math" panose="02040503050406030204" pitchFamily="18" charset="0"/>
                                  </a:rPr>
                                  <m:t>−0.0782</m:t>
                                </m:r>
                              </m:e>
                              <m:e>
                                <m:r>
                                  <a:rPr lang="en-US" sz="1200" b="0" i="0">
                                    <a:latin typeface="Cambria Math" panose="02040503050406030204" pitchFamily="18" charset="0"/>
                                  </a:rPr>
                                  <m:t>−0.2595</m:t>
                                </m:r>
                              </m:e>
                              <m:e>
                                <m:r>
                                  <a:rPr lang="en-US" sz="1200" b="0" i="0">
                                    <a:latin typeface="Cambria Math" panose="02040503050406030204" pitchFamily="18" charset="0"/>
                                  </a:rPr>
                                  <m:t>−0.0725</m:t>
                                </m:r>
                              </m:e>
                              <m:e>
                                <m:r>
                                  <a:rPr lang="en-US" sz="1200" b="0" i="0">
                                    <a:latin typeface="Cambria Math" panose="02040503050406030204" pitchFamily="18" charset="0"/>
                                  </a:rPr>
                                  <m:t>0.8175</m:t>
                                </m:r>
                              </m:e>
                              <m:e>
                                <m:r>
                                  <a:rPr lang="en-US" sz="1200" b="0" i="0">
                                    <a:latin typeface="Cambria Math" panose="02040503050406030204" pitchFamily="18" charset="0"/>
                                  </a:rPr>
                                  <m:t>−0.2566</m:t>
                                </m:r>
                              </m:e>
                              <m:e>
                                <m:r>
                                  <a:rPr lang="en-US" sz="1200" b="0" i="0">
                                    <a:latin typeface="Cambria Math" panose="02040503050406030204" pitchFamily="18" charset="0"/>
                                  </a:rPr>
                                  <m:t>−0.0809</m:t>
                                </m:r>
                              </m:e>
                            </m:mr>
                            <m:mr>
                              <m:e>
                                <m:r>
                                  <a:rPr lang="en-US" sz="1200" b="0" i="0">
                                    <a:latin typeface="Cambria Math" panose="02040503050406030204" pitchFamily="18" charset="0"/>
                                  </a:rPr>
                                  <m:t>−0.0779</m:t>
                                </m:r>
                              </m:e>
                              <m:e>
                                <m:r>
                                  <a:rPr lang="en-US" sz="1200" b="0" i="0">
                                    <a:latin typeface="Cambria Math" panose="02040503050406030204" pitchFamily="18" charset="0"/>
                                  </a:rPr>
                                  <m:t>−0.2597</m:t>
                                </m:r>
                              </m:e>
                              <m:e>
                                <m:r>
                                  <a:rPr lang="en-US" sz="1200" b="0" i="0">
                                    <a:latin typeface="Cambria Math" panose="02040503050406030204" pitchFamily="18" charset="0"/>
                                  </a:rPr>
                                  <m:t>−0.0825</m:t>
                                </m:r>
                              </m:e>
                              <m:e>
                                <m:r>
                                  <a:rPr lang="en-US" sz="1200" b="0" i="0">
                                    <a:latin typeface="Cambria Math" panose="02040503050406030204" pitchFamily="18" charset="0"/>
                                  </a:rPr>
                                  <m:t>−0.2599</m:t>
                                </m:r>
                              </m:e>
                              <m:e>
                                <m:r>
                                  <a:rPr lang="en-US" sz="1200" b="0" i="0">
                                    <a:latin typeface="Cambria Math" panose="02040503050406030204" pitchFamily="18" charset="0"/>
                                  </a:rPr>
                                  <m:t>0.8207</m:t>
                                </m:r>
                              </m:e>
                              <m:e>
                                <m:r>
                                  <a:rPr lang="en-US" sz="1200" b="0" i="0">
                                    <a:latin typeface="Cambria Math" panose="02040503050406030204" pitchFamily="18" charset="0"/>
                                  </a:rPr>
                                  <m:t>−0.0708</m:t>
                                </m:r>
                              </m:e>
                            </m:mr>
                            <m:mr>
                              <m:e>
                                <m:r>
                                  <a:rPr lang="en-US" sz="1200" b="0" i="0">
                                    <a:latin typeface="Cambria Math" panose="02040503050406030204" pitchFamily="18" charset="0"/>
                                  </a:rPr>
                                  <m:t>−0.2516</m:t>
                                </m:r>
                              </m:e>
                              <m:e>
                                <m:r>
                                  <a:rPr lang="en-US" sz="1200" b="0" i="0">
                                    <a:latin typeface="Cambria Math" panose="02040503050406030204" pitchFamily="18" charset="0"/>
                                  </a:rPr>
                                  <m:t>−0.0760</m:t>
                                </m:r>
                              </m:e>
                              <m:e>
                                <m:r>
                                  <a:rPr lang="en-US" sz="1200" b="0" i="0">
                                    <a:latin typeface="Cambria Math" panose="02040503050406030204" pitchFamily="18" charset="0"/>
                                  </a:rPr>
                                  <m:t>−0.2539</m:t>
                                </m:r>
                              </m:e>
                              <m:e>
                                <m:r>
                                  <a:rPr lang="en-US" sz="1200" b="0" i="0">
                                    <a:latin typeface="Cambria Math" panose="02040503050406030204" pitchFamily="18" charset="0"/>
                                  </a:rPr>
                                  <m:t>−0.0782</m:t>
                                </m:r>
                              </m:e>
                              <m:e>
                                <m:r>
                                  <a:rPr lang="en-US" sz="1200" b="0" i="0">
                                    <a:latin typeface="Cambria Math" panose="02040503050406030204" pitchFamily="18" charset="0"/>
                                  </a:rPr>
                                  <m:t>−0.0659</m:t>
                                </m:r>
                              </m:e>
                              <m:e>
                                <m:r>
                                  <a:rPr lang="en-US" sz="1200" b="0" i="0">
                                    <a:latin typeface="Cambria Math" panose="02040503050406030204" pitchFamily="18" charset="0"/>
                                  </a:rPr>
                                  <m:t>0.8305</m:t>
                                </m:r>
                              </m:e>
                            </m:mr>
                          </m:m>
                        </m:e>
                      </m:d>
                      <m:r>
                        <a:rPr lang="en-US" sz="1200" b="0" i="0">
                          <a:latin typeface="Cambria Math" panose="02040503050406030204" pitchFamily="18" charset="0"/>
                        </a:rPr>
                        <m:t> </m:t>
                      </m:r>
                    </m:oMath>
                  </m:oMathPara>
                </a14:m>
                <a:endParaRPr lang="en-US" sz="1100" dirty="0"/>
              </a:p>
            </p:txBody>
          </p:sp>
        </mc:Choice>
        <mc:Fallback xmlns="">
          <p:sp>
            <p:nvSpPr>
              <p:cNvPr id="22" name="V2_s_mat"/>
              <p:cNvSpPr txBox="1">
                <a:spLocks noRot="1" noChangeAspect="1" noMove="1" noResize="1" noEditPoints="1" noAdjustHandles="1" noChangeArrowheads="1" noChangeShapeType="1" noTextEdit="1"/>
              </p:cNvSpPr>
              <p:nvPr/>
            </p:nvSpPr>
            <p:spPr>
              <a:xfrm>
                <a:off x="509166" y="3385667"/>
                <a:ext cx="4389119" cy="1115568"/>
              </a:xfrm>
              <a:prstGeom prst="rect">
                <a:avLst/>
              </a:prstGeom>
              <a:blipFill>
                <a:blip r:embed="rId3"/>
                <a:stretch>
                  <a:fillRect l="-5556" r="-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V2_s_sc"/>
              <p:cNvSpPr txBox="1"/>
              <p:nvPr/>
            </p:nvSpPr>
            <p:spPr>
              <a:xfrm>
                <a:off x="199166" y="4689267"/>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smtClean="0">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768.4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24.43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23" name="V2_s_sc"/>
              <p:cNvSpPr txBox="1">
                <a:spLocks noRot="1" noChangeAspect="1" noMove="1" noResize="1" noEditPoints="1" noAdjustHandles="1" noChangeArrowheads="1" noChangeShapeType="1" noTextEdit="1"/>
              </p:cNvSpPr>
              <p:nvPr/>
            </p:nvSpPr>
            <p:spPr>
              <a:xfrm>
                <a:off x="199166" y="4689267"/>
                <a:ext cx="3457787" cy="310896"/>
              </a:xfrm>
              <a:prstGeom prst="rect">
                <a:avLst/>
              </a:prstGeom>
              <a:blipFill>
                <a:blip r:embed="rId4"/>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V2_s_nmae"/>
              <p:cNvSpPr txBox="1"/>
              <p:nvPr/>
            </p:nvSpPr>
            <p:spPr>
              <a:xfrm>
                <a:off x="199166" y="5135667"/>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%=9.84%</m:t>
                      </m:r>
                    </m:oMath>
                  </m:oMathPara>
                </a14:m>
                <a:endParaRPr lang="zh-TW" altLang="en-US" sz="1400" dirty="0"/>
              </a:p>
            </p:txBody>
          </p:sp>
        </mc:Choice>
        <mc:Fallback xmlns="">
          <p:sp>
            <p:nvSpPr>
              <p:cNvPr id="24" name="V2_s_nmae"/>
              <p:cNvSpPr txBox="1">
                <a:spLocks noRot="1" noChangeAspect="1" noMove="1" noResize="1" noEditPoints="1" noAdjustHandles="1" noChangeArrowheads="1" noChangeShapeType="1" noTextEdit="1"/>
              </p:cNvSpPr>
              <p:nvPr/>
            </p:nvSpPr>
            <p:spPr>
              <a:xfrm>
                <a:off x="199166" y="5135667"/>
                <a:ext cx="4191000" cy="549509"/>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V2_e_mat"/>
              <p:cNvSpPr txBox="1"/>
              <p:nvPr/>
            </p:nvSpPr>
            <p:spPr>
              <a:xfrm>
                <a:off x="6040965" y="3311587"/>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−0.1168</m:t>
                                </m:r>
                              </m:e>
                              <m:e>
                                <m:r>
                                  <a:rPr lang="en-US" sz="1200" b="0" i="0">
                                    <a:latin typeface="Cambria Math" panose="02040503050406030204" pitchFamily="18" charset="0"/>
                                  </a:rPr>
                                  <m:t>−0.1417</m:t>
                                </m:r>
                              </m:e>
                              <m:e>
                                <m:r>
                                  <a:rPr lang="en-US" sz="1200" b="0" i="0">
                                    <a:latin typeface="Cambria Math" panose="02040503050406030204" pitchFamily="18" charset="0"/>
                                  </a:rPr>
                                  <m:t>−0.1613</m:t>
                                </m:r>
                              </m:e>
                              <m:e>
                                <m:r>
                                  <a:rPr lang="en-US" sz="1200" b="0" i="0">
                                    <a:latin typeface="Cambria Math" panose="02040503050406030204" pitchFamily="18" charset="0"/>
                                  </a:rPr>
                                  <m:t>−0.1604</m:t>
                                </m:r>
                              </m:e>
                              <m:e>
                                <m:r>
                                  <a:rPr lang="en-US" sz="1200" b="0" i="0">
                                    <a:latin typeface="Cambria Math" panose="02040503050406030204" pitchFamily="18" charset="0"/>
                                  </a:rPr>
                                  <m:t>−0.1415</m:t>
                                </m:r>
                              </m:e>
                            </m:mr>
                            <m:mr>
                              <m:e>
                                <m:r>
                                  <a:rPr lang="en-US" sz="1200" b="0" i="0">
                                    <a:latin typeface="Cambria Math" panose="02040503050406030204" pitchFamily="18" charset="0"/>
                                  </a:rPr>
                                  <m:t>−0.1239</m:t>
                                </m:r>
                              </m:e>
                              <m:e>
                                <m:r>
                                  <a:rPr lang="en-US" sz="1200" b="0" i="0">
                                    <a:latin typeface="Cambria Math" panose="02040503050406030204" pitchFamily="18" charset="0"/>
                                  </a:rPr>
                                  <m:t>0.8166</m:t>
                                </m:r>
                              </m:e>
                              <m:e>
                                <m:r>
                                  <a:rPr lang="en-US" sz="1200" b="0" i="0">
                                    <a:latin typeface="Cambria Math" panose="02040503050406030204" pitchFamily="18" charset="0"/>
                                  </a:rPr>
                                  <m:t>−0.1694</m:t>
                                </m:r>
                              </m:e>
                              <m:e>
                                <m:r>
                                  <a:rPr lang="en-US" sz="1200" b="0" i="0">
                                    <a:latin typeface="Cambria Math" panose="02040503050406030204" pitchFamily="18" charset="0"/>
                                  </a:rPr>
                                  <m:t>−0.1509</m:t>
                                </m:r>
                              </m:e>
                              <m:e>
                                <m:r>
                                  <a:rPr lang="en-US" sz="1200" b="0" i="0">
                                    <a:latin typeface="Cambria Math" panose="02040503050406030204" pitchFamily="18" charset="0"/>
                                  </a:rPr>
                                  <m:t>−0.1511</m:t>
                                </m:r>
                              </m:e>
                              <m:e>
                                <m:r>
                                  <a:rPr lang="en-US" sz="1200" b="0" i="0">
                                    <a:latin typeface="Cambria Math" panose="02040503050406030204" pitchFamily="18" charset="0"/>
                                  </a:rPr>
                                  <m:t>−0.1693</m:t>
                                </m:r>
                              </m:e>
                            </m:mr>
                            <m:mr>
                              <m:e>
                                <m:r>
                                  <a:rPr lang="en-US" sz="1200" b="0" i="0">
                                    <a:latin typeface="Cambria Math" panose="02040503050406030204" pitchFamily="18" charset="0"/>
                                  </a:rPr>
                                  <m:t>−0.1430</m:t>
                                </m:r>
                              </m:e>
                              <m:e>
                                <m:r>
                                  <a:rPr lang="en-US" sz="1200" b="0" i="0">
                                    <a:latin typeface="Cambria Math" panose="02040503050406030204" pitchFamily="18" charset="0"/>
                                  </a:rPr>
                                  <m:t>−0.1627</m:t>
                                </m:r>
                              </m:e>
                              <m:e>
                                <m:r>
                                  <a:rPr lang="en-US" sz="1200" b="0" i="0">
                                    <a:latin typeface="Cambria Math" panose="02040503050406030204" pitchFamily="18" charset="0"/>
                                  </a:rPr>
                                  <m:t>0.8361</m:t>
                                </m:r>
                              </m:e>
                              <m:e>
                                <m:r>
                                  <a:rPr lang="en-US" sz="1200" b="0" i="0">
                                    <a:latin typeface="Cambria Math" panose="02040503050406030204" pitchFamily="18" charset="0"/>
                                  </a:rPr>
                                  <m:t>−0.1170</m:t>
                                </m:r>
                              </m:e>
                              <m:e>
                                <m:r>
                                  <a:rPr lang="en-US" sz="1200" b="0" i="0">
                                    <a:latin typeface="Cambria Math" panose="02040503050406030204" pitchFamily="18" charset="0"/>
                                  </a:rPr>
                                  <m:t>−0.1635</m:t>
                                </m:r>
                              </m:e>
                              <m:e>
                                <m:r>
                                  <a:rPr lang="en-US" sz="1200" b="0" i="0">
                                    <a:latin typeface="Cambria Math" panose="02040503050406030204" pitchFamily="18" charset="0"/>
                                  </a:rPr>
                                  <m:t>−0.1423</m:t>
                                </m:r>
                              </m:e>
                            </m:mr>
                            <m:mr>
                              <m:e>
                                <m:r>
                                  <a:rPr lang="en-US" sz="1200" b="0" i="0">
                                    <a:latin typeface="Cambria Math" panose="02040503050406030204" pitchFamily="18" charset="0"/>
                                  </a:rPr>
                                  <m:t>−0.1713</m:t>
                                </m:r>
                              </m:e>
                              <m:e>
                                <m:r>
                                  <a:rPr lang="en-US" sz="1200" b="0" i="0">
                                    <a:latin typeface="Cambria Math" panose="02040503050406030204" pitchFamily="18" charset="0"/>
                                  </a:rPr>
                                  <m:t>−0.1522</m:t>
                                </m:r>
                              </m:e>
                              <m:e>
                                <m:r>
                                  <a:rPr lang="en-US" sz="1200" b="0" i="0">
                                    <a:latin typeface="Cambria Math" panose="02040503050406030204" pitchFamily="18" charset="0"/>
                                  </a:rPr>
                                  <m:t>−0.1242</m:t>
                                </m:r>
                              </m:e>
                              <m:e>
                                <m:r>
                                  <a:rPr lang="en-US" sz="1200" b="0" i="0">
                                    <a:latin typeface="Cambria Math" panose="02040503050406030204" pitchFamily="18" charset="0"/>
                                  </a:rPr>
                                  <m:t>0.8199</m:t>
                                </m:r>
                              </m:e>
                              <m:e>
                                <m:r>
                                  <a:rPr lang="en-US" sz="1200" b="0" i="0">
                                    <a:latin typeface="Cambria Math" panose="02040503050406030204" pitchFamily="18" charset="0"/>
                                  </a:rPr>
                                  <m:t>−0.1516</m:t>
                                </m:r>
                              </m:e>
                              <m:e>
                                <m:r>
                                  <a:rPr lang="en-US" sz="1200" b="0" i="0">
                                    <a:latin typeface="Cambria Math" panose="02040503050406030204" pitchFamily="18" charset="0"/>
                                  </a:rPr>
                                  <m:t>−0.1722</m:t>
                                </m:r>
                              </m:e>
                            </m:mr>
                            <m:mr>
                              <m:e>
                                <m:r>
                                  <a:rPr lang="en-US" sz="1200" b="0" i="0">
                                    <a:latin typeface="Cambria Math" panose="02040503050406030204" pitchFamily="18" charset="0"/>
                                  </a:rPr>
                                  <m:t>−0.1701</m:t>
                                </m:r>
                              </m:e>
                              <m:e>
                                <m:r>
                                  <a:rPr lang="en-US" sz="1200" b="0" i="0">
                                    <a:latin typeface="Cambria Math" panose="02040503050406030204" pitchFamily="18" charset="0"/>
                                  </a:rPr>
                                  <m:t>−0.1507</m:t>
                                </m:r>
                              </m:e>
                              <m:e>
                                <m:r>
                                  <a:rPr lang="en-US" sz="1200" b="0" i="0">
                                    <a:latin typeface="Cambria Math" panose="02040503050406030204" pitchFamily="18" charset="0"/>
                                  </a:rPr>
                                  <m:t>−0.1705</m:t>
                                </m:r>
                              </m:e>
                              <m:e>
                                <m:r>
                                  <a:rPr lang="en-US" sz="1200" b="0" i="0">
                                    <a:latin typeface="Cambria Math" panose="02040503050406030204" pitchFamily="18" charset="0"/>
                                  </a:rPr>
                                  <m:t>−0.1497</m:t>
                                </m:r>
                              </m:e>
                              <m:e>
                                <m:r>
                                  <a:rPr lang="en-US" sz="1200" b="0" i="0">
                                    <a:latin typeface="Cambria Math" panose="02040503050406030204" pitchFamily="18" charset="0"/>
                                  </a:rPr>
                                  <m:t>0.8119</m:t>
                                </m:r>
                              </m:e>
                              <m:e>
                                <m:r>
                                  <a:rPr lang="en-US" sz="1200" b="0" i="0">
                                    <a:latin typeface="Cambria Math" panose="02040503050406030204" pitchFamily="18" charset="0"/>
                                  </a:rPr>
                                  <m:t>−0.1230</m:t>
                                </m:r>
                              </m:e>
                            </m:mr>
                            <m:mr>
                              <m:e>
                                <m:r>
                                  <a:rPr lang="en-US" sz="1200" b="0" i="0">
                                    <a:latin typeface="Cambria Math" panose="02040503050406030204" pitchFamily="18" charset="0"/>
                                  </a:rPr>
                                  <m:t>−0.1424</m:t>
                                </m:r>
                              </m:e>
                              <m:e>
                                <m:r>
                                  <a:rPr lang="en-US" sz="1200" b="0" i="0">
                                    <a:latin typeface="Cambria Math" panose="02040503050406030204" pitchFamily="18" charset="0"/>
                                  </a:rPr>
                                  <m:t>−0.1624</m:t>
                                </m:r>
                              </m:e>
                              <m:e>
                                <m:r>
                                  <a:rPr lang="en-US" sz="1200" b="0" i="0">
                                    <a:latin typeface="Cambria Math" panose="02040503050406030204" pitchFamily="18" charset="0"/>
                                  </a:rPr>
                                  <m:t>−0.1420</m:t>
                                </m:r>
                              </m:e>
                              <m:e>
                                <m:r>
                                  <a:rPr lang="en-US" sz="1200" b="0" i="0">
                                    <a:latin typeface="Cambria Math" panose="02040503050406030204" pitchFamily="18" charset="0"/>
                                  </a:rPr>
                                  <m:t>−0.1638</m:t>
                                </m:r>
                              </m:e>
                              <m:e>
                                <m:r>
                                  <a:rPr lang="en-US" sz="1200" b="0" i="0">
                                    <a:latin typeface="Cambria Math" panose="02040503050406030204" pitchFamily="18" charset="0"/>
                                  </a:rPr>
                                  <m:t>−0.1173</m:t>
                                </m:r>
                              </m:e>
                              <m:e>
                                <m:r>
                                  <a:rPr lang="en-US" sz="1200" b="0" i="0">
                                    <a:latin typeface="Cambria Math" panose="02040503050406030204" pitchFamily="18" charset="0"/>
                                  </a:rPr>
                                  <m:t>0.8354</m:t>
                                </m:r>
                              </m:e>
                            </m:mr>
                          </m:m>
                        </m:e>
                      </m:d>
                      <m:r>
                        <a:rPr lang="en-US" sz="1200" b="0" i="0">
                          <a:latin typeface="Cambria Math" panose="02040503050406030204" pitchFamily="18" charset="0"/>
                        </a:rPr>
                        <m:t> </m:t>
                      </m:r>
                    </m:oMath>
                  </m:oMathPara>
                </a14:m>
                <a:endParaRPr lang="en-US" sz="1100" dirty="0"/>
              </a:p>
            </p:txBody>
          </p:sp>
        </mc:Choice>
        <mc:Fallback xmlns="">
          <p:sp>
            <p:nvSpPr>
              <p:cNvPr id="25" name="V2_e_mat"/>
              <p:cNvSpPr txBox="1">
                <a:spLocks noRot="1" noChangeAspect="1" noMove="1" noResize="1" noEditPoints="1" noAdjustHandles="1" noChangeArrowheads="1" noChangeShapeType="1" noTextEdit="1"/>
              </p:cNvSpPr>
              <p:nvPr/>
            </p:nvSpPr>
            <p:spPr>
              <a:xfrm>
                <a:off x="6040965" y="3311587"/>
                <a:ext cx="4524587" cy="1115568"/>
              </a:xfrm>
              <a:prstGeom prst="rect">
                <a:avLst/>
              </a:prstGeom>
              <a:blipFill>
                <a:blip r:embed="rId6"/>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V2_e_sc"/>
              <p:cNvSpPr txBox="1"/>
              <p:nvPr/>
            </p:nvSpPr>
            <p:spPr>
              <a:xfrm>
                <a:off x="5742299" y="4712953"/>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smtClean="0">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597.8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26.57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26" name="V2_e_sc"/>
              <p:cNvSpPr txBox="1">
                <a:spLocks noRot="1" noChangeAspect="1" noMove="1" noResize="1" noEditPoints="1" noAdjustHandles="1" noChangeArrowheads="1" noChangeShapeType="1" noTextEdit="1"/>
              </p:cNvSpPr>
              <p:nvPr/>
            </p:nvSpPr>
            <p:spPr>
              <a:xfrm>
                <a:off x="5742299" y="4712953"/>
                <a:ext cx="3457787" cy="310896"/>
              </a:xfrm>
              <a:prstGeom prst="rect">
                <a:avLst/>
              </a:prstGeom>
              <a:blipFill>
                <a:blip r:embed="rId7"/>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V2_e_nmae"/>
              <p:cNvSpPr txBox="1"/>
              <p:nvPr/>
            </p:nvSpPr>
            <p:spPr>
              <a:xfrm>
                <a:off x="5566191" y="5169534"/>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%=0.76%</m:t>
                      </m:r>
                    </m:oMath>
                  </m:oMathPara>
                </a14:m>
                <a:endParaRPr lang="zh-TW" altLang="en-US" sz="1400" dirty="0"/>
              </a:p>
            </p:txBody>
          </p:sp>
        </mc:Choice>
        <mc:Fallback xmlns="">
          <p:sp>
            <p:nvSpPr>
              <p:cNvPr id="27" name="V2_e_nmae"/>
              <p:cNvSpPr txBox="1">
                <a:spLocks noRot="1" noChangeAspect="1" noMove="1" noResize="1" noEditPoints="1" noAdjustHandles="1" noChangeArrowheads="1" noChangeShapeType="1" noTextEdit="1"/>
              </p:cNvSpPr>
              <p:nvPr/>
            </p:nvSpPr>
            <p:spPr>
              <a:xfrm>
                <a:off x="5566191" y="5169534"/>
                <a:ext cx="4191000" cy="549509"/>
              </a:xfrm>
              <a:prstGeom prst="rect">
                <a:avLst/>
              </a:prstGeom>
              <a:blipFill>
                <a:blip r:embed="rId8"/>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V2_e_bias"/>
              <p:cNvSpPr txBox="1"/>
              <p:nvPr/>
            </p:nvSpPr>
            <p:spPr>
              <a:xfrm>
                <a:off x="5420566" y="6010413"/>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0.0003</m:t>
                                </m:r>
                              </m:e>
                              <m:e>
                                <m:r>
                                  <a:rPr lang="en-US" sz="1200" b="0" i="0">
                                    <a:latin typeface="Cambria Math" panose="02040503050406030204" pitchFamily="18" charset="0"/>
                                  </a:rPr>
                                  <m:t>0.0021</m:t>
                                </m:r>
                              </m:e>
                              <m:e>
                                <m:r>
                                  <a:rPr lang="en-US" sz="1200" b="0" i="0">
                                    <a:latin typeface="Cambria Math" panose="02040503050406030204" pitchFamily="18" charset="0"/>
                                  </a:rPr>
                                  <m:t>−0.2143</m:t>
                                </m:r>
                              </m:e>
                              <m:e>
                                <m:r>
                                  <a:rPr lang="en-US" sz="1200" b="0" i="0">
                                    <a:latin typeface="Cambria Math" panose="02040503050406030204" pitchFamily="18" charset="0"/>
                                  </a:rPr>
                                  <m:t>0.2149</m:t>
                                </m:r>
                              </m:e>
                              <m:e>
                                <m:r>
                                  <a:rPr lang="en-US" sz="1200" b="0" i="0">
                                    <a:latin typeface="Cambria Math" panose="02040503050406030204" pitchFamily="18" charset="0"/>
                                  </a:rPr>
                                  <m:t>0.2131</m:t>
                                </m:r>
                              </m:e>
                              <m:e>
                                <m:r>
                                  <a:rPr lang="en-US" sz="1200" b="0" i="0">
                                    <a:latin typeface="Cambria Math" panose="02040503050406030204" pitchFamily="18" charset="0"/>
                                  </a:rPr>
                                  <m:t>−0.2138</m:t>
                                </m:r>
                              </m:e>
                            </m:mr>
                            <m:mr>
                              <m:e>
                                <m:r>
                                  <a:rPr lang="en-US" sz="1200" b="0" i="0">
                                    <a:latin typeface="Cambria Math" panose="02040503050406030204" pitchFamily="18" charset="0"/>
                                  </a:rPr>
                                  <m:t>−0.2126</m:t>
                                </m:r>
                              </m:e>
                              <m:e>
                                <m:r>
                                  <a:rPr lang="en-US" sz="1200" b="0" i="0">
                                    <a:latin typeface="Cambria Math" panose="02040503050406030204" pitchFamily="18" charset="0"/>
                                  </a:rPr>
                                  <m:t>0.2136</m:t>
                                </m:r>
                              </m:e>
                              <m:e>
                                <m:r>
                                  <a:rPr lang="en-US" sz="1200" b="0" i="0">
                                    <a:latin typeface="Cambria Math" panose="02040503050406030204" pitchFamily="18" charset="0"/>
                                  </a:rPr>
                                  <m:t>0.0026</m:t>
                                </m:r>
                              </m:e>
                              <m:e>
                                <m:r>
                                  <a:rPr lang="en-US" sz="1200" b="0" i="0">
                                    <a:latin typeface="Cambria Math" panose="02040503050406030204" pitchFamily="18" charset="0"/>
                                  </a:rPr>
                                  <m:t>−0.0005</m:t>
                                </m:r>
                              </m:e>
                              <m:e>
                                <m:r>
                                  <a:rPr lang="en-US" sz="1200" b="0" i="0">
                                    <a:latin typeface="Cambria Math" panose="02040503050406030204" pitchFamily="18" charset="0"/>
                                  </a:rPr>
                                  <m:t>0.2135</m:t>
                                </m:r>
                              </m:e>
                              <m:e>
                                <m:r>
                                  <a:rPr lang="en-US" sz="1200" b="0" i="0">
                                    <a:latin typeface="Cambria Math" panose="02040503050406030204" pitchFamily="18" charset="0"/>
                                  </a:rPr>
                                  <m:t>−0.2131</m:t>
                                </m:r>
                              </m:e>
                            </m:mr>
                            <m:mr>
                              <m:e>
                                <m:r>
                                  <a:rPr lang="en-US" sz="1200" b="0" i="0">
                                    <a:latin typeface="Cambria Math" panose="02040503050406030204" pitchFamily="18" charset="0"/>
                                  </a:rPr>
                                  <m:t>0.2141</m:t>
                                </m:r>
                              </m:e>
                              <m:e>
                                <m:r>
                                  <a:rPr lang="en-US" sz="1200" b="0" i="0">
                                    <a:latin typeface="Cambria Math" panose="02040503050406030204" pitchFamily="18" charset="0"/>
                                  </a:rPr>
                                  <m:t>−0.2139</m:t>
                                </m:r>
                              </m:e>
                              <m:e>
                                <m:r>
                                  <a:rPr lang="en-US" sz="1200" b="0" i="0">
                                    <a:latin typeface="Cambria Math" panose="02040503050406030204" pitchFamily="18" charset="0"/>
                                  </a:rPr>
                                  <m:t>0.2132</m:t>
                                </m:r>
                              </m:e>
                              <m:e>
                                <m:r>
                                  <a:rPr lang="en-US" sz="1200" b="0" i="0">
                                    <a:latin typeface="Cambria Math" panose="02040503050406030204" pitchFamily="18" charset="0"/>
                                  </a:rPr>
                                  <m:t>−0.2150</m:t>
                                </m:r>
                              </m:e>
                              <m:e>
                                <m:r>
                                  <a:rPr lang="en-US" sz="1200" b="0" i="0">
                                    <a:latin typeface="Cambria Math" panose="02040503050406030204" pitchFamily="18" charset="0"/>
                                  </a:rPr>
                                  <m:t>−0.0029</m:t>
                                </m:r>
                              </m:e>
                              <m:e>
                                <m:r>
                                  <a:rPr lang="en-US" sz="1200" b="0" i="0">
                                    <a:latin typeface="Cambria Math" panose="02040503050406030204" pitchFamily="18" charset="0"/>
                                  </a:rPr>
                                  <m:t>−0.0017</m:t>
                                </m:r>
                              </m:e>
                            </m:mr>
                          </m:m>
                        </m:e>
                      </m:d>
                    </m:oMath>
                  </m:oMathPara>
                </a14:m>
                <a:endParaRPr lang="en-US" sz="1100" dirty="0"/>
              </a:p>
            </p:txBody>
          </p:sp>
        </mc:Choice>
        <mc:Fallback xmlns="">
          <p:sp>
            <p:nvSpPr>
              <p:cNvPr id="28" name="V2_e_bias"/>
              <p:cNvSpPr txBox="1">
                <a:spLocks noRot="1" noChangeAspect="1" noMove="1" noResize="1" noEditPoints="1" noAdjustHandles="1" noChangeArrowheads="1" noChangeShapeType="1" noTextEdit="1"/>
              </p:cNvSpPr>
              <p:nvPr/>
            </p:nvSpPr>
            <p:spPr>
              <a:xfrm>
                <a:off x="5420566" y="6010413"/>
                <a:ext cx="5235787" cy="566928"/>
              </a:xfrm>
              <a:prstGeom prst="rect">
                <a:avLst/>
              </a:prstGeom>
              <a:blipFill>
                <a:blip r:embed="rId9"/>
                <a:stretch>
                  <a:fillRect t="-215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V2_lbl7">
                <a:extLst>
                  <a:ext uri="{FF2B5EF4-FFF2-40B4-BE49-F238E27FC236}">
                    <a16:creationId xmlns:a16="http://schemas.microsoft.com/office/drawing/2014/main" id="{2DEABB3D-9062-4DA4-A120-2766352A3F4C}"/>
                  </a:ext>
                </a:extLst>
              </p:cNvPr>
              <p:cNvSpPr txBox="1"/>
              <p:nvPr/>
            </p:nvSpPr>
            <p:spPr>
              <a:xfrm>
                <a:off x="159233" y="2839643"/>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Single</m:t>
                    </m:r>
                    <m:r>
                      <a:rPr lang="en-US" altLang="zh-TW" b="0" i="0" smtClean="0">
                        <a:latin typeface="Cambria Math" panose="02040503050406030204" pitchFamily="18" charset="0"/>
                        <a:ea typeface="Cambria Math" panose="02040503050406030204" pitchFamily="18" charset="0"/>
                      </a:rPr>
                      <m:t>(13 </m:t>
                    </m:r>
                    <m:r>
                      <m:rPr>
                        <m:sty m:val="p"/>
                      </m:rPr>
                      <a:rPr lang="en-US" altLang="zh-TW" b="0" i="0" smtClean="0">
                        <a:latin typeface="Cambria Math" panose="02040503050406030204" pitchFamily="18" charset="0"/>
                        <a:ea typeface="Cambria Math" panose="02040503050406030204" pitchFamily="18" charset="0"/>
                      </a:rPr>
                      <m:t>points</m:t>
                    </m:r>
                    <m:r>
                      <a:rPr lang="en-US" altLang="zh-TW" b="0" i="0"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29" name="V2_lbl7">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59233" y="2839643"/>
                <a:ext cx="4258733" cy="369332"/>
              </a:xfrm>
              <a:prstGeom prst="rect">
                <a:avLst/>
              </a:prstGeom>
              <a:blipFill>
                <a:blip r:embed="rId10"/>
                <a:stretch>
                  <a:fillRect l="-858" t="-5000" b="-2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V2_lbl8">
                <a:extLst>
                  <a:ext uri="{FF2B5EF4-FFF2-40B4-BE49-F238E27FC236}">
                    <a16:creationId xmlns:a16="http://schemas.microsoft.com/office/drawing/2014/main" id="{32777E16-0C9E-41F4-89C8-D87B57A3B331}"/>
                  </a:ext>
                </a:extLst>
              </p:cNvPr>
              <p:cNvSpPr txBox="1"/>
              <p:nvPr/>
            </p:nvSpPr>
            <p:spPr>
              <a:xfrm>
                <a:off x="5566191" y="2810095"/>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rPr>
                      <m:t>Eighteen</m:t>
                    </m:r>
                  </m:oMath>
                </a14:m>
                <a:r>
                  <a:rPr lang="en-US" altLang="zh-TW" dirty="0"/>
                  <a:t>(7 points)</a:t>
                </a:r>
                <a:endParaRPr lang="zh-TW" altLang="en-US" dirty="0"/>
              </a:p>
            </p:txBody>
          </p:sp>
        </mc:Choice>
        <mc:Fallback xmlns="">
          <p:sp>
            <p:nvSpPr>
              <p:cNvPr id="30" name="V2_lbl8">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5566191" y="2810095"/>
                <a:ext cx="4258733" cy="369332"/>
              </a:xfrm>
              <a:prstGeom prst="rect">
                <a:avLst/>
              </a:prstGeom>
              <a:blipFill>
                <a:blip r:embed="rId11"/>
                <a:stretch>
                  <a:fillRect l="-858" t="-9836"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625066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688966"/>
                <a:ext cx="11763465" cy="383567"/>
              </a:xfrm>
              <a:prstGeom prst="rect">
                <a:avLst/>
              </a:prstGeom>
              <a:noFill/>
            </p:spPr>
            <p:txBody>
              <a:bodyPr wrap="square">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𝑊𝑜𝑟𝑘𝑠𝑝𝑎𝑐𝑒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𝑟𝑎𝑑𝑖𝑢𝑠</m:t>
                    </m:r>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ℓ</m:t>
                        </m:r>
                      </m:e>
                    </m:acc>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688966"/>
                <a:ext cx="11763465" cy="383567"/>
              </a:xfrm>
              <a:prstGeom prst="rect">
                <a:avLst/>
              </a:prstGeom>
              <a:blipFill>
                <a:blip r:embed="rId2"/>
                <a:stretch>
                  <a:fillRect l="-311" t="-1587" b="-19048"/>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id="{06C7A4B2-E924-4184-8436-A1D1B972CE89}"/>
              </a:ext>
            </a:extLst>
          </p:cNvPr>
          <p:cNvSpPr txBox="1"/>
          <p:nvPr/>
        </p:nvSpPr>
        <p:spPr>
          <a:xfrm>
            <a:off x="110067" y="392901"/>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p:grpSp>
        <p:nvGrpSpPr>
          <p:cNvPr id="10" name="群組 9">
            <a:extLst>
              <a:ext uri="{FF2B5EF4-FFF2-40B4-BE49-F238E27FC236}">
                <a16:creationId xmlns:a16="http://schemas.microsoft.com/office/drawing/2014/main" id="{4C7B8BEC-45DC-4B24-B568-DFEEC69818F5}"/>
              </a:ext>
            </a:extLst>
          </p:cNvPr>
          <p:cNvGrpSpPr/>
          <p:nvPr/>
        </p:nvGrpSpPr>
        <p:grpSpPr>
          <a:xfrm>
            <a:off x="7166563" y="3190182"/>
            <a:ext cx="4607019" cy="3433234"/>
            <a:chOff x="7166563" y="3190182"/>
            <a:chExt cx="4607019" cy="3433234"/>
          </a:xfrm>
        </p:grpSpPr>
        <p:grpSp>
          <p:nvGrpSpPr>
            <p:cNvPr id="9" name="群組 8">
              <a:extLst>
                <a:ext uri="{FF2B5EF4-FFF2-40B4-BE49-F238E27FC236}">
                  <a16:creationId xmlns:a16="http://schemas.microsoft.com/office/drawing/2014/main" id="{43032637-D7C4-4DFC-AEAE-D87EF91AE70F}"/>
                </a:ext>
              </a:extLst>
            </p:cNvPr>
            <p:cNvGrpSpPr/>
            <p:nvPr/>
          </p:nvGrpSpPr>
          <p:grpSpPr>
            <a:xfrm>
              <a:off x="7166563" y="3190182"/>
              <a:ext cx="4607019" cy="3430751"/>
              <a:chOff x="7166563" y="3190182"/>
              <a:chExt cx="4607019" cy="3430751"/>
            </a:xfrm>
          </p:grpSpPr>
          <p:pic>
            <p:nvPicPr>
              <p:cNvPr id="5" name="圖片 4">
                <a:extLst>
                  <a:ext uri="{FF2B5EF4-FFF2-40B4-BE49-F238E27FC236}">
                    <a16:creationId xmlns:a16="http://schemas.microsoft.com/office/drawing/2014/main" id="{8CF787B3-F657-4124-8A10-6B7E2380E0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1574" y="3190182"/>
                <a:ext cx="4392008" cy="3327400"/>
              </a:xfrm>
              <a:prstGeom prst="rect">
                <a:avLst/>
              </a:prstGeom>
            </p:spPr>
          </p:pic>
          <p:sp>
            <p:nvSpPr>
              <p:cNvPr id="8" name="矩形 7">
                <a:extLst>
                  <a:ext uri="{FF2B5EF4-FFF2-40B4-BE49-F238E27FC236}">
                    <a16:creationId xmlns:a16="http://schemas.microsoft.com/office/drawing/2014/main" id="{1E368F08-613E-4DDF-91B1-AFF6D0F286DA}"/>
                  </a:ext>
                </a:extLst>
              </p:cNvPr>
              <p:cNvSpPr/>
              <p:nvPr/>
            </p:nvSpPr>
            <p:spPr>
              <a:xfrm>
                <a:off x="9577578" y="6375400"/>
                <a:ext cx="430022" cy="245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7AF6CEA6-09BA-41FA-BF5F-B541F5E14DBB}"/>
                  </a:ext>
                </a:extLst>
              </p:cNvPr>
              <p:cNvSpPr/>
              <p:nvPr/>
            </p:nvSpPr>
            <p:spPr>
              <a:xfrm>
                <a:off x="7166563" y="3996267"/>
                <a:ext cx="430022" cy="1447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21F9B705-4395-4911-B9E6-D57371EC2C88}"/>
                    </a:ext>
                  </a:extLst>
                </p:cNvPr>
                <p:cNvSpPr txBox="1"/>
                <p:nvPr/>
              </p:nvSpPr>
              <p:spPr>
                <a:xfrm rot="16200000">
                  <a:off x="6362016" y="4435619"/>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13" name="文字方塊 12">
                  <a:extLst>
                    <a:ext uri="{FF2B5EF4-FFF2-40B4-BE49-F238E27FC236}">
                      <a16:creationId xmlns:a16="http://schemas.microsoft.com/office/drawing/2014/main" id="{21F9B705-4395-4911-B9E6-D57371EC2C88}"/>
                    </a:ext>
                  </a:extLst>
                </p:cNvPr>
                <p:cNvSpPr txBox="1">
                  <a:spLocks noRot="1" noChangeAspect="1" noMove="1" noResize="1" noEditPoints="1" noAdjustHandles="1" noChangeArrowheads="1" noChangeShapeType="1" noTextEdit="1"/>
                </p:cNvSpPr>
                <p:nvPr/>
              </p:nvSpPr>
              <p:spPr>
                <a:xfrm rot="16200000">
                  <a:off x="6362016" y="4435619"/>
                  <a:ext cx="2192139" cy="276999"/>
                </a:xfrm>
                <a:prstGeom prst="rect">
                  <a:avLst/>
                </a:prstGeom>
                <a:blipFill>
                  <a:blip r:embed="rId4"/>
                  <a:stretch>
                    <a:fillRect l="-4444" t="-3064" r="-35556" b="-25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0ADFD4B6-BB0A-4423-872F-82E5CDC15982}"/>
                    </a:ext>
                  </a:extLst>
                </p:cNvPr>
                <p:cNvSpPr txBox="1"/>
                <p:nvPr/>
              </p:nvSpPr>
              <p:spPr>
                <a:xfrm>
                  <a:off x="8876299" y="6254084"/>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I</m:t>
                        </m:r>
                        <m:r>
                          <m:rPr>
                            <m:sty m:val="p"/>
                          </m:rPr>
                          <a:rPr lang="en-US" altLang="zh-TW" b="0" i="0" smtClean="0">
                            <a:latin typeface="Cambria Math" panose="02040503050406030204" pitchFamily="18" charset="0"/>
                            <a:ea typeface="Cambria Math" panose="02040503050406030204" pitchFamily="18" charset="0"/>
                          </a:rPr>
                          <m:t>sotropy</m:t>
                        </m:r>
                      </m:oMath>
                    </m:oMathPara>
                  </a14:m>
                  <a:endParaRPr lang="zh-TW" altLang="en-US" sz="2400" dirty="0"/>
                </a:p>
              </p:txBody>
            </p:sp>
          </mc:Choice>
          <mc:Fallback xmlns="">
            <p:sp>
              <p:nvSpPr>
                <p:cNvPr id="14" name="文字方塊 13">
                  <a:extLst>
                    <a:ext uri="{FF2B5EF4-FFF2-40B4-BE49-F238E27FC236}">
                      <a16:creationId xmlns:a16="http://schemas.microsoft.com/office/drawing/2014/main" id="{0ADFD4B6-BB0A-4423-872F-82E5CDC15982}"/>
                    </a:ext>
                  </a:extLst>
                </p:cNvPr>
                <p:cNvSpPr txBox="1">
                  <a:spLocks noRot="1" noChangeAspect="1" noMove="1" noResize="1" noEditPoints="1" noAdjustHandles="1" noChangeArrowheads="1" noChangeShapeType="1" noTextEdit="1"/>
                </p:cNvSpPr>
                <p:nvPr/>
              </p:nvSpPr>
              <p:spPr>
                <a:xfrm>
                  <a:off x="8876299" y="6254084"/>
                  <a:ext cx="1832580" cy="369332"/>
                </a:xfrm>
                <a:prstGeom prst="rect">
                  <a:avLst/>
                </a:prstGeom>
                <a:blipFill>
                  <a:blip r:embed="rId5"/>
                  <a:stretch>
                    <a:fillRect b="-9836"/>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graphicFrame>
            <p:nvGraphicFramePr>
              <p:cNvPr id="16" name="表格 10">
                <a:extLst>
                  <a:ext uri="{FF2B5EF4-FFF2-40B4-BE49-F238E27FC236}">
                    <a16:creationId xmlns:a16="http://schemas.microsoft.com/office/drawing/2014/main" id="{F88CC75A-A0B9-4724-ABF0-220535AE0766}"/>
                  </a:ext>
                </a:extLst>
              </p:cNvPr>
              <p:cNvGraphicFramePr>
                <a:graphicFrameLocks noGrp="1"/>
              </p:cNvGraphicFramePr>
              <p:nvPr>
                <p:extLst>
                  <p:ext uri="{D42A27DB-BD31-4B8C-83A1-F6EECF244321}">
                    <p14:modId xmlns:p14="http://schemas.microsoft.com/office/powerpoint/2010/main" val="3340151633"/>
                  </p:ext>
                </p:extLst>
              </p:nvPr>
            </p:nvGraphicFramePr>
            <p:xfrm>
              <a:off x="418418" y="5756486"/>
              <a:ext cx="6096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 xmlns:m="http://schemas.openxmlformats.org/officeDocument/2006/math">
                              <m:r>
                                <m:rPr>
                                  <m:sty m:val="p"/>
                                </m:rPr>
                                <a:rPr lang="en-US" altLang="zh-TW" i="1" smtClean="0">
                                  <a:latin typeface="Cambria Math" panose="02040503050406030204" pitchFamily="18" charset="0"/>
                                </a:rPr>
                                <m:t>D</m:t>
                              </m:r>
                            </m:oMath>
                          </a14:m>
                          <a:r>
                            <a:rPr lang="en-US" altLang="zh-TW" dirty="0"/>
                            <a:t>esignB</a:t>
                          </a:r>
                          <a:endParaRPr lang="zh-TW" altLang="en-US" dirty="0"/>
                        </a:p>
                      </a:txBody>
                      <a:tcPr/>
                    </a:tc>
                    <a:tc>
                      <a:txBody>
                        <a:bodyPr/>
                        <a:lstStyle/>
                        <a:p>
                          <a:pPr algn="ctr"/>
                          <a:r>
                            <a:rPr lang="en-US" altLang="zh-TW" dirty="0" err="1"/>
                            <a:t>DesignC</a:t>
                          </a:r>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0.5415</a:t>
                          </a:r>
                          <a:endParaRPr lang="zh-TW" altLang="en-US" dirty="0"/>
                        </a:p>
                      </a:txBody>
                      <a:tcPr/>
                    </a:tc>
                    <a:tc>
                      <a:txBody>
                        <a:bodyPr/>
                        <a:lstStyle/>
                        <a:p>
                          <a:pPr algn="ctr"/>
                          <a:r>
                            <a:rPr lang="en-US" altLang="zh-TW" dirty="0"/>
                            <a:t>0.5023</a:t>
                          </a:r>
                          <a:endParaRPr lang="zh-TW" altLang="en-US" dirty="0"/>
                        </a:p>
                      </a:txBody>
                      <a:tcPr/>
                    </a:tc>
                    <a:extLst>
                      <a:ext uri="{0D108BD9-81ED-4DB2-BD59-A6C34878D82A}">
                        <a16:rowId xmlns:a16="http://schemas.microsoft.com/office/drawing/2014/main" val="3046649366"/>
                      </a:ext>
                    </a:extLst>
                  </a:tr>
                </a:tbl>
              </a:graphicData>
            </a:graphic>
          </p:graphicFrame>
        </mc:Choice>
        <mc:Fallback xmlns="">
          <p:graphicFrame>
            <p:nvGraphicFramePr>
              <p:cNvPr id="16" name="表格 10">
                <a:extLst>
                  <a:ext uri="{FF2B5EF4-FFF2-40B4-BE49-F238E27FC236}">
                    <a16:creationId xmlns:a16="http://schemas.microsoft.com/office/drawing/2014/main" id="{F88CC75A-A0B9-4724-ABF0-220535AE0766}"/>
                  </a:ext>
                </a:extLst>
              </p:cNvPr>
              <p:cNvGraphicFramePr>
                <a:graphicFrameLocks noGrp="1"/>
              </p:cNvGraphicFramePr>
              <p:nvPr>
                <p:extLst>
                  <p:ext uri="{D42A27DB-BD31-4B8C-83A1-F6EECF244321}">
                    <p14:modId xmlns:p14="http://schemas.microsoft.com/office/powerpoint/2010/main" val="3340151633"/>
                  </p:ext>
                </p:extLst>
              </p:nvPr>
            </p:nvGraphicFramePr>
            <p:xfrm>
              <a:off x="418418" y="5756486"/>
              <a:ext cx="6096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6"/>
                          <a:stretch>
                            <a:fillRect l="-100601" t="-16393" r="-100901" b="-275410"/>
                          </a:stretch>
                        </a:blipFill>
                      </a:tcPr>
                    </a:tc>
                    <a:tc>
                      <a:txBody>
                        <a:bodyPr/>
                        <a:lstStyle/>
                        <a:p>
                          <a:pPr algn="ctr"/>
                          <a:r>
                            <a:rPr lang="en-US" altLang="zh-TW" dirty="0" err="1"/>
                            <a:t>DesignC</a:t>
                          </a:r>
                          <a:endParaRPr lang="zh-TW" altLang="en-US" dirty="0"/>
                        </a:p>
                      </a:txBody>
                      <a:tcPr/>
                    </a:tc>
                    <a:extLst>
                      <a:ext uri="{0D108BD9-81ED-4DB2-BD59-A6C34878D82A}">
                        <a16:rowId xmlns:a16="http://schemas.microsoft.com/office/drawing/2014/main" val="168208475"/>
                      </a:ext>
                    </a:extLst>
                  </a:tr>
                  <a:tr h="370840">
                    <a:tc>
                      <a:txBody>
                        <a:bodyPr/>
                        <a:lstStyle/>
                        <a:p>
                          <a:endParaRPr lang="zh-TW"/>
                        </a:p>
                      </a:txBody>
                      <a:tcPr>
                        <a:blipFill>
                          <a:blip r:embed="rId6"/>
                          <a:stretch>
                            <a:fillRect l="-299" t="-116393" r="-200299" b="-175410"/>
                          </a:stretch>
                        </a:blipFill>
                      </a:tcPr>
                    </a:tc>
                    <a:tc>
                      <a:txBody>
                        <a:bodyPr/>
                        <a:lstStyle/>
                        <a:p>
                          <a:pPr algn="ctr"/>
                          <a:r>
                            <a:rPr lang="en-US" altLang="zh-TW" dirty="0"/>
                            <a:t>0.5415</a:t>
                          </a:r>
                          <a:endParaRPr lang="zh-TW" altLang="en-US" dirty="0"/>
                        </a:p>
                      </a:txBody>
                      <a:tcPr/>
                    </a:tc>
                    <a:tc>
                      <a:txBody>
                        <a:bodyPr/>
                        <a:lstStyle/>
                        <a:p>
                          <a:pPr algn="ctr"/>
                          <a:r>
                            <a:rPr lang="en-US" altLang="zh-TW" dirty="0"/>
                            <a:t>0.5023</a:t>
                          </a:r>
                          <a:endParaRPr lang="zh-TW" altLang="en-US" dirty="0"/>
                        </a:p>
                      </a:txBody>
                      <a:tcPr/>
                    </a:tc>
                    <a:extLst>
                      <a:ext uri="{0D108BD9-81ED-4DB2-BD59-A6C34878D82A}">
                        <a16:rowId xmlns:a16="http://schemas.microsoft.com/office/drawing/2014/main" val="3046649366"/>
                      </a:ext>
                    </a:extLst>
                  </a:tr>
                </a:tbl>
              </a:graphicData>
            </a:graphic>
          </p:graphicFrame>
        </mc:Fallback>
      </mc:AlternateContent>
    </p:spTree>
    <p:extLst>
      <p:ext uri="{BB962C8B-B14F-4D97-AF65-F5344CB8AC3E}">
        <p14:creationId xmlns:p14="http://schemas.microsoft.com/office/powerpoint/2010/main" val="25827955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90748"/>
              </a:xfrm>
              <a:prstGeom prst="rect">
                <a:avLst/>
              </a:prstGeom>
              <a:noFill/>
            </p:spPr>
            <p:txBody>
              <a:bodyPr wrap="square">
                <a:spAutoFit/>
              </a:bodyPr>
              <a:lstStyle/>
              <a:p>
                <a:pPr marL="285750" indent="-285750">
                  <a:buFont typeface="Wingdings" panose="05000000000000000000" pitchFamily="2" charset="2"/>
                  <a:buChar char="Ø"/>
                </a:pPr>
                <a14:m>
                  <m:oMath xmlns:m="http://schemas.openxmlformats.org/officeDocument/2006/math">
                    <m:r>
                      <m:rPr>
                        <m:sty m:val="p"/>
                      </m:rPr>
                      <a:rPr lang="en-US" altLang="zh-TW" b="0" i="0" smtClean="0">
                        <a:latin typeface="Cambria Math" panose="02040503050406030204" pitchFamily="18" charset="0"/>
                      </a:rPr>
                      <m:t>Long</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calibrate</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result</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r>
                      <a:rPr lang="en-US" altLang="zh-TW" b="0" i="1" smtClean="0">
                        <a:latin typeface="Cambria Math" panose="02040503050406030204" pitchFamily="18" charset="0"/>
                      </a:rPr>
                      <m:t>=1771)</m:t>
                    </m:r>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90748"/>
              </a:xfrm>
              <a:prstGeom prst="rect">
                <a:avLst/>
              </a:prstGeom>
              <a:blipFill>
                <a:blip r:embed="rId2"/>
                <a:stretch>
                  <a:fillRect l="-311" t="-3125" b="-1406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103976"/>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Single</m:t>
                    </m:r>
                    <m:r>
                      <a:rPr lang="en-US" altLang="zh-TW" b="0" i="0" smtClean="0">
                        <a:latin typeface="Cambria Math" panose="02040503050406030204" pitchFamily="18" charset="0"/>
                        <a:ea typeface="Cambria Math" panose="02040503050406030204" pitchFamily="18" charset="0"/>
                      </a:rPr>
                      <m:t>(1771 </m:t>
                    </m:r>
                    <m:r>
                      <m:rPr>
                        <m:sty m:val="p"/>
                      </m:rPr>
                      <a:rPr lang="en-US" altLang="zh-TW" b="0" i="0" smtClean="0">
                        <a:latin typeface="Cambria Math" panose="02040503050406030204" pitchFamily="18" charset="0"/>
                        <a:ea typeface="Cambria Math" panose="02040503050406030204" pitchFamily="18" charset="0"/>
                      </a:rPr>
                      <m:t>points</m:t>
                    </m:r>
                    <m:r>
                      <a:rPr lang="en-US" altLang="zh-TW" b="0" i="0"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103976"/>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5537199" y="1004337"/>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rPr>
                      <m:t>Eighteen</m:t>
                    </m:r>
                  </m:oMath>
                </a14:m>
                <a:r>
                  <a:rPr lang="en-US" altLang="zh-TW" dirty="0"/>
                  <a:t>(1771 points)</a:t>
                </a:r>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5537199" y="1004337"/>
                <a:ext cx="4258733" cy="369332"/>
              </a:xfrm>
              <a:prstGeom prst="rect">
                <a:avLst/>
              </a:prstGeom>
              <a:blipFill>
                <a:blip r:embed="rId4"/>
                <a:stretch>
                  <a:fillRect l="-858" t="-10000"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ZP_s_mat"/>
              <p:cNvSpPr txBox="1"/>
              <p:nvPr/>
            </p:nvSpPr>
            <p:spPr>
              <a:xfrm>
                <a:off x="460000" y="1650000"/>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−0.1046</m:t>
                                </m:r>
                              </m:e>
                              <m:e>
                                <m:r>
                                  <a:rPr lang="en-US" sz="1200" b="0" i="0">
                                    <a:latin typeface="Cambria Math" panose="02040503050406030204" pitchFamily="18" charset="0"/>
                                  </a:rPr>
                                  <m:t>−0.1809</m:t>
                                </m:r>
                              </m:e>
                              <m:e>
                                <m:r>
                                  <a:rPr lang="en-US" sz="1200" b="0" i="0">
                                    <a:latin typeface="Cambria Math" panose="02040503050406030204" pitchFamily="18" charset="0"/>
                                  </a:rPr>
                                  <m:t>−0.1745</m:t>
                                </m:r>
                              </m:e>
                              <m:e>
                                <m:r>
                                  <a:rPr lang="en-US" sz="1200" b="0" i="0">
                                    <a:latin typeface="Cambria Math" panose="02040503050406030204" pitchFamily="18" charset="0"/>
                                  </a:rPr>
                                  <m:t>−0.1737</m:t>
                                </m:r>
                              </m:e>
                              <m:e>
                                <m:r>
                                  <a:rPr lang="en-US" sz="1200" b="0" i="0">
                                    <a:latin typeface="Cambria Math" panose="02040503050406030204" pitchFamily="18" charset="0"/>
                                  </a:rPr>
                                  <m:t>−0.1827</m:t>
                                </m:r>
                              </m:e>
                            </m:mr>
                            <m:mr>
                              <m:e>
                                <m:r>
                                  <a:rPr lang="en-US" sz="1200" b="0" i="0">
                                    <a:latin typeface="Cambria Math" panose="02040503050406030204" pitchFamily="18" charset="0"/>
                                  </a:rPr>
                                  <m:t>−0.2145</m:t>
                                </m:r>
                              </m:e>
                              <m:e>
                                <m:r>
                                  <a:rPr lang="en-US" sz="1200" b="0" i="0">
                                    <a:latin typeface="Cambria Math" panose="02040503050406030204" pitchFamily="18" charset="0"/>
                                  </a:rPr>
                                  <m:t>0.9517</m:t>
                                </m:r>
                              </m:e>
                              <m:e>
                                <m:r>
                                  <a:rPr lang="en-US" sz="1200" b="0" i="0">
                                    <a:latin typeface="Cambria Math" panose="02040503050406030204" pitchFamily="18" charset="0"/>
                                  </a:rPr>
                                  <m:t>−0.1986</m:t>
                                </m:r>
                              </m:e>
                              <m:e>
                                <m:r>
                                  <a:rPr lang="en-US" sz="1200" b="0" i="0">
                                    <a:latin typeface="Cambria Math" panose="02040503050406030204" pitchFamily="18" charset="0"/>
                                  </a:rPr>
                                  <m:t>−0.1589</m:t>
                                </m:r>
                              </m:e>
                              <m:e>
                                <m:r>
                                  <a:rPr lang="en-US" sz="1200" b="0" i="0">
                                    <a:latin typeface="Cambria Math" panose="02040503050406030204" pitchFamily="18" charset="0"/>
                                  </a:rPr>
                                  <m:t>−0.1576</m:t>
                                </m:r>
                              </m:e>
                              <m:e>
                                <m:r>
                                  <a:rPr lang="en-US" sz="1200" b="0" i="0">
                                    <a:latin typeface="Cambria Math" panose="02040503050406030204" pitchFamily="18" charset="0"/>
                                  </a:rPr>
                                  <m:t>−0.2002</m:t>
                                </m:r>
                              </m:e>
                            </m:mr>
                            <m:mr>
                              <m:e>
                                <m:r>
                                  <a:rPr lang="en-US" sz="1200" b="0" i="0">
                                    <a:latin typeface="Cambria Math" panose="02040503050406030204" pitchFamily="18" charset="0"/>
                                  </a:rPr>
                                  <m:t>−0.1870</m:t>
                                </m:r>
                              </m:e>
                              <m:e>
                                <m:r>
                                  <a:rPr lang="en-US" sz="1200" b="0" i="0">
                                    <a:latin typeface="Cambria Math" panose="02040503050406030204" pitchFamily="18" charset="0"/>
                                  </a:rPr>
                                  <m:t>−0.1737</m:t>
                                </m:r>
                              </m:e>
                              <m:e>
                                <m:r>
                                  <a:rPr lang="en-US" sz="1200" b="0" i="0">
                                    <a:latin typeface="Cambria Math" panose="02040503050406030204" pitchFamily="18" charset="0"/>
                                  </a:rPr>
                                  <m:t>0.8427</m:t>
                                </m:r>
                              </m:e>
                              <m:e>
                                <m:r>
                                  <a:rPr lang="en-US" sz="1200" b="0" i="0">
                                    <a:latin typeface="Cambria Math" panose="02040503050406030204" pitchFamily="18" charset="0"/>
                                  </a:rPr>
                                  <m:t>−0.1076</m:t>
                                </m:r>
                              </m:e>
                              <m:e>
                                <m:r>
                                  <a:rPr lang="en-US" sz="1200" b="0" i="0">
                                    <a:latin typeface="Cambria Math" panose="02040503050406030204" pitchFamily="18" charset="0"/>
                                  </a:rPr>
                                  <m:t>−0.1740</m:t>
                                </m:r>
                              </m:e>
                              <m:e>
                                <m:r>
                                  <a:rPr lang="en-US" sz="1200" b="0" i="0">
                                    <a:latin typeface="Cambria Math" panose="02040503050406030204" pitchFamily="18" charset="0"/>
                                  </a:rPr>
                                  <m:t>−0.1827</m:t>
                                </m:r>
                              </m:e>
                            </m:mr>
                            <m:mr>
                              <m:e>
                                <m:r>
                                  <a:rPr lang="en-US" sz="1200" b="0" i="0">
                                    <a:latin typeface="Cambria Math" panose="02040503050406030204" pitchFamily="18" charset="0"/>
                                  </a:rPr>
                                  <m:t>−0.2040</m:t>
                                </m:r>
                              </m:e>
                              <m:e>
                                <m:r>
                                  <a:rPr lang="en-US" sz="1200" b="0" i="0">
                                    <a:latin typeface="Cambria Math" panose="02040503050406030204" pitchFamily="18" charset="0"/>
                                  </a:rPr>
                                  <m:t>−0.1571</m:t>
                                </m:r>
                              </m:e>
                              <m:e>
                                <m:r>
                                  <a:rPr lang="en-US" sz="1200" b="0" i="0">
                                    <a:latin typeface="Cambria Math" panose="02040503050406030204" pitchFamily="18" charset="0"/>
                                  </a:rPr>
                                  <m:t>−0.2068</m:t>
                                </m:r>
                              </m:e>
                              <m:e>
                                <m:r>
                                  <a:rPr lang="en-US" sz="1200" b="0" i="0">
                                    <a:latin typeface="Cambria Math" panose="02040503050406030204" pitchFamily="18" charset="0"/>
                                  </a:rPr>
                                  <m:t>0.9456</m:t>
                                </m:r>
                              </m:e>
                              <m:e>
                                <m:r>
                                  <a:rPr lang="en-US" sz="1200" b="0" i="0">
                                    <a:latin typeface="Cambria Math" panose="02040503050406030204" pitchFamily="18" charset="0"/>
                                  </a:rPr>
                                  <m:t>−0.1569</m:t>
                                </m:r>
                              </m:e>
                              <m:e>
                                <m:r>
                                  <a:rPr lang="en-US" sz="1200" b="0" i="0">
                                    <a:latin typeface="Cambria Math" panose="02040503050406030204" pitchFamily="18" charset="0"/>
                                  </a:rPr>
                                  <m:t>−0.1994</m:t>
                                </m:r>
                              </m:e>
                            </m:mr>
                            <m:mr>
                              <m:e>
                                <m:r>
                                  <a:rPr lang="en-US" sz="1200" b="0" i="0">
                                    <a:latin typeface="Cambria Math" panose="02040503050406030204" pitchFamily="18" charset="0"/>
                                  </a:rPr>
                                  <m:t>−0.2045</m:t>
                                </m:r>
                              </m:e>
                              <m:e>
                                <m:r>
                                  <a:rPr lang="en-US" sz="1200" b="0" i="0">
                                    <a:latin typeface="Cambria Math" panose="02040503050406030204" pitchFamily="18" charset="0"/>
                                  </a:rPr>
                                  <m:t>−0.1573</m:t>
                                </m:r>
                              </m:e>
                              <m:e>
                                <m:r>
                                  <a:rPr lang="en-US" sz="1200" b="0" i="0">
                                    <a:latin typeface="Cambria Math" panose="02040503050406030204" pitchFamily="18" charset="0"/>
                                  </a:rPr>
                                  <m:t>−0.1983</m:t>
                                </m:r>
                              </m:e>
                              <m:e>
                                <m:r>
                                  <a:rPr lang="en-US" sz="1200" b="0" i="0">
                                    <a:latin typeface="Cambria Math" panose="02040503050406030204" pitchFamily="18" charset="0"/>
                                  </a:rPr>
                                  <m:t>−0.1589</m:t>
                                </m:r>
                              </m:e>
                              <m:e>
                                <m:r>
                                  <a:rPr lang="en-US" sz="1200" b="0" i="0">
                                    <a:latin typeface="Cambria Math" panose="02040503050406030204" pitchFamily="18" charset="0"/>
                                  </a:rPr>
                                  <m:t>0.9514</m:t>
                                </m:r>
                              </m:e>
                              <m:e>
                                <m:r>
                                  <a:rPr lang="en-US" sz="1200" b="0" i="0">
                                    <a:latin typeface="Cambria Math" panose="02040503050406030204" pitchFamily="18" charset="0"/>
                                  </a:rPr>
                                  <m:t>−0.2097</m:t>
                                </m:r>
                              </m:e>
                            </m:mr>
                            <m:mr>
                              <m:e>
                                <m:r>
                                  <a:rPr lang="en-US" sz="1200" b="0" i="0">
                                    <a:latin typeface="Cambria Math" panose="02040503050406030204" pitchFamily="18" charset="0"/>
                                  </a:rPr>
                                  <m:t>−0.1870</m:t>
                                </m:r>
                              </m:e>
                              <m:e>
                                <m:r>
                                  <a:rPr lang="en-US" sz="1200" b="0" i="0">
                                    <a:latin typeface="Cambria Math" panose="02040503050406030204" pitchFamily="18" charset="0"/>
                                  </a:rPr>
                                  <m:t>−0.1734</m:t>
                                </m:r>
                              </m:e>
                              <m:e>
                                <m:r>
                                  <a:rPr lang="en-US" sz="1200" b="0" i="0">
                                    <a:latin typeface="Cambria Math" panose="02040503050406030204" pitchFamily="18" charset="0"/>
                                  </a:rPr>
                                  <m:t>−0.1804</m:t>
                                </m:r>
                              </m:e>
                              <m:e>
                                <m:r>
                                  <a:rPr lang="en-US" sz="1200" b="0" i="0">
                                    <a:latin typeface="Cambria Math" panose="02040503050406030204" pitchFamily="18" charset="0"/>
                                  </a:rPr>
                                  <m:t>−0.1746</m:t>
                                </m:r>
                              </m:e>
                              <m:e>
                                <m:r>
                                  <a:rPr lang="en-US" sz="1200" b="0" i="0">
                                    <a:latin typeface="Cambria Math" panose="02040503050406030204" pitchFamily="18" charset="0"/>
                                  </a:rPr>
                                  <m:t>−0.1054</m:t>
                                </m:r>
                              </m:e>
                              <m:e>
                                <m:r>
                                  <a:rPr lang="en-US" sz="1200" b="0" i="0">
                                    <a:latin typeface="Cambria Math" panose="02040503050406030204" pitchFamily="18" charset="0"/>
                                  </a:rPr>
                                  <m:t>0.8382</m:t>
                                </m:r>
                              </m:e>
                            </m:mr>
                          </m:m>
                        </m:e>
                      </m:d>
                      <m:r>
                        <a:rPr lang="en-US" sz="1200" b="0" i="0">
                          <a:latin typeface="Cambria Math" panose="02040503050406030204" pitchFamily="18" charset="0"/>
                        </a:rPr>
                        <m:t> </m:t>
                      </m:r>
                    </m:oMath>
                  </m:oMathPara>
                </a14:m>
                <a:endParaRPr lang="en-US" sz="1100" dirty="0"/>
              </a:p>
            </p:txBody>
          </p:sp>
        </mc:Choice>
        <mc:Fallback xmlns="">
          <p:sp>
            <p:nvSpPr>
              <p:cNvPr id="40" name="ZP_s_mat"/>
              <p:cNvSpPr txBox="1">
                <a:spLocks noRot="1" noChangeAspect="1" noMove="1" noResize="1" noEditPoints="1" noAdjustHandles="1" noChangeArrowheads="1" noChangeShapeType="1" noTextEdit="1"/>
              </p:cNvSpPr>
              <p:nvPr/>
            </p:nvSpPr>
            <p:spPr>
              <a:xfrm>
                <a:off x="460000" y="1650000"/>
                <a:ext cx="4389119" cy="1115568"/>
              </a:xfrm>
              <a:prstGeom prst="rect">
                <a:avLst/>
              </a:prstGeom>
              <a:blipFill>
                <a:blip r:embed="rId5"/>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ZP_s_sc"/>
              <p:cNvSpPr txBox="1"/>
              <p:nvPr/>
            </p:nvSpPr>
            <p:spPr>
              <a:xfrm>
                <a:off x="150001" y="2953600"/>
                <a:ext cx="3761600"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m:t>
                      </m:r>
                      <m:r>
                        <m:rPr>
                          <m:nor/>
                        </m:rPr>
                        <a:rPr lang="en-US" altLang="zh-TW" sz="1400" dirty="0"/>
                        <m:t>874.25</m:t>
                      </m:r>
                      <m:r>
                        <a:rPr lang="zh-TW" altLang="en-US" sz="1400" i="1">
                          <a:latin typeface="Cambria Math" panose="02040503050406030204" pitchFamily="18" charset="0"/>
                        </a:rPr>
                        <m:t>𝜇</m:t>
                      </m:r>
                      <m:r>
                        <a:rPr lang="en-US" altLang="zh-TW" sz="140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9.67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1" name="ZP_s_sc"/>
              <p:cNvSpPr txBox="1">
                <a:spLocks noRot="1" noChangeAspect="1" noMove="1" noResize="1" noEditPoints="1" noAdjustHandles="1" noChangeArrowheads="1" noChangeShapeType="1" noTextEdit="1"/>
              </p:cNvSpPr>
              <p:nvPr/>
            </p:nvSpPr>
            <p:spPr>
              <a:xfrm>
                <a:off x="150001" y="2953600"/>
                <a:ext cx="3761600" cy="310896"/>
              </a:xfrm>
              <a:prstGeom prst="rect">
                <a:avLst/>
              </a:prstGeom>
              <a:blipFill>
                <a:blip r:embed="rId6"/>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ZP_s_nmae"/>
              <p:cNvSpPr txBox="1"/>
              <p:nvPr/>
            </p:nvSpPr>
            <p:spPr>
              <a:xfrm>
                <a:off x="150000" y="340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%=2.81%</m:t>
                      </m:r>
                    </m:oMath>
                  </m:oMathPara>
                </a14:m>
                <a:endParaRPr lang="zh-TW" altLang="en-US" sz="1400" dirty="0"/>
              </a:p>
            </p:txBody>
          </p:sp>
        </mc:Choice>
        <mc:Fallback xmlns="">
          <p:sp>
            <p:nvSpPr>
              <p:cNvPr id="42" name="ZP_s_nmae"/>
              <p:cNvSpPr txBox="1">
                <a:spLocks noRot="1" noChangeAspect="1" noMove="1" noResize="1" noEditPoints="1" noAdjustHandles="1" noChangeArrowheads="1" noChangeShapeType="1" noTextEdit="1"/>
              </p:cNvSpPr>
              <p:nvPr/>
            </p:nvSpPr>
            <p:spPr>
              <a:xfrm>
                <a:off x="150000" y="3400000"/>
                <a:ext cx="4191000" cy="549509"/>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ZP_e_mat"/>
              <p:cNvSpPr txBox="1"/>
              <p:nvPr/>
            </p:nvSpPr>
            <p:spPr>
              <a:xfrm>
                <a:off x="5991799" y="1575920"/>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−0.1369</m:t>
                                </m:r>
                              </m:e>
                              <m:e>
                                <m:r>
                                  <a:rPr lang="en-US" sz="1200" b="0" i="0">
                                    <a:latin typeface="Cambria Math" panose="02040503050406030204" pitchFamily="18" charset="0"/>
                                  </a:rPr>
                                  <m:t>−0.1291</m:t>
                                </m:r>
                              </m:e>
                              <m:e>
                                <m:r>
                                  <a:rPr lang="en-US" sz="1200" b="0" i="0">
                                    <a:latin typeface="Cambria Math" panose="02040503050406030204" pitchFamily="18" charset="0"/>
                                  </a:rPr>
                                  <m:t>−0.1933</m:t>
                                </m:r>
                              </m:e>
                              <m:e>
                                <m:r>
                                  <a:rPr lang="en-US" sz="1200" b="0" i="0">
                                    <a:latin typeface="Cambria Math" panose="02040503050406030204" pitchFamily="18" charset="0"/>
                                  </a:rPr>
                                  <m:t>−0.1926</m:t>
                                </m:r>
                              </m:e>
                              <m:e>
                                <m:r>
                                  <a:rPr lang="en-US" sz="1200" b="0" i="0">
                                    <a:latin typeface="Cambria Math" panose="02040503050406030204" pitchFamily="18" charset="0"/>
                                  </a:rPr>
                                  <m:t>−0.1289</m:t>
                                </m:r>
                              </m:e>
                            </m:mr>
                            <m:mr>
                              <m:e>
                                <m:r>
                                  <a:rPr lang="en-US" sz="1200" b="0" i="0">
                                    <a:latin typeface="Cambria Math" panose="02040503050406030204" pitchFamily="18" charset="0"/>
                                  </a:rPr>
                                  <m:t>−0.1380</m:t>
                                </m:r>
                              </m:e>
                              <m:e>
                                <m:r>
                                  <a:rPr lang="en-US" sz="1200" b="0" i="0">
                                    <a:latin typeface="Cambria Math" panose="02040503050406030204" pitchFamily="18" charset="0"/>
                                  </a:rPr>
                                  <m:t>0.8309</m:t>
                                </m:r>
                              </m:e>
                              <m:e>
                                <m:r>
                                  <a:rPr lang="en-US" sz="1200" b="0" i="0">
                                    <a:latin typeface="Cambria Math" panose="02040503050406030204" pitchFamily="18" charset="0"/>
                                  </a:rPr>
                                  <m:t>−0.2033</m:t>
                                </m:r>
                              </m:e>
                              <m:e>
                                <m:r>
                                  <a:rPr lang="en-US" sz="1200" b="0" i="0">
                                    <a:latin typeface="Cambria Math" panose="02040503050406030204" pitchFamily="18" charset="0"/>
                                  </a:rPr>
                                  <m:t>−0.1231</m:t>
                                </m:r>
                              </m:e>
                              <m:e>
                                <m:r>
                                  <a:rPr lang="en-US" sz="1200" b="0" i="0">
                                    <a:latin typeface="Cambria Math" panose="02040503050406030204" pitchFamily="18" charset="0"/>
                                  </a:rPr>
                                  <m:t>−0.1230</m:t>
                                </m:r>
                              </m:e>
                              <m:e>
                                <m:r>
                                  <a:rPr lang="en-US" sz="1200" b="0" i="0">
                                    <a:latin typeface="Cambria Math" panose="02040503050406030204" pitchFamily="18" charset="0"/>
                                  </a:rPr>
                                  <m:t>−0.2030</m:t>
                                </m:r>
                              </m:e>
                            </m:mr>
                            <m:mr>
                              <m:e>
                                <m:r>
                                  <a:rPr lang="en-US" sz="1200" b="0" i="0">
                                    <a:latin typeface="Cambria Math" panose="02040503050406030204" pitchFamily="18" charset="0"/>
                                  </a:rPr>
                                  <m:t>−0.1276</m:t>
                                </m:r>
                              </m:e>
                              <m:e>
                                <m:r>
                                  <a:rPr lang="en-US" sz="1200" b="0" i="0">
                                    <a:latin typeface="Cambria Math" panose="02040503050406030204" pitchFamily="18" charset="0"/>
                                  </a:rPr>
                                  <m:t>−0.1923</m:t>
                                </m:r>
                              </m:e>
                              <m:e>
                                <m:r>
                                  <a:rPr lang="en-US" sz="1200" b="0" i="0">
                                    <a:latin typeface="Cambria Math" panose="02040503050406030204" pitchFamily="18" charset="0"/>
                                  </a:rPr>
                                  <m:t>0.8291</m:t>
                                </m:r>
                              </m:e>
                              <m:e>
                                <m:r>
                                  <a:rPr lang="en-US" sz="1200" b="0" i="0">
                                    <a:latin typeface="Cambria Math" panose="02040503050406030204" pitchFamily="18" charset="0"/>
                                  </a:rPr>
                                  <m:t>−0.1358</m:t>
                                </m:r>
                              </m:e>
                              <m:e>
                                <m:r>
                                  <a:rPr lang="en-US" sz="1200" b="0" i="0">
                                    <a:latin typeface="Cambria Math" panose="02040503050406030204" pitchFamily="18" charset="0"/>
                                  </a:rPr>
                                  <m:t>−0.1920</m:t>
                                </m:r>
                              </m:e>
                              <m:e>
                                <m:r>
                                  <a:rPr lang="en-US" sz="1200" b="0" i="0">
                                    <a:latin typeface="Cambria Math" panose="02040503050406030204" pitchFamily="18" charset="0"/>
                                  </a:rPr>
                                  <m:t>−0.1284</m:t>
                                </m:r>
                              </m:e>
                            </m:mr>
                            <m:mr>
                              <m:e>
                                <m:r>
                                  <a:rPr lang="en-US" sz="1200" b="0" i="0">
                                    <a:latin typeface="Cambria Math" panose="02040503050406030204" pitchFamily="18" charset="0"/>
                                  </a:rPr>
                                  <m:t>−0.2042</m:t>
                                </m:r>
                              </m:e>
                              <m:e>
                                <m:r>
                                  <a:rPr lang="en-US" sz="1200" b="0" i="0">
                                    <a:latin typeface="Cambria Math" panose="02040503050406030204" pitchFamily="18" charset="0"/>
                                  </a:rPr>
                                  <m:t>−0.1233</m:t>
                                </m:r>
                              </m:e>
                              <m:e>
                                <m:r>
                                  <a:rPr lang="en-US" sz="1200" b="0" i="0">
                                    <a:latin typeface="Cambria Math" panose="02040503050406030204" pitchFamily="18" charset="0"/>
                                  </a:rPr>
                                  <m:t>−0.1403</m:t>
                                </m:r>
                              </m:e>
                              <m:e>
                                <m:r>
                                  <a:rPr lang="en-US" sz="1200" b="0" i="0">
                                    <a:latin typeface="Cambria Math" panose="02040503050406030204" pitchFamily="18" charset="0"/>
                                  </a:rPr>
                                  <m:t>0.8365</m:t>
                                </m:r>
                              </m:e>
                              <m:e>
                                <m:r>
                                  <a:rPr lang="en-US" sz="1200" b="0" i="0">
                                    <a:latin typeface="Cambria Math" panose="02040503050406030204" pitchFamily="18" charset="0"/>
                                  </a:rPr>
                                  <m:t>−0.1235</m:t>
                                </m:r>
                              </m:e>
                              <m:e>
                                <m:r>
                                  <a:rPr lang="en-US" sz="1200" b="0" i="0">
                                    <a:latin typeface="Cambria Math" panose="02040503050406030204" pitchFamily="18" charset="0"/>
                                  </a:rPr>
                                  <m:t>−0.2048</m:t>
                                </m:r>
                              </m:e>
                            </m:mr>
                            <m:mr>
                              <m:e>
                                <m:r>
                                  <a:rPr lang="en-US" sz="1200" b="0" i="0">
                                    <a:latin typeface="Cambria Math" panose="02040503050406030204" pitchFamily="18" charset="0"/>
                                  </a:rPr>
                                  <m:t>−0.2033</m:t>
                                </m:r>
                              </m:e>
                              <m:e>
                                <m:r>
                                  <a:rPr lang="en-US" sz="1200" b="0" i="0">
                                    <a:latin typeface="Cambria Math" panose="02040503050406030204" pitchFamily="18" charset="0"/>
                                  </a:rPr>
                                  <m:t>−0.1230</m:t>
                                </m:r>
                              </m:e>
                              <m:e>
                                <m:r>
                                  <a:rPr lang="en-US" sz="1200" b="0" i="0">
                                    <a:latin typeface="Cambria Math" panose="02040503050406030204" pitchFamily="18" charset="0"/>
                                  </a:rPr>
                                  <m:t>−0.2038</m:t>
                                </m:r>
                              </m:e>
                              <m:e>
                                <m:r>
                                  <a:rPr lang="en-US" sz="1200" b="0" i="0">
                                    <a:latin typeface="Cambria Math" panose="02040503050406030204" pitchFamily="18" charset="0"/>
                                  </a:rPr>
                                  <m:t>−0.1234</m:t>
                                </m:r>
                              </m:e>
                              <m:e>
                                <m:r>
                                  <a:rPr lang="en-US" sz="1200" b="0" i="0">
                                    <a:latin typeface="Cambria Math" panose="02040503050406030204" pitchFamily="18" charset="0"/>
                                  </a:rPr>
                                  <m:t>0.8338</m:t>
                                </m:r>
                              </m:e>
                              <m:e>
                                <m:r>
                                  <a:rPr lang="en-US" sz="1200" b="0" i="0">
                                    <a:latin typeface="Cambria Math" panose="02040503050406030204" pitchFamily="18" charset="0"/>
                                  </a:rPr>
                                  <m:t>−0.1392</m:t>
                                </m:r>
                              </m:e>
                            </m:mr>
                            <m:mr>
                              <m:e>
                                <m:r>
                                  <a:rPr lang="en-US" sz="1200" b="0" i="0">
                                    <a:latin typeface="Cambria Math" panose="02040503050406030204" pitchFamily="18" charset="0"/>
                                  </a:rPr>
                                  <m:t>−0.1279</m:t>
                                </m:r>
                              </m:e>
                              <m:e>
                                <m:r>
                                  <a:rPr lang="en-US" sz="1200" b="0" i="0">
                                    <a:latin typeface="Cambria Math" panose="02040503050406030204" pitchFamily="18" charset="0"/>
                                  </a:rPr>
                                  <m:t>−0.1928</m:t>
                                </m:r>
                              </m:e>
                              <m:e>
                                <m:r>
                                  <a:rPr lang="en-US" sz="1200" b="0" i="0">
                                    <a:latin typeface="Cambria Math" panose="02040503050406030204" pitchFamily="18" charset="0"/>
                                  </a:rPr>
                                  <m:t>−0.1288</m:t>
                                </m:r>
                              </m:e>
                              <m:e>
                                <m:r>
                                  <a:rPr lang="en-US" sz="1200" b="0" i="0">
                                    <a:latin typeface="Cambria Math" panose="02040503050406030204" pitchFamily="18" charset="0"/>
                                  </a:rPr>
                                  <m:t>−0.1936</m:t>
                                </m:r>
                              </m:e>
                              <m:e>
                                <m:r>
                                  <a:rPr lang="en-US" sz="1200" b="0" i="0">
                                    <a:latin typeface="Cambria Math" panose="02040503050406030204" pitchFamily="18" charset="0"/>
                                  </a:rPr>
                                  <m:t>−0.1366</m:t>
                                </m:r>
                              </m:e>
                              <m:e>
                                <m:r>
                                  <a:rPr lang="en-US" sz="1200" b="0" i="0">
                                    <a:latin typeface="Cambria Math" panose="02040503050406030204" pitchFamily="18" charset="0"/>
                                  </a:rPr>
                                  <m:t>0.8328</m:t>
                                </m:r>
                              </m:e>
                            </m:mr>
                          </m:m>
                        </m:e>
                      </m:d>
                      <m:r>
                        <a:rPr lang="en-US" sz="1200" b="0" i="0">
                          <a:latin typeface="Cambria Math" panose="02040503050406030204" pitchFamily="18" charset="0"/>
                        </a:rPr>
                        <m:t> </m:t>
                      </m:r>
                    </m:oMath>
                  </m:oMathPara>
                </a14:m>
                <a:endParaRPr lang="en-US" sz="1100" dirty="0"/>
              </a:p>
            </p:txBody>
          </p:sp>
        </mc:Choice>
        <mc:Fallback xmlns="">
          <p:sp>
            <p:nvSpPr>
              <p:cNvPr id="43" name="ZP_e_mat"/>
              <p:cNvSpPr txBox="1">
                <a:spLocks noRot="1" noChangeAspect="1" noMove="1" noResize="1" noEditPoints="1" noAdjustHandles="1" noChangeArrowheads="1" noChangeShapeType="1" noTextEdit="1"/>
              </p:cNvSpPr>
              <p:nvPr/>
            </p:nvSpPr>
            <p:spPr>
              <a:xfrm>
                <a:off x="5991799" y="1575920"/>
                <a:ext cx="4524587" cy="1115568"/>
              </a:xfrm>
              <a:prstGeom prst="rect">
                <a:avLst/>
              </a:prstGeom>
              <a:blipFill>
                <a:blip r:embed="rId8"/>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ZP_e_sc"/>
              <p:cNvSpPr txBox="1"/>
              <p:nvPr/>
            </p:nvSpPr>
            <p:spPr>
              <a:xfrm>
                <a:off x="5693133" y="2977286"/>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smtClean="0">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87</m:t>
                      </m:r>
                      <m:r>
                        <a:rPr lang="en-US" sz="1400" b="0" i="0" smtClean="0">
                          <a:latin typeface="Cambria Math" panose="02040503050406030204" pitchFamily="18" charset="0"/>
                        </a:rPr>
                        <m:t>4.0</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10.75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4" name="ZP_e_sc"/>
              <p:cNvSpPr txBox="1">
                <a:spLocks noRot="1" noChangeAspect="1" noMove="1" noResize="1" noEditPoints="1" noAdjustHandles="1" noChangeArrowheads="1" noChangeShapeType="1" noTextEdit="1"/>
              </p:cNvSpPr>
              <p:nvPr/>
            </p:nvSpPr>
            <p:spPr>
              <a:xfrm>
                <a:off x="5693133" y="2977286"/>
                <a:ext cx="3457787" cy="310896"/>
              </a:xfrm>
              <a:prstGeom prst="rect">
                <a:avLst/>
              </a:prstGeom>
              <a:blipFill>
                <a:blip r:embed="rId9"/>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ZP_e_nmae"/>
              <p:cNvSpPr txBox="1"/>
              <p:nvPr/>
            </p:nvSpPr>
            <p:spPr>
              <a:xfrm>
                <a:off x="5517025" y="3433867"/>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%=0.27%</m:t>
                      </m:r>
                    </m:oMath>
                  </m:oMathPara>
                </a14:m>
                <a:endParaRPr lang="zh-TW" altLang="en-US" sz="1400" dirty="0"/>
              </a:p>
            </p:txBody>
          </p:sp>
        </mc:Choice>
        <mc:Fallback xmlns="">
          <p:sp>
            <p:nvSpPr>
              <p:cNvPr id="45" name="ZP_e_nmae"/>
              <p:cNvSpPr txBox="1">
                <a:spLocks noRot="1" noChangeAspect="1" noMove="1" noResize="1" noEditPoints="1" noAdjustHandles="1" noChangeArrowheads="1" noChangeShapeType="1" noTextEdit="1"/>
              </p:cNvSpPr>
              <p:nvPr/>
            </p:nvSpPr>
            <p:spPr>
              <a:xfrm>
                <a:off x="5517025" y="3433867"/>
                <a:ext cx="4191000" cy="549509"/>
              </a:xfrm>
              <a:prstGeom prst="rect">
                <a:avLst/>
              </a:prstGeom>
              <a:blipFill>
                <a:blip r:embed="rId10"/>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ZP_e_bias"/>
              <p:cNvSpPr txBox="1"/>
              <p:nvPr/>
            </p:nvSpPr>
            <p:spPr>
              <a:xfrm>
                <a:off x="5371400" y="4274746"/>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0.0183</m:t>
                                </m:r>
                              </m:e>
                              <m:e>
                                <m:r>
                                  <a:rPr lang="en-US" sz="1200" b="0" i="0">
                                    <a:latin typeface="Cambria Math" panose="02040503050406030204" pitchFamily="18" charset="0"/>
                                  </a:rPr>
                                  <m:t>0.0195</m:t>
                                </m:r>
                              </m:e>
                              <m:e>
                                <m:r>
                                  <a:rPr lang="en-US" sz="1200" b="0" i="0">
                                    <a:latin typeface="Cambria Math" panose="02040503050406030204" pitchFamily="18" charset="0"/>
                                  </a:rPr>
                                  <m:t>−0.1173</m:t>
                                </m:r>
                              </m:e>
                              <m:e>
                                <m:r>
                                  <a:rPr lang="en-US" sz="1200" b="0" i="0">
                                    <a:latin typeface="Cambria Math" panose="02040503050406030204" pitchFamily="18" charset="0"/>
                                  </a:rPr>
                                  <m:t>0.0021</m:t>
                                </m:r>
                              </m:e>
                              <m:e>
                                <m:r>
                                  <a:rPr lang="en-US" sz="1200" b="0" i="0">
                                    <a:latin typeface="Cambria Math" panose="02040503050406030204" pitchFamily="18" charset="0"/>
                                  </a:rPr>
                                  <m:t>0.0012</m:t>
                                </m:r>
                              </m:e>
                              <m:e>
                                <m:r>
                                  <a:rPr lang="en-US" sz="1200" b="0" i="0">
                                    <a:latin typeface="Cambria Math" panose="02040503050406030204" pitchFamily="18" charset="0"/>
                                  </a:rPr>
                                  <m:t>−0.1180</m:t>
                                </m:r>
                              </m:e>
                            </m:mr>
                            <m:mr>
                              <m:e>
                                <m:r>
                                  <a:rPr lang="en-US" sz="1200" b="0" i="0">
                                    <a:latin typeface="Cambria Math" panose="02040503050406030204" pitchFamily="18" charset="0"/>
                                  </a:rPr>
                                  <m:t>−0.1178</m:t>
                                </m:r>
                              </m:e>
                              <m:e>
                                <m:r>
                                  <a:rPr lang="en-US" sz="1200" b="0" i="0">
                                    <a:latin typeface="Cambria Math" panose="02040503050406030204" pitchFamily="18" charset="0"/>
                                  </a:rPr>
                                  <m:t>0.0024</m:t>
                                </m:r>
                              </m:e>
                              <m:e>
                                <m:r>
                                  <a:rPr lang="en-US" sz="1200" b="0" i="0">
                                    <a:latin typeface="Cambria Math" panose="02040503050406030204" pitchFamily="18" charset="0"/>
                                  </a:rPr>
                                  <m:t>0.0155</m:t>
                                </m:r>
                              </m:e>
                              <m:e>
                                <m:r>
                                  <a:rPr lang="en-US" sz="1200" b="0" i="0">
                                    <a:latin typeface="Cambria Math" panose="02040503050406030204" pitchFamily="18" charset="0"/>
                                  </a:rPr>
                                  <m:t>0.0147</m:t>
                                </m:r>
                              </m:e>
                              <m:e>
                                <m:r>
                                  <a:rPr lang="en-US" sz="1200" b="0" i="0">
                                    <a:latin typeface="Cambria Math" panose="02040503050406030204" pitchFamily="18" charset="0"/>
                                  </a:rPr>
                                  <m:t>0.0016</m:t>
                                </m:r>
                              </m:e>
                              <m:e>
                                <m:r>
                                  <a:rPr lang="en-US" sz="1200" b="0" i="0">
                                    <a:latin typeface="Cambria Math" panose="02040503050406030204" pitchFamily="18" charset="0"/>
                                  </a:rPr>
                                  <m:t>−0.1180</m:t>
                                </m:r>
                              </m:e>
                            </m:mr>
                            <m:mr>
                              <m:e>
                                <m:r>
                                  <a:rPr lang="en-US" sz="1200" b="0" i="0">
                                    <a:latin typeface="Cambria Math" panose="02040503050406030204" pitchFamily="18" charset="0"/>
                                  </a:rPr>
                                  <m:t>0.1176</m:t>
                                </m:r>
                              </m:e>
                              <m:e>
                                <m:r>
                                  <a:rPr lang="en-US" sz="1200" b="0" i="0">
                                    <a:latin typeface="Cambria Math" panose="02040503050406030204" pitchFamily="18" charset="0"/>
                                  </a:rPr>
                                  <m:t>−0.0022</m:t>
                                </m:r>
                              </m:e>
                              <m:e>
                                <m:r>
                                  <a:rPr lang="en-US" sz="1200" b="0" i="0">
                                    <a:latin typeface="Cambria Math" panose="02040503050406030204" pitchFamily="18" charset="0"/>
                                  </a:rPr>
                                  <m:t>0.1167</m:t>
                                </m:r>
                              </m:e>
                              <m:e>
                                <m:r>
                                  <a:rPr lang="en-US" sz="1200" b="0" i="0">
                                    <a:latin typeface="Cambria Math" panose="02040503050406030204" pitchFamily="18" charset="0"/>
                                  </a:rPr>
                                  <m:t>−0.0029</m:t>
                                </m:r>
                              </m:e>
                              <m:e>
                                <m:r>
                                  <a:rPr lang="en-US" sz="1200" b="0" i="0">
                                    <a:latin typeface="Cambria Math" panose="02040503050406030204" pitchFamily="18" charset="0"/>
                                  </a:rPr>
                                  <m:t>−0.0178</m:t>
                                </m:r>
                              </m:e>
                              <m:e>
                                <m:r>
                                  <a:rPr lang="en-US" sz="1200" b="0" i="0">
                                    <a:latin typeface="Cambria Math" panose="02040503050406030204" pitchFamily="18" charset="0"/>
                                  </a:rPr>
                                  <m:t>−0.0181</m:t>
                                </m:r>
                              </m:e>
                            </m:mr>
                          </m:m>
                        </m:e>
                      </m:d>
                    </m:oMath>
                  </m:oMathPara>
                </a14:m>
                <a:endParaRPr lang="en-US" sz="1100" dirty="0"/>
              </a:p>
            </p:txBody>
          </p:sp>
        </mc:Choice>
        <mc:Fallback xmlns="">
          <p:sp>
            <p:nvSpPr>
              <p:cNvPr id="46" name="ZP_e_bias"/>
              <p:cNvSpPr txBox="1">
                <a:spLocks noRot="1" noChangeAspect="1" noMove="1" noResize="1" noEditPoints="1" noAdjustHandles="1" noChangeArrowheads="1" noChangeShapeType="1" noTextEdit="1"/>
              </p:cNvSpPr>
              <p:nvPr/>
            </p:nvSpPr>
            <p:spPr>
              <a:xfrm>
                <a:off x="5371400" y="4274746"/>
                <a:ext cx="5235787" cy="566928"/>
              </a:xfrm>
              <a:prstGeom prst="rect">
                <a:avLst/>
              </a:prstGeom>
              <a:blipFill>
                <a:blip r:embed="rId11"/>
                <a:stretch>
                  <a:fillRect t="-21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203137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90748"/>
              </a:xfrm>
              <a:prstGeom prst="rect">
                <a:avLst/>
              </a:prstGeom>
              <a:noFill/>
            </p:spPr>
            <p:txBody>
              <a:bodyPr wrap="square">
                <a:spAutoFit/>
              </a:bodyPr>
              <a:lstStyle/>
              <a:p>
                <a:pPr marL="285750" indent="-285750">
                  <a:buFont typeface="Wingdings" panose="05000000000000000000" pitchFamily="2" charset="2"/>
                  <a:buChar char="Ø"/>
                </a:pPr>
                <a14:m>
                  <m:oMath xmlns:m="http://schemas.openxmlformats.org/officeDocument/2006/math">
                    <m:r>
                      <m:rPr>
                        <m:sty m:val="p"/>
                      </m:rPr>
                      <a:rPr lang="en-US" altLang="zh-TW" b="0" i="0" smtClean="0">
                        <a:latin typeface="Cambria Math" panose="02040503050406030204" pitchFamily="18" charset="0"/>
                      </a:rPr>
                      <m:t>Zhi</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peng</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calibrate</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result</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r>
                      <a:rPr lang="en-US" altLang="zh-TW" b="0" i="1" smtClean="0">
                        <a:latin typeface="Cambria Math" panose="02040503050406030204" pitchFamily="18" charset="0"/>
                      </a:rPr>
                      <m:t>=1791)</m:t>
                    </m:r>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90748"/>
              </a:xfrm>
              <a:prstGeom prst="rect">
                <a:avLst/>
              </a:prstGeom>
              <a:blipFill>
                <a:blip r:embed="rId2"/>
                <a:stretch>
                  <a:fillRect l="-311" t="-3125" b="-1406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103976"/>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Single</m:t>
                    </m:r>
                    <m:r>
                      <a:rPr lang="en-US" altLang="zh-TW" b="0" i="0" smtClean="0">
                        <a:latin typeface="Cambria Math" panose="02040503050406030204" pitchFamily="18" charset="0"/>
                        <a:ea typeface="Cambria Math" panose="02040503050406030204" pitchFamily="18" charset="0"/>
                      </a:rPr>
                      <m:t>(1791 </m:t>
                    </m:r>
                    <m:r>
                      <m:rPr>
                        <m:sty m:val="p"/>
                      </m:rPr>
                      <a:rPr lang="en-US" altLang="zh-TW" b="0" i="0" smtClean="0">
                        <a:latin typeface="Cambria Math" panose="02040503050406030204" pitchFamily="18" charset="0"/>
                        <a:ea typeface="Cambria Math" panose="02040503050406030204" pitchFamily="18" charset="0"/>
                      </a:rPr>
                      <m:t>points</m:t>
                    </m:r>
                    <m:r>
                      <a:rPr lang="en-US" altLang="zh-TW" b="0" i="0"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103976"/>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5537199" y="1004337"/>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rPr>
                      <m:t>Eighteen</m:t>
                    </m:r>
                  </m:oMath>
                </a14:m>
                <a:r>
                  <a:rPr lang="en-US" altLang="zh-TW" dirty="0"/>
                  <a:t>(1791 points)</a:t>
                </a:r>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5537199" y="1004337"/>
                <a:ext cx="4258733" cy="369332"/>
              </a:xfrm>
              <a:prstGeom prst="rect">
                <a:avLst/>
              </a:prstGeom>
              <a:blipFill>
                <a:blip r:embed="rId4"/>
                <a:stretch>
                  <a:fillRect l="-858" t="-10000"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ZP_s_mat"/>
              <p:cNvSpPr txBox="1"/>
              <p:nvPr/>
            </p:nvSpPr>
            <p:spPr>
              <a:xfrm>
                <a:off x="460000" y="1650000"/>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−0.0649</m:t>
                                </m:r>
                              </m:e>
                              <m:e>
                                <m:r>
                                  <a:rPr lang="en-US" sz="1200" b="0" i="0">
                                    <a:latin typeface="Cambria Math" panose="02040503050406030204" pitchFamily="18" charset="0"/>
                                  </a:rPr>
                                  <m:t>−0.2224</m:t>
                                </m:r>
                              </m:e>
                              <m:e>
                                <m:r>
                                  <a:rPr lang="en-US" sz="1200" b="0" i="0">
                                    <a:latin typeface="Cambria Math" panose="02040503050406030204" pitchFamily="18" charset="0"/>
                                  </a:rPr>
                                  <m:t>−0.1009</m:t>
                                </m:r>
                              </m:e>
                              <m:e>
                                <m:r>
                                  <a:rPr lang="en-US" sz="1200" b="0" i="0">
                                    <a:latin typeface="Cambria Math" panose="02040503050406030204" pitchFamily="18" charset="0"/>
                                  </a:rPr>
                                  <m:t>−0.1009</m:t>
                                </m:r>
                              </m:e>
                              <m:e>
                                <m:r>
                                  <a:rPr lang="en-US" sz="1200" b="0" i="0">
                                    <a:latin typeface="Cambria Math" panose="02040503050406030204" pitchFamily="18" charset="0"/>
                                  </a:rPr>
                                  <m:t>−0.2226</m:t>
                                </m:r>
                              </m:e>
                            </m:mr>
                            <m:mr>
                              <m:e>
                                <m:r>
                                  <a:rPr lang="en-US" sz="1200" b="0" i="0">
                                    <a:latin typeface="Cambria Math" panose="02040503050406030204" pitchFamily="18" charset="0"/>
                                  </a:rPr>
                                  <m:t>−0.0764</m:t>
                                </m:r>
                              </m:e>
                              <m:e>
                                <m:r>
                                  <a:rPr lang="en-US" sz="1200" b="0" i="0">
                                    <a:latin typeface="Cambria Math" panose="02040503050406030204" pitchFamily="18" charset="0"/>
                                  </a:rPr>
                                  <m:t>0.8376</m:t>
                                </m:r>
                              </m:e>
                              <m:e>
                                <m:r>
                                  <a:rPr lang="en-US" sz="1200" b="0" i="0">
                                    <a:latin typeface="Cambria Math" panose="02040503050406030204" pitchFamily="18" charset="0"/>
                                  </a:rPr>
                                  <m:t>−0.1125</m:t>
                                </m:r>
                              </m:e>
                              <m:e>
                                <m:r>
                                  <a:rPr lang="en-US" sz="1200" b="0" i="0">
                                    <a:latin typeface="Cambria Math" panose="02040503050406030204" pitchFamily="18" charset="0"/>
                                  </a:rPr>
                                  <m:t>−0.2147</m:t>
                                </m:r>
                              </m:e>
                              <m:e>
                                <m:r>
                                  <a:rPr lang="en-US" sz="1200" b="0" i="0">
                                    <a:latin typeface="Cambria Math" panose="02040503050406030204" pitchFamily="18" charset="0"/>
                                  </a:rPr>
                                  <m:t>−0.2148</m:t>
                                </m:r>
                              </m:e>
                              <m:e>
                                <m:r>
                                  <a:rPr lang="en-US" sz="1200" b="0" i="0">
                                    <a:latin typeface="Cambria Math" panose="02040503050406030204" pitchFamily="18" charset="0"/>
                                  </a:rPr>
                                  <m:t>−0.1127</m:t>
                                </m:r>
                              </m:e>
                            </m:mr>
                            <m:mr>
                              <m:e>
                                <m:r>
                                  <a:rPr lang="en-US" sz="1200" b="0" i="0">
                                    <a:latin typeface="Cambria Math" panose="02040503050406030204" pitchFamily="18" charset="0"/>
                                  </a:rPr>
                                  <m:t>−0.2595</m:t>
                                </m:r>
                              </m:e>
                              <m:e>
                                <m:r>
                                  <a:rPr lang="en-US" sz="1200" b="0" i="0">
                                    <a:latin typeface="Cambria Math" panose="02040503050406030204" pitchFamily="18" charset="0"/>
                                  </a:rPr>
                                  <m:t>−0.0965</m:t>
                                </m:r>
                              </m:e>
                              <m:e>
                                <m:r>
                                  <a:rPr lang="en-US" sz="1200" b="0" i="0">
                                    <a:latin typeface="Cambria Math" panose="02040503050406030204" pitchFamily="18" charset="0"/>
                                  </a:rPr>
                                  <m:t>0.7482</m:t>
                                </m:r>
                              </m:e>
                              <m:e>
                                <m:r>
                                  <a:rPr lang="en-US" sz="1200" b="0" i="0">
                                    <a:latin typeface="Cambria Math" panose="02040503050406030204" pitchFamily="18" charset="0"/>
                                  </a:rPr>
                                  <m:t>−0.0526</m:t>
                                </m:r>
                              </m:e>
                              <m:e>
                                <m:r>
                                  <a:rPr lang="en-US" sz="1200" b="0" i="0">
                                    <a:latin typeface="Cambria Math" panose="02040503050406030204" pitchFamily="18" charset="0"/>
                                  </a:rPr>
                                  <m:t>−0.0643</m:t>
                                </m:r>
                              </m:e>
                              <m:e>
                                <m:r>
                                  <a:rPr lang="en-US" sz="1200" b="0" i="0">
                                    <a:latin typeface="Cambria Math" panose="02040503050406030204" pitchFamily="18" charset="0"/>
                                  </a:rPr>
                                  <m:t>−0.2407</m:t>
                                </m:r>
                              </m:e>
                            </m:mr>
                            <m:mr>
                              <m:e>
                                <m:r>
                                  <a:rPr lang="en-US" sz="1200" b="0" i="0">
                                    <a:latin typeface="Cambria Math" panose="02040503050406030204" pitchFamily="18" charset="0"/>
                                  </a:rPr>
                                  <m:t>−0.1091</m:t>
                                </m:r>
                              </m:e>
                              <m:e>
                                <m:r>
                                  <a:rPr lang="en-US" sz="1200" b="0" i="0">
                                    <a:latin typeface="Cambria Math" panose="02040503050406030204" pitchFamily="18" charset="0"/>
                                  </a:rPr>
                                  <m:t>−0.2511</m:t>
                                </m:r>
                              </m:e>
                              <m:e>
                                <m:r>
                                  <a:rPr lang="en-US" sz="1200" b="0" i="0">
                                    <a:latin typeface="Cambria Math" panose="02040503050406030204" pitchFamily="18" charset="0"/>
                                  </a:rPr>
                                  <m:t>−0.0638</m:t>
                                </m:r>
                              </m:e>
                              <m:e>
                                <m:r>
                                  <a:rPr lang="en-US" sz="1200" b="0" i="0">
                                    <a:latin typeface="Cambria Math" panose="02040503050406030204" pitchFamily="18" charset="0"/>
                                  </a:rPr>
                                  <m:t>0.7518</m:t>
                                </m:r>
                              </m:e>
                              <m:e>
                                <m:r>
                                  <a:rPr lang="en-US" sz="1200" b="0" i="0">
                                    <a:latin typeface="Cambria Math" panose="02040503050406030204" pitchFamily="18" charset="0"/>
                                  </a:rPr>
                                  <m:t>−0.2331</m:t>
                                </m:r>
                              </m:e>
                              <m:e>
                                <m:r>
                                  <a:rPr lang="en-US" sz="1200" b="0" i="0">
                                    <a:latin typeface="Cambria Math" panose="02040503050406030204" pitchFamily="18" charset="0"/>
                                  </a:rPr>
                                  <m:t>−0.0768</m:t>
                                </m:r>
                              </m:e>
                            </m:mr>
                            <m:mr>
                              <m:e>
                                <m:r>
                                  <a:rPr lang="en-US" sz="1200" b="0" i="0">
                                    <a:latin typeface="Cambria Math" panose="02040503050406030204" pitchFamily="18" charset="0"/>
                                  </a:rPr>
                                  <m:t>−0.1090</m:t>
                                </m:r>
                              </m:e>
                              <m:e>
                                <m:r>
                                  <a:rPr lang="en-US" sz="1200" b="0" i="0">
                                    <a:latin typeface="Cambria Math" panose="02040503050406030204" pitchFamily="18" charset="0"/>
                                  </a:rPr>
                                  <m:t>−0.2510</m:t>
                                </m:r>
                              </m:e>
                              <m:e>
                                <m:r>
                                  <a:rPr lang="en-US" sz="1200" b="0" i="0">
                                    <a:latin typeface="Cambria Math" panose="02040503050406030204" pitchFamily="18" charset="0"/>
                                  </a:rPr>
                                  <m:t>−0.0765</m:t>
                                </m:r>
                              </m:e>
                              <m:e>
                                <m:r>
                                  <a:rPr lang="en-US" sz="1200" b="0" i="0">
                                    <a:latin typeface="Cambria Math" panose="02040503050406030204" pitchFamily="18" charset="0"/>
                                  </a:rPr>
                                  <m:t>−0.2329</m:t>
                                </m:r>
                              </m:e>
                              <m:e>
                                <m:r>
                                  <a:rPr lang="en-US" sz="1200" b="0" i="0">
                                    <a:latin typeface="Cambria Math" panose="02040503050406030204" pitchFamily="18" charset="0"/>
                                  </a:rPr>
                                  <m:t>0.7509</m:t>
                                </m:r>
                              </m:e>
                              <m:e>
                                <m:r>
                                  <a:rPr lang="en-US" sz="1200" b="0" i="0">
                                    <a:latin typeface="Cambria Math" panose="02040503050406030204" pitchFamily="18" charset="0"/>
                                  </a:rPr>
                                  <m:t>−0.0638</m:t>
                                </m:r>
                              </m:e>
                            </m:mr>
                            <m:mr>
                              <m:e>
                                <m:r>
                                  <a:rPr lang="en-US" sz="1200" b="0" i="0">
                                    <a:latin typeface="Cambria Math" panose="02040503050406030204" pitchFamily="18" charset="0"/>
                                  </a:rPr>
                                  <m:t>−0.2596</m:t>
                                </m:r>
                              </m:e>
                              <m:e>
                                <m:r>
                                  <a:rPr lang="en-US" sz="1200" b="0" i="0">
                                    <a:latin typeface="Cambria Math" panose="02040503050406030204" pitchFamily="18" charset="0"/>
                                  </a:rPr>
                                  <m:t>−0.0966</m:t>
                                </m:r>
                              </m:e>
                              <m:e>
                                <m:r>
                                  <a:rPr lang="en-US" sz="1200" b="0" i="0">
                                    <a:latin typeface="Cambria Math" panose="02040503050406030204" pitchFamily="18" charset="0"/>
                                  </a:rPr>
                                  <m:t>−0.2405</m:t>
                                </m:r>
                              </m:e>
                              <m:e>
                                <m:r>
                                  <a:rPr lang="en-US" sz="1200" b="0" i="0">
                                    <a:latin typeface="Cambria Math" panose="02040503050406030204" pitchFamily="18" charset="0"/>
                                  </a:rPr>
                                  <m:t>−0.0643</m:t>
                                </m:r>
                              </m:e>
                              <m:e>
                                <m:r>
                                  <a:rPr lang="en-US" sz="1200" b="0" i="0">
                                    <a:latin typeface="Cambria Math" panose="02040503050406030204" pitchFamily="18" charset="0"/>
                                  </a:rPr>
                                  <m:t>−0.0529</m:t>
                                </m:r>
                              </m:e>
                              <m:e>
                                <m:r>
                                  <a:rPr lang="en-US" sz="1200" b="0" i="0">
                                    <a:latin typeface="Cambria Math" panose="02040503050406030204" pitchFamily="18" charset="0"/>
                                  </a:rPr>
                                  <m:t>0.7485</m:t>
                                </m:r>
                              </m:e>
                            </m:mr>
                          </m:m>
                        </m:e>
                      </m:d>
                      <m:r>
                        <a:rPr lang="en-US" sz="1200" b="0" i="0">
                          <a:latin typeface="Cambria Math" panose="02040503050406030204" pitchFamily="18" charset="0"/>
                        </a:rPr>
                        <m:t> </m:t>
                      </m:r>
                    </m:oMath>
                  </m:oMathPara>
                </a14:m>
                <a:endParaRPr lang="en-US" sz="1100" dirty="0"/>
              </a:p>
            </p:txBody>
          </p:sp>
        </mc:Choice>
        <mc:Fallback xmlns="">
          <p:sp>
            <p:nvSpPr>
              <p:cNvPr id="40" name="ZP_s_mat"/>
              <p:cNvSpPr txBox="1">
                <a:spLocks noRot="1" noChangeAspect="1" noMove="1" noResize="1" noEditPoints="1" noAdjustHandles="1" noChangeArrowheads="1" noChangeShapeType="1" noTextEdit="1"/>
              </p:cNvSpPr>
              <p:nvPr/>
            </p:nvSpPr>
            <p:spPr>
              <a:xfrm>
                <a:off x="460000" y="1650000"/>
                <a:ext cx="4389119" cy="1115568"/>
              </a:xfrm>
              <a:prstGeom prst="rect">
                <a:avLst/>
              </a:prstGeom>
              <a:blipFill>
                <a:blip r:embed="rId5"/>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ZP_s_sc"/>
              <p:cNvSpPr txBox="1"/>
              <p:nvPr/>
            </p:nvSpPr>
            <p:spPr>
              <a:xfrm>
                <a:off x="150000" y="29536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smtClean="0">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745.0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33.0</m:t>
                      </m:r>
                      <m:r>
                        <a:rPr lang="en-US" sz="1400" b="0" i="0" smtClean="0">
                          <a:latin typeface="Cambria Math" panose="02040503050406030204" pitchFamily="18" charset="0"/>
                        </a:rPr>
                        <m:t>9</m:t>
                      </m:r>
                      <m:r>
                        <a:rPr lang="en-US" sz="1400" b="0" i="0">
                          <a:latin typeface="Cambria Math" panose="02040503050406030204" pitchFamily="18" charset="0"/>
                        </a:rPr>
                        <m:t>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1" name="ZP_s_sc"/>
              <p:cNvSpPr txBox="1">
                <a:spLocks noRot="1" noChangeAspect="1" noMove="1" noResize="1" noEditPoints="1" noAdjustHandles="1" noChangeArrowheads="1" noChangeShapeType="1" noTextEdit="1"/>
              </p:cNvSpPr>
              <p:nvPr/>
            </p:nvSpPr>
            <p:spPr>
              <a:xfrm>
                <a:off x="150000" y="2953600"/>
                <a:ext cx="3457787" cy="310896"/>
              </a:xfrm>
              <a:prstGeom prst="rect">
                <a:avLst/>
              </a:prstGeom>
              <a:blipFill>
                <a:blip r:embed="rId6"/>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ZP_s_nmae"/>
              <p:cNvSpPr txBox="1"/>
              <p:nvPr/>
            </p:nvSpPr>
            <p:spPr>
              <a:xfrm>
                <a:off x="150000" y="340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%=10.50%</m:t>
                      </m:r>
                    </m:oMath>
                  </m:oMathPara>
                </a14:m>
                <a:endParaRPr lang="zh-TW" altLang="en-US" sz="1400" dirty="0"/>
              </a:p>
            </p:txBody>
          </p:sp>
        </mc:Choice>
        <mc:Fallback xmlns="">
          <p:sp>
            <p:nvSpPr>
              <p:cNvPr id="42" name="ZP_s_nmae"/>
              <p:cNvSpPr txBox="1">
                <a:spLocks noRot="1" noChangeAspect="1" noMove="1" noResize="1" noEditPoints="1" noAdjustHandles="1" noChangeArrowheads="1" noChangeShapeType="1" noTextEdit="1"/>
              </p:cNvSpPr>
              <p:nvPr/>
            </p:nvSpPr>
            <p:spPr>
              <a:xfrm>
                <a:off x="150000" y="3400000"/>
                <a:ext cx="4191000" cy="549509"/>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ZP_e_mat"/>
              <p:cNvSpPr txBox="1"/>
              <p:nvPr/>
            </p:nvSpPr>
            <p:spPr>
              <a:xfrm>
                <a:off x="5991799" y="1575920"/>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−0.1070</m:t>
                                </m:r>
                              </m:e>
                              <m:e>
                                <m:r>
                                  <a:rPr lang="en-US" sz="1200" b="0" i="0">
                                    <a:latin typeface="Cambria Math" panose="02040503050406030204" pitchFamily="18" charset="0"/>
                                  </a:rPr>
                                  <m:t>−0.1150</m:t>
                                </m:r>
                              </m:e>
                              <m:e>
                                <m:r>
                                  <a:rPr lang="en-US" sz="1200" b="0" i="0">
                                    <a:latin typeface="Cambria Math" panose="02040503050406030204" pitchFamily="18" charset="0"/>
                                  </a:rPr>
                                  <m:t>−0.1879</m:t>
                                </m:r>
                              </m:e>
                              <m:e>
                                <m:r>
                                  <a:rPr lang="en-US" sz="1200" b="0" i="0">
                                    <a:latin typeface="Cambria Math" panose="02040503050406030204" pitchFamily="18" charset="0"/>
                                  </a:rPr>
                                  <m:t>−0.1878</m:t>
                                </m:r>
                              </m:e>
                              <m:e>
                                <m:r>
                                  <a:rPr lang="en-US" sz="1200" b="0" i="0">
                                    <a:latin typeface="Cambria Math" panose="02040503050406030204" pitchFamily="18" charset="0"/>
                                  </a:rPr>
                                  <m:t>−0.1150</m:t>
                                </m:r>
                              </m:e>
                            </m:mr>
                            <m:mr>
                              <m:e>
                                <m:r>
                                  <a:rPr lang="en-US" sz="1200" b="0" i="0">
                                    <a:latin typeface="Cambria Math" panose="02040503050406030204" pitchFamily="18" charset="0"/>
                                  </a:rPr>
                                  <m:t>−0.1106</m:t>
                                </m:r>
                              </m:e>
                              <m:e>
                                <m:r>
                                  <a:rPr lang="en-US" sz="1200" b="0" i="0">
                                    <a:latin typeface="Cambria Math" panose="02040503050406030204" pitchFamily="18" charset="0"/>
                                  </a:rPr>
                                  <m:t>0.8267</m:t>
                                </m:r>
                              </m:e>
                              <m:e>
                                <m:r>
                                  <a:rPr lang="en-US" sz="1200" b="0" i="0">
                                    <a:latin typeface="Cambria Math" panose="02040503050406030204" pitchFamily="18" charset="0"/>
                                  </a:rPr>
                                  <m:t>−0.1923</m:t>
                                </m:r>
                              </m:e>
                              <m:e>
                                <m:r>
                                  <a:rPr lang="en-US" sz="1200" b="0" i="0">
                                    <a:latin typeface="Cambria Math" panose="02040503050406030204" pitchFamily="18" charset="0"/>
                                  </a:rPr>
                                  <m:t>−0.1191</m:t>
                                </m:r>
                              </m:e>
                              <m:e>
                                <m:r>
                                  <a:rPr lang="en-US" sz="1200" b="0" i="0">
                                    <a:latin typeface="Cambria Math" panose="02040503050406030204" pitchFamily="18" charset="0"/>
                                  </a:rPr>
                                  <m:t>−0.1190</m:t>
                                </m:r>
                              </m:e>
                              <m:e>
                                <m:r>
                                  <a:rPr lang="en-US" sz="1200" b="0" i="0">
                                    <a:latin typeface="Cambria Math" panose="02040503050406030204" pitchFamily="18" charset="0"/>
                                  </a:rPr>
                                  <m:t>−0.1923</m:t>
                                </m:r>
                              </m:e>
                            </m:mr>
                            <m:mr>
                              <m:e>
                                <m:r>
                                  <a:rPr lang="en-US" sz="1200" b="0" i="0">
                                    <a:latin typeface="Cambria Math" panose="02040503050406030204" pitchFamily="18" charset="0"/>
                                  </a:rPr>
                                  <m:t>−0.1328</m:t>
                                </m:r>
                              </m:e>
                              <m:e>
                                <m:r>
                                  <a:rPr lang="en-US" sz="1200" b="0" i="0">
                                    <a:latin typeface="Cambria Math" panose="02040503050406030204" pitchFamily="18" charset="0"/>
                                  </a:rPr>
                                  <m:t>−0.1947</m:t>
                                </m:r>
                              </m:e>
                              <m:e>
                                <m:r>
                                  <a:rPr lang="en-US" sz="1200" b="0" i="0">
                                    <a:latin typeface="Cambria Math" panose="02040503050406030204" pitchFamily="18" charset="0"/>
                                  </a:rPr>
                                  <m:t>0.7452</m:t>
                                </m:r>
                              </m:e>
                              <m:e>
                                <m:r>
                                  <a:rPr lang="en-US" sz="1200" b="0" i="0">
                                    <a:latin typeface="Cambria Math" panose="02040503050406030204" pitchFamily="18" charset="0"/>
                                  </a:rPr>
                                  <m:t>−0.0927</m:t>
                                </m:r>
                              </m:e>
                              <m:e>
                                <m:r>
                                  <a:rPr lang="en-US" sz="1200" b="0" i="0">
                                    <a:latin typeface="Cambria Math" panose="02040503050406030204" pitchFamily="18" charset="0"/>
                                  </a:rPr>
                                  <m:t>−0.1569</m:t>
                                </m:r>
                              </m:e>
                              <m:e>
                                <m:r>
                                  <a:rPr lang="en-US" sz="1200" b="0" i="0">
                                    <a:latin typeface="Cambria Math" panose="02040503050406030204" pitchFamily="18" charset="0"/>
                                  </a:rPr>
                                  <m:t>−0.1292</m:t>
                                </m:r>
                              </m:e>
                            </m:mr>
                            <m:mr>
                              <m:e>
                                <m:r>
                                  <a:rPr lang="en-US" sz="1200" b="0" i="0">
                                    <a:latin typeface="Cambria Math" panose="02040503050406030204" pitchFamily="18" charset="0"/>
                                  </a:rPr>
                                  <m:t>−0.1986</m:t>
                                </m:r>
                              </m:e>
                              <m:e>
                                <m:r>
                                  <a:rPr lang="en-US" sz="1200" b="0" i="0">
                                    <a:latin typeface="Cambria Math" panose="02040503050406030204" pitchFamily="18" charset="0"/>
                                  </a:rPr>
                                  <m:t>−0.1368</m:t>
                                </m:r>
                              </m:e>
                              <m:e>
                                <m:r>
                                  <a:rPr lang="en-US" sz="1200" b="0" i="0">
                                    <a:latin typeface="Cambria Math" panose="02040503050406030204" pitchFamily="18" charset="0"/>
                                  </a:rPr>
                                  <m:t>−0.0967</m:t>
                                </m:r>
                              </m:e>
                              <m:e>
                                <m:r>
                                  <a:rPr lang="en-US" sz="1200" b="0" i="0">
                                    <a:latin typeface="Cambria Math" panose="02040503050406030204" pitchFamily="18" charset="0"/>
                                  </a:rPr>
                                  <m:t>0.7376</m:t>
                                </m:r>
                              </m:e>
                              <m:e>
                                <m:r>
                                  <a:rPr lang="en-US" sz="1200" b="0" i="0">
                                    <a:latin typeface="Cambria Math" panose="02040503050406030204" pitchFamily="18" charset="0"/>
                                  </a:rPr>
                                  <m:t>−0.1333</m:t>
                                </m:r>
                              </m:e>
                              <m:e>
                                <m:r>
                                  <a:rPr lang="en-US" sz="1200" b="0" i="0">
                                    <a:latin typeface="Cambria Math" panose="02040503050406030204" pitchFamily="18" charset="0"/>
                                  </a:rPr>
                                  <m:t>−0.1617</m:t>
                                </m:r>
                              </m:e>
                            </m:mr>
                            <m:mr>
                              <m:e>
                                <m:r>
                                  <a:rPr lang="en-US" sz="1200" b="0" i="0">
                                    <a:latin typeface="Cambria Math" panose="02040503050406030204" pitchFamily="18" charset="0"/>
                                  </a:rPr>
                                  <m:t>−0.1985</m:t>
                                </m:r>
                              </m:e>
                              <m:e>
                                <m:r>
                                  <a:rPr lang="en-US" sz="1200" b="0" i="0">
                                    <a:latin typeface="Cambria Math" panose="02040503050406030204" pitchFamily="18" charset="0"/>
                                  </a:rPr>
                                  <m:t>−0.1367</m:t>
                                </m:r>
                              </m:e>
                              <m:e>
                                <m:r>
                                  <a:rPr lang="en-US" sz="1200" b="0" i="0">
                                    <a:latin typeface="Cambria Math" panose="02040503050406030204" pitchFamily="18" charset="0"/>
                                  </a:rPr>
                                  <m:t>−0.1616</m:t>
                                </m:r>
                              </m:e>
                              <m:e>
                                <m:r>
                                  <a:rPr lang="en-US" sz="1200" b="0" i="0">
                                    <a:latin typeface="Cambria Math" panose="02040503050406030204" pitchFamily="18" charset="0"/>
                                  </a:rPr>
                                  <m:t>−0.1333</m:t>
                                </m:r>
                              </m:e>
                              <m:e>
                                <m:r>
                                  <a:rPr lang="en-US" sz="1200" b="0" i="0">
                                    <a:latin typeface="Cambria Math" panose="02040503050406030204" pitchFamily="18" charset="0"/>
                                  </a:rPr>
                                  <m:t>0.7371</m:t>
                                </m:r>
                              </m:e>
                              <m:e>
                                <m:r>
                                  <a:rPr lang="en-US" sz="1200" b="0" i="0">
                                    <a:latin typeface="Cambria Math" panose="02040503050406030204" pitchFamily="18" charset="0"/>
                                  </a:rPr>
                                  <m:t>−0.0967</m:t>
                                </m:r>
                              </m:e>
                            </m:mr>
                            <m:mr>
                              <m:e>
                                <m:r>
                                  <a:rPr lang="en-US" sz="1200" b="0" i="0">
                                    <a:latin typeface="Cambria Math" panose="02040503050406030204" pitchFamily="18" charset="0"/>
                                  </a:rPr>
                                  <m:t>−0.1328</m:t>
                                </m:r>
                              </m:e>
                              <m:e>
                                <m:r>
                                  <a:rPr lang="en-US" sz="1200" b="0" i="0">
                                    <a:latin typeface="Cambria Math" panose="02040503050406030204" pitchFamily="18" charset="0"/>
                                  </a:rPr>
                                  <m:t>−0.1946</m:t>
                                </m:r>
                              </m:e>
                              <m:e>
                                <m:r>
                                  <a:rPr lang="en-US" sz="1200" b="0" i="0">
                                    <a:latin typeface="Cambria Math" panose="02040503050406030204" pitchFamily="18" charset="0"/>
                                  </a:rPr>
                                  <m:t>−0.1292</m:t>
                                </m:r>
                              </m:e>
                              <m:e>
                                <m:r>
                                  <a:rPr lang="en-US" sz="1200" b="0" i="0">
                                    <a:latin typeface="Cambria Math" panose="02040503050406030204" pitchFamily="18" charset="0"/>
                                  </a:rPr>
                                  <m:t>−0.1571</m:t>
                                </m:r>
                              </m:e>
                              <m:e>
                                <m:r>
                                  <a:rPr lang="en-US" sz="1200" b="0" i="0">
                                    <a:latin typeface="Cambria Math" panose="02040503050406030204" pitchFamily="18" charset="0"/>
                                  </a:rPr>
                                  <m:t>−0.0926</m:t>
                                </m:r>
                              </m:e>
                              <m:e>
                                <m:r>
                                  <a:rPr lang="en-US" sz="1200" b="0" i="0">
                                    <a:latin typeface="Cambria Math" panose="02040503050406030204" pitchFamily="18" charset="0"/>
                                  </a:rPr>
                                  <m:t>0.7454</m:t>
                                </m:r>
                              </m:e>
                            </m:mr>
                          </m:m>
                        </m:e>
                      </m:d>
                      <m:r>
                        <a:rPr lang="en-US" sz="1200" b="0" i="0">
                          <a:latin typeface="Cambria Math" panose="02040503050406030204" pitchFamily="18" charset="0"/>
                        </a:rPr>
                        <m:t> </m:t>
                      </m:r>
                    </m:oMath>
                  </m:oMathPara>
                </a14:m>
                <a:endParaRPr lang="en-US" sz="1100" dirty="0"/>
              </a:p>
            </p:txBody>
          </p:sp>
        </mc:Choice>
        <mc:Fallback xmlns="">
          <p:sp>
            <p:nvSpPr>
              <p:cNvPr id="43" name="ZP_e_mat"/>
              <p:cNvSpPr txBox="1">
                <a:spLocks noRot="1" noChangeAspect="1" noMove="1" noResize="1" noEditPoints="1" noAdjustHandles="1" noChangeArrowheads="1" noChangeShapeType="1" noTextEdit="1"/>
              </p:cNvSpPr>
              <p:nvPr/>
            </p:nvSpPr>
            <p:spPr>
              <a:xfrm>
                <a:off x="5991799" y="1575920"/>
                <a:ext cx="4524587" cy="1115568"/>
              </a:xfrm>
              <a:prstGeom prst="rect">
                <a:avLst/>
              </a:prstGeom>
              <a:blipFill>
                <a:blip r:embed="rId8"/>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ZP_e_sc"/>
              <p:cNvSpPr txBox="1"/>
              <p:nvPr/>
            </p:nvSpPr>
            <p:spPr>
              <a:xfrm>
                <a:off x="5693133" y="2977286"/>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smtClean="0">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604.1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37.</m:t>
                      </m:r>
                      <m:r>
                        <a:rPr lang="en-US" sz="1400" b="0" i="0" smtClean="0">
                          <a:latin typeface="Cambria Math" panose="02040503050406030204" pitchFamily="18" charset="0"/>
                        </a:rPr>
                        <m:t>56</m:t>
                      </m:r>
                      <m:r>
                        <a:rPr lang="en-US" sz="1400" b="0" i="0">
                          <a:latin typeface="Cambria Math" panose="02040503050406030204" pitchFamily="18" charset="0"/>
                        </a:rPr>
                        <m:t>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4" name="ZP_e_sc"/>
              <p:cNvSpPr txBox="1">
                <a:spLocks noRot="1" noChangeAspect="1" noMove="1" noResize="1" noEditPoints="1" noAdjustHandles="1" noChangeArrowheads="1" noChangeShapeType="1" noTextEdit="1"/>
              </p:cNvSpPr>
              <p:nvPr/>
            </p:nvSpPr>
            <p:spPr>
              <a:xfrm>
                <a:off x="5693133" y="2977286"/>
                <a:ext cx="3457787" cy="310896"/>
              </a:xfrm>
              <a:prstGeom prst="rect">
                <a:avLst/>
              </a:prstGeom>
              <a:blipFill>
                <a:blip r:embed="rId9"/>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ZP_e_nmae"/>
              <p:cNvSpPr txBox="1"/>
              <p:nvPr/>
            </p:nvSpPr>
            <p:spPr>
              <a:xfrm>
                <a:off x="5517025" y="3433867"/>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%=0.68%</m:t>
                      </m:r>
                    </m:oMath>
                  </m:oMathPara>
                </a14:m>
                <a:endParaRPr lang="zh-TW" altLang="en-US" sz="1400" dirty="0"/>
              </a:p>
            </p:txBody>
          </p:sp>
        </mc:Choice>
        <mc:Fallback xmlns="">
          <p:sp>
            <p:nvSpPr>
              <p:cNvPr id="45" name="ZP_e_nmae"/>
              <p:cNvSpPr txBox="1">
                <a:spLocks noRot="1" noChangeAspect="1" noMove="1" noResize="1" noEditPoints="1" noAdjustHandles="1" noChangeArrowheads="1" noChangeShapeType="1" noTextEdit="1"/>
              </p:cNvSpPr>
              <p:nvPr/>
            </p:nvSpPr>
            <p:spPr>
              <a:xfrm>
                <a:off x="5517025" y="3433867"/>
                <a:ext cx="4191000" cy="549509"/>
              </a:xfrm>
              <a:prstGeom prst="rect">
                <a:avLst/>
              </a:prstGeom>
              <a:blipFill>
                <a:blip r:embed="rId10"/>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ZP_e_bias"/>
              <p:cNvSpPr txBox="1"/>
              <p:nvPr/>
            </p:nvSpPr>
            <p:spPr>
              <a:xfrm>
                <a:off x="5371400" y="4274746"/>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−0.0002</m:t>
                                </m:r>
                              </m:e>
                              <m:e>
                                <m:r>
                                  <a:rPr lang="en-US" sz="1200" b="0" i="0">
                                    <a:latin typeface="Cambria Math" panose="02040503050406030204" pitchFamily="18" charset="0"/>
                                  </a:rPr>
                                  <m:t>0.0004</m:t>
                                </m:r>
                              </m:e>
                              <m:e>
                                <m:r>
                                  <a:rPr lang="en-US" sz="1200" b="0" i="0">
                                    <a:latin typeface="Cambria Math" panose="02040503050406030204" pitchFamily="18" charset="0"/>
                                  </a:rPr>
                                  <m:t>−0.2164</m:t>
                                </m:r>
                              </m:e>
                              <m:e>
                                <m:r>
                                  <a:rPr lang="en-US" sz="1200" b="0" i="0">
                                    <a:latin typeface="Cambria Math" panose="02040503050406030204" pitchFamily="18" charset="0"/>
                                  </a:rPr>
                                  <m:t>0.2160</m:t>
                                </m:r>
                              </m:e>
                              <m:e>
                                <m:r>
                                  <a:rPr lang="en-US" sz="1200" b="0" i="0">
                                    <a:latin typeface="Cambria Math" panose="02040503050406030204" pitchFamily="18" charset="0"/>
                                  </a:rPr>
                                  <m:t>0.2165</m:t>
                                </m:r>
                              </m:e>
                              <m:e>
                                <m:r>
                                  <a:rPr lang="en-US" sz="1200" b="0" i="0">
                                    <a:latin typeface="Cambria Math" panose="02040503050406030204" pitchFamily="18" charset="0"/>
                                  </a:rPr>
                                  <m:t>−0.2161</m:t>
                                </m:r>
                              </m:e>
                            </m:mr>
                            <m:mr>
                              <m:e>
                                <m:r>
                                  <a:rPr lang="en-US" sz="1200" b="0" i="0">
                                    <a:latin typeface="Cambria Math" panose="02040503050406030204" pitchFamily="18" charset="0"/>
                                  </a:rPr>
                                  <m:t>−0.2162</m:t>
                                </m:r>
                              </m:e>
                              <m:e>
                                <m:r>
                                  <a:rPr lang="en-US" sz="1200" b="0" i="0">
                                    <a:latin typeface="Cambria Math" panose="02040503050406030204" pitchFamily="18" charset="0"/>
                                  </a:rPr>
                                  <m:t>0.2165</m:t>
                                </m:r>
                              </m:e>
                              <m:e>
                                <m:r>
                                  <a:rPr lang="en-US" sz="1200" b="0" i="0">
                                    <a:latin typeface="Cambria Math" panose="02040503050406030204" pitchFamily="18" charset="0"/>
                                  </a:rPr>
                                  <m:t>0.0003</m:t>
                                </m:r>
                              </m:e>
                              <m:e>
                                <m:r>
                                  <a:rPr lang="en-US" sz="1200" b="0" i="0">
                                    <a:latin typeface="Cambria Math" panose="02040503050406030204" pitchFamily="18" charset="0"/>
                                  </a:rPr>
                                  <m:t>−0.0000</m:t>
                                </m:r>
                              </m:e>
                              <m:e>
                                <m:r>
                                  <a:rPr lang="en-US" sz="1200" b="0" i="0">
                                    <a:latin typeface="Cambria Math" panose="02040503050406030204" pitchFamily="18" charset="0"/>
                                  </a:rPr>
                                  <m:t>0.2168</m:t>
                                </m:r>
                              </m:e>
                              <m:e>
                                <m:r>
                                  <a:rPr lang="en-US" sz="1200" b="0" i="0">
                                    <a:latin typeface="Cambria Math" panose="02040503050406030204" pitchFamily="18" charset="0"/>
                                  </a:rPr>
                                  <m:t>−0.2161</m:t>
                                </m:r>
                              </m:e>
                            </m:mr>
                            <m:mr>
                              <m:e>
                                <m:r>
                                  <a:rPr lang="en-US" sz="1200" b="0" i="0">
                                    <a:latin typeface="Cambria Math" panose="02040503050406030204" pitchFamily="18" charset="0"/>
                                  </a:rPr>
                                  <m:t>0.2161</m:t>
                                </m:r>
                              </m:e>
                              <m:e>
                                <m:r>
                                  <a:rPr lang="en-US" sz="1200" b="0" i="0">
                                    <a:latin typeface="Cambria Math" panose="02040503050406030204" pitchFamily="18" charset="0"/>
                                  </a:rPr>
                                  <m:t>−0.2164</m:t>
                                </m:r>
                              </m:e>
                              <m:e>
                                <m:r>
                                  <a:rPr lang="en-US" sz="1200" b="0" i="0">
                                    <a:latin typeface="Cambria Math" panose="02040503050406030204" pitchFamily="18" charset="0"/>
                                  </a:rPr>
                                  <m:t>0.2162</m:t>
                                </m:r>
                              </m:e>
                              <m:e>
                                <m:r>
                                  <a:rPr lang="en-US" sz="1200" b="0" i="0">
                                    <a:latin typeface="Cambria Math" panose="02040503050406030204" pitchFamily="18" charset="0"/>
                                  </a:rPr>
                                  <m:t>−0.2166</m:t>
                                </m:r>
                              </m:e>
                              <m:e>
                                <m:r>
                                  <a:rPr lang="en-US" sz="1200" b="0" i="0">
                                    <a:latin typeface="Cambria Math" panose="02040503050406030204" pitchFamily="18" charset="0"/>
                                  </a:rPr>
                                  <m:t>−0.0001</m:t>
                                </m:r>
                              </m:e>
                              <m:e>
                                <m:r>
                                  <a:rPr lang="en-US" sz="1200" b="0" i="0">
                                    <a:latin typeface="Cambria Math" panose="02040503050406030204" pitchFamily="18" charset="0"/>
                                  </a:rPr>
                                  <m:t>−0.0003</m:t>
                                </m:r>
                              </m:e>
                            </m:mr>
                          </m:m>
                        </m:e>
                      </m:d>
                    </m:oMath>
                  </m:oMathPara>
                </a14:m>
                <a:endParaRPr lang="en-US" sz="1100" dirty="0"/>
              </a:p>
            </p:txBody>
          </p:sp>
        </mc:Choice>
        <mc:Fallback xmlns="">
          <p:sp>
            <p:nvSpPr>
              <p:cNvPr id="46" name="ZP_e_bias"/>
              <p:cNvSpPr txBox="1">
                <a:spLocks noRot="1" noChangeAspect="1" noMove="1" noResize="1" noEditPoints="1" noAdjustHandles="1" noChangeArrowheads="1" noChangeShapeType="1" noTextEdit="1"/>
              </p:cNvSpPr>
              <p:nvPr/>
            </p:nvSpPr>
            <p:spPr>
              <a:xfrm>
                <a:off x="5371400" y="4274746"/>
                <a:ext cx="5235787" cy="566928"/>
              </a:xfrm>
              <a:prstGeom prst="rect">
                <a:avLst/>
              </a:prstGeom>
              <a:blipFill>
                <a:blip r:embed="rId11"/>
                <a:stretch>
                  <a:fillRect t="-21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853324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69332"/>
              </a:xfrm>
              <a:prstGeom prst="rect">
                <a:avLst/>
              </a:prstGeom>
              <a:noFill/>
            </p:spPr>
            <p:txBody>
              <a:bodyPr wrap="square">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𝑃𝑜𝑖𝑛𝑡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𝑑𝑖𝑠𝑡𝑟𝑖𝑏𝑢𝑡𝑖𝑜𝑛</m:t>
                    </m:r>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Long</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at</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R</m:t>
                    </m:r>
                    <m:r>
                      <a:rPr lang="en-US" altLang="zh-TW" b="0" i="0" smtClean="0">
                        <a:latin typeface="Cambria Math" panose="02040503050406030204" pitchFamily="18" charset="0"/>
                      </a:rPr>
                      <m:t>≤150</m:t>
                    </m:r>
                    <m:r>
                      <m:rPr>
                        <m:sty m:val="p"/>
                      </m:rPr>
                      <a:rPr lang="en-US" altLang="zh-TW" b="0" i="0" smtClean="0">
                        <a:latin typeface="Cambria Math" panose="02040503050406030204" pitchFamily="18" charset="0"/>
                      </a:rPr>
                      <m:t>um</m:t>
                    </m:r>
                    <m:r>
                      <a:rPr lang="en-US" altLang="zh-TW" b="0" i="0" smtClean="0">
                        <a:latin typeface="Cambria Math" panose="02040503050406030204" pitchFamily="18" charset="0"/>
                      </a:rPr>
                      <m:t>)</m:t>
                    </m:r>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69332"/>
              </a:xfrm>
              <a:prstGeom prst="rect">
                <a:avLst/>
              </a:prstGeom>
              <a:blipFill>
                <a:blip r:embed="rId2"/>
                <a:stretch>
                  <a:fillRect l="-311" t="-5000" b="-2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018443"/>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Single</m:t>
                    </m:r>
                    <m:r>
                      <a:rPr lang="en-US" altLang="zh-TW" b="0" i="0" smtClean="0">
                        <a:latin typeface="Cambria Math" panose="02040503050406030204" pitchFamily="18" charset="0"/>
                        <a:ea typeface="Cambria Math" panose="02040503050406030204" pitchFamily="18" charset="0"/>
                      </a:rPr>
                      <m:t>(25 </m:t>
                    </m:r>
                    <m:r>
                      <m:rPr>
                        <m:sty m:val="p"/>
                      </m:rPr>
                      <a:rPr lang="en-US" altLang="zh-TW" b="0" i="0" smtClean="0">
                        <a:latin typeface="Cambria Math" panose="02040503050406030204" pitchFamily="18" charset="0"/>
                        <a:ea typeface="Cambria Math" panose="02040503050406030204" pitchFamily="18" charset="0"/>
                      </a:rPr>
                      <m:t>points</m:t>
                    </m:r>
                    <m:r>
                      <a:rPr lang="en-US" altLang="zh-TW" b="0" i="0"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018443"/>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5537199" y="1004337"/>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rPr>
                      <m:t>Eighteen</m:t>
                    </m:r>
                  </m:oMath>
                </a14:m>
                <a:r>
                  <a:rPr lang="en-US" altLang="zh-TW" dirty="0"/>
                  <a:t>(13 points)</a:t>
                </a:r>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5537199" y="1004337"/>
                <a:ext cx="4258733" cy="369332"/>
              </a:xfrm>
              <a:prstGeom prst="rect">
                <a:avLst/>
              </a:prstGeom>
              <a:blipFill>
                <a:blip r:embed="rId4"/>
                <a:stretch>
                  <a:fillRect l="-858" t="-10000" b="-26667"/>
                </a:stretch>
              </a:blipFill>
            </p:spPr>
            <p:txBody>
              <a:bodyPr/>
              <a:lstStyle/>
              <a:p>
                <a:r>
                  <a:rPr lang="zh-TW" altLang="en-US">
                    <a:noFill/>
                  </a:rPr>
                  <a:t> </a:t>
                </a:r>
              </a:p>
            </p:txBody>
          </p:sp>
        </mc:Fallback>
      </mc:AlternateContent>
      <p:grpSp>
        <p:nvGrpSpPr>
          <p:cNvPr id="9" name="群組 8">
            <a:extLst>
              <a:ext uri="{FF2B5EF4-FFF2-40B4-BE49-F238E27FC236}">
                <a16:creationId xmlns:a16="http://schemas.microsoft.com/office/drawing/2014/main" id="{D6305086-34C3-47E8-BA44-93DA7A67F489}"/>
              </a:ext>
            </a:extLst>
          </p:cNvPr>
          <p:cNvGrpSpPr/>
          <p:nvPr/>
        </p:nvGrpSpPr>
        <p:grpSpPr>
          <a:xfrm>
            <a:off x="718848" y="1549400"/>
            <a:ext cx="3585461" cy="3645615"/>
            <a:chOff x="718848" y="1549400"/>
            <a:chExt cx="3585461" cy="3645615"/>
          </a:xfrm>
        </p:grpSpPr>
        <p:pic>
          <p:nvPicPr>
            <p:cNvPr id="4" name="圖片 3">
              <a:extLst>
                <a:ext uri="{FF2B5EF4-FFF2-40B4-BE49-F238E27FC236}">
                  <a16:creationId xmlns:a16="http://schemas.microsoft.com/office/drawing/2014/main" id="{2BC9FB08-7B2D-4DD5-A528-BB4A4AD11C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5070" y="1549400"/>
              <a:ext cx="3339239" cy="3344333"/>
            </a:xfrm>
            <a:prstGeom prst="rect">
              <a:avLst/>
            </a:prstGeom>
          </p:spPr>
        </p:pic>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44A347E8-312A-4189-ACBA-AD6EB583DEAE}"/>
                    </a:ext>
                  </a:extLst>
                </p:cNvPr>
                <p:cNvSpPr txBox="1"/>
                <p:nvPr/>
              </p:nvSpPr>
              <p:spPr>
                <a:xfrm rot="2982631">
                  <a:off x="647321" y="4444361"/>
                  <a:ext cx="1255087"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1" smtClean="0">
                            <a:latin typeface="Cambria Math" panose="02040503050406030204" pitchFamily="18" charset="0"/>
                          </a:rPr>
                          <m:t>𝑥</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7" name="文字方塊 6">
                  <a:extLst>
                    <a:ext uri="{FF2B5EF4-FFF2-40B4-BE49-F238E27FC236}">
                      <a16:creationId xmlns:a16="http://schemas.microsoft.com/office/drawing/2014/main" id="{44A347E8-312A-4189-ACBA-AD6EB583DEAE}"/>
                    </a:ext>
                  </a:extLst>
                </p:cNvPr>
                <p:cNvSpPr txBox="1">
                  <a:spLocks noRot="1" noChangeAspect="1" noMove="1" noResize="1" noEditPoints="1" noAdjustHandles="1" noChangeArrowheads="1" noChangeShapeType="1" noTextEdit="1"/>
                </p:cNvSpPr>
                <p:nvPr/>
              </p:nvSpPr>
              <p:spPr>
                <a:xfrm rot="2982631">
                  <a:off x="647321" y="4444361"/>
                  <a:ext cx="1255087" cy="246221"/>
                </a:xfrm>
                <a:prstGeom prst="rect">
                  <a:avLst/>
                </a:prstGeom>
                <a:blipFill>
                  <a:blip r:embed="rId6"/>
                  <a:stretch>
                    <a:fillRect l="-606" r="-3636" b="-869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0C57323F-E7D7-4DF5-8FC2-746F63CD9E35}"/>
                    </a:ext>
                  </a:extLst>
                </p:cNvPr>
                <p:cNvSpPr txBox="1"/>
                <p:nvPr/>
              </p:nvSpPr>
              <p:spPr>
                <a:xfrm rot="20890141">
                  <a:off x="2923450" y="4788809"/>
                  <a:ext cx="124405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y</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19" name="文字方塊 18">
                  <a:extLst>
                    <a:ext uri="{FF2B5EF4-FFF2-40B4-BE49-F238E27FC236}">
                      <a16:creationId xmlns:a16="http://schemas.microsoft.com/office/drawing/2014/main" id="{0C57323F-E7D7-4DF5-8FC2-746F63CD9E35}"/>
                    </a:ext>
                  </a:extLst>
                </p:cNvPr>
                <p:cNvSpPr txBox="1">
                  <a:spLocks noRot="1" noChangeAspect="1" noMove="1" noResize="1" noEditPoints="1" noAdjustHandles="1" noChangeArrowheads="1" noChangeShapeType="1" noTextEdit="1"/>
                </p:cNvSpPr>
                <p:nvPr/>
              </p:nvSpPr>
              <p:spPr>
                <a:xfrm rot="20890141">
                  <a:off x="2923450" y="4788809"/>
                  <a:ext cx="1244059" cy="246221"/>
                </a:xfrm>
                <a:prstGeom prst="rect">
                  <a:avLst/>
                </a:prstGeom>
                <a:blipFill>
                  <a:blip r:embed="rId7"/>
                  <a:stretch>
                    <a:fillRect l="-1914" t="-2439" r="-5742" b="-1219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9B492B0A-A3A1-44A5-90AC-7C89A913549C}"/>
                    </a:ext>
                  </a:extLst>
                </p:cNvPr>
                <p:cNvSpPr txBox="1"/>
                <p:nvPr/>
              </p:nvSpPr>
              <p:spPr>
                <a:xfrm rot="16200000">
                  <a:off x="225540" y="2725709"/>
                  <a:ext cx="123283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a:latin typeface="Cambria Math" panose="02040503050406030204" pitchFamily="18" charset="0"/>
                          </a:rPr>
                          <m:t>z</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20" name="文字方塊 19">
                  <a:extLst>
                    <a:ext uri="{FF2B5EF4-FFF2-40B4-BE49-F238E27FC236}">
                      <a16:creationId xmlns:a16="http://schemas.microsoft.com/office/drawing/2014/main" id="{9B492B0A-A3A1-44A5-90AC-7C89A913549C}"/>
                    </a:ext>
                  </a:extLst>
                </p:cNvPr>
                <p:cNvSpPr txBox="1">
                  <a:spLocks noRot="1" noChangeAspect="1" noMove="1" noResize="1" noEditPoints="1" noAdjustHandles="1" noChangeArrowheads="1" noChangeShapeType="1" noTextEdit="1"/>
                </p:cNvSpPr>
                <p:nvPr/>
              </p:nvSpPr>
              <p:spPr>
                <a:xfrm rot="16200000">
                  <a:off x="225540" y="2725709"/>
                  <a:ext cx="1232838" cy="246221"/>
                </a:xfrm>
                <a:prstGeom prst="rect">
                  <a:avLst/>
                </a:prstGeom>
                <a:blipFill>
                  <a:blip r:embed="rId8"/>
                  <a:stretch>
                    <a:fillRect t="-5446" r="-32500" b="-198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2DA51642-DDAF-4605-87E2-C3197F0C0446}"/>
                    </a:ext>
                  </a:extLst>
                </p:cNvPr>
                <p:cNvSpPr txBox="1"/>
                <p:nvPr/>
              </p:nvSpPr>
              <p:spPr>
                <a:xfrm>
                  <a:off x="2705383" y="3343673"/>
                  <a:ext cx="2935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r>
                              <a:rPr lang="en-US" altLang="zh-TW" b="0" i="1" smtClean="0">
                                <a:solidFill>
                                  <a:schemeClr val="accent1"/>
                                </a:solidFill>
                                <a:latin typeface="Cambria Math" panose="02040503050406030204" pitchFamily="18" charset="0"/>
                              </a:rPr>
                              <m:t>𝑥</m:t>
                            </m:r>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8" name="文字方塊 7">
                  <a:extLst>
                    <a:ext uri="{FF2B5EF4-FFF2-40B4-BE49-F238E27FC236}">
                      <a16:creationId xmlns:a16="http://schemas.microsoft.com/office/drawing/2014/main" id="{2DA51642-DDAF-4605-87E2-C3197F0C0446}"/>
                    </a:ext>
                  </a:extLst>
                </p:cNvPr>
                <p:cNvSpPr txBox="1">
                  <a:spLocks noRot="1" noChangeAspect="1" noMove="1" noResize="1" noEditPoints="1" noAdjustHandles="1" noChangeArrowheads="1" noChangeShapeType="1" noTextEdit="1"/>
                </p:cNvSpPr>
                <p:nvPr/>
              </p:nvSpPr>
              <p:spPr>
                <a:xfrm>
                  <a:off x="2705383" y="3343673"/>
                  <a:ext cx="293542" cy="276999"/>
                </a:xfrm>
                <a:prstGeom prst="rect">
                  <a:avLst/>
                </a:prstGeom>
                <a:blipFill>
                  <a:blip r:embed="rId9"/>
                  <a:stretch>
                    <a:fillRect l="-12500" b="-1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43A4A2F6-05CD-4023-A273-447F96A9851E}"/>
                    </a:ext>
                  </a:extLst>
                </p:cNvPr>
                <p:cNvSpPr txBox="1"/>
                <p:nvPr/>
              </p:nvSpPr>
              <p:spPr>
                <a:xfrm>
                  <a:off x="3054776" y="2977442"/>
                  <a:ext cx="28193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r>
                              <a:rPr lang="en-US" altLang="zh-TW" b="0" i="1" smtClean="0">
                                <a:solidFill>
                                  <a:schemeClr val="accent1"/>
                                </a:solidFill>
                                <a:latin typeface="Cambria Math" panose="02040503050406030204" pitchFamily="18" charset="0"/>
                              </a:rPr>
                              <m:t>𝑦</m:t>
                            </m:r>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22" name="文字方塊 21">
                  <a:extLst>
                    <a:ext uri="{FF2B5EF4-FFF2-40B4-BE49-F238E27FC236}">
                      <a16:creationId xmlns:a16="http://schemas.microsoft.com/office/drawing/2014/main" id="{43A4A2F6-05CD-4023-A273-447F96A9851E}"/>
                    </a:ext>
                  </a:extLst>
                </p:cNvPr>
                <p:cNvSpPr txBox="1">
                  <a:spLocks noRot="1" noChangeAspect="1" noMove="1" noResize="1" noEditPoints="1" noAdjustHandles="1" noChangeArrowheads="1" noChangeShapeType="1" noTextEdit="1"/>
                </p:cNvSpPr>
                <p:nvPr/>
              </p:nvSpPr>
              <p:spPr>
                <a:xfrm>
                  <a:off x="3054776" y="2977442"/>
                  <a:ext cx="281937" cy="276999"/>
                </a:xfrm>
                <a:prstGeom prst="rect">
                  <a:avLst/>
                </a:prstGeom>
                <a:blipFill>
                  <a:blip r:embed="rId10"/>
                  <a:stretch>
                    <a:fillRect l="-21739" r="-2174" b="-239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78B1B454-8B8B-4470-9B70-5BC6B64B916D}"/>
                    </a:ext>
                  </a:extLst>
                </p:cNvPr>
                <p:cNvSpPr txBox="1"/>
                <p:nvPr/>
              </p:nvSpPr>
              <p:spPr>
                <a:xfrm>
                  <a:off x="2976764" y="2634155"/>
                  <a:ext cx="2789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r>
                              <a:rPr lang="en-US" altLang="zh-TW" b="0" i="1" smtClean="0">
                                <a:solidFill>
                                  <a:schemeClr val="accent1"/>
                                </a:solidFill>
                                <a:latin typeface="Cambria Math" panose="02040503050406030204" pitchFamily="18" charset="0"/>
                              </a:rPr>
                              <m:t>𝑧</m:t>
                            </m:r>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23" name="文字方塊 22">
                  <a:extLst>
                    <a:ext uri="{FF2B5EF4-FFF2-40B4-BE49-F238E27FC236}">
                      <a16:creationId xmlns:a16="http://schemas.microsoft.com/office/drawing/2014/main" id="{78B1B454-8B8B-4470-9B70-5BC6B64B916D}"/>
                    </a:ext>
                  </a:extLst>
                </p:cNvPr>
                <p:cNvSpPr txBox="1">
                  <a:spLocks noRot="1" noChangeAspect="1" noMove="1" noResize="1" noEditPoints="1" noAdjustHandles="1" noChangeArrowheads="1" noChangeShapeType="1" noTextEdit="1"/>
                </p:cNvSpPr>
                <p:nvPr/>
              </p:nvSpPr>
              <p:spPr>
                <a:xfrm>
                  <a:off x="2976764" y="2634155"/>
                  <a:ext cx="278923" cy="276999"/>
                </a:xfrm>
                <a:prstGeom prst="rect">
                  <a:avLst/>
                </a:prstGeom>
                <a:blipFill>
                  <a:blip r:embed="rId11"/>
                  <a:stretch>
                    <a:fillRect l="-13043" b="-10870"/>
                  </a:stretch>
                </a:blipFill>
              </p:spPr>
              <p:txBody>
                <a:bodyPr/>
                <a:lstStyle/>
                <a:p>
                  <a:r>
                    <a:rPr lang="zh-TW" altLang="en-US">
                      <a:noFill/>
                    </a:rPr>
                    <a:t> </a:t>
                  </a:r>
                </a:p>
              </p:txBody>
            </p:sp>
          </mc:Fallback>
        </mc:AlternateContent>
      </p:grpSp>
      <p:grpSp>
        <p:nvGrpSpPr>
          <p:cNvPr id="10" name="群組 9">
            <a:extLst>
              <a:ext uri="{FF2B5EF4-FFF2-40B4-BE49-F238E27FC236}">
                <a16:creationId xmlns:a16="http://schemas.microsoft.com/office/drawing/2014/main" id="{2A53A111-C064-4301-AB85-F859089C68B5}"/>
              </a:ext>
            </a:extLst>
          </p:cNvPr>
          <p:cNvGrpSpPr/>
          <p:nvPr/>
        </p:nvGrpSpPr>
        <p:grpSpPr>
          <a:xfrm>
            <a:off x="6321471" y="1706032"/>
            <a:ext cx="3474460" cy="3548250"/>
            <a:chOff x="6321471" y="1706032"/>
            <a:chExt cx="3474460" cy="3548250"/>
          </a:xfrm>
        </p:grpSpPr>
        <p:pic>
          <p:nvPicPr>
            <p:cNvPr id="6" name="圖片 5">
              <a:extLst>
                <a:ext uri="{FF2B5EF4-FFF2-40B4-BE49-F238E27FC236}">
                  <a16:creationId xmlns:a16="http://schemas.microsoft.com/office/drawing/2014/main" id="{83A46B8A-7004-47D7-A96D-8B527B05680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594926" y="1706032"/>
              <a:ext cx="3201005" cy="3205888"/>
            </a:xfrm>
            <a:prstGeom prst="rect">
              <a:avLst/>
            </a:prstGeom>
          </p:spPr>
        </p:pic>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DF46B526-4539-4B00-93C8-51EB22D970DA}"/>
                    </a:ext>
                  </a:extLst>
                </p:cNvPr>
                <p:cNvSpPr txBox="1"/>
                <p:nvPr/>
              </p:nvSpPr>
              <p:spPr>
                <a:xfrm rot="2982631">
                  <a:off x="6249944" y="4503628"/>
                  <a:ext cx="1255087"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1" smtClean="0">
                            <a:latin typeface="Cambria Math" panose="02040503050406030204" pitchFamily="18" charset="0"/>
                          </a:rPr>
                          <m:t>𝑥</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25" name="文字方塊 24">
                  <a:extLst>
                    <a:ext uri="{FF2B5EF4-FFF2-40B4-BE49-F238E27FC236}">
                      <a16:creationId xmlns:a16="http://schemas.microsoft.com/office/drawing/2014/main" id="{DF46B526-4539-4B00-93C8-51EB22D970DA}"/>
                    </a:ext>
                  </a:extLst>
                </p:cNvPr>
                <p:cNvSpPr txBox="1">
                  <a:spLocks noRot="1" noChangeAspect="1" noMove="1" noResize="1" noEditPoints="1" noAdjustHandles="1" noChangeArrowheads="1" noChangeShapeType="1" noTextEdit="1"/>
                </p:cNvSpPr>
                <p:nvPr/>
              </p:nvSpPr>
              <p:spPr>
                <a:xfrm rot="2982631">
                  <a:off x="6249944" y="4503628"/>
                  <a:ext cx="1255087" cy="246221"/>
                </a:xfrm>
                <a:prstGeom prst="rect">
                  <a:avLst/>
                </a:prstGeom>
                <a:blipFill>
                  <a:blip r:embed="rId13"/>
                  <a:stretch>
                    <a:fillRect l="-606" r="-3636" b="-869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07F27D96-EE91-4D37-A25A-FBC06D72F3B6}"/>
                    </a:ext>
                  </a:extLst>
                </p:cNvPr>
                <p:cNvSpPr txBox="1"/>
                <p:nvPr/>
              </p:nvSpPr>
              <p:spPr>
                <a:xfrm rot="20890141">
                  <a:off x="8526073" y="4848076"/>
                  <a:ext cx="124405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y</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26" name="文字方塊 25">
                  <a:extLst>
                    <a:ext uri="{FF2B5EF4-FFF2-40B4-BE49-F238E27FC236}">
                      <a16:creationId xmlns:a16="http://schemas.microsoft.com/office/drawing/2014/main" id="{07F27D96-EE91-4D37-A25A-FBC06D72F3B6}"/>
                    </a:ext>
                  </a:extLst>
                </p:cNvPr>
                <p:cNvSpPr txBox="1">
                  <a:spLocks noRot="1" noChangeAspect="1" noMove="1" noResize="1" noEditPoints="1" noAdjustHandles="1" noChangeArrowheads="1" noChangeShapeType="1" noTextEdit="1"/>
                </p:cNvSpPr>
                <p:nvPr/>
              </p:nvSpPr>
              <p:spPr>
                <a:xfrm rot="20890141">
                  <a:off x="8526073" y="4848076"/>
                  <a:ext cx="1244059" cy="246221"/>
                </a:xfrm>
                <a:prstGeom prst="rect">
                  <a:avLst/>
                </a:prstGeom>
                <a:blipFill>
                  <a:blip r:embed="rId14"/>
                  <a:stretch>
                    <a:fillRect l="-1914" t="-1205" r="-5742" b="-120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84E110D1-3A4E-4CDE-B202-E1BB129668B3}"/>
                    </a:ext>
                  </a:extLst>
                </p:cNvPr>
                <p:cNvSpPr txBox="1"/>
                <p:nvPr/>
              </p:nvSpPr>
              <p:spPr>
                <a:xfrm rot="16200000">
                  <a:off x="5828163" y="2784976"/>
                  <a:ext cx="123283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a:latin typeface="Cambria Math" panose="02040503050406030204" pitchFamily="18" charset="0"/>
                          </a:rPr>
                          <m:t>z</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27" name="文字方塊 26">
                  <a:extLst>
                    <a:ext uri="{FF2B5EF4-FFF2-40B4-BE49-F238E27FC236}">
                      <a16:creationId xmlns:a16="http://schemas.microsoft.com/office/drawing/2014/main" id="{84E110D1-3A4E-4CDE-B202-E1BB129668B3}"/>
                    </a:ext>
                  </a:extLst>
                </p:cNvPr>
                <p:cNvSpPr txBox="1">
                  <a:spLocks noRot="1" noChangeAspect="1" noMove="1" noResize="1" noEditPoints="1" noAdjustHandles="1" noChangeArrowheads="1" noChangeShapeType="1" noTextEdit="1"/>
                </p:cNvSpPr>
                <p:nvPr/>
              </p:nvSpPr>
              <p:spPr>
                <a:xfrm rot="16200000">
                  <a:off x="5828163" y="2784976"/>
                  <a:ext cx="1232838" cy="246221"/>
                </a:xfrm>
                <a:prstGeom prst="rect">
                  <a:avLst/>
                </a:prstGeom>
                <a:blipFill>
                  <a:blip r:embed="rId15"/>
                  <a:stretch>
                    <a:fillRect t="-5446" r="-32500" b="-198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D2884A20-B597-454D-98F1-A75F345CD88F}"/>
                    </a:ext>
                  </a:extLst>
                </p:cNvPr>
                <p:cNvSpPr txBox="1"/>
                <p:nvPr/>
              </p:nvSpPr>
              <p:spPr>
                <a:xfrm>
                  <a:off x="8230384" y="3419410"/>
                  <a:ext cx="2935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r>
                              <a:rPr lang="en-US" altLang="zh-TW" b="0" i="1" smtClean="0">
                                <a:solidFill>
                                  <a:schemeClr val="accent1"/>
                                </a:solidFill>
                                <a:latin typeface="Cambria Math" panose="02040503050406030204" pitchFamily="18" charset="0"/>
                              </a:rPr>
                              <m:t>𝑥</m:t>
                            </m:r>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28" name="文字方塊 27">
                  <a:extLst>
                    <a:ext uri="{FF2B5EF4-FFF2-40B4-BE49-F238E27FC236}">
                      <a16:creationId xmlns:a16="http://schemas.microsoft.com/office/drawing/2014/main" id="{D2884A20-B597-454D-98F1-A75F345CD88F}"/>
                    </a:ext>
                  </a:extLst>
                </p:cNvPr>
                <p:cNvSpPr txBox="1">
                  <a:spLocks noRot="1" noChangeAspect="1" noMove="1" noResize="1" noEditPoints="1" noAdjustHandles="1" noChangeArrowheads="1" noChangeShapeType="1" noTextEdit="1"/>
                </p:cNvSpPr>
                <p:nvPr/>
              </p:nvSpPr>
              <p:spPr>
                <a:xfrm>
                  <a:off x="8230384" y="3419410"/>
                  <a:ext cx="293542" cy="276999"/>
                </a:xfrm>
                <a:prstGeom prst="rect">
                  <a:avLst/>
                </a:prstGeom>
                <a:blipFill>
                  <a:blip r:embed="rId16"/>
                  <a:stretch>
                    <a:fillRect l="-12500" r="-2083" b="-1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22E57FC8-6331-4953-8502-9B78C9E03AA5}"/>
                    </a:ext>
                  </a:extLst>
                </p:cNvPr>
                <p:cNvSpPr txBox="1"/>
                <p:nvPr/>
              </p:nvSpPr>
              <p:spPr>
                <a:xfrm>
                  <a:off x="8606597" y="3053643"/>
                  <a:ext cx="28193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r>
                              <a:rPr lang="en-US" altLang="zh-TW" b="0" i="1" smtClean="0">
                                <a:solidFill>
                                  <a:schemeClr val="accent1"/>
                                </a:solidFill>
                                <a:latin typeface="Cambria Math" panose="02040503050406030204" pitchFamily="18" charset="0"/>
                              </a:rPr>
                              <m:t>𝑦</m:t>
                            </m:r>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22E57FC8-6331-4953-8502-9B78C9E03AA5}"/>
                    </a:ext>
                  </a:extLst>
                </p:cNvPr>
                <p:cNvSpPr txBox="1">
                  <a:spLocks noRot="1" noChangeAspect="1" noMove="1" noResize="1" noEditPoints="1" noAdjustHandles="1" noChangeArrowheads="1" noChangeShapeType="1" noTextEdit="1"/>
                </p:cNvSpPr>
                <p:nvPr/>
              </p:nvSpPr>
              <p:spPr>
                <a:xfrm>
                  <a:off x="8606597" y="3053643"/>
                  <a:ext cx="281937" cy="276999"/>
                </a:xfrm>
                <a:prstGeom prst="rect">
                  <a:avLst/>
                </a:prstGeom>
                <a:blipFill>
                  <a:blip r:embed="rId17"/>
                  <a:stretch>
                    <a:fillRect l="-21739"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47B48441-2573-4F41-AF88-39C2D637DBA4}"/>
                    </a:ext>
                  </a:extLst>
                </p:cNvPr>
                <p:cNvSpPr txBox="1"/>
                <p:nvPr/>
              </p:nvSpPr>
              <p:spPr>
                <a:xfrm>
                  <a:off x="8579387" y="2693422"/>
                  <a:ext cx="2789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r>
                              <a:rPr lang="en-US" altLang="zh-TW" b="0" i="1" smtClean="0">
                                <a:solidFill>
                                  <a:schemeClr val="accent1"/>
                                </a:solidFill>
                                <a:latin typeface="Cambria Math" panose="02040503050406030204" pitchFamily="18" charset="0"/>
                              </a:rPr>
                              <m:t>𝑧</m:t>
                            </m:r>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30" name="文字方塊 29">
                  <a:extLst>
                    <a:ext uri="{FF2B5EF4-FFF2-40B4-BE49-F238E27FC236}">
                      <a16:creationId xmlns:a16="http://schemas.microsoft.com/office/drawing/2014/main" id="{47B48441-2573-4F41-AF88-39C2D637DBA4}"/>
                    </a:ext>
                  </a:extLst>
                </p:cNvPr>
                <p:cNvSpPr txBox="1">
                  <a:spLocks noRot="1" noChangeAspect="1" noMove="1" noResize="1" noEditPoints="1" noAdjustHandles="1" noChangeArrowheads="1" noChangeShapeType="1" noTextEdit="1"/>
                </p:cNvSpPr>
                <p:nvPr/>
              </p:nvSpPr>
              <p:spPr>
                <a:xfrm>
                  <a:off x="8579387" y="2693422"/>
                  <a:ext cx="278923" cy="276999"/>
                </a:xfrm>
                <a:prstGeom prst="rect">
                  <a:avLst/>
                </a:prstGeom>
                <a:blipFill>
                  <a:blip r:embed="rId18"/>
                  <a:stretch>
                    <a:fillRect l="-13043" b="-11111"/>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5871638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69332"/>
              </a:xfrm>
              <a:prstGeom prst="rect">
                <a:avLst/>
              </a:prstGeom>
              <a:noFill/>
            </p:spPr>
            <p:txBody>
              <a:bodyPr wrap="square">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𝑃𝑜𝑖𝑛𝑡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𝑑𝑖𝑠𝑡𝑟𝑖𝑏𝑢𝑡𝑖𝑜𝑛</m:t>
                    </m:r>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Zhi</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peng</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at</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R</m:t>
                    </m:r>
                    <m:r>
                      <a:rPr lang="en-US" altLang="zh-TW" b="0" i="0" smtClean="0">
                        <a:latin typeface="Cambria Math" panose="02040503050406030204" pitchFamily="18" charset="0"/>
                      </a:rPr>
                      <m:t>≤150</m:t>
                    </m:r>
                    <m:r>
                      <m:rPr>
                        <m:sty m:val="p"/>
                      </m:rPr>
                      <a:rPr lang="en-US" altLang="zh-TW" b="0" i="0" smtClean="0">
                        <a:latin typeface="Cambria Math" panose="02040503050406030204" pitchFamily="18" charset="0"/>
                      </a:rPr>
                      <m:t>um</m:t>
                    </m:r>
                    <m:r>
                      <a:rPr lang="en-US" altLang="zh-TW" b="0" i="0" smtClean="0">
                        <a:latin typeface="Cambria Math" panose="02040503050406030204" pitchFamily="18" charset="0"/>
                      </a:rPr>
                      <m:t>)</m:t>
                    </m:r>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69332"/>
              </a:xfrm>
              <a:prstGeom prst="rect">
                <a:avLst/>
              </a:prstGeom>
              <a:blipFill>
                <a:blip r:embed="rId2"/>
                <a:stretch>
                  <a:fillRect l="-311" t="-5000" b="-2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018443"/>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Single = Eighteen</m:t>
                    </m:r>
                    <m:r>
                      <a:rPr lang="en-US" altLang="zh-TW" b="0" i="0" smtClean="0">
                        <a:latin typeface="Cambria Math" panose="02040503050406030204" pitchFamily="18" charset="0"/>
                        <a:ea typeface="Cambria Math" panose="02040503050406030204" pitchFamily="18" charset="0"/>
                      </a:rPr>
                      <m:t>(7 </m:t>
                    </m:r>
                    <m:r>
                      <m:rPr>
                        <m:sty m:val="p"/>
                      </m:rPr>
                      <a:rPr lang="en-US" altLang="zh-TW" b="0" i="0" smtClean="0">
                        <a:latin typeface="Cambria Math" panose="02040503050406030204" pitchFamily="18" charset="0"/>
                        <a:ea typeface="Cambria Math" panose="02040503050406030204" pitchFamily="18" charset="0"/>
                      </a:rPr>
                      <m:t>points</m:t>
                    </m:r>
                    <m:r>
                      <a:rPr lang="en-US" altLang="zh-TW" b="0" i="0"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018443"/>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p:grpSp>
        <p:nvGrpSpPr>
          <p:cNvPr id="8" name="群組 7">
            <a:extLst>
              <a:ext uri="{FF2B5EF4-FFF2-40B4-BE49-F238E27FC236}">
                <a16:creationId xmlns:a16="http://schemas.microsoft.com/office/drawing/2014/main" id="{1DC70849-B341-4411-BDE3-116596161A8A}"/>
              </a:ext>
            </a:extLst>
          </p:cNvPr>
          <p:cNvGrpSpPr/>
          <p:nvPr/>
        </p:nvGrpSpPr>
        <p:grpSpPr>
          <a:xfrm>
            <a:off x="391643" y="1761066"/>
            <a:ext cx="3469156" cy="3531331"/>
            <a:chOff x="391643" y="1761066"/>
            <a:chExt cx="3469156" cy="3531331"/>
          </a:xfrm>
        </p:grpSpPr>
        <p:pic>
          <p:nvPicPr>
            <p:cNvPr id="4" name="圖片 3">
              <a:extLst>
                <a:ext uri="{FF2B5EF4-FFF2-40B4-BE49-F238E27FC236}">
                  <a16:creationId xmlns:a16="http://schemas.microsoft.com/office/drawing/2014/main" id="{21C1D50E-A86C-4796-BC15-E187DF8D6A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74355" y="1761066"/>
              <a:ext cx="3243289" cy="3248236"/>
            </a:xfrm>
            <a:prstGeom prst="rect">
              <a:avLst/>
            </a:prstGeom>
          </p:spPr>
        </p:pic>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A5D57FF0-BCAE-42F1-B1D4-7195329AAA44}"/>
                    </a:ext>
                  </a:extLst>
                </p:cNvPr>
                <p:cNvSpPr txBox="1"/>
                <p:nvPr/>
              </p:nvSpPr>
              <p:spPr>
                <a:xfrm rot="2982631">
                  <a:off x="4176961" y="4541743"/>
                  <a:ext cx="1255087"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1" smtClean="0">
                            <a:latin typeface="Cambria Math" panose="02040503050406030204" pitchFamily="18" charset="0"/>
                          </a:rPr>
                          <m:t>𝑥</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11" name="文字方塊 10">
                  <a:extLst>
                    <a:ext uri="{FF2B5EF4-FFF2-40B4-BE49-F238E27FC236}">
                      <a16:creationId xmlns:a16="http://schemas.microsoft.com/office/drawing/2014/main" id="{A5D57FF0-BCAE-42F1-B1D4-7195329AAA44}"/>
                    </a:ext>
                  </a:extLst>
                </p:cNvPr>
                <p:cNvSpPr txBox="1">
                  <a:spLocks noRot="1" noChangeAspect="1" noMove="1" noResize="1" noEditPoints="1" noAdjustHandles="1" noChangeArrowheads="1" noChangeShapeType="1" noTextEdit="1"/>
                </p:cNvSpPr>
                <p:nvPr/>
              </p:nvSpPr>
              <p:spPr>
                <a:xfrm rot="2982631">
                  <a:off x="4176961" y="4541743"/>
                  <a:ext cx="1255087" cy="246221"/>
                </a:xfrm>
                <a:prstGeom prst="rect">
                  <a:avLst/>
                </a:prstGeom>
                <a:blipFill>
                  <a:blip r:embed="rId6"/>
                  <a:stretch>
                    <a:fillRect l="-606" r="-3636" b="-869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83D01B99-1850-4BEA-B34B-2BF36C1BB7B2}"/>
                    </a:ext>
                  </a:extLst>
                </p:cNvPr>
                <p:cNvSpPr txBox="1"/>
                <p:nvPr/>
              </p:nvSpPr>
              <p:spPr>
                <a:xfrm rot="20890141">
                  <a:off x="6453090" y="4886191"/>
                  <a:ext cx="124405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y</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12" name="文字方塊 11">
                  <a:extLst>
                    <a:ext uri="{FF2B5EF4-FFF2-40B4-BE49-F238E27FC236}">
                      <a16:creationId xmlns:a16="http://schemas.microsoft.com/office/drawing/2014/main" id="{83D01B99-1850-4BEA-B34B-2BF36C1BB7B2}"/>
                    </a:ext>
                  </a:extLst>
                </p:cNvPr>
                <p:cNvSpPr txBox="1">
                  <a:spLocks noRot="1" noChangeAspect="1" noMove="1" noResize="1" noEditPoints="1" noAdjustHandles="1" noChangeArrowheads="1" noChangeShapeType="1" noTextEdit="1"/>
                </p:cNvSpPr>
                <p:nvPr/>
              </p:nvSpPr>
              <p:spPr>
                <a:xfrm rot="20890141">
                  <a:off x="6453090" y="4886191"/>
                  <a:ext cx="1244059" cy="246221"/>
                </a:xfrm>
                <a:prstGeom prst="rect">
                  <a:avLst/>
                </a:prstGeom>
                <a:blipFill>
                  <a:blip r:embed="rId7"/>
                  <a:stretch>
                    <a:fillRect l="-1914" t="-2439" r="-6220" b="-1219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4690DA2C-EDBC-4586-9510-ABD81D5FE7AD}"/>
                    </a:ext>
                  </a:extLst>
                </p:cNvPr>
                <p:cNvSpPr txBox="1"/>
                <p:nvPr/>
              </p:nvSpPr>
              <p:spPr>
                <a:xfrm rot="16200000">
                  <a:off x="3755180" y="2823091"/>
                  <a:ext cx="123283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a:latin typeface="Cambria Math" panose="02040503050406030204" pitchFamily="18" charset="0"/>
                          </a:rPr>
                          <m:t>z</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13" name="文字方塊 12">
                  <a:extLst>
                    <a:ext uri="{FF2B5EF4-FFF2-40B4-BE49-F238E27FC236}">
                      <a16:creationId xmlns:a16="http://schemas.microsoft.com/office/drawing/2014/main" id="{4690DA2C-EDBC-4586-9510-ABD81D5FE7AD}"/>
                    </a:ext>
                  </a:extLst>
                </p:cNvPr>
                <p:cNvSpPr txBox="1">
                  <a:spLocks noRot="1" noChangeAspect="1" noMove="1" noResize="1" noEditPoints="1" noAdjustHandles="1" noChangeArrowheads="1" noChangeShapeType="1" noTextEdit="1"/>
                </p:cNvSpPr>
                <p:nvPr/>
              </p:nvSpPr>
              <p:spPr>
                <a:xfrm rot="16200000">
                  <a:off x="3755180" y="2823091"/>
                  <a:ext cx="1232838" cy="246221"/>
                </a:xfrm>
                <a:prstGeom prst="rect">
                  <a:avLst/>
                </a:prstGeom>
                <a:blipFill>
                  <a:blip r:embed="rId8"/>
                  <a:stretch>
                    <a:fillRect t="-5446" r="-31707" b="-198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62B8B757-C099-4CF4-B6F3-B91E332C67A8}"/>
                    </a:ext>
                  </a:extLst>
                </p:cNvPr>
                <p:cNvSpPr txBox="1"/>
                <p:nvPr/>
              </p:nvSpPr>
              <p:spPr>
                <a:xfrm>
                  <a:off x="6147521" y="3475097"/>
                  <a:ext cx="2935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r>
                              <a:rPr lang="en-US" altLang="zh-TW" b="0" i="1" smtClean="0">
                                <a:solidFill>
                                  <a:schemeClr val="accent1"/>
                                </a:solidFill>
                                <a:latin typeface="Cambria Math" panose="02040503050406030204" pitchFamily="18" charset="0"/>
                              </a:rPr>
                              <m:t>𝑥</m:t>
                            </m:r>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15" name="文字方塊 14">
                  <a:extLst>
                    <a:ext uri="{FF2B5EF4-FFF2-40B4-BE49-F238E27FC236}">
                      <a16:creationId xmlns:a16="http://schemas.microsoft.com/office/drawing/2014/main" id="{62B8B757-C099-4CF4-B6F3-B91E332C67A8}"/>
                    </a:ext>
                  </a:extLst>
                </p:cNvPr>
                <p:cNvSpPr txBox="1">
                  <a:spLocks noRot="1" noChangeAspect="1" noMove="1" noResize="1" noEditPoints="1" noAdjustHandles="1" noChangeArrowheads="1" noChangeShapeType="1" noTextEdit="1"/>
                </p:cNvSpPr>
                <p:nvPr/>
              </p:nvSpPr>
              <p:spPr>
                <a:xfrm>
                  <a:off x="6147521" y="3475097"/>
                  <a:ext cx="293542" cy="276999"/>
                </a:xfrm>
                <a:prstGeom prst="rect">
                  <a:avLst/>
                </a:prstGeom>
                <a:blipFill>
                  <a:blip r:embed="rId9"/>
                  <a:stretch>
                    <a:fillRect l="-12500" b="-108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7F07CDE5-EABA-4AEC-AEE6-C53E76371A3E}"/>
                    </a:ext>
                  </a:extLst>
                </p:cNvPr>
                <p:cNvSpPr txBox="1"/>
                <p:nvPr/>
              </p:nvSpPr>
              <p:spPr>
                <a:xfrm>
                  <a:off x="6465883" y="3125624"/>
                  <a:ext cx="28193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r>
                              <a:rPr lang="en-US" altLang="zh-TW" b="0" i="1" smtClean="0">
                                <a:solidFill>
                                  <a:schemeClr val="accent1"/>
                                </a:solidFill>
                                <a:latin typeface="Cambria Math" panose="02040503050406030204" pitchFamily="18" charset="0"/>
                              </a:rPr>
                              <m:t>𝑦</m:t>
                            </m:r>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17" name="文字方塊 16">
                  <a:extLst>
                    <a:ext uri="{FF2B5EF4-FFF2-40B4-BE49-F238E27FC236}">
                      <a16:creationId xmlns:a16="http://schemas.microsoft.com/office/drawing/2014/main" id="{7F07CDE5-EABA-4AEC-AEE6-C53E76371A3E}"/>
                    </a:ext>
                  </a:extLst>
                </p:cNvPr>
                <p:cNvSpPr txBox="1">
                  <a:spLocks noRot="1" noChangeAspect="1" noMove="1" noResize="1" noEditPoints="1" noAdjustHandles="1" noChangeArrowheads="1" noChangeShapeType="1" noTextEdit="1"/>
                </p:cNvSpPr>
                <p:nvPr/>
              </p:nvSpPr>
              <p:spPr>
                <a:xfrm>
                  <a:off x="6465883" y="3125624"/>
                  <a:ext cx="281937" cy="276999"/>
                </a:xfrm>
                <a:prstGeom prst="rect">
                  <a:avLst/>
                </a:prstGeom>
                <a:blipFill>
                  <a:blip r:embed="rId10"/>
                  <a:stretch>
                    <a:fillRect l="-21739"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8F977C72-A463-4BB7-8C66-566AC1A2EAD5}"/>
                    </a:ext>
                  </a:extLst>
                </p:cNvPr>
                <p:cNvSpPr txBox="1"/>
                <p:nvPr/>
              </p:nvSpPr>
              <p:spPr>
                <a:xfrm>
                  <a:off x="6389103" y="2809572"/>
                  <a:ext cx="2789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r>
                              <a:rPr lang="en-US" altLang="zh-TW" b="0" i="1" smtClean="0">
                                <a:solidFill>
                                  <a:schemeClr val="accent1"/>
                                </a:solidFill>
                                <a:latin typeface="Cambria Math" panose="02040503050406030204" pitchFamily="18" charset="0"/>
                              </a:rPr>
                              <m:t>𝑧</m:t>
                            </m:r>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19" name="文字方塊 18">
                  <a:extLst>
                    <a:ext uri="{FF2B5EF4-FFF2-40B4-BE49-F238E27FC236}">
                      <a16:creationId xmlns:a16="http://schemas.microsoft.com/office/drawing/2014/main" id="{8F977C72-A463-4BB7-8C66-566AC1A2EAD5}"/>
                    </a:ext>
                  </a:extLst>
                </p:cNvPr>
                <p:cNvSpPr txBox="1">
                  <a:spLocks noRot="1" noChangeAspect="1" noMove="1" noResize="1" noEditPoints="1" noAdjustHandles="1" noChangeArrowheads="1" noChangeShapeType="1" noTextEdit="1"/>
                </p:cNvSpPr>
                <p:nvPr/>
              </p:nvSpPr>
              <p:spPr>
                <a:xfrm>
                  <a:off x="6389103" y="2809572"/>
                  <a:ext cx="278923" cy="276999"/>
                </a:xfrm>
                <a:prstGeom prst="rect">
                  <a:avLst/>
                </a:prstGeom>
                <a:blipFill>
                  <a:blip r:embed="rId11"/>
                  <a:stretch>
                    <a:fillRect l="-13043" b="-11111"/>
                  </a:stretch>
                </a:blipFill>
              </p:spPr>
              <p:txBody>
                <a:bodyPr/>
                <a:lstStyle/>
                <a:p>
                  <a:r>
                    <a:rPr lang="zh-TW" altLang="en-US">
                      <a:noFill/>
                    </a:rPr>
                    <a:t> </a:t>
                  </a:r>
                </a:p>
              </p:txBody>
            </p:sp>
          </mc:Fallback>
        </mc:AlternateContent>
      </p:grpSp>
      <p:grpSp>
        <p:nvGrpSpPr>
          <p:cNvPr id="7" name="群組 6">
            <a:extLst>
              <a:ext uri="{FF2B5EF4-FFF2-40B4-BE49-F238E27FC236}">
                <a16:creationId xmlns:a16="http://schemas.microsoft.com/office/drawing/2014/main" id="{482E8FFF-60E1-4249-AC6B-59A094B94E16}"/>
              </a:ext>
            </a:extLst>
          </p:cNvPr>
          <p:cNvGrpSpPr/>
          <p:nvPr/>
        </p:nvGrpSpPr>
        <p:grpSpPr>
          <a:xfrm>
            <a:off x="6153167" y="1800043"/>
            <a:ext cx="3307366" cy="3337764"/>
            <a:chOff x="6153167" y="1800043"/>
            <a:chExt cx="3307366" cy="3337764"/>
          </a:xfrm>
        </p:grpSpPr>
      </p:grpSp>
    </p:spTree>
    <p:extLst>
      <p:ext uri="{BB962C8B-B14F-4D97-AF65-F5344CB8AC3E}">
        <p14:creationId xmlns:p14="http://schemas.microsoft.com/office/powerpoint/2010/main" val="367311863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28750</TotalTime>
  <Words>4811</Words>
  <Application>Microsoft Office PowerPoint</Application>
  <PresentationFormat>寬螢幕</PresentationFormat>
  <Paragraphs>682</Paragraphs>
  <Slides>39</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39</vt:i4>
      </vt:variant>
    </vt:vector>
  </HeadingPairs>
  <TitlesOfParts>
    <vt:vector size="47" baseType="lpstr">
      <vt:lpstr>Aptos</vt:lpstr>
      <vt:lpstr>Arial</vt:lpstr>
      <vt:lpstr>Calibri</vt:lpstr>
      <vt:lpstr>Calibri Light</vt:lpstr>
      <vt:lpstr>Cambria Math</vt:lpstr>
      <vt:lpstr>Times New Roman</vt:lpstr>
      <vt:lpstr>Wingdings</vt:lpstr>
      <vt:lpstr>Office 佈景主題</vt:lpstr>
      <vt:lpstr>A Lumped-Parameter Modeling, Calibration, and Capacity-Measure Framework for Flux Generation in Symmetric Multipole Electromagnetic Actuators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Reference </vt:lpstr>
      <vt:lpstr>Reference </vt:lpstr>
      <vt:lpstr>Reference </vt:lpstr>
      <vt:lpstr>Reference </vt:lpstr>
      <vt:lpstr>Reference </vt:lpstr>
      <vt:lpstr>Reference </vt:lpstr>
      <vt:lpstr>Reference </vt:lpstr>
      <vt:lpstr>Reference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Lumped-Parameter Modeling, Calibration, and Capacity-Measure Framework for Flux Generation in Symmetric Multipole Electromagnetic Actuators</dc:title>
  <dc:creator>郭建棋</dc:creator>
  <cp:lastModifiedBy>郭建棋</cp:lastModifiedBy>
  <cp:revision>464</cp:revision>
  <dcterms:created xsi:type="dcterms:W3CDTF">2026-07-23T11:39:15Z</dcterms:created>
  <dcterms:modified xsi:type="dcterms:W3CDTF">2026-08-29T05:44:44Z</dcterms:modified>
</cp:coreProperties>
</file>