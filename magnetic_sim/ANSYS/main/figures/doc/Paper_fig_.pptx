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0" r:id="rId3"/>
    <p:sldId id="333" r:id="rId4"/>
    <p:sldId id="337" r:id="rId5"/>
    <p:sldId id="297" r:id="rId6"/>
    <p:sldId id="334" r:id="rId7"/>
    <p:sldId id="335" r:id="rId8"/>
    <p:sldId id="336" r:id="rId9"/>
    <p:sldId id="29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13B5C-4451-4F85-8E22-4F6D30112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38C9657-D53F-4E4F-9171-BAB7C00D9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1CB1F-3023-4059-8D9C-CF5C75B6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FDADB6-4903-41BB-BC87-020BA3FB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FCEFEA-DE84-42FC-BE56-10A71321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708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8524EB-4587-44AF-A65F-8CBAAF65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A2C5D94-2521-44B1-AF19-188FFBBD1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882776-4508-4BB4-B95B-94CABBBA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0C8587-132A-4FA1-AC7D-93EABEB0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ABA0DE-C7B2-4848-95AC-5A3E7CA5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991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A3930A-494A-46F3-88CB-96081BB0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78FD7A-7A96-43E2-8961-E0DB15C17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06FC20-C1D3-46B0-BF1E-03D54604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F6D392-6F8A-4414-AA11-638326A9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7B8EB7-22A4-447A-A525-998FA4AE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72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2D765-AEAD-45D9-9508-FB7BE0E0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2A380E-4D39-4CB1-A9B1-CAAAABD80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303AA3-878B-45F8-A4E8-92FA10CD2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C1F139-09FB-4A94-AA83-54F2B93E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2CB685-F91E-4E52-9043-88820ECA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047ED7B-0BBB-48C6-8CBE-10F473361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347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8D6F7-2A01-404A-8E60-308B5B2D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4BC229-0964-4EB2-A32F-3BE569B11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BDD00DB-A2AC-4093-9580-16DB7A585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98E98D9-1B64-42E0-BF51-3948B659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B0C13F-E177-4192-B9A6-DEC49612F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4F99ADD-F054-4E54-9158-162DB5470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242129-DAAA-4FB1-8D26-7248AD72C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FDDDDE1-FD8E-4032-A6CC-B2F72DA8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570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7E1C2-942A-47E2-9A00-0B52E276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FEC29EA-2303-41C4-8179-5DF5AC13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A7E344C-546C-4B5B-948D-F248F196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0CE009-148B-41C4-9070-05067E45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778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54434E9-DB57-4C91-A8E8-AA7E4DE1E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CBD5B2-A875-4997-957A-2CACB4E8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AE9AF9-98E2-49BC-890E-C4901C5C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4474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7F9702-2F89-4C07-A091-A864CF92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9A033B-67CA-4692-9F96-92929D8AB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A61FCE-0216-475F-8DCF-C058715F4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370C5D-745A-4EAE-A151-2541003A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06460B0-32D4-4AFB-8A7E-84648250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D132A3-0D89-4417-A7DF-5A8A018E4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72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C5306D-49B1-4801-B5D5-82BBCC50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F20369-2E94-4C2E-B0A1-93ADA101D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C760FC-4E62-42A9-8056-6EE8249B7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BD4D67-FBFA-40B4-9C57-519B88B3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A5B214-3FE3-41C8-BAAF-7E87C796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F60CC2-E109-4719-875D-510BAD1DA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1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58099F-549D-41D0-8656-FC0BCFF0A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026EBC-D2D7-4484-A574-A0FDADFD8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5BDF0-F4E3-4A78-AC21-5996C787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A58278-9C37-44E9-A992-05A40C4C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F221A9-3DF2-4243-8312-6B441A40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8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407E2F2-53D7-4D47-8536-D902F6532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B11135-92E3-4798-9365-99DC4319D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D66D9F-EC40-4B77-81BD-B3B6ACD4C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8EDF41-8BB7-4F4D-866E-39DEF3CE5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909E83-6E85-417E-A5C0-394F0D78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64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809FC75-802D-4B19-AFA4-8A8D60B4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E7658D-1874-4965-86A1-F9DC152E3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D7FBAA-F52E-4E99-ABAC-AD4E8AA23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42070-5DAD-4E7E-A6F8-25E560BC7BBC}" type="datetimeFigureOut">
              <a:rPr lang="zh-TW" altLang="en-US" smtClean="0"/>
              <a:t>2026/9/1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5AA8CD1-761B-436C-81CD-04B671C31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7BE989-E3A2-4C5A-A4B2-D5729A6C5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09099-633A-4CE9-89D3-D4AC4F747E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467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6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0.png"/><Relationship Id="rId3" Type="http://schemas.openxmlformats.org/officeDocument/2006/relationships/image" Target="../media/image480.png"/><Relationship Id="rId7" Type="http://schemas.openxmlformats.org/officeDocument/2006/relationships/image" Target="../media/image850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5.png"/><Relationship Id="rId5" Type="http://schemas.openxmlformats.org/officeDocument/2006/relationships/image" Target="../media/image5600.png"/><Relationship Id="rId10" Type="http://schemas.openxmlformats.org/officeDocument/2006/relationships/image" Target="../media/image164.png"/><Relationship Id="rId4" Type="http://schemas.openxmlformats.org/officeDocument/2006/relationships/image" Target="../media/image490.png"/><Relationship Id="rId9" Type="http://schemas.openxmlformats.org/officeDocument/2006/relationships/image" Target="../media/image10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9E60B-ABEB-4B38-8D6C-620B64DB3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333" y="868362"/>
            <a:ext cx="11345334" cy="23876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lang="en-US" altLang="zh-TW" sz="2800" b="1" kern="100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A Lumped-Parameter Modeling, Calibration, and Capacity-Measure Framework for Flux Generation in Symmetric</a:t>
            </a:r>
            <a:br>
              <a:rPr lang="zh-TW" altLang="zh-TW" sz="2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800" b="1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Multipole Electromagnetic Actuators 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06800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9A50A7E-C7D9-49BF-BA9E-3AB385572A53}"/>
              </a:ext>
            </a:extLst>
          </p:cNvPr>
          <p:cNvSpPr txBox="1"/>
          <p:nvPr/>
        </p:nvSpPr>
        <p:spPr>
          <a:xfrm>
            <a:off x="0" y="613132"/>
            <a:ext cx="606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Point Algorithm for workspace pseudocode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954FA83-6DDD-47BC-A17B-9741238CC9C1}"/>
              </a:ext>
            </a:extLst>
          </p:cNvPr>
          <p:cNvGrpSpPr/>
          <p:nvPr/>
        </p:nvGrpSpPr>
        <p:grpSpPr>
          <a:xfrm>
            <a:off x="384177" y="1227291"/>
            <a:ext cx="5560000" cy="5017577"/>
            <a:chOff x="402001" y="1227291"/>
            <a:chExt cx="5560000" cy="5017577"/>
          </a:xfrm>
        </p:grpSpPr>
        <p:sp>
          <p:nvSpPr>
            <p:cNvPr id="8" name="Algorithm 1">
              <a:extLst>
                <a:ext uri="{FF2B5EF4-FFF2-40B4-BE49-F238E27FC236}">
                  <a16:creationId xmlns:a16="http://schemas.microsoft.com/office/drawing/2014/main" id="{8E282648-6895-4502-A516-53C86B8C428D}"/>
                </a:ext>
              </a:extLst>
            </p:cNvPr>
            <p:cNvSpPr txBox="1"/>
            <p:nvPr/>
          </p:nvSpPr>
          <p:spPr>
            <a:xfrm>
              <a:off x="402001" y="1227291"/>
              <a:ext cx="5560000" cy="501757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</a:ln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03000"/>
                </a:lnSpc>
                <a:spcAft>
                  <a:spcPts val="500"/>
                </a:spcAft>
              </a:pPr>
              <a:r>
                <a:rPr lang="en-US" altLang="zh-TW" sz="1400" b="1" dirty="0">
                  <a:latin typeface="Times New Roman"/>
                  <a:cs typeface="Times New Roman"/>
                </a:rPr>
                <a:t>Algorithm 1 </a:t>
              </a:r>
              <a:r>
                <a:rPr lang="en-US" altLang="zh-TW" sz="1400" dirty="0">
                  <a:latin typeface="Times New Roman"/>
                  <a:cs typeface="Times New Roman"/>
                </a:rPr>
                <a:t>Generate Interpolation Points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600" b="1" dirty="0">
                  <a:latin typeface="Times New Roman"/>
                  <a:cs typeface="Times New Roman"/>
                </a:rPr>
                <a:t>Input: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,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R</a:t>
              </a:r>
            </a:p>
            <a:p>
              <a:pPr>
                <a:lnSpc>
                  <a:spcPct val="103000"/>
                </a:lnSpc>
                <a:spcAft>
                  <a:spcPts val="500"/>
                </a:spcAft>
              </a:pPr>
              <a:r>
                <a:rPr lang="en-US" altLang="zh-TW" sz="1600" b="1" dirty="0">
                  <a:latin typeface="Times New Roman"/>
                  <a:cs typeface="Times New Roman"/>
                </a:rPr>
                <a:t>Output: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p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 (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baseline="-25000" dirty="0">
                  <a:latin typeface="Times New Roman"/>
                  <a:cs typeface="Times New Roman"/>
                </a:rPr>
                <a:t>tot</a:t>
              </a:r>
              <a:r>
                <a:rPr lang="en-US" altLang="zh-TW" sz="1600" dirty="0">
                  <a:latin typeface="Times New Roman"/>
                  <a:cs typeface="Times New Roman"/>
                </a:rPr>
                <a:t> × 3)</a:t>
              </a:r>
              <a:r>
                <a:rPr lang="en-US" altLang="zh-TW" sz="16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  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// interpolation point</a:t>
              </a:r>
              <a:endParaRPr lang="en-US" altLang="zh-TW" sz="1600" dirty="0">
                <a:latin typeface="Times New Roman"/>
                <a:cs typeface="Times New Roman"/>
              </a:endParaRP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 1: 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d</a:t>
              </a:r>
              <a:r>
                <a:rPr lang="en-US" altLang="zh-TW" sz="1600" dirty="0">
                  <a:latin typeface="Times New Roman"/>
                  <a:cs typeface="Times New Roman"/>
                </a:rPr>
                <a:t> ←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R</a:t>
              </a:r>
              <a:r>
                <a:rPr lang="en-US" altLang="zh-TW" sz="1600" dirty="0">
                  <a:latin typeface="Times New Roman"/>
                  <a:cs typeface="Times New Roman"/>
                </a:rPr>
                <a:t> /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point to point distance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 2: 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baseline="-25000" dirty="0">
                  <a:latin typeface="Times New Roman"/>
                  <a:cs typeface="Times New Roman"/>
                </a:rPr>
                <a:t>tot</a:t>
              </a:r>
              <a:r>
                <a:rPr lang="en-US" altLang="zh-TW" sz="1600" dirty="0">
                  <a:latin typeface="Times New Roman"/>
                  <a:cs typeface="Times New Roman"/>
                </a:rPr>
                <a:t> ← 1 + 6·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total number of points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 3: 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p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 ← zeros(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baseline="-25000" dirty="0">
                  <a:latin typeface="Times New Roman"/>
                  <a:cs typeface="Times New Roman"/>
                </a:rPr>
                <a:t>tot</a:t>
              </a:r>
              <a:r>
                <a:rPr lang="en-US" altLang="zh-TW" sz="1600" dirty="0">
                  <a:latin typeface="Times New Roman"/>
                  <a:cs typeface="Times New Roman"/>
                </a:rPr>
                <a:t>, 3)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 4: 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E</a:t>
              </a:r>
              <a:r>
                <a:rPr lang="en-US" altLang="zh-TW" sz="1600" dirty="0">
                  <a:latin typeface="Times New Roman"/>
                  <a:cs typeface="Times New Roman"/>
                </a:rPr>
                <a:t> ← eye(3)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unit vectors of three axes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 5: </a:t>
              </a:r>
              <a:r>
                <a:rPr lang="en-US" altLang="zh-TW" sz="1600" dirty="0">
                  <a:latin typeface="Times New Roman"/>
                  <a:cs typeface="Times New Roman"/>
                </a:rPr>
                <a:t>cnt ← 1; 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p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(cnt, :) ← [0, 0, 0]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center point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 6: 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for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j</a:t>
              </a:r>
              <a:r>
                <a:rPr lang="en-US" altLang="zh-TW" sz="1600" dirty="0">
                  <a:latin typeface="Times New Roman"/>
                  <a:cs typeface="Times New Roman"/>
                </a:rPr>
                <a:t> = 1 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to</a:t>
              </a:r>
              <a:r>
                <a:rPr lang="en-US" altLang="zh-TW" sz="1600" dirty="0">
                  <a:latin typeface="Times New Roman"/>
                  <a:cs typeface="Times New Roman"/>
                </a:rPr>
                <a:t> 3 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do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 7:   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for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s</a:t>
              </a:r>
              <a:r>
                <a:rPr lang="en-US" altLang="zh-TW" sz="1600" dirty="0">
                  <a:latin typeface="Times New Roman"/>
                  <a:cs typeface="Times New Roman"/>
                </a:rPr>
                <a:t> ∈ {+1, −1} 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do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± direction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 8:     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for </a:t>
              </a:r>
              <a:r>
                <a:rPr lang="en-US" altLang="zh-TW" sz="1600" i="1" dirty="0" err="1">
                  <a:latin typeface="Times New Roman"/>
                  <a:cs typeface="Times New Roman"/>
                </a:rPr>
                <a:t>i</a:t>
              </a:r>
              <a:r>
                <a:rPr lang="en-US" altLang="zh-TW" sz="1600" dirty="0">
                  <a:latin typeface="Times New Roman"/>
                  <a:cs typeface="Times New Roman"/>
                </a:rPr>
                <a:t>= 1 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to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N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 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do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 9:       </a:t>
              </a:r>
              <a:r>
                <a:rPr lang="en-US" altLang="zh-TW" sz="1600" dirty="0">
                  <a:latin typeface="Times New Roman"/>
                  <a:cs typeface="Times New Roman"/>
                </a:rPr>
                <a:t>cnt ← cnt + 1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10:       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p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  <a:r>
                <a:rPr lang="en-US" altLang="zh-TW" sz="1600" dirty="0">
                  <a:latin typeface="Times New Roman"/>
                  <a:cs typeface="Times New Roman"/>
                </a:rPr>
                <a:t>(cnt, :) ←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s</a:t>
              </a:r>
              <a:r>
                <a:rPr lang="en-US" altLang="zh-TW" sz="1600" dirty="0">
                  <a:latin typeface="Times New Roman"/>
                  <a:cs typeface="Times New Roman"/>
                </a:rPr>
                <a:t> ·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i</a:t>
              </a:r>
              <a:r>
                <a:rPr lang="en-US" altLang="zh-TW" sz="1600" dirty="0">
                  <a:latin typeface="Times New Roman"/>
                  <a:cs typeface="Times New Roman"/>
                </a:rPr>
                <a:t> ·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d</a:t>
              </a:r>
              <a:r>
                <a:rPr lang="en-US" altLang="zh-TW" sz="1600" dirty="0">
                  <a:latin typeface="Times New Roman"/>
                  <a:cs typeface="Times New Roman"/>
                </a:rPr>
                <a:t> ·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E</a:t>
              </a:r>
              <a:r>
                <a:rPr lang="en-US" altLang="zh-TW" sz="1600" dirty="0">
                  <a:latin typeface="Times New Roman"/>
                  <a:cs typeface="Times New Roman"/>
                </a:rPr>
                <a:t>(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j</a:t>
              </a:r>
              <a:r>
                <a:rPr lang="en-US" altLang="zh-TW" sz="1600" dirty="0">
                  <a:latin typeface="Times New Roman"/>
                  <a:cs typeface="Times New Roman"/>
                </a:rPr>
                <a:t>, :)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  // </a:t>
              </a:r>
              <a:r>
                <a:rPr lang="en-US" altLang="zh-TW" sz="1200" i="1" dirty="0" err="1">
                  <a:solidFill>
                    <a:srgbClr val="707070"/>
                  </a:solidFill>
                  <a:latin typeface="Times New Roman"/>
                  <a:cs typeface="Times New Roman"/>
                </a:rPr>
                <a:t>i-th</a:t>
              </a:r>
              <a:r>
                <a:rPr lang="en-US" altLang="zh-TW" sz="1200" i="1" dirty="0">
                  <a:solidFill>
                    <a:srgbClr val="707070"/>
                  </a:solidFill>
                  <a:latin typeface="Times New Roman"/>
                  <a:cs typeface="Times New Roman"/>
                </a:rPr>
                <a:t> point on axis j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11:     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end for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12:   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end for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13: 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end for</a:t>
              </a:r>
            </a:p>
            <a:p>
              <a:pPr>
                <a:lnSpc>
                  <a:spcPct val="103000"/>
                </a:lnSpc>
              </a:pPr>
              <a:r>
                <a:rPr lang="en-US" altLang="zh-TW" sz="1200" dirty="0">
                  <a:latin typeface="Times New Roman"/>
                  <a:cs typeface="Times New Roman"/>
                </a:rPr>
                <a:t>14: </a:t>
              </a:r>
              <a:r>
                <a:rPr lang="en-US" altLang="zh-TW" sz="1600" b="1" dirty="0">
                  <a:latin typeface="Times New Roman"/>
                  <a:cs typeface="Times New Roman"/>
                </a:rPr>
                <a:t>return </a:t>
              </a:r>
              <a:r>
                <a:rPr lang="en-US" altLang="zh-TW" sz="1600" i="1" dirty="0">
                  <a:latin typeface="Times New Roman"/>
                  <a:cs typeface="Times New Roman"/>
                </a:rPr>
                <a:t>p</a:t>
              </a:r>
              <a:r>
                <a:rPr lang="en-US" altLang="zh-TW" sz="1600" i="1" baseline="-25000" dirty="0">
                  <a:latin typeface="Times New Roman"/>
                  <a:cs typeface="Times New Roman"/>
                </a:rPr>
                <a:t>a</a:t>
              </a:r>
            </a:p>
          </p:txBody>
        </p:sp>
        <p:cxnSp>
          <p:nvCxnSpPr>
            <p:cNvPr id="9" name="rule103">
              <a:extLst>
                <a:ext uri="{FF2B5EF4-FFF2-40B4-BE49-F238E27FC236}">
                  <a16:creationId xmlns:a16="http://schemas.microsoft.com/office/drawing/2014/main" id="{DDABBAB1-992D-4916-8535-33E3D10BB10E}"/>
                </a:ext>
              </a:extLst>
            </p:cNvPr>
            <p:cNvCxnSpPr/>
            <p:nvPr/>
          </p:nvCxnSpPr>
          <p:spPr>
            <a:xfrm>
              <a:off x="402001" y="1527291"/>
              <a:ext cx="5560000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</p:cxn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933A178B-8AF6-4B98-AAC3-3EABC363A13D}"/>
              </a:ext>
            </a:extLst>
          </p:cNvPr>
          <p:cNvGrpSpPr/>
          <p:nvPr/>
        </p:nvGrpSpPr>
        <p:grpSpPr>
          <a:xfrm>
            <a:off x="6096000" y="1227291"/>
            <a:ext cx="5560000" cy="5032832"/>
            <a:chOff x="6230001" y="1227291"/>
            <a:chExt cx="5560000" cy="5032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Algorithm 2">
                  <a:extLst>
                    <a:ext uri="{FF2B5EF4-FFF2-40B4-BE49-F238E27FC236}">
                      <a16:creationId xmlns:a16="http://schemas.microsoft.com/office/drawing/2014/main" id="{1177C345-91EB-49FB-ACFC-FA3CF50404F7}"/>
                    </a:ext>
                  </a:extLst>
                </p:cNvPr>
                <p:cNvSpPr txBox="1"/>
                <p:nvPr/>
              </p:nvSpPr>
              <p:spPr>
                <a:xfrm>
                  <a:off x="6230001" y="1227291"/>
                  <a:ext cx="5560000" cy="5032832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000000"/>
                  </a:solidFill>
                </a:ln>
              </p:spPr>
              <p:txBody>
                <a:bodyPr wrap="square" lIns="91440" tIns="45720" rIns="91440" bIns="45720">
                  <a:noAutofit/>
                </a:bodyPr>
                <a:lstStyle/>
                <a:p>
                  <a:pPr>
                    <a:lnSpc>
                      <a:spcPct val="103000"/>
                    </a:lnSpc>
                    <a:spcAft>
                      <a:spcPts val="500"/>
                    </a:spcAft>
                  </a:pP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Algorithm 2 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Barycentric Interpolation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Input: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a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 (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tot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× 3), 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 (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× 3)</a:t>
                  </a:r>
                  <a:r>
                    <a:rPr lang="en-US" altLang="zh-TW" sz="14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// FEM points 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, 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b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) (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× 3 ×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 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// FEM Flux density </a:t>
                  </a:r>
                  <a:endParaRPr lang="en-US" altLang="zh-TW" sz="1400" dirty="0">
                    <a:latin typeface="Times New Roman"/>
                    <a:cs typeface="Times New Roman"/>
                  </a:endParaRPr>
                </a:p>
                <a:p>
                  <a:pPr>
                    <a:lnSpc>
                      <a:spcPct val="103000"/>
                    </a:lnSpc>
                    <a:spcAft>
                      <a:spcPts val="500"/>
                    </a:spcAft>
                  </a:pP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Output: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b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a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) (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tot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× 3 ×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 1: 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← DelaunayTriangulation(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  // rebuild connectivity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 2: 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for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q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= 1 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to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tot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do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 3:   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(tetID,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λ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 ← PointLocation(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a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q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:))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  // enclosing tetrahedron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                                                                                            //</a:t>
                  </a:r>
                  <a:r>
                    <a:rPr lang="en-US" altLang="zh-TW" sz="1100" i="1" dirty="0">
                      <a:latin typeface="Times New Roman"/>
                      <a:cs typeface="Times New Roman"/>
                    </a:rPr>
                    <a:t> </a:t>
                  </a:r>
                  <a:r>
                    <a:rPr lang="el-GR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λ=(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TW" sz="1100" i="1" smtClean="0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altLang="zh-TW" sz="1100" i="1" dirty="0">
                              <a:solidFill>
                                <a:srgbClr val="707070"/>
                              </a:solidFill>
                              <a:latin typeface="Times New Roman"/>
                              <a:cs typeface="Times New Roman"/>
                            </a:rPr>
                            <m:t>λ</m:t>
                          </m:r>
                        </m:e>
                        <m:sub>
                          <m:r>
                            <a:rPr lang="en-US" altLang="zh-TW" sz="1100" b="0" i="1" smtClean="0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l-GR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​,</a:t>
                  </a:r>
                  <a:r>
                    <a:rPr lang="el-GR" altLang="zh-TW" sz="1100" dirty="0">
                      <a:solidFill>
                        <a:srgbClr val="707070"/>
                      </a:solidFill>
                      <a:cs typeface="Times New Roman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TW" sz="1100" i="1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altLang="zh-TW" sz="1100" i="1" dirty="0">
                              <a:solidFill>
                                <a:srgbClr val="707070"/>
                              </a:solidFill>
                              <a:latin typeface="Times New Roman"/>
                              <a:cs typeface="Times New Roman"/>
                            </a:rPr>
                            <m:t>λ</m:t>
                          </m:r>
                        </m:e>
                        <m:sub>
                          <m:r>
                            <a:rPr lang="en-US" altLang="zh-TW" sz="1100" b="0" i="1" dirty="0" smtClean="0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2</m:t>
                          </m:r>
                        </m:sub>
                      </m:sSub>
                      <m:r>
                        <a:rPr lang="en-US" altLang="zh-TW" sz="1100" i="1">
                          <a:solidFill>
                            <a:srgbClr val="707070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l-GR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​,</a:t>
                  </a:r>
                  <a:r>
                    <a:rPr lang="el-GR" altLang="zh-TW" sz="1100" dirty="0">
                      <a:solidFill>
                        <a:srgbClr val="707070"/>
                      </a:solidFill>
                      <a:cs typeface="Times New Roman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TW" sz="1100" i="1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altLang="zh-TW" sz="1100" i="1" dirty="0">
                              <a:solidFill>
                                <a:srgbClr val="707070"/>
                              </a:solidFill>
                              <a:latin typeface="Times New Roman"/>
                              <a:cs typeface="Times New Roman"/>
                            </a:rPr>
                            <m:t>λ</m:t>
                          </m:r>
                        </m:e>
                        <m:sub>
                          <m:r>
                            <a:rPr lang="en-US" altLang="zh-TW" sz="1100" b="0" i="1" dirty="0" smtClean="0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3</m:t>
                          </m:r>
                        </m:sub>
                      </m:sSub>
                      <m:r>
                        <a:rPr lang="en-US" altLang="zh-TW" sz="1100" i="1">
                          <a:solidFill>
                            <a:srgbClr val="707070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l-GR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​,</a:t>
                  </a:r>
                  <a:r>
                    <a:rPr lang="el-GR" altLang="zh-TW" sz="1100" dirty="0">
                      <a:solidFill>
                        <a:srgbClr val="707070"/>
                      </a:solidFill>
                      <a:cs typeface="Times New Roman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l-GR" altLang="zh-TW" sz="1100" i="1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altLang="zh-TW" sz="1100" i="1" dirty="0">
                              <a:solidFill>
                                <a:srgbClr val="707070"/>
                              </a:solidFill>
                              <a:latin typeface="Times New Roman"/>
                              <a:cs typeface="Times New Roman"/>
                            </a:rPr>
                            <m:t>λ</m:t>
                          </m:r>
                        </m:e>
                        <m:sub>
                          <m:r>
                            <a:rPr lang="en-US" altLang="zh-TW" sz="1100" b="0" i="1" dirty="0" smtClean="0">
                              <a:solidFill>
                                <a:srgbClr val="707070"/>
                              </a:solidFill>
                              <a:latin typeface="Cambria Math" panose="02040503050406030204" pitchFamily="18" charset="0"/>
                              <a:cs typeface="Times New Roman"/>
                            </a:rPr>
                            <m:t>4</m:t>
                          </m:r>
                        </m:sub>
                      </m:sSub>
                      <m:r>
                        <a:rPr lang="en-US" altLang="zh-TW" sz="1100" i="1">
                          <a:solidFill>
                            <a:srgbClr val="707070"/>
                          </a:solidFill>
                          <a:latin typeface="Cambria Math" panose="02040503050406030204" pitchFamily="18" charset="0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l-GR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​)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: weight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 4:   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v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1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v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2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v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3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v</a:t>
                  </a:r>
                  <a:r>
                    <a:rPr lang="en-US" altLang="zh-TW" sz="1400" baseline="-25000" dirty="0">
                      <a:latin typeface="Times New Roman"/>
                      <a:cs typeface="Times New Roman"/>
                    </a:rPr>
                    <a:t>4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 ← ConnectivityList(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T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tetID)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  // 4 interpolation nodes</a:t>
                  </a:r>
                </a:p>
                <a:p>
                  <a:pPr lvl="2">
                    <a:lnSpc>
                      <a:spcPct val="103000"/>
                    </a:lnSpc>
                  </a:pP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                                                                   // (v1, v2, v3, v4) : FEM node number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 5:   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for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= 1 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to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N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do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 6:     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b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a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q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:,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 ← Σ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λ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·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b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</a:t>
                  </a:r>
                  <a14:m>
                    <m:oMath xmlns:m="http://schemas.openxmlformats.org/officeDocument/2006/math">
                      <m:r>
                        <a:rPr lang="en-US" altLang="zh-TW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altLang="zh-TW" sz="1400" dirty="0">
                      <a:latin typeface="Times New Roman"/>
                      <a:cs typeface="Times New Roman"/>
                    </a:rPr>
                    <a:t> 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v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, :,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s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), 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i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 = 1,…,4</a:t>
                  </a:r>
                  <a:r>
                    <a:rPr lang="en-US" altLang="zh-TW" sz="1100" i="1" dirty="0">
                      <a:solidFill>
                        <a:srgbClr val="707070"/>
                      </a:solidFill>
                      <a:latin typeface="Times New Roman"/>
                      <a:cs typeface="Times New Roman"/>
                    </a:rPr>
                    <a:t>  // weighting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 7:   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end for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 8: 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end for</a:t>
                  </a:r>
                </a:p>
                <a:p>
                  <a:pPr>
                    <a:lnSpc>
                      <a:spcPct val="103000"/>
                    </a:lnSpc>
                  </a:pPr>
                  <a:r>
                    <a:rPr lang="en-US" altLang="zh-TW" sz="1100" dirty="0">
                      <a:latin typeface="Times New Roman"/>
                      <a:cs typeface="Times New Roman"/>
                    </a:rPr>
                    <a:t> 9: </a:t>
                  </a:r>
                  <a:r>
                    <a:rPr lang="en-US" altLang="zh-TW" sz="1400" b="1" dirty="0">
                      <a:latin typeface="Times New Roman"/>
                      <a:cs typeface="Times New Roman"/>
                    </a:rPr>
                    <a:t>return 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b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(</a:t>
                  </a:r>
                  <a:r>
                    <a:rPr lang="en-US" altLang="zh-TW" sz="1400" i="1" dirty="0">
                      <a:latin typeface="Times New Roman"/>
                      <a:cs typeface="Times New Roman"/>
                    </a:rPr>
                    <a:t>p</a:t>
                  </a:r>
                  <a:r>
                    <a:rPr lang="en-US" altLang="zh-TW" sz="1400" i="1" baseline="-25000" dirty="0">
                      <a:latin typeface="Times New Roman"/>
                      <a:cs typeface="Times New Roman"/>
                    </a:rPr>
                    <a:t>a</a:t>
                  </a:r>
                  <a:r>
                    <a:rPr lang="en-US" altLang="zh-TW" sz="1400" dirty="0">
                      <a:latin typeface="Times New Roman"/>
                      <a:cs typeface="Times New Roman"/>
                    </a:rPr>
                    <a:t>)</a:t>
                  </a:r>
                  <a:endParaRPr lang="en-US" altLang="zh-TW" sz="1100" dirty="0">
                    <a:latin typeface="Times New Roman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11" name="Algorithm 2">
                  <a:extLst>
                    <a:ext uri="{FF2B5EF4-FFF2-40B4-BE49-F238E27FC236}">
                      <a16:creationId xmlns:a16="http://schemas.microsoft.com/office/drawing/2014/main" id="{1177C345-91EB-49FB-ACFC-FA3CF50404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001" y="1227291"/>
                  <a:ext cx="5560000" cy="5032832"/>
                </a:xfrm>
                <a:prstGeom prst="rect">
                  <a:avLst/>
                </a:prstGeom>
                <a:blipFill>
                  <a:blip r:embed="rId2"/>
                  <a:stretch>
                    <a:fillRect l="-329" t="-242"/>
                  </a:stretch>
                </a:blipFill>
                <a:ln w="6350">
                  <a:solidFill>
                    <a:srgbClr val="000000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rule106">
              <a:extLst>
                <a:ext uri="{FF2B5EF4-FFF2-40B4-BE49-F238E27FC236}">
                  <a16:creationId xmlns:a16="http://schemas.microsoft.com/office/drawing/2014/main" id="{246A8849-C8C6-421D-8E92-8A33AD83606F}"/>
                </a:ext>
              </a:extLst>
            </p:cNvPr>
            <p:cNvCxnSpPr>
              <a:cxnSpLocks/>
            </p:cNvCxnSpPr>
            <p:nvPr/>
          </p:nvCxnSpPr>
          <p:spPr>
            <a:xfrm>
              <a:off x="6230001" y="1527291"/>
              <a:ext cx="5560000" cy="0"/>
            </a:xfrm>
            <a:prstGeom prst="line">
              <a:avLst/>
            </a:prstGeom>
            <a:ln w="9525">
              <a:solidFill>
                <a:srgbClr val="000000"/>
              </a:solidFill>
            </a:ln>
          </p:spPr>
        </p:cxnSp>
      </p:grpSp>
    </p:spTree>
    <p:extLst>
      <p:ext uri="{BB962C8B-B14F-4D97-AF65-F5344CB8AC3E}">
        <p14:creationId xmlns:p14="http://schemas.microsoft.com/office/powerpoint/2010/main" val="74634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80B83760-CB34-48DC-B1DA-35EE2999DB0E}"/>
              </a:ext>
            </a:extLst>
          </p:cNvPr>
          <p:cNvGrpSpPr/>
          <p:nvPr/>
        </p:nvGrpSpPr>
        <p:grpSpPr>
          <a:xfrm>
            <a:off x="248852" y="969062"/>
            <a:ext cx="6168881" cy="3223850"/>
            <a:chOff x="993919" y="2062391"/>
            <a:chExt cx="6168881" cy="3223850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95F983DD-ED2A-4694-A4A2-5E29BEFA24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919" y="2062391"/>
              <a:ext cx="6168881" cy="32238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D036E5D6-3E00-4A61-AB11-045B26C86652}"/>
                    </a:ext>
                  </a:extLst>
                </p:cNvPr>
                <p:cNvSpPr txBox="1"/>
                <p:nvPr/>
              </p:nvSpPr>
              <p:spPr>
                <a:xfrm>
                  <a:off x="1684869" y="3142046"/>
                  <a:ext cx="2981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zh-TW" alt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16EA59F1-6545-4924-8CB2-3B8DCE3FE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4869" y="3142046"/>
                  <a:ext cx="298159" cy="43088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流程圖: 接點 9">
              <a:extLst>
                <a:ext uri="{FF2B5EF4-FFF2-40B4-BE49-F238E27FC236}">
                  <a16:creationId xmlns:a16="http://schemas.microsoft.com/office/drawing/2014/main" id="{B74BDEA9-A049-43ED-8C66-BA9F22FFBE7F}"/>
                </a:ext>
              </a:extLst>
            </p:cNvPr>
            <p:cNvSpPr/>
            <p:nvPr/>
          </p:nvSpPr>
          <p:spPr>
            <a:xfrm>
              <a:off x="1617134" y="3572933"/>
              <a:ext cx="152402" cy="152130"/>
            </a:xfrm>
            <a:prstGeom prst="flowChartConnector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流程圖: 接點 10">
              <a:extLst>
                <a:ext uri="{FF2B5EF4-FFF2-40B4-BE49-F238E27FC236}">
                  <a16:creationId xmlns:a16="http://schemas.microsoft.com/office/drawing/2014/main" id="{1369744F-99C1-4294-89EB-61B5054D5564}"/>
                </a:ext>
              </a:extLst>
            </p:cNvPr>
            <p:cNvSpPr/>
            <p:nvPr/>
          </p:nvSpPr>
          <p:spPr>
            <a:xfrm>
              <a:off x="5562600" y="4328564"/>
              <a:ext cx="132147" cy="160867"/>
            </a:xfrm>
            <a:prstGeom prst="flowChartConnector">
              <a:avLst/>
            </a:prstGeom>
            <a:solidFill>
              <a:srgbClr val="FF33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6E74D8EF-A370-43CA-B059-A36E7CEFD587}"/>
                    </a:ext>
                  </a:extLst>
                </p:cNvPr>
                <p:cNvSpPr txBox="1"/>
                <p:nvPr/>
              </p:nvSpPr>
              <p:spPr>
                <a:xfrm>
                  <a:off x="4886014" y="4204155"/>
                  <a:ext cx="29815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zh-TW" alt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A9C4A2B7-ECCE-4C37-A3E3-74474ED13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6014" y="4204155"/>
                  <a:ext cx="298159" cy="43088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163D1A3C-8358-4BC2-B607-4542A6951BAC}"/>
                    </a:ext>
                  </a:extLst>
                </p:cNvPr>
                <p:cNvSpPr txBox="1"/>
                <p:nvPr/>
              </p:nvSpPr>
              <p:spPr>
                <a:xfrm>
                  <a:off x="5501585" y="2763541"/>
                  <a:ext cx="386324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𝚽</m:t>
                        </m:r>
                      </m:oMath>
                    </m:oMathPara>
                  </a14:m>
                  <a:endParaRPr lang="zh-TW" alt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A73A518E-4196-493F-AA17-EAE8E882E0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1585" y="2763541"/>
                  <a:ext cx="386324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D76ADA-F254-4972-B2F9-18F4641E08DB}"/>
              </a:ext>
            </a:extLst>
          </p:cNvPr>
          <p:cNvSpPr txBox="1"/>
          <p:nvPr/>
        </p:nvSpPr>
        <p:spPr>
          <a:xfrm>
            <a:off x="6478947" y="577480"/>
            <a:ext cx="5461915" cy="4618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figure illustrates the magnetic flux path when pole P2 is excited. The left figure presents a top view, with the theoretical magnetic charge locations labeled to clarify the magnetic charge concept used in this study. The right figure shows a three-dimensional view of the same model, in which the theoretical magnetic charge locations and the magnetic flux distribution can be clearly observed.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/>
              <a:t>The threshold used in the 3D plot on the right is 0.1 </a:t>
            </a:r>
            <a:r>
              <a:rPr lang="en-US" altLang="zh-TW" b="1" dirty="0" err="1"/>
              <a:t>mT</a:t>
            </a:r>
            <a:r>
              <a:rPr lang="en-US" altLang="zh-TW" b="1" dirty="0"/>
              <a:t>, meaning that only values greater than 0.1 </a:t>
            </a:r>
            <a:r>
              <a:rPr lang="en-US" altLang="zh-TW" b="1" dirty="0" err="1"/>
              <a:t>mT</a:t>
            </a:r>
            <a:r>
              <a:rPr lang="en-US" altLang="zh-TW" b="1" dirty="0"/>
              <a:t> are displayed in the figure.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86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Current-based lumped-parameter modeling and calibration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1E82766-E1D8-4AA6-A2B9-6AEA170385C0}"/>
              </a:ext>
            </a:extLst>
          </p:cNvPr>
          <p:cNvSpPr txBox="1"/>
          <p:nvPr/>
        </p:nvSpPr>
        <p:spPr>
          <a:xfrm>
            <a:off x="0" y="282042"/>
            <a:ext cx="6324600" cy="390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E</a:t>
            </a:r>
            <a:r>
              <a:rPr lang="en-US" altLang="zh-TW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. </a:t>
            </a:r>
            <a:r>
              <a:rPr lang="en-US" altLang="zh-TW" i="1" kern="1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Validation</a:t>
            </a:r>
            <a:endParaRPr lang="zh-TW" altLang="zh-TW" kern="100" dirty="0">
              <a:effectLst/>
              <a:latin typeface="Aptos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C8E46B3E-E6D2-45FB-B5C6-90968D33D0E7}"/>
              </a:ext>
            </a:extLst>
          </p:cNvPr>
          <p:cNvGrpSpPr/>
          <p:nvPr/>
        </p:nvGrpSpPr>
        <p:grpSpPr>
          <a:xfrm>
            <a:off x="1504501" y="1682131"/>
            <a:ext cx="4591499" cy="4620399"/>
            <a:chOff x="1504501" y="1682131"/>
            <a:chExt cx="4591499" cy="4620399"/>
          </a:xfrm>
        </p:grpSpPr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85772D47-AFAE-458A-A8D6-7D9620AF9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2600" y="1682131"/>
              <a:ext cx="4343400" cy="4343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C32E7FCB-A8F7-4C96-AC8C-759207405A91}"/>
                    </a:ext>
                  </a:extLst>
                </p:cNvPr>
                <p:cNvSpPr txBox="1"/>
                <p:nvPr/>
              </p:nvSpPr>
              <p:spPr>
                <a:xfrm>
                  <a:off x="2974992" y="6025531"/>
                  <a:ext cx="2388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/>
                    <a:t>   </a:t>
                  </a:r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Workspace radius </a:t>
                  </a:r>
                  <a14:m>
                    <m:oMath xmlns:m="http://schemas.openxmlformats.org/officeDocument/2006/math"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C32E7FCB-A8F7-4C96-AC8C-759207405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992" y="6025531"/>
                  <a:ext cx="2388731" cy="276999"/>
                </a:xfrm>
                <a:prstGeom prst="rect">
                  <a:avLst/>
                </a:prstGeom>
                <a:blipFill>
                  <a:blip r:embed="rId3"/>
                  <a:stretch>
                    <a:fillRect t="-30435" r="-3316" b="-4782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A48A34F-B517-49B3-ACB4-91697E826EDB}"/>
                    </a:ext>
                  </a:extLst>
                </p:cNvPr>
                <p:cNvSpPr txBox="1"/>
                <p:nvPr/>
              </p:nvSpPr>
              <p:spPr>
                <a:xfrm rot="16200000">
                  <a:off x="1160996" y="3082708"/>
                  <a:ext cx="978244" cy="2912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l-GR" altLang="zh-TW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400" b="1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4A48A34F-B517-49B3-ACB4-91697E826E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60996" y="3082708"/>
                  <a:ext cx="978244" cy="291234"/>
                </a:xfrm>
                <a:prstGeom prst="rect">
                  <a:avLst/>
                </a:prstGeom>
                <a:blipFill>
                  <a:blip r:embed="rId4"/>
                  <a:stretch>
                    <a:fillRect l="-18750" r="-3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B8718CC-0AEB-44A9-B152-C707FF381D0D}"/>
                    </a:ext>
                  </a:extLst>
                </p:cNvPr>
                <p:cNvSpPr txBox="1"/>
                <p:nvPr/>
              </p:nvSpPr>
              <p:spPr>
                <a:xfrm rot="16200000">
                  <a:off x="1075178" y="4729147"/>
                  <a:ext cx="1288173" cy="30534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</m:e>
                        </m:sPr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f>
                          <m:fPr>
                            <m:type m:val="li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𝑚𝑇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5B8718CC-0AEB-44A9-B152-C707FF381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075178" y="4729147"/>
                  <a:ext cx="1288173" cy="305340"/>
                </a:xfrm>
                <a:prstGeom prst="rect">
                  <a:avLst/>
                </a:prstGeom>
                <a:blipFill>
                  <a:blip r:embed="rId5"/>
                  <a:stretch>
                    <a:fillRect l="-150000" t="-36019" r="-228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4DFC6DB-DFDD-46A5-8F7C-F1431786292E}"/>
              </a:ext>
            </a:extLst>
          </p:cNvPr>
          <p:cNvGrpSpPr/>
          <p:nvPr/>
        </p:nvGrpSpPr>
        <p:grpSpPr>
          <a:xfrm>
            <a:off x="5990838" y="1639798"/>
            <a:ext cx="4515236" cy="4651530"/>
            <a:chOff x="5990838" y="1639798"/>
            <a:chExt cx="4515236" cy="4651530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8710ADD6-E323-412B-A01A-2067C37B2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2674" y="1639798"/>
              <a:ext cx="4343400" cy="442806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D11202B-6479-45DA-B728-B03A116DD36E}"/>
                    </a:ext>
                  </a:extLst>
                </p:cNvPr>
                <p:cNvSpPr txBox="1"/>
                <p:nvPr/>
              </p:nvSpPr>
              <p:spPr>
                <a:xfrm rot="16200000">
                  <a:off x="5109026" y="3621015"/>
                  <a:ext cx="204062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sz="1600" b="0" dirty="0"/>
                    <a:t> </a:t>
                  </a:r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 </a:t>
                  </a:r>
                  <a14:m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D11202B-6479-45DA-B728-B03A116DD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109026" y="3621015"/>
                  <a:ext cx="204062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8889" t="-3582" r="-51111" b="-477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54A4913-3156-480A-96B7-8AE2B41FCFF0}"/>
                    </a:ext>
                  </a:extLst>
                </p:cNvPr>
                <p:cNvSpPr txBox="1"/>
                <p:nvPr/>
              </p:nvSpPr>
              <p:spPr>
                <a:xfrm>
                  <a:off x="7535638" y="6014329"/>
                  <a:ext cx="20937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sz="16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Modeling error 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54A4913-3156-480A-96B7-8AE2B41FCF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638" y="6014329"/>
                  <a:ext cx="2093778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4360" t="-31111" r="-1744" b="-4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6301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261"/>
            <a:ext cx="12192000" cy="837142"/>
          </a:xfrm>
        </p:spPr>
        <p:txBody>
          <a:bodyPr>
            <a:normAutofit fontScale="90000"/>
          </a:bodyPr>
          <a:lstStyle/>
          <a:p>
            <a:r>
              <a:rPr lang="en-US" altLang="zh-TW" sz="36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Quantitative Assessment of Multi-Pole Actuators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C7984F6-0281-4747-8F4D-3E7C18B8A63B}"/>
              </a:ext>
            </a:extLst>
          </p:cNvPr>
          <p:cNvSpPr txBox="1"/>
          <p:nvPr/>
        </p:nvSpPr>
        <p:spPr>
          <a:xfrm>
            <a:off x="409671" y="2626733"/>
            <a:ext cx="248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DesignA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BD4ECE5-F0B8-49EE-9F5A-DF43669489B7}"/>
              </a:ext>
            </a:extLst>
          </p:cNvPr>
          <p:cNvSpPr txBox="1"/>
          <p:nvPr/>
        </p:nvSpPr>
        <p:spPr>
          <a:xfrm>
            <a:off x="6418127" y="2649838"/>
            <a:ext cx="2480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DesignB</a:t>
            </a:r>
            <a:endParaRPr lang="zh-TW" alt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09BCDCB1-9092-4EEE-B020-6AB25F6593D9}"/>
              </a:ext>
            </a:extLst>
          </p:cNvPr>
          <p:cNvGrpSpPr/>
          <p:nvPr/>
        </p:nvGrpSpPr>
        <p:grpSpPr>
          <a:xfrm>
            <a:off x="6804867" y="3222729"/>
            <a:ext cx="3410596" cy="2477943"/>
            <a:chOff x="373689" y="2613691"/>
            <a:chExt cx="3410596" cy="2477943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EAA45487-594C-4CAB-8051-280C7BD62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153" t="21077" r="17406" b="12392"/>
            <a:stretch/>
          </p:blipFill>
          <p:spPr>
            <a:xfrm>
              <a:off x="373689" y="2613691"/>
              <a:ext cx="3410596" cy="2477943"/>
            </a:xfrm>
            <a:prstGeom prst="rect">
              <a:avLst/>
            </a:prstGeom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58CE3C77-D104-404F-82D4-0C83DAEED912}"/>
                </a:ext>
              </a:extLst>
            </p:cNvPr>
            <p:cNvGrpSpPr/>
            <p:nvPr/>
          </p:nvGrpSpPr>
          <p:grpSpPr>
            <a:xfrm>
              <a:off x="1491261" y="3253470"/>
              <a:ext cx="1228561" cy="1176562"/>
              <a:chOff x="2701406" y="2893183"/>
              <a:chExt cx="1228561" cy="1176562"/>
            </a:xfrm>
          </p:grpSpPr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C0E75292-499D-410E-BCF9-A2D24F3B152B}"/>
                  </a:ext>
                </a:extLst>
              </p:cNvPr>
              <p:cNvSpPr txBox="1"/>
              <p:nvPr/>
            </p:nvSpPr>
            <p:spPr>
              <a:xfrm>
                <a:off x="3460750" y="3608079"/>
                <a:ext cx="4341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P1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F88C5623-FFDF-438A-B840-17AF3FA5AA30}"/>
                  </a:ext>
                </a:extLst>
              </p:cNvPr>
              <p:cNvSpPr txBox="1"/>
              <p:nvPr/>
            </p:nvSpPr>
            <p:spPr>
              <a:xfrm>
                <a:off x="2818838" y="3184598"/>
                <a:ext cx="4320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P2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F756CA1-B35F-46FC-8E2D-8A602E20A801}"/>
                  </a:ext>
                </a:extLst>
              </p:cNvPr>
              <p:cNvSpPr txBox="1"/>
              <p:nvPr/>
            </p:nvSpPr>
            <p:spPr>
              <a:xfrm>
                <a:off x="3146620" y="2893183"/>
                <a:ext cx="5312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P3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ADAF09B-1C24-49E7-A12E-4FA623B349D7}"/>
                  </a:ext>
                </a:extLst>
              </p:cNvPr>
              <p:cNvSpPr txBox="1"/>
              <p:nvPr/>
            </p:nvSpPr>
            <p:spPr>
              <a:xfrm>
                <a:off x="2701406" y="3608079"/>
                <a:ext cx="4421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P6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7C301C1-DDCC-438C-996B-2D11692E1DE3}"/>
                  </a:ext>
                </a:extLst>
              </p:cNvPr>
              <p:cNvSpPr txBox="1"/>
              <p:nvPr/>
            </p:nvSpPr>
            <p:spPr>
              <a:xfrm>
                <a:off x="3092558" y="3761968"/>
                <a:ext cx="4586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P4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2A0295E-5236-4D9B-9E34-4666437E4B01}"/>
                  </a:ext>
                </a:extLst>
              </p:cNvPr>
              <p:cNvSpPr txBox="1"/>
              <p:nvPr/>
            </p:nvSpPr>
            <p:spPr>
              <a:xfrm>
                <a:off x="3499145" y="3162394"/>
                <a:ext cx="4308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P5</a:t>
                </a:r>
                <a:endParaRPr lang="zh-TW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1FDC83DC-92D9-4D5E-BBD7-36A1268AD8C9}"/>
              </a:ext>
            </a:extLst>
          </p:cNvPr>
          <p:cNvGrpSpPr/>
          <p:nvPr/>
        </p:nvGrpSpPr>
        <p:grpSpPr>
          <a:xfrm>
            <a:off x="575874" y="3278260"/>
            <a:ext cx="3509191" cy="2598287"/>
            <a:chOff x="667123" y="3381820"/>
            <a:chExt cx="3509191" cy="2598287"/>
          </a:xfrm>
        </p:grpSpPr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6A8FD489-3B78-4DCA-83AE-A0C17F587CF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59" t="20047" r="19666" b="12831"/>
            <a:stretch/>
          </p:blipFill>
          <p:spPr>
            <a:xfrm>
              <a:off x="667123" y="3381820"/>
              <a:ext cx="3509191" cy="2598287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8C74A71-E267-4230-A329-BCD1C12EDE61}"/>
                </a:ext>
              </a:extLst>
            </p:cNvPr>
            <p:cNvSpPr txBox="1"/>
            <p:nvPr/>
          </p:nvSpPr>
          <p:spPr>
            <a:xfrm>
              <a:off x="2672497" y="4791315"/>
              <a:ext cx="500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9ED01CA-201F-4FBD-B1BE-8C7F2E5A57F6}"/>
                </a:ext>
              </a:extLst>
            </p:cNvPr>
            <p:cNvSpPr txBox="1"/>
            <p:nvPr/>
          </p:nvSpPr>
          <p:spPr>
            <a:xfrm>
              <a:off x="1648976" y="4369251"/>
              <a:ext cx="500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9B1A8B7B-69AC-402B-82C6-FA98B1FBEC36}"/>
                </a:ext>
              </a:extLst>
            </p:cNvPr>
            <p:cNvSpPr txBox="1"/>
            <p:nvPr/>
          </p:nvSpPr>
          <p:spPr>
            <a:xfrm>
              <a:off x="2080822" y="4023193"/>
              <a:ext cx="5653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6769671-FF10-4489-9DC5-83CD62854141}"/>
                </a:ext>
              </a:extLst>
            </p:cNvPr>
            <p:cNvSpPr txBox="1"/>
            <p:nvPr/>
          </p:nvSpPr>
          <p:spPr>
            <a:xfrm>
              <a:off x="2202260" y="5009637"/>
              <a:ext cx="7068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P4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09D03EFE-B287-4CCF-94E7-84A1CD90A171}"/>
                </a:ext>
              </a:extLst>
            </p:cNvPr>
            <p:cNvSpPr txBox="1"/>
            <p:nvPr/>
          </p:nvSpPr>
          <p:spPr>
            <a:xfrm>
              <a:off x="1722778" y="4920250"/>
              <a:ext cx="7160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P6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1E74A96C-F4DC-406B-9866-99487CFE1AF9}"/>
                </a:ext>
              </a:extLst>
            </p:cNvPr>
            <p:cNvSpPr txBox="1"/>
            <p:nvPr/>
          </p:nvSpPr>
          <p:spPr>
            <a:xfrm>
              <a:off x="2646170" y="4218252"/>
              <a:ext cx="5000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P5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auto caption"/>
          <p:cNvSpPr txBox="1"/>
          <p:nvPr/>
        </p:nvSpPr>
        <p:spPr>
          <a:xfrm>
            <a:off x="282787" y="583936"/>
            <a:ext cx="11155680" cy="132588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marL="285750" indent="-285750"/>
            <a:r>
              <a:rPr lang="en-US" altLang="zh-TW" dirty="0"/>
              <a:t>Setup: The assessment that follows compares two six-pole actuator designs, Design 1 on a circular yoke and Design 2 on a planar square frame. Both are described by the same lumped-parameter model and use the pole numbering P1-P6 shown here.</a:t>
            </a:r>
          </a:p>
          <a:p>
            <a:pPr marL="285750" indent="-285750"/>
            <a:r>
              <a:rPr lang="en-US" altLang="zh-TW" dirty="0"/>
              <a:t>Sharing the model form and the pole numbering, the two differ only in geometry, so their calibrated parameters can be compared directly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235154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8031"/>
            <a:ext cx="12192000" cy="193506"/>
          </a:xfrm>
        </p:spPr>
        <p:txBody>
          <a:bodyPr>
            <a:normAutofit fontScale="90000"/>
          </a:bodyPr>
          <a:lstStyle/>
          <a:p>
            <a:r>
              <a:rPr lang="en-US" altLang="zh-TW" sz="36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Quantitative Assessment of Multi-Pole Actuators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BA9955A-92B3-406A-93D9-E13D8B8C100E}"/>
              </a:ext>
            </a:extLst>
          </p:cNvPr>
          <p:cNvSpPr txBox="1"/>
          <p:nvPr/>
        </p:nvSpPr>
        <p:spPr>
          <a:xfrm>
            <a:off x="98886" y="383190"/>
            <a:ext cx="3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 err="1"/>
              <a:t>DesignA</a:t>
            </a:r>
            <a:endParaRPr lang="zh-TW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B2FC3B6-34F2-47A5-A4AF-A882448CE798}"/>
              </a:ext>
            </a:extLst>
          </p:cNvPr>
          <p:cNvSpPr/>
          <p:nvPr/>
        </p:nvSpPr>
        <p:spPr>
          <a:xfrm>
            <a:off x="11647706" y="2231996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6288C7-F5CB-48E4-8D76-163CDF4E1521}"/>
              </a:ext>
            </a:extLst>
          </p:cNvPr>
          <p:cNvSpPr/>
          <p:nvPr/>
        </p:nvSpPr>
        <p:spPr>
          <a:xfrm>
            <a:off x="11485470" y="5360209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C1E112-AE50-46DC-8251-D6D5E0450AA8}"/>
              </a:ext>
            </a:extLst>
          </p:cNvPr>
          <p:cNvSpPr/>
          <p:nvPr/>
        </p:nvSpPr>
        <p:spPr>
          <a:xfrm>
            <a:off x="8927424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7AC5CB5-ED89-4E3E-AD62-78E3BA5A407F}"/>
              </a:ext>
            </a:extLst>
          </p:cNvPr>
          <p:cNvSpPr/>
          <p:nvPr/>
        </p:nvSpPr>
        <p:spPr>
          <a:xfrm>
            <a:off x="6279842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FCDEC8-6D9E-4F90-9164-5AFC45503F9D}"/>
              </a:ext>
            </a:extLst>
          </p:cNvPr>
          <p:cNvSpPr/>
          <p:nvPr/>
        </p:nvSpPr>
        <p:spPr>
          <a:xfrm>
            <a:off x="5541053" y="1762316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2375863-2208-49BC-A294-DC35BC7C0E6F}"/>
              </a:ext>
            </a:extLst>
          </p:cNvPr>
          <p:cNvSpPr/>
          <p:nvPr/>
        </p:nvSpPr>
        <p:spPr>
          <a:xfrm>
            <a:off x="6592957" y="246968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EC54F1-2642-426E-80DB-775A61DDF044}"/>
              </a:ext>
            </a:extLst>
          </p:cNvPr>
          <p:cNvSpPr/>
          <p:nvPr/>
        </p:nvSpPr>
        <p:spPr>
          <a:xfrm>
            <a:off x="10930467" y="1596950"/>
            <a:ext cx="107305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2555E3-898A-435A-9CA9-B6575FB7B1AA}"/>
              </a:ext>
            </a:extLst>
          </p:cNvPr>
          <p:cNvSpPr/>
          <p:nvPr/>
        </p:nvSpPr>
        <p:spPr>
          <a:xfrm>
            <a:off x="9794725" y="4840409"/>
            <a:ext cx="467790" cy="397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9F7727-7052-4D90-B6A9-2AED4DBC48EF}"/>
              </a:ext>
            </a:extLst>
          </p:cNvPr>
          <p:cNvSpPr/>
          <p:nvPr/>
        </p:nvSpPr>
        <p:spPr>
          <a:xfrm>
            <a:off x="9556542" y="4654243"/>
            <a:ext cx="218554" cy="221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8AD94496-9899-4763-AC19-DE9E4B62D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1584161"/>
                  </p:ext>
                </p:extLst>
              </p:nvPr>
            </p:nvGraphicFramePr>
            <p:xfrm>
              <a:off x="1048979" y="5233277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14.6246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10">
                <a:extLst>
                  <a:ext uri="{FF2B5EF4-FFF2-40B4-BE49-F238E27FC236}">
                    <a16:creationId xmlns:a16="http://schemas.microsoft.com/office/drawing/2014/main" id="{8AD94496-9899-4763-AC19-DE9E4B62D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1584161"/>
                  </p:ext>
                </p:extLst>
              </p:nvPr>
            </p:nvGraphicFramePr>
            <p:xfrm>
              <a:off x="1048979" y="5233277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97" t="-57724" r="-100297" b="-365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14.6246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BABEE7B5-2166-4527-A3D9-05CE2561B2CA}"/>
              </a:ext>
            </a:extLst>
          </p:cNvPr>
          <p:cNvGrpSpPr/>
          <p:nvPr/>
        </p:nvGrpSpPr>
        <p:grpSpPr>
          <a:xfrm>
            <a:off x="418788" y="1053832"/>
            <a:ext cx="4408520" cy="3184716"/>
            <a:chOff x="6903939" y="1002538"/>
            <a:chExt cx="4408520" cy="3184716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1117A033-240E-4601-A631-E130A6209D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75" t="-2472" b="6945"/>
            <a:stretch/>
          </p:blipFill>
          <p:spPr>
            <a:xfrm>
              <a:off x="7535333" y="1002538"/>
              <a:ext cx="3777126" cy="2882433"/>
            </a:xfrm>
            <a:prstGeom prst="rect">
              <a:avLst/>
            </a:prstGeom>
          </p:spPr>
        </p:pic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B0A18187-7F13-41AC-A9F7-1436480D630C}"/>
                </a:ext>
              </a:extLst>
            </p:cNvPr>
            <p:cNvGrpSpPr/>
            <p:nvPr/>
          </p:nvGrpSpPr>
          <p:grpSpPr>
            <a:xfrm>
              <a:off x="6903939" y="1427289"/>
              <a:ext cx="4056717" cy="2759965"/>
              <a:chOff x="7145625" y="1707918"/>
              <a:chExt cx="4056717" cy="2759965"/>
            </a:xfrm>
          </p:grpSpPr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C299C441-BCF8-4475-BFF9-35587BD5D694}"/>
                  </a:ext>
                </a:extLst>
              </p:cNvPr>
              <p:cNvGrpSpPr/>
              <p:nvPr/>
            </p:nvGrpSpPr>
            <p:grpSpPr>
              <a:xfrm>
                <a:off x="7145625" y="2109855"/>
                <a:ext cx="3068396" cy="2276433"/>
                <a:chOff x="7145625" y="2109855"/>
                <a:chExt cx="3068396" cy="2276433"/>
              </a:xfrm>
            </p:grpSpPr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F3FAB7FA-B1DA-4330-B83C-E622173A04E6}"/>
                    </a:ext>
                  </a:extLst>
                </p:cNvPr>
                <p:cNvSpPr/>
                <p:nvPr/>
              </p:nvSpPr>
              <p:spPr>
                <a:xfrm>
                  <a:off x="9223695" y="4165600"/>
                  <a:ext cx="990326" cy="2206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583C597C-6CE1-44DE-B1A0-2232A829391D}"/>
                    </a:ext>
                  </a:extLst>
                </p:cNvPr>
                <p:cNvSpPr/>
                <p:nvPr/>
              </p:nvSpPr>
              <p:spPr>
                <a:xfrm rot="16200000">
                  <a:off x="6595311" y="2660169"/>
                  <a:ext cx="1321315" cy="22068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4A527870-9240-4CAE-A7BD-03FC80337E83}"/>
                      </a:ext>
                    </a:extLst>
                  </p:cNvPr>
                  <p:cNvSpPr txBox="1"/>
                  <p:nvPr/>
                </p:nvSpPr>
                <p:spPr>
                  <a:xfrm>
                    <a:off x="8437726" y="4098551"/>
                    <a:ext cx="276461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zh-TW" b="0" dirty="0">
                        <a:latin typeface="Times" panose="020206030504050203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a:t>d</a:t>
                    </a:r>
                    <a14:m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𝑚𝑇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zh-TW" altLang="en-US" sz="2400" dirty="0"/>
                  </a:p>
                </p:txBody>
              </p:sp>
            </mc:Choice>
            <mc:Fallback>
              <p:sp>
                <p:nvSpPr>
                  <p:cNvPr id="29" name="文字方塊 28">
                    <a:extLst>
                      <a:ext uri="{FF2B5EF4-FFF2-40B4-BE49-F238E27FC236}">
                        <a16:creationId xmlns:a16="http://schemas.microsoft.com/office/drawing/2014/main" id="{4A527870-9240-4CAE-A7BD-03FC80337E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7726" y="4098551"/>
                    <a:ext cx="27646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987" t="-118333" b="-180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4F5B4198-2C45-4E9A-B669-499DD550D76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592932" y="2585883"/>
                    <a:ext cx="203292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r>
                      <a:rPr lang="en-US" altLang="zh-TW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Percentage count</a:t>
                    </a:r>
                    <a14:m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(%)</m:t>
                        </m:r>
                      </m:oMath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4F5B4198-2C45-4E9A-B669-499DD550D7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592932" y="2585883"/>
                    <a:ext cx="2032929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1111" t="-2402" r="-51111" b="-72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06A81075-ED01-41B7-9DB8-42F5FE7109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160977"/>
                  </p:ext>
                </p:extLst>
              </p:nvPr>
            </p:nvGraphicFramePr>
            <p:xfrm>
              <a:off x="7213825" y="5150753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0.8836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06A81075-ED01-41B7-9DB8-42F5FE7109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5160977"/>
                  </p:ext>
                </p:extLst>
              </p:nvPr>
            </p:nvGraphicFramePr>
            <p:xfrm>
              <a:off x="7213825" y="5150753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6"/>
                          <a:stretch>
                            <a:fillRect l="-297" t="-56911" r="-100297" b="-37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0.8836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群組 17">
            <a:extLst>
              <a:ext uri="{FF2B5EF4-FFF2-40B4-BE49-F238E27FC236}">
                <a16:creationId xmlns:a16="http://schemas.microsoft.com/office/drawing/2014/main" id="{269FD09B-AE70-41B3-8041-E5CCC5FCD011}"/>
              </a:ext>
            </a:extLst>
          </p:cNvPr>
          <p:cNvGrpSpPr/>
          <p:nvPr/>
        </p:nvGrpSpPr>
        <p:grpSpPr>
          <a:xfrm>
            <a:off x="7043145" y="1065090"/>
            <a:ext cx="3940974" cy="3091863"/>
            <a:chOff x="7094286" y="1094767"/>
            <a:chExt cx="3940974" cy="3091863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CA05B46F-50BD-4828-A5FA-A8DCEFC58CC6}"/>
                </a:ext>
              </a:extLst>
            </p:cNvPr>
            <p:cNvGrpSpPr/>
            <p:nvPr/>
          </p:nvGrpSpPr>
          <p:grpSpPr>
            <a:xfrm>
              <a:off x="7137401" y="1094767"/>
              <a:ext cx="3897859" cy="2824807"/>
              <a:chOff x="7137401" y="1094767"/>
              <a:chExt cx="3897859" cy="2824807"/>
            </a:xfrm>
          </p:grpSpPr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DF557569-A496-4158-A37F-FDC818B7EAC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94" b="5274"/>
              <a:stretch/>
            </p:blipFill>
            <p:spPr>
              <a:xfrm>
                <a:off x="7349067" y="1094767"/>
                <a:ext cx="3686193" cy="2824807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B0EABF5-71FB-4EAE-AB98-DEA16B70661E}"/>
                  </a:ext>
                </a:extLst>
              </p:cNvPr>
              <p:cNvSpPr/>
              <p:nvPr/>
            </p:nvSpPr>
            <p:spPr>
              <a:xfrm>
                <a:off x="7137401" y="1762316"/>
                <a:ext cx="243022" cy="12348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C67D8BF2-F433-4CB7-B298-249F4FA07E99}"/>
                </a:ext>
              </a:extLst>
            </p:cNvPr>
            <p:cNvSpPr txBox="1"/>
            <p:nvPr/>
          </p:nvSpPr>
          <p:spPr>
            <a:xfrm>
              <a:off x="8768713" y="3817298"/>
              <a:ext cx="1027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Isotropy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107708C0-1AD5-4426-A507-D5C3A3D95D77}"/>
                    </a:ext>
                  </a:extLst>
                </p:cNvPr>
                <p:cNvSpPr txBox="1"/>
                <p:nvPr/>
              </p:nvSpPr>
              <p:spPr>
                <a:xfrm rot="16200000">
                  <a:off x="6216321" y="2214372"/>
                  <a:ext cx="20329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107708C0-1AD5-4426-A507-D5C3A3D95D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216321" y="2214372"/>
                  <a:ext cx="203292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0435" t="-2096" r="-47826" b="-68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7EBFE3D-5026-457E-BA57-12CE3243234A}"/>
                  </a:ext>
                </a:extLst>
              </p:cNvPr>
              <p:cNvSpPr txBox="1"/>
              <p:nvPr/>
            </p:nvSpPr>
            <p:spPr>
              <a:xfrm>
                <a:off x="457200" y="4309533"/>
                <a:ext cx="3666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Histogram resolution 0.02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B7EBFE3D-5026-457E-BA57-12CE32432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309533"/>
                <a:ext cx="3666067" cy="369332"/>
              </a:xfrm>
              <a:prstGeom prst="rect">
                <a:avLst/>
              </a:prstGeom>
              <a:blipFill>
                <a:blip r:embed="rId9"/>
                <a:stretch>
                  <a:fillRect l="-998" t="-116393" r="-9817" b="-175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757C1F29-54A6-40FA-8F63-5B83F425B131}"/>
              </a:ext>
            </a:extLst>
          </p:cNvPr>
          <p:cNvSpPr txBox="1"/>
          <p:nvPr/>
        </p:nvSpPr>
        <p:spPr>
          <a:xfrm>
            <a:off x="6811511" y="4241712"/>
            <a:ext cx="3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Histogram resolution 0.01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8465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8031"/>
            <a:ext cx="12192000" cy="193506"/>
          </a:xfrm>
        </p:spPr>
        <p:txBody>
          <a:bodyPr>
            <a:normAutofit fontScale="90000"/>
          </a:bodyPr>
          <a:lstStyle/>
          <a:p>
            <a:r>
              <a:rPr lang="en-US" altLang="zh-TW" sz="36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Quantitative Assessment of Multi-Pole Actuators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BA9955A-92B3-406A-93D9-E13D8B8C100E}"/>
              </a:ext>
            </a:extLst>
          </p:cNvPr>
          <p:cNvSpPr txBox="1"/>
          <p:nvPr/>
        </p:nvSpPr>
        <p:spPr>
          <a:xfrm>
            <a:off x="98886" y="383190"/>
            <a:ext cx="3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 err="1"/>
              <a:t>DesignB</a:t>
            </a:r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CAF6AD-8DD4-4627-A1FD-CEEA914062EB}"/>
              </a:ext>
            </a:extLst>
          </p:cNvPr>
          <p:cNvSpPr/>
          <p:nvPr/>
        </p:nvSpPr>
        <p:spPr>
          <a:xfrm>
            <a:off x="9428540" y="5341459"/>
            <a:ext cx="279400" cy="397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B2FC3B6-34F2-47A5-A4AF-A882448CE798}"/>
              </a:ext>
            </a:extLst>
          </p:cNvPr>
          <p:cNvSpPr/>
          <p:nvPr/>
        </p:nvSpPr>
        <p:spPr>
          <a:xfrm>
            <a:off x="11647706" y="2231996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6288C7-F5CB-48E4-8D76-163CDF4E1521}"/>
              </a:ext>
            </a:extLst>
          </p:cNvPr>
          <p:cNvSpPr/>
          <p:nvPr/>
        </p:nvSpPr>
        <p:spPr>
          <a:xfrm>
            <a:off x="11485470" y="5360209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C1E112-AE50-46DC-8251-D6D5E0450AA8}"/>
              </a:ext>
            </a:extLst>
          </p:cNvPr>
          <p:cNvSpPr/>
          <p:nvPr/>
        </p:nvSpPr>
        <p:spPr>
          <a:xfrm>
            <a:off x="8927424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7AC5CB5-ED89-4E3E-AD62-78E3BA5A407F}"/>
              </a:ext>
            </a:extLst>
          </p:cNvPr>
          <p:cNvSpPr/>
          <p:nvPr/>
        </p:nvSpPr>
        <p:spPr>
          <a:xfrm>
            <a:off x="6279842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FCDEC8-6D9E-4F90-9164-5AFC45503F9D}"/>
              </a:ext>
            </a:extLst>
          </p:cNvPr>
          <p:cNvSpPr/>
          <p:nvPr/>
        </p:nvSpPr>
        <p:spPr>
          <a:xfrm>
            <a:off x="5541053" y="1762316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2375863-2208-49BC-A294-DC35BC7C0E6F}"/>
              </a:ext>
            </a:extLst>
          </p:cNvPr>
          <p:cNvSpPr/>
          <p:nvPr/>
        </p:nvSpPr>
        <p:spPr>
          <a:xfrm>
            <a:off x="6592957" y="246968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EC54F1-2642-426E-80DB-775A61DDF044}"/>
              </a:ext>
            </a:extLst>
          </p:cNvPr>
          <p:cNvSpPr/>
          <p:nvPr/>
        </p:nvSpPr>
        <p:spPr>
          <a:xfrm>
            <a:off x="10930467" y="1596950"/>
            <a:ext cx="107305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39F7727-7052-4D90-B6A9-2AED4DBC48EF}"/>
              </a:ext>
            </a:extLst>
          </p:cNvPr>
          <p:cNvSpPr/>
          <p:nvPr/>
        </p:nvSpPr>
        <p:spPr>
          <a:xfrm>
            <a:off x="9556542" y="4654243"/>
            <a:ext cx="218554" cy="221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54607F0B-9399-46DC-A751-46D610BD1351}"/>
              </a:ext>
            </a:extLst>
          </p:cNvPr>
          <p:cNvGrpSpPr/>
          <p:nvPr/>
        </p:nvGrpSpPr>
        <p:grpSpPr>
          <a:xfrm>
            <a:off x="7345935" y="1930440"/>
            <a:ext cx="3264315" cy="2877114"/>
            <a:chOff x="7276685" y="1998989"/>
            <a:chExt cx="3264315" cy="287711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9F3120E-FFA5-49F9-B607-4539075AF0F8}"/>
                </a:ext>
              </a:extLst>
            </p:cNvPr>
            <p:cNvSpPr/>
            <p:nvPr/>
          </p:nvSpPr>
          <p:spPr>
            <a:xfrm>
              <a:off x="9145978" y="4605175"/>
              <a:ext cx="1395022" cy="270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F909DB8-68B5-4CC8-88B1-5CEC2797D52D}"/>
                </a:ext>
              </a:extLst>
            </p:cNvPr>
            <p:cNvSpPr/>
            <p:nvPr/>
          </p:nvSpPr>
          <p:spPr>
            <a:xfrm rot="16200000">
              <a:off x="6616710" y="2658964"/>
              <a:ext cx="1590877" cy="2709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006A579D-BBDD-4E33-B45A-E2E9DF349D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4627389"/>
                  </p:ext>
                </p:extLst>
              </p:nvPr>
            </p:nvGraphicFramePr>
            <p:xfrm>
              <a:off x="636872" y="4790321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39.4683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006A579D-BBDD-4E33-B45A-E2E9DF349D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4627389"/>
                  </p:ext>
                </p:extLst>
              </p:nvPr>
            </p:nvGraphicFramePr>
            <p:xfrm>
              <a:off x="636872" y="4790321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97" t="-56911" r="-100297" b="-37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39.4683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8" name="表格 10">
                <a:extLst>
                  <a:ext uri="{FF2B5EF4-FFF2-40B4-BE49-F238E27FC236}">
                    <a16:creationId xmlns:a16="http://schemas.microsoft.com/office/drawing/2014/main" id="{516463CD-E727-4FCA-B274-E916069497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518408"/>
                  </p:ext>
                </p:extLst>
              </p:nvPr>
            </p:nvGraphicFramePr>
            <p:xfrm>
              <a:off x="6938572" y="4807554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0.5415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8" name="表格 10">
                <a:extLst>
                  <a:ext uri="{FF2B5EF4-FFF2-40B4-BE49-F238E27FC236}">
                    <a16:creationId xmlns:a16="http://schemas.microsoft.com/office/drawing/2014/main" id="{516463CD-E727-4FCA-B274-E916069497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518408"/>
                  </p:ext>
                </p:extLst>
              </p:nvPr>
            </p:nvGraphicFramePr>
            <p:xfrm>
              <a:off x="6938572" y="4807554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97" t="-56911" r="-100297" b="-37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0.5415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EB4E5FA-E293-450D-A5A2-3F881C96C059}"/>
                  </a:ext>
                </a:extLst>
              </p:cNvPr>
              <p:cNvSpPr txBox="1"/>
              <p:nvPr/>
            </p:nvSpPr>
            <p:spPr>
              <a:xfrm>
                <a:off x="414866" y="4351960"/>
                <a:ext cx="3666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Histogram resolution 0.02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EB4E5FA-E293-450D-A5A2-3F881C96C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66" y="4351960"/>
                <a:ext cx="3666067" cy="369332"/>
              </a:xfrm>
              <a:prstGeom prst="rect">
                <a:avLst/>
              </a:prstGeom>
              <a:blipFill>
                <a:blip r:embed="rId4"/>
                <a:stretch>
                  <a:fillRect l="-998" t="-118333" r="-9983" b="-1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8581AAF8-F4DC-4C66-B3AE-ED2A78125E4E}"/>
              </a:ext>
            </a:extLst>
          </p:cNvPr>
          <p:cNvSpPr txBox="1"/>
          <p:nvPr/>
        </p:nvSpPr>
        <p:spPr>
          <a:xfrm>
            <a:off x="6592957" y="4235076"/>
            <a:ext cx="3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Histogram resolution 0.01</a:t>
            </a:r>
            <a:endParaRPr lang="zh-TW" altLang="en-US" dirty="0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CFE17E33-E410-4457-B435-28A6EF8BA689}"/>
              </a:ext>
            </a:extLst>
          </p:cNvPr>
          <p:cNvGrpSpPr/>
          <p:nvPr/>
        </p:nvGrpSpPr>
        <p:grpSpPr>
          <a:xfrm>
            <a:off x="1154227" y="1405467"/>
            <a:ext cx="3467837" cy="2862096"/>
            <a:chOff x="342939" y="987133"/>
            <a:chExt cx="4279126" cy="3280430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F1BDCF8D-6900-428D-89CC-3361AF8B5E32}"/>
                </a:ext>
              </a:extLst>
            </p:cNvPr>
            <p:cNvGrpSpPr/>
            <p:nvPr/>
          </p:nvGrpSpPr>
          <p:grpSpPr>
            <a:xfrm>
              <a:off x="414866" y="987133"/>
              <a:ext cx="4207199" cy="3005036"/>
              <a:chOff x="414866" y="987133"/>
              <a:chExt cx="4207199" cy="3005036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7B65ABBD-387D-4D1A-A416-11DE511D94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7" b="6732"/>
              <a:stretch/>
            </p:blipFill>
            <p:spPr>
              <a:xfrm>
                <a:off x="522865" y="987133"/>
                <a:ext cx="4099200" cy="3005036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3A836854-4F2E-4809-BCEF-DE3E5073B65A}"/>
                  </a:ext>
                </a:extLst>
              </p:cNvPr>
              <p:cNvSpPr/>
              <p:nvPr/>
            </p:nvSpPr>
            <p:spPr>
              <a:xfrm>
                <a:off x="414866" y="1745382"/>
                <a:ext cx="205072" cy="127721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D13BF55-125F-4757-9433-064CD934A6C7}"/>
                    </a:ext>
                  </a:extLst>
                </p:cNvPr>
                <p:cNvSpPr txBox="1"/>
                <p:nvPr/>
              </p:nvSpPr>
              <p:spPr>
                <a:xfrm>
                  <a:off x="1532315" y="3898231"/>
                  <a:ext cx="27646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Capacity measure 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𝑚𝑇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5D13BF55-125F-4757-9433-064CD934A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2315" y="3898231"/>
                  <a:ext cx="276461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762" t="-116393" r="-11013" b="-1754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EFF696D2-0F50-41B1-B300-ECF71941DCDE}"/>
                    </a:ext>
                  </a:extLst>
                </p:cNvPr>
                <p:cNvSpPr txBox="1"/>
                <p:nvPr/>
              </p:nvSpPr>
              <p:spPr>
                <a:xfrm rot="16200000">
                  <a:off x="-535026" y="2219817"/>
                  <a:ext cx="20329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EFF696D2-0F50-41B1-B300-ECF71941DC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535026" y="2219817"/>
                  <a:ext cx="203292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0435" t="-2096" r="-47826" b="-68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75EEDD83-FD02-40A4-9F65-6DE43C195BDB}"/>
              </a:ext>
            </a:extLst>
          </p:cNvPr>
          <p:cNvGrpSpPr/>
          <p:nvPr/>
        </p:nvGrpSpPr>
        <p:grpSpPr>
          <a:xfrm>
            <a:off x="6267790" y="1405467"/>
            <a:ext cx="3858549" cy="2873865"/>
            <a:chOff x="6741400" y="1037934"/>
            <a:chExt cx="4251237" cy="3246906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9F781AB3-B6F7-4F38-B925-5E8B4278662C}"/>
                </a:ext>
              </a:extLst>
            </p:cNvPr>
            <p:cNvGrpSpPr/>
            <p:nvPr/>
          </p:nvGrpSpPr>
          <p:grpSpPr>
            <a:xfrm>
              <a:off x="6811511" y="1037934"/>
              <a:ext cx="4181126" cy="2953698"/>
              <a:chOff x="6811511" y="1037934"/>
              <a:chExt cx="4181126" cy="2953698"/>
            </a:xfrm>
          </p:grpSpPr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B8C20DD-1FB8-4EAC-B5AF-2870F1ADE5C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03" b="5235"/>
              <a:stretch/>
            </p:blipFill>
            <p:spPr>
              <a:xfrm>
                <a:off x="7003760" y="1037934"/>
                <a:ext cx="3988877" cy="2953698"/>
              </a:xfrm>
              <a:prstGeom prst="rect">
                <a:avLst/>
              </a:prstGeom>
            </p:spPr>
          </p:pic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5E5E4B91-D954-41CF-B18E-3F69D2E04212}"/>
                  </a:ext>
                </a:extLst>
              </p:cNvPr>
              <p:cNvSpPr/>
              <p:nvPr/>
            </p:nvSpPr>
            <p:spPr>
              <a:xfrm>
                <a:off x="6811511" y="1878454"/>
                <a:ext cx="207242" cy="13558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B3CDB607-7685-4CAB-A409-77ADDD5E9011}"/>
                </a:ext>
              </a:extLst>
            </p:cNvPr>
            <p:cNvSpPr txBox="1"/>
            <p:nvPr/>
          </p:nvSpPr>
          <p:spPr>
            <a:xfrm>
              <a:off x="8701554" y="3867567"/>
              <a:ext cx="1210949" cy="41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Isotropy</a:t>
              </a:r>
              <a:endParaRPr lang="zh-TW" alt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86643611-B714-487F-AC6E-4928E4A4FA1C}"/>
                    </a:ext>
                  </a:extLst>
                </p:cNvPr>
                <p:cNvSpPr txBox="1"/>
                <p:nvPr/>
              </p:nvSpPr>
              <p:spPr>
                <a:xfrm rot="16200000">
                  <a:off x="5863435" y="2123364"/>
                  <a:ext cx="20329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86643611-B714-487F-AC6E-4928E4A4FA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863435" y="2123364"/>
                  <a:ext cx="203292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111" t="-2096" r="-48889" b="-68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9023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88031"/>
            <a:ext cx="12192000" cy="193506"/>
          </a:xfrm>
        </p:spPr>
        <p:txBody>
          <a:bodyPr>
            <a:normAutofit fontScale="90000"/>
          </a:bodyPr>
          <a:lstStyle/>
          <a:p>
            <a:r>
              <a:rPr lang="en-US" altLang="zh-TW" sz="36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Quantitative Assessment of Multi-Pole Actuators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CAF6AD-8DD4-4627-A1FD-CEEA914062EB}"/>
              </a:ext>
            </a:extLst>
          </p:cNvPr>
          <p:cNvSpPr/>
          <p:nvPr/>
        </p:nvSpPr>
        <p:spPr>
          <a:xfrm>
            <a:off x="9428540" y="5341459"/>
            <a:ext cx="279400" cy="397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B2FC3B6-34F2-47A5-A4AF-A882448CE798}"/>
              </a:ext>
            </a:extLst>
          </p:cNvPr>
          <p:cNvSpPr/>
          <p:nvPr/>
        </p:nvSpPr>
        <p:spPr>
          <a:xfrm>
            <a:off x="11647706" y="2231996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66288C7-F5CB-48E4-8D76-163CDF4E1521}"/>
              </a:ext>
            </a:extLst>
          </p:cNvPr>
          <p:cNvSpPr/>
          <p:nvPr/>
        </p:nvSpPr>
        <p:spPr>
          <a:xfrm>
            <a:off x="11485470" y="5360209"/>
            <a:ext cx="188693" cy="248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C1E112-AE50-46DC-8251-D6D5E0450AA8}"/>
              </a:ext>
            </a:extLst>
          </p:cNvPr>
          <p:cNvSpPr/>
          <p:nvPr/>
        </p:nvSpPr>
        <p:spPr>
          <a:xfrm>
            <a:off x="8927424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7AC5CB5-ED89-4E3E-AD62-78E3BA5A407F}"/>
              </a:ext>
            </a:extLst>
          </p:cNvPr>
          <p:cNvSpPr/>
          <p:nvPr/>
        </p:nvSpPr>
        <p:spPr>
          <a:xfrm>
            <a:off x="6279842" y="70321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FCDEC8-6D9E-4F90-9164-5AFC45503F9D}"/>
              </a:ext>
            </a:extLst>
          </p:cNvPr>
          <p:cNvSpPr/>
          <p:nvPr/>
        </p:nvSpPr>
        <p:spPr>
          <a:xfrm>
            <a:off x="5541053" y="1762316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2375863-2208-49BC-A294-DC35BC7C0E6F}"/>
              </a:ext>
            </a:extLst>
          </p:cNvPr>
          <p:cNvSpPr/>
          <p:nvPr/>
        </p:nvSpPr>
        <p:spPr>
          <a:xfrm>
            <a:off x="6592957" y="2469682"/>
            <a:ext cx="218554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EC54F1-2642-426E-80DB-775A61DDF044}"/>
              </a:ext>
            </a:extLst>
          </p:cNvPr>
          <p:cNvSpPr/>
          <p:nvPr/>
        </p:nvSpPr>
        <p:spPr>
          <a:xfrm>
            <a:off x="10930467" y="1596950"/>
            <a:ext cx="107305" cy="232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D872CA14-590B-4B25-8D56-51869107EFD2}"/>
              </a:ext>
            </a:extLst>
          </p:cNvPr>
          <p:cNvGrpSpPr/>
          <p:nvPr/>
        </p:nvGrpSpPr>
        <p:grpSpPr>
          <a:xfrm>
            <a:off x="6875133" y="3508868"/>
            <a:ext cx="3168560" cy="2172283"/>
            <a:chOff x="6867344" y="3740617"/>
            <a:chExt cx="3168560" cy="2172283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B096E37E-8AC9-44B3-8AC0-85DBA5186884}"/>
                </a:ext>
              </a:extLst>
            </p:cNvPr>
            <p:cNvSpPr/>
            <p:nvPr/>
          </p:nvSpPr>
          <p:spPr>
            <a:xfrm>
              <a:off x="8832312" y="4530195"/>
              <a:ext cx="218554" cy="23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78A5635-6392-4A3A-8FB5-9101D27D904D}"/>
                </a:ext>
              </a:extLst>
            </p:cNvPr>
            <p:cNvSpPr/>
            <p:nvPr/>
          </p:nvSpPr>
          <p:spPr>
            <a:xfrm>
              <a:off x="7680057" y="3740617"/>
              <a:ext cx="218554" cy="23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9E623D93-181D-445B-A97C-8949FD369C96}"/>
                </a:ext>
              </a:extLst>
            </p:cNvPr>
            <p:cNvSpPr/>
            <p:nvPr/>
          </p:nvSpPr>
          <p:spPr>
            <a:xfrm>
              <a:off x="6867344" y="4901407"/>
              <a:ext cx="218554" cy="23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91D2EE2-3DA4-43C1-834D-6A683319D87B}"/>
                </a:ext>
              </a:extLst>
            </p:cNvPr>
            <p:cNvSpPr/>
            <p:nvPr/>
          </p:nvSpPr>
          <p:spPr>
            <a:xfrm>
              <a:off x="8022867" y="5680623"/>
              <a:ext cx="279399" cy="23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2E44167-7C8B-4193-8CDE-E0AF63648A86}"/>
                </a:ext>
              </a:extLst>
            </p:cNvPr>
            <p:cNvSpPr/>
            <p:nvPr/>
          </p:nvSpPr>
          <p:spPr>
            <a:xfrm>
              <a:off x="9817350" y="4701989"/>
              <a:ext cx="218554" cy="2322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339F7727-7052-4D90-B6A9-2AED4DBC48EF}"/>
              </a:ext>
            </a:extLst>
          </p:cNvPr>
          <p:cNvSpPr/>
          <p:nvPr/>
        </p:nvSpPr>
        <p:spPr>
          <a:xfrm>
            <a:off x="9556542" y="4654243"/>
            <a:ext cx="218554" cy="2218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B84E969-29EF-4675-811E-DF8EC32587D4}"/>
              </a:ext>
            </a:extLst>
          </p:cNvPr>
          <p:cNvSpPr txBox="1"/>
          <p:nvPr/>
        </p:nvSpPr>
        <p:spPr>
          <a:xfrm>
            <a:off x="84666" y="417046"/>
            <a:ext cx="358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 err="1"/>
              <a:t>DesignB</a:t>
            </a:r>
            <a:r>
              <a:rPr lang="en-US" altLang="zh-TW" dirty="0"/>
              <a:t>(Have gap)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F797EB8F-A71D-4897-9761-D3A5949DA8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3036121"/>
                  </p:ext>
                </p:extLst>
              </p:nvPr>
            </p:nvGraphicFramePr>
            <p:xfrm>
              <a:off x="889052" y="5577224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23.9991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6" name="表格 10">
                <a:extLst>
                  <a:ext uri="{FF2B5EF4-FFF2-40B4-BE49-F238E27FC236}">
                    <a16:creationId xmlns:a16="http://schemas.microsoft.com/office/drawing/2014/main" id="{F797EB8F-A71D-4897-9761-D3A5949DA8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3036121"/>
                  </p:ext>
                </p:extLst>
              </p:nvPr>
            </p:nvGraphicFramePr>
            <p:xfrm>
              <a:off x="889052" y="5577224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97" t="-56911" r="-100593" b="-37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23.9991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表格 10">
                <a:extLst>
                  <a:ext uri="{FF2B5EF4-FFF2-40B4-BE49-F238E27FC236}">
                    <a16:creationId xmlns:a16="http://schemas.microsoft.com/office/drawing/2014/main" id="{FFB3869E-8C17-4929-B1BA-4E52D244B1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3703553"/>
                  </p:ext>
                </p:extLst>
              </p:nvPr>
            </p:nvGraphicFramePr>
            <p:xfrm>
              <a:off x="7118533" y="5533938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dirty="0"/>
                            <a:t>Mean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oMath>
                          </a14:m>
                          <a:endParaRPr lang="zh-TW" altLang="en-US" dirty="0"/>
                        </a:p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0.4820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表格 10">
                <a:extLst>
                  <a:ext uri="{FF2B5EF4-FFF2-40B4-BE49-F238E27FC236}">
                    <a16:creationId xmlns:a16="http://schemas.microsoft.com/office/drawing/2014/main" id="{FFB3869E-8C17-4929-B1BA-4E52D244B17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3703553"/>
                  </p:ext>
                </p:extLst>
              </p:nvPr>
            </p:nvGraphicFramePr>
            <p:xfrm>
              <a:off x="7118533" y="5533938"/>
              <a:ext cx="40992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049600">
                      <a:extLst>
                        <a:ext uri="{9D8B030D-6E8A-4147-A177-3AD203B41FA5}">
                          <a16:colId xmlns:a16="http://schemas.microsoft.com/office/drawing/2014/main" val="62779187"/>
                        </a:ext>
                      </a:extLst>
                    </a:gridCol>
                    <a:gridCol w="2049600">
                      <a:extLst>
                        <a:ext uri="{9D8B030D-6E8A-4147-A177-3AD203B41FA5}">
                          <a16:colId xmlns:a16="http://schemas.microsoft.com/office/drawing/2014/main" val="3507019064"/>
                        </a:ext>
                      </a:extLst>
                    </a:gridCol>
                  </a:tblGrid>
                  <a:tr h="7416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97" t="-56911" r="-100593" b="-37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/>
                            <a:t> </a:t>
                          </a:r>
                          <a:r>
                            <a:rPr lang="en-US" altLang="zh-TW" dirty="0"/>
                            <a:t>0.4820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82084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60EBDD2-5B74-462E-8E0E-F2ECE9D3A05B}"/>
                  </a:ext>
                </a:extLst>
              </p:cNvPr>
              <p:cNvSpPr txBox="1"/>
              <p:nvPr/>
            </p:nvSpPr>
            <p:spPr>
              <a:xfrm>
                <a:off x="340204" y="5017307"/>
                <a:ext cx="3666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Histogram resolution 0.02</a:t>
                </a:r>
                <a:r>
                  <a:rPr lang="en-US" altLang="zh-TW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D60EBDD2-5B74-462E-8E0E-F2ECE9D3A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04" y="5017307"/>
                <a:ext cx="3666067" cy="369332"/>
              </a:xfrm>
              <a:prstGeom prst="rect">
                <a:avLst/>
              </a:prstGeom>
              <a:blipFill>
                <a:blip r:embed="rId4"/>
                <a:stretch>
                  <a:fillRect l="-1165" t="-116393" r="-9817" b="-175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261FE83D-6D2A-4D40-9A0E-09B920B4F7F8}"/>
              </a:ext>
            </a:extLst>
          </p:cNvPr>
          <p:cNvSpPr txBox="1"/>
          <p:nvPr/>
        </p:nvSpPr>
        <p:spPr>
          <a:xfrm>
            <a:off x="6836357" y="4991021"/>
            <a:ext cx="366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Histogram resolution 0.01</a:t>
            </a:r>
            <a:endParaRPr lang="zh-TW" alt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2FB2F4E-1680-4D4F-8108-394F1154DF2B}"/>
              </a:ext>
            </a:extLst>
          </p:cNvPr>
          <p:cNvGrpSpPr/>
          <p:nvPr/>
        </p:nvGrpSpPr>
        <p:grpSpPr>
          <a:xfrm>
            <a:off x="690649" y="1057204"/>
            <a:ext cx="4693830" cy="3518886"/>
            <a:chOff x="690649" y="1057204"/>
            <a:chExt cx="4693830" cy="3518886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64497DD2-FBBF-4434-AD05-5D905DEC80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3" b="7110"/>
            <a:stretch/>
          </p:blipFill>
          <p:spPr>
            <a:xfrm>
              <a:off x="1007414" y="1057204"/>
              <a:ext cx="4377065" cy="324124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B2F4D639-8E98-4407-8AA5-46A6896CB4A5}"/>
                    </a:ext>
                  </a:extLst>
                </p:cNvPr>
                <p:cNvSpPr txBox="1"/>
                <p:nvPr/>
              </p:nvSpPr>
              <p:spPr>
                <a:xfrm>
                  <a:off x="2092159" y="4206758"/>
                  <a:ext cx="27646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Capacity measure 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𝑚𝑇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B2F4D639-8E98-4407-8AA5-46A6896CB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2159" y="4206758"/>
                  <a:ext cx="276461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762" t="-116393" r="-11013" b="-1754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6586E14E-1621-47F5-B11E-7A5D2BBF29C3}"/>
                    </a:ext>
                  </a:extLst>
                </p:cNvPr>
                <p:cNvSpPr txBox="1"/>
                <p:nvPr/>
              </p:nvSpPr>
              <p:spPr>
                <a:xfrm rot="16200000">
                  <a:off x="-187316" y="2300685"/>
                  <a:ext cx="20329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6586E14E-1621-47F5-B11E-7A5D2BBF2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187316" y="2300685"/>
                  <a:ext cx="203292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0435" t="-2096" r="-47826" b="-68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F7D22ADF-EE39-4FDB-8322-005B0CF29DB8}"/>
              </a:ext>
            </a:extLst>
          </p:cNvPr>
          <p:cNvGrpSpPr/>
          <p:nvPr/>
        </p:nvGrpSpPr>
        <p:grpSpPr>
          <a:xfrm>
            <a:off x="6820156" y="1105768"/>
            <a:ext cx="4471019" cy="3396263"/>
            <a:chOff x="6820156" y="1105768"/>
            <a:chExt cx="4471019" cy="3396263"/>
          </a:xfrm>
        </p:grpSpPr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323F0FB-1DB6-4E2E-AE2E-F01C67F75E3F}"/>
                </a:ext>
              </a:extLst>
            </p:cNvPr>
            <p:cNvSpPr txBox="1"/>
            <p:nvPr/>
          </p:nvSpPr>
          <p:spPr>
            <a:xfrm>
              <a:off x="8869877" y="4132699"/>
              <a:ext cx="10273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Isotropy</a:t>
              </a:r>
              <a:endParaRPr lang="zh-TW" altLang="en-US" sz="2400" dirty="0"/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C83FE075-38AA-4632-8D24-9893A51AB824}"/>
                </a:ext>
              </a:extLst>
            </p:cNvPr>
            <p:cNvGrpSpPr/>
            <p:nvPr/>
          </p:nvGrpSpPr>
          <p:grpSpPr>
            <a:xfrm>
              <a:off x="6946834" y="1105768"/>
              <a:ext cx="4344341" cy="3124804"/>
              <a:chOff x="6946834" y="1105768"/>
              <a:chExt cx="4344341" cy="3124804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C1D66C63-D6EB-484E-B1CA-86927D8F49C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102" b="4827"/>
              <a:stretch/>
            </p:blipFill>
            <p:spPr>
              <a:xfrm>
                <a:off x="7093687" y="1105768"/>
                <a:ext cx="4197488" cy="3124804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FC2D7A0-716D-417D-A417-FEFD76233128}"/>
                  </a:ext>
                </a:extLst>
              </p:cNvPr>
              <p:cNvSpPr/>
              <p:nvPr/>
            </p:nvSpPr>
            <p:spPr>
              <a:xfrm>
                <a:off x="6946834" y="2004408"/>
                <a:ext cx="155320" cy="9927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55212161-D441-427C-94C0-C03554C1419F}"/>
                    </a:ext>
                  </a:extLst>
                </p:cNvPr>
                <p:cNvSpPr txBox="1"/>
                <p:nvPr/>
              </p:nvSpPr>
              <p:spPr>
                <a:xfrm rot="16200000">
                  <a:off x="5942191" y="2256556"/>
                  <a:ext cx="20329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zh-TW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</a:t>
                  </a:r>
                  <a14:m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55212161-D441-427C-94C0-C03554C141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942191" y="2256556"/>
                  <a:ext cx="203292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31111" t="-2096" r="-48889" b="-688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95677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6117A0-A94B-49AB-92D6-B22FD0AF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5727"/>
            <a:ext cx="12081933" cy="837142"/>
          </a:xfrm>
        </p:spPr>
        <p:txBody>
          <a:bodyPr>
            <a:normAutofit fontScale="90000"/>
          </a:bodyPr>
          <a:lstStyle/>
          <a:p>
            <a:r>
              <a:rPr lang="en-US" altLang="zh-TW" sz="4000" b="1" kern="100" dirty="0">
                <a:solidFill>
                  <a:srgbClr val="000000"/>
                </a:solidFill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Reference</a:t>
            </a:r>
            <a:br>
              <a:rPr lang="zh-TW" altLang="zh-TW" sz="1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26DE7A-F9C6-47BF-9503-E4D79EF03BB4}"/>
              </a:ext>
            </a:extLst>
          </p:cNvPr>
          <p:cNvSpPr/>
          <p:nvPr/>
        </p:nvSpPr>
        <p:spPr>
          <a:xfrm rot="21166399">
            <a:off x="8390467" y="5858933"/>
            <a:ext cx="1877540" cy="33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/>
              <p:nvPr/>
            </p:nvSpPr>
            <p:spPr>
              <a:xfrm>
                <a:off x="110067" y="552085"/>
                <a:ext cx="11763465" cy="383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𝑊𝑜𝑟𝑘𝑠𝑝𝑎𝑐𝑒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527AD032-2BCD-42FA-94F3-08857DF7A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552085"/>
                <a:ext cx="11763465" cy="383567"/>
              </a:xfrm>
              <a:prstGeom prst="rect">
                <a:avLst/>
              </a:prstGeom>
              <a:blipFill>
                <a:blip r:embed="rId2"/>
                <a:stretch>
                  <a:fillRect l="-311" t="-1613" b="-209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/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𝐹𝑙𝑢𝑥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𝑑𝑖𝑠𝑡𝑟𝑖𝑏𝑢𝑡𝑖𝑜𝑛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𝑚𝑎𝑡𝑟𝑖𝑥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DEABB3D-9062-4DA4-A120-2766352A3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103976"/>
                <a:ext cx="4258733" cy="369332"/>
              </a:xfrm>
              <a:prstGeom prst="rect">
                <a:avLst/>
              </a:prstGeom>
              <a:blipFill>
                <a:blip r:embed="rId3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23A256-C166-4717-91CD-2EEEBEC6306E}"/>
                  </a:ext>
                </a:extLst>
              </p:cNvPr>
              <p:cNvSpPr txBox="1"/>
              <p:nvPr/>
            </p:nvSpPr>
            <p:spPr>
              <a:xfrm>
                <a:off x="110067" y="1641632"/>
                <a:ext cx="4258733" cy="39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𝐶𝑢𝑟𝑟𝑒𝑛𝑡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𝑔𝑎𝑖𝑛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423A256-C166-4717-91CD-2EEEBEC63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7" y="1641632"/>
                <a:ext cx="4258733" cy="397673"/>
              </a:xfrm>
              <a:prstGeom prst="rect">
                <a:avLst/>
              </a:prstGeom>
              <a:blipFill>
                <a:blip r:embed="rId4"/>
                <a:stretch>
                  <a:fillRect l="-858" b="-151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94BBAD5-0B9C-40E7-A139-CD14DD1A069D}"/>
                  </a:ext>
                </a:extLst>
              </p:cNvPr>
              <p:cNvSpPr txBox="1"/>
              <p:nvPr/>
            </p:nvSpPr>
            <p:spPr>
              <a:xfrm>
                <a:off x="110065" y="2855412"/>
                <a:ext cx="8585202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𝑃𝑟𝑒𝑑𝑖𝑐𝑡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/>
                  <a:t>,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594BBAD5-0B9C-40E7-A139-CD14DD1A0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5" y="2855412"/>
                <a:ext cx="8585202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/>
              <p:nvPr/>
            </p:nvSpPr>
            <p:spPr>
              <a:xfrm>
                <a:off x="110066" y="2289415"/>
                <a:ext cx="4258733" cy="39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𝑉𝑜𝑙𝑡𝑎𝑔𝑒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𝑔𝑎𝑖𝑛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2777E16-0C9E-41F4-89C8-D87B57A3B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6" y="2289415"/>
                <a:ext cx="4258733" cy="397673"/>
              </a:xfrm>
              <a:prstGeom prst="rect">
                <a:avLst/>
              </a:prstGeom>
              <a:blipFill>
                <a:blip r:embed="rId7"/>
                <a:stretch>
                  <a:fillRect l="-858" b="-169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83D49E-FBA0-44F1-BA58-A7ED9A0C3CBA}"/>
                  </a:ext>
                </a:extLst>
              </p:cNvPr>
              <p:cNvSpPr txBox="1"/>
              <p:nvPr/>
            </p:nvSpPr>
            <p:spPr>
              <a:xfrm>
                <a:off x="110062" y="4250299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𝐼𝑠𝑜𝑡𝑟𝑜𝑝𝑦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𝜅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83D49E-FBA0-44F1-BA58-A7ED9A0C3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2" y="4250299"/>
                <a:ext cx="4258733" cy="369332"/>
              </a:xfrm>
              <a:prstGeom prst="rect">
                <a:avLst/>
              </a:prstGeom>
              <a:blipFill>
                <a:blip r:embed="rId8"/>
                <a:stretch>
                  <a:fillRect l="-858" t="-3279" b="-180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97BA21-92F0-4A4F-926E-5D3A151931D0}"/>
                  </a:ext>
                </a:extLst>
              </p:cNvPr>
              <p:cNvSpPr txBox="1"/>
              <p:nvPr/>
            </p:nvSpPr>
            <p:spPr>
              <a:xfrm>
                <a:off x="110062" y="3598807"/>
                <a:ext cx="4258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𝑎𝑝𝑎𝑐𝑖𝑡𝑦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𝑚𝑒𝑎𝑠𝑢𝑟𝑒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97BA21-92F0-4A4F-926E-5D3A15193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2" y="3598807"/>
                <a:ext cx="4258733" cy="369332"/>
              </a:xfrm>
              <a:prstGeom prst="rect">
                <a:avLst/>
              </a:prstGeom>
              <a:blipFill>
                <a:blip r:embed="rId9"/>
                <a:stretch>
                  <a:fillRect l="-858" t="-116393" b="-175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6FC7C5-863F-44FE-B7F6-035F92FE2774}"/>
                  </a:ext>
                </a:extLst>
              </p:cNvPr>
              <p:cNvSpPr txBox="1"/>
              <p:nvPr/>
            </p:nvSpPr>
            <p:spPr>
              <a:xfrm>
                <a:off x="110061" y="5527641"/>
                <a:ext cx="4258733" cy="621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𝐴𝑣𝑒𝑟𝑎𝑔𝑒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𝑓𝑖𝑒𝑙𝑑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nary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6×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AF6FC7C5-863F-44FE-B7F6-035F92FE2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1" y="5527641"/>
                <a:ext cx="4258733" cy="62170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DE89842-7151-467A-86A6-2337273E03CC}"/>
                  </a:ext>
                </a:extLst>
              </p:cNvPr>
              <p:cNvSpPr txBox="1"/>
              <p:nvPr/>
            </p:nvSpPr>
            <p:spPr>
              <a:xfrm>
                <a:off x="110061" y="4760826"/>
                <a:ext cx="4258733" cy="665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𝐹𝑟𝑜𝑏𝑒𝑛𝑖𝑢𝑠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𝑎𝑙𝑙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𝑔𝑟𝑖𝑑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𝐼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𝑎𝑙𝑙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_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𝑔𝑟𝑖𝑑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DE89842-7151-467A-86A6-2337273E0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1" y="4760826"/>
                <a:ext cx="4258733" cy="665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403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31342</TotalTime>
  <Words>826</Words>
  <Application>Microsoft Office PowerPoint</Application>
  <PresentationFormat>寬螢幕</PresentationFormat>
  <Paragraphs>112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 Math</vt:lpstr>
      <vt:lpstr>Times</vt:lpstr>
      <vt:lpstr>Times New Roman</vt:lpstr>
      <vt:lpstr>Wingdings</vt:lpstr>
      <vt:lpstr>Office 佈景主題</vt:lpstr>
      <vt:lpstr>A Lumped-Parameter Modeling, Calibration, and Capacity-Measure Framework for Flux Generation in Symmetric Multipole Electromagnetic Actuators </vt:lpstr>
      <vt:lpstr>Current-based lumped-parameter modeling and calibration </vt:lpstr>
      <vt:lpstr>Current-based lumped-parameter modeling and calibration </vt:lpstr>
      <vt:lpstr>Current-based lumped-parameter modeling and calibration </vt:lpstr>
      <vt:lpstr>Quantitative Assessment of Multi-Pole Actuators  </vt:lpstr>
      <vt:lpstr>Quantitative Assessment of Multi-Pole Actuators  </vt:lpstr>
      <vt:lpstr>Quantitative Assessment of Multi-Pole Actuators  </vt:lpstr>
      <vt:lpstr>Quantitative Assessment of Multi-Pole Actuators  </vt:lpstr>
      <vt:lpstr>Reference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Lumped-Parameter Modeling, Calibration, and Capacity-Measure Framework for Flux Generation in Symmetric Multipole Electromagnetic Actuators</dc:title>
  <dc:creator>郭建棋</dc:creator>
  <cp:lastModifiedBy>郭建棋</cp:lastModifiedBy>
  <cp:revision>507</cp:revision>
  <dcterms:created xsi:type="dcterms:W3CDTF">2026-07-23T11:39:15Z</dcterms:created>
  <dcterms:modified xsi:type="dcterms:W3CDTF">2026-09-02T03:30:25Z</dcterms:modified>
</cp:coreProperties>
</file>