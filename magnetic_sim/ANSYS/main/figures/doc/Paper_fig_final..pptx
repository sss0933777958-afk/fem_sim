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20" r:id="rId3"/>
    <p:sldId id="333" r:id="rId4"/>
    <p:sldId id="287" r:id="rId5"/>
    <p:sldId id="285" r:id="rId6"/>
    <p:sldId id="269" r:id="rId7"/>
    <p:sldId id="290" r:id="rId8"/>
    <p:sldId id="272" r:id="rId9"/>
    <p:sldId id="291" r:id="rId10"/>
    <p:sldId id="273" r:id="rId11"/>
    <p:sldId id="293" r:id="rId12"/>
    <p:sldId id="294" r:id="rId13"/>
    <p:sldId id="296" r:id="rId14"/>
    <p:sldId id="300" r:id="rId15"/>
    <p:sldId id="301" r:id="rId16"/>
    <p:sldId id="302" r:id="rId17"/>
    <p:sldId id="334" r:id="rId18"/>
    <p:sldId id="292" r:id="rId19"/>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68" autoAdjust="0"/>
    <p:restoredTop sz="94660"/>
  </p:normalViewPr>
  <p:slideViewPr>
    <p:cSldViewPr snapToGrid="0">
      <p:cViewPr varScale="1">
        <p:scale>
          <a:sx n="113" d="100"/>
          <a:sy n="113" d="100"/>
        </p:scale>
        <p:origin x="54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A313B5C-4451-4F85-8E22-4F6D30112120}"/>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438C9657-D53F-4E4F-9171-BAB7C00D96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ECB1CB1F-3023-4059-8D9C-CF5C75B6AF97}"/>
              </a:ext>
            </a:extLst>
          </p:cNvPr>
          <p:cNvSpPr>
            <a:spLocks noGrp="1"/>
          </p:cNvSpPr>
          <p:nvPr>
            <p:ph type="dt" sz="half" idx="10"/>
          </p:nvPr>
        </p:nvSpPr>
        <p:spPr/>
        <p:txBody>
          <a:bodyPr/>
          <a:lstStyle/>
          <a:p>
            <a:fld id="{16D42070-5DAD-4E7E-A6F8-25E560BC7BBC}" type="datetimeFigureOut">
              <a:rPr lang="zh-TW" altLang="en-US" smtClean="0"/>
              <a:t>2026/10/5</a:t>
            </a:fld>
            <a:endParaRPr lang="zh-TW" altLang="en-US"/>
          </a:p>
        </p:txBody>
      </p:sp>
      <p:sp>
        <p:nvSpPr>
          <p:cNvPr id="5" name="頁尾版面配置區 4">
            <a:extLst>
              <a:ext uri="{FF2B5EF4-FFF2-40B4-BE49-F238E27FC236}">
                <a16:creationId xmlns:a16="http://schemas.microsoft.com/office/drawing/2014/main" id="{88FDADB6-4903-41BB-BC87-020BA3FBD9C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EFCEFEA-DE84-42FC-BE56-10A71321A99D}"/>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3304708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98524EB-4587-44AF-A65F-8CBAAF65D91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5A2C5D94-2521-44B1-AF19-188FFBBD19CB}"/>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5882776-4508-4BB4-B95B-94CABBBA1DAA}"/>
              </a:ext>
            </a:extLst>
          </p:cNvPr>
          <p:cNvSpPr>
            <a:spLocks noGrp="1"/>
          </p:cNvSpPr>
          <p:nvPr>
            <p:ph type="dt" sz="half" idx="10"/>
          </p:nvPr>
        </p:nvSpPr>
        <p:spPr/>
        <p:txBody>
          <a:bodyPr/>
          <a:lstStyle/>
          <a:p>
            <a:fld id="{16D42070-5DAD-4E7E-A6F8-25E560BC7BBC}" type="datetimeFigureOut">
              <a:rPr lang="zh-TW" altLang="en-US" smtClean="0"/>
              <a:t>2026/10/5</a:t>
            </a:fld>
            <a:endParaRPr lang="zh-TW" altLang="en-US"/>
          </a:p>
        </p:txBody>
      </p:sp>
      <p:sp>
        <p:nvSpPr>
          <p:cNvPr id="5" name="頁尾版面配置區 4">
            <a:extLst>
              <a:ext uri="{FF2B5EF4-FFF2-40B4-BE49-F238E27FC236}">
                <a16:creationId xmlns:a16="http://schemas.microsoft.com/office/drawing/2014/main" id="{180C8587-132A-4FA1-AC7D-93EABEB0372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8ABA0DE-C7B2-4848-95AC-5A3E7CA5644D}"/>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29099172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2A3930A-494A-46F3-88CB-96081BB0DBF6}"/>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0478FD7A-7A96-43E2-8961-E0DB15C178D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7006FC20-C1D3-46B0-BF1E-03D546043D36}"/>
              </a:ext>
            </a:extLst>
          </p:cNvPr>
          <p:cNvSpPr>
            <a:spLocks noGrp="1"/>
          </p:cNvSpPr>
          <p:nvPr>
            <p:ph type="dt" sz="half" idx="10"/>
          </p:nvPr>
        </p:nvSpPr>
        <p:spPr/>
        <p:txBody>
          <a:bodyPr/>
          <a:lstStyle/>
          <a:p>
            <a:fld id="{16D42070-5DAD-4E7E-A6F8-25E560BC7BBC}" type="datetimeFigureOut">
              <a:rPr lang="zh-TW" altLang="en-US" smtClean="0"/>
              <a:t>2026/10/5</a:t>
            </a:fld>
            <a:endParaRPr lang="zh-TW" altLang="en-US"/>
          </a:p>
        </p:txBody>
      </p:sp>
      <p:sp>
        <p:nvSpPr>
          <p:cNvPr id="5" name="頁尾版面配置區 4">
            <a:extLst>
              <a:ext uri="{FF2B5EF4-FFF2-40B4-BE49-F238E27FC236}">
                <a16:creationId xmlns:a16="http://schemas.microsoft.com/office/drawing/2014/main" id="{C4F6D392-6F8A-4414-AA11-638326A9F37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E7B8EB7-22A4-447A-A525-998FA4AEC1F4}"/>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815723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732D765-AEAD-45D9-9508-FB7BE0E0289D}"/>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B12A380E-4D39-4CB1-A9B1-CAAAABD809C1}"/>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E4303AA3-878B-45F8-A4E8-92FA10CD26BC}"/>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E9C1F139-09FB-4A94-AA83-54F2B93E6A60}"/>
              </a:ext>
            </a:extLst>
          </p:cNvPr>
          <p:cNvSpPr>
            <a:spLocks noGrp="1"/>
          </p:cNvSpPr>
          <p:nvPr>
            <p:ph type="dt" sz="half" idx="10"/>
          </p:nvPr>
        </p:nvSpPr>
        <p:spPr/>
        <p:txBody>
          <a:bodyPr/>
          <a:lstStyle/>
          <a:p>
            <a:fld id="{16D42070-5DAD-4E7E-A6F8-25E560BC7BBC}" type="datetimeFigureOut">
              <a:rPr lang="zh-TW" altLang="en-US" smtClean="0"/>
              <a:t>2026/10/5</a:t>
            </a:fld>
            <a:endParaRPr lang="zh-TW" altLang="en-US"/>
          </a:p>
        </p:txBody>
      </p:sp>
      <p:sp>
        <p:nvSpPr>
          <p:cNvPr id="6" name="頁尾版面配置區 5">
            <a:extLst>
              <a:ext uri="{FF2B5EF4-FFF2-40B4-BE49-F238E27FC236}">
                <a16:creationId xmlns:a16="http://schemas.microsoft.com/office/drawing/2014/main" id="{D42CB685-F91E-4E52-9043-88820ECAF73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047ED7B-0BBB-48C6-8CBE-10F473361AD8}"/>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8634796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328D6F7-2A01-404A-8E60-308B5B2DF66A}"/>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F34BC229-0964-4EB2-A32F-3BE569B115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FBDD00DB-A2AC-4093-9580-16DB7A5856B6}"/>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D98E98D9-1B64-42E0-BF51-3948B6593D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91B0C13F-E177-4192-B9A6-DEC49612F692}"/>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64F99ADD-F054-4E54-9158-162DB547028A}"/>
              </a:ext>
            </a:extLst>
          </p:cNvPr>
          <p:cNvSpPr>
            <a:spLocks noGrp="1"/>
          </p:cNvSpPr>
          <p:nvPr>
            <p:ph type="dt" sz="half" idx="10"/>
          </p:nvPr>
        </p:nvSpPr>
        <p:spPr/>
        <p:txBody>
          <a:bodyPr/>
          <a:lstStyle/>
          <a:p>
            <a:fld id="{16D42070-5DAD-4E7E-A6F8-25E560BC7BBC}" type="datetimeFigureOut">
              <a:rPr lang="zh-TW" altLang="en-US" smtClean="0"/>
              <a:t>2026/10/5</a:t>
            </a:fld>
            <a:endParaRPr lang="zh-TW" altLang="en-US"/>
          </a:p>
        </p:txBody>
      </p:sp>
      <p:sp>
        <p:nvSpPr>
          <p:cNvPr id="8" name="頁尾版面配置區 7">
            <a:extLst>
              <a:ext uri="{FF2B5EF4-FFF2-40B4-BE49-F238E27FC236}">
                <a16:creationId xmlns:a16="http://schemas.microsoft.com/office/drawing/2014/main" id="{56242129-DAAA-4FB1-8D26-7248AD72CF9B}"/>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FFDDDDE1-FD8E-4032-A6CC-B2F72DA857B5}"/>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2857083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0A7E1C2-942A-47E2-9A00-0B52E276B5CF}"/>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1FEC29EA-2303-41C4-8179-5DF5AC137E66}"/>
              </a:ext>
            </a:extLst>
          </p:cNvPr>
          <p:cNvSpPr>
            <a:spLocks noGrp="1"/>
          </p:cNvSpPr>
          <p:nvPr>
            <p:ph type="dt" sz="half" idx="10"/>
          </p:nvPr>
        </p:nvSpPr>
        <p:spPr/>
        <p:txBody>
          <a:bodyPr/>
          <a:lstStyle/>
          <a:p>
            <a:fld id="{16D42070-5DAD-4E7E-A6F8-25E560BC7BBC}" type="datetimeFigureOut">
              <a:rPr lang="zh-TW" altLang="en-US" smtClean="0"/>
              <a:t>2026/10/5</a:t>
            </a:fld>
            <a:endParaRPr lang="zh-TW" altLang="en-US"/>
          </a:p>
        </p:txBody>
      </p:sp>
      <p:sp>
        <p:nvSpPr>
          <p:cNvPr id="4" name="頁尾版面配置區 3">
            <a:extLst>
              <a:ext uri="{FF2B5EF4-FFF2-40B4-BE49-F238E27FC236}">
                <a16:creationId xmlns:a16="http://schemas.microsoft.com/office/drawing/2014/main" id="{3A7E344C-546C-4B5B-948D-F248F196BFE4}"/>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BB0CE009-148B-41C4-9070-05067E45A9DE}"/>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2677846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D54434E9-DB57-4C91-A8E8-AA7E4DE1E42C}"/>
              </a:ext>
            </a:extLst>
          </p:cNvPr>
          <p:cNvSpPr>
            <a:spLocks noGrp="1"/>
          </p:cNvSpPr>
          <p:nvPr>
            <p:ph type="dt" sz="half" idx="10"/>
          </p:nvPr>
        </p:nvSpPr>
        <p:spPr/>
        <p:txBody>
          <a:bodyPr/>
          <a:lstStyle/>
          <a:p>
            <a:fld id="{16D42070-5DAD-4E7E-A6F8-25E560BC7BBC}" type="datetimeFigureOut">
              <a:rPr lang="zh-TW" altLang="en-US" smtClean="0"/>
              <a:t>2026/10/5</a:t>
            </a:fld>
            <a:endParaRPr lang="zh-TW" altLang="en-US"/>
          </a:p>
        </p:txBody>
      </p:sp>
      <p:sp>
        <p:nvSpPr>
          <p:cNvPr id="3" name="頁尾版面配置區 2">
            <a:extLst>
              <a:ext uri="{FF2B5EF4-FFF2-40B4-BE49-F238E27FC236}">
                <a16:creationId xmlns:a16="http://schemas.microsoft.com/office/drawing/2014/main" id="{43CBD5B2-A875-4997-957A-2CACB4E8187F}"/>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1DAE9AF9-98E2-49BC-890E-C4901C5C96D7}"/>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2984474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37F9702-2F89-4C07-A091-A864CF9277A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6B9A033B-67CA-4692-9F96-92929D8AB91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02A61FCE-0216-475F-8DCF-C058715F47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87370C5D-745A-4EAE-A151-2541003A35B9}"/>
              </a:ext>
            </a:extLst>
          </p:cNvPr>
          <p:cNvSpPr>
            <a:spLocks noGrp="1"/>
          </p:cNvSpPr>
          <p:nvPr>
            <p:ph type="dt" sz="half" idx="10"/>
          </p:nvPr>
        </p:nvSpPr>
        <p:spPr/>
        <p:txBody>
          <a:bodyPr/>
          <a:lstStyle/>
          <a:p>
            <a:fld id="{16D42070-5DAD-4E7E-A6F8-25E560BC7BBC}" type="datetimeFigureOut">
              <a:rPr lang="zh-TW" altLang="en-US" smtClean="0"/>
              <a:t>2026/10/5</a:t>
            </a:fld>
            <a:endParaRPr lang="zh-TW" altLang="en-US"/>
          </a:p>
        </p:txBody>
      </p:sp>
      <p:sp>
        <p:nvSpPr>
          <p:cNvPr id="6" name="頁尾版面配置區 5">
            <a:extLst>
              <a:ext uri="{FF2B5EF4-FFF2-40B4-BE49-F238E27FC236}">
                <a16:creationId xmlns:a16="http://schemas.microsoft.com/office/drawing/2014/main" id="{706460B0-32D4-4AFB-8A7E-846482505E3F}"/>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AD132A3-0D89-4417-A7DF-5A8A018E485A}"/>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517729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AC5306D-49B1-4801-B5D5-82BBCC509CA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E5F20369-2E94-4C2E-B0A1-93ADA101D8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CAC760FC-4E62-42A9-8056-6EE8249B71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05BD4D67-FBFA-40B4-9C57-519B88B3EC42}"/>
              </a:ext>
            </a:extLst>
          </p:cNvPr>
          <p:cNvSpPr>
            <a:spLocks noGrp="1"/>
          </p:cNvSpPr>
          <p:nvPr>
            <p:ph type="dt" sz="half" idx="10"/>
          </p:nvPr>
        </p:nvSpPr>
        <p:spPr/>
        <p:txBody>
          <a:bodyPr/>
          <a:lstStyle/>
          <a:p>
            <a:fld id="{16D42070-5DAD-4E7E-A6F8-25E560BC7BBC}" type="datetimeFigureOut">
              <a:rPr lang="zh-TW" altLang="en-US" smtClean="0"/>
              <a:t>2026/10/5</a:t>
            </a:fld>
            <a:endParaRPr lang="zh-TW" altLang="en-US"/>
          </a:p>
        </p:txBody>
      </p:sp>
      <p:sp>
        <p:nvSpPr>
          <p:cNvPr id="6" name="頁尾版面配置區 5">
            <a:extLst>
              <a:ext uri="{FF2B5EF4-FFF2-40B4-BE49-F238E27FC236}">
                <a16:creationId xmlns:a16="http://schemas.microsoft.com/office/drawing/2014/main" id="{28A5B214-3FE3-41C8-BAAF-7E87C796FFF3}"/>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34F60CC2-E109-4719-875D-510BAD1DAF71}"/>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2615199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658099F-549D-41D0-8656-FC0BCFF0AC8B}"/>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9A026EBC-D2D7-4484-A574-A0FDADFD83EC}"/>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E955BDF0-F4E3-4A78-AC21-5996C7877466}"/>
              </a:ext>
            </a:extLst>
          </p:cNvPr>
          <p:cNvSpPr>
            <a:spLocks noGrp="1"/>
          </p:cNvSpPr>
          <p:nvPr>
            <p:ph type="dt" sz="half" idx="10"/>
          </p:nvPr>
        </p:nvSpPr>
        <p:spPr/>
        <p:txBody>
          <a:bodyPr/>
          <a:lstStyle/>
          <a:p>
            <a:fld id="{16D42070-5DAD-4E7E-A6F8-25E560BC7BBC}" type="datetimeFigureOut">
              <a:rPr lang="zh-TW" altLang="en-US" smtClean="0"/>
              <a:t>2026/10/5</a:t>
            </a:fld>
            <a:endParaRPr lang="zh-TW" altLang="en-US"/>
          </a:p>
        </p:txBody>
      </p:sp>
      <p:sp>
        <p:nvSpPr>
          <p:cNvPr id="5" name="頁尾版面配置區 4">
            <a:extLst>
              <a:ext uri="{FF2B5EF4-FFF2-40B4-BE49-F238E27FC236}">
                <a16:creationId xmlns:a16="http://schemas.microsoft.com/office/drawing/2014/main" id="{77A58278-9C37-44E9-A992-05A40C4C24B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EF221A9-3DF2-4243-8312-6B441A40B45B}"/>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639897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D407E2F2-53D7-4D47-8536-D902F65329D3}"/>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AEB11135-92E3-4798-9365-99DC4319D221}"/>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55D66D9F-EC40-4B77-81BD-B3B6ACD4C9DF}"/>
              </a:ext>
            </a:extLst>
          </p:cNvPr>
          <p:cNvSpPr>
            <a:spLocks noGrp="1"/>
          </p:cNvSpPr>
          <p:nvPr>
            <p:ph type="dt" sz="half" idx="10"/>
          </p:nvPr>
        </p:nvSpPr>
        <p:spPr/>
        <p:txBody>
          <a:bodyPr/>
          <a:lstStyle/>
          <a:p>
            <a:fld id="{16D42070-5DAD-4E7E-A6F8-25E560BC7BBC}" type="datetimeFigureOut">
              <a:rPr lang="zh-TW" altLang="en-US" smtClean="0"/>
              <a:t>2026/10/5</a:t>
            </a:fld>
            <a:endParaRPr lang="zh-TW" altLang="en-US"/>
          </a:p>
        </p:txBody>
      </p:sp>
      <p:sp>
        <p:nvSpPr>
          <p:cNvPr id="5" name="頁尾版面配置區 4">
            <a:extLst>
              <a:ext uri="{FF2B5EF4-FFF2-40B4-BE49-F238E27FC236}">
                <a16:creationId xmlns:a16="http://schemas.microsoft.com/office/drawing/2014/main" id="{328EDF41-8BB7-4F4D-866E-39DEF3CE579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A909E83-6E85-417E-A5C0-394F0D780B89}"/>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33666469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4809FC75-802D-4B19-AFA4-8A8D60B43C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3EE7658D-1874-4965-86A1-F9DC152E33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6D7FBAA-F52E-4E99-ABAC-AD4E8AA23C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D42070-5DAD-4E7E-A6F8-25E560BC7BBC}" type="datetimeFigureOut">
              <a:rPr lang="zh-TW" altLang="en-US" smtClean="0"/>
              <a:t>2026/10/5</a:t>
            </a:fld>
            <a:endParaRPr lang="zh-TW" altLang="en-US"/>
          </a:p>
        </p:txBody>
      </p:sp>
      <p:sp>
        <p:nvSpPr>
          <p:cNvPr id="5" name="頁尾版面配置區 4">
            <a:extLst>
              <a:ext uri="{FF2B5EF4-FFF2-40B4-BE49-F238E27FC236}">
                <a16:creationId xmlns:a16="http://schemas.microsoft.com/office/drawing/2014/main" id="{E5AA8CD1-761B-436C-81CD-04B671C314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247BE989-E3A2-4C5A-A4B2-D5729A6C57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2346709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41.png"/><Relationship Id="rId7" Type="http://schemas.openxmlformats.org/officeDocument/2006/relationships/image" Target="../media/image170.png"/><Relationship Id="rId2" Type="http://schemas.openxmlformats.org/officeDocument/2006/relationships/image" Target="../media/image151.png"/><Relationship Id="rId1" Type="http://schemas.openxmlformats.org/officeDocument/2006/relationships/slideLayout" Target="../slideLayouts/slideLayout2.xml"/><Relationship Id="rId6" Type="http://schemas.openxmlformats.org/officeDocument/2006/relationships/image" Target="../media/image160.png"/><Relationship Id="rId5" Type="http://schemas.openxmlformats.org/officeDocument/2006/relationships/image" Target="../media/image171.png"/><Relationship Id="rId4" Type="http://schemas.openxmlformats.org/officeDocument/2006/relationships/image" Target="../media/image161.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82.png"/><Relationship Id="rId1" Type="http://schemas.openxmlformats.org/officeDocument/2006/relationships/slideLayout" Target="../slideLayouts/slideLayout2.xml"/><Relationship Id="rId15" Type="http://schemas.openxmlformats.org/officeDocument/2006/relationships/image" Target="../media/image110.png"/><Relationship Id="rId4" Type="http://schemas.openxmlformats.org/officeDocument/2006/relationships/image" Target="../media/image101.png"/><Relationship Id="rId14" Type="http://schemas.openxmlformats.org/officeDocument/2006/relationships/image" Target="../media/image40.png"/></Relationships>
</file>

<file path=ppt/slides/_rels/slide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30.png"/></Relationships>
</file>

<file path=ppt/slides/_rels/slide8.xml.rels><?xml version="1.0" encoding="UTF-8" standalone="yes"?>
<Relationships xmlns="http://schemas.openxmlformats.org/package/2006/relationships"><Relationship Id="rId3" Type="http://schemas.openxmlformats.org/officeDocument/2006/relationships/image" Target="../media/image140.png"/><Relationship Id="rId7" Type="http://schemas.openxmlformats.org/officeDocument/2006/relationships/image" Target="../media/image122.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00.png"/><Relationship Id="rId4" Type="http://schemas.openxmlformats.org/officeDocument/2006/relationships/image" Target="../media/image350.png"/></Relationships>
</file>

<file path=ppt/slides/_rels/slide9.xml.rels><?xml version="1.0" encoding="UTF-8" standalone="yes"?>
<Relationships xmlns="http://schemas.openxmlformats.org/package/2006/relationships"><Relationship Id="rId13" Type="http://schemas.openxmlformats.org/officeDocument/2006/relationships/image" Target="../media/image20.png"/><Relationship Id="rId12" Type="http://schemas.openxmlformats.org/officeDocument/2006/relationships/image" Target="../media/image78.png"/><Relationship Id="rId1" Type="http://schemas.openxmlformats.org/officeDocument/2006/relationships/slideLayout" Target="../slideLayouts/slideLayout2.xml"/><Relationship Id="rId11" Type="http://schemas.openxmlformats.org/officeDocument/2006/relationships/image" Target="../media/image77.png"/><Relationship Id="rId15" Type="http://schemas.openxmlformats.org/officeDocument/2006/relationships/image" Target="../media/image81.png"/><Relationship Id="rId10" Type="http://schemas.openxmlformats.org/officeDocument/2006/relationships/image" Target="../media/image19.png"/><Relationship Id="rId9" Type="http://schemas.openxmlformats.org/officeDocument/2006/relationships/image" Target="../media/image492.png"/><Relationship Id="rId14" Type="http://schemas.openxmlformats.org/officeDocument/2006/relationships/image" Target="../media/image80.png"/></Relationships>
</file>

<file path=ppt/slides/_rels/slide10.xml.rels><?xml version="1.0" encoding="UTF-8" standalone="yes"?>
<Relationships xmlns="http://schemas.openxmlformats.org/package/2006/relationships"><Relationship Id="rId8" Type="http://schemas.openxmlformats.org/officeDocument/2006/relationships/image" Target="../media/image240.png"/><Relationship Id="rId3" Type="http://schemas.openxmlformats.org/officeDocument/2006/relationships/image" Target="../media/image21.png"/><Relationship Id="rId7" Type="http://schemas.openxmlformats.org/officeDocument/2006/relationships/image" Target="../media/image230.png"/><Relationship Id="rId2" Type="http://schemas.openxmlformats.org/officeDocument/2006/relationships/image" Target="../media/image1400.png"/><Relationship Id="rId1" Type="http://schemas.openxmlformats.org/officeDocument/2006/relationships/slideLayout" Target="../slideLayouts/slideLayout2.xml"/><Relationship Id="rId6" Type="http://schemas.openxmlformats.org/officeDocument/2006/relationships/image" Target="../media/image220.png"/><Relationship Id="rId11" Type="http://schemas.openxmlformats.org/officeDocument/2006/relationships/image" Target="../media/image270.png"/><Relationship Id="rId5" Type="http://schemas.openxmlformats.org/officeDocument/2006/relationships/image" Target="../media/image210.png"/><Relationship Id="rId10" Type="http://schemas.openxmlformats.org/officeDocument/2006/relationships/image" Target="../media/image260.png"/><Relationship Id="rId4" Type="http://schemas.openxmlformats.org/officeDocument/2006/relationships/image" Target="../media/image200.png"/><Relationship Id="rId9" Type="http://schemas.openxmlformats.org/officeDocument/2006/relationships/image" Target="../media/image250.png"/></Relationships>
</file>

<file path=ppt/slides/_rels/slide11.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320.png"/><Relationship Id="rId4" Type="http://schemas.openxmlformats.org/officeDocument/2006/relationships/image" Target="../media/image311.png"/></Relationships>
</file>

<file path=ppt/slides/_rels/slide12.xml.rels><?xml version="1.0" encoding="UTF-8" standalone="yes"?>
<Relationships xmlns="http://schemas.openxmlformats.org/package/2006/relationships"><Relationship Id="rId26" Type="http://schemas.openxmlformats.org/officeDocument/2006/relationships/image" Target="../media/image732.png"/><Relationship Id="rId13" Type="http://schemas.openxmlformats.org/officeDocument/2006/relationships/image" Target="../media/image500.png"/><Relationship Id="rId18" Type="http://schemas.openxmlformats.org/officeDocument/2006/relationships/image" Target="../media/image570.png"/><Relationship Id="rId21" Type="http://schemas.openxmlformats.org/officeDocument/2006/relationships/image" Target="../media/image680.png"/><Relationship Id="rId34" Type="http://schemas.openxmlformats.org/officeDocument/2006/relationships/image" Target="../media/image221.png"/><Relationship Id="rId25" Type="http://schemas.openxmlformats.org/officeDocument/2006/relationships/image" Target="../media/image722.png"/><Relationship Id="rId12" Type="http://schemas.openxmlformats.org/officeDocument/2006/relationships/image" Target="../media/image491.png"/><Relationship Id="rId33" Type="http://schemas.openxmlformats.org/officeDocument/2006/relationships/image" Target="../media/image24.png"/><Relationship Id="rId17" Type="http://schemas.openxmlformats.org/officeDocument/2006/relationships/image" Target="../media/image560.png"/><Relationship Id="rId29" Type="http://schemas.openxmlformats.org/officeDocument/2006/relationships/image" Target="../media/image440.png"/><Relationship Id="rId1" Type="http://schemas.openxmlformats.org/officeDocument/2006/relationships/slideLayout" Target="../slideLayouts/slideLayout2.xml"/><Relationship Id="rId24" Type="http://schemas.openxmlformats.org/officeDocument/2006/relationships/image" Target="../media/image710.png"/><Relationship Id="rId32" Type="http://schemas.openxmlformats.org/officeDocument/2006/relationships/image" Target="../media/image201.png"/><Relationship Id="rId23" Type="http://schemas.openxmlformats.org/officeDocument/2006/relationships/image" Target="../media/image700.png"/><Relationship Id="rId28" Type="http://schemas.openxmlformats.org/officeDocument/2006/relationships/image" Target="../media/image750.png"/><Relationship Id="rId31" Type="http://schemas.openxmlformats.org/officeDocument/2006/relationships/image" Target="../media/image190.png"/><Relationship Id="rId22" Type="http://schemas.openxmlformats.org/officeDocument/2006/relationships/image" Target="../media/image690.png"/><Relationship Id="rId27" Type="http://schemas.openxmlformats.org/officeDocument/2006/relationships/image" Target="../media/image742.png"/><Relationship Id="rId30" Type="http://schemas.openxmlformats.org/officeDocument/2006/relationships/image" Target="../media/image23.png"/><Relationship Id="rId35" Type="http://schemas.openxmlformats.org/officeDocument/2006/relationships/image" Target="../media/image231.png"/></Relationships>
</file>

<file path=ppt/slides/_rels/slide13.xml.rels><?xml version="1.0" encoding="UTF-8" standalone="yes"?>
<Relationships xmlns="http://schemas.openxmlformats.org/package/2006/relationships"><Relationship Id="rId26" Type="http://schemas.openxmlformats.org/officeDocument/2006/relationships/image" Target="../media/image440.png"/><Relationship Id="rId13" Type="http://schemas.openxmlformats.org/officeDocument/2006/relationships/image" Target="../media/image500.png"/><Relationship Id="rId18" Type="http://schemas.openxmlformats.org/officeDocument/2006/relationships/image" Target="../media/image570.png"/><Relationship Id="rId21" Type="http://schemas.openxmlformats.org/officeDocument/2006/relationships/image" Target="../media/image781.png"/><Relationship Id="rId34" Type="http://schemas.openxmlformats.org/officeDocument/2006/relationships/image" Target="../media/image26.png"/><Relationship Id="rId25" Type="http://schemas.openxmlformats.org/officeDocument/2006/relationships/image" Target="../media/image821.png"/><Relationship Id="rId12" Type="http://schemas.openxmlformats.org/officeDocument/2006/relationships/image" Target="../media/image491.png"/><Relationship Id="rId17" Type="http://schemas.openxmlformats.org/officeDocument/2006/relationships/image" Target="../media/image560.png"/><Relationship Id="rId29" Type="http://schemas.openxmlformats.org/officeDocument/2006/relationships/image" Target="../media/image851.png"/><Relationship Id="rId1" Type="http://schemas.openxmlformats.org/officeDocument/2006/relationships/slideLayout" Target="../slideLayouts/slideLayout2.xml"/><Relationship Id="rId24" Type="http://schemas.openxmlformats.org/officeDocument/2006/relationships/image" Target="../media/image811.png"/><Relationship Id="rId32" Type="http://schemas.openxmlformats.org/officeDocument/2006/relationships/image" Target="../media/image25.png"/><Relationship Id="rId23" Type="http://schemas.openxmlformats.org/officeDocument/2006/relationships/image" Target="../media/image800.png"/><Relationship Id="rId28" Type="http://schemas.openxmlformats.org/officeDocument/2006/relationships/image" Target="../media/image841.png"/><Relationship Id="rId31" Type="http://schemas.openxmlformats.org/officeDocument/2006/relationships/image" Target="../media/image241.png"/><Relationship Id="rId22" Type="http://schemas.openxmlformats.org/officeDocument/2006/relationships/image" Target="../media/image792.png"/><Relationship Id="rId27" Type="http://schemas.openxmlformats.org/officeDocument/2006/relationships/image" Target="../media/image832.png"/><Relationship Id="rId30" Type="http://schemas.openxmlformats.org/officeDocument/2006/relationships/image" Target="../media/image23.png"/><Relationship Id="rId35" Type="http://schemas.openxmlformats.org/officeDocument/2006/relationships/image" Target="../media/image27.png"/></Relationships>
</file>

<file path=ppt/slides/_rels/slide14.xml.rels><?xml version="1.0" encoding="UTF-8" standalone="yes"?>
<Relationships xmlns="http://schemas.openxmlformats.org/package/2006/relationships"><Relationship Id="rId8" Type="http://schemas.openxmlformats.org/officeDocument/2006/relationships/image" Target="../media/image29.png"/><Relationship Id="rId7" Type="http://schemas.openxmlformats.org/officeDocument/2006/relationships/image" Target="../media/image117.png"/><Relationship Id="rId2" Type="http://schemas.openxmlformats.org/officeDocument/2006/relationships/image" Target="../media/image28.png"/><Relationship Id="rId16"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116.png"/><Relationship Id="rId5" Type="http://schemas.openxmlformats.org/officeDocument/2006/relationships/image" Target="../media/image115.png"/><Relationship Id="rId15" Type="http://schemas.openxmlformats.org/officeDocument/2006/relationships/image" Target="../media/image120.png"/><Relationship Id="rId4" Type="http://schemas.openxmlformats.org/officeDocument/2006/relationships/image" Target="../media/image1141.png"/><Relationship Id="rId9" Type="http://schemas.openxmlformats.org/officeDocument/2006/relationships/image" Target="../media/image33.png"/><Relationship Id="rId14" Type="http://schemas.openxmlformats.org/officeDocument/2006/relationships/image" Target="../media/image1191.png"/></Relationships>
</file>

<file path=ppt/slides/_rels/slide15.xml.rels><?xml version="1.0" encoding="UTF-8" standalone="yes"?>
<Relationships xmlns="http://schemas.openxmlformats.org/package/2006/relationships"><Relationship Id="rId13" Type="http://schemas.openxmlformats.org/officeDocument/2006/relationships/image" Target="../media/image36.png"/><Relationship Id="rId8" Type="http://schemas.openxmlformats.org/officeDocument/2006/relationships/image" Target="../media/image791.png"/><Relationship Id="rId3" Type="http://schemas.openxmlformats.org/officeDocument/2006/relationships/image" Target="../media/image35.png"/><Relationship Id="rId12" Type="http://schemas.openxmlformats.org/officeDocument/2006/relationships/image" Target="../media/image871.png"/><Relationship Id="rId7" Type="http://schemas.openxmlformats.org/officeDocument/2006/relationships/image" Target="../media/image831.png"/><Relationship Id="rId2" Type="http://schemas.openxmlformats.org/officeDocument/2006/relationships/image" Target="../media/image121.png"/><Relationship Id="rId1" Type="http://schemas.openxmlformats.org/officeDocument/2006/relationships/slideLayout" Target="../slideLayouts/slideLayout2.xml"/><Relationship Id="rId11" Type="http://schemas.openxmlformats.org/officeDocument/2006/relationships/image" Target="../media/image861.png"/><Relationship Id="rId6" Type="http://schemas.openxmlformats.org/officeDocument/2006/relationships/image" Target="../media/image810.png"/><Relationship Id="rId5" Type="http://schemas.openxmlformats.org/officeDocument/2006/relationships/image" Target="../media/image662.png"/></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24.png"/><Relationship Id="rId1" Type="http://schemas.openxmlformats.org/officeDocument/2006/relationships/slideLayout" Target="../slideLayouts/slideLayout2.xml"/><Relationship Id="rId5" Type="http://schemas.openxmlformats.org/officeDocument/2006/relationships/image" Target="../media/image127.png"/><Relationship Id="rId4" Type="http://schemas.openxmlformats.org/officeDocument/2006/relationships/image" Target="../media/image126.png"/></Relationships>
</file>

<file path=ppt/slides/_rels/slide17.xml.rels><?xml version="1.0" encoding="UTF-8" standalone="yes"?>
<Relationships xmlns="http://schemas.openxmlformats.org/package/2006/relationships"><Relationship Id="rId8" Type="http://schemas.openxmlformats.org/officeDocument/2006/relationships/image" Target="../media/image134.png"/><Relationship Id="rId3" Type="http://schemas.openxmlformats.org/officeDocument/2006/relationships/image" Target="../media/image38.png"/><Relationship Id="rId7" Type="http://schemas.openxmlformats.org/officeDocument/2006/relationships/image" Target="../media/image41.png"/><Relationship Id="rId2" Type="http://schemas.openxmlformats.org/officeDocument/2006/relationships/image" Target="../media/image128.png"/><Relationship Id="rId1" Type="http://schemas.openxmlformats.org/officeDocument/2006/relationships/slideLayout" Target="../slideLayouts/slideLayout2.xml"/><Relationship Id="rId6" Type="http://schemas.openxmlformats.org/officeDocument/2006/relationships/image" Target="../media/image132.png"/><Relationship Id="rId5" Type="http://schemas.openxmlformats.org/officeDocument/2006/relationships/image" Target="../media/image39.png"/></Relationships>
</file>

<file path=ppt/slides/_rels/slide18.xml.rels><?xml version="1.0" encoding="UTF-8" standalone="yes"?>
<Relationships xmlns="http://schemas.openxmlformats.org/package/2006/relationships"><Relationship Id="rId8" Type="http://schemas.openxmlformats.org/officeDocument/2006/relationships/image" Target="../media/image1000.png"/><Relationship Id="rId3" Type="http://schemas.openxmlformats.org/officeDocument/2006/relationships/image" Target="../media/image480.png"/><Relationship Id="rId7" Type="http://schemas.openxmlformats.org/officeDocument/2006/relationships/image" Target="../media/image850.png"/><Relationship Id="rId2" Type="http://schemas.openxmlformats.org/officeDocument/2006/relationships/image" Target="../media/image470.png"/><Relationship Id="rId1" Type="http://schemas.openxmlformats.org/officeDocument/2006/relationships/slideLayout" Target="../slideLayouts/slideLayout2.xml"/><Relationship Id="rId11" Type="http://schemas.openxmlformats.org/officeDocument/2006/relationships/image" Target="../media/image1650.png"/><Relationship Id="rId5" Type="http://schemas.openxmlformats.org/officeDocument/2006/relationships/image" Target="../media/image59.png"/><Relationship Id="rId10" Type="http://schemas.openxmlformats.org/officeDocument/2006/relationships/image" Target="../media/image1640.png"/><Relationship Id="rId4" Type="http://schemas.openxmlformats.org/officeDocument/2006/relationships/image" Target="../media/image490.png"/><Relationship Id="rId9" Type="http://schemas.openxmlformats.org/officeDocument/2006/relationships/image" Target="../media/image10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29E60B-ABEB-4B38-8D6C-620B64DB3808}"/>
              </a:ext>
            </a:extLst>
          </p:cNvPr>
          <p:cNvSpPr>
            <a:spLocks noGrp="1"/>
          </p:cNvSpPr>
          <p:nvPr>
            <p:ph type="ctrTitle"/>
          </p:nvPr>
        </p:nvSpPr>
        <p:spPr>
          <a:xfrm>
            <a:off x="423333" y="868362"/>
            <a:ext cx="11345334" cy="2387600"/>
          </a:xfrm>
        </p:spPr>
        <p:txBody>
          <a:bodyPr>
            <a:normAutofit/>
          </a:bodyPr>
          <a:lstStyle/>
          <a:p>
            <a:pPr>
              <a:lnSpc>
                <a:spcPct val="115000"/>
              </a:lnSpc>
              <a:spcAft>
                <a:spcPts val="100"/>
              </a:spcAft>
            </a:pPr>
            <a:r>
              <a:rPr lang="en-US" altLang="zh-TW" sz="2800" b="1" kern="100" dirty="0">
                <a:solidFill>
                  <a:srgbClr val="000000"/>
                </a:solidFill>
                <a:effectLst/>
                <a:latin typeface="Aptos"/>
                <a:ea typeface="新細明體" panose="02020500000000000000" pitchFamily="18" charset="-120"/>
                <a:cs typeface="Times New Roman" panose="02020603050405020304" pitchFamily="18" charset="0"/>
              </a:rPr>
              <a:t>A Lumped-Parameter Modeling, Calibration, and Capacity-Measure Framework for Flux Generation in Symmetric</a:t>
            </a:r>
            <a:br>
              <a:rPr lang="zh-TW" altLang="zh-TW" sz="2800" kern="100" dirty="0">
                <a:effectLst/>
                <a:latin typeface="Aptos"/>
                <a:ea typeface="新細明體" panose="02020500000000000000" pitchFamily="18" charset="-120"/>
                <a:cs typeface="Times New Roman" panose="02020603050405020304" pitchFamily="18" charset="0"/>
              </a:rPr>
            </a:br>
            <a:r>
              <a:rPr lang="en-US" altLang="zh-TW" sz="2800" b="1" dirty="0">
                <a:solidFill>
                  <a:srgbClr val="000000"/>
                </a:solidFill>
                <a:effectLst/>
                <a:latin typeface="Aptos"/>
                <a:ea typeface="新細明體" panose="02020500000000000000" pitchFamily="18" charset="-120"/>
                <a:cs typeface="Times New Roman" panose="02020603050405020304" pitchFamily="18" charset="0"/>
              </a:rPr>
              <a:t>Multipole Electromagnetic Actuators </a:t>
            </a:r>
            <a:endParaRPr lang="zh-TW" altLang="en-US" sz="8000" dirty="0"/>
          </a:p>
        </p:txBody>
      </p:sp>
    </p:spTree>
    <p:extLst>
      <p:ext uri="{BB962C8B-B14F-4D97-AF65-F5344CB8AC3E}">
        <p14:creationId xmlns:p14="http://schemas.microsoft.com/office/powerpoint/2010/main" val="4068006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282042"/>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24" name="文字方塊 23">
            <a:extLst>
              <a:ext uri="{FF2B5EF4-FFF2-40B4-BE49-F238E27FC236}">
                <a16:creationId xmlns:a16="http://schemas.microsoft.com/office/drawing/2014/main" id="{99A50A7E-C7D9-49BF-BA9E-3AB385572A53}"/>
              </a:ext>
            </a:extLst>
          </p:cNvPr>
          <p:cNvSpPr txBox="1"/>
          <p:nvPr/>
        </p:nvSpPr>
        <p:spPr>
          <a:xfrm>
            <a:off x="0" y="613132"/>
            <a:ext cx="6068542" cy="369332"/>
          </a:xfrm>
          <a:prstGeom prst="rect">
            <a:avLst/>
          </a:prstGeom>
          <a:noFill/>
        </p:spPr>
        <p:txBody>
          <a:bodyPr wrap="square" rtlCol="0">
            <a:spAutoFit/>
          </a:bodyPr>
          <a:lstStyle/>
          <a:p>
            <a:pPr marL="285750" indent="-285750">
              <a:buFont typeface="Wingdings" panose="05000000000000000000" pitchFamily="2" charset="2"/>
              <a:buChar char="l"/>
            </a:pPr>
            <a:r>
              <a:rPr lang="en-US" altLang="zh-TW" dirty="0">
                <a:latin typeface="Times New Roman" panose="02020603050405020304" pitchFamily="18" charset="0"/>
                <a:cs typeface="Times New Roman" panose="02020603050405020304" pitchFamily="18" charset="0"/>
              </a:rPr>
              <a:t>Interpolation Point Algorithm for workspace pseudocode</a:t>
            </a:r>
            <a:endParaRPr lang="zh-TW" altLang="en-US" dirty="0">
              <a:latin typeface="Times New Roman" panose="02020603050405020304" pitchFamily="18" charset="0"/>
              <a:cs typeface="Times New Roman" panose="02020603050405020304" pitchFamily="18" charset="0"/>
            </a:endParaRPr>
          </a:p>
        </p:txBody>
      </p:sp>
      <p:grpSp>
        <p:nvGrpSpPr>
          <p:cNvPr id="7" name="群組 6">
            <a:extLst>
              <a:ext uri="{FF2B5EF4-FFF2-40B4-BE49-F238E27FC236}">
                <a16:creationId xmlns:a16="http://schemas.microsoft.com/office/drawing/2014/main" id="{5954FA83-6DDD-47BC-A17B-9741238CC9C1}"/>
              </a:ext>
            </a:extLst>
          </p:cNvPr>
          <p:cNvGrpSpPr/>
          <p:nvPr/>
        </p:nvGrpSpPr>
        <p:grpSpPr>
          <a:xfrm>
            <a:off x="384177" y="1227291"/>
            <a:ext cx="5560000" cy="5017577"/>
            <a:chOff x="402001" y="1227291"/>
            <a:chExt cx="5560000" cy="5017577"/>
          </a:xfrm>
        </p:grpSpPr>
        <p:sp>
          <p:nvSpPr>
            <p:cNvPr id="8" name="Algorithm 1">
              <a:extLst>
                <a:ext uri="{FF2B5EF4-FFF2-40B4-BE49-F238E27FC236}">
                  <a16:creationId xmlns:a16="http://schemas.microsoft.com/office/drawing/2014/main" id="{8E282648-6895-4502-A516-53C86B8C428D}"/>
                </a:ext>
              </a:extLst>
            </p:cNvPr>
            <p:cNvSpPr txBox="1"/>
            <p:nvPr/>
          </p:nvSpPr>
          <p:spPr>
            <a:xfrm>
              <a:off x="402001" y="1227291"/>
              <a:ext cx="5560000" cy="5017577"/>
            </a:xfrm>
            <a:prstGeom prst="rect">
              <a:avLst/>
            </a:prstGeom>
            <a:solidFill>
              <a:srgbClr val="FFFFFF"/>
            </a:solidFill>
            <a:ln w="6350">
              <a:solidFill>
                <a:srgbClr val="000000"/>
              </a:solidFill>
            </a:ln>
          </p:spPr>
          <p:txBody>
            <a:bodyPr wrap="square" lIns="91440" tIns="45720" rIns="91440" bIns="45720">
              <a:noAutofit/>
            </a:bodyPr>
            <a:lstStyle/>
            <a:p>
              <a:pPr>
                <a:lnSpc>
                  <a:spcPct val="103000"/>
                </a:lnSpc>
                <a:spcAft>
                  <a:spcPts val="500"/>
                </a:spcAft>
              </a:pPr>
              <a:r>
                <a:rPr lang="en-US" altLang="zh-TW" sz="1400" b="1" dirty="0">
                  <a:latin typeface="Times New Roman"/>
                  <a:cs typeface="Times New Roman"/>
                </a:rPr>
                <a:t>Algorithm 1 </a:t>
              </a:r>
              <a:r>
                <a:rPr lang="en-US" altLang="zh-TW" sz="1400" dirty="0">
                  <a:latin typeface="Times New Roman"/>
                  <a:cs typeface="Times New Roman"/>
                </a:rPr>
                <a:t>Generate Interpolation Points</a:t>
              </a:r>
            </a:p>
            <a:p>
              <a:pPr>
                <a:lnSpc>
                  <a:spcPct val="103000"/>
                </a:lnSpc>
              </a:pPr>
              <a:r>
                <a:rPr lang="en-US" altLang="zh-TW" sz="1600" b="1" dirty="0">
                  <a:latin typeface="Times New Roman"/>
                  <a:cs typeface="Times New Roman"/>
                </a:rPr>
                <a:t>Input: </a:t>
              </a:r>
              <a:r>
                <a:rPr lang="en-US" altLang="zh-TW" sz="1600" i="1" dirty="0">
                  <a:latin typeface="Times New Roman"/>
                  <a:cs typeface="Times New Roman"/>
                </a:rPr>
                <a:t>N</a:t>
              </a:r>
              <a:r>
                <a:rPr lang="en-US" altLang="zh-TW" sz="1600" i="1" baseline="-25000" dirty="0">
                  <a:latin typeface="Times New Roman"/>
                  <a:cs typeface="Times New Roman"/>
                </a:rPr>
                <a:t>a</a:t>
              </a:r>
              <a:r>
                <a:rPr lang="en-US" altLang="zh-TW" sz="1600" dirty="0">
                  <a:latin typeface="Times New Roman"/>
                  <a:cs typeface="Times New Roman"/>
                </a:rPr>
                <a:t>, </a:t>
              </a:r>
              <a:r>
                <a:rPr lang="en-US" altLang="zh-TW" sz="1600" i="1" dirty="0">
                  <a:latin typeface="Times New Roman"/>
                  <a:cs typeface="Times New Roman"/>
                </a:rPr>
                <a:t>R</a:t>
              </a:r>
            </a:p>
            <a:p>
              <a:pPr>
                <a:lnSpc>
                  <a:spcPct val="103000"/>
                </a:lnSpc>
                <a:spcAft>
                  <a:spcPts val="500"/>
                </a:spcAft>
              </a:pPr>
              <a:r>
                <a:rPr lang="en-US" altLang="zh-TW" sz="1600" b="1" dirty="0">
                  <a:latin typeface="Times New Roman"/>
                  <a:cs typeface="Times New Roman"/>
                </a:rPr>
                <a:t>Output: </a:t>
              </a:r>
              <a:r>
                <a:rPr lang="en-US" altLang="zh-TW" sz="1600" i="1" dirty="0">
                  <a:latin typeface="Times New Roman"/>
                  <a:cs typeface="Times New Roman"/>
                </a:rPr>
                <a:t>p</a:t>
              </a:r>
              <a:r>
                <a:rPr lang="en-US" altLang="zh-TW" sz="1600" i="1" baseline="-25000" dirty="0">
                  <a:latin typeface="Times New Roman"/>
                  <a:cs typeface="Times New Roman"/>
                </a:rPr>
                <a:t>a</a:t>
              </a:r>
              <a:r>
                <a:rPr lang="en-US" altLang="zh-TW" sz="1600" dirty="0">
                  <a:latin typeface="Times New Roman"/>
                  <a:cs typeface="Times New Roman"/>
                </a:rPr>
                <a:t> (</a:t>
              </a:r>
              <a:r>
                <a:rPr lang="en-US" altLang="zh-TW" sz="1600" i="1" dirty="0">
                  <a:latin typeface="Times New Roman"/>
                  <a:cs typeface="Times New Roman"/>
                </a:rPr>
                <a:t>N</a:t>
              </a:r>
              <a:r>
                <a:rPr lang="en-US" altLang="zh-TW" sz="1600" baseline="-25000" dirty="0">
                  <a:latin typeface="Times New Roman"/>
                  <a:cs typeface="Times New Roman"/>
                </a:rPr>
                <a:t>tot</a:t>
              </a:r>
              <a:r>
                <a:rPr lang="en-US" altLang="zh-TW" sz="1600" dirty="0">
                  <a:latin typeface="Times New Roman"/>
                  <a:cs typeface="Times New Roman"/>
                </a:rPr>
                <a:t> × 3)</a:t>
              </a:r>
            </a:p>
            <a:p>
              <a:pPr>
                <a:lnSpc>
                  <a:spcPct val="103000"/>
                </a:lnSpc>
              </a:pPr>
              <a:r>
                <a:rPr lang="en-US" altLang="zh-TW" sz="1200" dirty="0">
                  <a:latin typeface="Times New Roman"/>
                  <a:cs typeface="Times New Roman"/>
                </a:rPr>
                <a:t> 1: </a:t>
              </a:r>
              <a:r>
                <a:rPr lang="en-US" altLang="zh-TW" sz="1600" i="1" dirty="0">
                  <a:latin typeface="Times New Roman"/>
                  <a:cs typeface="Times New Roman"/>
                </a:rPr>
                <a:t>d</a:t>
              </a:r>
              <a:r>
                <a:rPr lang="en-US" altLang="zh-TW" sz="1600" dirty="0">
                  <a:latin typeface="Times New Roman"/>
                  <a:cs typeface="Times New Roman"/>
                </a:rPr>
                <a:t> ← </a:t>
              </a:r>
              <a:r>
                <a:rPr lang="en-US" altLang="zh-TW" sz="1600" i="1" dirty="0">
                  <a:latin typeface="Times New Roman"/>
                  <a:cs typeface="Times New Roman"/>
                </a:rPr>
                <a:t>R</a:t>
              </a:r>
              <a:r>
                <a:rPr lang="en-US" altLang="zh-TW" sz="1600" dirty="0">
                  <a:latin typeface="Times New Roman"/>
                  <a:cs typeface="Times New Roman"/>
                </a:rPr>
                <a:t> / </a:t>
              </a:r>
              <a:r>
                <a:rPr lang="en-US" altLang="zh-TW" sz="1600" i="1" dirty="0">
                  <a:latin typeface="Times New Roman"/>
                  <a:cs typeface="Times New Roman"/>
                </a:rPr>
                <a:t>N</a:t>
              </a:r>
              <a:r>
                <a:rPr lang="en-US" altLang="zh-TW" sz="1600" i="1" baseline="-25000" dirty="0">
                  <a:latin typeface="Times New Roman"/>
                  <a:cs typeface="Times New Roman"/>
                </a:rPr>
                <a:t>a</a:t>
              </a:r>
              <a:r>
                <a:rPr lang="en-US" altLang="zh-TW" sz="1200" i="1" dirty="0">
                  <a:solidFill>
                    <a:srgbClr val="707070"/>
                  </a:solidFill>
                  <a:latin typeface="Times New Roman"/>
                  <a:cs typeface="Times New Roman"/>
                </a:rPr>
                <a:t>  // division spacing</a:t>
              </a:r>
            </a:p>
            <a:p>
              <a:pPr>
                <a:lnSpc>
                  <a:spcPct val="103000"/>
                </a:lnSpc>
              </a:pPr>
              <a:r>
                <a:rPr lang="en-US" altLang="zh-TW" sz="1200" dirty="0">
                  <a:latin typeface="Times New Roman"/>
                  <a:cs typeface="Times New Roman"/>
                </a:rPr>
                <a:t> 2: </a:t>
              </a:r>
              <a:r>
                <a:rPr lang="en-US" altLang="zh-TW" sz="1600" i="1" dirty="0">
                  <a:latin typeface="Times New Roman"/>
                  <a:cs typeface="Times New Roman"/>
                </a:rPr>
                <a:t>N</a:t>
              </a:r>
              <a:r>
                <a:rPr lang="en-US" altLang="zh-TW" sz="1600" baseline="-25000" dirty="0">
                  <a:latin typeface="Times New Roman"/>
                  <a:cs typeface="Times New Roman"/>
                </a:rPr>
                <a:t>tot</a:t>
              </a:r>
              <a:r>
                <a:rPr lang="en-US" altLang="zh-TW" sz="1600" dirty="0">
                  <a:latin typeface="Times New Roman"/>
                  <a:cs typeface="Times New Roman"/>
                </a:rPr>
                <a:t> ← 1 + 6·</a:t>
              </a:r>
              <a:r>
                <a:rPr lang="en-US" altLang="zh-TW" sz="1600" i="1" dirty="0">
                  <a:latin typeface="Times New Roman"/>
                  <a:cs typeface="Times New Roman"/>
                </a:rPr>
                <a:t>N</a:t>
              </a:r>
              <a:r>
                <a:rPr lang="en-US" altLang="zh-TW" sz="1600" i="1" baseline="-25000" dirty="0">
                  <a:latin typeface="Times New Roman"/>
                  <a:cs typeface="Times New Roman"/>
                </a:rPr>
                <a:t>a</a:t>
              </a:r>
              <a:r>
                <a:rPr lang="en-US" altLang="zh-TW" sz="1200" i="1" dirty="0">
                  <a:solidFill>
                    <a:srgbClr val="707070"/>
                  </a:solidFill>
                  <a:latin typeface="Times New Roman"/>
                  <a:cs typeface="Times New Roman"/>
                </a:rPr>
                <a:t>  // total number of points</a:t>
              </a:r>
            </a:p>
            <a:p>
              <a:pPr>
                <a:lnSpc>
                  <a:spcPct val="103000"/>
                </a:lnSpc>
              </a:pPr>
              <a:r>
                <a:rPr lang="en-US" altLang="zh-TW" sz="1200" dirty="0">
                  <a:latin typeface="Times New Roman"/>
                  <a:cs typeface="Times New Roman"/>
                </a:rPr>
                <a:t> 3: </a:t>
              </a:r>
              <a:r>
                <a:rPr lang="en-US" altLang="zh-TW" sz="1600" i="1" dirty="0">
                  <a:latin typeface="Times New Roman"/>
                  <a:cs typeface="Times New Roman"/>
                </a:rPr>
                <a:t>p</a:t>
              </a:r>
              <a:r>
                <a:rPr lang="en-US" altLang="zh-TW" sz="1600" i="1" baseline="-25000" dirty="0">
                  <a:latin typeface="Times New Roman"/>
                  <a:cs typeface="Times New Roman"/>
                </a:rPr>
                <a:t>a</a:t>
              </a:r>
              <a:r>
                <a:rPr lang="en-US" altLang="zh-TW" sz="1600" dirty="0">
                  <a:latin typeface="Times New Roman"/>
                  <a:cs typeface="Times New Roman"/>
                </a:rPr>
                <a:t> ← zeros(</a:t>
              </a:r>
              <a:r>
                <a:rPr lang="en-US" altLang="zh-TW" sz="1600" i="1" dirty="0">
                  <a:latin typeface="Times New Roman"/>
                  <a:cs typeface="Times New Roman"/>
                </a:rPr>
                <a:t>N</a:t>
              </a:r>
              <a:r>
                <a:rPr lang="en-US" altLang="zh-TW" sz="1600" baseline="-25000" dirty="0">
                  <a:latin typeface="Times New Roman"/>
                  <a:cs typeface="Times New Roman"/>
                </a:rPr>
                <a:t>tot</a:t>
              </a:r>
              <a:r>
                <a:rPr lang="en-US" altLang="zh-TW" sz="1600" dirty="0">
                  <a:latin typeface="Times New Roman"/>
                  <a:cs typeface="Times New Roman"/>
                </a:rPr>
                <a:t>, 3)</a:t>
              </a:r>
            </a:p>
            <a:p>
              <a:pPr>
                <a:lnSpc>
                  <a:spcPct val="103000"/>
                </a:lnSpc>
              </a:pPr>
              <a:r>
                <a:rPr lang="en-US" altLang="zh-TW" sz="1200" dirty="0">
                  <a:latin typeface="Times New Roman"/>
                  <a:cs typeface="Times New Roman"/>
                </a:rPr>
                <a:t> 4: </a:t>
              </a:r>
              <a:r>
                <a:rPr lang="en-US" altLang="zh-TW" sz="1600" i="1" dirty="0">
                  <a:latin typeface="Times New Roman"/>
                  <a:cs typeface="Times New Roman"/>
                </a:rPr>
                <a:t>E</a:t>
              </a:r>
              <a:r>
                <a:rPr lang="en-US" altLang="zh-TW" sz="1600" dirty="0">
                  <a:latin typeface="Times New Roman"/>
                  <a:cs typeface="Times New Roman"/>
                </a:rPr>
                <a:t> ← eye(3)</a:t>
              </a:r>
              <a:r>
                <a:rPr lang="en-US" altLang="zh-TW" sz="1200" i="1" dirty="0">
                  <a:solidFill>
                    <a:srgbClr val="707070"/>
                  </a:solidFill>
                  <a:latin typeface="Times New Roman"/>
                  <a:cs typeface="Times New Roman"/>
                </a:rPr>
                <a:t>  // unit vectors of three axes</a:t>
              </a:r>
            </a:p>
            <a:p>
              <a:pPr>
                <a:lnSpc>
                  <a:spcPct val="103000"/>
                </a:lnSpc>
              </a:pPr>
              <a:r>
                <a:rPr lang="en-US" altLang="zh-TW" sz="1200" dirty="0">
                  <a:latin typeface="Times New Roman"/>
                  <a:cs typeface="Times New Roman"/>
                </a:rPr>
                <a:t> 5: </a:t>
              </a:r>
              <a:r>
                <a:rPr lang="en-US" altLang="zh-TW" sz="1600" dirty="0">
                  <a:latin typeface="Times New Roman"/>
                  <a:cs typeface="Times New Roman"/>
                </a:rPr>
                <a:t>cnt ← 1; </a:t>
              </a:r>
              <a:r>
                <a:rPr lang="en-US" altLang="zh-TW" sz="1600" i="1" dirty="0">
                  <a:latin typeface="Times New Roman"/>
                  <a:cs typeface="Times New Roman"/>
                </a:rPr>
                <a:t>p</a:t>
              </a:r>
              <a:r>
                <a:rPr lang="en-US" altLang="zh-TW" sz="1600" i="1" baseline="-25000" dirty="0">
                  <a:latin typeface="Times New Roman"/>
                  <a:cs typeface="Times New Roman"/>
                </a:rPr>
                <a:t>a</a:t>
              </a:r>
              <a:r>
                <a:rPr lang="en-US" altLang="zh-TW" sz="1600" dirty="0">
                  <a:latin typeface="Times New Roman"/>
                  <a:cs typeface="Times New Roman"/>
                </a:rPr>
                <a:t>(cnt, :) ← [0, 0, 0]</a:t>
              </a:r>
              <a:r>
                <a:rPr lang="en-US" altLang="zh-TW" sz="1200" i="1" dirty="0">
                  <a:solidFill>
                    <a:srgbClr val="707070"/>
                  </a:solidFill>
                  <a:latin typeface="Times New Roman"/>
                  <a:cs typeface="Times New Roman"/>
                </a:rPr>
                <a:t>  // center point</a:t>
              </a:r>
            </a:p>
            <a:p>
              <a:pPr>
                <a:lnSpc>
                  <a:spcPct val="103000"/>
                </a:lnSpc>
              </a:pPr>
              <a:r>
                <a:rPr lang="en-US" altLang="zh-TW" sz="1200" dirty="0">
                  <a:latin typeface="Times New Roman"/>
                  <a:cs typeface="Times New Roman"/>
                </a:rPr>
                <a:t> 6: </a:t>
              </a:r>
              <a:r>
                <a:rPr lang="en-US" altLang="zh-TW" sz="1600" b="1" dirty="0">
                  <a:latin typeface="Times New Roman"/>
                  <a:cs typeface="Times New Roman"/>
                </a:rPr>
                <a:t>for </a:t>
              </a:r>
              <a:r>
                <a:rPr lang="en-US" altLang="zh-TW" sz="1600" i="1" dirty="0">
                  <a:latin typeface="Times New Roman"/>
                  <a:cs typeface="Times New Roman"/>
                </a:rPr>
                <a:t>j</a:t>
              </a:r>
              <a:r>
                <a:rPr lang="en-US" altLang="zh-TW" sz="1600" dirty="0">
                  <a:latin typeface="Times New Roman"/>
                  <a:cs typeface="Times New Roman"/>
                </a:rPr>
                <a:t> = 1 </a:t>
              </a:r>
              <a:r>
                <a:rPr lang="en-US" altLang="zh-TW" sz="1600" b="1" dirty="0">
                  <a:latin typeface="Times New Roman"/>
                  <a:cs typeface="Times New Roman"/>
                </a:rPr>
                <a:t>to</a:t>
              </a:r>
              <a:r>
                <a:rPr lang="en-US" altLang="zh-TW" sz="1600" dirty="0">
                  <a:latin typeface="Times New Roman"/>
                  <a:cs typeface="Times New Roman"/>
                </a:rPr>
                <a:t> 3 </a:t>
              </a:r>
              <a:r>
                <a:rPr lang="en-US" altLang="zh-TW" sz="1600" b="1" dirty="0">
                  <a:latin typeface="Times New Roman"/>
                  <a:cs typeface="Times New Roman"/>
                </a:rPr>
                <a:t>do</a:t>
              </a:r>
            </a:p>
            <a:p>
              <a:pPr>
                <a:lnSpc>
                  <a:spcPct val="103000"/>
                </a:lnSpc>
              </a:pPr>
              <a:r>
                <a:rPr lang="en-US" altLang="zh-TW" sz="1200" dirty="0">
                  <a:latin typeface="Times New Roman"/>
                  <a:cs typeface="Times New Roman"/>
                </a:rPr>
                <a:t> 7:   </a:t>
              </a:r>
              <a:r>
                <a:rPr lang="en-US" altLang="zh-TW" sz="1600" b="1" dirty="0">
                  <a:latin typeface="Times New Roman"/>
                  <a:cs typeface="Times New Roman"/>
                </a:rPr>
                <a:t>for </a:t>
              </a:r>
              <a:r>
                <a:rPr lang="en-US" altLang="zh-TW" sz="1600" i="1" dirty="0">
                  <a:latin typeface="Times New Roman"/>
                  <a:cs typeface="Times New Roman"/>
                </a:rPr>
                <a:t>s</a:t>
              </a:r>
              <a:r>
                <a:rPr lang="en-US" altLang="zh-TW" sz="1600" dirty="0">
                  <a:latin typeface="Times New Roman"/>
                  <a:cs typeface="Times New Roman"/>
                </a:rPr>
                <a:t> ∈ {+1, −1} </a:t>
              </a:r>
              <a:r>
                <a:rPr lang="en-US" altLang="zh-TW" sz="1600" b="1" dirty="0">
                  <a:latin typeface="Times New Roman"/>
                  <a:cs typeface="Times New Roman"/>
                </a:rPr>
                <a:t>do</a:t>
              </a:r>
              <a:r>
                <a:rPr lang="en-US" altLang="zh-TW" sz="1200" i="1" dirty="0">
                  <a:solidFill>
                    <a:srgbClr val="707070"/>
                  </a:solidFill>
                  <a:latin typeface="Times New Roman"/>
                  <a:cs typeface="Times New Roman"/>
                </a:rPr>
                <a:t>  // ± direction</a:t>
              </a:r>
            </a:p>
            <a:p>
              <a:pPr>
                <a:lnSpc>
                  <a:spcPct val="103000"/>
                </a:lnSpc>
              </a:pPr>
              <a:r>
                <a:rPr lang="en-US" altLang="zh-TW" sz="1200" dirty="0">
                  <a:latin typeface="Times New Roman"/>
                  <a:cs typeface="Times New Roman"/>
                </a:rPr>
                <a:t> 8:     </a:t>
              </a:r>
              <a:r>
                <a:rPr lang="en-US" altLang="zh-TW" sz="1600" b="1" dirty="0">
                  <a:latin typeface="Times New Roman"/>
                  <a:cs typeface="Times New Roman"/>
                </a:rPr>
                <a:t>for </a:t>
              </a:r>
              <a:r>
                <a:rPr lang="en-US" altLang="zh-TW" sz="1600" i="1" dirty="0" err="1">
                  <a:latin typeface="Times New Roman"/>
                  <a:cs typeface="Times New Roman"/>
                </a:rPr>
                <a:t>i</a:t>
              </a:r>
              <a:r>
                <a:rPr lang="en-US" altLang="zh-TW" sz="1600" i="1" dirty="0">
                  <a:latin typeface="Times New Roman"/>
                  <a:cs typeface="Times New Roman"/>
                </a:rPr>
                <a:t> </a:t>
              </a:r>
              <a:r>
                <a:rPr lang="en-US" altLang="zh-TW" sz="1600" dirty="0">
                  <a:latin typeface="Times New Roman"/>
                  <a:cs typeface="Times New Roman"/>
                </a:rPr>
                <a:t>= 1 </a:t>
              </a:r>
              <a:r>
                <a:rPr lang="en-US" altLang="zh-TW" sz="1600" b="1" dirty="0">
                  <a:latin typeface="Times New Roman"/>
                  <a:cs typeface="Times New Roman"/>
                </a:rPr>
                <a:t>to </a:t>
              </a:r>
              <a:r>
                <a:rPr lang="en-US" altLang="zh-TW" sz="1600" i="1" dirty="0">
                  <a:latin typeface="Times New Roman"/>
                  <a:cs typeface="Times New Roman"/>
                </a:rPr>
                <a:t>N</a:t>
              </a:r>
              <a:r>
                <a:rPr lang="en-US" altLang="zh-TW" sz="1600" i="1" baseline="-25000" dirty="0">
                  <a:latin typeface="Times New Roman"/>
                  <a:cs typeface="Times New Roman"/>
                </a:rPr>
                <a:t>a</a:t>
              </a:r>
              <a:r>
                <a:rPr lang="en-US" altLang="zh-TW" sz="1600" dirty="0">
                  <a:latin typeface="Times New Roman"/>
                  <a:cs typeface="Times New Roman"/>
                </a:rPr>
                <a:t> </a:t>
              </a:r>
              <a:r>
                <a:rPr lang="en-US" altLang="zh-TW" sz="1600" b="1" dirty="0">
                  <a:latin typeface="Times New Roman"/>
                  <a:cs typeface="Times New Roman"/>
                </a:rPr>
                <a:t>do</a:t>
              </a:r>
            </a:p>
            <a:p>
              <a:pPr>
                <a:lnSpc>
                  <a:spcPct val="103000"/>
                </a:lnSpc>
              </a:pPr>
              <a:r>
                <a:rPr lang="en-US" altLang="zh-TW" sz="1200" dirty="0">
                  <a:latin typeface="Times New Roman"/>
                  <a:cs typeface="Times New Roman"/>
                </a:rPr>
                <a:t> 9:       </a:t>
              </a:r>
              <a:r>
                <a:rPr lang="en-US" altLang="zh-TW" sz="1600" dirty="0">
                  <a:latin typeface="Times New Roman"/>
                  <a:cs typeface="Times New Roman"/>
                </a:rPr>
                <a:t>cnt ← cnt + 1</a:t>
              </a:r>
            </a:p>
            <a:p>
              <a:pPr>
                <a:lnSpc>
                  <a:spcPct val="103000"/>
                </a:lnSpc>
              </a:pPr>
              <a:r>
                <a:rPr lang="en-US" altLang="zh-TW" sz="1200" dirty="0">
                  <a:latin typeface="Times New Roman"/>
                  <a:cs typeface="Times New Roman"/>
                </a:rPr>
                <a:t>10:       </a:t>
              </a:r>
              <a:r>
                <a:rPr lang="en-US" altLang="zh-TW" sz="1600" i="1" dirty="0">
                  <a:latin typeface="Times New Roman"/>
                  <a:cs typeface="Times New Roman"/>
                </a:rPr>
                <a:t>p</a:t>
              </a:r>
              <a:r>
                <a:rPr lang="en-US" altLang="zh-TW" sz="1600" i="1" baseline="-25000" dirty="0">
                  <a:latin typeface="Times New Roman"/>
                  <a:cs typeface="Times New Roman"/>
                </a:rPr>
                <a:t>a</a:t>
              </a:r>
              <a:r>
                <a:rPr lang="en-US" altLang="zh-TW" sz="1600" dirty="0">
                  <a:latin typeface="Times New Roman"/>
                  <a:cs typeface="Times New Roman"/>
                </a:rPr>
                <a:t>(cnt, :) ← </a:t>
              </a:r>
              <a:r>
                <a:rPr lang="en-US" altLang="zh-TW" sz="1600" i="1" dirty="0">
                  <a:latin typeface="Times New Roman"/>
                  <a:cs typeface="Times New Roman"/>
                </a:rPr>
                <a:t>s</a:t>
              </a:r>
              <a:r>
                <a:rPr lang="en-US" altLang="zh-TW" sz="1600" dirty="0">
                  <a:latin typeface="Times New Roman"/>
                  <a:cs typeface="Times New Roman"/>
                </a:rPr>
                <a:t> · </a:t>
              </a:r>
              <a:r>
                <a:rPr lang="en-US" altLang="zh-TW" sz="1600" i="1" dirty="0">
                  <a:latin typeface="Times New Roman"/>
                  <a:cs typeface="Times New Roman"/>
                </a:rPr>
                <a:t>i</a:t>
              </a:r>
              <a:r>
                <a:rPr lang="en-US" altLang="zh-TW" sz="1600" dirty="0">
                  <a:latin typeface="Times New Roman"/>
                  <a:cs typeface="Times New Roman"/>
                </a:rPr>
                <a:t> · </a:t>
              </a:r>
              <a:r>
                <a:rPr lang="en-US" altLang="zh-TW" sz="1600" i="1" dirty="0">
                  <a:latin typeface="Times New Roman"/>
                  <a:cs typeface="Times New Roman"/>
                </a:rPr>
                <a:t>d</a:t>
              </a:r>
              <a:r>
                <a:rPr lang="en-US" altLang="zh-TW" sz="1600" dirty="0">
                  <a:latin typeface="Times New Roman"/>
                  <a:cs typeface="Times New Roman"/>
                </a:rPr>
                <a:t> · </a:t>
              </a:r>
              <a:r>
                <a:rPr lang="en-US" altLang="zh-TW" sz="1600" i="1" dirty="0">
                  <a:latin typeface="Times New Roman"/>
                  <a:cs typeface="Times New Roman"/>
                </a:rPr>
                <a:t>E</a:t>
              </a:r>
              <a:r>
                <a:rPr lang="en-US" altLang="zh-TW" sz="1600" dirty="0">
                  <a:latin typeface="Times New Roman"/>
                  <a:cs typeface="Times New Roman"/>
                </a:rPr>
                <a:t>(</a:t>
              </a:r>
              <a:r>
                <a:rPr lang="en-US" altLang="zh-TW" sz="1600" i="1" dirty="0">
                  <a:latin typeface="Times New Roman"/>
                  <a:cs typeface="Times New Roman"/>
                </a:rPr>
                <a:t>j</a:t>
              </a:r>
              <a:r>
                <a:rPr lang="en-US" altLang="zh-TW" sz="1600" dirty="0">
                  <a:latin typeface="Times New Roman"/>
                  <a:cs typeface="Times New Roman"/>
                </a:rPr>
                <a:t>, :)</a:t>
              </a:r>
              <a:r>
                <a:rPr lang="en-US" altLang="zh-TW" sz="1200" i="1" dirty="0">
                  <a:solidFill>
                    <a:srgbClr val="707070"/>
                  </a:solidFill>
                  <a:latin typeface="Times New Roman"/>
                  <a:cs typeface="Times New Roman"/>
                </a:rPr>
                <a:t>  // </a:t>
              </a:r>
              <a:r>
                <a:rPr lang="en-US" altLang="zh-TW" sz="1200" i="1" dirty="0" err="1">
                  <a:solidFill>
                    <a:srgbClr val="707070"/>
                  </a:solidFill>
                  <a:latin typeface="Times New Roman"/>
                  <a:cs typeface="Times New Roman"/>
                </a:rPr>
                <a:t>i-th</a:t>
              </a:r>
              <a:r>
                <a:rPr lang="en-US" altLang="zh-TW" sz="1200" i="1" dirty="0">
                  <a:solidFill>
                    <a:srgbClr val="707070"/>
                  </a:solidFill>
                  <a:latin typeface="Times New Roman"/>
                  <a:cs typeface="Times New Roman"/>
                </a:rPr>
                <a:t> point on axis j</a:t>
              </a:r>
            </a:p>
            <a:p>
              <a:pPr>
                <a:lnSpc>
                  <a:spcPct val="103000"/>
                </a:lnSpc>
              </a:pPr>
              <a:r>
                <a:rPr lang="en-US" altLang="zh-TW" sz="1200" dirty="0">
                  <a:latin typeface="Times New Roman"/>
                  <a:cs typeface="Times New Roman"/>
                </a:rPr>
                <a:t>11:     </a:t>
              </a:r>
              <a:r>
                <a:rPr lang="en-US" altLang="zh-TW" sz="1600" b="1" dirty="0">
                  <a:latin typeface="Times New Roman"/>
                  <a:cs typeface="Times New Roman"/>
                </a:rPr>
                <a:t>end for</a:t>
              </a:r>
            </a:p>
            <a:p>
              <a:pPr>
                <a:lnSpc>
                  <a:spcPct val="103000"/>
                </a:lnSpc>
              </a:pPr>
              <a:r>
                <a:rPr lang="en-US" altLang="zh-TW" sz="1200" dirty="0">
                  <a:latin typeface="Times New Roman"/>
                  <a:cs typeface="Times New Roman"/>
                </a:rPr>
                <a:t>12:   </a:t>
              </a:r>
              <a:r>
                <a:rPr lang="en-US" altLang="zh-TW" sz="1600" b="1" dirty="0">
                  <a:latin typeface="Times New Roman"/>
                  <a:cs typeface="Times New Roman"/>
                </a:rPr>
                <a:t>end for</a:t>
              </a:r>
            </a:p>
            <a:p>
              <a:pPr>
                <a:lnSpc>
                  <a:spcPct val="103000"/>
                </a:lnSpc>
              </a:pPr>
              <a:r>
                <a:rPr lang="en-US" altLang="zh-TW" sz="1200" dirty="0">
                  <a:latin typeface="Times New Roman"/>
                  <a:cs typeface="Times New Roman"/>
                </a:rPr>
                <a:t>13: </a:t>
              </a:r>
              <a:r>
                <a:rPr lang="en-US" altLang="zh-TW" sz="1600" b="1" dirty="0">
                  <a:latin typeface="Times New Roman"/>
                  <a:cs typeface="Times New Roman"/>
                </a:rPr>
                <a:t>end for</a:t>
              </a:r>
            </a:p>
            <a:p>
              <a:pPr>
                <a:lnSpc>
                  <a:spcPct val="103000"/>
                </a:lnSpc>
              </a:pPr>
              <a:r>
                <a:rPr lang="en-US" altLang="zh-TW" sz="1200" dirty="0">
                  <a:latin typeface="Times New Roman"/>
                  <a:cs typeface="Times New Roman"/>
                </a:rPr>
                <a:t>14: </a:t>
              </a:r>
              <a:r>
                <a:rPr lang="en-US" altLang="zh-TW" sz="1600" b="1" dirty="0">
                  <a:latin typeface="Times New Roman"/>
                  <a:cs typeface="Times New Roman"/>
                </a:rPr>
                <a:t>return </a:t>
              </a:r>
              <a:r>
                <a:rPr lang="en-US" altLang="zh-TW" sz="1600" i="1" dirty="0">
                  <a:latin typeface="Times New Roman"/>
                  <a:cs typeface="Times New Roman"/>
                </a:rPr>
                <a:t>p</a:t>
              </a:r>
              <a:r>
                <a:rPr lang="en-US" altLang="zh-TW" sz="1600" i="1" baseline="-25000" dirty="0">
                  <a:latin typeface="Times New Roman"/>
                  <a:cs typeface="Times New Roman"/>
                </a:rPr>
                <a:t>a</a:t>
              </a:r>
              <a:endParaRPr lang="en-US" altLang="zh-TW" sz="1100" i="1" baseline="-25000" dirty="0">
                <a:latin typeface="Times New Roman"/>
                <a:cs typeface="Times New Roman"/>
              </a:endParaRPr>
            </a:p>
          </p:txBody>
        </p:sp>
        <p:cxnSp>
          <p:nvCxnSpPr>
            <p:cNvPr id="9" name="rule103">
              <a:extLst>
                <a:ext uri="{FF2B5EF4-FFF2-40B4-BE49-F238E27FC236}">
                  <a16:creationId xmlns:a16="http://schemas.microsoft.com/office/drawing/2014/main" id="{DDABBAB1-992D-4916-8535-33E3D10BB10E}"/>
                </a:ext>
              </a:extLst>
            </p:cNvPr>
            <p:cNvCxnSpPr/>
            <p:nvPr/>
          </p:nvCxnSpPr>
          <p:spPr>
            <a:xfrm>
              <a:off x="402001" y="1527292"/>
              <a:ext cx="5560000" cy="0"/>
            </a:xfrm>
            <a:prstGeom prst="line">
              <a:avLst/>
            </a:prstGeom>
            <a:ln w="9525">
              <a:solidFill>
                <a:srgbClr val="000000"/>
              </a:solidFill>
            </a:ln>
          </p:spPr>
        </p:cxnSp>
      </p:grpSp>
      <p:grpSp>
        <p:nvGrpSpPr>
          <p:cNvPr id="10" name="群組 9">
            <a:extLst>
              <a:ext uri="{FF2B5EF4-FFF2-40B4-BE49-F238E27FC236}">
                <a16:creationId xmlns:a16="http://schemas.microsoft.com/office/drawing/2014/main" id="{933A178B-8AF6-4B98-AAC3-3EABC363A13D}"/>
              </a:ext>
            </a:extLst>
          </p:cNvPr>
          <p:cNvGrpSpPr/>
          <p:nvPr/>
        </p:nvGrpSpPr>
        <p:grpSpPr>
          <a:xfrm>
            <a:off x="6247823" y="1212036"/>
            <a:ext cx="5560000" cy="5032832"/>
            <a:chOff x="6230001" y="1227291"/>
            <a:chExt cx="5560000" cy="5032832"/>
          </a:xfrm>
        </p:grpSpPr>
        <mc:AlternateContent xmlns:mc="http://schemas.openxmlformats.org/markup-compatibility/2006" xmlns:a14="http://schemas.microsoft.com/office/drawing/2010/main">
          <mc:Choice Requires="a14">
            <p:sp>
              <p:nvSpPr>
                <p:cNvPr id="11" name="Algorithm 2">
                  <a:extLst>
                    <a:ext uri="{FF2B5EF4-FFF2-40B4-BE49-F238E27FC236}">
                      <a16:creationId xmlns:a16="http://schemas.microsoft.com/office/drawing/2014/main" id="{1177C345-91EB-49FB-ACFC-FA3CF50404F7}"/>
                    </a:ext>
                  </a:extLst>
                </p:cNvPr>
                <p:cNvSpPr txBox="1"/>
                <p:nvPr/>
              </p:nvSpPr>
              <p:spPr>
                <a:xfrm>
                  <a:off x="6230001" y="1227291"/>
                  <a:ext cx="5560000" cy="5032832"/>
                </a:xfrm>
                <a:prstGeom prst="rect">
                  <a:avLst/>
                </a:prstGeom>
                <a:solidFill>
                  <a:srgbClr val="FFFFFF"/>
                </a:solidFill>
                <a:ln w="6350">
                  <a:solidFill>
                    <a:srgbClr val="000000"/>
                  </a:solidFill>
                </a:ln>
              </p:spPr>
              <p:txBody>
                <a:bodyPr wrap="square" lIns="91440" tIns="45720" rIns="91440" bIns="45720">
                  <a:noAutofit/>
                </a:bodyPr>
                <a:lstStyle/>
                <a:p>
                  <a:pPr>
                    <a:lnSpc>
                      <a:spcPct val="103000"/>
                    </a:lnSpc>
                    <a:spcAft>
                      <a:spcPts val="500"/>
                    </a:spcAft>
                  </a:pPr>
                  <a:r>
                    <a:rPr lang="en-US" altLang="zh-TW" sz="1400" b="1" dirty="0">
                      <a:latin typeface="Times New Roman"/>
                      <a:cs typeface="Times New Roman"/>
                    </a:rPr>
                    <a:t>Algorithm 2 </a:t>
                  </a:r>
                  <a:r>
                    <a:rPr lang="en-US" altLang="zh-TW" sz="1400" dirty="0">
                      <a:latin typeface="Times New Roman"/>
                      <a:cs typeface="Times New Roman"/>
                    </a:rPr>
                    <a:t>Barycentric Interpolation</a:t>
                  </a:r>
                </a:p>
                <a:p>
                  <a:pPr>
                    <a:lnSpc>
                      <a:spcPct val="103000"/>
                    </a:lnSpc>
                  </a:pPr>
                  <a:r>
                    <a:rPr lang="en-US" altLang="zh-TW" sz="1400" b="1" dirty="0">
                      <a:latin typeface="Times New Roman"/>
                      <a:cs typeface="Times New Roman"/>
                    </a:rPr>
                    <a:t>Input: </a:t>
                  </a:r>
                  <a:r>
                    <a:rPr lang="en-US" altLang="zh-TW" sz="1400" i="1" dirty="0">
                      <a:latin typeface="Times New Roman"/>
                      <a:cs typeface="Times New Roman"/>
                    </a:rPr>
                    <a:t>p</a:t>
                  </a:r>
                  <a:r>
                    <a:rPr lang="en-US" altLang="zh-TW" sz="1400" i="1" baseline="-25000" dirty="0">
                      <a:latin typeface="Times New Roman"/>
                      <a:cs typeface="Times New Roman"/>
                    </a:rPr>
                    <a:t>a</a:t>
                  </a:r>
                  <a:r>
                    <a:rPr lang="en-US" altLang="zh-TW" sz="1400" dirty="0">
                      <a:latin typeface="Times New Roman"/>
                      <a:cs typeface="Times New Roman"/>
                    </a:rPr>
                    <a:t> (</a:t>
                  </a:r>
                  <a:r>
                    <a:rPr lang="en-US" altLang="zh-TW" sz="1400" i="1" dirty="0">
                      <a:latin typeface="Times New Roman"/>
                      <a:cs typeface="Times New Roman"/>
                    </a:rPr>
                    <a:t>N</a:t>
                  </a:r>
                  <a:r>
                    <a:rPr lang="en-US" altLang="zh-TW" sz="1400" baseline="-25000" dirty="0">
                      <a:latin typeface="Times New Roman"/>
                      <a:cs typeface="Times New Roman"/>
                    </a:rPr>
                    <a:t>tot</a:t>
                  </a:r>
                  <a:r>
                    <a:rPr lang="en-US" altLang="zh-TW" sz="1400" dirty="0">
                      <a:latin typeface="Times New Roman"/>
                      <a:cs typeface="Times New Roman"/>
                    </a:rPr>
                    <a:t> × 3), </a:t>
                  </a:r>
                  <a:r>
                    <a:rPr lang="en-US" altLang="zh-TW" sz="1400" i="1" dirty="0">
                      <a:latin typeface="Times New Roman"/>
                      <a:cs typeface="Times New Roman"/>
                    </a:rPr>
                    <a:t>p</a:t>
                  </a:r>
                  <a:r>
                    <a:rPr lang="en-US" altLang="zh-TW" sz="1400" dirty="0">
                      <a:latin typeface="Times New Roman"/>
                      <a:cs typeface="Times New Roman"/>
                    </a:rPr>
                    <a:t> (</a:t>
                  </a:r>
                  <a:r>
                    <a:rPr lang="en-US" altLang="zh-TW" sz="1400" i="1" dirty="0">
                      <a:latin typeface="Times New Roman"/>
                      <a:cs typeface="Times New Roman"/>
                    </a:rPr>
                    <a:t>N</a:t>
                  </a:r>
                  <a:r>
                    <a:rPr lang="en-US" altLang="zh-TW" sz="1400" i="1" baseline="-25000" dirty="0">
                      <a:latin typeface="Times New Roman"/>
                      <a:cs typeface="Times New Roman"/>
                    </a:rPr>
                    <a:t>p</a:t>
                  </a:r>
                  <a:r>
                    <a:rPr lang="en-US" altLang="zh-TW" sz="1400" dirty="0">
                      <a:latin typeface="Times New Roman"/>
                      <a:cs typeface="Times New Roman"/>
                    </a:rPr>
                    <a:t> × 3), </a:t>
                  </a:r>
                  <a:r>
                    <a:rPr lang="en-US" altLang="zh-TW" sz="1400" i="1" dirty="0">
                      <a:latin typeface="Times New Roman"/>
                      <a:cs typeface="Times New Roman"/>
                    </a:rPr>
                    <a:t>b</a:t>
                  </a:r>
                  <a:r>
                    <a:rPr lang="en-US" altLang="zh-TW" sz="1400" dirty="0">
                      <a:latin typeface="Times New Roman"/>
                      <a:cs typeface="Times New Roman"/>
                    </a:rPr>
                    <a:t>(</a:t>
                  </a:r>
                  <a:r>
                    <a:rPr lang="en-US" altLang="zh-TW" sz="1400" i="1" dirty="0">
                      <a:latin typeface="Times New Roman"/>
                      <a:cs typeface="Times New Roman"/>
                    </a:rPr>
                    <a:t>p</a:t>
                  </a:r>
                  <a:r>
                    <a:rPr lang="en-US" altLang="zh-TW" sz="1400" dirty="0">
                      <a:latin typeface="Times New Roman"/>
                      <a:cs typeface="Times New Roman"/>
                    </a:rPr>
                    <a:t>) (</a:t>
                  </a:r>
                  <a:r>
                    <a:rPr lang="en-US" altLang="zh-TW" sz="1400" i="1" dirty="0">
                      <a:latin typeface="Times New Roman"/>
                      <a:cs typeface="Times New Roman"/>
                    </a:rPr>
                    <a:t>N</a:t>
                  </a:r>
                  <a:r>
                    <a:rPr lang="en-US" altLang="zh-TW" sz="1400" i="1" baseline="-25000" dirty="0">
                      <a:latin typeface="Times New Roman"/>
                      <a:cs typeface="Times New Roman"/>
                    </a:rPr>
                    <a:t>p</a:t>
                  </a:r>
                  <a:r>
                    <a:rPr lang="en-US" altLang="zh-TW" sz="1400" dirty="0">
                      <a:latin typeface="Times New Roman"/>
                      <a:cs typeface="Times New Roman"/>
                    </a:rPr>
                    <a:t> × 3 × </a:t>
                  </a:r>
                  <a:r>
                    <a:rPr lang="en-US" altLang="zh-TW" sz="1400" i="1" dirty="0">
                      <a:latin typeface="Times New Roman"/>
                      <a:cs typeface="Times New Roman"/>
                    </a:rPr>
                    <a:t>N</a:t>
                  </a:r>
                  <a:r>
                    <a:rPr lang="en-US" altLang="zh-TW" sz="1400" i="1" baseline="-25000" dirty="0">
                      <a:latin typeface="Times New Roman"/>
                      <a:cs typeface="Times New Roman"/>
                    </a:rPr>
                    <a:t>s</a:t>
                  </a:r>
                  <a:r>
                    <a:rPr lang="en-US" altLang="zh-TW" sz="1400" dirty="0">
                      <a:latin typeface="Times New Roman"/>
                      <a:cs typeface="Times New Roman"/>
                    </a:rPr>
                    <a:t>)</a:t>
                  </a:r>
                </a:p>
                <a:p>
                  <a:pPr>
                    <a:lnSpc>
                      <a:spcPct val="103000"/>
                    </a:lnSpc>
                    <a:spcAft>
                      <a:spcPts val="500"/>
                    </a:spcAft>
                  </a:pPr>
                  <a:r>
                    <a:rPr lang="en-US" altLang="zh-TW" sz="1400" b="1" dirty="0">
                      <a:latin typeface="Times New Roman"/>
                      <a:cs typeface="Times New Roman"/>
                    </a:rPr>
                    <a:t>Output: </a:t>
                  </a:r>
                  <a:r>
                    <a:rPr lang="en-US" altLang="zh-TW" sz="1400" i="1" dirty="0">
                      <a:latin typeface="Times New Roman"/>
                      <a:cs typeface="Times New Roman"/>
                    </a:rPr>
                    <a:t>b</a:t>
                  </a:r>
                  <a:r>
                    <a:rPr lang="en-US" altLang="zh-TW" sz="1400" dirty="0">
                      <a:latin typeface="Times New Roman"/>
                      <a:cs typeface="Times New Roman"/>
                    </a:rPr>
                    <a:t>(</a:t>
                  </a:r>
                  <a:r>
                    <a:rPr lang="en-US" altLang="zh-TW" sz="1400" i="1" dirty="0">
                      <a:latin typeface="Times New Roman"/>
                      <a:cs typeface="Times New Roman"/>
                    </a:rPr>
                    <a:t>p</a:t>
                  </a:r>
                  <a:r>
                    <a:rPr lang="en-US" altLang="zh-TW" sz="1400" i="1" baseline="-25000" dirty="0">
                      <a:latin typeface="Times New Roman"/>
                      <a:cs typeface="Times New Roman"/>
                    </a:rPr>
                    <a:t>a</a:t>
                  </a:r>
                  <a:r>
                    <a:rPr lang="en-US" altLang="zh-TW" sz="1400" dirty="0">
                      <a:latin typeface="Times New Roman"/>
                      <a:cs typeface="Times New Roman"/>
                    </a:rPr>
                    <a:t>) (</a:t>
                  </a:r>
                  <a:r>
                    <a:rPr lang="en-US" altLang="zh-TW" sz="1400" i="1" dirty="0">
                      <a:latin typeface="Times New Roman"/>
                      <a:cs typeface="Times New Roman"/>
                    </a:rPr>
                    <a:t>N</a:t>
                  </a:r>
                  <a:r>
                    <a:rPr lang="en-US" altLang="zh-TW" sz="1400" baseline="-25000" dirty="0">
                      <a:latin typeface="Times New Roman"/>
                      <a:cs typeface="Times New Roman"/>
                    </a:rPr>
                    <a:t>tot</a:t>
                  </a:r>
                  <a:r>
                    <a:rPr lang="en-US" altLang="zh-TW" sz="1400" dirty="0">
                      <a:latin typeface="Times New Roman"/>
                      <a:cs typeface="Times New Roman"/>
                    </a:rPr>
                    <a:t> × 3 × </a:t>
                  </a:r>
                  <a:r>
                    <a:rPr lang="en-US" altLang="zh-TW" sz="1400" i="1" dirty="0">
                      <a:latin typeface="Times New Roman"/>
                      <a:cs typeface="Times New Roman"/>
                    </a:rPr>
                    <a:t>N</a:t>
                  </a:r>
                  <a:r>
                    <a:rPr lang="en-US" altLang="zh-TW" sz="1400" i="1" baseline="-25000" dirty="0">
                      <a:latin typeface="Times New Roman"/>
                      <a:cs typeface="Times New Roman"/>
                    </a:rPr>
                    <a:t>s</a:t>
                  </a:r>
                  <a:r>
                    <a:rPr lang="en-US" altLang="zh-TW" sz="1400" dirty="0">
                      <a:latin typeface="Times New Roman"/>
                      <a:cs typeface="Times New Roman"/>
                    </a:rPr>
                    <a:t>)</a:t>
                  </a:r>
                </a:p>
                <a:p>
                  <a:pPr>
                    <a:lnSpc>
                      <a:spcPct val="103000"/>
                    </a:lnSpc>
                  </a:pPr>
                  <a:r>
                    <a:rPr lang="en-US" altLang="zh-TW" sz="1100" dirty="0">
                      <a:latin typeface="Times New Roman"/>
                      <a:cs typeface="Times New Roman"/>
                    </a:rPr>
                    <a:t> 1: </a:t>
                  </a:r>
                  <a:r>
                    <a:rPr lang="en-US" altLang="zh-TW" sz="1400" i="1" dirty="0">
                      <a:latin typeface="Times New Roman"/>
                      <a:cs typeface="Times New Roman"/>
                    </a:rPr>
                    <a:t>T</a:t>
                  </a:r>
                  <a:r>
                    <a:rPr lang="en-US" altLang="zh-TW" sz="1400" dirty="0">
                      <a:latin typeface="Times New Roman"/>
                      <a:cs typeface="Times New Roman"/>
                    </a:rPr>
                    <a:t> ← DelaunayTriangulation(</a:t>
                  </a:r>
                  <a:r>
                    <a:rPr lang="en-US" altLang="zh-TW" sz="1400" i="1" dirty="0">
                      <a:latin typeface="Times New Roman"/>
                      <a:cs typeface="Times New Roman"/>
                    </a:rPr>
                    <a:t>p</a:t>
                  </a:r>
                  <a:r>
                    <a:rPr lang="en-US" altLang="zh-TW" sz="1400" dirty="0">
                      <a:latin typeface="Times New Roman"/>
                      <a:cs typeface="Times New Roman"/>
                    </a:rPr>
                    <a:t>)</a:t>
                  </a:r>
                  <a:r>
                    <a:rPr lang="en-US" altLang="zh-TW" sz="1100" i="1" dirty="0">
                      <a:solidFill>
                        <a:srgbClr val="707070"/>
                      </a:solidFill>
                      <a:latin typeface="Times New Roman"/>
                      <a:cs typeface="Times New Roman"/>
                    </a:rPr>
                    <a:t>  // rebuild connectivity</a:t>
                  </a:r>
                </a:p>
                <a:p>
                  <a:pPr>
                    <a:lnSpc>
                      <a:spcPct val="103000"/>
                    </a:lnSpc>
                  </a:pPr>
                  <a:r>
                    <a:rPr lang="en-US" altLang="zh-TW" sz="1100" dirty="0">
                      <a:latin typeface="Times New Roman"/>
                      <a:cs typeface="Times New Roman"/>
                    </a:rPr>
                    <a:t> 2: </a:t>
                  </a:r>
                  <a:r>
                    <a:rPr lang="en-US" altLang="zh-TW" sz="1400" b="1" dirty="0">
                      <a:latin typeface="Times New Roman"/>
                      <a:cs typeface="Times New Roman"/>
                    </a:rPr>
                    <a:t>for </a:t>
                  </a:r>
                  <a:r>
                    <a:rPr lang="en-US" altLang="zh-TW" sz="1400" i="1" dirty="0">
                      <a:latin typeface="Times New Roman"/>
                      <a:cs typeface="Times New Roman"/>
                    </a:rPr>
                    <a:t>q</a:t>
                  </a:r>
                  <a:r>
                    <a:rPr lang="en-US" altLang="zh-TW" sz="1400" dirty="0">
                      <a:latin typeface="Times New Roman"/>
                      <a:cs typeface="Times New Roman"/>
                    </a:rPr>
                    <a:t> = 1 </a:t>
                  </a:r>
                  <a:r>
                    <a:rPr lang="en-US" altLang="zh-TW" sz="1400" b="1" dirty="0">
                      <a:latin typeface="Times New Roman"/>
                      <a:cs typeface="Times New Roman"/>
                    </a:rPr>
                    <a:t>to </a:t>
                  </a:r>
                  <a:r>
                    <a:rPr lang="en-US" altLang="zh-TW" sz="1400" i="1" dirty="0">
                      <a:latin typeface="Times New Roman"/>
                      <a:cs typeface="Times New Roman"/>
                    </a:rPr>
                    <a:t>N</a:t>
                  </a:r>
                  <a:r>
                    <a:rPr lang="en-US" altLang="zh-TW" sz="1400" baseline="-25000" dirty="0">
                      <a:latin typeface="Times New Roman"/>
                      <a:cs typeface="Times New Roman"/>
                    </a:rPr>
                    <a:t>tot</a:t>
                  </a:r>
                  <a:r>
                    <a:rPr lang="en-US" altLang="zh-TW" sz="1400" dirty="0">
                      <a:latin typeface="Times New Roman"/>
                      <a:cs typeface="Times New Roman"/>
                    </a:rPr>
                    <a:t> </a:t>
                  </a:r>
                  <a:r>
                    <a:rPr lang="en-US" altLang="zh-TW" sz="1400" b="1" dirty="0">
                      <a:latin typeface="Times New Roman"/>
                      <a:cs typeface="Times New Roman"/>
                    </a:rPr>
                    <a:t>do</a:t>
                  </a:r>
                </a:p>
                <a:p>
                  <a:pPr>
                    <a:lnSpc>
                      <a:spcPct val="103000"/>
                    </a:lnSpc>
                  </a:pPr>
                  <a:r>
                    <a:rPr lang="en-US" altLang="zh-TW" sz="1100" dirty="0">
                      <a:latin typeface="Times New Roman"/>
                      <a:cs typeface="Times New Roman"/>
                    </a:rPr>
                    <a:t> 3:   </a:t>
                  </a:r>
                  <a:r>
                    <a:rPr lang="en-US" altLang="zh-TW" sz="1400" dirty="0">
                      <a:latin typeface="Times New Roman"/>
                      <a:cs typeface="Times New Roman"/>
                    </a:rPr>
                    <a:t>(tetID, </a:t>
                  </a:r>
                  <a:r>
                    <a:rPr lang="en-US" altLang="zh-TW" sz="1400" i="1" dirty="0">
                      <a:latin typeface="Times New Roman"/>
                      <a:cs typeface="Times New Roman"/>
                    </a:rPr>
                    <a:t>λ</a:t>
                  </a:r>
                  <a:r>
                    <a:rPr lang="en-US" altLang="zh-TW" sz="1400" dirty="0">
                      <a:latin typeface="Times New Roman"/>
                      <a:cs typeface="Times New Roman"/>
                    </a:rPr>
                    <a:t>) ← PointLocation(</a:t>
                  </a:r>
                  <a:r>
                    <a:rPr lang="en-US" altLang="zh-TW" sz="1400" i="1" dirty="0">
                      <a:latin typeface="Times New Roman"/>
                      <a:cs typeface="Times New Roman"/>
                    </a:rPr>
                    <a:t>T</a:t>
                  </a:r>
                  <a:r>
                    <a:rPr lang="en-US" altLang="zh-TW" sz="1400" dirty="0">
                      <a:latin typeface="Times New Roman"/>
                      <a:cs typeface="Times New Roman"/>
                    </a:rPr>
                    <a:t>, </a:t>
                  </a:r>
                  <a:r>
                    <a:rPr lang="en-US" altLang="zh-TW" sz="1400" i="1" dirty="0">
                      <a:latin typeface="Times New Roman"/>
                      <a:cs typeface="Times New Roman"/>
                    </a:rPr>
                    <a:t>p</a:t>
                  </a:r>
                  <a:r>
                    <a:rPr lang="en-US" altLang="zh-TW" sz="1400" i="1" baseline="-25000" dirty="0">
                      <a:latin typeface="Times New Roman"/>
                      <a:cs typeface="Times New Roman"/>
                    </a:rPr>
                    <a:t>a</a:t>
                  </a:r>
                  <a:r>
                    <a:rPr lang="en-US" altLang="zh-TW" sz="1400" dirty="0">
                      <a:latin typeface="Times New Roman"/>
                      <a:cs typeface="Times New Roman"/>
                    </a:rPr>
                    <a:t>(</a:t>
                  </a:r>
                  <a:r>
                    <a:rPr lang="en-US" altLang="zh-TW" sz="1400" i="1" dirty="0">
                      <a:latin typeface="Times New Roman"/>
                      <a:cs typeface="Times New Roman"/>
                    </a:rPr>
                    <a:t>q</a:t>
                  </a:r>
                  <a:r>
                    <a:rPr lang="en-US" altLang="zh-TW" sz="1400" dirty="0">
                      <a:latin typeface="Times New Roman"/>
                      <a:cs typeface="Times New Roman"/>
                    </a:rPr>
                    <a:t>, :))</a:t>
                  </a:r>
                  <a:r>
                    <a:rPr lang="en-US" altLang="zh-TW" sz="1100" i="1" dirty="0">
                      <a:solidFill>
                        <a:srgbClr val="707070"/>
                      </a:solidFill>
                      <a:latin typeface="Times New Roman"/>
                      <a:cs typeface="Times New Roman"/>
                    </a:rPr>
                    <a:t>  // enclosing tetrahedron</a:t>
                  </a:r>
                </a:p>
                <a:p>
                  <a:pPr>
                    <a:lnSpc>
                      <a:spcPct val="103000"/>
                    </a:lnSpc>
                  </a:pPr>
                  <a:r>
                    <a:rPr lang="en-US" altLang="zh-TW" sz="1100" dirty="0">
                      <a:latin typeface="Times New Roman"/>
                      <a:cs typeface="Times New Roman"/>
                    </a:rPr>
                    <a:t> 4:   </a:t>
                  </a:r>
                  <a:r>
                    <a:rPr lang="en-US" altLang="zh-TW" sz="1400" dirty="0">
                      <a:latin typeface="Times New Roman"/>
                      <a:cs typeface="Times New Roman"/>
                    </a:rPr>
                    <a:t>(</a:t>
                  </a:r>
                  <a:r>
                    <a:rPr lang="en-US" altLang="zh-TW" sz="1400" i="1" dirty="0">
                      <a:latin typeface="Times New Roman"/>
                      <a:cs typeface="Times New Roman"/>
                    </a:rPr>
                    <a:t>v</a:t>
                  </a:r>
                  <a:r>
                    <a:rPr lang="en-US" altLang="zh-TW" sz="1400" baseline="-25000" dirty="0">
                      <a:latin typeface="Times New Roman"/>
                      <a:cs typeface="Times New Roman"/>
                    </a:rPr>
                    <a:t>1</a:t>
                  </a:r>
                  <a:r>
                    <a:rPr lang="en-US" altLang="zh-TW" sz="1400" dirty="0">
                      <a:latin typeface="Times New Roman"/>
                      <a:cs typeface="Times New Roman"/>
                    </a:rPr>
                    <a:t>, </a:t>
                  </a:r>
                  <a:r>
                    <a:rPr lang="en-US" altLang="zh-TW" sz="1400" i="1" dirty="0">
                      <a:latin typeface="Times New Roman"/>
                      <a:cs typeface="Times New Roman"/>
                    </a:rPr>
                    <a:t>v</a:t>
                  </a:r>
                  <a:r>
                    <a:rPr lang="en-US" altLang="zh-TW" sz="1400" baseline="-25000" dirty="0">
                      <a:latin typeface="Times New Roman"/>
                      <a:cs typeface="Times New Roman"/>
                    </a:rPr>
                    <a:t>2</a:t>
                  </a:r>
                  <a:r>
                    <a:rPr lang="en-US" altLang="zh-TW" sz="1400" dirty="0">
                      <a:latin typeface="Times New Roman"/>
                      <a:cs typeface="Times New Roman"/>
                    </a:rPr>
                    <a:t>, </a:t>
                  </a:r>
                  <a:r>
                    <a:rPr lang="en-US" altLang="zh-TW" sz="1400" i="1" dirty="0">
                      <a:latin typeface="Times New Roman"/>
                      <a:cs typeface="Times New Roman"/>
                    </a:rPr>
                    <a:t>v</a:t>
                  </a:r>
                  <a:r>
                    <a:rPr lang="en-US" altLang="zh-TW" sz="1400" baseline="-25000" dirty="0">
                      <a:latin typeface="Times New Roman"/>
                      <a:cs typeface="Times New Roman"/>
                    </a:rPr>
                    <a:t>3</a:t>
                  </a:r>
                  <a:r>
                    <a:rPr lang="en-US" altLang="zh-TW" sz="1400" dirty="0">
                      <a:latin typeface="Times New Roman"/>
                      <a:cs typeface="Times New Roman"/>
                    </a:rPr>
                    <a:t>, </a:t>
                  </a:r>
                  <a:r>
                    <a:rPr lang="en-US" altLang="zh-TW" sz="1400" i="1" dirty="0">
                      <a:latin typeface="Times New Roman"/>
                      <a:cs typeface="Times New Roman"/>
                    </a:rPr>
                    <a:t>v</a:t>
                  </a:r>
                  <a:r>
                    <a:rPr lang="en-US" altLang="zh-TW" sz="1400" baseline="-25000" dirty="0">
                      <a:latin typeface="Times New Roman"/>
                      <a:cs typeface="Times New Roman"/>
                    </a:rPr>
                    <a:t>4</a:t>
                  </a:r>
                  <a:r>
                    <a:rPr lang="en-US" altLang="zh-TW" sz="1400" dirty="0">
                      <a:latin typeface="Times New Roman"/>
                      <a:cs typeface="Times New Roman"/>
                    </a:rPr>
                    <a:t>) ← ConnectivityList(</a:t>
                  </a:r>
                  <a:r>
                    <a:rPr lang="en-US" altLang="zh-TW" sz="1400" i="1" dirty="0">
                      <a:latin typeface="Times New Roman"/>
                      <a:cs typeface="Times New Roman"/>
                    </a:rPr>
                    <a:t>T</a:t>
                  </a:r>
                  <a:r>
                    <a:rPr lang="en-US" altLang="zh-TW" sz="1400" dirty="0">
                      <a:latin typeface="Times New Roman"/>
                      <a:cs typeface="Times New Roman"/>
                    </a:rPr>
                    <a:t>, tetID)</a:t>
                  </a:r>
                  <a:r>
                    <a:rPr lang="en-US" altLang="zh-TW" sz="1100" i="1" dirty="0">
                      <a:solidFill>
                        <a:srgbClr val="707070"/>
                      </a:solidFill>
                      <a:latin typeface="Times New Roman"/>
                      <a:cs typeface="Times New Roman"/>
                    </a:rPr>
                    <a:t>  // 4 interpolation nodes</a:t>
                  </a:r>
                </a:p>
                <a:p>
                  <a:pPr>
                    <a:lnSpc>
                      <a:spcPct val="103000"/>
                    </a:lnSpc>
                  </a:pPr>
                  <a:r>
                    <a:rPr lang="en-US" altLang="zh-TW" sz="1100" dirty="0">
                      <a:latin typeface="Times New Roman"/>
                      <a:cs typeface="Times New Roman"/>
                    </a:rPr>
                    <a:t> 5:   </a:t>
                  </a:r>
                  <a:r>
                    <a:rPr lang="en-US" altLang="zh-TW" sz="1400" b="1" dirty="0">
                      <a:latin typeface="Times New Roman"/>
                      <a:cs typeface="Times New Roman"/>
                    </a:rPr>
                    <a:t>for </a:t>
                  </a:r>
                  <a:r>
                    <a:rPr lang="en-US" altLang="zh-TW" sz="1400" i="1" dirty="0">
                      <a:latin typeface="Times New Roman"/>
                      <a:cs typeface="Times New Roman"/>
                    </a:rPr>
                    <a:t>s</a:t>
                  </a:r>
                  <a:r>
                    <a:rPr lang="en-US" altLang="zh-TW" sz="1400" dirty="0">
                      <a:latin typeface="Times New Roman"/>
                      <a:cs typeface="Times New Roman"/>
                    </a:rPr>
                    <a:t> = 1 </a:t>
                  </a:r>
                  <a:r>
                    <a:rPr lang="en-US" altLang="zh-TW" sz="1400" b="1" dirty="0">
                      <a:latin typeface="Times New Roman"/>
                      <a:cs typeface="Times New Roman"/>
                    </a:rPr>
                    <a:t>to </a:t>
                  </a:r>
                  <a:r>
                    <a:rPr lang="en-US" altLang="zh-TW" sz="1400" i="1" dirty="0">
                      <a:latin typeface="Times New Roman"/>
                      <a:cs typeface="Times New Roman"/>
                    </a:rPr>
                    <a:t>N</a:t>
                  </a:r>
                  <a:r>
                    <a:rPr lang="en-US" altLang="zh-TW" sz="1400" i="1" baseline="-25000" dirty="0">
                      <a:latin typeface="Times New Roman"/>
                      <a:cs typeface="Times New Roman"/>
                    </a:rPr>
                    <a:t>s</a:t>
                  </a:r>
                  <a:r>
                    <a:rPr lang="en-US" altLang="zh-TW" sz="1400" dirty="0">
                      <a:latin typeface="Times New Roman"/>
                      <a:cs typeface="Times New Roman"/>
                    </a:rPr>
                    <a:t> </a:t>
                  </a:r>
                  <a:r>
                    <a:rPr lang="en-US" altLang="zh-TW" sz="1400" b="1" dirty="0">
                      <a:latin typeface="Times New Roman"/>
                      <a:cs typeface="Times New Roman"/>
                    </a:rPr>
                    <a:t>do</a:t>
                  </a:r>
                </a:p>
                <a:p>
                  <a:pPr>
                    <a:lnSpc>
                      <a:spcPct val="103000"/>
                    </a:lnSpc>
                  </a:pPr>
                  <a:r>
                    <a:rPr lang="en-US" altLang="zh-TW" sz="1100" dirty="0">
                      <a:latin typeface="Times New Roman"/>
                      <a:cs typeface="Times New Roman"/>
                    </a:rPr>
                    <a:t> 6:     </a:t>
                  </a:r>
                  <a:r>
                    <a:rPr lang="en-US" altLang="zh-TW" sz="1400" i="1" dirty="0">
                      <a:latin typeface="Times New Roman"/>
                      <a:cs typeface="Times New Roman"/>
                    </a:rPr>
                    <a:t>b</a:t>
                  </a:r>
                  <a:r>
                    <a:rPr lang="en-US" altLang="zh-TW" sz="1400" dirty="0">
                      <a:latin typeface="Times New Roman"/>
                      <a:cs typeface="Times New Roman"/>
                    </a:rPr>
                    <a:t>(</a:t>
                  </a:r>
                  <a:r>
                    <a:rPr lang="en-US" altLang="zh-TW" sz="1400" i="1" dirty="0">
                      <a:latin typeface="Times New Roman"/>
                      <a:cs typeface="Times New Roman"/>
                    </a:rPr>
                    <a:t>p</a:t>
                  </a:r>
                  <a:r>
                    <a:rPr lang="en-US" altLang="zh-TW" sz="1400" i="1" baseline="-25000" dirty="0">
                      <a:latin typeface="Times New Roman"/>
                      <a:cs typeface="Times New Roman"/>
                    </a:rPr>
                    <a:t>a</a:t>
                  </a:r>
                  <a:r>
                    <a:rPr lang="en-US" altLang="zh-TW" sz="1400" dirty="0">
                      <a:latin typeface="Times New Roman"/>
                      <a:cs typeface="Times New Roman"/>
                    </a:rPr>
                    <a:t>)(</a:t>
                  </a:r>
                  <a:r>
                    <a:rPr lang="en-US" altLang="zh-TW" sz="1400" i="1" dirty="0">
                      <a:latin typeface="Times New Roman"/>
                      <a:cs typeface="Times New Roman"/>
                    </a:rPr>
                    <a:t>q</a:t>
                  </a:r>
                  <a:r>
                    <a:rPr lang="en-US" altLang="zh-TW" sz="1400" dirty="0">
                      <a:latin typeface="Times New Roman"/>
                      <a:cs typeface="Times New Roman"/>
                    </a:rPr>
                    <a:t>, :, </a:t>
                  </a:r>
                  <a:r>
                    <a:rPr lang="en-US" altLang="zh-TW" sz="1400" i="1" dirty="0">
                      <a:latin typeface="Times New Roman"/>
                      <a:cs typeface="Times New Roman"/>
                    </a:rPr>
                    <a:t>s</a:t>
                  </a:r>
                  <a:r>
                    <a:rPr lang="en-US" altLang="zh-TW" sz="1400" dirty="0">
                      <a:latin typeface="Times New Roman"/>
                      <a:cs typeface="Times New Roman"/>
                    </a:rPr>
                    <a:t>) ← Σ </a:t>
                  </a:r>
                  <a:r>
                    <a:rPr lang="en-US" altLang="zh-TW" sz="1400" i="1" dirty="0">
                      <a:latin typeface="Times New Roman"/>
                      <a:cs typeface="Times New Roman"/>
                    </a:rPr>
                    <a:t>λ</a:t>
                  </a:r>
                  <a:r>
                    <a:rPr lang="en-US" altLang="zh-TW" sz="1400" i="1" baseline="-25000" dirty="0">
                      <a:latin typeface="Times New Roman"/>
                      <a:cs typeface="Times New Roman"/>
                    </a:rPr>
                    <a:t>i</a:t>
                  </a:r>
                  <a:r>
                    <a:rPr lang="en-US" altLang="zh-TW" sz="1400" dirty="0">
                      <a:latin typeface="Times New Roman"/>
                      <a:cs typeface="Times New Roman"/>
                    </a:rPr>
                    <a:t> · </a:t>
                  </a:r>
                  <a:r>
                    <a:rPr lang="en-US" altLang="zh-TW" sz="1400" i="1" dirty="0">
                      <a:latin typeface="Times New Roman"/>
                      <a:cs typeface="Times New Roman"/>
                    </a:rPr>
                    <a:t>b</a:t>
                  </a:r>
                  <a:r>
                    <a:rPr lang="en-US" altLang="zh-TW" sz="1400" dirty="0">
                      <a:latin typeface="Times New Roman"/>
                      <a:cs typeface="Times New Roman"/>
                    </a:rPr>
                    <a:t>(</a:t>
                  </a:r>
                  <a:r>
                    <a:rPr lang="en-US" altLang="zh-TW" sz="1400" i="1" dirty="0">
                      <a:latin typeface="Times New Roman"/>
                      <a:cs typeface="Times New Roman"/>
                    </a:rPr>
                    <a:t>p</a:t>
                  </a:r>
                  <a:r>
                    <a:rPr lang="en-US" altLang="zh-TW" sz="1400" dirty="0">
                      <a:latin typeface="Times New Roman"/>
                      <a:cs typeface="Times New Roman"/>
                    </a:rPr>
                    <a:t>)</a:t>
                  </a:r>
                  <a14:m>
                    <m:oMath xmlns:m="http://schemas.openxmlformats.org/officeDocument/2006/math">
                      <m:r>
                        <a:rPr lang="en-US" altLang="zh-TW" sz="1400" b="0" i="0" smtClean="0">
                          <a:latin typeface="Cambria Math" panose="02040503050406030204" pitchFamily="18" charset="0"/>
                          <a:ea typeface="Cambria Math" panose="02040503050406030204" pitchFamily="18" charset="0"/>
                          <a:cs typeface="Times New Roman"/>
                        </a:rPr>
                        <m:t> </m:t>
                      </m:r>
                    </m:oMath>
                  </a14:m>
                  <a:r>
                    <a:rPr lang="en-US" altLang="zh-TW" sz="1400" dirty="0">
                      <a:latin typeface="Times New Roman"/>
                      <a:cs typeface="Times New Roman"/>
                    </a:rPr>
                    <a:t> (</a:t>
                  </a:r>
                  <a:r>
                    <a:rPr lang="en-US" altLang="zh-TW" sz="1400" i="1" dirty="0">
                      <a:latin typeface="Times New Roman"/>
                      <a:cs typeface="Times New Roman"/>
                    </a:rPr>
                    <a:t>v</a:t>
                  </a:r>
                  <a:r>
                    <a:rPr lang="en-US" altLang="zh-TW" sz="1400" i="1" baseline="-25000" dirty="0">
                      <a:latin typeface="Times New Roman"/>
                      <a:cs typeface="Times New Roman"/>
                    </a:rPr>
                    <a:t>i</a:t>
                  </a:r>
                  <a:r>
                    <a:rPr lang="en-US" altLang="zh-TW" sz="1400" dirty="0">
                      <a:latin typeface="Times New Roman"/>
                      <a:cs typeface="Times New Roman"/>
                    </a:rPr>
                    <a:t>, :, </a:t>
                  </a:r>
                  <a:r>
                    <a:rPr lang="en-US" altLang="zh-TW" sz="1400" i="1" dirty="0">
                      <a:latin typeface="Times New Roman"/>
                      <a:cs typeface="Times New Roman"/>
                    </a:rPr>
                    <a:t>s</a:t>
                  </a:r>
                  <a:r>
                    <a:rPr lang="en-US" altLang="zh-TW" sz="1400" dirty="0">
                      <a:latin typeface="Times New Roman"/>
                      <a:cs typeface="Times New Roman"/>
                    </a:rPr>
                    <a:t>), </a:t>
                  </a:r>
                  <a:r>
                    <a:rPr lang="en-US" altLang="zh-TW" sz="1400" i="1" dirty="0">
                      <a:latin typeface="Times New Roman"/>
                      <a:cs typeface="Times New Roman"/>
                    </a:rPr>
                    <a:t>i</a:t>
                  </a:r>
                  <a:r>
                    <a:rPr lang="en-US" altLang="zh-TW" sz="1400" dirty="0">
                      <a:latin typeface="Times New Roman"/>
                      <a:cs typeface="Times New Roman"/>
                    </a:rPr>
                    <a:t> = 1,…,4</a:t>
                  </a:r>
                  <a:r>
                    <a:rPr lang="en-US" altLang="zh-TW" sz="1100" i="1" dirty="0">
                      <a:solidFill>
                        <a:srgbClr val="707070"/>
                      </a:solidFill>
                      <a:latin typeface="Times New Roman"/>
                      <a:cs typeface="Times New Roman"/>
                    </a:rPr>
                    <a:t>  // weighting</a:t>
                  </a:r>
                </a:p>
                <a:p>
                  <a:pPr>
                    <a:lnSpc>
                      <a:spcPct val="103000"/>
                    </a:lnSpc>
                  </a:pPr>
                  <a:r>
                    <a:rPr lang="en-US" altLang="zh-TW" sz="1100" dirty="0">
                      <a:latin typeface="Times New Roman"/>
                      <a:cs typeface="Times New Roman"/>
                    </a:rPr>
                    <a:t> 7:   </a:t>
                  </a:r>
                  <a:r>
                    <a:rPr lang="en-US" altLang="zh-TW" sz="1400" b="1" dirty="0">
                      <a:latin typeface="Times New Roman"/>
                      <a:cs typeface="Times New Roman"/>
                    </a:rPr>
                    <a:t>end for</a:t>
                  </a:r>
                </a:p>
                <a:p>
                  <a:pPr>
                    <a:lnSpc>
                      <a:spcPct val="103000"/>
                    </a:lnSpc>
                  </a:pPr>
                  <a:r>
                    <a:rPr lang="en-US" altLang="zh-TW" sz="1100" dirty="0">
                      <a:latin typeface="Times New Roman"/>
                      <a:cs typeface="Times New Roman"/>
                    </a:rPr>
                    <a:t> 8: </a:t>
                  </a:r>
                  <a:r>
                    <a:rPr lang="en-US" altLang="zh-TW" sz="1400" b="1" dirty="0">
                      <a:latin typeface="Times New Roman"/>
                      <a:cs typeface="Times New Roman"/>
                    </a:rPr>
                    <a:t>end for</a:t>
                  </a:r>
                </a:p>
                <a:p>
                  <a:pPr>
                    <a:lnSpc>
                      <a:spcPct val="103000"/>
                    </a:lnSpc>
                  </a:pPr>
                  <a:r>
                    <a:rPr lang="en-US" altLang="zh-TW" sz="1100" dirty="0">
                      <a:latin typeface="Times New Roman"/>
                      <a:cs typeface="Times New Roman"/>
                    </a:rPr>
                    <a:t> 9: </a:t>
                  </a:r>
                  <a:r>
                    <a:rPr lang="en-US" altLang="zh-TW" sz="1400" b="1" dirty="0">
                      <a:latin typeface="Times New Roman"/>
                      <a:cs typeface="Times New Roman"/>
                    </a:rPr>
                    <a:t>return </a:t>
                  </a:r>
                  <a:r>
                    <a:rPr lang="en-US" altLang="zh-TW" sz="1400" i="1" dirty="0">
                      <a:latin typeface="Times New Roman"/>
                      <a:cs typeface="Times New Roman"/>
                    </a:rPr>
                    <a:t>b</a:t>
                  </a:r>
                  <a:r>
                    <a:rPr lang="en-US" altLang="zh-TW" sz="1400" dirty="0">
                      <a:latin typeface="Times New Roman"/>
                      <a:cs typeface="Times New Roman"/>
                    </a:rPr>
                    <a:t>(</a:t>
                  </a:r>
                  <a:r>
                    <a:rPr lang="en-US" altLang="zh-TW" sz="1400" i="1" dirty="0">
                      <a:latin typeface="Times New Roman"/>
                      <a:cs typeface="Times New Roman"/>
                    </a:rPr>
                    <a:t>p</a:t>
                  </a:r>
                  <a:r>
                    <a:rPr lang="en-US" altLang="zh-TW" sz="1400" i="1" baseline="-25000" dirty="0">
                      <a:latin typeface="Times New Roman"/>
                      <a:cs typeface="Times New Roman"/>
                    </a:rPr>
                    <a:t>a</a:t>
                  </a:r>
                  <a:r>
                    <a:rPr lang="en-US" altLang="zh-TW" sz="1400" dirty="0">
                      <a:latin typeface="Times New Roman"/>
                      <a:cs typeface="Times New Roman"/>
                    </a:rPr>
                    <a:t>)</a:t>
                  </a:r>
                  <a:endParaRPr lang="en-US" altLang="zh-TW" sz="1100" dirty="0">
                    <a:latin typeface="Times New Roman"/>
                    <a:cs typeface="Times New Roman"/>
                  </a:endParaRPr>
                </a:p>
              </p:txBody>
            </p:sp>
          </mc:Choice>
          <mc:Fallback xmlns="">
            <p:sp>
              <p:nvSpPr>
                <p:cNvPr id="11" name="Algorithm 2">
                  <a:extLst>
                    <a:ext uri="{FF2B5EF4-FFF2-40B4-BE49-F238E27FC236}">
                      <a16:creationId xmlns:a16="http://schemas.microsoft.com/office/drawing/2014/main" id="{1177C345-91EB-49FB-ACFC-FA3CF50404F7}"/>
                    </a:ext>
                  </a:extLst>
                </p:cNvPr>
                <p:cNvSpPr txBox="1">
                  <a:spLocks noRot="1" noChangeAspect="1" noMove="1" noResize="1" noEditPoints="1" noAdjustHandles="1" noChangeArrowheads="1" noChangeShapeType="1" noTextEdit="1"/>
                </p:cNvSpPr>
                <p:nvPr/>
              </p:nvSpPr>
              <p:spPr>
                <a:xfrm>
                  <a:off x="6230001" y="1227291"/>
                  <a:ext cx="5560000" cy="5032832"/>
                </a:xfrm>
                <a:prstGeom prst="rect">
                  <a:avLst/>
                </a:prstGeom>
                <a:blipFill>
                  <a:blip r:embed="rId2"/>
                  <a:stretch>
                    <a:fillRect l="-329" t="-242"/>
                  </a:stretch>
                </a:blipFill>
                <a:ln w="6350">
                  <a:solidFill>
                    <a:srgbClr val="000000"/>
                  </a:solidFill>
                </a:ln>
              </p:spPr>
              <p:txBody>
                <a:bodyPr/>
                <a:lstStyle/>
                <a:p>
                  <a:r>
                    <a:rPr lang="zh-TW" altLang="en-US">
                      <a:noFill/>
                    </a:rPr>
                    <a:t> </a:t>
                  </a:r>
                </a:p>
              </p:txBody>
            </p:sp>
          </mc:Fallback>
        </mc:AlternateContent>
        <p:cxnSp>
          <p:nvCxnSpPr>
            <p:cNvPr id="12" name="rule106">
              <a:extLst>
                <a:ext uri="{FF2B5EF4-FFF2-40B4-BE49-F238E27FC236}">
                  <a16:creationId xmlns:a16="http://schemas.microsoft.com/office/drawing/2014/main" id="{246A8849-C8C6-421D-8E92-8A33AD83606F}"/>
                </a:ext>
              </a:extLst>
            </p:cNvPr>
            <p:cNvCxnSpPr>
              <a:cxnSpLocks/>
            </p:cNvCxnSpPr>
            <p:nvPr/>
          </p:nvCxnSpPr>
          <p:spPr>
            <a:xfrm>
              <a:off x="6230001" y="1527291"/>
              <a:ext cx="5560000" cy="0"/>
            </a:xfrm>
            <a:prstGeom prst="line">
              <a:avLst/>
            </a:prstGeom>
            <a:ln w="9525">
              <a:solidFill>
                <a:srgbClr val="000000"/>
              </a:solidFill>
            </a:ln>
          </p:spPr>
        </p:cxnSp>
      </p:grpSp>
    </p:spTree>
    <p:extLst>
      <p:ext uri="{BB962C8B-B14F-4D97-AF65-F5344CB8AC3E}">
        <p14:creationId xmlns:p14="http://schemas.microsoft.com/office/powerpoint/2010/main" val="7463456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282042"/>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grpSp>
        <p:nvGrpSpPr>
          <p:cNvPr id="7" name="群組 6">
            <a:extLst>
              <a:ext uri="{FF2B5EF4-FFF2-40B4-BE49-F238E27FC236}">
                <a16:creationId xmlns:a16="http://schemas.microsoft.com/office/drawing/2014/main" id="{80B83760-CB34-48DC-B1DA-35EE2999DB0E}"/>
              </a:ext>
            </a:extLst>
          </p:cNvPr>
          <p:cNvGrpSpPr/>
          <p:nvPr/>
        </p:nvGrpSpPr>
        <p:grpSpPr>
          <a:xfrm>
            <a:off x="248852" y="969062"/>
            <a:ext cx="6168881" cy="3223850"/>
            <a:chOff x="993919" y="2062391"/>
            <a:chExt cx="6168881" cy="3223850"/>
          </a:xfrm>
        </p:grpSpPr>
        <p:pic>
          <p:nvPicPr>
            <p:cNvPr id="8" name="圖片 7">
              <a:extLst>
                <a:ext uri="{FF2B5EF4-FFF2-40B4-BE49-F238E27FC236}">
                  <a16:creationId xmlns:a16="http://schemas.microsoft.com/office/drawing/2014/main" id="{95F983DD-ED2A-4694-A4A2-5E29BEFA24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3919" y="2062391"/>
              <a:ext cx="6168881" cy="3223850"/>
            </a:xfrm>
            <a:prstGeom prst="rect">
              <a:avLst/>
            </a:prstGeom>
          </p:spPr>
        </p:pic>
        <mc:AlternateContent xmlns:mc="http://schemas.openxmlformats.org/markup-compatibility/2006" xmlns:a14="http://schemas.microsoft.com/office/drawing/2010/main">
          <mc:Choice Requires="a14">
            <p:sp>
              <p:nvSpPr>
                <p:cNvPr id="9" name="文字方塊 8">
                  <a:extLst>
                    <a:ext uri="{FF2B5EF4-FFF2-40B4-BE49-F238E27FC236}">
                      <a16:creationId xmlns:a16="http://schemas.microsoft.com/office/drawing/2014/main" id="{D036E5D6-3E00-4A61-AB11-045B26C86652}"/>
                    </a:ext>
                  </a:extLst>
                </p:cNvPr>
                <p:cNvSpPr txBox="1"/>
                <p:nvPr/>
              </p:nvSpPr>
              <p:spPr>
                <a:xfrm>
                  <a:off x="1684869" y="3142046"/>
                  <a:ext cx="29815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b="1" i="1" smtClean="0">
                            <a:solidFill>
                              <a:schemeClr val="tx1"/>
                            </a:solidFill>
                            <a:latin typeface="Cambria Math" panose="02040503050406030204" pitchFamily="18" charset="0"/>
                          </a:rPr>
                          <m:t>𝒒</m:t>
                        </m:r>
                      </m:oMath>
                    </m:oMathPara>
                  </a14:m>
                  <a:endParaRPr lang="zh-TW" altLang="en-US" sz="2400" b="1" dirty="0">
                    <a:solidFill>
                      <a:schemeClr val="tx1"/>
                    </a:solidFill>
                  </a:endParaRPr>
                </a:p>
              </p:txBody>
            </p:sp>
          </mc:Choice>
          <mc:Fallback xmlns="">
            <p:sp>
              <p:nvSpPr>
                <p:cNvPr id="43" name="文字方塊 42">
                  <a:extLst>
                    <a:ext uri="{FF2B5EF4-FFF2-40B4-BE49-F238E27FC236}">
                      <a16:creationId xmlns:a16="http://schemas.microsoft.com/office/drawing/2014/main" id="{16EA59F1-6545-4924-8CB2-3B8DCE3FE7FE}"/>
                    </a:ext>
                  </a:extLst>
                </p:cNvPr>
                <p:cNvSpPr txBox="1">
                  <a:spLocks noRot="1" noChangeAspect="1" noMove="1" noResize="1" noEditPoints="1" noAdjustHandles="1" noChangeArrowheads="1" noChangeShapeType="1" noTextEdit="1"/>
                </p:cNvSpPr>
                <p:nvPr/>
              </p:nvSpPr>
              <p:spPr>
                <a:xfrm>
                  <a:off x="1684869" y="3142046"/>
                  <a:ext cx="298159" cy="430887"/>
                </a:xfrm>
                <a:prstGeom prst="rect">
                  <a:avLst/>
                </a:prstGeom>
                <a:blipFill>
                  <a:blip r:embed="rId3"/>
                  <a:stretch>
                    <a:fillRect/>
                  </a:stretch>
                </a:blipFill>
              </p:spPr>
              <p:txBody>
                <a:bodyPr/>
                <a:lstStyle/>
                <a:p>
                  <a:r>
                    <a:rPr lang="zh-TW" altLang="en-US">
                      <a:noFill/>
                    </a:rPr>
                    <a:t> </a:t>
                  </a:r>
                </a:p>
              </p:txBody>
            </p:sp>
          </mc:Fallback>
        </mc:AlternateContent>
        <p:sp>
          <p:nvSpPr>
            <p:cNvPr id="10" name="流程圖: 接點 9">
              <a:extLst>
                <a:ext uri="{FF2B5EF4-FFF2-40B4-BE49-F238E27FC236}">
                  <a16:creationId xmlns:a16="http://schemas.microsoft.com/office/drawing/2014/main" id="{B74BDEA9-A049-43ED-8C66-BA9F22FFBE7F}"/>
                </a:ext>
              </a:extLst>
            </p:cNvPr>
            <p:cNvSpPr/>
            <p:nvPr/>
          </p:nvSpPr>
          <p:spPr>
            <a:xfrm>
              <a:off x="1617134" y="3572933"/>
              <a:ext cx="152402" cy="152130"/>
            </a:xfrm>
            <a:prstGeom prst="flowChartConnector">
              <a:avLst/>
            </a:prstGeom>
            <a:solidFill>
              <a:srgbClr val="FF33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1" name="流程圖: 接點 10">
              <a:extLst>
                <a:ext uri="{FF2B5EF4-FFF2-40B4-BE49-F238E27FC236}">
                  <a16:creationId xmlns:a16="http://schemas.microsoft.com/office/drawing/2014/main" id="{1369744F-99C1-4294-89EB-61B5054D5564}"/>
                </a:ext>
              </a:extLst>
            </p:cNvPr>
            <p:cNvSpPr/>
            <p:nvPr/>
          </p:nvSpPr>
          <p:spPr>
            <a:xfrm>
              <a:off x="5562600" y="4328564"/>
              <a:ext cx="132147" cy="160867"/>
            </a:xfrm>
            <a:prstGeom prst="flowChartConnector">
              <a:avLst/>
            </a:prstGeom>
            <a:solidFill>
              <a:srgbClr val="FF33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mc:AlternateContent xmlns:mc="http://schemas.openxmlformats.org/markup-compatibility/2006" xmlns:a14="http://schemas.microsoft.com/office/drawing/2010/main">
          <mc:Choice Requires="a14">
            <p:sp>
              <p:nvSpPr>
                <p:cNvPr id="12" name="文字方塊 11">
                  <a:extLst>
                    <a:ext uri="{FF2B5EF4-FFF2-40B4-BE49-F238E27FC236}">
                      <a16:creationId xmlns:a16="http://schemas.microsoft.com/office/drawing/2014/main" id="{6E74D8EF-A370-43CA-B059-A36E7CEFD587}"/>
                    </a:ext>
                  </a:extLst>
                </p:cNvPr>
                <p:cNvSpPr txBox="1"/>
                <p:nvPr/>
              </p:nvSpPr>
              <p:spPr>
                <a:xfrm>
                  <a:off x="4886014" y="4204155"/>
                  <a:ext cx="29815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b="1" i="1" smtClean="0">
                            <a:solidFill>
                              <a:schemeClr val="tx1"/>
                            </a:solidFill>
                            <a:latin typeface="Cambria Math" panose="02040503050406030204" pitchFamily="18" charset="0"/>
                          </a:rPr>
                          <m:t>𝒒</m:t>
                        </m:r>
                      </m:oMath>
                    </m:oMathPara>
                  </a14:m>
                  <a:endParaRPr lang="zh-TW" altLang="en-US" sz="2400" b="1" dirty="0">
                    <a:solidFill>
                      <a:schemeClr val="tx1"/>
                    </a:solidFill>
                  </a:endParaRPr>
                </a:p>
              </p:txBody>
            </p:sp>
          </mc:Choice>
          <mc:Fallback xmlns="">
            <p:sp>
              <p:nvSpPr>
                <p:cNvPr id="46" name="文字方塊 45">
                  <a:extLst>
                    <a:ext uri="{FF2B5EF4-FFF2-40B4-BE49-F238E27FC236}">
                      <a16:creationId xmlns:a16="http://schemas.microsoft.com/office/drawing/2014/main" id="{A9C4A2B7-ECCE-4C37-A3E3-74474ED139A7}"/>
                    </a:ext>
                  </a:extLst>
                </p:cNvPr>
                <p:cNvSpPr txBox="1">
                  <a:spLocks noRot="1" noChangeAspect="1" noMove="1" noResize="1" noEditPoints="1" noAdjustHandles="1" noChangeArrowheads="1" noChangeShapeType="1" noTextEdit="1"/>
                </p:cNvSpPr>
                <p:nvPr/>
              </p:nvSpPr>
              <p:spPr>
                <a:xfrm>
                  <a:off x="4886014" y="4204155"/>
                  <a:ext cx="298159" cy="430887"/>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163D1A3C-8358-4BC2-B607-4542A6951BAC}"/>
                    </a:ext>
                  </a:extLst>
                </p:cNvPr>
                <p:cNvSpPr txBox="1"/>
                <p:nvPr/>
              </p:nvSpPr>
              <p:spPr>
                <a:xfrm>
                  <a:off x="5501585" y="2763541"/>
                  <a:ext cx="386324"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2800" b="1" i="1" smtClean="0">
                            <a:solidFill>
                              <a:srgbClr val="FF0000"/>
                            </a:solidFill>
                            <a:latin typeface="Cambria Math" panose="02040503050406030204" pitchFamily="18" charset="0"/>
                          </a:rPr>
                          <m:t>𝚽</m:t>
                        </m:r>
                      </m:oMath>
                    </m:oMathPara>
                  </a14:m>
                  <a:endParaRPr lang="zh-TW" altLang="en-US" sz="2400" b="1" dirty="0">
                    <a:solidFill>
                      <a:srgbClr val="FF0000"/>
                    </a:solidFill>
                  </a:endParaRPr>
                </a:p>
              </p:txBody>
            </p:sp>
          </mc:Choice>
          <mc:Fallback xmlns="">
            <p:sp>
              <p:nvSpPr>
                <p:cNvPr id="47" name="文字方塊 46">
                  <a:extLst>
                    <a:ext uri="{FF2B5EF4-FFF2-40B4-BE49-F238E27FC236}">
                      <a16:creationId xmlns:a16="http://schemas.microsoft.com/office/drawing/2014/main" id="{A73A518E-4196-493F-AA17-EAE8E882E004}"/>
                    </a:ext>
                  </a:extLst>
                </p:cNvPr>
                <p:cNvSpPr txBox="1">
                  <a:spLocks noRot="1" noChangeAspect="1" noMove="1" noResize="1" noEditPoints="1" noAdjustHandles="1" noChangeArrowheads="1" noChangeShapeType="1" noTextEdit="1"/>
                </p:cNvSpPr>
                <p:nvPr/>
              </p:nvSpPr>
              <p:spPr>
                <a:xfrm>
                  <a:off x="5501585" y="2763541"/>
                  <a:ext cx="386324" cy="430887"/>
                </a:xfrm>
                <a:prstGeom prst="rect">
                  <a:avLst/>
                </a:prstGeom>
                <a:blipFill>
                  <a:blip r:embed="rId5"/>
                  <a:stretch>
                    <a:fillRect/>
                  </a:stretch>
                </a:blipFill>
              </p:spPr>
              <p:txBody>
                <a:bodyPr/>
                <a:lstStyle/>
                <a:p>
                  <a:r>
                    <a:rPr lang="zh-TW" altLang="en-US">
                      <a:noFill/>
                    </a:rPr>
                    <a:t> </a:t>
                  </a:r>
                </a:p>
              </p:txBody>
            </p:sp>
          </mc:Fallback>
        </mc:AlternateContent>
      </p:grpSp>
      <p:sp>
        <p:nvSpPr>
          <p:cNvPr id="14" name="文字方塊 13">
            <a:extLst>
              <a:ext uri="{FF2B5EF4-FFF2-40B4-BE49-F238E27FC236}">
                <a16:creationId xmlns:a16="http://schemas.microsoft.com/office/drawing/2014/main" id="{11D76ADA-F254-4972-B2F9-18F4641E08DB}"/>
              </a:ext>
            </a:extLst>
          </p:cNvPr>
          <p:cNvSpPr txBox="1"/>
          <p:nvPr/>
        </p:nvSpPr>
        <p:spPr>
          <a:xfrm>
            <a:off x="6478947" y="577480"/>
            <a:ext cx="5461915" cy="461838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This figure illustrates the magnetic flux path when pole P2 is excited. The left figure presents a top view, with the theoretical magnetic charge locations labeled to clarify the magnetic charge concept used in this study. The right figure shows a three-dimensional view of the same model, in which the theoretical magnetic charge locations and the magnetic flux distribution can be clearly observed.</a:t>
            </a:r>
          </a:p>
          <a:p>
            <a:pPr marL="285750" indent="-285750">
              <a:lnSpc>
                <a:spcPct val="150000"/>
              </a:lnSpc>
              <a:buFont typeface="Arial" panose="020B0604020202020204" pitchFamily="34" charset="0"/>
              <a:buChar char="•"/>
            </a:pPr>
            <a:r>
              <a:rPr lang="en-US" altLang="zh-TW" b="1" dirty="0"/>
              <a:t>The threshold used in the 3D plot on the right is 0.1 </a:t>
            </a:r>
            <a:r>
              <a:rPr lang="en-US" altLang="zh-TW" b="1" dirty="0" err="1"/>
              <a:t>mT</a:t>
            </a:r>
            <a:r>
              <a:rPr lang="en-US" altLang="zh-TW" b="1" dirty="0"/>
              <a:t>, meaning that only values greater than 0.1 </a:t>
            </a:r>
            <a:r>
              <a:rPr lang="en-US" altLang="zh-TW" b="1" dirty="0" err="1"/>
              <a:t>mT</a:t>
            </a:r>
            <a:r>
              <a:rPr lang="en-US" altLang="zh-TW" b="1" dirty="0"/>
              <a:t> are displayed in the figure.</a:t>
            </a:r>
            <a:endParaRPr lang="zh-TW" alt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48601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298504"/>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680649BF-43EB-4D87-A80C-5D9C6A6A8C91}"/>
                  </a:ext>
                </a:extLst>
              </p:cNvPr>
              <p:cNvSpPr txBox="1"/>
              <p:nvPr/>
            </p:nvSpPr>
            <p:spPr>
              <a:xfrm>
                <a:off x="0" y="534139"/>
                <a:ext cx="12081933" cy="2031325"/>
              </a:xfrm>
              <a:prstGeom prst="rect">
                <a:avLst/>
              </a:prstGeom>
              <a:noFill/>
            </p:spPr>
            <p:txBody>
              <a:bodyPr wrap="square" rtlCol="0">
                <a:spAutoFit/>
              </a:bodyPr>
              <a:lstStyle/>
              <a:p>
                <a:pPr marL="285750" indent="-285750">
                  <a:buFont typeface="Wingdings" panose="05000000000000000000" pitchFamily="2" charset="2"/>
                  <a:buChar char="l"/>
                </a:pPr>
                <a:r>
                  <a:rPr lang="en-US" altLang="zh-TW" b="1" dirty="0"/>
                  <a:t>Convergence value:</a:t>
                </a:r>
                <a:r>
                  <a:rPr lang="en-US" altLang="zh-TW" dirty="0"/>
                  <a:t> Check whether the RMS values corresponding to ten consecutive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𝑟</m:t>
                        </m:r>
                      </m:sub>
                    </m:sSub>
                  </m:oMath>
                </a14:m>
                <a:r>
                  <a:rPr lang="en-US" altLang="zh-TW" dirty="0"/>
                  <a:t> orders all have relative changes of less than 0.01% with respect to the preceding order. If this condition is satisfied, the RMS corresponding to the first order among these ten consecutive orders is taken as the convergence value.</a:t>
                </a:r>
              </a:p>
              <a:p>
                <a:pPr marL="285750" indent="-285750">
                  <a:buFont typeface="Wingdings" panose="05000000000000000000" pitchFamily="2" charset="2"/>
                  <a:buChar char="l"/>
                </a:pPr>
                <a:r>
                  <a:rPr lang="en-US" altLang="zh-TW" b="1" dirty="0"/>
                  <a:t>Number of calibration points:</a:t>
                </a:r>
                <a:r>
                  <a:rPr lang="en-US" altLang="zh-TW" dirty="0"/>
                  <a:t> The required calibration point count is taken at the first order from which ten consecutive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𝑟</m:t>
                        </m:r>
                      </m:sub>
                    </m:sSub>
                  </m:oMath>
                </a14:m>
                <a:r>
                  <a:rPr lang="en-US" altLang="zh-TW" dirty="0"/>
                  <a:t>orders all lie within 10% of the convergence value, i.e. </a:t>
                </a:r>
                <a14:m>
                  <m:oMath xmlns:m="http://schemas.openxmlformats.org/officeDocument/2006/math">
                    <m:r>
                      <a:rPr lang="en-US" altLang="zh-TW" b="0" i="1" smtClean="0">
                        <a:latin typeface="Cambria Math" panose="02040503050406030204" pitchFamily="18" charset="0"/>
                      </a:rPr>
                      <m:t>𝑅𝑀𝑆</m:t>
                    </m:r>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𝑟</m:t>
                            </m:r>
                          </m:sub>
                        </m:sSub>
                      </m:e>
                    </m:d>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𝑅𝑀𝑆</m:t>
                        </m:r>
                      </m:e>
                      <m:sub>
                        <m:r>
                          <a:rPr lang="en-US" altLang="zh-TW" b="0" i="1" smtClean="0">
                            <a:latin typeface="Cambria Math" panose="02040503050406030204" pitchFamily="18" charset="0"/>
                            <a:ea typeface="Cambria Math" panose="02040503050406030204" pitchFamily="18" charset="0"/>
                          </a:rPr>
                          <m:t>∞</m:t>
                        </m:r>
                      </m:sub>
                    </m:sSub>
                    <m:r>
                      <a:rPr lang="en-US" altLang="zh-TW" b="0" i="1" smtClean="0">
                        <a:latin typeface="Cambria Math" panose="02040503050406030204" pitchFamily="18" charset="0"/>
                      </a:rPr>
                      <m:t>≤0.1 </m:t>
                    </m:r>
                    <m:sSub>
                      <m:sSubPr>
                        <m:ctrlPr>
                          <a:rPr lang="en-US" altLang="zh-TW" i="1">
                            <a:latin typeface="Cambria Math" panose="02040503050406030204" pitchFamily="18" charset="0"/>
                          </a:rPr>
                        </m:ctrlPr>
                      </m:sSubPr>
                      <m:e>
                        <m:r>
                          <a:rPr lang="en-US" altLang="zh-TW" i="1">
                            <a:latin typeface="Cambria Math" panose="02040503050406030204" pitchFamily="18" charset="0"/>
                          </a:rPr>
                          <m:t>𝑅𝑀𝑆</m:t>
                        </m:r>
                      </m:e>
                      <m:sub>
                        <m:r>
                          <a:rPr lang="en-US" altLang="zh-TW" i="1">
                            <a:latin typeface="Cambria Math" panose="02040503050406030204" pitchFamily="18" charset="0"/>
                            <a:ea typeface="Cambria Math" panose="02040503050406030204" pitchFamily="18" charset="0"/>
                          </a:rPr>
                          <m:t>∞</m:t>
                        </m:r>
                      </m:sub>
                    </m:sSub>
                  </m:oMath>
                </a14:m>
                <a:r>
                  <a:rPr lang="en-US" altLang="zh-TW" dirty="0"/>
                  <a:t>.</a:t>
                </a:r>
              </a:p>
              <a:p>
                <a:pPr marL="285750" indent="-285750">
                  <a:buFont typeface="Arial" panose="020B0604020202020204" pitchFamily="34" charset="0"/>
                  <a:buChar char="•"/>
                </a:pPr>
                <a:endParaRPr lang="en-US" altLang="zh-TW" dirty="0"/>
              </a:p>
              <a:p>
                <a:pPr marL="285750" indent="-285750">
                  <a:buFont typeface="Arial" panose="020B0604020202020204" pitchFamily="34" charset="0"/>
                  <a:buChar char="•"/>
                </a:pPr>
                <a:endParaRPr lang="zh-TW" altLang="en-US" dirty="0"/>
              </a:p>
            </p:txBody>
          </p:sp>
        </mc:Choice>
        <mc:Fallback xmlns="">
          <p:sp>
            <p:nvSpPr>
              <p:cNvPr id="16" name="文字方塊 15">
                <a:extLst>
                  <a:ext uri="{FF2B5EF4-FFF2-40B4-BE49-F238E27FC236}">
                    <a16:creationId xmlns:a16="http://schemas.microsoft.com/office/drawing/2014/main" id="{680649BF-43EB-4D87-A80C-5D9C6A6A8C91}"/>
                  </a:ext>
                </a:extLst>
              </p:cNvPr>
              <p:cNvSpPr txBox="1">
                <a:spLocks noRot="1" noChangeAspect="1" noMove="1" noResize="1" noEditPoints="1" noAdjustHandles="1" noChangeArrowheads="1" noChangeShapeType="1" noTextEdit="1"/>
              </p:cNvSpPr>
              <p:nvPr/>
            </p:nvSpPr>
            <p:spPr>
              <a:xfrm>
                <a:off x="0" y="534139"/>
                <a:ext cx="12081933" cy="2031325"/>
              </a:xfrm>
              <a:prstGeom prst="rect">
                <a:avLst/>
              </a:prstGeom>
              <a:blipFill>
                <a:blip r:embed="rId2"/>
                <a:stretch>
                  <a:fillRect l="-303" t="-1802"/>
                </a:stretch>
              </a:blipFill>
            </p:spPr>
            <p:txBody>
              <a:bodyPr/>
              <a:lstStyle/>
              <a:p>
                <a:r>
                  <a:rPr lang="zh-TW" altLang="en-US">
                    <a:noFill/>
                  </a:rPr>
                  <a:t> </a:t>
                </a:r>
              </a:p>
            </p:txBody>
          </p:sp>
        </mc:Fallback>
      </mc:AlternateContent>
      <p:graphicFrame>
        <p:nvGraphicFramePr>
          <p:cNvPr id="79" name="表格 79">
            <a:extLst>
              <a:ext uri="{FF2B5EF4-FFF2-40B4-BE49-F238E27FC236}">
                <a16:creationId xmlns:a16="http://schemas.microsoft.com/office/drawing/2014/main" id="{27DE5228-C8AB-4329-9CE7-6CB0E321B2BD}"/>
              </a:ext>
            </a:extLst>
          </p:cNvPr>
          <p:cNvGraphicFramePr>
            <a:graphicFrameLocks noGrp="1"/>
          </p:cNvGraphicFramePr>
          <p:nvPr>
            <p:extLst>
              <p:ext uri="{D42A27DB-BD31-4B8C-83A1-F6EECF244321}">
                <p14:modId xmlns:p14="http://schemas.microsoft.com/office/powerpoint/2010/main" val="1708807129"/>
              </p:ext>
            </p:extLst>
          </p:nvPr>
        </p:nvGraphicFramePr>
        <p:xfrm>
          <a:off x="6515756" y="3202105"/>
          <a:ext cx="5378178" cy="1615440"/>
        </p:xfrm>
        <a:graphic>
          <a:graphicData uri="http://schemas.openxmlformats.org/drawingml/2006/table">
            <a:tbl>
              <a:tblPr firstRow="1" bandRow="1">
                <a:tableStyleId>{5940675A-B579-460E-94D1-54222C63F5DA}</a:tableStyleId>
              </a:tblPr>
              <a:tblGrid>
                <a:gridCol w="1301414">
                  <a:extLst>
                    <a:ext uri="{9D8B030D-6E8A-4147-A177-3AD203B41FA5}">
                      <a16:colId xmlns:a16="http://schemas.microsoft.com/office/drawing/2014/main" val="4152913983"/>
                    </a:ext>
                  </a:extLst>
                </a:gridCol>
                <a:gridCol w="1628053">
                  <a:extLst>
                    <a:ext uri="{9D8B030D-6E8A-4147-A177-3AD203B41FA5}">
                      <a16:colId xmlns:a16="http://schemas.microsoft.com/office/drawing/2014/main" val="705762190"/>
                    </a:ext>
                  </a:extLst>
                </a:gridCol>
                <a:gridCol w="2448711">
                  <a:extLst>
                    <a:ext uri="{9D8B030D-6E8A-4147-A177-3AD203B41FA5}">
                      <a16:colId xmlns:a16="http://schemas.microsoft.com/office/drawing/2014/main" val="1620865351"/>
                    </a:ext>
                  </a:extLst>
                </a:gridCol>
              </a:tblGrid>
              <a:tr h="370587">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pPr algn="l"/>
                      <a:r>
                        <a:rPr lang="en-US" altLang="zh-TW" sz="1400" b="0" dirty="0">
                          <a:latin typeface="Times New Roman" panose="02020603050405020304" pitchFamily="18" charset="0"/>
                          <a:cs typeface="Times New Roman" panose="02020603050405020304" pitchFamily="18" charset="0"/>
                        </a:rPr>
                        <a:t>Number of calibration points</a:t>
                      </a:r>
                      <a:endParaRPr lang="zh-TW" altLang="en-US" sz="1400" b="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dirty="0">
                          <a:latin typeface="Times New Roman" panose="02020603050405020304" pitchFamily="18" charset="0"/>
                          <a:cs typeface="Times New Roman" panose="02020603050405020304" pitchFamily="18" charset="0"/>
                        </a:rPr>
                        <a:t>Convergence value</a:t>
                      </a:r>
                    </a:p>
                    <a:p>
                      <a:endParaRPr lang="zh-TW" altLang="en-US" dirty="0"/>
                    </a:p>
                  </a:txBody>
                  <a:tcPr/>
                </a:tc>
                <a:extLst>
                  <a:ext uri="{0D108BD9-81ED-4DB2-BD59-A6C34878D82A}">
                    <a16:rowId xmlns:a16="http://schemas.microsoft.com/office/drawing/2014/main" val="3608300422"/>
                  </a:ext>
                </a:extLst>
              </a:tr>
              <a:tr h="282163">
                <a:tc>
                  <a:txBody>
                    <a:bodyPr/>
                    <a:lstStyle/>
                    <a:p>
                      <a:pPr algn="ctr"/>
                      <a:r>
                        <a:rPr lang="en-US" altLang="zh-TW" sz="1400" dirty="0">
                          <a:latin typeface="Times New Roman" panose="02020603050405020304" pitchFamily="18" charset="0"/>
                          <a:cs typeface="Times New Roman" panose="02020603050405020304" pitchFamily="18" charset="0"/>
                        </a:rPr>
                        <a:t>Single parameter</a:t>
                      </a:r>
                      <a:endParaRPr lang="zh-TW" altLang="en-US" sz="1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1400" dirty="0">
                          <a:latin typeface="Times New Roman" panose="02020603050405020304" pitchFamily="18" charset="0"/>
                          <a:cs typeface="Times New Roman" panose="02020603050405020304" pitchFamily="18" charset="0"/>
                        </a:rPr>
                        <a:t>43</a:t>
                      </a:r>
                      <a:endParaRPr lang="zh-TW" altLang="en-US" sz="1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1400" dirty="0"/>
                        <a:t>0.1437mT</a:t>
                      </a:r>
                      <a:endParaRPr lang="zh-TW" altLang="en-US" sz="1400" dirty="0"/>
                    </a:p>
                  </a:txBody>
                  <a:tcPr/>
                </a:tc>
                <a:extLst>
                  <a:ext uri="{0D108BD9-81ED-4DB2-BD59-A6C34878D82A}">
                    <a16:rowId xmlns:a16="http://schemas.microsoft.com/office/drawing/2014/main" val="2325691140"/>
                  </a:ext>
                </a:extLst>
              </a:tr>
              <a:tr h="509682">
                <a:tc>
                  <a:txBody>
                    <a:bodyPr/>
                    <a:lstStyle/>
                    <a:p>
                      <a:pPr algn="ctr"/>
                      <a:r>
                        <a:rPr lang="en-US" altLang="zh-TW" sz="1400" dirty="0">
                          <a:latin typeface="Times New Roman" panose="02020603050405020304" pitchFamily="18" charset="0"/>
                          <a:cs typeface="Times New Roman" panose="02020603050405020304" pitchFamily="18" charset="0"/>
                        </a:rPr>
                        <a:t>Eighteen parameters</a:t>
                      </a:r>
                      <a:endParaRPr lang="zh-TW" altLang="en-US" sz="1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1400" dirty="0">
                          <a:latin typeface="Times New Roman" panose="02020603050405020304" pitchFamily="18" charset="0"/>
                          <a:cs typeface="Times New Roman" panose="02020603050405020304" pitchFamily="18" charset="0"/>
                        </a:rPr>
                        <a:t>55</a:t>
                      </a:r>
                      <a:endParaRPr lang="zh-TW" altLang="en-US" sz="1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1400" dirty="0"/>
                        <a:t>0.0114mT</a:t>
                      </a:r>
                      <a:endParaRPr lang="zh-TW" altLang="en-US" sz="1400" dirty="0"/>
                    </a:p>
                  </a:txBody>
                  <a:tcPr/>
                </a:tc>
                <a:extLst>
                  <a:ext uri="{0D108BD9-81ED-4DB2-BD59-A6C34878D82A}">
                    <a16:rowId xmlns:a16="http://schemas.microsoft.com/office/drawing/2014/main" val="1432721735"/>
                  </a:ext>
                </a:extLst>
              </a:tr>
            </a:tbl>
          </a:graphicData>
        </a:graphic>
      </p:graphicFrame>
      <p:grpSp>
        <p:nvGrpSpPr>
          <p:cNvPr id="17" name="群組 16">
            <a:extLst>
              <a:ext uri="{FF2B5EF4-FFF2-40B4-BE49-F238E27FC236}">
                <a16:creationId xmlns:a16="http://schemas.microsoft.com/office/drawing/2014/main" id="{5F0986D6-3A3A-42FA-B498-23CF1BB5D968}"/>
              </a:ext>
            </a:extLst>
          </p:cNvPr>
          <p:cNvGrpSpPr/>
          <p:nvPr/>
        </p:nvGrpSpPr>
        <p:grpSpPr>
          <a:xfrm>
            <a:off x="298065" y="2011152"/>
            <a:ext cx="2741807" cy="2376980"/>
            <a:chOff x="278291" y="2011152"/>
            <a:chExt cx="2761582" cy="2498994"/>
          </a:xfrm>
        </p:grpSpPr>
        <p:pic>
          <p:nvPicPr>
            <p:cNvPr id="15" name="圖片 14">
              <a:extLst>
                <a:ext uri="{FF2B5EF4-FFF2-40B4-BE49-F238E27FC236}">
                  <a16:creationId xmlns:a16="http://schemas.microsoft.com/office/drawing/2014/main" id="{A77610DF-8D71-4082-8AA2-015816A4304E}"/>
                </a:ext>
              </a:extLst>
            </p:cNvPr>
            <p:cNvPicPr>
              <a:picLocks noChangeAspect="1"/>
            </p:cNvPicPr>
            <p:nvPr/>
          </p:nvPicPr>
          <p:blipFill rotWithShape="1">
            <a:blip r:embed="rId3">
              <a:extLst>
                <a:ext uri="{28A0092B-C50C-407E-A947-70E740481C1C}">
                  <a14:useLocalDpi xmlns:a14="http://schemas.microsoft.com/office/drawing/2010/main" val="0"/>
                </a:ext>
              </a:extLst>
            </a:blip>
            <a:srcRect l="4507" b="4220"/>
            <a:stretch/>
          </p:blipFill>
          <p:spPr>
            <a:xfrm>
              <a:off x="570679" y="2011152"/>
              <a:ext cx="2274562" cy="2281386"/>
            </a:xfrm>
            <a:prstGeom prst="rect">
              <a:avLst/>
            </a:prstGeom>
          </p:spPr>
        </p:pic>
        <p:grpSp>
          <p:nvGrpSpPr>
            <p:cNvPr id="11" name="群組 10">
              <a:extLst>
                <a:ext uri="{FF2B5EF4-FFF2-40B4-BE49-F238E27FC236}">
                  <a16:creationId xmlns:a16="http://schemas.microsoft.com/office/drawing/2014/main" id="{0F8393D9-2E25-4E05-81CF-560EA250CB07}"/>
                </a:ext>
              </a:extLst>
            </p:cNvPr>
            <p:cNvGrpSpPr/>
            <p:nvPr/>
          </p:nvGrpSpPr>
          <p:grpSpPr>
            <a:xfrm>
              <a:off x="278291" y="2523448"/>
              <a:ext cx="2761582" cy="1986698"/>
              <a:chOff x="319380" y="3918231"/>
              <a:chExt cx="2761582" cy="1986698"/>
            </a:xfrm>
          </p:grpSpPr>
          <mc:AlternateContent xmlns:mc="http://schemas.openxmlformats.org/markup-compatibility/2006">
            <mc:Choice xmlns:a14="http://schemas.microsoft.com/office/drawing/2010/main" Requires="a14">
              <p:sp>
                <p:nvSpPr>
                  <p:cNvPr id="8" name="文字方塊 7">
                    <a:extLst>
                      <a:ext uri="{FF2B5EF4-FFF2-40B4-BE49-F238E27FC236}">
                        <a16:creationId xmlns:a16="http://schemas.microsoft.com/office/drawing/2014/main" id="{A0AC20B2-42F2-439B-AEA5-AEEE6A0F038D}"/>
                      </a:ext>
                    </a:extLst>
                  </p:cNvPr>
                  <p:cNvSpPr txBox="1"/>
                  <p:nvPr/>
                </p:nvSpPr>
                <p:spPr>
                  <a:xfrm>
                    <a:off x="745856" y="5627930"/>
                    <a:ext cx="2335106" cy="276999"/>
                  </a:xfrm>
                  <a:prstGeom prst="rect">
                    <a:avLst/>
                  </a:prstGeom>
                  <a:noFill/>
                </p:spPr>
                <p:txBody>
                  <a:bodyPr wrap="square" rtlCol="0">
                    <a:spAutoFit/>
                  </a:bodyPr>
                  <a:lstStyle/>
                  <a:p>
                    <a:r>
                      <a:rPr lang="en-US" altLang="zh-TW" sz="1200" dirty="0">
                        <a:latin typeface="Times New Roman" panose="02020603050405020304" pitchFamily="18" charset="0"/>
                        <a:cs typeface="Times New Roman" panose="02020603050405020304" pitchFamily="18" charset="0"/>
                      </a:rPr>
                      <a:t>Number of calibration points</a:t>
                    </a:r>
                    <a:r>
                      <a:rPr lang="zh-TW" altLang="en-US" sz="1200" dirty="0">
                        <a:latin typeface="Times New Roman" panose="02020603050405020304" pitchFamily="18" charset="0"/>
                        <a:cs typeface="Times New Roman" panose="02020603050405020304" pitchFamily="18" charset="0"/>
                      </a:rPr>
                      <a:t> </a:t>
                    </a:r>
                    <a14:m>
                      <m:oMath xmlns:m="http://schemas.openxmlformats.org/officeDocument/2006/math">
                        <m:r>
                          <a:rPr lang="en-US" altLang="zh-TW" sz="1200" b="0" i="1" smtClean="0">
                            <a:latin typeface="Cambria Math" panose="02040503050406030204" pitchFamily="18" charset="0"/>
                            <a:cs typeface="Times New Roman" panose="02020603050405020304" pitchFamily="18" charset="0"/>
                          </a:rPr>
                          <m:t>(</m:t>
                        </m:r>
                        <m:sSub>
                          <m:sSubPr>
                            <m:ctrlPr>
                              <a:rPr lang="en-US" altLang="zh-TW" sz="1200" b="0" i="1" smtClean="0">
                                <a:latin typeface="Cambria Math" panose="02040503050406030204" pitchFamily="18" charset="0"/>
                                <a:cs typeface="Times New Roman" panose="02020603050405020304" pitchFamily="18" charset="0"/>
                              </a:rPr>
                            </m:ctrlPr>
                          </m:sSubPr>
                          <m:e>
                            <m:r>
                              <a:rPr lang="en-US" altLang="zh-TW" sz="1200" b="0" i="1" smtClean="0">
                                <a:latin typeface="Cambria Math" panose="02040503050406030204" pitchFamily="18" charset="0"/>
                                <a:cs typeface="Times New Roman" panose="02020603050405020304" pitchFamily="18" charset="0"/>
                              </a:rPr>
                              <m:t>𝑁</m:t>
                            </m:r>
                          </m:e>
                          <m:sub>
                            <m:r>
                              <a:rPr lang="en-US" altLang="zh-TW" sz="1200" b="0" i="1" smtClean="0">
                                <a:latin typeface="Cambria Math" panose="02040503050406030204" pitchFamily="18" charset="0"/>
                                <a:cs typeface="Times New Roman" panose="02020603050405020304" pitchFamily="18" charset="0"/>
                              </a:rPr>
                              <m:t>𝑐</m:t>
                            </m:r>
                          </m:sub>
                        </m:sSub>
                        <m:r>
                          <a:rPr lang="en-US" altLang="zh-TW" sz="1200" b="0" i="1" smtClean="0">
                            <a:latin typeface="Cambria Math" panose="02040503050406030204" pitchFamily="18" charset="0"/>
                            <a:cs typeface="Times New Roman" panose="02020603050405020304" pitchFamily="18" charset="0"/>
                          </a:rPr>
                          <m:t>)</m:t>
                        </m:r>
                      </m:oMath>
                    </a14:m>
                    <a:endParaRPr lang="zh-TW" altLang="en-US" sz="1200" dirty="0">
                      <a:latin typeface="Times New Roman" panose="02020603050405020304" pitchFamily="18" charset="0"/>
                      <a:cs typeface="Times New Roman" panose="02020603050405020304" pitchFamily="18" charset="0"/>
                    </a:endParaRPr>
                  </a:p>
                </p:txBody>
              </p:sp>
            </mc:Choice>
            <mc:Fallback>
              <p:sp>
                <p:nvSpPr>
                  <p:cNvPr id="8" name="文字方塊 7">
                    <a:extLst>
                      <a:ext uri="{FF2B5EF4-FFF2-40B4-BE49-F238E27FC236}">
                        <a16:creationId xmlns:a16="http://schemas.microsoft.com/office/drawing/2014/main" id="{A0AC20B2-42F2-439B-AEA5-AEEE6A0F038D}"/>
                      </a:ext>
                    </a:extLst>
                  </p:cNvPr>
                  <p:cNvSpPr txBox="1">
                    <a:spLocks noRot="1" noChangeAspect="1" noMove="1" noResize="1" noEditPoints="1" noAdjustHandles="1" noChangeArrowheads="1" noChangeShapeType="1" noTextEdit="1"/>
                  </p:cNvSpPr>
                  <p:nvPr/>
                </p:nvSpPr>
                <p:spPr>
                  <a:xfrm>
                    <a:off x="745856" y="5627930"/>
                    <a:ext cx="2335106" cy="276999"/>
                  </a:xfrm>
                  <a:prstGeom prst="rect">
                    <a:avLst/>
                  </a:prstGeom>
                  <a:blipFill>
                    <a:blip r:embed="rId4"/>
                    <a:stretch>
                      <a:fillRect t="-2326" b="-23256"/>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32" name="文字方塊 31">
                    <a:extLst>
                      <a:ext uri="{FF2B5EF4-FFF2-40B4-BE49-F238E27FC236}">
                        <a16:creationId xmlns:a16="http://schemas.microsoft.com/office/drawing/2014/main" id="{E161BAD6-CD80-4567-9C95-712C27EC1156}"/>
                      </a:ext>
                    </a:extLst>
                  </p:cNvPr>
                  <p:cNvSpPr txBox="1"/>
                  <p:nvPr/>
                </p:nvSpPr>
                <p:spPr>
                  <a:xfrm rot="16200000">
                    <a:off x="-107270" y="4344881"/>
                    <a:ext cx="1130300" cy="276999"/>
                  </a:xfrm>
                  <a:prstGeom prst="rect">
                    <a:avLst/>
                  </a:prstGeom>
                  <a:noFill/>
                </p:spPr>
                <p:txBody>
                  <a:bodyPr wrap="square" rtlCol="0">
                    <a:spAutoFit/>
                  </a:bodyPr>
                  <a:lstStyle/>
                  <a:p>
                    <a:r>
                      <a:rPr lang="en-US" altLang="zh-TW" sz="1200" dirty="0">
                        <a:latin typeface="Times New Roman" panose="02020603050405020304" pitchFamily="18" charset="0"/>
                        <a:cs typeface="Times New Roman" panose="02020603050405020304" pitchFamily="18" charset="0"/>
                      </a:rPr>
                      <a:t>RMS </a:t>
                    </a:r>
                    <a14:m>
                      <m:oMath xmlns:m="http://schemas.openxmlformats.org/officeDocument/2006/math">
                        <m:r>
                          <a:rPr lang="en-US" altLang="zh-TW" sz="1200" b="0" i="1" smtClean="0">
                            <a:latin typeface="Cambria Math" panose="02040503050406030204" pitchFamily="18" charset="0"/>
                            <a:cs typeface="Times New Roman" panose="02020603050405020304" pitchFamily="18" charset="0"/>
                          </a:rPr>
                          <m:t>(</m:t>
                        </m:r>
                        <m:r>
                          <a:rPr lang="en-US" altLang="zh-TW" sz="1200" b="0" i="1" smtClean="0">
                            <a:latin typeface="Cambria Math" panose="02040503050406030204" pitchFamily="18" charset="0"/>
                            <a:cs typeface="Times New Roman" panose="02020603050405020304" pitchFamily="18" charset="0"/>
                          </a:rPr>
                          <m:t>𝑚𝑇</m:t>
                        </m:r>
                        <m:r>
                          <a:rPr lang="en-US" altLang="zh-TW" sz="1200" b="0" i="1" smtClean="0">
                            <a:latin typeface="Cambria Math" panose="02040503050406030204" pitchFamily="18" charset="0"/>
                            <a:cs typeface="Times New Roman" panose="02020603050405020304" pitchFamily="18" charset="0"/>
                          </a:rPr>
                          <m:t>)</m:t>
                        </m:r>
                      </m:oMath>
                    </a14:m>
                    <a:endParaRPr lang="zh-TW" altLang="en-US" sz="1200" dirty="0">
                      <a:latin typeface="Times New Roman" panose="02020603050405020304" pitchFamily="18" charset="0"/>
                      <a:cs typeface="Times New Roman" panose="02020603050405020304" pitchFamily="18" charset="0"/>
                    </a:endParaRPr>
                  </a:p>
                </p:txBody>
              </p:sp>
            </mc:Choice>
            <mc:Fallback>
              <p:sp>
                <p:nvSpPr>
                  <p:cNvPr id="32" name="文字方塊 31">
                    <a:extLst>
                      <a:ext uri="{FF2B5EF4-FFF2-40B4-BE49-F238E27FC236}">
                        <a16:creationId xmlns:a16="http://schemas.microsoft.com/office/drawing/2014/main" id="{E161BAD6-CD80-4567-9C95-712C27EC1156}"/>
                      </a:ext>
                    </a:extLst>
                  </p:cNvPr>
                  <p:cNvSpPr txBox="1">
                    <a:spLocks noRot="1" noChangeAspect="1" noMove="1" noResize="1" noEditPoints="1" noAdjustHandles="1" noChangeArrowheads="1" noChangeShapeType="1" noTextEdit="1"/>
                  </p:cNvSpPr>
                  <p:nvPr/>
                </p:nvSpPr>
                <p:spPr>
                  <a:xfrm rot="16200000">
                    <a:off x="-107270" y="4344881"/>
                    <a:ext cx="1130300" cy="276999"/>
                  </a:xfrm>
                  <a:prstGeom prst="rect">
                    <a:avLst/>
                  </a:prstGeom>
                  <a:blipFill>
                    <a:blip r:embed="rId5"/>
                    <a:stretch>
                      <a:fillRect l="-2222" r="-17778" b="-568"/>
                    </a:stretch>
                  </a:blipFill>
                </p:spPr>
                <p:txBody>
                  <a:bodyPr/>
                  <a:lstStyle/>
                  <a:p>
                    <a:r>
                      <a:rPr lang="zh-TW" altLang="en-US">
                        <a:noFill/>
                      </a:rPr>
                      <a:t> </a:t>
                    </a:r>
                  </a:p>
                </p:txBody>
              </p:sp>
            </mc:Fallback>
          </mc:AlternateContent>
        </p:grpSp>
      </p:grpSp>
      <p:grpSp>
        <p:nvGrpSpPr>
          <p:cNvPr id="18" name="群組 17">
            <a:extLst>
              <a:ext uri="{FF2B5EF4-FFF2-40B4-BE49-F238E27FC236}">
                <a16:creationId xmlns:a16="http://schemas.microsoft.com/office/drawing/2014/main" id="{06034E16-D894-4DCA-B263-C95F606801A2}"/>
              </a:ext>
            </a:extLst>
          </p:cNvPr>
          <p:cNvGrpSpPr/>
          <p:nvPr/>
        </p:nvGrpSpPr>
        <p:grpSpPr>
          <a:xfrm>
            <a:off x="3158468" y="1985150"/>
            <a:ext cx="2759732" cy="2307387"/>
            <a:chOff x="3087429" y="2021760"/>
            <a:chExt cx="2851311" cy="2567616"/>
          </a:xfrm>
        </p:grpSpPr>
        <p:pic>
          <p:nvPicPr>
            <p:cNvPr id="9" name="圖片 8">
              <a:extLst>
                <a:ext uri="{FF2B5EF4-FFF2-40B4-BE49-F238E27FC236}">
                  <a16:creationId xmlns:a16="http://schemas.microsoft.com/office/drawing/2014/main" id="{52C2406B-06C3-4012-8E9D-2E0286046F4B}"/>
                </a:ext>
              </a:extLst>
            </p:cNvPr>
            <p:cNvPicPr>
              <a:picLocks noChangeAspect="1"/>
            </p:cNvPicPr>
            <p:nvPr/>
          </p:nvPicPr>
          <p:blipFill rotWithShape="1">
            <a:blip r:embed="rId6">
              <a:extLst>
                <a:ext uri="{28A0092B-C50C-407E-A947-70E740481C1C}">
                  <a14:useLocalDpi xmlns:a14="http://schemas.microsoft.com/office/drawing/2010/main" val="0"/>
                </a:ext>
              </a:extLst>
            </a:blip>
            <a:srcRect l="3650" b="4279"/>
            <a:stretch/>
          </p:blipFill>
          <p:spPr>
            <a:xfrm>
              <a:off x="3362201" y="2021760"/>
              <a:ext cx="2381907" cy="2366372"/>
            </a:xfrm>
            <a:prstGeom prst="rect">
              <a:avLst/>
            </a:prstGeom>
          </p:spPr>
        </p:pic>
        <p:grpSp>
          <p:nvGrpSpPr>
            <p:cNvPr id="10" name="群組 9">
              <a:extLst>
                <a:ext uri="{FF2B5EF4-FFF2-40B4-BE49-F238E27FC236}">
                  <a16:creationId xmlns:a16="http://schemas.microsoft.com/office/drawing/2014/main" id="{B629CE26-27AC-4E74-89BD-FCE314EA96B1}"/>
                </a:ext>
              </a:extLst>
            </p:cNvPr>
            <p:cNvGrpSpPr/>
            <p:nvPr/>
          </p:nvGrpSpPr>
          <p:grpSpPr>
            <a:xfrm>
              <a:off x="3087429" y="2523447"/>
              <a:ext cx="2851311" cy="2065929"/>
              <a:chOff x="2883859" y="3881333"/>
              <a:chExt cx="2851311" cy="2065929"/>
            </a:xfrm>
          </p:grpSpPr>
          <mc:AlternateContent xmlns:mc="http://schemas.openxmlformats.org/markup-compatibility/2006">
            <mc:Choice xmlns:a14="http://schemas.microsoft.com/office/drawing/2010/main" Requires="a14">
              <p:sp>
                <p:nvSpPr>
                  <p:cNvPr id="34" name="文字方塊 33">
                    <a:extLst>
                      <a:ext uri="{FF2B5EF4-FFF2-40B4-BE49-F238E27FC236}">
                        <a16:creationId xmlns:a16="http://schemas.microsoft.com/office/drawing/2014/main" id="{E668F151-F08D-4505-82A9-8399BBC281AD}"/>
                      </a:ext>
                    </a:extLst>
                  </p:cNvPr>
                  <p:cNvSpPr txBox="1"/>
                  <p:nvPr/>
                </p:nvSpPr>
                <p:spPr>
                  <a:xfrm>
                    <a:off x="3353263" y="5670263"/>
                    <a:ext cx="2381907" cy="276999"/>
                  </a:xfrm>
                  <a:prstGeom prst="rect">
                    <a:avLst/>
                  </a:prstGeom>
                  <a:noFill/>
                </p:spPr>
                <p:txBody>
                  <a:bodyPr wrap="square" rtlCol="0">
                    <a:spAutoFit/>
                  </a:bodyPr>
                  <a:lstStyle/>
                  <a:p>
                    <a:r>
                      <a:rPr lang="en-US" altLang="zh-TW" sz="1200" dirty="0">
                        <a:latin typeface="Times New Roman" panose="02020603050405020304" pitchFamily="18" charset="0"/>
                        <a:cs typeface="Times New Roman" panose="02020603050405020304" pitchFamily="18" charset="0"/>
                      </a:rPr>
                      <a:t>Number of calibration points </a:t>
                    </a:r>
                    <a14:m>
                      <m:oMath xmlns:m="http://schemas.openxmlformats.org/officeDocument/2006/math">
                        <m:r>
                          <a:rPr lang="en-US" altLang="zh-TW" sz="1200" b="0" i="1" smtClean="0">
                            <a:latin typeface="Cambria Math" panose="02040503050406030204" pitchFamily="18" charset="0"/>
                            <a:cs typeface="Times New Roman" panose="02020603050405020304" pitchFamily="18" charset="0"/>
                          </a:rPr>
                          <m:t>(</m:t>
                        </m:r>
                        <m:sSub>
                          <m:sSubPr>
                            <m:ctrlPr>
                              <a:rPr lang="en-US" altLang="zh-TW" sz="1200" b="0" i="1" smtClean="0">
                                <a:latin typeface="Cambria Math" panose="02040503050406030204" pitchFamily="18" charset="0"/>
                                <a:cs typeface="Times New Roman" panose="02020603050405020304" pitchFamily="18" charset="0"/>
                              </a:rPr>
                            </m:ctrlPr>
                          </m:sSubPr>
                          <m:e>
                            <m:r>
                              <a:rPr lang="en-US" altLang="zh-TW" sz="1200" b="0" i="1" smtClean="0">
                                <a:latin typeface="Cambria Math" panose="02040503050406030204" pitchFamily="18" charset="0"/>
                                <a:cs typeface="Times New Roman" panose="02020603050405020304" pitchFamily="18" charset="0"/>
                              </a:rPr>
                              <m:t>𝑁</m:t>
                            </m:r>
                          </m:e>
                          <m:sub>
                            <m:r>
                              <a:rPr lang="en-US" altLang="zh-TW" sz="1200" b="0" i="1" smtClean="0">
                                <a:latin typeface="Cambria Math" panose="02040503050406030204" pitchFamily="18" charset="0"/>
                                <a:cs typeface="Times New Roman" panose="02020603050405020304" pitchFamily="18" charset="0"/>
                              </a:rPr>
                              <m:t>𝑐</m:t>
                            </m:r>
                          </m:sub>
                        </m:sSub>
                        <m:r>
                          <a:rPr lang="en-US" altLang="zh-TW" sz="1200" b="0" i="1" smtClean="0">
                            <a:latin typeface="Cambria Math" panose="02040503050406030204" pitchFamily="18" charset="0"/>
                            <a:cs typeface="Times New Roman" panose="02020603050405020304" pitchFamily="18" charset="0"/>
                          </a:rPr>
                          <m:t>)</m:t>
                        </m:r>
                      </m:oMath>
                    </a14:m>
                    <a:endParaRPr lang="zh-TW" altLang="en-US" sz="1200" dirty="0">
                      <a:latin typeface="Times New Roman" panose="02020603050405020304" pitchFamily="18" charset="0"/>
                      <a:cs typeface="Times New Roman" panose="02020603050405020304" pitchFamily="18" charset="0"/>
                    </a:endParaRPr>
                  </a:p>
                </p:txBody>
              </p:sp>
            </mc:Choice>
            <mc:Fallback>
              <p:sp>
                <p:nvSpPr>
                  <p:cNvPr id="34" name="文字方塊 33">
                    <a:extLst>
                      <a:ext uri="{FF2B5EF4-FFF2-40B4-BE49-F238E27FC236}">
                        <a16:creationId xmlns:a16="http://schemas.microsoft.com/office/drawing/2014/main" id="{E668F151-F08D-4505-82A9-8399BBC281AD}"/>
                      </a:ext>
                    </a:extLst>
                  </p:cNvPr>
                  <p:cNvSpPr txBox="1">
                    <a:spLocks noRot="1" noChangeAspect="1" noMove="1" noResize="1" noEditPoints="1" noAdjustHandles="1" noChangeArrowheads="1" noChangeShapeType="1" noTextEdit="1"/>
                  </p:cNvSpPr>
                  <p:nvPr/>
                </p:nvSpPr>
                <p:spPr>
                  <a:xfrm>
                    <a:off x="3353263" y="5670263"/>
                    <a:ext cx="2381907" cy="276999"/>
                  </a:xfrm>
                  <a:prstGeom prst="rect">
                    <a:avLst/>
                  </a:prstGeom>
                  <a:blipFill>
                    <a:blip r:embed="rId7"/>
                    <a:stretch>
                      <a:fillRect l="-265" b="-29268"/>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35" name="文字方塊 34">
                    <a:extLst>
                      <a:ext uri="{FF2B5EF4-FFF2-40B4-BE49-F238E27FC236}">
                        <a16:creationId xmlns:a16="http://schemas.microsoft.com/office/drawing/2014/main" id="{57195705-983E-4700-BD9A-B06EDCC6194B}"/>
                      </a:ext>
                    </a:extLst>
                  </p:cNvPr>
                  <p:cNvSpPr txBox="1"/>
                  <p:nvPr/>
                </p:nvSpPr>
                <p:spPr>
                  <a:xfrm rot="16200000">
                    <a:off x="2457209" y="4307983"/>
                    <a:ext cx="1130300" cy="276999"/>
                  </a:xfrm>
                  <a:prstGeom prst="rect">
                    <a:avLst/>
                  </a:prstGeom>
                  <a:noFill/>
                </p:spPr>
                <p:txBody>
                  <a:bodyPr wrap="square" rtlCol="0">
                    <a:spAutoFit/>
                  </a:bodyPr>
                  <a:lstStyle/>
                  <a:p>
                    <a:r>
                      <a:rPr lang="en-US" altLang="zh-TW" sz="1200" dirty="0">
                        <a:latin typeface="Times New Roman" panose="02020603050405020304" pitchFamily="18" charset="0"/>
                        <a:cs typeface="Times New Roman" panose="02020603050405020304" pitchFamily="18" charset="0"/>
                      </a:rPr>
                      <a:t>RMS </a:t>
                    </a:r>
                    <a14:m>
                      <m:oMath xmlns:m="http://schemas.openxmlformats.org/officeDocument/2006/math">
                        <m:r>
                          <a:rPr lang="en-US" altLang="zh-TW" sz="1200" b="0" i="1" smtClean="0">
                            <a:latin typeface="Cambria Math" panose="02040503050406030204" pitchFamily="18" charset="0"/>
                            <a:cs typeface="Times New Roman" panose="02020603050405020304" pitchFamily="18" charset="0"/>
                          </a:rPr>
                          <m:t>(</m:t>
                        </m:r>
                        <m:r>
                          <a:rPr lang="en-US" altLang="zh-TW" sz="1200" b="0" i="1" smtClean="0">
                            <a:latin typeface="Cambria Math" panose="02040503050406030204" pitchFamily="18" charset="0"/>
                            <a:cs typeface="Times New Roman" panose="02020603050405020304" pitchFamily="18" charset="0"/>
                          </a:rPr>
                          <m:t>𝑚𝑇</m:t>
                        </m:r>
                        <m:r>
                          <a:rPr lang="en-US" altLang="zh-TW" sz="1200" b="0" i="1" smtClean="0">
                            <a:latin typeface="Cambria Math" panose="02040503050406030204" pitchFamily="18" charset="0"/>
                            <a:cs typeface="Times New Roman" panose="02020603050405020304" pitchFamily="18" charset="0"/>
                          </a:rPr>
                          <m:t>)</m:t>
                        </m:r>
                      </m:oMath>
                    </a14:m>
                    <a:endParaRPr lang="zh-TW" altLang="en-US" sz="1200" dirty="0">
                      <a:latin typeface="Times New Roman" panose="02020603050405020304" pitchFamily="18" charset="0"/>
                      <a:cs typeface="Times New Roman" panose="02020603050405020304" pitchFamily="18" charset="0"/>
                    </a:endParaRPr>
                  </a:p>
                </p:txBody>
              </p:sp>
            </mc:Choice>
            <mc:Fallback>
              <p:sp>
                <p:nvSpPr>
                  <p:cNvPr id="35" name="文字方塊 34">
                    <a:extLst>
                      <a:ext uri="{FF2B5EF4-FFF2-40B4-BE49-F238E27FC236}">
                        <a16:creationId xmlns:a16="http://schemas.microsoft.com/office/drawing/2014/main" id="{57195705-983E-4700-BD9A-B06EDCC6194B}"/>
                      </a:ext>
                    </a:extLst>
                  </p:cNvPr>
                  <p:cNvSpPr txBox="1">
                    <a:spLocks noRot="1" noChangeAspect="1" noMove="1" noResize="1" noEditPoints="1" noAdjustHandles="1" noChangeArrowheads="1" noChangeShapeType="1" noTextEdit="1"/>
                  </p:cNvSpPr>
                  <p:nvPr/>
                </p:nvSpPr>
                <p:spPr>
                  <a:xfrm rot="16200000">
                    <a:off x="2457209" y="4307983"/>
                    <a:ext cx="1130300" cy="276999"/>
                  </a:xfrm>
                  <a:prstGeom prst="rect">
                    <a:avLst/>
                  </a:prstGeom>
                  <a:blipFill>
                    <a:blip r:embed="rId8"/>
                    <a:stretch>
                      <a:fillRect r="-20455" b="-602"/>
                    </a:stretch>
                  </a:blipFill>
                </p:spPr>
                <p:txBody>
                  <a:bodyPr/>
                  <a:lstStyle/>
                  <a:p>
                    <a:r>
                      <a:rPr lang="zh-TW" altLang="en-US">
                        <a:noFill/>
                      </a:rPr>
                      <a:t> </a:t>
                    </a:r>
                  </a:p>
                </p:txBody>
              </p:sp>
            </mc:Fallback>
          </mc:AlternateContent>
        </p:grpSp>
      </p:grpSp>
      <p:grpSp>
        <p:nvGrpSpPr>
          <p:cNvPr id="23" name="群組 22">
            <a:extLst>
              <a:ext uri="{FF2B5EF4-FFF2-40B4-BE49-F238E27FC236}">
                <a16:creationId xmlns:a16="http://schemas.microsoft.com/office/drawing/2014/main" id="{D4027824-7F88-43AC-BB94-DBDB85B9E64D}"/>
              </a:ext>
            </a:extLst>
          </p:cNvPr>
          <p:cNvGrpSpPr/>
          <p:nvPr/>
        </p:nvGrpSpPr>
        <p:grpSpPr>
          <a:xfrm>
            <a:off x="402645" y="4450876"/>
            <a:ext cx="2637227" cy="2286419"/>
            <a:chOff x="402645" y="4450876"/>
            <a:chExt cx="2637227" cy="2286419"/>
          </a:xfrm>
        </p:grpSpPr>
        <p:grpSp>
          <p:nvGrpSpPr>
            <p:cNvPr id="20" name="群組 19">
              <a:extLst>
                <a:ext uri="{FF2B5EF4-FFF2-40B4-BE49-F238E27FC236}">
                  <a16:creationId xmlns:a16="http://schemas.microsoft.com/office/drawing/2014/main" id="{AF6C20E5-CA30-4FA7-ACA6-4E7F35C17769}"/>
                </a:ext>
              </a:extLst>
            </p:cNvPr>
            <p:cNvGrpSpPr/>
            <p:nvPr/>
          </p:nvGrpSpPr>
          <p:grpSpPr>
            <a:xfrm>
              <a:off x="660399" y="4450876"/>
              <a:ext cx="2169453" cy="2220856"/>
              <a:chOff x="660399" y="4450876"/>
              <a:chExt cx="2169453" cy="2220856"/>
            </a:xfrm>
          </p:grpSpPr>
          <p:pic>
            <p:nvPicPr>
              <p:cNvPr id="5" name="圖片 4">
                <a:extLst>
                  <a:ext uri="{FF2B5EF4-FFF2-40B4-BE49-F238E27FC236}">
                    <a16:creationId xmlns:a16="http://schemas.microsoft.com/office/drawing/2014/main" id="{7C60644E-51C7-4837-8506-F5A13E5B5788}"/>
                  </a:ext>
                </a:extLst>
              </p:cNvPr>
              <p:cNvPicPr>
                <a:picLocks noChangeAspect="1"/>
              </p:cNvPicPr>
              <p:nvPr/>
            </p:nvPicPr>
            <p:blipFill rotWithShape="1">
              <a:blip r:embed="rId9">
                <a:extLst>
                  <a:ext uri="{28A0092B-C50C-407E-A947-70E740481C1C}">
                    <a14:useLocalDpi xmlns:a14="http://schemas.microsoft.com/office/drawing/2010/main" val="0"/>
                  </a:ext>
                </a:extLst>
              </a:blip>
              <a:srcRect l="4621" b="2337"/>
              <a:stretch/>
            </p:blipFill>
            <p:spPr>
              <a:xfrm>
                <a:off x="660399" y="4450876"/>
                <a:ext cx="2169453" cy="2108620"/>
              </a:xfrm>
              <a:prstGeom prst="rect">
                <a:avLst/>
              </a:prstGeom>
            </p:spPr>
          </p:pic>
          <p:sp>
            <p:nvSpPr>
              <p:cNvPr id="19" name="矩形 18">
                <a:extLst>
                  <a:ext uri="{FF2B5EF4-FFF2-40B4-BE49-F238E27FC236}">
                    <a16:creationId xmlns:a16="http://schemas.microsoft.com/office/drawing/2014/main" id="{36AD2B4D-E176-4DB6-AF73-466BAF81E150}"/>
                  </a:ext>
                </a:extLst>
              </p:cNvPr>
              <p:cNvSpPr/>
              <p:nvPr/>
            </p:nvSpPr>
            <p:spPr>
              <a:xfrm>
                <a:off x="1295401" y="6525628"/>
                <a:ext cx="1024466" cy="1461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mc:Choice xmlns:a14="http://schemas.microsoft.com/office/drawing/2010/main" Requires="a14">
            <p:sp>
              <p:nvSpPr>
                <p:cNvPr id="28" name="文字方塊 27">
                  <a:extLst>
                    <a:ext uri="{FF2B5EF4-FFF2-40B4-BE49-F238E27FC236}">
                      <a16:creationId xmlns:a16="http://schemas.microsoft.com/office/drawing/2014/main" id="{D334AB9C-2C1C-4943-919A-863DC066FFC4}"/>
                    </a:ext>
                  </a:extLst>
                </p:cNvPr>
                <p:cNvSpPr txBox="1"/>
                <p:nvPr/>
              </p:nvSpPr>
              <p:spPr>
                <a:xfrm>
                  <a:off x="721487" y="6473821"/>
                  <a:ext cx="2318385" cy="263474"/>
                </a:xfrm>
                <a:prstGeom prst="rect">
                  <a:avLst/>
                </a:prstGeom>
                <a:noFill/>
              </p:spPr>
              <p:txBody>
                <a:bodyPr wrap="square" rtlCol="0">
                  <a:spAutoFit/>
                </a:bodyPr>
                <a:lstStyle/>
                <a:p>
                  <a:r>
                    <a:rPr lang="en-US" altLang="zh-TW" sz="1200" dirty="0">
                      <a:latin typeface="Times New Roman" panose="02020603050405020304" pitchFamily="18" charset="0"/>
                      <a:cs typeface="Times New Roman" panose="02020603050405020304" pitchFamily="18" charset="0"/>
                    </a:rPr>
                    <a:t>Number of calibration points</a:t>
                  </a:r>
                  <a:r>
                    <a:rPr lang="zh-TW" altLang="en-US" sz="1200" dirty="0">
                      <a:latin typeface="Times New Roman" panose="02020603050405020304" pitchFamily="18" charset="0"/>
                      <a:cs typeface="Times New Roman" panose="02020603050405020304" pitchFamily="18" charset="0"/>
                    </a:rPr>
                    <a:t> </a:t>
                  </a:r>
                  <a14:m>
                    <m:oMath xmlns:m="http://schemas.openxmlformats.org/officeDocument/2006/math">
                      <m:r>
                        <a:rPr lang="en-US" altLang="zh-TW" sz="1200" b="0" i="1" smtClean="0">
                          <a:latin typeface="Cambria Math" panose="02040503050406030204" pitchFamily="18" charset="0"/>
                          <a:cs typeface="Times New Roman" panose="02020603050405020304" pitchFamily="18" charset="0"/>
                        </a:rPr>
                        <m:t>(</m:t>
                      </m:r>
                      <m:sSub>
                        <m:sSubPr>
                          <m:ctrlPr>
                            <a:rPr lang="en-US" altLang="zh-TW" sz="1200" b="0" i="1" smtClean="0">
                              <a:latin typeface="Cambria Math" panose="02040503050406030204" pitchFamily="18" charset="0"/>
                              <a:cs typeface="Times New Roman" panose="02020603050405020304" pitchFamily="18" charset="0"/>
                            </a:rPr>
                          </m:ctrlPr>
                        </m:sSubPr>
                        <m:e>
                          <m:r>
                            <a:rPr lang="en-US" altLang="zh-TW" sz="1200" b="0" i="1" smtClean="0">
                              <a:latin typeface="Cambria Math" panose="02040503050406030204" pitchFamily="18" charset="0"/>
                              <a:cs typeface="Times New Roman" panose="02020603050405020304" pitchFamily="18" charset="0"/>
                            </a:rPr>
                            <m:t>𝑁</m:t>
                          </m:r>
                        </m:e>
                        <m:sub>
                          <m:r>
                            <a:rPr lang="en-US" altLang="zh-TW" sz="1200" b="0" i="1" smtClean="0">
                              <a:latin typeface="Cambria Math" panose="02040503050406030204" pitchFamily="18" charset="0"/>
                              <a:cs typeface="Times New Roman" panose="02020603050405020304" pitchFamily="18" charset="0"/>
                            </a:rPr>
                            <m:t>𝑐</m:t>
                          </m:r>
                        </m:sub>
                      </m:sSub>
                      <m:r>
                        <a:rPr lang="en-US" altLang="zh-TW" sz="1200" b="0" i="1" smtClean="0">
                          <a:latin typeface="Cambria Math" panose="02040503050406030204" pitchFamily="18" charset="0"/>
                          <a:cs typeface="Times New Roman" panose="02020603050405020304" pitchFamily="18" charset="0"/>
                        </a:rPr>
                        <m:t>)</m:t>
                      </m:r>
                    </m:oMath>
                  </a14:m>
                  <a:endParaRPr lang="zh-TW" altLang="en-US" sz="1200" dirty="0">
                    <a:latin typeface="Times New Roman" panose="02020603050405020304" pitchFamily="18" charset="0"/>
                    <a:cs typeface="Times New Roman" panose="02020603050405020304" pitchFamily="18" charset="0"/>
                  </a:endParaRPr>
                </a:p>
              </p:txBody>
            </p:sp>
          </mc:Choice>
          <mc:Fallback>
            <p:sp>
              <p:nvSpPr>
                <p:cNvPr id="28" name="文字方塊 27">
                  <a:extLst>
                    <a:ext uri="{FF2B5EF4-FFF2-40B4-BE49-F238E27FC236}">
                      <a16:creationId xmlns:a16="http://schemas.microsoft.com/office/drawing/2014/main" id="{D334AB9C-2C1C-4943-919A-863DC066FFC4}"/>
                    </a:ext>
                  </a:extLst>
                </p:cNvPr>
                <p:cNvSpPr txBox="1">
                  <a:spLocks noRot="1" noChangeAspect="1" noMove="1" noResize="1" noEditPoints="1" noAdjustHandles="1" noChangeArrowheads="1" noChangeShapeType="1" noTextEdit="1"/>
                </p:cNvSpPr>
                <p:nvPr/>
              </p:nvSpPr>
              <p:spPr>
                <a:xfrm>
                  <a:off x="721487" y="6473821"/>
                  <a:ext cx="2318385" cy="263474"/>
                </a:xfrm>
                <a:prstGeom prst="rect">
                  <a:avLst/>
                </a:prstGeom>
                <a:blipFill>
                  <a:blip r:embed="rId10"/>
                  <a:stretch>
                    <a:fillRect t="-2326" b="-23256"/>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9" name="文字方塊 28">
                  <a:extLst>
                    <a:ext uri="{FF2B5EF4-FFF2-40B4-BE49-F238E27FC236}">
                      <a16:creationId xmlns:a16="http://schemas.microsoft.com/office/drawing/2014/main" id="{85CADFDB-B3D1-495C-B3C9-6E8C490C05C1}"/>
                    </a:ext>
                  </a:extLst>
                </p:cNvPr>
                <p:cNvSpPr txBox="1"/>
                <p:nvPr/>
              </p:nvSpPr>
              <p:spPr>
                <a:xfrm rot="16200000">
                  <a:off x="2596" y="5264328"/>
                  <a:ext cx="1075113" cy="275015"/>
                </a:xfrm>
                <a:prstGeom prst="rect">
                  <a:avLst/>
                </a:prstGeom>
                <a:noFill/>
              </p:spPr>
              <p:txBody>
                <a:bodyPr wrap="square" rtlCol="0">
                  <a:spAutoFit/>
                </a:bodyPr>
                <a:lstStyle/>
                <a:p>
                  <a:r>
                    <a:rPr lang="en-US" altLang="zh-TW" sz="1200" dirty="0">
                      <a:latin typeface="Times New Roman" panose="02020603050405020304" pitchFamily="18" charset="0"/>
                      <a:cs typeface="Times New Roman" panose="02020603050405020304" pitchFamily="18" charset="0"/>
                    </a:rPr>
                    <a:t>RMS </a:t>
                  </a:r>
                  <a14:m>
                    <m:oMath xmlns:m="http://schemas.openxmlformats.org/officeDocument/2006/math">
                      <m:r>
                        <a:rPr lang="en-US" altLang="zh-TW" sz="1200" b="0" i="1" smtClean="0">
                          <a:latin typeface="Cambria Math" panose="02040503050406030204" pitchFamily="18" charset="0"/>
                          <a:cs typeface="Times New Roman" panose="02020603050405020304" pitchFamily="18" charset="0"/>
                        </a:rPr>
                        <m:t>(</m:t>
                      </m:r>
                      <m:r>
                        <a:rPr lang="en-US" altLang="zh-TW" sz="1200" b="0" i="1" smtClean="0">
                          <a:latin typeface="Cambria Math" panose="02040503050406030204" pitchFamily="18" charset="0"/>
                          <a:cs typeface="Times New Roman" panose="02020603050405020304" pitchFamily="18" charset="0"/>
                        </a:rPr>
                        <m:t>𝑚𝑇</m:t>
                      </m:r>
                      <m:r>
                        <a:rPr lang="en-US" altLang="zh-TW" sz="1200" b="0" i="1" smtClean="0">
                          <a:latin typeface="Cambria Math" panose="02040503050406030204" pitchFamily="18" charset="0"/>
                          <a:cs typeface="Times New Roman" panose="02020603050405020304" pitchFamily="18" charset="0"/>
                        </a:rPr>
                        <m:t>)</m:t>
                      </m:r>
                    </m:oMath>
                  </a14:m>
                  <a:endParaRPr lang="zh-TW" altLang="en-US" sz="1200" dirty="0">
                    <a:latin typeface="Times New Roman" panose="02020603050405020304" pitchFamily="18" charset="0"/>
                    <a:cs typeface="Times New Roman" panose="02020603050405020304" pitchFamily="18" charset="0"/>
                  </a:endParaRPr>
                </a:p>
              </p:txBody>
            </p:sp>
          </mc:Choice>
          <mc:Fallback>
            <p:sp>
              <p:nvSpPr>
                <p:cNvPr id="29" name="文字方塊 28">
                  <a:extLst>
                    <a:ext uri="{FF2B5EF4-FFF2-40B4-BE49-F238E27FC236}">
                      <a16:creationId xmlns:a16="http://schemas.microsoft.com/office/drawing/2014/main" id="{85CADFDB-B3D1-495C-B3C9-6E8C490C05C1}"/>
                    </a:ext>
                  </a:extLst>
                </p:cNvPr>
                <p:cNvSpPr txBox="1">
                  <a:spLocks noRot="1" noChangeAspect="1" noMove="1" noResize="1" noEditPoints="1" noAdjustHandles="1" noChangeArrowheads="1" noChangeShapeType="1" noTextEdit="1"/>
                </p:cNvSpPr>
                <p:nvPr/>
              </p:nvSpPr>
              <p:spPr>
                <a:xfrm rot="16200000">
                  <a:off x="2596" y="5264328"/>
                  <a:ext cx="1075113" cy="275015"/>
                </a:xfrm>
                <a:prstGeom prst="rect">
                  <a:avLst/>
                </a:prstGeom>
                <a:blipFill>
                  <a:blip r:embed="rId11"/>
                  <a:stretch>
                    <a:fillRect r="-17778" b="-568"/>
                  </a:stretch>
                </a:blipFill>
              </p:spPr>
              <p:txBody>
                <a:bodyPr/>
                <a:lstStyle/>
                <a:p>
                  <a:r>
                    <a:rPr lang="zh-TW" altLang="en-US">
                      <a:noFill/>
                    </a:rPr>
                    <a:t> </a:t>
                  </a:r>
                </a:p>
              </p:txBody>
            </p:sp>
          </mc:Fallback>
        </mc:AlternateContent>
      </p:grpSp>
      <p:grpSp>
        <p:nvGrpSpPr>
          <p:cNvPr id="22" name="群組 21">
            <a:extLst>
              <a:ext uri="{FF2B5EF4-FFF2-40B4-BE49-F238E27FC236}">
                <a16:creationId xmlns:a16="http://schemas.microsoft.com/office/drawing/2014/main" id="{65F446F1-D21C-4BE7-93D5-32E8FA094B41}"/>
              </a:ext>
            </a:extLst>
          </p:cNvPr>
          <p:cNvGrpSpPr/>
          <p:nvPr/>
        </p:nvGrpSpPr>
        <p:grpSpPr>
          <a:xfrm>
            <a:off x="3158470" y="4472943"/>
            <a:ext cx="2631299" cy="2299330"/>
            <a:chOff x="3158470" y="4472943"/>
            <a:chExt cx="2631299" cy="2299330"/>
          </a:xfrm>
        </p:grpSpPr>
        <p:grpSp>
          <p:nvGrpSpPr>
            <p:cNvPr id="21" name="群組 20">
              <a:extLst>
                <a:ext uri="{FF2B5EF4-FFF2-40B4-BE49-F238E27FC236}">
                  <a16:creationId xmlns:a16="http://schemas.microsoft.com/office/drawing/2014/main" id="{F285BEDF-6709-4C50-AA9F-E121C50167F6}"/>
                </a:ext>
              </a:extLst>
            </p:cNvPr>
            <p:cNvGrpSpPr/>
            <p:nvPr/>
          </p:nvGrpSpPr>
          <p:grpSpPr>
            <a:xfrm>
              <a:off x="3333242" y="4472943"/>
              <a:ext cx="2232833" cy="2086553"/>
              <a:chOff x="3333242" y="4472943"/>
              <a:chExt cx="2232833" cy="2086553"/>
            </a:xfrm>
          </p:grpSpPr>
          <p:pic>
            <p:nvPicPr>
              <p:cNvPr id="13" name="圖片 12">
                <a:extLst>
                  <a:ext uri="{FF2B5EF4-FFF2-40B4-BE49-F238E27FC236}">
                    <a16:creationId xmlns:a16="http://schemas.microsoft.com/office/drawing/2014/main" id="{7E4E5DFF-DC4B-4052-9E4F-5466C2FB2AC3}"/>
                  </a:ext>
                </a:extLst>
              </p:cNvPr>
              <p:cNvPicPr>
                <a:picLocks noChangeAspect="1"/>
              </p:cNvPicPr>
              <p:nvPr/>
            </p:nvPicPr>
            <p:blipFill rotWithShape="1">
              <a:blip r:embed="rId12">
                <a:extLst>
                  <a:ext uri="{28A0092B-C50C-407E-A947-70E740481C1C}">
                    <a14:useLocalDpi xmlns:a14="http://schemas.microsoft.com/office/drawing/2010/main" val="0"/>
                  </a:ext>
                </a:extLst>
              </a:blip>
              <a:srcRect l="2204" b="3821"/>
              <a:stretch/>
            </p:blipFill>
            <p:spPr>
              <a:xfrm>
                <a:off x="3444443" y="4472943"/>
                <a:ext cx="2121632" cy="2086553"/>
              </a:xfrm>
              <a:prstGeom prst="rect">
                <a:avLst/>
              </a:prstGeom>
            </p:spPr>
          </p:pic>
          <p:sp>
            <p:nvSpPr>
              <p:cNvPr id="25" name="矩形 24">
                <a:extLst>
                  <a:ext uri="{FF2B5EF4-FFF2-40B4-BE49-F238E27FC236}">
                    <a16:creationId xmlns:a16="http://schemas.microsoft.com/office/drawing/2014/main" id="{892D575B-7A96-4AE8-AB42-DF39AC73C3BD}"/>
                  </a:ext>
                </a:extLst>
              </p:cNvPr>
              <p:cNvSpPr/>
              <p:nvPr/>
            </p:nvSpPr>
            <p:spPr>
              <a:xfrm rot="16200000">
                <a:off x="2894061" y="5486777"/>
                <a:ext cx="1024466" cy="1461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mc:Choice xmlns:a14="http://schemas.microsoft.com/office/drawing/2010/main" Requires="a14">
            <p:sp>
              <p:nvSpPr>
                <p:cNvPr id="30" name="文字方塊 29">
                  <a:extLst>
                    <a:ext uri="{FF2B5EF4-FFF2-40B4-BE49-F238E27FC236}">
                      <a16:creationId xmlns:a16="http://schemas.microsoft.com/office/drawing/2014/main" id="{97780040-F171-4695-8AFF-6C3FAB8396A0}"/>
                    </a:ext>
                  </a:extLst>
                </p:cNvPr>
                <p:cNvSpPr txBox="1"/>
                <p:nvPr/>
              </p:nvSpPr>
              <p:spPr>
                <a:xfrm>
                  <a:off x="3479346" y="6500946"/>
                  <a:ext cx="2310423" cy="271327"/>
                </a:xfrm>
                <a:prstGeom prst="rect">
                  <a:avLst/>
                </a:prstGeom>
                <a:noFill/>
              </p:spPr>
              <p:txBody>
                <a:bodyPr wrap="square" rtlCol="0">
                  <a:spAutoFit/>
                </a:bodyPr>
                <a:lstStyle/>
                <a:p>
                  <a:r>
                    <a:rPr lang="en-US" altLang="zh-TW" sz="1200" dirty="0">
                      <a:latin typeface="Times New Roman" panose="02020603050405020304" pitchFamily="18" charset="0"/>
                      <a:cs typeface="Times New Roman" panose="02020603050405020304" pitchFamily="18" charset="0"/>
                    </a:rPr>
                    <a:t>Number of calibration points </a:t>
                  </a:r>
                  <a14:m>
                    <m:oMath xmlns:m="http://schemas.openxmlformats.org/officeDocument/2006/math">
                      <m:r>
                        <a:rPr lang="en-US" altLang="zh-TW" sz="1200" b="0" i="1" smtClean="0">
                          <a:latin typeface="Cambria Math" panose="02040503050406030204" pitchFamily="18" charset="0"/>
                          <a:cs typeface="Times New Roman" panose="02020603050405020304" pitchFamily="18" charset="0"/>
                        </a:rPr>
                        <m:t>(</m:t>
                      </m:r>
                      <m:sSub>
                        <m:sSubPr>
                          <m:ctrlPr>
                            <a:rPr lang="en-US" altLang="zh-TW" sz="1200" b="0" i="1" smtClean="0">
                              <a:latin typeface="Cambria Math" panose="02040503050406030204" pitchFamily="18" charset="0"/>
                              <a:cs typeface="Times New Roman" panose="02020603050405020304" pitchFamily="18" charset="0"/>
                            </a:rPr>
                          </m:ctrlPr>
                        </m:sSubPr>
                        <m:e>
                          <m:r>
                            <a:rPr lang="en-US" altLang="zh-TW" sz="1200" b="0" i="1" smtClean="0">
                              <a:latin typeface="Cambria Math" panose="02040503050406030204" pitchFamily="18" charset="0"/>
                              <a:cs typeface="Times New Roman" panose="02020603050405020304" pitchFamily="18" charset="0"/>
                            </a:rPr>
                            <m:t>𝑁</m:t>
                          </m:r>
                        </m:e>
                        <m:sub>
                          <m:r>
                            <a:rPr lang="en-US" altLang="zh-TW" sz="1200" b="0" i="1" smtClean="0">
                              <a:latin typeface="Cambria Math" panose="02040503050406030204" pitchFamily="18" charset="0"/>
                              <a:cs typeface="Times New Roman" panose="02020603050405020304" pitchFamily="18" charset="0"/>
                            </a:rPr>
                            <m:t>𝑐</m:t>
                          </m:r>
                        </m:sub>
                      </m:sSub>
                      <m:r>
                        <a:rPr lang="en-US" altLang="zh-TW" sz="1200" b="0" i="1" smtClean="0">
                          <a:latin typeface="Cambria Math" panose="02040503050406030204" pitchFamily="18" charset="0"/>
                          <a:cs typeface="Times New Roman" panose="02020603050405020304" pitchFamily="18" charset="0"/>
                        </a:rPr>
                        <m:t>)</m:t>
                      </m:r>
                    </m:oMath>
                  </a14:m>
                  <a:endParaRPr lang="zh-TW" altLang="en-US" sz="1200" dirty="0">
                    <a:latin typeface="Times New Roman" panose="02020603050405020304" pitchFamily="18" charset="0"/>
                    <a:cs typeface="Times New Roman" panose="02020603050405020304" pitchFamily="18" charset="0"/>
                  </a:endParaRPr>
                </a:p>
              </p:txBody>
            </p:sp>
          </mc:Choice>
          <mc:Fallback>
            <p:sp>
              <p:nvSpPr>
                <p:cNvPr id="30" name="文字方塊 29">
                  <a:extLst>
                    <a:ext uri="{FF2B5EF4-FFF2-40B4-BE49-F238E27FC236}">
                      <a16:creationId xmlns:a16="http://schemas.microsoft.com/office/drawing/2014/main" id="{97780040-F171-4695-8AFF-6C3FAB8396A0}"/>
                    </a:ext>
                  </a:extLst>
                </p:cNvPr>
                <p:cNvSpPr txBox="1">
                  <a:spLocks noRot="1" noChangeAspect="1" noMove="1" noResize="1" noEditPoints="1" noAdjustHandles="1" noChangeArrowheads="1" noChangeShapeType="1" noTextEdit="1"/>
                </p:cNvSpPr>
                <p:nvPr/>
              </p:nvSpPr>
              <p:spPr>
                <a:xfrm>
                  <a:off x="3479346" y="6500946"/>
                  <a:ext cx="2310423" cy="271327"/>
                </a:xfrm>
                <a:prstGeom prst="rect">
                  <a:avLst/>
                </a:prstGeom>
                <a:blipFill>
                  <a:blip r:embed="rId13"/>
                  <a:stretch>
                    <a:fillRect l="-264" b="-17778"/>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31" name="文字方塊 30">
                  <a:extLst>
                    <a:ext uri="{FF2B5EF4-FFF2-40B4-BE49-F238E27FC236}">
                      <a16:creationId xmlns:a16="http://schemas.microsoft.com/office/drawing/2014/main" id="{AF0F620F-EE02-4A0A-8462-8C0139AB7633}"/>
                    </a:ext>
                  </a:extLst>
                </p:cNvPr>
                <p:cNvSpPr txBox="1"/>
                <p:nvPr/>
              </p:nvSpPr>
              <p:spPr>
                <a:xfrm rot="16200000">
                  <a:off x="2739234" y="5236780"/>
                  <a:ext cx="1107157" cy="268686"/>
                </a:xfrm>
                <a:prstGeom prst="rect">
                  <a:avLst/>
                </a:prstGeom>
                <a:noFill/>
              </p:spPr>
              <p:txBody>
                <a:bodyPr wrap="square" rtlCol="0">
                  <a:spAutoFit/>
                </a:bodyPr>
                <a:lstStyle/>
                <a:p>
                  <a:r>
                    <a:rPr lang="en-US" altLang="zh-TW" sz="1200" dirty="0">
                      <a:latin typeface="Times New Roman" panose="02020603050405020304" pitchFamily="18" charset="0"/>
                      <a:cs typeface="Times New Roman" panose="02020603050405020304" pitchFamily="18" charset="0"/>
                    </a:rPr>
                    <a:t>RMS </a:t>
                  </a:r>
                  <a14:m>
                    <m:oMath xmlns:m="http://schemas.openxmlformats.org/officeDocument/2006/math">
                      <m:r>
                        <a:rPr lang="en-US" altLang="zh-TW" sz="1200" b="0" i="1" smtClean="0">
                          <a:latin typeface="Cambria Math" panose="02040503050406030204" pitchFamily="18" charset="0"/>
                          <a:cs typeface="Times New Roman" panose="02020603050405020304" pitchFamily="18" charset="0"/>
                        </a:rPr>
                        <m:t>(</m:t>
                      </m:r>
                      <m:r>
                        <a:rPr lang="en-US" altLang="zh-TW" sz="1200" b="0" i="1" smtClean="0">
                          <a:latin typeface="Cambria Math" panose="02040503050406030204" pitchFamily="18" charset="0"/>
                          <a:cs typeface="Times New Roman" panose="02020603050405020304" pitchFamily="18" charset="0"/>
                        </a:rPr>
                        <m:t>𝑚𝑇</m:t>
                      </m:r>
                      <m:r>
                        <a:rPr lang="en-US" altLang="zh-TW" sz="1200" b="0" i="1" smtClean="0">
                          <a:latin typeface="Cambria Math" panose="02040503050406030204" pitchFamily="18" charset="0"/>
                          <a:cs typeface="Times New Roman" panose="02020603050405020304" pitchFamily="18" charset="0"/>
                        </a:rPr>
                        <m:t>)</m:t>
                      </m:r>
                    </m:oMath>
                  </a14:m>
                  <a:endParaRPr lang="zh-TW" altLang="en-US" sz="1200" dirty="0">
                    <a:latin typeface="Times New Roman" panose="02020603050405020304" pitchFamily="18" charset="0"/>
                    <a:cs typeface="Times New Roman" panose="02020603050405020304" pitchFamily="18" charset="0"/>
                  </a:endParaRPr>
                </a:p>
              </p:txBody>
            </p:sp>
          </mc:Choice>
          <mc:Fallback>
            <p:sp>
              <p:nvSpPr>
                <p:cNvPr id="31" name="文字方塊 30">
                  <a:extLst>
                    <a:ext uri="{FF2B5EF4-FFF2-40B4-BE49-F238E27FC236}">
                      <a16:creationId xmlns:a16="http://schemas.microsoft.com/office/drawing/2014/main" id="{AF0F620F-EE02-4A0A-8462-8C0139AB7633}"/>
                    </a:ext>
                  </a:extLst>
                </p:cNvPr>
                <p:cNvSpPr txBox="1">
                  <a:spLocks noRot="1" noChangeAspect="1" noMove="1" noResize="1" noEditPoints="1" noAdjustHandles="1" noChangeArrowheads="1" noChangeShapeType="1" noTextEdit="1"/>
                </p:cNvSpPr>
                <p:nvPr/>
              </p:nvSpPr>
              <p:spPr>
                <a:xfrm rot="16200000">
                  <a:off x="2739234" y="5236780"/>
                  <a:ext cx="1107157" cy="268686"/>
                </a:xfrm>
                <a:prstGeom prst="rect">
                  <a:avLst/>
                </a:prstGeom>
                <a:blipFill>
                  <a:blip r:embed="rId14"/>
                  <a:stretch>
                    <a:fillRect r="-20455"/>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28430246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282042"/>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6" name="文字方塊 5">
            <a:extLst>
              <a:ext uri="{FF2B5EF4-FFF2-40B4-BE49-F238E27FC236}">
                <a16:creationId xmlns:a16="http://schemas.microsoft.com/office/drawing/2014/main" id="{31ACE95C-3F52-4F1D-AC27-AFA6A8DD7680}"/>
              </a:ext>
            </a:extLst>
          </p:cNvPr>
          <p:cNvSpPr txBox="1"/>
          <p:nvPr/>
        </p:nvSpPr>
        <p:spPr>
          <a:xfrm>
            <a:off x="27458" y="552713"/>
            <a:ext cx="4544541" cy="369332"/>
          </a:xfrm>
          <a:prstGeom prst="rect">
            <a:avLst/>
          </a:prstGeom>
          <a:noFill/>
        </p:spPr>
        <p:txBody>
          <a:bodyPr wrap="square" rtlCol="0">
            <a:spAutoFit/>
          </a:bodyPr>
          <a:lstStyle/>
          <a:p>
            <a:pPr marL="285750" indent="-285750">
              <a:buFont typeface="Wingdings" panose="05000000000000000000" pitchFamily="2" charset="2"/>
              <a:buChar char="l"/>
            </a:pPr>
            <a:r>
              <a:rPr lang="en-US" altLang="zh-TW" dirty="0">
                <a:latin typeface="Times New Roman" panose="02020603050405020304" pitchFamily="18" charset="0"/>
                <a:cs typeface="Times New Roman" panose="02020603050405020304" pitchFamily="18" charset="0"/>
              </a:rPr>
              <a:t>Calibration results</a:t>
            </a:r>
            <a:endParaRPr lang="zh-TW" altLang="en-US" dirty="0">
              <a:latin typeface="Times New Roman" panose="02020603050405020304" pitchFamily="18" charset="0"/>
              <a:cs typeface="Times New Roman" panose="02020603050405020304" pitchFamily="18" charset="0"/>
            </a:endParaRPr>
          </a:p>
        </p:txBody>
      </p:sp>
      <p:sp>
        <p:nvSpPr>
          <p:cNvPr id="12" name="文字方塊 11">
            <a:extLst>
              <a:ext uri="{FF2B5EF4-FFF2-40B4-BE49-F238E27FC236}">
                <a16:creationId xmlns:a16="http://schemas.microsoft.com/office/drawing/2014/main" id="{FBD9F285-E19C-4465-9425-57DFB03A945C}"/>
              </a:ext>
            </a:extLst>
          </p:cNvPr>
          <p:cNvSpPr txBox="1"/>
          <p:nvPr/>
        </p:nvSpPr>
        <p:spPr>
          <a:xfrm>
            <a:off x="0" y="1461543"/>
            <a:ext cx="4529667" cy="646331"/>
          </a:xfrm>
          <a:prstGeom prst="rect">
            <a:avLst/>
          </a:prstGeom>
          <a:noFill/>
        </p:spPr>
        <p:txBody>
          <a:bodyPr wrap="square" rtlCol="0">
            <a:spAutoFit/>
          </a:bodyPr>
          <a:lstStyle/>
          <a:p>
            <a:endParaRPr lang="zh-TW" altLang="en-US" dirty="0"/>
          </a:p>
          <a:p>
            <a:pPr lvl="1"/>
            <a:endParaRPr lang="en-US" altLang="zh-TW" dirty="0"/>
          </a:p>
        </p:txBody>
      </p:sp>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6F5288B6-F08B-4647-BEC2-1ED8DF629DA3}"/>
                  </a:ext>
                </a:extLst>
              </p:cNvPr>
              <p:cNvSpPr txBox="1"/>
              <p:nvPr/>
            </p:nvSpPr>
            <p:spPr>
              <a:xfrm>
                <a:off x="8545338" y="457425"/>
                <a:ext cx="3564053"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27" name="文字方塊 26">
                <a:extLst>
                  <a:ext uri="{FF2B5EF4-FFF2-40B4-BE49-F238E27FC236}">
                    <a16:creationId xmlns:a16="http://schemas.microsoft.com/office/drawing/2014/main" id="{6F5288B6-F08B-4647-BEC2-1ED8DF629DA3}"/>
                  </a:ext>
                </a:extLst>
              </p:cNvPr>
              <p:cNvSpPr txBox="1">
                <a:spLocks noRot="1" noChangeAspect="1" noMove="1" noResize="1" noEditPoints="1" noAdjustHandles="1" noChangeArrowheads="1" noChangeShapeType="1" noTextEdit="1"/>
              </p:cNvSpPr>
              <p:nvPr/>
            </p:nvSpPr>
            <p:spPr>
              <a:xfrm>
                <a:off x="8545338" y="457425"/>
                <a:ext cx="3564053" cy="321563"/>
              </a:xfrm>
              <a:prstGeom prst="rect">
                <a:avLst/>
              </a:prstGeom>
              <a:blipFill>
                <a:blip r:embed="rId2"/>
                <a:stretch>
                  <a:fillRect l="-1199" t="-13208" r="-5308" b="-22642"/>
                </a:stretch>
              </a:blipFill>
            </p:spPr>
            <p:txBody>
              <a:bodyPr/>
              <a:lstStyle/>
              <a:p>
                <a:r>
                  <a:rPr lang="zh-TW" altLang="en-US">
                    <a:noFill/>
                  </a:rPr>
                  <a:t> </a:t>
                </a:r>
              </a:p>
            </p:txBody>
          </p:sp>
        </mc:Fallback>
      </mc:AlternateContent>
      <p:sp>
        <p:nvSpPr>
          <p:cNvPr id="4" name="文字方塊 3">
            <a:extLst>
              <a:ext uri="{FF2B5EF4-FFF2-40B4-BE49-F238E27FC236}">
                <a16:creationId xmlns:a16="http://schemas.microsoft.com/office/drawing/2014/main" id="{3B29A552-EA7E-4837-AF53-D95DAEFD34FD}"/>
              </a:ext>
            </a:extLst>
          </p:cNvPr>
          <p:cNvSpPr txBox="1"/>
          <p:nvPr/>
        </p:nvSpPr>
        <p:spPr>
          <a:xfrm>
            <a:off x="27458" y="2052543"/>
            <a:ext cx="3613209"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Single parameter(43 points)</a:t>
            </a:r>
            <a:endParaRPr lang="zh-TW" altLang="en-US" dirty="0"/>
          </a:p>
        </p:txBody>
      </p:sp>
      <p:sp>
        <p:nvSpPr>
          <p:cNvPr id="47" name="文字方塊 46">
            <a:extLst>
              <a:ext uri="{FF2B5EF4-FFF2-40B4-BE49-F238E27FC236}">
                <a16:creationId xmlns:a16="http://schemas.microsoft.com/office/drawing/2014/main" id="{C5B7ED82-92AC-4C16-A18D-D2B3CA5A27F5}"/>
              </a:ext>
            </a:extLst>
          </p:cNvPr>
          <p:cNvSpPr txBox="1"/>
          <p:nvPr/>
        </p:nvSpPr>
        <p:spPr>
          <a:xfrm>
            <a:off x="27458" y="4066794"/>
            <a:ext cx="4832409"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Eighteen parameters(55 points)</a:t>
            </a:r>
            <a:endParaRPr lang="zh-TW" altLang="en-US" dirty="0"/>
          </a:p>
        </p:txBody>
      </p:sp>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F2D9CBB1-3EEA-4EB4-8FCC-FD3C5EFFA05F}"/>
                  </a:ext>
                </a:extLst>
              </p:cNvPr>
              <p:cNvSpPr txBox="1"/>
              <p:nvPr/>
            </p:nvSpPr>
            <p:spPr>
              <a:xfrm>
                <a:off x="154577" y="887936"/>
                <a:ext cx="7042090" cy="1200329"/>
              </a:xfrm>
              <a:prstGeom prst="rect">
                <a:avLst/>
              </a:prstGeom>
              <a:noFill/>
            </p:spPr>
            <p:txBody>
              <a:bodyPr wrap="square" rtlCol="0">
                <a:spAutoFit/>
              </a:bodyPr>
              <a:lstStyle/>
              <a:p>
                <a:pPr marL="285750" indent="-285750">
                  <a:buFont typeface="Wingdings" panose="05000000000000000000" pitchFamily="2" charset="2"/>
                  <a:buChar char="Ø"/>
                </a:pPr>
                <a14:m>
                  <m:oMath xmlns:m="http://schemas.openxmlformats.org/officeDocument/2006/math">
                    <m:r>
                      <a:rPr lang="en-US" altLang="zh-TW" b="0" i="1" smtClean="0">
                        <a:latin typeface="Cambria Math" panose="02040503050406030204" pitchFamily="18" charset="0"/>
                      </a:rPr>
                      <m:t>𝑅</m:t>
                    </m:r>
                    <m:r>
                      <a:rPr lang="en-US" altLang="zh-TW" b="0" i="1" smtClean="0">
                        <a:latin typeface="Cambria Math" panose="02040503050406030204" pitchFamily="18" charset="0"/>
                        <a:ea typeface="Cambria Math" panose="02040503050406030204" pitchFamily="18" charset="0"/>
                      </a:rPr>
                      <m:t>≤150</m:t>
                    </m:r>
                    <m:r>
                      <a:rPr lang="en-US" altLang="zh-TW" b="0" i="1" smtClean="0">
                        <a:latin typeface="Cambria Math" panose="02040503050406030204" pitchFamily="18" charset="0"/>
                        <a:ea typeface="Cambria Math" panose="02040503050406030204" pitchFamily="18" charset="0"/>
                      </a:rPr>
                      <m:t>𝑢𝑚</m:t>
                    </m:r>
                  </m:oMath>
                </a14:m>
                <a:endParaRPr lang="en-US" altLang="zh-TW" b="0" dirty="0">
                  <a:ea typeface="Cambria Math" panose="02040503050406030204" pitchFamily="18" charset="0"/>
                </a:endParaRPr>
              </a:p>
              <a:p>
                <a:pPr marL="285750" indent="-285750">
                  <a:buFont typeface="Wingdings" panose="05000000000000000000" pitchFamily="2" charset="2"/>
                  <a:buChar char="Ø"/>
                </a:pPr>
                <a:r>
                  <a:rPr lang="en-US" altLang="zh-TW" dirty="0"/>
                  <a:t>Calibration results obtained using the interpolation points determined above.</a:t>
                </a:r>
              </a:p>
              <a:p>
                <a:pPr marL="285750" indent="-285750">
                  <a:buFont typeface="Wingdings" panose="05000000000000000000" pitchFamily="2" charset="2"/>
                  <a:buChar char="Ø"/>
                </a:pPr>
                <a:r>
                  <a:rPr lang="en-US" altLang="zh-TW" dirty="0"/>
                  <a:t>Long calibrate results</a:t>
                </a:r>
                <a:endParaRPr lang="zh-TW" altLang="en-US" dirty="0"/>
              </a:p>
            </p:txBody>
          </p:sp>
        </mc:Choice>
        <mc:Fallback xmlns="">
          <p:sp>
            <p:nvSpPr>
              <p:cNvPr id="23" name="文字方塊 22">
                <a:extLst>
                  <a:ext uri="{FF2B5EF4-FFF2-40B4-BE49-F238E27FC236}">
                    <a16:creationId xmlns:a16="http://schemas.microsoft.com/office/drawing/2014/main" id="{F2D9CBB1-3EEA-4EB4-8FCC-FD3C5EFFA05F}"/>
                  </a:ext>
                </a:extLst>
              </p:cNvPr>
              <p:cNvSpPr txBox="1">
                <a:spLocks noRot="1" noChangeAspect="1" noMove="1" noResize="1" noEditPoints="1" noAdjustHandles="1" noChangeArrowheads="1" noChangeShapeType="1" noTextEdit="1"/>
              </p:cNvSpPr>
              <p:nvPr/>
            </p:nvSpPr>
            <p:spPr>
              <a:xfrm>
                <a:off x="154577" y="887936"/>
                <a:ext cx="7042090" cy="1200329"/>
              </a:xfrm>
              <a:prstGeom prst="rect">
                <a:avLst/>
              </a:prstGeom>
              <a:blipFill>
                <a:blip r:embed="rId3"/>
                <a:stretch>
                  <a:fillRect l="-519" t="-1523" r="-519" b="-710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8" name="LF_s_mat"/>
              <p:cNvSpPr txBox="1"/>
              <p:nvPr/>
            </p:nvSpPr>
            <p:spPr>
              <a:xfrm>
                <a:off x="460000" y="2450000"/>
                <a:ext cx="4389119" cy="1115568"/>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sSub>
                        <m:sSubPr>
                          <m:ctrlPr>
                            <a:rPr lang="en-US" sz="1200" b="0" i="1">
                              <a:latin typeface="Cambria Math" panose="02040503050406030204" pitchFamily="18" charset="0"/>
                            </a:rPr>
                          </m:ctrlPr>
                        </m:sSubPr>
                        <m:e>
                          <m:acc>
                            <m:accPr>
                              <m:chr m:val="̄"/>
                              <m:ctrlPr>
                                <a:rPr lang="en-US" sz="1200" b="0" i="1">
                                  <a:latin typeface="Cambria Math" panose="02040503050406030204" pitchFamily="18" charset="0"/>
                                </a:rPr>
                              </m:ctrlPr>
                            </m:accPr>
                            <m:e>
                              <m:r>
                                <a:rPr lang="en-US" sz="1200" b="0" i="1">
                                  <a:latin typeface="Cambria Math" panose="02040503050406030204" pitchFamily="18" charset="0"/>
                                </a:rPr>
                                <m:t>𝐾</m:t>
                              </m:r>
                            </m:e>
                          </m:acc>
                        </m:e>
                        <m:sub>
                          <m:r>
                            <a:rPr lang="en-US" sz="1200" b="0" i="1">
                              <a:latin typeface="Cambria Math" panose="02040503050406030204" pitchFamily="18" charset="0"/>
                            </a:rPr>
                            <m:t>𝐼</m:t>
                          </m:r>
                        </m:sub>
                      </m:sSub>
                      <m:r>
                        <a:rPr lang="en-US" sz="1200" b="0" i="0">
                          <a:latin typeface="Cambria Math" panose="02040503050406030204" pitchFamily="18" charset="0"/>
                        </a:rPr>
                        <m:t> =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0.8333</m:t>
                                </m:r>
                              </m:e>
                              <m:e>
                                <m:r>
                                  <a:rPr lang="en-US" sz="1200" b="0" i="0">
                                    <a:latin typeface="Cambria Math" panose="02040503050406030204" pitchFamily="18" charset="0"/>
                                  </a:rPr>
                                  <m:t>−0.0962</m:t>
                                </m:r>
                              </m:e>
                              <m:e>
                                <m:r>
                                  <a:rPr lang="en-US" sz="1200" b="0" i="0">
                                    <a:latin typeface="Cambria Math" panose="02040503050406030204" pitchFamily="18" charset="0"/>
                                  </a:rPr>
                                  <m:t>−0.1983</m:t>
                                </m:r>
                              </m:e>
                              <m:e>
                                <m:r>
                                  <a:rPr lang="en-US" sz="1200" b="0" i="0">
                                    <a:latin typeface="Cambria Math" panose="02040503050406030204" pitchFamily="18" charset="0"/>
                                  </a:rPr>
                                  <m:t>−0.1667</m:t>
                                </m:r>
                              </m:e>
                              <m:e>
                                <m:r>
                                  <a:rPr lang="en-US" sz="1200" b="0" i="0">
                                    <a:latin typeface="Cambria Math" panose="02040503050406030204" pitchFamily="18" charset="0"/>
                                  </a:rPr>
                                  <m:t>−0.1721</m:t>
                                </m:r>
                              </m:e>
                              <m:e>
                                <m:r>
                                  <a:rPr lang="en-US" sz="1200" b="0" i="0">
                                    <a:latin typeface="Cambria Math" panose="02040503050406030204" pitchFamily="18" charset="0"/>
                                  </a:rPr>
                                  <m:t>−0.1955</m:t>
                                </m:r>
                              </m:e>
                            </m:mr>
                            <m:mr>
                              <m:e>
                                <m:r>
                                  <a:rPr lang="en-US" sz="1200" b="0" i="0">
                                    <a:latin typeface="Cambria Math" panose="02040503050406030204" pitchFamily="18" charset="0"/>
                                  </a:rPr>
                                  <m:t>−0.2134</m:t>
                                </m:r>
                              </m:e>
                              <m:e>
                                <m:r>
                                  <a:rPr lang="en-US" sz="1200" b="0" i="0">
                                    <a:latin typeface="Cambria Math" panose="02040503050406030204" pitchFamily="18" charset="0"/>
                                  </a:rPr>
                                  <m:t>0.9594</m:t>
                                </m:r>
                              </m:e>
                              <m:e>
                                <m:r>
                                  <a:rPr lang="en-US" sz="1200" b="0" i="0">
                                    <a:latin typeface="Cambria Math" panose="02040503050406030204" pitchFamily="18" charset="0"/>
                                  </a:rPr>
                                  <m:t>−0.2162</m:t>
                                </m:r>
                              </m:e>
                              <m:e>
                                <m:r>
                                  <a:rPr lang="en-US" sz="1200" b="0" i="0">
                                    <a:latin typeface="Cambria Math" panose="02040503050406030204" pitchFamily="18" charset="0"/>
                                  </a:rPr>
                                  <m:t>−0.1512</m:t>
                                </m:r>
                              </m:e>
                              <m:e>
                                <m:r>
                                  <a:rPr lang="en-US" sz="1200" b="0" i="0">
                                    <a:latin typeface="Cambria Math" panose="02040503050406030204" pitchFamily="18" charset="0"/>
                                  </a:rPr>
                                  <m:t>−0.1561</m:t>
                                </m:r>
                              </m:e>
                              <m:e>
                                <m:r>
                                  <a:rPr lang="en-US" sz="1200" b="0" i="0">
                                    <a:latin typeface="Cambria Math" panose="02040503050406030204" pitchFamily="18" charset="0"/>
                                  </a:rPr>
                                  <m:t>−0.2129</m:t>
                                </m:r>
                              </m:e>
                            </m:mr>
                            <m:mr>
                              <m:e>
                                <m:r>
                                  <a:rPr lang="en-US" sz="1200" b="0" i="0">
                                    <a:latin typeface="Cambria Math" panose="02040503050406030204" pitchFamily="18" charset="0"/>
                                  </a:rPr>
                                  <m:t>−0.1888</m:t>
                                </m:r>
                              </m:e>
                              <m:e>
                                <m:r>
                                  <a:rPr lang="en-US" sz="1200" b="0" i="0">
                                    <a:latin typeface="Cambria Math" panose="02040503050406030204" pitchFamily="18" charset="0"/>
                                  </a:rPr>
                                  <m:t>−0.1683</m:t>
                                </m:r>
                              </m:e>
                              <m:e>
                                <m:r>
                                  <a:rPr lang="en-US" sz="1200" b="0" i="0">
                                    <a:latin typeface="Cambria Math" panose="02040503050406030204" pitchFamily="18" charset="0"/>
                                  </a:rPr>
                                  <m:t>0.8263</m:t>
                                </m:r>
                              </m:e>
                              <m:e>
                                <m:r>
                                  <a:rPr lang="en-US" sz="1200" b="0" i="0">
                                    <a:latin typeface="Cambria Math" panose="02040503050406030204" pitchFamily="18" charset="0"/>
                                  </a:rPr>
                                  <m:t>−0.0977</m:t>
                                </m:r>
                              </m:e>
                              <m:e>
                                <m:r>
                                  <a:rPr lang="en-US" sz="1200" b="0" i="0">
                                    <a:latin typeface="Cambria Math" panose="02040503050406030204" pitchFamily="18" charset="0"/>
                                  </a:rPr>
                                  <m:t>−0.1720</m:t>
                                </m:r>
                              </m:e>
                              <m:e>
                                <m:r>
                                  <a:rPr lang="en-US" sz="1200" b="0" i="0">
                                    <a:latin typeface="Cambria Math" panose="02040503050406030204" pitchFamily="18" charset="0"/>
                                  </a:rPr>
                                  <m:t>−0.1954</m:t>
                                </m:r>
                              </m:e>
                            </m:mr>
                            <m:mr>
                              <m:e>
                                <m:r>
                                  <a:rPr lang="en-US" sz="1200" b="0" i="0">
                                    <a:latin typeface="Cambria Math" panose="02040503050406030204" pitchFamily="18" charset="0"/>
                                  </a:rPr>
                                  <m:t>−0.2056</m:t>
                                </m:r>
                              </m:e>
                              <m:e>
                                <m:r>
                                  <a:rPr lang="en-US" sz="1200" b="0" i="0">
                                    <a:latin typeface="Cambria Math" panose="02040503050406030204" pitchFamily="18" charset="0"/>
                                  </a:rPr>
                                  <m:t>−0.1517</m:t>
                                </m:r>
                              </m:e>
                              <m:e>
                                <m:r>
                                  <a:rPr lang="en-US" sz="1200" b="0" i="0">
                                    <a:latin typeface="Cambria Math" panose="02040503050406030204" pitchFamily="18" charset="0"/>
                                  </a:rPr>
                                  <m:t>−0.2221</m:t>
                                </m:r>
                              </m:e>
                              <m:e>
                                <m:r>
                                  <a:rPr lang="en-US" sz="1200" b="0" i="0">
                                    <a:latin typeface="Cambria Math" panose="02040503050406030204" pitchFamily="18" charset="0"/>
                                  </a:rPr>
                                  <m:t>0.9547</m:t>
                                </m:r>
                              </m:e>
                              <m:e>
                                <m:r>
                                  <a:rPr lang="en-US" sz="1200" b="0" i="0">
                                    <a:latin typeface="Cambria Math" panose="02040503050406030204" pitchFamily="18" charset="0"/>
                                  </a:rPr>
                                  <m:t>−0.1549</m:t>
                                </m:r>
                              </m:e>
                              <m:e>
                                <m:r>
                                  <a:rPr lang="en-US" sz="1200" b="0" i="0">
                                    <a:latin typeface="Cambria Math" panose="02040503050406030204" pitchFamily="18" charset="0"/>
                                  </a:rPr>
                                  <m:t>−0.2120</m:t>
                                </m:r>
                              </m:e>
                            </m:mr>
                            <m:mr>
                              <m:e>
                                <m:r>
                                  <a:rPr lang="en-US" sz="1200" b="0" i="0">
                                    <a:latin typeface="Cambria Math" panose="02040503050406030204" pitchFamily="18" charset="0"/>
                                  </a:rPr>
                                  <m:t>−0.2063</m:t>
                                </m:r>
                              </m:e>
                              <m:e>
                                <m:r>
                                  <a:rPr lang="en-US" sz="1200" b="0" i="0">
                                    <a:latin typeface="Cambria Math" panose="02040503050406030204" pitchFamily="18" charset="0"/>
                                  </a:rPr>
                                  <m:t>−0.1518</m:t>
                                </m:r>
                              </m:e>
                              <m:e>
                                <m:r>
                                  <a:rPr lang="en-US" sz="1200" b="0" i="0">
                                    <a:latin typeface="Cambria Math" panose="02040503050406030204" pitchFamily="18" charset="0"/>
                                  </a:rPr>
                                  <m:t>−0.2157</m:t>
                                </m:r>
                              </m:e>
                              <m:e>
                                <m:r>
                                  <a:rPr lang="en-US" sz="1200" b="0" i="0">
                                    <a:latin typeface="Cambria Math" panose="02040503050406030204" pitchFamily="18" charset="0"/>
                                  </a:rPr>
                                  <m:t>−0.1514</m:t>
                                </m:r>
                              </m:e>
                              <m:e>
                                <m:r>
                                  <a:rPr lang="en-US" sz="1200" b="0" i="0">
                                    <a:latin typeface="Cambria Math" panose="02040503050406030204" pitchFamily="18" charset="0"/>
                                  </a:rPr>
                                  <m:t>0.9542</m:t>
                                </m:r>
                              </m:e>
                              <m:e>
                                <m:r>
                                  <a:rPr lang="en-US" sz="1200" b="0" i="0">
                                    <a:latin typeface="Cambria Math" panose="02040503050406030204" pitchFamily="18" charset="0"/>
                                  </a:rPr>
                                  <m:t>−0.2205</m:t>
                                </m:r>
                              </m:e>
                            </m:mr>
                            <m:mr>
                              <m:e>
                                <m:r>
                                  <a:rPr lang="en-US" sz="1200" b="0" i="0">
                                    <a:latin typeface="Cambria Math" panose="02040503050406030204" pitchFamily="18" charset="0"/>
                                  </a:rPr>
                                  <m:t>−0.1886</m:t>
                                </m:r>
                              </m:e>
                              <m:e>
                                <m:r>
                                  <a:rPr lang="en-US" sz="1200" b="0" i="0">
                                    <a:latin typeface="Cambria Math" panose="02040503050406030204" pitchFamily="18" charset="0"/>
                                  </a:rPr>
                                  <m:t>−0.1678</m:t>
                                </m:r>
                              </m:e>
                              <m:e>
                                <m:r>
                                  <a:rPr lang="en-US" sz="1200" b="0" i="0">
                                    <a:latin typeface="Cambria Math" panose="02040503050406030204" pitchFamily="18" charset="0"/>
                                  </a:rPr>
                                  <m:t>−0.1979</m:t>
                                </m:r>
                              </m:e>
                              <m:e>
                                <m:r>
                                  <a:rPr lang="en-US" sz="1200" b="0" i="0">
                                    <a:latin typeface="Cambria Math" panose="02040503050406030204" pitchFamily="18" charset="0"/>
                                  </a:rPr>
                                  <m:t>−0.1670</m:t>
                                </m:r>
                              </m:e>
                              <m:e>
                                <m:r>
                                  <a:rPr lang="en-US" sz="1200" b="0" i="0">
                                    <a:latin typeface="Cambria Math" panose="02040503050406030204" pitchFamily="18" charset="0"/>
                                  </a:rPr>
                                  <m:t>−0.1014</m:t>
                                </m:r>
                              </m:e>
                              <m:e>
                                <m:r>
                                  <a:rPr lang="en-US" sz="1200" b="0" i="0">
                                    <a:latin typeface="Cambria Math" panose="02040503050406030204" pitchFamily="18" charset="0"/>
                                  </a:rPr>
                                  <m:t>0.8266</m:t>
                                </m:r>
                              </m:e>
                            </m:mr>
                          </m:m>
                        </m:e>
                      </m:d>
                      <m:r>
                        <a:rPr lang="en-US" sz="1200" b="0" i="0">
                          <a:latin typeface="Cambria Math" panose="02040503050406030204" pitchFamily="18" charset="0"/>
                        </a:rPr>
                        <m:t> </m:t>
                      </m:r>
                    </m:oMath>
                  </m:oMathPara>
                </a14:m>
                <a:endParaRPr lang="en-US" sz="1100" dirty="0"/>
              </a:p>
            </p:txBody>
          </p:sp>
        </mc:Choice>
        <mc:Fallback xmlns="">
          <p:sp>
            <p:nvSpPr>
              <p:cNvPr id="48" name="LF_s_mat"/>
              <p:cNvSpPr txBox="1">
                <a:spLocks noRot="1" noChangeAspect="1" noMove="1" noResize="1" noEditPoints="1" noAdjustHandles="1" noChangeArrowheads="1" noChangeShapeType="1" noTextEdit="1"/>
              </p:cNvSpPr>
              <p:nvPr/>
            </p:nvSpPr>
            <p:spPr>
              <a:xfrm>
                <a:off x="460000" y="2450000"/>
                <a:ext cx="4389119" cy="1115568"/>
              </a:xfrm>
              <a:prstGeom prst="rect">
                <a:avLst/>
              </a:prstGeom>
              <a:blipFill>
                <a:blip r:embed=""/>
                <a:stretch>
                  <a:fillRect l="-5417" r="-125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9" name="LF_s_sc"/>
              <p:cNvSpPr txBox="1"/>
              <p:nvPr/>
            </p:nvSpPr>
            <p:spPr>
              <a:xfrm>
                <a:off x="5300000" y="2600000"/>
                <a:ext cx="3457787" cy="310896"/>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400" b="0" i="1">
                              <a:latin typeface="Cambria Math" panose="02040503050406030204" pitchFamily="18" charset="0"/>
                            </a:rPr>
                          </m:ctrlPr>
                        </m:accPr>
                        <m:e>
                          <m:r>
                            <a:rPr lang="en-US" sz="1400" b="0" i="1">
                              <a:latin typeface="Cambria Math" panose="02040503050406030204" pitchFamily="18" charset="0"/>
                            </a:rPr>
                            <m:t>ℓ</m:t>
                          </m:r>
                        </m:e>
                      </m:acc>
                      <m:r>
                        <a:rPr lang="en-US" sz="1400" b="0" i="0">
                          <a:latin typeface="Cambria Math" panose="02040503050406030204" pitchFamily="18" charset="0"/>
                        </a:rPr>
                        <m:t> = 870.7 </m:t>
                      </m:r>
                      <m:r>
                        <a:rPr lang="en-US" sz="1400" b="0" i="1">
                          <a:latin typeface="Cambria Math" panose="02040503050406030204" pitchFamily="18" charset="0"/>
                        </a:rPr>
                        <m:t>𝜇</m:t>
                      </m:r>
                      <m:r>
                        <a:rPr lang="en-US" sz="1400" b="0" i="1">
                          <a:latin typeface="Cambria Math" panose="02040503050406030204" pitchFamily="18" charset="0"/>
                        </a:rPr>
                        <m:t>𝑚</m:t>
                      </m:r>
                      <m:r>
                        <a:rPr lang="en-US" sz="1400" b="0" i="0">
                          <a:latin typeface="Cambria Math" panose="02040503050406030204" pitchFamily="18" charset="0"/>
                        </a:rPr>
                        <m:t>  </m:t>
                      </m:r>
                      <m:sPre>
                        <m:sPrePr>
                          <m:ctrlPr>
                            <a:rPr lang="en-US" sz="1400" b="0" i="1">
                              <a:latin typeface="Cambria Math" panose="02040503050406030204" pitchFamily="18" charset="0"/>
                            </a:rPr>
                          </m:ctrlPr>
                        </m:sPrePr>
                        <m:sub/>
                        <m:sup>
                          <m:r>
                            <a:rPr lang="en-US" sz="1400" b="0" i="1">
                              <a:latin typeface="Cambria Math" panose="02040503050406030204" pitchFamily="18" charset="0"/>
                            </a:rPr>
                            <m:t>𝐵</m:t>
                          </m:r>
                        </m:sup>
                        <m:e>
                          <m:sSub>
                            <m:sSubPr>
                              <m:ctrlPr>
                                <a:rPr lang="en-US" sz="1400" b="0" i="1">
                                  <a:latin typeface="Cambria Math" panose="02040503050406030204" pitchFamily="18" charset="0"/>
                                </a:rPr>
                              </m:ctrlPr>
                            </m:sSubPr>
                            <m:e>
                              <m:acc>
                                <m:accPr>
                                  <m:chr m:val="̂"/>
                                  <m:ctrlPr>
                                    <a:rPr lang="en-US" sz="1400" b="0" i="1">
                                      <a:latin typeface="Cambria Math" panose="02040503050406030204" pitchFamily="18" charset="0"/>
                                    </a:rPr>
                                  </m:ctrlPr>
                                </m:accPr>
                                <m:e>
                                  <m:r>
                                    <a:rPr lang="en-US" sz="1400" b="0" i="1">
                                      <a:latin typeface="Cambria Math" panose="02040503050406030204" pitchFamily="18" charset="0"/>
                                    </a:rPr>
                                    <m:t>𝑔</m:t>
                                  </m:r>
                                </m:e>
                              </m:acc>
                            </m:e>
                            <m:sub>
                              <m:r>
                                <a:rPr lang="en-US" sz="1400" b="0" i="1">
                                  <a:latin typeface="Cambria Math" panose="02040503050406030204" pitchFamily="18" charset="0"/>
                                </a:rPr>
                                <m:t>𝐼</m:t>
                              </m:r>
                            </m:sub>
                          </m:sSub>
                        </m:e>
                      </m:sPre>
                      <m:r>
                        <a:rPr lang="en-US" sz="1400" b="0" i="0">
                          <a:latin typeface="Cambria Math" panose="02040503050406030204" pitchFamily="18" charset="0"/>
                        </a:rPr>
                        <m:t> = 9.68 </m:t>
                      </m:r>
                      <m:r>
                        <a:rPr lang="en-US" sz="1400" b="0" i="1">
                          <a:latin typeface="Cambria Math" panose="02040503050406030204" pitchFamily="18" charset="0"/>
                        </a:rPr>
                        <m:t>𝑚𝑇</m:t>
                      </m:r>
                      <m:r>
                        <a:rPr lang="en-US" sz="1400" b="0" i="1">
                          <a:latin typeface="Cambria Math" panose="02040503050406030204" pitchFamily="18" charset="0"/>
                        </a:rPr>
                        <m:t>/</m:t>
                      </m:r>
                      <m:r>
                        <a:rPr lang="en-US" sz="1400" b="0" i="1">
                          <a:latin typeface="Cambria Math" panose="02040503050406030204" pitchFamily="18" charset="0"/>
                        </a:rPr>
                        <m:t>𝐴</m:t>
                      </m:r>
                    </m:oMath>
                  </m:oMathPara>
                </a14:m>
                <a:endParaRPr lang="en-US" sz="1400" i="1" dirty="0"/>
              </a:p>
            </p:txBody>
          </p:sp>
        </mc:Choice>
        <mc:Fallback xmlns="">
          <p:sp>
            <p:nvSpPr>
              <p:cNvPr id="49" name="LF_s_sc"/>
              <p:cNvSpPr txBox="1">
                <a:spLocks noRot="1" noChangeAspect="1" noMove="1" noResize="1" noEditPoints="1" noAdjustHandles="1" noChangeArrowheads="1" noChangeShapeType="1" noTextEdit="1"/>
              </p:cNvSpPr>
              <p:nvPr/>
            </p:nvSpPr>
            <p:spPr>
              <a:xfrm>
                <a:off x="5300000" y="2600000"/>
                <a:ext cx="3457787" cy="310896"/>
              </a:xfrm>
              <a:prstGeom prst="rect">
                <a:avLst/>
              </a:prstGeom>
              <a:blipFill>
                <a:blip r:embed="rId4"/>
                <a:stretch>
                  <a:fillRect t="-11765" b="-1176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0" name="LF_s_nmae"/>
              <p:cNvSpPr txBox="1"/>
              <p:nvPr/>
            </p:nvSpPr>
            <p:spPr>
              <a:xfrm>
                <a:off x="5300000" y="3050000"/>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𝐼</m:t>
                                              </m:r>
                                            </m:sub>
                                          </m:sSub>
                                        </m:e>
                                      </m:sPr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𝐾</m:t>
                                              </m:r>
                                            </m:e>
                                          </m:acc>
                                        </m:e>
                                        <m:sub>
                                          <m:r>
                                            <a:rPr lang="en-US" altLang="zh-TW" sz="1400" i="1">
                                              <a:latin typeface="Cambria Math" panose="02040503050406030204" pitchFamily="18" charset="0"/>
                                            </a:rPr>
                                            <m:t>𝐼</m:t>
                                          </m:r>
                                        </m:sub>
                                      </m:sSub>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𝐼</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%=2.81%</m:t>
                      </m:r>
                    </m:oMath>
                  </m:oMathPara>
                </a14:m>
                <a:endParaRPr lang="zh-TW" altLang="en-US" sz="1400" dirty="0"/>
              </a:p>
            </p:txBody>
          </p:sp>
        </mc:Choice>
        <mc:Fallback xmlns="">
          <p:sp>
            <p:nvSpPr>
              <p:cNvPr id="50" name="LF_s_nmae"/>
              <p:cNvSpPr txBox="1">
                <a:spLocks noRot="1" noChangeAspect="1" noMove="1" noResize="1" noEditPoints="1" noAdjustHandles="1" noChangeArrowheads="1" noChangeShapeType="1" noTextEdit="1"/>
              </p:cNvSpPr>
              <p:nvPr/>
            </p:nvSpPr>
            <p:spPr>
              <a:xfrm>
                <a:off x="5300000" y="3050000"/>
                <a:ext cx="4191000" cy="549509"/>
              </a:xfrm>
              <a:prstGeom prst="rect">
                <a:avLst/>
              </a:prstGeom>
              <a:blipFill>
                <a:blip r:embed=""/>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1" name="LF_e_mat"/>
              <p:cNvSpPr txBox="1"/>
              <p:nvPr/>
            </p:nvSpPr>
            <p:spPr>
              <a:xfrm>
                <a:off x="460000" y="4480000"/>
                <a:ext cx="4524587" cy="1115568"/>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sSub>
                        <m:sSubPr>
                          <m:ctrlPr>
                            <a:rPr lang="en-US" sz="1200" b="0" i="1">
                              <a:latin typeface="Cambria Math" panose="02040503050406030204" pitchFamily="18" charset="0"/>
                            </a:rPr>
                          </m:ctrlPr>
                        </m:sSubPr>
                        <m:e>
                          <m:acc>
                            <m:accPr>
                              <m:chr m:val="̄"/>
                              <m:ctrlPr>
                                <a:rPr lang="en-US" sz="1200" b="0" i="1">
                                  <a:latin typeface="Cambria Math" panose="02040503050406030204" pitchFamily="18" charset="0"/>
                                </a:rPr>
                              </m:ctrlPr>
                            </m:accPr>
                            <m:e>
                              <m:r>
                                <a:rPr lang="en-US" sz="1200" b="0" i="1">
                                  <a:latin typeface="Cambria Math" panose="02040503050406030204" pitchFamily="18" charset="0"/>
                                </a:rPr>
                                <m:t>𝐾</m:t>
                              </m:r>
                            </m:e>
                          </m:acc>
                        </m:e>
                        <m:sub>
                          <m:r>
                            <a:rPr lang="en-US" sz="1200" b="0" i="1">
                              <a:latin typeface="Cambria Math" panose="02040503050406030204" pitchFamily="18" charset="0"/>
                            </a:rPr>
                            <m:t>𝐼</m:t>
                          </m:r>
                        </m:sub>
                      </m:sSub>
                      <m:r>
                        <a:rPr lang="en-US" sz="1200" b="0" i="0">
                          <a:latin typeface="Cambria Math" panose="02040503050406030204" pitchFamily="18" charset="0"/>
                        </a:rPr>
                        <m:t> =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0.8333</m:t>
                                </m:r>
                              </m:e>
                              <m:e>
                                <m:r>
                                  <a:rPr lang="en-US" sz="1200" b="0" i="0">
                                    <a:latin typeface="Cambria Math" panose="02040503050406030204" pitchFamily="18" charset="0"/>
                                  </a:rPr>
                                  <m:t>−0.1380</m:t>
                                </m:r>
                              </m:e>
                              <m:e>
                                <m:r>
                                  <a:rPr lang="en-US" sz="1200" b="0" i="0">
                                    <a:latin typeface="Cambria Math" panose="02040503050406030204" pitchFamily="18" charset="0"/>
                                  </a:rPr>
                                  <m:t>−0.1301</m:t>
                                </m:r>
                              </m:e>
                              <m:e>
                                <m:r>
                                  <a:rPr lang="en-US" sz="1200" b="0" i="0">
                                    <a:latin typeface="Cambria Math" panose="02040503050406030204" pitchFamily="18" charset="0"/>
                                  </a:rPr>
                                  <m:t>−0.1909</m:t>
                                </m:r>
                              </m:e>
                              <m:e>
                                <m:r>
                                  <a:rPr lang="en-US" sz="1200" b="0" i="0">
                                    <a:latin typeface="Cambria Math" panose="02040503050406030204" pitchFamily="18" charset="0"/>
                                  </a:rPr>
                                  <m:t>−0.1922</m:t>
                                </m:r>
                              </m:e>
                              <m:e>
                                <m:r>
                                  <a:rPr lang="en-US" sz="1200" b="0" i="0">
                                    <a:latin typeface="Cambria Math" panose="02040503050406030204" pitchFamily="18" charset="0"/>
                                  </a:rPr>
                                  <m:t>−0.1299</m:t>
                                </m:r>
                              </m:e>
                            </m:mr>
                            <m:mr>
                              <m:e>
                                <m:r>
                                  <a:rPr lang="en-US" sz="1200" b="0" i="0">
                                    <a:latin typeface="Cambria Math" panose="02040503050406030204" pitchFamily="18" charset="0"/>
                                  </a:rPr>
                                  <m:t>−0.1390</m:t>
                                </m:r>
                              </m:e>
                              <m:e>
                                <m:r>
                                  <a:rPr lang="en-US" sz="1200" b="0" i="0">
                                    <a:latin typeface="Cambria Math" panose="02040503050406030204" pitchFamily="18" charset="0"/>
                                  </a:rPr>
                                  <m:t>0.8384</m:t>
                                </m:r>
                              </m:e>
                              <m:e>
                                <m:r>
                                  <a:rPr lang="en-US" sz="1200" b="0" i="0">
                                    <a:latin typeface="Cambria Math" panose="02040503050406030204" pitchFamily="18" charset="0"/>
                                  </a:rPr>
                                  <m:t>−0.2057</m:t>
                                </m:r>
                              </m:e>
                              <m:e>
                                <m:r>
                                  <a:rPr lang="en-US" sz="1200" b="0" i="0">
                                    <a:latin typeface="Cambria Math" panose="02040503050406030204" pitchFamily="18" charset="0"/>
                                  </a:rPr>
                                  <m:t>−0.1230</m:t>
                                </m:r>
                              </m:e>
                              <m:e>
                                <m:r>
                                  <a:rPr lang="en-US" sz="1200" b="0" i="0">
                                    <a:latin typeface="Cambria Math" panose="02040503050406030204" pitchFamily="18" charset="0"/>
                                  </a:rPr>
                                  <m:t>−0.1248</m:t>
                                </m:r>
                              </m:e>
                              <m:e>
                                <m:r>
                                  <a:rPr lang="en-US" sz="1200" b="0" i="0">
                                    <a:latin typeface="Cambria Math" panose="02040503050406030204" pitchFamily="18" charset="0"/>
                                  </a:rPr>
                                  <m:t>−0.2050</m:t>
                                </m:r>
                              </m:e>
                            </m:mr>
                            <m:mr>
                              <m:e>
                                <m:r>
                                  <a:rPr lang="en-US" sz="1200" b="0" i="0">
                                    <a:latin typeface="Cambria Math" panose="02040503050406030204" pitchFamily="18" charset="0"/>
                                  </a:rPr>
                                  <m:t>−0.1300</m:t>
                                </m:r>
                              </m:e>
                              <m:e>
                                <m:r>
                                  <a:rPr lang="en-US" sz="1200" b="0" i="0">
                                    <a:latin typeface="Cambria Math" panose="02040503050406030204" pitchFamily="18" charset="0"/>
                                  </a:rPr>
                                  <m:t>−0.1977</m:t>
                                </m:r>
                              </m:e>
                              <m:e>
                                <m:r>
                                  <a:rPr lang="en-US" sz="1200" b="0" i="0">
                                    <a:latin typeface="Cambria Math" panose="02040503050406030204" pitchFamily="18" charset="0"/>
                                  </a:rPr>
                                  <m:t>0.8440</m:t>
                                </m:r>
                              </m:e>
                              <m:e>
                                <m:r>
                                  <a:rPr lang="en-US" sz="1200" b="0" i="0">
                                    <a:latin typeface="Cambria Math" panose="02040503050406030204" pitchFamily="18" charset="0"/>
                                  </a:rPr>
                                  <m:t>−0.1371</m:t>
                                </m:r>
                              </m:e>
                              <m:e>
                                <m:r>
                                  <a:rPr lang="en-US" sz="1200" b="0" i="0">
                                    <a:latin typeface="Cambria Math" panose="02040503050406030204" pitchFamily="18" charset="0"/>
                                  </a:rPr>
                                  <m:t>−0.1949</m:t>
                                </m:r>
                              </m:e>
                              <m:e>
                                <m:r>
                                  <a:rPr lang="en-US" sz="1200" b="0" i="0">
                                    <a:latin typeface="Cambria Math" panose="02040503050406030204" pitchFamily="18" charset="0"/>
                                  </a:rPr>
                                  <m:t>−0.1317</m:t>
                                </m:r>
                              </m:e>
                            </m:mr>
                            <m:mr>
                              <m:e>
                                <m:r>
                                  <a:rPr lang="en-US" sz="1200" b="0" i="0">
                                    <a:latin typeface="Cambria Math" panose="02040503050406030204" pitchFamily="18" charset="0"/>
                                  </a:rPr>
                                  <m:t>−0.2044</m:t>
                                </m:r>
                              </m:e>
                              <m:e>
                                <m:r>
                                  <a:rPr lang="en-US" sz="1200" b="0" i="0">
                                    <a:latin typeface="Cambria Math" panose="02040503050406030204" pitchFamily="18" charset="0"/>
                                  </a:rPr>
                                  <m:t>−0.1259</m:t>
                                </m:r>
                              </m:e>
                              <m:e>
                                <m:r>
                                  <a:rPr lang="en-US" sz="1200" b="0" i="0">
                                    <a:latin typeface="Cambria Math" panose="02040503050406030204" pitchFamily="18" charset="0"/>
                                  </a:rPr>
                                  <m:t>−0.1398</m:t>
                                </m:r>
                              </m:e>
                              <m:e>
                                <m:r>
                                  <a:rPr lang="en-US" sz="1200" b="0" i="0">
                                    <a:latin typeface="Cambria Math" panose="02040503050406030204" pitchFamily="18" charset="0"/>
                                  </a:rPr>
                                  <m:t>0.8419</m:t>
                                </m:r>
                              </m:e>
                              <m:e>
                                <m:r>
                                  <a:rPr lang="en-US" sz="1200" b="0" i="0">
                                    <a:latin typeface="Cambria Math" panose="02040503050406030204" pitchFamily="18" charset="0"/>
                                  </a:rPr>
                                  <m:t>−0.1253</m:t>
                                </m:r>
                              </m:e>
                              <m:e>
                                <m:r>
                                  <a:rPr lang="en-US" sz="1200" b="0" i="0">
                                    <a:latin typeface="Cambria Math" panose="02040503050406030204" pitchFamily="18" charset="0"/>
                                  </a:rPr>
                                  <m:t>−0.2064</m:t>
                                </m:r>
                              </m:e>
                            </m:mr>
                            <m:mr>
                              <m:e>
                                <m:r>
                                  <a:rPr lang="en-US" sz="1200" b="0" i="0">
                                    <a:latin typeface="Cambria Math" panose="02040503050406030204" pitchFamily="18" charset="0"/>
                                  </a:rPr>
                                  <m:t>−0.2067</m:t>
                                </m:r>
                              </m:e>
                              <m:e>
                                <m:r>
                                  <a:rPr lang="en-US" sz="1200" b="0" i="0">
                                    <a:latin typeface="Cambria Math" panose="02040503050406030204" pitchFamily="18" charset="0"/>
                                  </a:rPr>
                                  <m:t>−0.1273</m:t>
                                </m:r>
                              </m:e>
                              <m:e>
                                <m:r>
                                  <a:rPr lang="en-US" sz="1200" b="0" i="0">
                                    <a:latin typeface="Cambria Math" panose="02040503050406030204" pitchFamily="18" charset="0"/>
                                  </a:rPr>
                                  <m:t>−0.2090</m:t>
                                </m:r>
                              </m:e>
                              <m:e>
                                <m:r>
                                  <a:rPr lang="en-US" sz="1200" b="0" i="0">
                                    <a:latin typeface="Cambria Math" panose="02040503050406030204" pitchFamily="18" charset="0"/>
                                  </a:rPr>
                                  <m:t>−0.1257</m:t>
                                </m:r>
                              </m:e>
                              <m:e>
                                <m:r>
                                  <a:rPr lang="en-US" sz="1200" b="0" i="0">
                                    <a:latin typeface="Cambria Math" panose="02040503050406030204" pitchFamily="18" charset="0"/>
                                  </a:rPr>
                                  <m:t>0.8512</m:t>
                                </m:r>
                              </m:e>
                              <m:e>
                                <m:r>
                                  <a:rPr lang="en-US" sz="1200" b="0" i="0">
                                    <a:latin typeface="Cambria Math" panose="02040503050406030204" pitchFamily="18" charset="0"/>
                                  </a:rPr>
                                  <m:t>−0.1418</m:t>
                                </m:r>
                              </m:e>
                            </m:mr>
                            <m:mr>
                              <m:e>
                                <m:r>
                                  <a:rPr lang="en-US" sz="1200" b="0" i="0">
                                    <a:latin typeface="Cambria Math" panose="02040503050406030204" pitchFamily="18" charset="0"/>
                                  </a:rPr>
                                  <m:t>−0.1302</m:t>
                                </m:r>
                              </m:e>
                              <m:e>
                                <m:r>
                                  <a:rPr lang="en-US" sz="1200" b="0" i="0">
                                    <a:latin typeface="Cambria Math" panose="02040503050406030204" pitchFamily="18" charset="0"/>
                                  </a:rPr>
                                  <m:t>−0.1975</m:t>
                                </m:r>
                              </m:e>
                              <m:e>
                                <m:r>
                                  <a:rPr lang="en-US" sz="1200" b="0" i="0">
                                    <a:latin typeface="Cambria Math" panose="02040503050406030204" pitchFamily="18" charset="0"/>
                                  </a:rPr>
                                  <m:t>−0.1323</m:t>
                                </m:r>
                              </m:e>
                              <m:e>
                                <m:r>
                                  <a:rPr lang="en-US" sz="1200" b="0" i="0">
                                    <a:latin typeface="Cambria Math" panose="02040503050406030204" pitchFamily="18" charset="0"/>
                                  </a:rPr>
                                  <m:t>−0.1943</m:t>
                                </m:r>
                              </m:e>
                              <m:e>
                                <m:r>
                                  <a:rPr lang="en-US" sz="1200" b="0" i="0">
                                    <a:latin typeface="Cambria Math" panose="02040503050406030204" pitchFamily="18" charset="0"/>
                                  </a:rPr>
                                  <m:t>−0.1359</m:t>
                                </m:r>
                              </m:e>
                              <m:e>
                                <m:r>
                                  <a:rPr lang="en-US" sz="1200" b="0" i="0">
                                    <a:latin typeface="Cambria Math" panose="02040503050406030204" pitchFamily="18" charset="0"/>
                                  </a:rPr>
                                  <m:t>0.8425</m:t>
                                </m:r>
                              </m:e>
                            </m:mr>
                          </m:m>
                        </m:e>
                      </m:d>
                      <m:r>
                        <a:rPr lang="en-US" sz="1200" b="0" i="0">
                          <a:latin typeface="Cambria Math" panose="02040503050406030204" pitchFamily="18" charset="0"/>
                        </a:rPr>
                        <m:t> </m:t>
                      </m:r>
                    </m:oMath>
                  </m:oMathPara>
                </a14:m>
                <a:endParaRPr lang="en-US" sz="1100" dirty="0"/>
              </a:p>
            </p:txBody>
          </p:sp>
        </mc:Choice>
        <mc:Fallback xmlns="">
          <p:sp>
            <p:nvSpPr>
              <p:cNvPr id="51" name="LF_e_mat"/>
              <p:cNvSpPr txBox="1">
                <a:spLocks noRot="1" noChangeAspect="1" noMove="1" noResize="1" noEditPoints="1" noAdjustHandles="1" noChangeArrowheads="1" noChangeShapeType="1" noTextEdit="1"/>
              </p:cNvSpPr>
              <p:nvPr/>
            </p:nvSpPr>
            <p:spPr>
              <a:xfrm>
                <a:off x="460000" y="4480000"/>
                <a:ext cx="4524587" cy="1115568"/>
              </a:xfrm>
              <a:prstGeom prst="rect">
                <a:avLst/>
              </a:prstGeom>
              <a:blipFill>
                <a:blip r:embed=""/>
                <a:stretch>
                  <a:fillRect l="-377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2" name="LF_e_sc"/>
              <p:cNvSpPr txBox="1"/>
              <p:nvPr/>
            </p:nvSpPr>
            <p:spPr>
              <a:xfrm>
                <a:off x="5300000" y="4630000"/>
                <a:ext cx="3457787" cy="310896"/>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400" b="0" i="1">
                              <a:latin typeface="Cambria Math" panose="02040503050406030204" pitchFamily="18" charset="0"/>
                            </a:rPr>
                          </m:ctrlPr>
                        </m:accPr>
                        <m:e>
                          <m:r>
                            <a:rPr lang="en-US" sz="1400" b="0" i="1">
                              <a:latin typeface="Cambria Math" panose="02040503050406030204" pitchFamily="18" charset="0"/>
                            </a:rPr>
                            <m:t>ℓ</m:t>
                          </m:r>
                        </m:e>
                      </m:acc>
                      <m:r>
                        <a:rPr lang="en-US" sz="1400" b="0" i="0">
                          <a:latin typeface="Cambria Math" panose="02040503050406030204" pitchFamily="18" charset="0"/>
                        </a:rPr>
                        <m:t> = 868.4 </m:t>
                      </m:r>
                      <m:r>
                        <a:rPr lang="en-US" sz="1400" b="0" i="1">
                          <a:latin typeface="Cambria Math" panose="02040503050406030204" pitchFamily="18" charset="0"/>
                        </a:rPr>
                        <m:t>𝜇</m:t>
                      </m:r>
                      <m:r>
                        <a:rPr lang="en-US" sz="1400" b="0" i="1">
                          <a:latin typeface="Cambria Math" panose="02040503050406030204" pitchFamily="18" charset="0"/>
                        </a:rPr>
                        <m:t>𝑚</m:t>
                      </m:r>
                      <m:r>
                        <a:rPr lang="en-US" sz="1400" b="0" i="0">
                          <a:latin typeface="Cambria Math" panose="02040503050406030204" pitchFamily="18" charset="0"/>
                        </a:rPr>
                        <m:t>  </m:t>
                      </m:r>
                      <m:sPre>
                        <m:sPrePr>
                          <m:ctrlPr>
                            <a:rPr lang="en-US" sz="1400" b="0" i="1">
                              <a:latin typeface="Cambria Math" panose="02040503050406030204" pitchFamily="18" charset="0"/>
                            </a:rPr>
                          </m:ctrlPr>
                        </m:sPrePr>
                        <m:sub/>
                        <m:sup>
                          <m:r>
                            <a:rPr lang="en-US" sz="1400" b="0" i="1">
                              <a:latin typeface="Cambria Math" panose="02040503050406030204" pitchFamily="18" charset="0"/>
                            </a:rPr>
                            <m:t>𝐵</m:t>
                          </m:r>
                        </m:sup>
                        <m:e>
                          <m:sSub>
                            <m:sSubPr>
                              <m:ctrlPr>
                                <a:rPr lang="en-US" sz="1400" b="0" i="1">
                                  <a:latin typeface="Cambria Math" panose="02040503050406030204" pitchFamily="18" charset="0"/>
                                </a:rPr>
                              </m:ctrlPr>
                            </m:sSubPr>
                            <m:e>
                              <m:acc>
                                <m:accPr>
                                  <m:chr m:val="̂"/>
                                  <m:ctrlPr>
                                    <a:rPr lang="en-US" sz="1400" b="0" i="1">
                                      <a:latin typeface="Cambria Math" panose="02040503050406030204" pitchFamily="18" charset="0"/>
                                    </a:rPr>
                                  </m:ctrlPr>
                                </m:accPr>
                                <m:e>
                                  <m:r>
                                    <a:rPr lang="en-US" sz="1400" b="0" i="1">
                                      <a:latin typeface="Cambria Math" panose="02040503050406030204" pitchFamily="18" charset="0"/>
                                    </a:rPr>
                                    <m:t>𝑔</m:t>
                                  </m:r>
                                </m:e>
                              </m:acc>
                            </m:e>
                            <m:sub>
                              <m:r>
                                <a:rPr lang="en-US" sz="1400" b="0" i="1">
                                  <a:latin typeface="Cambria Math" panose="02040503050406030204" pitchFamily="18" charset="0"/>
                                </a:rPr>
                                <m:t>𝐼</m:t>
                              </m:r>
                            </m:sub>
                          </m:sSub>
                        </m:e>
                      </m:sPre>
                      <m:r>
                        <a:rPr lang="en-US" sz="1400" b="0" i="0">
                          <a:latin typeface="Cambria Math" panose="02040503050406030204" pitchFamily="18" charset="0"/>
                        </a:rPr>
                        <m:t> = 10.64 </m:t>
                      </m:r>
                      <m:r>
                        <a:rPr lang="en-US" sz="1400" b="0" i="1">
                          <a:latin typeface="Cambria Math" panose="02040503050406030204" pitchFamily="18" charset="0"/>
                        </a:rPr>
                        <m:t>𝑚𝑇</m:t>
                      </m:r>
                      <m:r>
                        <a:rPr lang="en-US" sz="1400" b="0" i="1">
                          <a:latin typeface="Cambria Math" panose="02040503050406030204" pitchFamily="18" charset="0"/>
                        </a:rPr>
                        <m:t>/</m:t>
                      </m:r>
                      <m:r>
                        <a:rPr lang="en-US" sz="1400" b="0" i="1">
                          <a:latin typeface="Cambria Math" panose="02040503050406030204" pitchFamily="18" charset="0"/>
                        </a:rPr>
                        <m:t>𝐴</m:t>
                      </m:r>
                    </m:oMath>
                  </m:oMathPara>
                </a14:m>
                <a:endParaRPr lang="en-US" sz="1400" i="1" dirty="0"/>
              </a:p>
            </p:txBody>
          </p:sp>
        </mc:Choice>
        <mc:Fallback xmlns="">
          <p:sp>
            <p:nvSpPr>
              <p:cNvPr id="52" name="LF_e_sc"/>
              <p:cNvSpPr txBox="1">
                <a:spLocks noRot="1" noChangeAspect="1" noMove="1" noResize="1" noEditPoints="1" noAdjustHandles="1" noChangeArrowheads="1" noChangeShapeType="1" noTextEdit="1"/>
              </p:cNvSpPr>
              <p:nvPr/>
            </p:nvSpPr>
            <p:spPr>
              <a:xfrm>
                <a:off x="5300000" y="4630000"/>
                <a:ext cx="3457787" cy="310896"/>
              </a:xfrm>
              <a:prstGeom prst="rect">
                <a:avLst/>
              </a:prstGeom>
              <a:blipFill>
                <a:blip r:embed="rId5"/>
                <a:stretch>
                  <a:fillRect t="-11765" b="-1176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3" name="LF_e_nmae"/>
              <p:cNvSpPr txBox="1"/>
              <p:nvPr/>
            </p:nvSpPr>
            <p:spPr>
              <a:xfrm>
                <a:off x="5235787" y="5155433"/>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𝐼</m:t>
                                              </m:r>
                                            </m:sub>
                                          </m:sSub>
                                        </m:e>
                                      </m:sPr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𝐾</m:t>
                                              </m:r>
                                            </m:e>
                                          </m:acc>
                                        </m:e>
                                        <m:sub>
                                          <m:r>
                                            <a:rPr lang="en-US" altLang="zh-TW" sz="1400" i="1">
                                              <a:latin typeface="Cambria Math" panose="02040503050406030204" pitchFamily="18" charset="0"/>
                                            </a:rPr>
                                            <m:t>𝐼</m:t>
                                          </m:r>
                                        </m:sub>
                                      </m:sSub>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𝐼</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%=0.32%</m:t>
                      </m:r>
                    </m:oMath>
                  </m:oMathPara>
                </a14:m>
                <a:endParaRPr lang="zh-TW" altLang="en-US" sz="1400" dirty="0"/>
              </a:p>
            </p:txBody>
          </p:sp>
        </mc:Choice>
        <mc:Fallback xmlns="">
          <p:sp>
            <p:nvSpPr>
              <p:cNvPr id="53" name="LF_e_nmae"/>
              <p:cNvSpPr txBox="1">
                <a:spLocks noRot="1" noChangeAspect="1" noMove="1" noResize="1" noEditPoints="1" noAdjustHandles="1" noChangeArrowheads="1" noChangeShapeType="1" noTextEdit="1"/>
              </p:cNvSpPr>
              <p:nvPr/>
            </p:nvSpPr>
            <p:spPr>
              <a:xfrm>
                <a:off x="5235787" y="5155433"/>
                <a:ext cx="4191000" cy="549509"/>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4" name="LF_e_bias"/>
              <p:cNvSpPr txBox="1"/>
              <p:nvPr/>
            </p:nvSpPr>
            <p:spPr>
              <a:xfrm>
                <a:off x="0" y="5847727"/>
                <a:ext cx="5235787" cy="566928"/>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altLang="zh-TW" sz="1200" b="0" i="1" smtClean="0">
                              <a:latin typeface="Cambria Math" panose="02040503050406030204" pitchFamily="18" charset="0"/>
                            </a:rPr>
                          </m:ctrlPr>
                        </m:accPr>
                        <m:e>
                          <m:r>
                            <a:rPr lang="en-US" altLang="zh-TW" sz="1200" b="0" i="1" smtClean="0">
                              <a:latin typeface="Cambria Math" panose="02040503050406030204" pitchFamily="18" charset="0"/>
                            </a:rPr>
                            <m:t>𝑒</m:t>
                          </m:r>
                        </m:e>
                      </m:acc>
                      <m:r>
                        <a:rPr lang="en-US" sz="1200" b="0" i="0">
                          <a:latin typeface="Cambria Math" panose="02040503050406030204" pitchFamily="18" charset="0"/>
                        </a:rPr>
                        <m:t>=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0.0134</m:t>
                                </m:r>
                              </m:e>
                              <m:e>
                                <m:r>
                                  <a:rPr lang="en-US" sz="1200" b="0" i="0">
                                    <a:latin typeface="Cambria Math" panose="02040503050406030204" pitchFamily="18" charset="0"/>
                                  </a:rPr>
                                  <m:t>0.0200</m:t>
                                </m:r>
                              </m:e>
                              <m:e>
                                <m:r>
                                  <a:rPr lang="en-US" sz="1200" b="0" i="0">
                                    <a:latin typeface="Cambria Math" panose="02040503050406030204" pitchFamily="18" charset="0"/>
                                  </a:rPr>
                                  <m:t>−0.1170</m:t>
                                </m:r>
                              </m:e>
                              <m:e>
                                <m:r>
                                  <a:rPr lang="en-US" sz="1200" b="0" i="0">
                                    <a:latin typeface="Cambria Math" panose="02040503050406030204" pitchFamily="18" charset="0"/>
                                  </a:rPr>
                                  <m:t>0.0016</m:t>
                                </m:r>
                              </m:e>
                              <m:e>
                                <m:r>
                                  <a:rPr lang="en-US" sz="1200" b="0" i="0">
                                    <a:latin typeface="Cambria Math" panose="02040503050406030204" pitchFamily="18" charset="0"/>
                                  </a:rPr>
                                  <m:t>0.0006</m:t>
                                </m:r>
                              </m:e>
                              <m:e>
                                <m:r>
                                  <a:rPr lang="en-US" sz="1200" b="0" i="0">
                                    <a:latin typeface="Cambria Math" panose="02040503050406030204" pitchFamily="18" charset="0"/>
                                  </a:rPr>
                                  <m:t>−0.1170</m:t>
                                </m:r>
                              </m:e>
                            </m:mr>
                            <m:mr>
                              <m:e>
                                <m:r>
                                  <a:rPr lang="en-US" sz="1200" b="0" i="0">
                                    <a:latin typeface="Cambria Math" panose="02040503050406030204" pitchFamily="18" charset="0"/>
                                  </a:rPr>
                                  <m:t>−0.1155</m:t>
                                </m:r>
                              </m:e>
                              <m:e>
                                <m:r>
                                  <a:rPr lang="en-US" sz="1200" b="0" i="0">
                                    <a:latin typeface="Cambria Math" panose="02040503050406030204" pitchFamily="18" charset="0"/>
                                  </a:rPr>
                                  <m:t>0.0028</m:t>
                                </m:r>
                              </m:e>
                              <m:e>
                                <m:r>
                                  <a:rPr lang="en-US" sz="1200" b="0" i="0">
                                    <a:latin typeface="Cambria Math" panose="02040503050406030204" pitchFamily="18" charset="0"/>
                                  </a:rPr>
                                  <m:t>0.0185</m:t>
                                </m:r>
                              </m:e>
                              <m:e>
                                <m:r>
                                  <a:rPr lang="en-US" sz="1200" b="0" i="0">
                                    <a:latin typeface="Cambria Math" panose="02040503050406030204" pitchFamily="18" charset="0"/>
                                  </a:rPr>
                                  <m:t>0.0168</m:t>
                                </m:r>
                              </m:e>
                              <m:e>
                                <m:r>
                                  <a:rPr lang="en-US" sz="1200" b="0" i="0">
                                    <a:latin typeface="Cambria Math" panose="02040503050406030204" pitchFamily="18" charset="0"/>
                                  </a:rPr>
                                  <m:t>0.0012</m:t>
                                </m:r>
                              </m:e>
                              <m:e>
                                <m:r>
                                  <a:rPr lang="en-US" sz="1200" b="0" i="0">
                                    <a:latin typeface="Cambria Math" panose="02040503050406030204" pitchFamily="18" charset="0"/>
                                  </a:rPr>
                                  <m:t>−0.1168</m:t>
                                </m:r>
                              </m:e>
                            </m:mr>
                            <m:mr>
                              <m:e>
                                <m:r>
                                  <a:rPr lang="en-US" sz="1200" b="0" i="0">
                                    <a:latin typeface="Cambria Math" panose="02040503050406030204" pitchFamily="18" charset="0"/>
                                  </a:rPr>
                                  <m:t>0.1152</m:t>
                                </m:r>
                              </m:e>
                              <m:e>
                                <m:r>
                                  <a:rPr lang="en-US" sz="1200" b="0" i="0">
                                    <a:latin typeface="Cambria Math" panose="02040503050406030204" pitchFamily="18" charset="0"/>
                                  </a:rPr>
                                  <m:t>−0.0026</m:t>
                                </m:r>
                              </m:e>
                              <m:e>
                                <m:r>
                                  <a:rPr lang="en-US" sz="1200" b="0" i="0">
                                    <a:latin typeface="Cambria Math" panose="02040503050406030204" pitchFamily="18" charset="0"/>
                                  </a:rPr>
                                  <m:t>0.1159</m:t>
                                </m:r>
                              </m:e>
                              <m:e>
                                <m:r>
                                  <a:rPr lang="en-US" sz="1200" b="0" i="0">
                                    <a:latin typeface="Cambria Math" panose="02040503050406030204" pitchFamily="18" charset="0"/>
                                  </a:rPr>
                                  <m:t>−0.0025</m:t>
                                </m:r>
                              </m:e>
                              <m:e>
                                <m:r>
                                  <a:rPr lang="en-US" sz="1200" b="0" i="0">
                                    <a:latin typeface="Cambria Math" panose="02040503050406030204" pitchFamily="18" charset="0"/>
                                  </a:rPr>
                                  <m:t>−0.0137</m:t>
                                </m:r>
                              </m:e>
                              <m:e>
                                <m:r>
                                  <a:rPr lang="en-US" sz="1200" b="0" i="0">
                                    <a:latin typeface="Cambria Math" panose="02040503050406030204" pitchFamily="18" charset="0"/>
                                  </a:rPr>
                                  <m:t>−0.0187</m:t>
                                </m:r>
                              </m:e>
                            </m:mr>
                          </m:m>
                        </m:e>
                      </m:d>
                    </m:oMath>
                  </m:oMathPara>
                </a14:m>
                <a:endParaRPr lang="en-US" sz="1100" dirty="0"/>
              </a:p>
            </p:txBody>
          </p:sp>
        </mc:Choice>
        <mc:Fallback xmlns="">
          <p:sp>
            <p:nvSpPr>
              <p:cNvPr id="54" name="LF_e_bias"/>
              <p:cNvSpPr txBox="1">
                <a:spLocks noRot="1" noChangeAspect="1" noMove="1" noResize="1" noEditPoints="1" noAdjustHandles="1" noChangeArrowheads="1" noChangeShapeType="1" noTextEdit="1"/>
              </p:cNvSpPr>
              <p:nvPr/>
            </p:nvSpPr>
            <p:spPr>
              <a:xfrm>
                <a:off x="0" y="5847727"/>
                <a:ext cx="5235787" cy="566928"/>
              </a:xfrm>
              <a:prstGeom prst="rect">
                <a:avLst/>
              </a:prstGeom>
              <a:blipFill>
                <a:blip r:embed="rId7"/>
                <a:stretch>
                  <a:fillRect t="-215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126399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08956"/>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41" name="auto caption"/>
          <p:cNvSpPr txBox="1"/>
          <p:nvPr/>
        </p:nvSpPr>
        <p:spPr>
          <a:xfrm>
            <a:off x="333587" y="743604"/>
            <a:ext cx="11155680" cy="698888"/>
          </a:xfrm>
          <a:prstGeom prst="rect">
            <a:avLst/>
          </a:prstGeom>
          <a:noFill/>
        </p:spPr>
        <p:txBody>
          <a:bodyPr wrap="square" rtlCol="0">
            <a:noAutofit/>
          </a:bodyPr>
          <a:lstStyle/>
          <a:p>
            <a:pPr marL="285750" indent="-285750">
              <a:buFont typeface="Arial" panose="020B0604020202020204" pitchFamily="34" charset="0"/>
              <a:buChar char="•"/>
            </a:pPr>
            <a:endParaRPr lang="en-US" altLang="zh-TW" sz="1600" dirty="0"/>
          </a:p>
        </p:txBody>
      </p:sp>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B9E37473-7A2F-4A05-A742-3A32544C9789}"/>
                  </a:ext>
                </a:extLst>
              </p:cNvPr>
              <p:cNvSpPr txBox="1"/>
              <p:nvPr/>
            </p:nvSpPr>
            <p:spPr>
              <a:xfrm>
                <a:off x="0" y="574720"/>
                <a:ext cx="11722945" cy="951671"/>
              </a:xfrm>
              <a:prstGeom prst="rect">
                <a:avLst/>
              </a:prstGeom>
              <a:noFill/>
            </p:spPr>
            <p:txBody>
              <a:bodyPr wrap="square">
                <a:spAutoFit/>
              </a:bodyPr>
              <a:lstStyle/>
              <a:p>
                <a:pPr marL="285750" indent="-285750">
                  <a:buFont typeface="Wingdings" panose="05000000000000000000" pitchFamily="2" charset="2"/>
                  <a:buChar char="l"/>
                </a:pPr>
                <a:r>
                  <a:rPr lang="en-US" altLang="zh-TW" dirty="0"/>
                  <a:t>This figure shows the trends of the calibration results for </a:t>
                </a:r>
                <a14:m>
                  <m:oMath xmlns:m="http://schemas.openxmlformats.org/officeDocument/2006/math">
                    <m:acc>
                      <m:accPr>
                        <m:chr m:val="̂"/>
                        <m:ctrlPr>
                          <a:rPr lang="en-US" altLang="zh-TW" i="1" smtClean="0">
                            <a:latin typeface="Cambria Math" panose="02040503050406030204" pitchFamily="18" charset="0"/>
                          </a:rPr>
                        </m:ctrlPr>
                      </m:accPr>
                      <m:e>
                        <m:r>
                          <a:rPr lang="en-US" altLang="zh-TW" i="1" smtClean="0">
                            <a:latin typeface="Cambria Math" panose="02040503050406030204" pitchFamily="18" charset="0"/>
                            <a:ea typeface="Cambria Math" panose="02040503050406030204" pitchFamily="18" charset="0"/>
                          </a:rPr>
                          <m:t>ℓ</m:t>
                        </m:r>
                        <m:r>
                          <a:rPr lang="en-US" altLang="zh-TW" b="0" i="1" smtClean="0">
                            <a:latin typeface="Cambria Math" panose="02040503050406030204" pitchFamily="18" charset="0"/>
                            <a:ea typeface="Cambria Math" panose="02040503050406030204" pitchFamily="18" charset="0"/>
                          </a:rPr>
                          <m:t> </m:t>
                        </m:r>
                      </m:e>
                    </m:acc>
                  </m:oMath>
                </a14:m>
                <a:r>
                  <a:rPr lang="en-US" altLang="zh-TW" dirty="0"/>
                  <a:t>and </a:t>
                </a:r>
                <a14:m>
                  <m:oMath xmlns:m="http://schemas.openxmlformats.org/officeDocument/2006/math">
                    <m:sPre>
                      <m:sPrePr>
                        <m:ctrlPr>
                          <a:rPr lang="en-US" altLang="zh-TW" i="1" smtClean="0">
                            <a:latin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oMath>
                </a14:m>
                <a:r>
                  <a:rPr lang="en-US" altLang="zh-TW" dirty="0"/>
                  <a:t> for </a:t>
                </a:r>
                <a:r>
                  <a:rPr lang="en-US" altLang="zh-TW" b="1" dirty="0"/>
                  <a:t>Long-Fei </a:t>
                </a:r>
                <a:r>
                  <a:rPr lang="en-US" altLang="zh-TW" dirty="0"/>
                  <a:t>using the </a:t>
                </a:r>
                <a:r>
                  <a:rPr lang="en-US" altLang="zh-TW" b="1" dirty="0"/>
                  <a:t>number of calibration points required for each working range</a:t>
                </a:r>
                <a:r>
                  <a:rPr lang="en-US" altLang="zh-TW" dirty="0"/>
                  <a:t>.</a:t>
                </a:r>
              </a:p>
              <a:p>
                <a:endParaRPr lang="en-US" altLang="zh-TW" b="1" dirty="0"/>
              </a:p>
            </p:txBody>
          </p:sp>
        </mc:Choice>
        <mc:Fallback xmlns="">
          <p:sp>
            <p:nvSpPr>
              <p:cNvPr id="24" name="文字方塊 23">
                <a:extLst>
                  <a:ext uri="{FF2B5EF4-FFF2-40B4-BE49-F238E27FC236}">
                    <a16:creationId xmlns:a16="http://schemas.microsoft.com/office/drawing/2014/main" id="{B9E37473-7A2F-4A05-A742-3A32544C9789}"/>
                  </a:ext>
                </a:extLst>
              </p:cNvPr>
              <p:cNvSpPr txBox="1">
                <a:spLocks noRot="1" noChangeAspect="1" noMove="1" noResize="1" noEditPoints="1" noAdjustHandles="1" noChangeArrowheads="1" noChangeShapeType="1" noTextEdit="1"/>
              </p:cNvSpPr>
              <p:nvPr/>
            </p:nvSpPr>
            <p:spPr>
              <a:xfrm>
                <a:off x="0" y="574720"/>
                <a:ext cx="11722945" cy="951671"/>
              </a:xfrm>
              <a:prstGeom prst="rect">
                <a:avLst/>
              </a:prstGeom>
              <a:blipFill>
                <a:blip r:embed="rId2"/>
                <a:stretch>
                  <a:fillRect l="-312" t="-641"/>
                </a:stretch>
              </a:blipFill>
            </p:spPr>
            <p:txBody>
              <a:bodyPr/>
              <a:lstStyle/>
              <a:p>
                <a:r>
                  <a:rPr lang="zh-TW" altLang="en-US">
                    <a:noFill/>
                  </a:rPr>
                  <a:t> </a:t>
                </a:r>
              </a:p>
            </p:txBody>
          </p:sp>
        </mc:Fallback>
      </mc:AlternateContent>
      <p:grpSp>
        <p:nvGrpSpPr>
          <p:cNvPr id="7" name="群組 6">
            <a:extLst>
              <a:ext uri="{FF2B5EF4-FFF2-40B4-BE49-F238E27FC236}">
                <a16:creationId xmlns:a16="http://schemas.microsoft.com/office/drawing/2014/main" id="{A82BC67F-30E5-4768-9D41-3EF93DF76DC9}"/>
              </a:ext>
            </a:extLst>
          </p:cNvPr>
          <p:cNvGrpSpPr/>
          <p:nvPr/>
        </p:nvGrpSpPr>
        <p:grpSpPr>
          <a:xfrm>
            <a:off x="3538402" y="2464255"/>
            <a:ext cx="4341339" cy="4053133"/>
            <a:chOff x="3428520" y="2125133"/>
            <a:chExt cx="4341339" cy="4053133"/>
          </a:xfrm>
        </p:grpSpPr>
        <p:grpSp>
          <p:nvGrpSpPr>
            <p:cNvPr id="6" name="群組 5">
              <a:extLst>
                <a:ext uri="{FF2B5EF4-FFF2-40B4-BE49-F238E27FC236}">
                  <a16:creationId xmlns:a16="http://schemas.microsoft.com/office/drawing/2014/main" id="{C64ECC72-156D-42EC-965D-BDF707DCEE24}"/>
                </a:ext>
              </a:extLst>
            </p:cNvPr>
            <p:cNvGrpSpPr/>
            <p:nvPr/>
          </p:nvGrpSpPr>
          <p:grpSpPr>
            <a:xfrm>
              <a:off x="3623733" y="2125133"/>
              <a:ext cx="4146126" cy="3776134"/>
              <a:chOff x="3623733" y="2125133"/>
              <a:chExt cx="4146126" cy="3776134"/>
            </a:xfrm>
          </p:grpSpPr>
          <p:pic>
            <p:nvPicPr>
              <p:cNvPr id="4" name="圖片 3">
                <a:extLst>
                  <a:ext uri="{FF2B5EF4-FFF2-40B4-BE49-F238E27FC236}">
                    <a16:creationId xmlns:a16="http://schemas.microsoft.com/office/drawing/2014/main" id="{4B54D57C-35C1-4F96-ABFD-A918AEC0BB9E}"/>
                  </a:ext>
                </a:extLst>
              </p:cNvPr>
              <p:cNvPicPr>
                <a:picLocks noChangeAspect="1"/>
              </p:cNvPicPr>
              <p:nvPr/>
            </p:nvPicPr>
            <p:blipFill rotWithShape="1">
              <a:blip r:embed="rId3">
                <a:extLst>
                  <a:ext uri="{28A0092B-C50C-407E-A947-70E740481C1C}">
                    <a14:useLocalDpi xmlns:a14="http://schemas.microsoft.com/office/drawing/2010/main" val="0"/>
                  </a:ext>
                </a:extLst>
              </a:blip>
              <a:srcRect l="4707" t="3814" b="6084"/>
              <a:stretch/>
            </p:blipFill>
            <p:spPr>
              <a:xfrm>
                <a:off x="3776132" y="2125133"/>
                <a:ext cx="3993727" cy="3776134"/>
              </a:xfrm>
              <a:prstGeom prst="rect">
                <a:avLst/>
              </a:prstGeom>
            </p:spPr>
          </p:pic>
          <p:sp>
            <p:nvSpPr>
              <p:cNvPr id="5" name="矩形 4">
                <a:extLst>
                  <a:ext uri="{FF2B5EF4-FFF2-40B4-BE49-F238E27FC236}">
                    <a16:creationId xmlns:a16="http://schemas.microsoft.com/office/drawing/2014/main" id="{9ECA2755-F9B3-4625-B649-2CA9E254E19F}"/>
                  </a:ext>
                </a:extLst>
              </p:cNvPr>
              <p:cNvSpPr/>
              <p:nvPr/>
            </p:nvSpPr>
            <p:spPr>
              <a:xfrm>
                <a:off x="3623733" y="4445000"/>
                <a:ext cx="262467" cy="95167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73" name="群組 72">
              <a:extLst>
                <a:ext uri="{FF2B5EF4-FFF2-40B4-BE49-F238E27FC236}">
                  <a16:creationId xmlns:a16="http://schemas.microsoft.com/office/drawing/2014/main" id="{4D61658B-D3B1-4CB4-A60D-A52B9336742A}"/>
                </a:ext>
              </a:extLst>
            </p:cNvPr>
            <p:cNvGrpSpPr/>
            <p:nvPr/>
          </p:nvGrpSpPr>
          <p:grpSpPr>
            <a:xfrm>
              <a:off x="3428520" y="2882750"/>
              <a:ext cx="3775924" cy="3295516"/>
              <a:chOff x="6418605" y="3559183"/>
              <a:chExt cx="3775924" cy="3295516"/>
            </a:xfrm>
          </p:grpSpPr>
          <p:sp>
            <p:nvSpPr>
              <p:cNvPr id="18" name="矩形 17">
                <a:extLst>
                  <a:ext uri="{FF2B5EF4-FFF2-40B4-BE49-F238E27FC236}">
                    <a16:creationId xmlns:a16="http://schemas.microsoft.com/office/drawing/2014/main" id="{610A0588-8D81-430F-81FF-EF37F3FCCB35}"/>
                  </a:ext>
                </a:extLst>
              </p:cNvPr>
              <p:cNvSpPr/>
              <p:nvPr/>
            </p:nvSpPr>
            <p:spPr>
              <a:xfrm>
                <a:off x="6654805" y="5113866"/>
                <a:ext cx="220130" cy="7449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60" name="文字方塊 59">
                    <a:extLst>
                      <a:ext uri="{FF2B5EF4-FFF2-40B4-BE49-F238E27FC236}">
                        <a16:creationId xmlns:a16="http://schemas.microsoft.com/office/drawing/2014/main" id="{B22B2B1D-255B-4D4F-B2AE-B160FBFBEF3B}"/>
                      </a:ext>
                    </a:extLst>
                  </p:cNvPr>
                  <p:cNvSpPr txBox="1"/>
                  <p:nvPr/>
                </p:nvSpPr>
                <p:spPr>
                  <a:xfrm>
                    <a:off x="7977640" y="6577700"/>
                    <a:ext cx="2216889" cy="276999"/>
                  </a:xfrm>
                  <a:prstGeom prst="rect">
                    <a:avLst/>
                  </a:prstGeom>
                  <a:noFill/>
                </p:spPr>
                <p:txBody>
                  <a:bodyPr wrap="none" lIns="0" tIns="0" rIns="0" bIns="0" rtlCol="0">
                    <a:spAutoFit/>
                  </a:bodyPr>
                  <a:lstStyle/>
                  <a:p>
                    <a:r>
                      <a:rPr lang="en-US" altLang="zh-TW" dirty="0">
                        <a:latin typeface="Times New Roman" panose="02020603050405020304" pitchFamily="18" charset="0"/>
                        <a:cs typeface="Times New Roman" panose="02020603050405020304" pitchFamily="18" charset="0"/>
                      </a:rPr>
                      <a:t>Workspace radius </a:t>
                    </a:r>
                    <a14:m>
                      <m:oMath xmlns:m="http://schemas.openxmlformats.org/officeDocument/2006/math">
                        <m:r>
                          <a:rPr lang="en-US" altLang="zh-TW" b="0" i="1" smtClean="0">
                            <a:latin typeface="Cambria Math" panose="02040503050406030204" pitchFamily="18" charset="0"/>
                          </a:rPr>
                          <m:t>(</m:t>
                        </m:r>
                        <m:r>
                          <a:rPr lang="zh-TW" altLang="en-US" b="0" i="1" smtClean="0">
                            <a:latin typeface="Cambria Math" panose="02040503050406030204" pitchFamily="18" charset="0"/>
                          </a:rPr>
                          <m:t>𝜇</m:t>
                        </m:r>
                        <m:r>
                          <a:rPr lang="en-US" altLang="zh-TW" b="0" i="1" smtClean="0">
                            <a:latin typeface="Cambria Math" panose="02040503050406030204" pitchFamily="18" charset="0"/>
                          </a:rPr>
                          <m:t>𝑚</m:t>
                        </m:r>
                        <m:r>
                          <a:rPr lang="en-US" altLang="zh-TW" b="0" i="1" smtClean="0">
                            <a:latin typeface="Cambria Math" panose="02040503050406030204" pitchFamily="18" charset="0"/>
                          </a:rPr>
                          <m:t>)</m:t>
                        </m:r>
                      </m:oMath>
                    </a14:m>
                    <a:endParaRPr lang="zh-TW" altLang="en-US" dirty="0"/>
                  </a:p>
                </p:txBody>
              </p:sp>
            </mc:Choice>
            <mc:Fallback xmlns="">
              <p:sp>
                <p:nvSpPr>
                  <p:cNvPr id="60" name="文字方塊 59">
                    <a:extLst>
                      <a:ext uri="{FF2B5EF4-FFF2-40B4-BE49-F238E27FC236}">
                        <a16:creationId xmlns:a16="http://schemas.microsoft.com/office/drawing/2014/main" id="{B22B2B1D-255B-4D4F-B2AE-B160FBFBEF3B}"/>
                      </a:ext>
                    </a:extLst>
                  </p:cNvPr>
                  <p:cNvSpPr txBox="1">
                    <a:spLocks noRot="1" noChangeAspect="1" noMove="1" noResize="1" noEditPoints="1" noAdjustHandles="1" noChangeArrowheads="1" noChangeShapeType="1" noTextEdit="1"/>
                  </p:cNvSpPr>
                  <p:nvPr/>
                </p:nvSpPr>
                <p:spPr>
                  <a:xfrm>
                    <a:off x="7977640" y="6577700"/>
                    <a:ext cx="2216889" cy="276999"/>
                  </a:xfrm>
                  <a:prstGeom prst="rect">
                    <a:avLst/>
                  </a:prstGeom>
                  <a:blipFill>
                    <a:blip r:embed="rId4"/>
                    <a:stretch>
                      <a:fillRect l="-6319" t="-31111" r="-4121" b="-4888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0" name="文字方塊 69">
                    <a:extLst>
                      <a:ext uri="{FF2B5EF4-FFF2-40B4-BE49-F238E27FC236}">
                        <a16:creationId xmlns:a16="http://schemas.microsoft.com/office/drawing/2014/main" id="{ABF45B27-8A67-4AFD-9094-4F7F0DC5BE57}"/>
                      </a:ext>
                    </a:extLst>
                  </p:cNvPr>
                  <p:cNvSpPr txBox="1"/>
                  <p:nvPr/>
                </p:nvSpPr>
                <p:spPr>
                  <a:xfrm rot="16200000">
                    <a:off x="6167895" y="3809893"/>
                    <a:ext cx="792653" cy="2912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zh-TW" altLang="en-US" i="1" smtClean="0">
                                  <a:latin typeface="Cambria Math" panose="02040503050406030204" pitchFamily="18" charset="0"/>
                                </a:rPr>
                              </m:ctrlPr>
                            </m:accPr>
                            <m:e>
                              <m:r>
                                <a:rPr lang="en-US" altLang="zh-TW" i="1" smtClean="0">
                                  <a:latin typeface="Cambria Math" panose="02040503050406030204" pitchFamily="18" charset="0"/>
                                  <a:ea typeface="Cambria Math" panose="02040503050406030204" pitchFamily="18" charset="0"/>
                                </a:rPr>
                                <m:t>ℓ</m:t>
                              </m:r>
                            </m:e>
                          </m:acc>
                          <m:r>
                            <a:rPr lang="zh-TW" altLang="en-US" i="1">
                              <a:latin typeface="Cambria Math" panose="02040503050406030204" pitchFamily="18" charset="0"/>
                            </a:rPr>
                            <m:t> </m:t>
                          </m:r>
                          <m:r>
                            <a:rPr lang="en-US" altLang="zh-TW" i="1">
                              <a:latin typeface="Cambria Math" panose="02040503050406030204" pitchFamily="18" charset="0"/>
                            </a:rPr>
                            <m:t>(</m:t>
                          </m:r>
                          <m:r>
                            <a:rPr lang="zh-TW" altLang="en-US" i="1" smtClean="0">
                              <a:latin typeface="Cambria Math" panose="02040503050406030204" pitchFamily="18" charset="0"/>
                            </a:rPr>
                            <m:t>𝜇</m:t>
                          </m:r>
                          <m:r>
                            <a:rPr lang="en-US" altLang="zh-TW" b="0" i="1" smtClean="0">
                              <a:latin typeface="Cambria Math" panose="02040503050406030204" pitchFamily="18" charset="0"/>
                            </a:rPr>
                            <m:t>𝑚</m:t>
                          </m:r>
                          <m:r>
                            <a:rPr lang="en-US" altLang="zh-TW" b="0" i="1" smtClean="0">
                              <a:latin typeface="Cambria Math" panose="02040503050406030204" pitchFamily="18" charset="0"/>
                            </a:rPr>
                            <m:t>) </m:t>
                          </m:r>
                        </m:oMath>
                      </m:oMathPara>
                    </a14:m>
                    <a:endParaRPr lang="zh-TW" altLang="en-US" dirty="0"/>
                  </a:p>
                </p:txBody>
              </p:sp>
            </mc:Choice>
            <mc:Fallback xmlns="">
              <p:sp>
                <p:nvSpPr>
                  <p:cNvPr id="70" name="文字方塊 69">
                    <a:extLst>
                      <a:ext uri="{FF2B5EF4-FFF2-40B4-BE49-F238E27FC236}">
                        <a16:creationId xmlns:a16="http://schemas.microsoft.com/office/drawing/2014/main" id="{ABF45B27-8A67-4AFD-9094-4F7F0DC5BE57}"/>
                      </a:ext>
                    </a:extLst>
                  </p:cNvPr>
                  <p:cNvSpPr txBox="1">
                    <a:spLocks noRot="1" noChangeAspect="1" noMove="1" noResize="1" noEditPoints="1" noAdjustHandles="1" noChangeArrowheads="1" noChangeShapeType="1" noTextEdit="1"/>
                  </p:cNvSpPr>
                  <p:nvPr/>
                </p:nvSpPr>
                <p:spPr>
                  <a:xfrm rot="16200000">
                    <a:off x="6167895" y="3809893"/>
                    <a:ext cx="792653" cy="291234"/>
                  </a:xfrm>
                  <a:prstGeom prst="rect">
                    <a:avLst/>
                  </a:prstGeom>
                  <a:blipFill>
                    <a:blip r:embed="rId14"/>
                    <a:stretch>
                      <a:fillRect l="-19149" t="-3846" r="-36170" b="-692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1" name="文字方塊 70">
                    <a:extLst>
                      <a:ext uri="{FF2B5EF4-FFF2-40B4-BE49-F238E27FC236}">
                        <a16:creationId xmlns:a16="http://schemas.microsoft.com/office/drawing/2014/main" id="{F0FE0359-7C2E-483C-987C-A6245723EFD1}"/>
                      </a:ext>
                    </a:extLst>
                  </p:cNvPr>
                  <p:cNvSpPr txBox="1"/>
                  <p:nvPr/>
                </p:nvSpPr>
                <p:spPr>
                  <a:xfrm rot="16200000">
                    <a:off x="6078179" y="5503944"/>
                    <a:ext cx="1288173" cy="30534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Pre>
                            <m:sPrePr>
                              <m:ctrlPr>
                                <a:rPr lang="en-US" altLang="zh-TW" i="1" smtClean="0">
                                  <a:latin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r>
                            <a:rPr lang="en-US" altLang="zh-TW" b="0" i="1" smtClean="0">
                              <a:latin typeface="Cambria Math" panose="02040503050406030204" pitchFamily="18" charset="0"/>
                            </a:rPr>
                            <m:t> (</m:t>
                          </m:r>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den>
                          </m:f>
                          <m:r>
                            <a:rPr lang="en-US" altLang="zh-TW" b="0" i="1" smtClean="0">
                              <a:latin typeface="Cambria Math" panose="02040503050406030204" pitchFamily="18" charset="0"/>
                            </a:rPr>
                            <m:t>)</m:t>
                          </m:r>
                        </m:oMath>
                      </m:oMathPara>
                    </a14:m>
                    <a:endParaRPr lang="zh-TW" altLang="en-US" dirty="0"/>
                  </a:p>
                </p:txBody>
              </p:sp>
            </mc:Choice>
            <mc:Fallback xmlns="">
              <p:sp>
                <p:nvSpPr>
                  <p:cNvPr id="71" name="文字方塊 70">
                    <a:extLst>
                      <a:ext uri="{FF2B5EF4-FFF2-40B4-BE49-F238E27FC236}">
                        <a16:creationId xmlns:a16="http://schemas.microsoft.com/office/drawing/2014/main" id="{F0FE0359-7C2E-483C-987C-A6245723EFD1}"/>
                      </a:ext>
                    </a:extLst>
                  </p:cNvPr>
                  <p:cNvSpPr txBox="1">
                    <a:spLocks noRot="1" noChangeAspect="1" noMove="1" noResize="1" noEditPoints="1" noAdjustHandles="1" noChangeArrowheads="1" noChangeShapeType="1" noTextEdit="1"/>
                  </p:cNvSpPr>
                  <p:nvPr/>
                </p:nvSpPr>
                <p:spPr>
                  <a:xfrm rot="16200000">
                    <a:off x="6078179" y="5503944"/>
                    <a:ext cx="1288173" cy="305340"/>
                  </a:xfrm>
                  <a:prstGeom prst="rect">
                    <a:avLst/>
                  </a:prstGeom>
                  <a:blipFill>
                    <a:blip r:embed="rId15"/>
                    <a:stretch>
                      <a:fillRect l="-148000" t="-36019" r="-230000"/>
                    </a:stretch>
                  </a:blipFill>
                </p:spPr>
                <p:txBody>
                  <a:bodyPr/>
                  <a:lstStyle/>
                  <a:p>
                    <a:r>
                      <a:rPr lang="zh-TW" altLang="en-US">
                        <a:noFill/>
                      </a:rPr>
                      <a:t> </a:t>
                    </a:r>
                  </a:p>
                </p:txBody>
              </p:sp>
            </mc:Fallback>
          </mc:AlternateContent>
        </p:grpSp>
      </p:grpSp>
    </p:spTree>
    <p:extLst>
      <p:ext uri="{BB962C8B-B14F-4D97-AF65-F5344CB8AC3E}">
        <p14:creationId xmlns:p14="http://schemas.microsoft.com/office/powerpoint/2010/main" val="42783174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08956"/>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41" name="auto caption"/>
          <p:cNvSpPr txBox="1"/>
          <p:nvPr/>
        </p:nvSpPr>
        <p:spPr>
          <a:xfrm>
            <a:off x="173567" y="587052"/>
            <a:ext cx="11844866" cy="2206948"/>
          </a:xfrm>
          <a:prstGeom prst="rect">
            <a:avLst/>
          </a:prstGeom>
          <a:noFill/>
        </p:spPr>
        <p:txBody>
          <a:bodyPr wrap="square" rtlCol="0">
            <a:normAutofit/>
          </a:bodyPr>
          <a:lstStyle/>
          <a:p>
            <a:pPr marL="285750" indent="-285750">
              <a:buFont typeface="Wingdings" panose="05000000000000000000" pitchFamily="2" charset="2"/>
              <a:buChar char="Ø"/>
            </a:pPr>
            <a:r>
              <a:rPr lang="en-US" altLang="zh-TW" dirty="0"/>
              <a:t>Setup: The calibration side is identical to the previous slide: the same R sweep, the same converged reduced design at each R. What changes is the evaluation: the prediction is computed on every real FEM node inside R.</a:t>
            </a:r>
          </a:p>
          <a:p>
            <a:pPr marL="285750" indent="-285750">
              <a:buFont typeface="Wingdings" panose="05000000000000000000" pitchFamily="2" charset="2"/>
              <a:buChar char="Ø"/>
            </a:pPr>
            <a:r>
              <a:rPr lang="en-US" altLang="zh-TW" dirty="0"/>
              <a:t>Prediction error grows with workspace radius and degrades sharply beyond the 150 µm calibration radius: the single-parameter error grows from 0.20 mT at R = 160 µm to 0.94 mT at 400 µm and 4.16 mT at 500 µm. The eighteen-parameter fit is lower at every radius, but its advantage collapses with R — from 8.1× at 160 µm to 1.10× at 500 µm — showing that charge offsets correct near-field structure only and cannot compensate the far-field model error. The model is therefore trustworthy only near the calibration radius.</a:t>
            </a:r>
          </a:p>
          <a:p>
            <a:endParaRPr lang="en-US" altLang="zh-TW" dirty="0"/>
          </a:p>
        </p:txBody>
      </p:sp>
      <p:grpSp>
        <p:nvGrpSpPr>
          <p:cNvPr id="16" name="群組 15">
            <a:extLst>
              <a:ext uri="{FF2B5EF4-FFF2-40B4-BE49-F238E27FC236}">
                <a16:creationId xmlns:a16="http://schemas.microsoft.com/office/drawing/2014/main" id="{F8E27487-DF9C-46E4-9404-5AED5E3B199D}"/>
              </a:ext>
            </a:extLst>
          </p:cNvPr>
          <p:cNvGrpSpPr/>
          <p:nvPr/>
        </p:nvGrpSpPr>
        <p:grpSpPr>
          <a:xfrm>
            <a:off x="4396448" y="3429000"/>
            <a:ext cx="3130420" cy="2963184"/>
            <a:chOff x="1288380" y="3322750"/>
            <a:chExt cx="3095203" cy="2712530"/>
          </a:xfrm>
        </p:grpSpPr>
        <p:pic>
          <p:nvPicPr>
            <p:cNvPr id="7" name="圖片 6">
              <a:extLst>
                <a:ext uri="{FF2B5EF4-FFF2-40B4-BE49-F238E27FC236}">
                  <a16:creationId xmlns:a16="http://schemas.microsoft.com/office/drawing/2014/main" id="{EFD798C7-5899-413F-BDDB-88BC6D88C5F3}"/>
                </a:ext>
              </a:extLst>
            </p:cNvPr>
            <p:cNvPicPr>
              <a:picLocks noChangeAspect="1"/>
            </p:cNvPicPr>
            <p:nvPr/>
          </p:nvPicPr>
          <p:blipFill rotWithShape="1">
            <a:blip r:embed="rId2">
              <a:extLst>
                <a:ext uri="{28A0092B-C50C-407E-A947-70E740481C1C}">
                  <a14:useLocalDpi xmlns:a14="http://schemas.microsoft.com/office/drawing/2010/main" val="0"/>
                </a:ext>
              </a:extLst>
            </a:blip>
            <a:srcRect l="5928" b="3441"/>
            <a:stretch/>
          </p:blipFill>
          <p:spPr>
            <a:xfrm>
              <a:off x="1583267" y="3322750"/>
              <a:ext cx="2800316" cy="2435531"/>
            </a:xfrm>
            <a:prstGeom prst="rect">
              <a:avLst/>
            </a:prstGeom>
          </p:spPr>
        </p:pic>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7128B0E9-B372-4C28-8A97-3B2A1DF80F02}"/>
                    </a:ext>
                  </a:extLst>
                </p:cNvPr>
                <p:cNvSpPr txBox="1"/>
                <p:nvPr/>
              </p:nvSpPr>
              <p:spPr>
                <a:xfrm>
                  <a:off x="1874980" y="5758281"/>
                  <a:ext cx="2216889" cy="276999"/>
                </a:xfrm>
                <a:prstGeom prst="rect">
                  <a:avLst/>
                </a:prstGeom>
                <a:noFill/>
              </p:spPr>
              <p:txBody>
                <a:bodyPr wrap="none" lIns="0" tIns="0" rIns="0" bIns="0" rtlCol="0">
                  <a:spAutoFit/>
                </a:bodyPr>
                <a:lstStyle/>
                <a:p>
                  <a:r>
                    <a:rPr lang="en-US" altLang="zh-TW" dirty="0">
                      <a:latin typeface="Times New Roman" panose="02020603050405020304" pitchFamily="18" charset="0"/>
                      <a:cs typeface="Times New Roman" panose="02020603050405020304" pitchFamily="18" charset="0"/>
                    </a:rPr>
                    <a:t>Workspace radius </a:t>
                  </a:r>
                  <a14:m>
                    <m:oMath xmlns:m="http://schemas.openxmlformats.org/officeDocument/2006/math">
                      <m:r>
                        <a:rPr lang="en-US" altLang="zh-TW" b="0" i="1" smtClean="0">
                          <a:latin typeface="Cambria Math" panose="02040503050406030204" pitchFamily="18" charset="0"/>
                        </a:rPr>
                        <m:t>(</m:t>
                      </m:r>
                      <m:r>
                        <a:rPr lang="zh-TW" altLang="en-US" b="0" i="1" smtClean="0">
                          <a:latin typeface="Cambria Math" panose="02040503050406030204" pitchFamily="18" charset="0"/>
                        </a:rPr>
                        <m:t>𝜇</m:t>
                      </m:r>
                      <m:r>
                        <a:rPr lang="en-US" altLang="zh-TW" b="0" i="1" smtClean="0">
                          <a:latin typeface="Cambria Math" panose="02040503050406030204" pitchFamily="18" charset="0"/>
                        </a:rPr>
                        <m:t>𝑚</m:t>
                      </m:r>
                      <m:r>
                        <a:rPr lang="en-US" altLang="zh-TW" b="0" i="1" smtClean="0">
                          <a:latin typeface="Cambria Math" panose="02040503050406030204" pitchFamily="18" charset="0"/>
                        </a:rPr>
                        <m:t>)</m:t>
                      </m:r>
                    </m:oMath>
                  </a14:m>
                  <a:endParaRPr lang="zh-TW" altLang="en-US" dirty="0"/>
                </a:p>
              </p:txBody>
            </p:sp>
          </mc:Choice>
          <mc:Fallback xmlns="">
            <p:sp>
              <p:nvSpPr>
                <p:cNvPr id="29" name="文字方塊 28">
                  <a:extLst>
                    <a:ext uri="{FF2B5EF4-FFF2-40B4-BE49-F238E27FC236}">
                      <a16:creationId xmlns:a16="http://schemas.microsoft.com/office/drawing/2014/main" id="{7128B0E9-B372-4C28-8A97-3B2A1DF80F02}"/>
                    </a:ext>
                  </a:extLst>
                </p:cNvPr>
                <p:cNvSpPr txBox="1">
                  <a:spLocks noRot="1" noChangeAspect="1" noMove="1" noResize="1" noEditPoints="1" noAdjustHandles="1" noChangeArrowheads="1" noChangeShapeType="1" noTextEdit="1"/>
                </p:cNvSpPr>
                <p:nvPr/>
              </p:nvSpPr>
              <p:spPr>
                <a:xfrm>
                  <a:off x="1874980" y="5758281"/>
                  <a:ext cx="2216889" cy="276999"/>
                </a:xfrm>
                <a:prstGeom prst="rect">
                  <a:avLst/>
                </a:prstGeom>
                <a:blipFill>
                  <a:blip r:embed="rId3"/>
                  <a:stretch>
                    <a:fillRect l="-6612" t="-31111" r="-4408" b="-4888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0" name="文字方塊 29">
                  <a:extLst>
                    <a:ext uri="{FF2B5EF4-FFF2-40B4-BE49-F238E27FC236}">
                      <a16:creationId xmlns:a16="http://schemas.microsoft.com/office/drawing/2014/main" id="{DDE06893-DD59-426B-8E60-4DA4F7BDDD64}"/>
                    </a:ext>
                  </a:extLst>
                </p:cNvPr>
                <p:cNvSpPr txBox="1"/>
                <p:nvPr/>
              </p:nvSpPr>
              <p:spPr>
                <a:xfrm rot="16200000">
                  <a:off x="907210" y="4403573"/>
                  <a:ext cx="1036224" cy="273883"/>
                </a:xfrm>
                <a:prstGeom prst="rect">
                  <a:avLst/>
                </a:prstGeom>
                <a:noFill/>
              </p:spPr>
              <p:txBody>
                <a:bodyPr wrap="none" lIns="0" tIns="0" rIns="0" bIns="0" rtlCol="0">
                  <a:spAutoFit/>
                </a:bodyPr>
                <a:lstStyle/>
                <a:p>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RMS </a:t>
                  </a:r>
                  <a14:m>
                    <m:oMath xmlns:m="http://schemas.openxmlformats.org/officeDocument/2006/math">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𝑚𝑇</m:t>
                      </m:r>
                      <m:r>
                        <a:rPr lang="en-US" altLang="zh-TW" b="0" i="1" smtClean="0">
                          <a:latin typeface="Cambria Math" panose="02040503050406030204" pitchFamily="18" charset="0"/>
                          <a:cs typeface="Times New Roman" panose="02020603050405020304" pitchFamily="18" charset="0"/>
                        </a:rPr>
                        <m:t>)</m:t>
                      </m:r>
                    </m:oMath>
                  </a14:m>
                  <a:endParaRPr lang="zh-TW" altLang="en-US" dirty="0"/>
                </a:p>
              </p:txBody>
            </p:sp>
          </mc:Choice>
          <mc:Fallback xmlns="">
            <p:sp>
              <p:nvSpPr>
                <p:cNvPr id="30" name="文字方塊 29">
                  <a:extLst>
                    <a:ext uri="{FF2B5EF4-FFF2-40B4-BE49-F238E27FC236}">
                      <a16:creationId xmlns:a16="http://schemas.microsoft.com/office/drawing/2014/main" id="{DDE06893-DD59-426B-8E60-4DA4F7BDDD64}"/>
                    </a:ext>
                  </a:extLst>
                </p:cNvPr>
                <p:cNvSpPr txBox="1">
                  <a:spLocks noRot="1" noChangeAspect="1" noMove="1" noResize="1" noEditPoints="1" noAdjustHandles="1" noChangeArrowheads="1" noChangeShapeType="1" noTextEdit="1"/>
                </p:cNvSpPr>
                <p:nvPr/>
              </p:nvSpPr>
              <p:spPr>
                <a:xfrm rot="16200000">
                  <a:off x="907210" y="4403573"/>
                  <a:ext cx="1036224" cy="273883"/>
                </a:xfrm>
                <a:prstGeom prst="rect">
                  <a:avLst/>
                </a:prstGeom>
                <a:blipFill>
                  <a:blip r:embed="rId4"/>
                  <a:stretch>
                    <a:fillRect l="-30435" t="-8602" r="-47826" b="-7527"/>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3386442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B6964577-860D-4EB3-8219-1A6240335DA6}"/>
                  </a:ext>
                </a:extLst>
              </p:cNvPr>
              <p:cNvSpPr txBox="1"/>
              <p:nvPr/>
            </p:nvSpPr>
            <p:spPr>
              <a:xfrm>
                <a:off x="8217453" y="423838"/>
                <a:ext cx="3564053"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3" name="文字方塊 2">
                <a:extLst>
                  <a:ext uri="{FF2B5EF4-FFF2-40B4-BE49-F238E27FC236}">
                    <a16:creationId xmlns:a16="http://schemas.microsoft.com/office/drawing/2014/main" id="{B6964577-860D-4EB3-8219-1A6240335DA6}"/>
                  </a:ext>
                </a:extLst>
              </p:cNvPr>
              <p:cNvSpPr txBox="1">
                <a:spLocks noRot="1" noChangeAspect="1" noMove="1" noResize="1" noEditPoints="1" noAdjustHandles="1" noChangeArrowheads="1" noChangeShapeType="1" noTextEdit="1"/>
              </p:cNvSpPr>
              <p:nvPr/>
            </p:nvSpPr>
            <p:spPr>
              <a:xfrm>
                <a:off x="8217453" y="423838"/>
                <a:ext cx="3564053" cy="321563"/>
              </a:xfrm>
              <a:prstGeom prst="rect">
                <a:avLst/>
              </a:prstGeom>
              <a:blipFill>
                <a:blip r:embed="rId3"/>
                <a:stretch>
                  <a:fillRect l="-1197" t="-15385" r="-5299" b="-2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54C8E874-6E04-4F06-97C3-1C58F72C5F9C}"/>
                  </a:ext>
                </a:extLst>
              </p:cNvPr>
              <p:cNvSpPr txBox="1"/>
              <p:nvPr/>
            </p:nvSpPr>
            <p:spPr>
              <a:xfrm>
                <a:off x="-2" y="595362"/>
                <a:ext cx="12081933" cy="1351011"/>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lang="en-US" altLang="zh-TW" sz="1400" b="1" dirty="0"/>
                  <a:t>This figure shows the fitting results for the FEM nodes within R≤150μm after both models were calibrated over the same region using their respective convergence </a:t>
                </a:r>
                <a:r>
                  <a:rPr lang="en-US" altLang="zh-TW" sz="1400" b="1" dirty="0" err="1"/>
                  <a:t>points</a:t>
                </a:r>
                <a:r>
                  <a:rPr lang="en-US" altLang="zh-TW" sz="1400" dirty="0" err="1"/>
                  <a:t>. This</a:t>
                </a:r>
                <a:r>
                  <a:rPr lang="en-US" altLang="zh-TW" sz="1400" dirty="0"/>
                  <a:t> figure overlays the distributions of the two models. The red distribution is noticeably more concentrated than the blue one, indicating that the eighteen-parameter model performs better than the one-parameter model in fitting the magnetic field.</a:t>
                </a:r>
              </a:p>
              <a:p>
                <a:pPr marL="285750" indent="-285750">
                  <a:lnSpc>
                    <a:spcPct val="150000"/>
                  </a:lnSpc>
                  <a:buFont typeface="Wingdings" panose="05000000000000000000" pitchFamily="2" charset="2"/>
                  <a:buChar char="l"/>
                </a:pPr>
                <a:r>
                  <a:rPr lang="en-US" altLang="zh-TW" sz="1400" dirty="0"/>
                  <a:t>Workspace radius:</a:t>
                </a:r>
                <a14:m>
                  <m:oMath xmlns:m="http://schemas.openxmlformats.org/officeDocument/2006/math">
                    <m:r>
                      <a:rPr lang="en-US" altLang="zh-TW" sz="1400" b="0" i="1" smtClean="0">
                        <a:latin typeface="Cambria Math" panose="02040503050406030204" pitchFamily="18" charset="0"/>
                      </a:rPr>
                      <m:t>𝑅</m:t>
                    </m:r>
                    <m:r>
                      <a:rPr lang="en-US" altLang="zh-TW" sz="1400" b="0" i="1" smtClean="0">
                        <a:latin typeface="Cambria Math" panose="02040503050406030204" pitchFamily="18" charset="0"/>
                        <a:ea typeface="Cambria Math" panose="02040503050406030204" pitchFamily="18" charset="0"/>
                      </a:rPr>
                      <m:t>≤150</m:t>
                    </m:r>
                    <m:r>
                      <a:rPr lang="zh-TW" altLang="en-US" sz="1400" b="0" i="1" smtClean="0">
                        <a:latin typeface="Cambria Math" panose="02040503050406030204" pitchFamily="18" charset="0"/>
                        <a:ea typeface="Cambria Math" panose="02040503050406030204" pitchFamily="18" charset="0"/>
                      </a:rPr>
                      <m:t>𝜇</m:t>
                    </m:r>
                    <m:r>
                      <a:rPr lang="en-US" altLang="zh-TW" sz="1400" b="0" i="1" smtClean="0">
                        <a:latin typeface="Cambria Math" panose="02040503050406030204" pitchFamily="18" charset="0"/>
                        <a:ea typeface="Cambria Math" panose="02040503050406030204" pitchFamily="18" charset="0"/>
                      </a:rPr>
                      <m:t>𝑚</m:t>
                    </m:r>
                  </m:oMath>
                </a14:m>
                <a:endParaRPr lang="zh-TW" altLang="en-US" sz="1400" dirty="0"/>
              </a:p>
            </p:txBody>
          </p:sp>
        </mc:Choice>
        <mc:Fallback xmlns="">
          <p:sp>
            <p:nvSpPr>
              <p:cNvPr id="11" name="文字方塊 10">
                <a:extLst>
                  <a:ext uri="{FF2B5EF4-FFF2-40B4-BE49-F238E27FC236}">
                    <a16:creationId xmlns:a16="http://schemas.microsoft.com/office/drawing/2014/main" id="{54C8E874-6E04-4F06-97C3-1C58F72C5F9C}"/>
                  </a:ext>
                </a:extLst>
              </p:cNvPr>
              <p:cNvSpPr txBox="1">
                <a:spLocks noRot="1" noChangeAspect="1" noMove="1" noResize="1" noEditPoints="1" noAdjustHandles="1" noChangeArrowheads="1" noChangeShapeType="1" noTextEdit="1"/>
              </p:cNvSpPr>
              <p:nvPr/>
            </p:nvSpPr>
            <p:spPr>
              <a:xfrm>
                <a:off x="-2" y="595362"/>
                <a:ext cx="12081933" cy="1351011"/>
              </a:xfrm>
              <a:prstGeom prst="rect">
                <a:avLst/>
              </a:prstGeom>
              <a:blipFill>
                <a:blip r:embed="rId4"/>
                <a:stretch>
                  <a:fillRect l="-50" b="-4072"/>
                </a:stretch>
              </a:blipFill>
            </p:spPr>
            <p:txBody>
              <a:bodyPr/>
              <a:lstStyle/>
              <a:p>
                <a:r>
                  <a:rPr lang="zh-TW" altLang="en-US">
                    <a:noFill/>
                  </a:rPr>
                  <a:t> </a:t>
                </a:r>
              </a:p>
            </p:txBody>
          </p:sp>
        </mc:Fallback>
      </mc:AlternateContent>
      <p:graphicFrame>
        <p:nvGraphicFramePr>
          <p:cNvPr id="14" name="表格 14">
            <a:extLst>
              <a:ext uri="{FF2B5EF4-FFF2-40B4-BE49-F238E27FC236}">
                <a16:creationId xmlns:a16="http://schemas.microsoft.com/office/drawing/2014/main" id="{669D49AD-E8AD-4123-BA4B-4C406F1D844B}"/>
              </a:ext>
            </a:extLst>
          </p:cNvPr>
          <p:cNvGraphicFramePr>
            <a:graphicFrameLocks noGrp="1"/>
          </p:cNvGraphicFramePr>
          <p:nvPr>
            <p:extLst>
              <p:ext uri="{D42A27DB-BD31-4B8C-83A1-F6EECF244321}">
                <p14:modId xmlns:p14="http://schemas.microsoft.com/office/powerpoint/2010/main" val="2114988325"/>
              </p:ext>
            </p:extLst>
          </p:nvPr>
        </p:nvGraphicFramePr>
        <p:xfrm>
          <a:off x="6375400" y="3932971"/>
          <a:ext cx="4419600" cy="1204364"/>
        </p:xfrm>
        <a:graphic>
          <a:graphicData uri="http://schemas.openxmlformats.org/drawingml/2006/table">
            <a:tbl>
              <a:tblPr firstRow="1" bandRow="1">
                <a:tableStyleId>{5940675A-B579-460E-94D1-54222C63F5DA}</a:tableStyleId>
              </a:tblPr>
              <a:tblGrid>
                <a:gridCol w="948265">
                  <a:extLst>
                    <a:ext uri="{9D8B030D-6E8A-4147-A177-3AD203B41FA5}">
                      <a16:colId xmlns:a16="http://schemas.microsoft.com/office/drawing/2014/main" val="2949357934"/>
                    </a:ext>
                  </a:extLst>
                </a:gridCol>
                <a:gridCol w="1998135">
                  <a:extLst>
                    <a:ext uri="{9D8B030D-6E8A-4147-A177-3AD203B41FA5}">
                      <a16:colId xmlns:a16="http://schemas.microsoft.com/office/drawing/2014/main" val="3764907268"/>
                    </a:ext>
                  </a:extLst>
                </a:gridCol>
                <a:gridCol w="1473200">
                  <a:extLst>
                    <a:ext uri="{9D8B030D-6E8A-4147-A177-3AD203B41FA5}">
                      <a16:colId xmlns:a16="http://schemas.microsoft.com/office/drawing/2014/main" val="855758062"/>
                    </a:ext>
                  </a:extLst>
                </a:gridCol>
              </a:tblGrid>
              <a:tr h="423929">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pPr algn="ctr"/>
                      <a:r>
                        <a:rPr lang="en-US" altLang="zh-TW" dirty="0"/>
                        <a:t>Single</a:t>
                      </a:r>
                      <a:endParaRPr lang="zh-TW" altLang="en-US" dirty="0"/>
                    </a:p>
                  </a:txBody>
                  <a:tcPr/>
                </a:tc>
                <a:tc>
                  <a:txBody>
                    <a:bodyPr/>
                    <a:lstStyle/>
                    <a:p>
                      <a:pPr algn="ctr"/>
                      <a:r>
                        <a:rPr lang="en-US" altLang="zh-TW" dirty="0"/>
                        <a:t>Eighteen</a:t>
                      </a:r>
                      <a:endParaRPr lang="zh-TW" altLang="en-US" dirty="0"/>
                    </a:p>
                  </a:txBody>
                  <a:tcPr/>
                </a:tc>
                <a:extLst>
                  <a:ext uri="{0D108BD9-81ED-4DB2-BD59-A6C34878D82A}">
                    <a16:rowId xmlns:a16="http://schemas.microsoft.com/office/drawing/2014/main" val="2420780242"/>
                  </a:ext>
                </a:extLst>
              </a:tr>
              <a:tr h="780435">
                <a:tc>
                  <a:txBody>
                    <a:bodyPr/>
                    <a:lstStyle/>
                    <a:p>
                      <a:pPr algn="ctr"/>
                      <a:r>
                        <a:rPr lang="en-US" altLang="zh-TW" dirty="0"/>
                        <a:t>Mean</a:t>
                      </a:r>
                      <a:endParaRPr lang="zh-TW" altLang="en-US" dirty="0"/>
                    </a:p>
                  </a:txBody>
                  <a:tcPr/>
                </a:tc>
                <a:tc>
                  <a:txBody>
                    <a:bodyPr/>
                    <a:lstStyle/>
                    <a:p>
                      <a:pPr algn="ctr"/>
                      <a:r>
                        <a:rPr lang="en-US" altLang="zh-TW" dirty="0"/>
                        <a:t>0.2877mT</a:t>
                      </a:r>
                      <a:endParaRPr lang="zh-TW" altLang="en-US" dirty="0"/>
                    </a:p>
                  </a:txBody>
                  <a:tcPr/>
                </a:tc>
                <a:tc>
                  <a:txBody>
                    <a:bodyPr/>
                    <a:lstStyle/>
                    <a:p>
                      <a:pPr algn="ctr"/>
                      <a:r>
                        <a:rPr lang="en-US" altLang="zh-TW" dirty="0"/>
                        <a:t>0.0327mT</a:t>
                      </a:r>
                      <a:endParaRPr lang="zh-TW" altLang="en-US" dirty="0"/>
                    </a:p>
                  </a:txBody>
                  <a:tcPr/>
                </a:tc>
                <a:extLst>
                  <a:ext uri="{0D108BD9-81ED-4DB2-BD59-A6C34878D82A}">
                    <a16:rowId xmlns:a16="http://schemas.microsoft.com/office/drawing/2014/main" val="2702200097"/>
                  </a:ext>
                </a:extLst>
              </a:tr>
            </a:tbl>
          </a:graphicData>
        </a:graphic>
      </p:graphicFrame>
      <p:sp>
        <p:nvSpPr>
          <p:cNvPr id="8" name="文字方塊 7">
            <a:extLst>
              <a:ext uri="{FF2B5EF4-FFF2-40B4-BE49-F238E27FC236}">
                <a16:creationId xmlns:a16="http://schemas.microsoft.com/office/drawing/2014/main" id="{83C46DA0-26FB-4386-B4A4-2257E4A89D3A}"/>
              </a:ext>
            </a:extLst>
          </p:cNvPr>
          <p:cNvSpPr txBox="1"/>
          <p:nvPr/>
        </p:nvSpPr>
        <p:spPr>
          <a:xfrm>
            <a:off x="6223000" y="3561170"/>
            <a:ext cx="2675466" cy="369332"/>
          </a:xfrm>
          <a:prstGeom prst="rect">
            <a:avLst/>
          </a:prstGeom>
          <a:noFill/>
        </p:spPr>
        <p:txBody>
          <a:bodyPr wrap="square" rtlCol="0">
            <a:spAutoFit/>
          </a:bodyPr>
          <a:lstStyle/>
          <a:p>
            <a:pPr marL="285750" indent="-285750">
              <a:buFont typeface="Wingdings" panose="05000000000000000000" pitchFamily="2" charset="2"/>
              <a:buChar char="u"/>
            </a:pPr>
            <a:r>
              <a:rPr lang="en-US" altLang="zh-TW" dirty="0"/>
              <a:t>Resolution:2.8uT</a:t>
            </a:r>
            <a:endParaRPr lang="zh-TW" altLang="en-US" dirty="0"/>
          </a:p>
        </p:txBody>
      </p:sp>
      <p:grpSp>
        <p:nvGrpSpPr>
          <p:cNvPr id="13" name="群組 12">
            <a:extLst>
              <a:ext uri="{FF2B5EF4-FFF2-40B4-BE49-F238E27FC236}">
                <a16:creationId xmlns:a16="http://schemas.microsoft.com/office/drawing/2014/main" id="{8641CC13-E635-45C5-9347-04041D419FB2}"/>
              </a:ext>
            </a:extLst>
          </p:cNvPr>
          <p:cNvGrpSpPr/>
          <p:nvPr/>
        </p:nvGrpSpPr>
        <p:grpSpPr>
          <a:xfrm>
            <a:off x="1014512" y="2193730"/>
            <a:ext cx="4065488" cy="4068908"/>
            <a:chOff x="1014512" y="2120908"/>
            <a:chExt cx="4065488" cy="4068908"/>
          </a:xfrm>
        </p:grpSpPr>
        <mc:AlternateContent xmlns:mc="http://schemas.openxmlformats.org/markup-compatibility/2006" xmlns:a14="http://schemas.microsoft.com/office/drawing/2010/main">
          <mc:Choice Requires="a14">
            <p:sp>
              <p:nvSpPr>
                <p:cNvPr id="32" name="文字方塊 31">
                  <a:extLst>
                    <a:ext uri="{FF2B5EF4-FFF2-40B4-BE49-F238E27FC236}">
                      <a16:creationId xmlns:a16="http://schemas.microsoft.com/office/drawing/2014/main" id="{95FA9D37-EDD1-4667-9002-6BB9421C9AE8}"/>
                    </a:ext>
                  </a:extLst>
                </p:cNvPr>
                <p:cNvSpPr txBox="1"/>
                <p:nvPr/>
              </p:nvSpPr>
              <p:spPr>
                <a:xfrm>
                  <a:off x="2146347" y="5882039"/>
                  <a:ext cx="2262671" cy="307777"/>
                </a:xfrm>
                <a:prstGeom prst="rect">
                  <a:avLst/>
                </a:prstGeom>
                <a:noFill/>
              </p:spPr>
              <p:txBody>
                <a:bodyPr wrap="none" lIns="0" tIns="0" rIns="0" bIns="0" rtlCol="0">
                  <a:spAutoFit/>
                </a:bodyPr>
                <a:lstStyle/>
                <a:p>
                  <a:r>
                    <a:rPr lang="zh-TW" altLang="en-US"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Modeling error</a:t>
                  </a:r>
                  <a:r>
                    <a:rPr lang="zh-TW" altLang="en-US" sz="2000" dirty="0">
                      <a:latin typeface="Times New Roman" panose="02020603050405020304" pitchFamily="18" charset="0"/>
                      <a:cs typeface="Times New Roman" panose="02020603050405020304" pitchFamily="18" charset="0"/>
                    </a:rPr>
                    <a:t> </a:t>
                  </a:r>
                  <a14:m>
                    <m:oMath xmlns:m="http://schemas.openxmlformats.org/officeDocument/2006/math">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𝑚𝑇</m:t>
                      </m:r>
                      <m:r>
                        <a:rPr lang="en-US" altLang="zh-TW" sz="2000" b="0" i="1" smtClean="0">
                          <a:latin typeface="Cambria Math" panose="02040503050406030204" pitchFamily="18" charset="0"/>
                        </a:rPr>
                        <m:t>)</m:t>
                      </m:r>
                    </m:oMath>
                  </a14:m>
                  <a:endParaRPr lang="zh-TW" altLang="en-US" dirty="0"/>
                </a:p>
              </p:txBody>
            </p:sp>
          </mc:Choice>
          <mc:Fallback xmlns="">
            <p:sp>
              <p:nvSpPr>
                <p:cNvPr id="32" name="文字方塊 31">
                  <a:extLst>
                    <a:ext uri="{FF2B5EF4-FFF2-40B4-BE49-F238E27FC236}">
                      <a16:creationId xmlns:a16="http://schemas.microsoft.com/office/drawing/2014/main" id="{95FA9D37-EDD1-4667-9002-6BB9421C9AE8}"/>
                    </a:ext>
                  </a:extLst>
                </p:cNvPr>
                <p:cNvSpPr txBox="1">
                  <a:spLocks noRot="1" noChangeAspect="1" noMove="1" noResize="1" noEditPoints="1" noAdjustHandles="1" noChangeArrowheads="1" noChangeShapeType="1" noTextEdit="1"/>
                </p:cNvSpPr>
                <p:nvPr/>
              </p:nvSpPr>
              <p:spPr>
                <a:xfrm>
                  <a:off x="2146347" y="5882039"/>
                  <a:ext cx="2262671" cy="307777"/>
                </a:xfrm>
                <a:prstGeom prst="rect">
                  <a:avLst/>
                </a:prstGeom>
                <a:blipFill>
                  <a:blip r:embed="rId5"/>
                  <a:stretch>
                    <a:fillRect l="-4313" t="-28000" r="-4313" b="-48000"/>
                  </a:stretch>
                </a:blipFill>
              </p:spPr>
              <p:txBody>
                <a:bodyPr/>
                <a:lstStyle/>
                <a:p>
                  <a:r>
                    <a:rPr lang="zh-TW" altLang="en-US">
                      <a:noFill/>
                    </a:rPr>
                    <a:t> </a:t>
                  </a:r>
                </a:p>
              </p:txBody>
            </p:sp>
          </mc:Fallback>
        </mc:AlternateContent>
        <p:grpSp>
          <p:nvGrpSpPr>
            <p:cNvPr id="10" name="群組 9">
              <a:extLst>
                <a:ext uri="{FF2B5EF4-FFF2-40B4-BE49-F238E27FC236}">
                  <a16:creationId xmlns:a16="http://schemas.microsoft.com/office/drawing/2014/main" id="{F578EC6A-6C45-481E-8B91-83DF8713AB8A}"/>
                </a:ext>
              </a:extLst>
            </p:cNvPr>
            <p:cNvGrpSpPr/>
            <p:nvPr/>
          </p:nvGrpSpPr>
          <p:grpSpPr>
            <a:xfrm>
              <a:off x="1121926" y="2120908"/>
              <a:ext cx="3958074" cy="3761131"/>
              <a:chOff x="1121926" y="2120908"/>
              <a:chExt cx="3958074" cy="3761131"/>
            </a:xfrm>
          </p:grpSpPr>
          <p:pic>
            <p:nvPicPr>
              <p:cNvPr id="7" name="圖片 6">
                <a:extLst>
                  <a:ext uri="{FF2B5EF4-FFF2-40B4-BE49-F238E27FC236}">
                    <a16:creationId xmlns:a16="http://schemas.microsoft.com/office/drawing/2014/main" id="{E4EBD5B7-E4F7-4E6F-A43F-93FE832567BE}"/>
                  </a:ext>
                </a:extLst>
              </p:cNvPr>
              <p:cNvPicPr>
                <a:picLocks noChangeAspect="1"/>
              </p:cNvPicPr>
              <p:nvPr/>
            </p:nvPicPr>
            <p:blipFill rotWithShape="1">
              <a:blip r:embed="rId6">
                <a:extLst>
                  <a:ext uri="{28A0092B-C50C-407E-A947-70E740481C1C}">
                    <a14:useLocalDpi xmlns:a14="http://schemas.microsoft.com/office/drawing/2010/main" val="0"/>
                  </a:ext>
                </a:extLst>
              </a:blip>
              <a:srcRect l="2576" b="4463"/>
              <a:stretch/>
            </p:blipFill>
            <p:spPr>
              <a:xfrm>
                <a:off x="1244600" y="2120908"/>
                <a:ext cx="3835400" cy="3761131"/>
              </a:xfrm>
              <a:prstGeom prst="rect">
                <a:avLst/>
              </a:prstGeom>
            </p:spPr>
          </p:pic>
          <p:sp>
            <p:nvSpPr>
              <p:cNvPr id="9" name="矩形 8">
                <a:extLst>
                  <a:ext uri="{FF2B5EF4-FFF2-40B4-BE49-F238E27FC236}">
                    <a16:creationId xmlns:a16="http://schemas.microsoft.com/office/drawing/2014/main" id="{1D7379AB-26CE-43F1-95D0-02399C7D0CB7}"/>
                  </a:ext>
                </a:extLst>
              </p:cNvPr>
              <p:cNvSpPr/>
              <p:nvPr/>
            </p:nvSpPr>
            <p:spPr>
              <a:xfrm>
                <a:off x="1121926" y="3440435"/>
                <a:ext cx="177800" cy="10693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33" name="文字方塊 32">
                  <a:extLst>
                    <a:ext uri="{FF2B5EF4-FFF2-40B4-BE49-F238E27FC236}">
                      <a16:creationId xmlns:a16="http://schemas.microsoft.com/office/drawing/2014/main" id="{D993BD9D-7CA7-4ED6-9131-2EAC28EC146B}"/>
                    </a:ext>
                  </a:extLst>
                </p:cNvPr>
                <p:cNvSpPr txBox="1"/>
                <p:nvPr/>
              </p:nvSpPr>
              <p:spPr>
                <a:xfrm rot="16200000">
                  <a:off x="13437" y="3936417"/>
                  <a:ext cx="2309928" cy="307777"/>
                </a:xfrm>
                <a:prstGeom prst="rect">
                  <a:avLst/>
                </a:prstGeom>
                <a:noFill/>
              </p:spPr>
              <p:txBody>
                <a:bodyPr wrap="none" lIns="0" tIns="0" rIns="0" bIns="0" rtlCol="0">
                  <a:spAutoFit/>
                </a:bodyPr>
                <a:lstStyle/>
                <a:p>
                  <a:r>
                    <a:rPr lang="zh-TW" altLang="en-US"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Percentage count</a:t>
                  </a:r>
                  <a14:m>
                    <m:oMath xmlns:m="http://schemas.openxmlformats.org/officeDocument/2006/math">
                      <m:r>
                        <a:rPr lang="en-US" altLang="zh-TW" sz="2000">
                          <a:latin typeface="Cambria Math" panose="02040503050406030204" pitchFamily="18" charset="0"/>
                        </a:rPr>
                        <m:t> </m:t>
                      </m:r>
                      <m:r>
                        <a:rPr lang="en-US" altLang="zh-TW" sz="2000" b="0" i="1" smtClean="0">
                          <a:latin typeface="Cambria Math" panose="02040503050406030204" pitchFamily="18" charset="0"/>
                        </a:rPr>
                        <m:t>(%)</m:t>
                      </m:r>
                    </m:oMath>
                  </a14:m>
                  <a:endParaRPr lang="zh-TW" altLang="en-US" dirty="0"/>
                </a:p>
              </p:txBody>
            </p:sp>
          </mc:Choice>
          <mc:Fallback xmlns="">
            <p:sp>
              <p:nvSpPr>
                <p:cNvPr id="33" name="文字方塊 32">
                  <a:extLst>
                    <a:ext uri="{FF2B5EF4-FFF2-40B4-BE49-F238E27FC236}">
                      <a16:creationId xmlns:a16="http://schemas.microsoft.com/office/drawing/2014/main" id="{D993BD9D-7CA7-4ED6-9131-2EAC28EC146B}"/>
                    </a:ext>
                  </a:extLst>
                </p:cNvPr>
                <p:cNvSpPr txBox="1">
                  <a:spLocks noRot="1" noChangeAspect="1" noMove="1" noResize="1" noEditPoints="1" noAdjustHandles="1" noChangeArrowheads="1" noChangeShapeType="1" noTextEdit="1"/>
                </p:cNvSpPr>
                <p:nvPr/>
              </p:nvSpPr>
              <p:spPr>
                <a:xfrm rot="16200000">
                  <a:off x="13437" y="3936417"/>
                  <a:ext cx="2309928" cy="307777"/>
                </a:xfrm>
                <a:prstGeom prst="rect">
                  <a:avLst/>
                </a:prstGeom>
                <a:blipFill>
                  <a:blip r:embed="rId7"/>
                  <a:stretch>
                    <a:fillRect l="-27451" t="-4222" r="-47059" b="-4485"/>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39634389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290509"/>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46" name="auto caption"/>
          <p:cNvSpPr txBox="1"/>
          <p:nvPr/>
        </p:nvSpPr>
        <p:spPr>
          <a:xfrm>
            <a:off x="-33943" y="586474"/>
            <a:ext cx="12115876" cy="666593"/>
          </a:xfrm>
          <a:prstGeom prst="rect">
            <a:avLst/>
          </a:prstGeom>
          <a:noFill/>
        </p:spPr>
        <p:txBody>
          <a:bodyPr wrap="square" rtlCol="0">
            <a:normAutofit fontScale="92500"/>
          </a:bodyPr>
          <a:lstStyle/>
          <a:p>
            <a:pPr marL="285750" indent="-285750">
              <a:buFont typeface="Wingdings" panose="05000000000000000000" pitchFamily="2" charset="2"/>
              <a:buChar char="l"/>
            </a:pPr>
            <a:r>
              <a:rPr lang="en-US" altLang="zh-TW" dirty="0"/>
              <a:t>Setup: </a:t>
            </a:r>
            <a:r>
              <a:rPr lang="en-US" altLang="zh-TW" b="1" dirty="0"/>
              <a:t>Calibration is performed using the eighteen-parameter calibration points, followed by fitting to the FEM nodes within the workspace (left: calibrated within R ≤ 150 µm with 55 points; right: calibrated within R ≤ 300 µm with 127 points)</a:t>
            </a:r>
            <a:r>
              <a:rPr lang="en-US" altLang="zh-TW" dirty="0"/>
              <a:t>. </a:t>
            </a:r>
          </a:p>
        </p:txBody>
      </p:sp>
      <mc:AlternateContent xmlns:mc="http://schemas.openxmlformats.org/markup-compatibility/2006" xmlns:a14="http://schemas.microsoft.com/office/drawing/2010/main">
        <mc:Choice Requires="a14">
          <p:graphicFrame>
            <p:nvGraphicFramePr>
              <p:cNvPr id="21" name="表格 21">
                <a:extLst>
                  <a:ext uri="{FF2B5EF4-FFF2-40B4-BE49-F238E27FC236}">
                    <a16:creationId xmlns:a16="http://schemas.microsoft.com/office/drawing/2014/main" id="{8650AF4A-7868-4FE8-AAFF-ECABEEB37AD3}"/>
                  </a:ext>
                </a:extLst>
              </p:cNvPr>
              <p:cNvGraphicFramePr>
                <a:graphicFrameLocks noGrp="1"/>
              </p:cNvGraphicFramePr>
              <p:nvPr>
                <p:extLst>
                  <p:ext uri="{D42A27DB-BD31-4B8C-83A1-F6EECF244321}">
                    <p14:modId xmlns:p14="http://schemas.microsoft.com/office/powerpoint/2010/main" val="280516775"/>
                  </p:ext>
                </p:extLst>
              </p:nvPr>
            </p:nvGraphicFramePr>
            <p:xfrm>
              <a:off x="94809" y="4284540"/>
              <a:ext cx="11910925" cy="1962506"/>
            </p:xfrm>
            <a:graphic>
              <a:graphicData uri="http://schemas.openxmlformats.org/drawingml/2006/table">
                <a:tbl>
                  <a:tblPr firstRow="1" bandRow="1">
                    <a:tableStyleId>{5940675A-B579-460E-94D1-54222C63F5DA}</a:tableStyleId>
                  </a:tblPr>
                  <a:tblGrid>
                    <a:gridCol w="1261335">
                      <a:extLst>
                        <a:ext uri="{9D8B030D-6E8A-4147-A177-3AD203B41FA5}">
                          <a16:colId xmlns:a16="http://schemas.microsoft.com/office/drawing/2014/main" val="2220848039"/>
                        </a:ext>
                      </a:extLst>
                    </a:gridCol>
                    <a:gridCol w="1213305">
                      <a:extLst>
                        <a:ext uri="{9D8B030D-6E8A-4147-A177-3AD203B41FA5}">
                          <a16:colId xmlns:a16="http://schemas.microsoft.com/office/drawing/2014/main" val="2517592409"/>
                        </a:ext>
                      </a:extLst>
                    </a:gridCol>
                    <a:gridCol w="3506714">
                      <a:extLst>
                        <a:ext uri="{9D8B030D-6E8A-4147-A177-3AD203B41FA5}">
                          <a16:colId xmlns:a16="http://schemas.microsoft.com/office/drawing/2014/main" val="1542711824"/>
                        </a:ext>
                      </a:extLst>
                    </a:gridCol>
                    <a:gridCol w="1552305">
                      <a:extLst>
                        <a:ext uri="{9D8B030D-6E8A-4147-A177-3AD203B41FA5}">
                          <a16:colId xmlns:a16="http://schemas.microsoft.com/office/drawing/2014/main" val="1951294256"/>
                        </a:ext>
                      </a:extLst>
                    </a:gridCol>
                    <a:gridCol w="1744133">
                      <a:extLst>
                        <a:ext uri="{9D8B030D-6E8A-4147-A177-3AD203B41FA5}">
                          <a16:colId xmlns:a16="http://schemas.microsoft.com/office/drawing/2014/main" val="2486765925"/>
                        </a:ext>
                      </a:extLst>
                    </a:gridCol>
                    <a:gridCol w="2633133">
                      <a:extLst>
                        <a:ext uri="{9D8B030D-6E8A-4147-A177-3AD203B41FA5}">
                          <a16:colId xmlns:a16="http://schemas.microsoft.com/office/drawing/2014/main" val="2482236599"/>
                        </a:ext>
                      </a:extLst>
                    </a:gridCol>
                  </a:tblGrid>
                  <a:tr h="452404">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𝑝</m:t>
                                    </m:r>
                                  </m:sub>
                                </m:sSub>
                              </m:oMath>
                            </m:oMathPara>
                          </a14:m>
                          <a:endParaRPr lang="zh-TW" altLang="en-US" dirty="0"/>
                        </a:p>
                      </a:txBody>
                      <a:tcPr/>
                    </a:tc>
                    <a:tc>
                      <a:txBody>
                        <a:bodyPr/>
                        <a:lstStyle/>
                        <a:p>
                          <a:pPr algn="ctr"/>
                          <a:r>
                            <a:rPr lang="en-US" altLang="zh-TW" dirty="0"/>
                            <a:t>Peak value</a:t>
                          </a:r>
                        </a:p>
                        <a:p>
                          <a:pPr algn="ct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m:t>
                                </m:r>
                                <m:r>
                                  <a:rPr lang="en-US" altLang="zh-TW" b="0" i="1" smtClean="0">
                                    <a:latin typeface="Cambria Math" panose="02040503050406030204" pitchFamily="18" charset="0"/>
                                  </a:rPr>
                                  <m:t>𝑅</m:t>
                                </m:r>
                                <m:r>
                                  <a:rPr lang="en-US" altLang="zh-TW" b="0" i="1" smtClean="0">
                                    <a:latin typeface="Cambria Math" panose="02040503050406030204" pitchFamily="18" charset="0"/>
                                    <a:ea typeface="Cambria Math" panose="02040503050406030204" pitchFamily="18" charset="0"/>
                                  </a:rPr>
                                  <m:t>≤150</m:t>
                                </m:r>
                                <m:r>
                                  <a:rPr lang="zh-TW" altLang="en-US" b="0" i="1" smtClean="0">
                                    <a:latin typeface="Cambria Math" panose="02040503050406030204" pitchFamily="18" charset="0"/>
                                    <a:ea typeface="Cambria Math" panose="02040503050406030204" pitchFamily="18" charset="0"/>
                                  </a:rPr>
                                  <m:t>𝜇</m:t>
                                </m:r>
                                <m:r>
                                  <a:rPr lang="en-US" altLang="zh-TW" b="0" i="1" smtClean="0">
                                    <a:latin typeface="Cambria Math" panose="02040503050406030204" pitchFamily="18" charset="0"/>
                                    <a:ea typeface="Cambria Math" panose="02040503050406030204" pitchFamily="18" charset="0"/>
                                  </a:rPr>
                                  <m:t>𝑚</m:t>
                                </m:r>
                                <m:r>
                                  <a:rPr lang="en-US" altLang="zh-TW" b="0" i="1" smtClean="0">
                                    <a:latin typeface="Cambria Math" panose="02040503050406030204" pitchFamily="18" charset="0"/>
                                    <a:ea typeface="Cambria Math" panose="02040503050406030204" pitchFamily="18" charset="0"/>
                                  </a:rPr>
                                  <m:t>)</m:t>
                                </m:r>
                              </m:oMath>
                            </m:oMathPara>
                          </a14:m>
                          <a:endParaRPr lang="en-US" altLang="zh-TW" b="0" dirty="0">
                            <a:ea typeface="Cambria Math" panose="020405030504060302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altLang="zh-TW" sz="1800" b="0" i="0" smtClean="0">
                                    <a:latin typeface="Cambria Math" panose="02040503050406030204" pitchFamily="18" charset="0"/>
                                    <a:ea typeface="Cambria Math" panose="02040503050406030204" pitchFamily="18" charset="0"/>
                                  </a:rPr>
                                  <m:t>Average</m:t>
                                </m:r>
                                <m:r>
                                  <a:rPr lang="en-US" altLang="zh-TW" sz="1800" b="0" i="0" smtClean="0">
                                    <a:latin typeface="Cambria Math" panose="02040503050406030204" pitchFamily="18" charset="0"/>
                                    <a:ea typeface="Cambria Math" panose="02040503050406030204" pitchFamily="18" charset="0"/>
                                  </a:rPr>
                                  <m:t> </m:t>
                                </m:r>
                                <m:r>
                                  <m:rPr>
                                    <m:sty m:val="p"/>
                                  </m:rPr>
                                  <a:rPr lang="en-US" altLang="zh-TW" sz="1800" b="0" i="0" smtClean="0">
                                    <a:latin typeface="Cambria Math" panose="02040503050406030204" pitchFamily="18" charset="0"/>
                                    <a:ea typeface="Cambria Math" panose="02040503050406030204" pitchFamily="18" charset="0"/>
                                  </a:rPr>
                                  <m:t>field</m:t>
                                </m:r>
                              </m:oMath>
                            </m:oMathPara>
                          </a14:m>
                          <a:endParaRPr lang="zh-TW" altLang="en-US" i="0" dirty="0"/>
                        </a:p>
                      </a:txBody>
                      <a:tcPr/>
                    </a:tc>
                    <a:tc gridSpan="2">
                      <a:txBody>
                        <a:bodyPr/>
                        <a:lstStyle/>
                        <a:p>
                          <a:pPr algn="ctr"/>
                          <a:r>
                            <a:rPr lang="en-US" altLang="zh-TW" i="0" dirty="0"/>
                            <a:t>Mean error</a:t>
                          </a:r>
                          <a:endParaRPr lang="zh-TW" altLang="en-US" i="0" dirty="0"/>
                        </a:p>
                      </a:txBody>
                      <a:tcPr/>
                    </a:tc>
                    <a:tc hMerge="1">
                      <a:txBody>
                        <a:bodyPr/>
                        <a:lstStyle/>
                        <a:p>
                          <a:endParaRPr lang="zh-TW" altLang="en-US"/>
                        </a:p>
                      </a:txBody>
                      <a:tcPr/>
                    </a:tc>
                    <a:extLst>
                      <a:ext uri="{0D108BD9-81ED-4DB2-BD59-A6C34878D82A}">
                        <a16:rowId xmlns:a16="http://schemas.microsoft.com/office/drawing/2014/main" val="3860471253"/>
                      </a:ext>
                    </a:extLst>
                  </a:tr>
                  <a:tr h="661213">
                    <a:tc>
                      <a:txBody>
                        <a:bodyPr/>
                        <a:lstStyle/>
                        <a:p>
                          <a:r>
                            <a:rPr lang="en-US" altLang="zh-TW" dirty="0"/>
                            <a:t>Left figure</a:t>
                          </a:r>
                          <a:endParaRPr lang="zh-TW" altLang="en-US" dirty="0"/>
                        </a:p>
                      </a:txBody>
                      <a:tcPr/>
                    </a:tc>
                    <a:tc>
                      <a:txBody>
                        <a:bodyPr/>
                        <a:lstStyle/>
                        <a:p>
                          <a:pPr algn="ctr"/>
                          <a:r>
                            <a:rPr lang="en-US" altLang="zh-TW" dirty="0"/>
                            <a:t>1771</a:t>
                          </a:r>
                          <a:endParaRPr lang="zh-TW" altLang="en-US" dirty="0"/>
                        </a:p>
                      </a:txBody>
                      <a:tcPr/>
                    </a:tc>
                    <a:tc>
                      <a:txBody>
                        <a:bodyPr/>
                        <a:lstStyle/>
                        <a:p>
                          <a:pPr algn="ctr"/>
                          <a:r>
                            <a:rPr lang="en-US" altLang="zh-TW" dirty="0"/>
                            <a:t>7.331%</a:t>
                          </a:r>
                          <a:endParaRPr lang="zh-TW" altLang="en-US" dirty="0"/>
                        </a:p>
                      </a:txBody>
                      <a:tcPr/>
                    </a:tc>
                    <a:tc>
                      <a:txBody>
                        <a:bodyPr/>
                        <a:lstStyle/>
                        <a:p>
                          <a:pPr algn="ctr"/>
                          <a:r>
                            <a:rPr lang="en-US" altLang="zh-TW" dirty="0"/>
                            <a:t>10.2452mT</a:t>
                          </a:r>
                          <a:endParaRPr lang="zh-TW" altLang="en-US" dirty="0"/>
                        </a:p>
                      </a:txBody>
                      <a:tcPr/>
                    </a:tc>
                    <a:tc gridSpan="2">
                      <a:txBody>
                        <a:bodyPr/>
                        <a:lstStyle/>
                        <a:p>
                          <a:pPr algn="ctr"/>
                          <a:r>
                            <a:rPr lang="en-US" altLang="zh-TW" dirty="0"/>
                            <a:t>0.0327mT</a:t>
                          </a:r>
                          <a:endParaRPr lang="zh-TW" altLang="en-US" dirty="0"/>
                        </a:p>
                      </a:txBody>
                      <a:tcPr/>
                    </a:tc>
                    <a:tc hMerge="1">
                      <a:txBody>
                        <a:bodyPr/>
                        <a:lstStyle/>
                        <a:p>
                          <a:endParaRPr lang="zh-TW" altLang="en-US"/>
                        </a:p>
                      </a:txBody>
                      <a:tcPr/>
                    </a:tc>
                    <a:extLst>
                      <a:ext uri="{0D108BD9-81ED-4DB2-BD59-A6C34878D82A}">
                        <a16:rowId xmlns:a16="http://schemas.microsoft.com/office/drawing/2014/main" val="142448062"/>
                      </a:ext>
                    </a:extLst>
                  </a:tr>
                  <a:tr h="661213">
                    <a:tc>
                      <a:txBody>
                        <a:bodyPr/>
                        <a:lstStyle/>
                        <a:p>
                          <a:r>
                            <a:rPr lang="en-US" altLang="zh-TW" dirty="0"/>
                            <a:t>Right figure</a:t>
                          </a:r>
                          <a:endParaRPr lang="zh-TW" altLang="en-US" dirty="0"/>
                        </a:p>
                      </a:txBody>
                      <a:tcPr/>
                    </a:tc>
                    <a:tc>
                      <a:txBody>
                        <a:bodyPr/>
                        <a:lstStyle/>
                        <a:p>
                          <a:pPr algn="ctr"/>
                          <a:r>
                            <a:rPr lang="en-US" altLang="zh-TW" dirty="0"/>
                            <a:t>14082</a:t>
                          </a:r>
                          <a:endParaRPr lang="zh-TW" altLang="en-US" dirty="0"/>
                        </a:p>
                      </a:txBody>
                      <a:tcPr/>
                    </a:tc>
                    <a:tc>
                      <a:txBody>
                        <a:bodyPr/>
                        <a:lstStyle/>
                        <a:p>
                          <a:pPr algn="ctr"/>
                          <a:r>
                            <a:rPr lang="en-US" altLang="zh-TW" dirty="0"/>
                            <a:t>0.3586%</a:t>
                          </a:r>
                          <a:endParaRPr lang="zh-TW" altLang="en-US" dirty="0"/>
                        </a:p>
                      </a:txBody>
                      <a:tcPr/>
                    </a:tc>
                    <a:tc>
                      <a:txBody>
                        <a:bodyPr/>
                        <a:lstStyle/>
                        <a:p>
                          <a:pPr algn="ctr"/>
                          <a:r>
                            <a:rPr lang="en-US" altLang="zh-TW" dirty="0"/>
                            <a:t>10.4684mT</a:t>
                          </a:r>
                          <a:endParaRPr lang="zh-TW" altLang="en-US" dirty="0"/>
                        </a:p>
                      </a:txBody>
                      <a:tcPr/>
                    </a:tc>
                    <a:tc>
                      <a:txBody>
                        <a:bodyPr/>
                        <a:lstStyle/>
                        <a:p>
                          <a:pPr algn="ctr"/>
                          <a:r>
                            <a:rPr lang="en-US" altLang="zh-TW" dirty="0"/>
                            <a:t>0.1193mT</a:t>
                          </a:r>
                        </a:p>
                        <a:p>
                          <a:pPr algn="ctr"/>
                          <a:r>
                            <a:rPr lang="en-US" altLang="zh-TW" sz="1600" dirty="0"/>
                            <a:t>(</a:t>
                          </a:r>
                          <a14:m>
                            <m:oMath xmlns:m="http://schemas.openxmlformats.org/officeDocument/2006/math">
                              <m:r>
                                <a:rPr lang="en-US" altLang="zh-TW" sz="1600" b="0" i="1" smtClean="0">
                                  <a:latin typeface="Cambria Math" panose="02040503050406030204" pitchFamily="18" charset="0"/>
                                </a:rPr>
                                <m:t>𝑅</m:t>
                              </m:r>
                              <m:r>
                                <a:rPr lang="en-US" altLang="zh-TW" sz="1600" b="0" i="1" smtClean="0">
                                  <a:latin typeface="Cambria Math" panose="02040503050406030204" pitchFamily="18" charset="0"/>
                                </a:rPr>
                                <m:t>≤150</m:t>
                              </m:r>
                              <m:r>
                                <a:rPr lang="en-US" altLang="zh-TW" sz="1600" b="0" i="1" smtClean="0">
                                  <a:latin typeface="Cambria Math" panose="02040503050406030204" pitchFamily="18" charset="0"/>
                                </a:rPr>
                                <m:t>𝑢𝑚</m:t>
                              </m:r>
                              <m:r>
                                <a:rPr lang="en-US" altLang="zh-TW" sz="1600" b="0" i="1" smtClean="0">
                                  <a:latin typeface="Cambria Math" panose="02040503050406030204" pitchFamily="18" charset="0"/>
                                </a:rPr>
                                <m:t>)</m:t>
                              </m:r>
                            </m:oMath>
                          </a14:m>
                          <a:endParaRPr lang="zh-TW" altLang="en-US" dirty="0"/>
                        </a:p>
                      </a:txBody>
                      <a:tcPr/>
                    </a:tc>
                    <a:tc>
                      <a:txBody>
                        <a:bodyPr/>
                        <a:lstStyle/>
                        <a:p>
                          <a:pPr algn="ctr"/>
                          <a:r>
                            <a:rPr lang="en-US" altLang="zh-TW" dirty="0"/>
                            <a:t>0.2978mT</a:t>
                          </a:r>
                        </a:p>
                        <a:p>
                          <a:pPr algn="ctr"/>
                          <a:r>
                            <a:rPr lang="en-US" altLang="zh-TW" dirty="0"/>
                            <a:t>(</a:t>
                          </a:r>
                          <a14:m>
                            <m:oMath xmlns:m="http://schemas.openxmlformats.org/officeDocument/2006/math">
                              <m:r>
                                <a:rPr lang="en-US" altLang="zh-TW" b="0" i="0" smtClean="0">
                                  <a:latin typeface="Cambria Math" panose="02040503050406030204" pitchFamily="18" charset="0"/>
                                </a:rPr>
                                <m:t>150</m:t>
                              </m:r>
                              <m:r>
                                <m:rPr>
                                  <m:sty m:val="p"/>
                                </m:rPr>
                                <a:rPr lang="en-US" altLang="zh-TW" b="0" i="0" smtClean="0">
                                  <a:latin typeface="Cambria Math" panose="02040503050406030204" pitchFamily="18" charset="0"/>
                                </a:rPr>
                                <m:t>um</m:t>
                              </m:r>
                              <m:r>
                                <a:rPr lang="en-US" altLang="zh-TW" b="0" i="0" smtClean="0">
                                  <a:latin typeface="Cambria Math" panose="02040503050406030204" pitchFamily="18" charset="0"/>
                                </a:rPr>
                                <m:t>≤</m:t>
                              </m:r>
                              <m:r>
                                <a:rPr lang="en-US" altLang="zh-TW" b="0" i="1" smtClean="0">
                                  <a:latin typeface="Cambria Math" panose="02040503050406030204" pitchFamily="18" charset="0"/>
                                </a:rPr>
                                <m:t>𝑅</m:t>
                              </m:r>
                              <m:r>
                                <a:rPr lang="en-US" altLang="zh-TW" b="0" i="1" smtClean="0">
                                  <a:latin typeface="Cambria Math" panose="02040503050406030204" pitchFamily="18" charset="0"/>
                                </a:rPr>
                                <m:t>≤300</m:t>
                              </m:r>
                              <m:r>
                                <a:rPr lang="en-US" altLang="zh-TW" b="0" i="1" smtClean="0">
                                  <a:latin typeface="Cambria Math" panose="02040503050406030204" pitchFamily="18" charset="0"/>
                                </a:rPr>
                                <m:t>𝑢𝑚</m:t>
                              </m:r>
                              <m:r>
                                <a:rPr lang="en-US" altLang="zh-TW" b="0" i="1" smtClean="0">
                                  <a:latin typeface="Cambria Math" panose="02040503050406030204" pitchFamily="18" charset="0"/>
                                </a:rPr>
                                <m:t>)</m:t>
                              </m:r>
                            </m:oMath>
                          </a14:m>
                          <a:endParaRPr lang="zh-TW" altLang="en-US" dirty="0"/>
                        </a:p>
                      </a:txBody>
                      <a:tcPr/>
                    </a:tc>
                    <a:extLst>
                      <a:ext uri="{0D108BD9-81ED-4DB2-BD59-A6C34878D82A}">
                        <a16:rowId xmlns:a16="http://schemas.microsoft.com/office/drawing/2014/main" val="1327120116"/>
                      </a:ext>
                    </a:extLst>
                  </a:tr>
                </a:tbl>
              </a:graphicData>
            </a:graphic>
          </p:graphicFrame>
        </mc:Choice>
        <mc:Fallback xmlns="">
          <p:graphicFrame>
            <p:nvGraphicFramePr>
              <p:cNvPr id="21" name="表格 21">
                <a:extLst>
                  <a:ext uri="{FF2B5EF4-FFF2-40B4-BE49-F238E27FC236}">
                    <a16:creationId xmlns:a16="http://schemas.microsoft.com/office/drawing/2014/main" id="{8650AF4A-7868-4FE8-AAFF-ECABEEB37AD3}"/>
                  </a:ext>
                </a:extLst>
              </p:cNvPr>
              <p:cNvGraphicFramePr>
                <a:graphicFrameLocks noGrp="1"/>
              </p:cNvGraphicFramePr>
              <p:nvPr>
                <p:extLst>
                  <p:ext uri="{D42A27DB-BD31-4B8C-83A1-F6EECF244321}">
                    <p14:modId xmlns:p14="http://schemas.microsoft.com/office/powerpoint/2010/main" val="280516775"/>
                  </p:ext>
                </p:extLst>
              </p:nvPr>
            </p:nvGraphicFramePr>
            <p:xfrm>
              <a:off x="94809" y="4284540"/>
              <a:ext cx="11910925" cy="1962506"/>
            </p:xfrm>
            <a:graphic>
              <a:graphicData uri="http://schemas.openxmlformats.org/drawingml/2006/table">
                <a:tbl>
                  <a:tblPr firstRow="1" bandRow="1">
                    <a:tableStyleId>{5940675A-B579-460E-94D1-54222C63F5DA}</a:tableStyleId>
                  </a:tblPr>
                  <a:tblGrid>
                    <a:gridCol w="1261335">
                      <a:extLst>
                        <a:ext uri="{9D8B030D-6E8A-4147-A177-3AD203B41FA5}">
                          <a16:colId xmlns:a16="http://schemas.microsoft.com/office/drawing/2014/main" val="2220848039"/>
                        </a:ext>
                      </a:extLst>
                    </a:gridCol>
                    <a:gridCol w="1213305">
                      <a:extLst>
                        <a:ext uri="{9D8B030D-6E8A-4147-A177-3AD203B41FA5}">
                          <a16:colId xmlns:a16="http://schemas.microsoft.com/office/drawing/2014/main" val="2517592409"/>
                        </a:ext>
                      </a:extLst>
                    </a:gridCol>
                    <a:gridCol w="3506714">
                      <a:extLst>
                        <a:ext uri="{9D8B030D-6E8A-4147-A177-3AD203B41FA5}">
                          <a16:colId xmlns:a16="http://schemas.microsoft.com/office/drawing/2014/main" val="1542711824"/>
                        </a:ext>
                      </a:extLst>
                    </a:gridCol>
                    <a:gridCol w="1552305">
                      <a:extLst>
                        <a:ext uri="{9D8B030D-6E8A-4147-A177-3AD203B41FA5}">
                          <a16:colId xmlns:a16="http://schemas.microsoft.com/office/drawing/2014/main" val="1951294256"/>
                        </a:ext>
                      </a:extLst>
                    </a:gridCol>
                    <a:gridCol w="1744133">
                      <a:extLst>
                        <a:ext uri="{9D8B030D-6E8A-4147-A177-3AD203B41FA5}">
                          <a16:colId xmlns:a16="http://schemas.microsoft.com/office/drawing/2014/main" val="2486765925"/>
                        </a:ext>
                      </a:extLst>
                    </a:gridCol>
                    <a:gridCol w="2633133">
                      <a:extLst>
                        <a:ext uri="{9D8B030D-6E8A-4147-A177-3AD203B41FA5}">
                          <a16:colId xmlns:a16="http://schemas.microsoft.com/office/drawing/2014/main" val="2482236599"/>
                        </a:ext>
                      </a:extLst>
                    </a:gridCol>
                  </a:tblGrid>
                  <a:tr h="640080">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p>
                      </a:txBody>
                      <a:tcPr>
                        <a:blipFill>
                          <a:blip r:embed="rId9"/>
                          <a:stretch>
                            <a:fillRect l="-104523" t="-4762" r="-779397" b="-219048"/>
                          </a:stretch>
                        </a:blipFill>
                      </a:tcPr>
                    </a:tc>
                    <a:tc>
                      <a:txBody>
                        <a:bodyPr/>
                        <a:lstStyle/>
                        <a:p>
                          <a:endParaRPr lang="zh-TW"/>
                        </a:p>
                      </a:txBody>
                      <a:tcPr>
                        <a:blipFill>
                          <a:blip r:embed="rId9"/>
                          <a:stretch>
                            <a:fillRect l="-70660" t="-4762" r="-169271" b="-219048"/>
                          </a:stretch>
                        </a:blipFill>
                      </a:tcPr>
                    </a:tc>
                    <a:tc>
                      <a:txBody>
                        <a:bodyPr/>
                        <a:lstStyle/>
                        <a:p>
                          <a:endParaRPr lang="zh-TW"/>
                        </a:p>
                      </a:txBody>
                      <a:tcPr>
                        <a:blipFill>
                          <a:blip r:embed="rId9"/>
                          <a:stretch>
                            <a:fillRect l="-385490" t="-4762" r="-282353" b="-219048"/>
                          </a:stretch>
                        </a:blipFill>
                      </a:tcPr>
                    </a:tc>
                    <a:tc gridSpan="2">
                      <a:txBody>
                        <a:bodyPr/>
                        <a:lstStyle/>
                        <a:p>
                          <a:pPr algn="ctr"/>
                          <a:r>
                            <a:rPr lang="en-US" altLang="zh-TW" i="0" dirty="0"/>
                            <a:t>Mean error</a:t>
                          </a:r>
                          <a:endParaRPr lang="zh-TW" altLang="en-US" i="0" dirty="0"/>
                        </a:p>
                      </a:txBody>
                      <a:tcPr/>
                    </a:tc>
                    <a:tc hMerge="1">
                      <a:txBody>
                        <a:bodyPr/>
                        <a:lstStyle/>
                        <a:p>
                          <a:endParaRPr lang="zh-TW" altLang="en-US"/>
                        </a:p>
                      </a:txBody>
                      <a:tcPr/>
                    </a:tc>
                    <a:extLst>
                      <a:ext uri="{0D108BD9-81ED-4DB2-BD59-A6C34878D82A}">
                        <a16:rowId xmlns:a16="http://schemas.microsoft.com/office/drawing/2014/main" val="3860471253"/>
                      </a:ext>
                    </a:extLst>
                  </a:tr>
                  <a:tr h="661213">
                    <a:tc>
                      <a:txBody>
                        <a:bodyPr/>
                        <a:lstStyle/>
                        <a:p>
                          <a:r>
                            <a:rPr lang="en-US" altLang="zh-TW" dirty="0"/>
                            <a:t>Left figure</a:t>
                          </a:r>
                          <a:endParaRPr lang="zh-TW" altLang="en-US" dirty="0"/>
                        </a:p>
                      </a:txBody>
                      <a:tcPr/>
                    </a:tc>
                    <a:tc>
                      <a:txBody>
                        <a:bodyPr/>
                        <a:lstStyle/>
                        <a:p>
                          <a:pPr algn="ctr"/>
                          <a:r>
                            <a:rPr lang="en-US" altLang="zh-TW" dirty="0"/>
                            <a:t>1771</a:t>
                          </a:r>
                          <a:endParaRPr lang="zh-TW" altLang="en-US" dirty="0"/>
                        </a:p>
                      </a:txBody>
                      <a:tcPr/>
                    </a:tc>
                    <a:tc>
                      <a:txBody>
                        <a:bodyPr/>
                        <a:lstStyle/>
                        <a:p>
                          <a:pPr algn="ctr"/>
                          <a:r>
                            <a:rPr lang="en-US" altLang="zh-TW" dirty="0"/>
                            <a:t>7.331%</a:t>
                          </a:r>
                          <a:endParaRPr lang="zh-TW" altLang="en-US" dirty="0"/>
                        </a:p>
                      </a:txBody>
                      <a:tcPr/>
                    </a:tc>
                    <a:tc>
                      <a:txBody>
                        <a:bodyPr/>
                        <a:lstStyle/>
                        <a:p>
                          <a:pPr algn="ctr"/>
                          <a:r>
                            <a:rPr lang="en-US" altLang="zh-TW" dirty="0"/>
                            <a:t>10.2452mT</a:t>
                          </a:r>
                          <a:endParaRPr lang="zh-TW" altLang="en-US" dirty="0"/>
                        </a:p>
                      </a:txBody>
                      <a:tcPr/>
                    </a:tc>
                    <a:tc gridSpan="2">
                      <a:txBody>
                        <a:bodyPr/>
                        <a:lstStyle/>
                        <a:p>
                          <a:pPr algn="ctr"/>
                          <a:r>
                            <a:rPr lang="en-US" altLang="zh-TW" dirty="0"/>
                            <a:t>0.0327mT</a:t>
                          </a:r>
                          <a:endParaRPr lang="zh-TW" altLang="en-US" dirty="0"/>
                        </a:p>
                      </a:txBody>
                      <a:tcPr/>
                    </a:tc>
                    <a:tc hMerge="1">
                      <a:txBody>
                        <a:bodyPr/>
                        <a:lstStyle/>
                        <a:p>
                          <a:endParaRPr lang="zh-TW" altLang="en-US"/>
                        </a:p>
                      </a:txBody>
                      <a:tcPr/>
                    </a:tc>
                    <a:extLst>
                      <a:ext uri="{0D108BD9-81ED-4DB2-BD59-A6C34878D82A}">
                        <a16:rowId xmlns:a16="http://schemas.microsoft.com/office/drawing/2014/main" val="142448062"/>
                      </a:ext>
                    </a:extLst>
                  </a:tr>
                  <a:tr h="661213">
                    <a:tc>
                      <a:txBody>
                        <a:bodyPr/>
                        <a:lstStyle/>
                        <a:p>
                          <a:r>
                            <a:rPr lang="en-US" altLang="zh-TW" dirty="0"/>
                            <a:t>Right figure</a:t>
                          </a:r>
                          <a:endParaRPr lang="zh-TW" altLang="en-US" dirty="0"/>
                        </a:p>
                      </a:txBody>
                      <a:tcPr/>
                    </a:tc>
                    <a:tc>
                      <a:txBody>
                        <a:bodyPr/>
                        <a:lstStyle/>
                        <a:p>
                          <a:pPr algn="ctr"/>
                          <a:r>
                            <a:rPr lang="en-US" altLang="zh-TW" dirty="0"/>
                            <a:t>14082</a:t>
                          </a:r>
                          <a:endParaRPr lang="zh-TW" altLang="en-US" dirty="0"/>
                        </a:p>
                      </a:txBody>
                      <a:tcPr/>
                    </a:tc>
                    <a:tc>
                      <a:txBody>
                        <a:bodyPr/>
                        <a:lstStyle/>
                        <a:p>
                          <a:pPr algn="ctr"/>
                          <a:r>
                            <a:rPr lang="en-US" altLang="zh-TW" dirty="0"/>
                            <a:t>0.3586%</a:t>
                          </a:r>
                          <a:endParaRPr lang="zh-TW" altLang="en-US" dirty="0"/>
                        </a:p>
                      </a:txBody>
                      <a:tcPr/>
                    </a:tc>
                    <a:tc>
                      <a:txBody>
                        <a:bodyPr/>
                        <a:lstStyle/>
                        <a:p>
                          <a:pPr algn="ctr"/>
                          <a:r>
                            <a:rPr lang="en-US" altLang="zh-TW" dirty="0"/>
                            <a:t>10.4684mT</a:t>
                          </a:r>
                          <a:endParaRPr lang="zh-TW" altLang="en-US" dirty="0"/>
                        </a:p>
                      </a:txBody>
                      <a:tcPr/>
                    </a:tc>
                    <a:tc>
                      <a:txBody>
                        <a:bodyPr/>
                        <a:lstStyle/>
                        <a:p>
                          <a:endParaRPr lang="zh-TW"/>
                        </a:p>
                      </a:txBody>
                      <a:tcPr>
                        <a:blipFill>
                          <a:blip r:embed="rId9"/>
                          <a:stretch>
                            <a:fillRect l="-432867" t="-200917" r="-151748" b="-11009"/>
                          </a:stretch>
                        </a:blipFill>
                      </a:tcPr>
                    </a:tc>
                    <a:tc>
                      <a:txBody>
                        <a:bodyPr/>
                        <a:lstStyle/>
                        <a:p>
                          <a:endParaRPr lang="zh-TW"/>
                        </a:p>
                      </a:txBody>
                      <a:tcPr>
                        <a:blipFill>
                          <a:blip r:embed="rId9"/>
                          <a:stretch>
                            <a:fillRect l="-352778" t="-200917" r="-463" b="-11009"/>
                          </a:stretch>
                        </a:blipFill>
                      </a:tcPr>
                    </a:tc>
                    <a:extLst>
                      <a:ext uri="{0D108BD9-81ED-4DB2-BD59-A6C34878D82A}">
                        <a16:rowId xmlns:a16="http://schemas.microsoft.com/office/drawing/2014/main" val="1327120116"/>
                      </a:ext>
                    </a:extLst>
                  </a:tr>
                </a:tbl>
              </a:graphicData>
            </a:graphic>
          </p:graphicFrame>
        </mc:Fallback>
      </mc:AlternateContent>
      <p:sp>
        <p:nvSpPr>
          <p:cNvPr id="35" name="文字方塊 34">
            <a:extLst>
              <a:ext uri="{FF2B5EF4-FFF2-40B4-BE49-F238E27FC236}">
                <a16:creationId xmlns:a16="http://schemas.microsoft.com/office/drawing/2014/main" id="{92E6675A-32D5-438E-ABBA-19CCC6EFA221}"/>
              </a:ext>
            </a:extLst>
          </p:cNvPr>
          <p:cNvSpPr txBox="1"/>
          <p:nvPr/>
        </p:nvSpPr>
        <p:spPr>
          <a:xfrm>
            <a:off x="-33943" y="6359094"/>
            <a:ext cx="2675466" cy="369332"/>
          </a:xfrm>
          <a:prstGeom prst="rect">
            <a:avLst/>
          </a:prstGeom>
          <a:noFill/>
        </p:spPr>
        <p:txBody>
          <a:bodyPr wrap="square" rtlCol="0">
            <a:spAutoFit/>
          </a:bodyPr>
          <a:lstStyle/>
          <a:p>
            <a:pPr marL="285750" indent="-285750">
              <a:buFont typeface="Wingdings" panose="05000000000000000000" pitchFamily="2" charset="2"/>
              <a:buChar char="u"/>
            </a:pPr>
            <a:r>
              <a:rPr lang="en-US" altLang="zh-TW" dirty="0"/>
              <a:t>Resolution:2.8uT</a:t>
            </a:r>
            <a:endParaRPr lang="zh-TW" altLang="en-US" dirty="0"/>
          </a:p>
        </p:txBody>
      </p:sp>
      <p:grpSp>
        <p:nvGrpSpPr>
          <p:cNvPr id="11" name="群組 10">
            <a:extLst>
              <a:ext uri="{FF2B5EF4-FFF2-40B4-BE49-F238E27FC236}">
                <a16:creationId xmlns:a16="http://schemas.microsoft.com/office/drawing/2014/main" id="{B995D707-0133-4F2B-93CE-19E6CD9EB345}"/>
              </a:ext>
            </a:extLst>
          </p:cNvPr>
          <p:cNvGrpSpPr/>
          <p:nvPr/>
        </p:nvGrpSpPr>
        <p:grpSpPr>
          <a:xfrm>
            <a:off x="1331991" y="1247855"/>
            <a:ext cx="2991527" cy="2807881"/>
            <a:chOff x="1398068" y="1432522"/>
            <a:chExt cx="2852199" cy="2623214"/>
          </a:xfrm>
        </p:grpSpPr>
        <p:pic>
          <p:nvPicPr>
            <p:cNvPr id="6" name="圖片 5">
              <a:extLst>
                <a:ext uri="{FF2B5EF4-FFF2-40B4-BE49-F238E27FC236}">
                  <a16:creationId xmlns:a16="http://schemas.microsoft.com/office/drawing/2014/main" id="{7F0FED8C-D868-42BF-ABF3-E0861096F068}"/>
                </a:ext>
              </a:extLst>
            </p:cNvPr>
            <p:cNvPicPr>
              <a:picLocks noChangeAspect="1"/>
            </p:cNvPicPr>
            <p:nvPr/>
          </p:nvPicPr>
          <p:blipFill rotWithShape="1">
            <a:blip r:embed="rId10">
              <a:extLst>
                <a:ext uri="{28A0092B-C50C-407E-A947-70E740481C1C}">
                  <a14:useLocalDpi xmlns:a14="http://schemas.microsoft.com/office/drawing/2010/main" val="0"/>
                </a:ext>
              </a:extLst>
            </a:blip>
            <a:srcRect l="6763" b="4458"/>
            <a:stretch/>
          </p:blipFill>
          <p:spPr>
            <a:xfrm>
              <a:off x="1693333" y="1432522"/>
              <a:ext cx="2556934" cy="2394412"/>
            </a:xfrm>
            <a:prstGeom prst="rect">
              <a:avLst/>
            </a:prstGeom>
          </p:spPr>
        </p:pic>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B400B834-5C8A-47B9-BD8D-7FF96AE4D0B5}"/>
                    </a:ext>
                  </a:extLst>
                </p:cNvPr>
                <p:cNvSpPr txBox="1"/>
                <p:nvPr/>
              </p:nvSpPr>
              <p:spPr>
                <a:xfrm>
                  <a:off x="2057447" y="3778737"/>
                  <a:ext cx="1828706" cy="276999"/>
                </a:xfrm>
                <a:prstGeom prst="rect">
                  <a:avLst/>
                </a:prstGeom>
                <a:noFill/>
              </p:spPr>
              <p:txBody>
                <a:bodyPr wrap="none" lIns="0" tIns="0" rIns="0" bIns="0" rtlCol="0">
                  <a:spAutoFit/>
                </a:bodyPr>
                <a:lstStyle/>
                <a:p>
                  <a:r>
                    <a:rPr lang="zh-TW" altLang="en-US" dirty="0">
                      <a:latin typeface="Times New Roman" panose="02020603050405020304" pitchFamily="18" charset="0"/>
                      <a:cs typeface="Times New Roman" panose="02020603050405020304" pitchFamily="18" charset="0"/>
                    </a:rPr>
                    <a:t> </a:t>
                  </a:r>
                  <a:r>
                    <a:rPr lang="en-US" altLang="zh-TW" sz="1600" dirty="0">
                      <a:latin typeface="Times New Roman" panose="02020603050405020304" pitchFamily="18" charset="0"/>
                      <a:cs typeface="Times New Roman" panose="02020603050405020304" pitchFamily="18" charset="0"/>
                    </a:rPr>
                    <a:t>Modeling error</a:t>
                  </a:r>
                  <a:r>
                    <a:rPr lang="zh-TW" altLang="en-US" sz="1600" dirty="0">
                      <a:latin typeface="Times New Roman" panose="02020603050405020304" pitchFamily="18" charset="0"/>
                      <a:cs typeface="Times New Roman" panose="02020603050405020304" pitchFamily="18" charset="0"/>
                    </a:rPr>
                    <a:t> </a:t>
                  </a:r>
                  <a14:m>
                    <m:oMath xmlns:m="http://schemas.openxmlformats.org/officeDocument/2006/math">
                      <m:r>
                        <a:rPr lang="en-US" altLang="zh-TW" sz="1600" b="0" i="1" smtClean="0">
                          <a:latin typeface="Cambria Math" panose="02040503050406030204" pitchFamily="18" charset="0"/>
                        </a:rPr>
                        <m:t>(</m:t>
                      </m:r>
                      <m:r>
                        <a:rPr lang="en-US" altLang="zh-TW" sz="1600" b="0" i="1" smtClean="0">
                          <a:latin typeface="Cambria Math" panose="02040503050406030204" pitchFamily="18" charset="0"/>
                        </a:rPr>
                        <m:t>𝑚𝑇</m:t>
                      </m:r>
                      <m:r>
                        <a:rPr lang="en-US" altLang="zh-TW" sz="1600" b="0" i="1" smtClean="0">
                          <a:latin typeface="Cambria Math" panose="02040503050406030204" pitchFamily="18" charset="0"/>
                        </a:rPr>
                        <m:t>)</m:t>
                      </m:r>
                    </m:oMath>
                  </a14:m>
                  <a:endParaRPr lang="zh-TW" altLang="en-US" dirty="0"/>
                </a:p>
              </p:txBody>
            </p:sp>
          </mc:Choice>
          <mc:Fallback xmlns="">
            <p:sp>
              <p:nvSpPr>
                <p:cNvPr id="29" name="文字方塊 28">
                  <a:extLst>
                    <a:ext uri="{FF2B5EF4-FFF2-40B4-BE49-F238E27FC236}">
                      <a16:creationId xmlns:a16="http://schemas.microsoft.com/office/drawing/2014/main" id="{B400B834-5C8A-47B9-BD8D-7FF96AE4D0B5}"/>
                    </a:ext>
                  </a:extLst>
                </p:cNvPr>
                <p:cNvSpPr txBox="1">
                  <a:spLocks noRot="1" noChangeAspect="1" noMove="1" noResize="1" noEditPoints="1" noAdjustHandles="1" noChangeArrowheads="1" noChangeShapeType="1" noTextEdit="1"/>
                </p:cNvSpPr>
                <p:nvPr/>
              </p:nvSpPr>
              <p:spPr>
                <a:xfrm>
                  <a:off x="2057447" y="3778737"/>
                  <a:ext cx="1828706" cy="276999"/>
                </a:xfrm>
                <a:prstGeom prst="rect">
                  <a:avLst/>
                </a:prstGeom>
                <a:blipFill>
                  <a:blip r:embed="rId11"/>
                  <a:stretch>
                    <a:fillRect l="-4013" t="-15556" r="-4348" b="-4222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0" name="文字方塊 29">
                  <a:extLst>
                    <a:ext uri="{FF2B5EF4-FFF2-40B4-BE49-F238E27FC236}">
                      <a16:creationId xmlns:a16="http://schemas.microsoft.com/office/drawing/2014/main" id="{D9A17FF5-9CA8-4805-ADBD-BF6BE9073CF3}"/>
                    </a:ext>
                  </a:extLst>
                </p:cNvPr>
                <p:cNvSpPr txBox="1"/>
                <p:nvPr/>
              </p:nvSpPr>
              <p:spPr>
                <a:xfrm rot="16200000">
                  <a:off x="603620" y="2346366"/>
                  <a:ext cx="1865895" cy="276999"/>
                </a:xfrm>
                <a:prstGeom prst="rect">
                  <a:avLst/>
                </a:prstGeom>
                <a:noFill/>
              </p:spPr>
              <p:txBody>
                <a:bodyPr wrap="none" lIns="0" tIns="0" rIns="0" bIns="0" rtlCol="0">
                  <a:spAutoFit/>
                </a:bodyPr>
                <a:lstStyle/>
                <a:p>
                  <a:r>
                    <a:rPr lang="zh-TW" altLang="en-US" dirty="0">
                      <a:latin typeface="Times New Roman" panose="02020603050405020304" pitchFamily="18" charset="0"/>
                      <a:cs typeface="Times New Roman" panose="02020603050405020304" pitchFamily="18" charset="0"/>
                    </a:rPr>
                    <a:t> </a:t>
                  </a:r>
                  <a:r>
                    <a:rPr lang="en-US" altLang="zh-TW" sz="1600" dirty="0">
                      <a:latin typeface="Times New Roman" panose="02020603050405020304" pitchFamily="18" charset="0"/>
                      <a:cs typeface="Times New Roman" panose="02020603050405020304" pitchFamily="18" charset="0"/>
                    </a:rPr>
                    <a:t>Percentage count</a:t>
                  </a:r>
                  <a14:m>
                    <m:oMath xmlns:m="http://schemas.openxmlformats.org/officeDocument/2006/math">
                      <m:r>
                        <a:rPr lang="en-US" altLang="zh-TW" sz="1600">
                          <a:latin typeface="Cambria Math" panose="02040503050406030204" pitchFamily="18" charset="0"/>
                        </a:rPr>
                        <m:t> </m:t>
                      </m:r>
                      <m:r>
                        <a:rPr lang="en-US" altLang="zh-TW" sz="1600" b="0" i="1" smtClean="0">
                          <a:latin typeface="Cambria Math" panose="02040503050406030204" pitchFamily="18" charset="0"/>
                        </a:rPr>
                        <m:t>(%)</m:t>
                      </m:r>
                    </m:oMath>
                  </a14:m>
                  <a:endParaRPr lang="zh-TW" altLang="en-US" dirty="0"/>
                </a:p>
              </p:txBody>
            </p:sp>
          </mc:Choice>
          <mc:Fallback xmlns="">
            <p:sp>
              <p:nvSpPr>
                <p:cNvPr id="30" name="文字方塊 29">
                  <a:extLst>
                    <a:ext uri="{FF2B5EF4-FFF2-40B4-BE49-F238E27FC236}">
                      <a16:creationId xmlns:a16="http://schemas.microsoft.com/office/drawing/2014/main" id="{D9A17FF5-9CA8-4805-ADBD-BF6BE9073CF3}"/>
                    </a:ext>
                  </a:extLst>
                </p:cNvPr>
                <p:cNvSpPr txBox="1">
                  <a:spLocks noRot="1" noChangeAspect="1" noMove="1" noResize="1" noEditPoints="1" noAdjustHandles="1" noChangeArrowheads="1" noChangeShapeType="1" noTextEdit="1"/>
                </p:cNvSpPr>
                <p:nvPr/>
              </p:nvSpPr>
              <p:spPr>
                <a:xfrm rot="16200000">
                  <a:off x="603620" y="2346366"/>
                  <a:ext cx="1865895" cy="276999"/>
                </a:xfrm>
                <a:prstGeom prst="rect">
                  <a:avLst/>
                </a:prstGeom>
                <a:blipFill>
                  <a:blip r:embed="rId12"/>
                  <a:stretch>
                    <a:fillRect l="-14894" r="-36170" b="-3670"/>
                  </a:stretch>
                </a:blipFill>
              </p:spPr>
              <p:txBody>
                <a:bodyPr/>
                <a:lstStyle/>
                <a:p>
                  <a:r>
                    <a:rPr lang="zh-TW" altLang="en-US">
                      <a:noFill/>
                    </a:rPr>
                    <a:t> </a:t>
                  </a:r>
                </a:p>
              </p:txBody>
            </p:sp>
          </mc:Fallback>
        </mc:AlternateContent>
      </p:grpSp>
      <p:grpSp>
        <p:nvGrpSpPr>
          <p:cNvPr id="12" name="群組 11">
            <a:extLst>
              <a:ext uri="{FF2B5EF4-FFF2-40B4-BE49-F238E27FC236}">
                <a16:creationId xmlns:a16="http://schemas.microsoft.com/office/drawing/2014/main" id="{3EA4E118-74D6-4E85-8372-D5D25A79ACAC}"/>
              </a:ext>
            </a:extLst>
          </p:cNvPr>
          <p:cNvGrpSpPr/>
          <p:nvPr/>
        </p:nvGrpSpPr>
        <p:grpSpPr>
          <a:xfrm>
            <a:off x="6681450" y="1247855"/>
            <a:ext cx="3248797" cy="2914096"/>
            <a:chOff x="6657201" y="1243647"/>
            <a:chExt cx="3248797" cy="2914096"/>
          </a:xfrm>
        </p:grpSpPr>
        <p:pic>
          <p:nvPicPr>
            <p:cNvPr id="9" name="圖片 8">
              <a:extLst>
                <a:ext uri="{FF2B5EF4-FFF2-40B4-BE49-F238E27FC236}">
                  <a16:creationId xmlns:a16="http://schemas.microsoft.com/office/drawing/2014/main" id="{BA87D416-2704-4CAC-87B7-E81CC5A00DA9}"/>
                </a:ext>
              </a:extLst>
            </p:cNvPr>
            <p:cNvPicPr>
              <a:picLocks noChangeAspect="1"/>
            </p:cNvPicPr>
            <p:nvPr/>
          </p:nvPicPr>
          <p:blipFill rotWithShape="1">
            <a:blip r:embed="rId13">
              <a:extLst>
                <a:ext uri="{28A0092B-C50C-407E-A947-70E740481C1C}">
                  <a14:useLocalDpi xmlns:a14="http://schemas.microsoft.com/office/drawing/2010/main" val="0"/>
                </a:ext>
              </a:extLst>
            </a:blip>
            <a:srcRect l="4359" b="4059"/>
            <a:stretch/>
          </p:blipFill>
          <p:spPr>
            <a:xfrm>
              <a:off x="6934200" y="1243647"/>
              <a:ext cx="2971798" cy="2710695"/>
            </a:xfrm>
            <a:prstGeom prst="rect">
              <a:avLst/>
            </a:prstGeom>
          </p:spPr>
        </p:pic>
        <mc:AlternateContent xmlns:mc="http://schemas.openxmlformats.org/markup-compatibility/2006" xmlns:a14="http://schemas.microsoft.com/office/drawing/2010/main">
          <mc:Choice Requires="a14">
            <p:sp>
              <p:nvSpPr>
                <p:cNvPr id="34" name="文字方塊 33">
                  <a:extLst>
                    <a:ext uri="{FF2B5EF4-FFF2-40B4-BE49-F238E27FC236}">
                      <a16:creationId xmlns:a16="http://schemas.microsoft.com/office/drawing/2014/main" id="{F3E790CE-0B28-4606-829D-70BC3220D8B4}"/>
                    </a:ext>
                  </a:extLst>
                </p:cNvPr>
                <p:cNvSpPr txBox="1"/>
                <p:nvPr/>
              </p:nvSpPr>
              <p:spPr>
                <a:xfrm>
                  <a:off x="7560733" y="3880744"/>
                  <a:ext cx="1828706" cy="276999"/>
                </a:xfrm>
                <a:prstGeom prst="rect">
                  <a:avLst/>
                </a:prstGeom>
                <a:noFill/>
              </p:spPr>
              <p:txBody>
                <a:bodyPr wrap="none" lIns="0" tIns="0" rIns="0" bIns="0" rtlCol="0">
                  <a:spAutoFit/>
                </a:bodyPr>
                <a:lstStyle/>
                <a:p>
                  <a:r>
                    <a:rPr lang="zh-TW" altLang="en-US" dirty="0">
                      <a:latin typeface="Times New Roman" panose="02020603050405020304" pitchFamily="18" charset="0"/>
                      <a:cs typeface="Times New Roman" panose="02020603050405020304" pitchFamily="18" charset="0"/>
                    </a:rPr>
                    <a:t> </a:t>
                  </a:r>
                  <a:r>
                    <a:rPr lang="en-US" altLang="zh-TW" sz="1600" dirty="0">
                      <a:latin typeface="Times New Roman" panose="02020603050405020304" pitchFamily="18" charset="0"/>
                      <a:cs typeface="Times New Roman" panose="02020603050405020304" pitchFamily="18" charset="0"/>
                    </a:rPr>
                    <a:t>Modeling error</a:t>
                  </a:r>
                  <a:r>
                    <a:rPr lang="zh-TW" altLang="en-US" sz="1600" dirty="0">
                      <a:latin typeface="Times New Roman" panose="02020603050405020304" pitchFamily="18" charset="0"/>
                      <a:cs typeface="Times New Roman" panose="02020603050405020304" pitchFamily="18" charset="0"/>
                    </a:rPr>
                    <a:t> </a:t>
                  </a:r>
                  <a14:m>
                    <m:oMath xmlns:m="http://schemas.openxmlformats.org/officeDocument/2006/math">
                      <m:r>
                        <a:rPr lang="en-US" altLang="zh-TW" sz="1600" b="0" i="1" smtClean="0">
                          <a:latin typeface="Cambria Math" panose="02040503050406030204" pitchFamily="18" charset="0"/>
                        </a:rPr>
                        <m:t>(</m:t>
                      </m:r>
                      <m:r>
                        <a:rPr lang="en-US" altLang="zh-TW" sz="1600" b="0" i="1" smtClean="0">
                          <a:latin typeface="Cambria Math" panose="02040503050406030204" pitchFamily="18" charset="0"/>
                        </a:rPr>
                        <m:t>𝑚𝑇</m:t>
                      </m:r>
                      <m:r>
                        <a:rPr lang="en-US" altLang="zh-TW" sz="1600" b="0" i="1" smtClean="0">
                          <a:latin typeface="Cambria Math" panose="02040503050406030204" pitchFamily="18" charset="0"/>
                        </a:rPr>
                        <m:t>)</m:t>
                      </m:r>
                    </m:oMath>
                  </a14:m>
                  <a:endParaRPr lang="zh-TW" altLang="en-US" dirty="0"/>
                </a:p>
              </p:txBody>
            </p:sp>
          </mc:Choice>
          <mc:Fallback xmlns="">
            <p:sp>
              <p:nvSpPr>
                <p:cNvPr id="34" name="文字方塊 33">
                  <a:extLst>
                    <a:ext uri="{FF2B5EF4-FFF2-40B4-BE49-F238E27FC236}">
                      <a16:creationId xmlns:a16="http://schemas.microsoft.com/office/drawing/2014/main" id="{F3E790CE-0B28-4606-829D-70BC3220D8B4}"/>
                    </a:ext>
                  </a:extLst>
                </p:cNvPr>
                <p:cNvSpPr txBox="1">
                  <a:spLocks noRot="1" noChangeAspect="1" noMove="1" noResize="1" noEditPoints="1" noAdjustHandles="1" noChangeArrowheads="1" noChangeShapeType="1" noTextEdit="1"/>
                </p:cNvSpPr>
                <p:nvPr/>
              </p:nvSpPr>
              <p:spPr>
                <a:xfrm>
                  <a:off x="7560733" y="3880744"/>
                  <a:ext cx="1828706" cy="276999"/>
                </a:xfrm>
                <a:prstGeom prst="rect">
                  <a:avLst/>
                </a:prstGeom>
                <a:blipFill>
                  <a:blip r:embed="rId14"/>
                  <a:stretch>
                    <a:fillRect l="-3667" t="-13043" r="-4333" b="-4130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7" name="文字方塊 36">
                  <a:extLst>
                    <a:ext uri="{FF2B5EF4-FFF2-40B4-BE49-F238E27FC236}">
                      <a16:creationId xmlns:a16="http://schemas.microsoft.com/office/drawing/2014/main" id="{EA59072A-2C19-4D72-8EE2-E80BE33295FD}"/>
                    </a:ext>
                  </a:extLst>
                </p:cNvPr>
                <p:cNvSpPr txBox="1"/>
                <p:nvPr/>
              </p:nvSpPr>
              <p:spPr>
                <a:xfrm rot="16200000">
                  <a:off x="5862753" y="2418776"/>
                  <a:ext cx="1865895" cy="276999"/>
                </a:xfrm>
                <a:prstGeom prst="rect">
                  <a:avLst/>
                </a:prstGeom>
                <a:noFill/>
              </p:spPr>
              <p:txBody>
                <a:bodyPr wrap="none" lIns="0" tIns="0" rIns="0" bIns="0" rtlCol="0">
                  <a:spAutoFit/>
                </a:bodyPr>
                <a:lstStyle/>
                <a:p>
                  <a:r>
                    <a:rPr lang="zh-TW" altLang="en-US" dirty="0">
                      <a:latin typeface="Times New Roman" panose="02020603050405020304" pitchFamily="18" charset="0"/>
                      <a:cs typeface="Times New Roman" panose="02020603050405020304" pitchFamily="18" charset="0"/>
                    </a:rPr>
                    <a:t> </a:t>
                  </a:r>
                  <a:r>
                    <a:rPr lang="en-US" altLang="zh-TW" sz="1600" dirty="0">
                      <a:latin typeface="Times New Roman" panose="02020603050405020304" pitchFamily="18" charset="0"/>
                      <a:cs typeface="Times New Roman" panose="02020603050405020304" pitchFamily="18" charset="0"/>
                    </a:rPr>
                    <a:t>Percentage count</a:t>
                  </a:r>
                  <a14:m>
                    <m:oMath xmlns:m="http://schemas.openxmlformats.org/officeDocument/2006/math">
                      <m:r>
                        <a:rPr lang="en-US" altLang="zh-TW" sz="1600">
                          <a:latin typeface="Cambria Math" panose="02040503050406030204" pitchFamily="18" charset="0"/>
                        </a:rPr>
                        <m:t> </m:t>
                      </m:r>
                      <m:r>
                        <a:rPr lang="en-US" altLang="zh-TW" sz="1600" b="0" i="1" smtClean="0">
                          <a:latin typeface="Cambria Math" panose="02040503050406030204" pitchFamily="18" charset="0"/>
                        </a:rPr>
                        <m:t>(%)</m:t>
                      </m:r>
                    </m:oMath>
                  </a14:m>
                  <a:endParaRPr lang="zh-TW" altLang="en-US" dirty="0"/>
                </a:p>
              </p:txBody>
            </p:sp>
          </mc:Choice>
          <mc:Fallback xmlns="">
            <p:sp>
              <p:nvSpPr>
                <p:cNvPr id="37" name="文字方塊 36">
                  <a:extLst>
                    <a:ext uri="{FF2B5EF4-FFF2-40B4-BE49-F238E27FC236}">
                      <a16:creationId xmlns:a16="http://schemas.microsoft.com/office/drawing/2014/main" id="{EA59072A-2C19-4D72-8EE2-E80BE33295FD}"/>
                    </a:ext>
                  </a:extLst>
                </p:cNvPr>
                <p:cNvSpPr txBox="1">
                  <a:spLocks noRot="1" noChangeAspect="1" noMove="1" noResize="1" noEditPoints="1" noAdjustHandles="1" noChangeArrowheads="1" noChangeShapeType="1" noTextEdit="1"/>
                </p:cNvSpPr>
                <p:nvPr/>
              </p:nvSpPr>
              <p:spPr>
                <a:xfrm rot="16200000">
                  <a:off x="5862753" y="2418776"/>
                  <a:ext cx="1865895" cy="276999"/>
                </a:xfrm>
                <a:prstGeom prst="rect">
                  <a:avLst/>
                </a:prstGeom>
                <a:blipFill>
                  <a:blip r:embed="rId15"/>
                  <a:stretch>
                    <a:fillRect l="-13333" t="-2941" r="-44444" b="-3922"/>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30565722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19" name="文字方塊 18">
            <a:extLst>
              <a:ext uri="{FF2B5EF4-FFF2-40B4-BE49-F238E27FC236}">
                <a16:creationId xmlns:a16="http://schemas.microsoft.com/office/drawing/2014/main" id="{7AEE1245-C1D7-468D-B66E-D359C98E02EC}"/>
              </a:ext>
            </a:extLst>
          </p:cNvPr>
          <p:cNvSpPr txBox="1"/>
          <p:nvPr/>
        </p:nvSpPr>
        <p:spPr>
          <a:xfrm>
            <a:off x="6885600" y="840717"/>
            <a:ext cx="5384798" cy="4801314"/>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These two figures compare the calibrated magnetic charge locations of the two models in side views of poles P2 (left, upper pole) and P1 (right, lower pole); the navy dots are the one-parameter charges and the pink dots the eighteen-parameter charges. For the lower pole, the one-parameter charge lies outside the pole, because the one-parameter model constrains the magnetic charges to lie along the actuator coordinate axes. The eighteen-parameter model moves this charge inside the pole, which is more consistent with the expected physical situation, while for the upper pole the two charges almost coincide. Moreover, the error histograms shown above also indicate that these magnetic charge locations are more consistent with the theoretical positions.</a:t>
            </a:r>
            <a:endParaRPr lang="zh-TW" altLang="en-US" dirty="0"/>
          </a:p>
        </p:txBody>
      </p:sp>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89A87B67-4717-4362-98CB-9141ED7DCE5C}"/>
                  </a:ext>
                </a:extLst>
              </p:cNvPr>
              <p:cNvSpPr txBox="1"/>
              <p:nvPr/>
            </p:nvSpPr>
            <p:spPr>
              <a:xfrm>
                <a:off x="8217453" y="423838"/>
                <a:ext cx="3564053"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29" name="文字方塊 28">
                <a:extLst>
                  <a:ext uri="{FF2B5EF4-FFF2-40B4-BE49-F238E27FC236}">
                    <a16:creationId xmlns:a16="http://schemas.microsoft.com/office/drawing/2014/main" id="{89A87B67-4717-4362-98CB-9141ED7DCE5C}"/>
                  </a:ext>
                </a:extLst>
              </p:cNvPr>
              <p:cNvSpPr txBox="1">
                <a:spLocks noRot="1" noChangeAspect="1" noMove="1" noResize="1" noEditPoints="1" noAdjustHandles="1" noChangeArrowheads="1" noChangeShapeType="1" noTextEdit="1"/>
              </p:cNvSpPr>
              <p:nvPr/>
            </p:nvSpPr>
            <p:spPr>
              <a:xfrm>
                <a:off x="8217453" y="423838"/>
                <a:ext cx="3564053" cy="321563"/>
              </a:xfrm>
              <a:prstGeom prst="rect">
                <a:avLst/>
              </a:prstGeom>
              <a:blipFill>
                <a:blip r:embed="rId2"/>
                <a:stretch>
                  <a:fillRect l="-1197" t="-15385" r="-5299" b="-25000"/>
                </a:stretch>
              </a:blipFill>
            </p:spPr>
            <p:txBody>
              <a:bodyPr/>
              <a:lstStyle/>
              <a:p>
                <a:r>
                  <a:rPr lang="zh-TW" altLang="en-US">
                    <a:noFill/>
                  </a:rPr>
                  <a:t> </a:t>
                </a:r>
              </a:p>
            </p:txBody>
          </p:sp>
        </mc:Fallback>
      </mc:AlternateContent>
      <p:grpSp>
        <p:nvGrpSpPr>
          <p:cNvPr id="6" name="群組 5">
            <a:extLst>
              <a:ext uri="{FF2B5EF4-FFF2-40B4-BE49-F238E27FC236}">
                <a16:creationId xmlns:a16="http://schemas.microsoft.com/office/drawing/2014/main" id="{C89A0346-8189-4276-A7F0-0B064B6352FC}"/>
              </a:ext>
            </a:extLst>
          </p:cNvPr>
          <p:cNvGrpSpPr/>
          <p:nvPr/>
        </p:nvGrpSpPr>
        <p:grpSpPr>
          <a:xfrm>
            <a:off x="67661" y="1215969"/>
            <a:ext cx="6937032" cy="3354715"/>
            <a:chOff x="101527" y="1144012"/>
            <a:chExt cx="6937032" cy="3354715"/>
          </a:xfrm>
        </p:grpSpPr>
        <p:pic>
          <p:nvPicPr>
            <p:cNvPr id="5" name="圖片 4">
              <a:extLst>
                <a:ext uri="{FF2B5EF4-FFF2-40B4-BE49-F238E27FC236}">
                  <a16:creationId xmlns:a16="http://schemas.microsoft.com/office/drawing/2014/main" id="{A95DCD7E-C4E0-481E-BB54-103FC96112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235" y="1144012"/>
              <a:ext cx="6503365" cy="3004655"/>
            </a:xfrm>
            <a:prstGeom prst="rect">
              <a:avLst/>
            </a:prstGeom>
          </p:spPr>
        </p:pic>
        <p:grpSp>
          <p:nvGrpSpPr>
            <p:cNvPr id="32" name="群組 31">
              <a:extLst>
                <a:ext uri="{FF2B5EF4-FFF2-40B4-BE49-F238E27FC236}">
                  <a16:creationId xmlns:a16="http://schemas.microsoft.com/office/drawing/2014/main" id="{00AAE3B7-7BF1-4B56-BAE2-3D620CD83099}"/>
                </a:ext>
              </a:extLst>
            </p:cNvPr>
            <p:cNvGrpSpPr/>
            <p:nvPr/>
          </p:nvGrpSpPr>
          <p:grpSpPr>
            <a:xfrm>
              <a:off x="101527" y="1345441"/>
              <a:ext cx="6937032" cy="3153286"/>
              <a:chOff x="1625800" y="1853204"/>
              <a:chExt cx="9002701" cy="3165128"/>
            </a:xfrm>
          </p:grpSpPr>
          <mc:AlternateContent xmlns:mc="http://schemas.openxmlformats.org/markup-compatibility/2006" xmlns:a14="http://schemas.microsoft.com/office/drawing/2010/main">
            <mc:Choice Requires="a14">
              <p:sp>
                <p:nvSpPr>
                  <p:cNvPr id="33" name="文字方塊 32">
                    <a:extLst>
                      <a:ext uri="{FF2B5EF4-FFF2-40B4-BE49-F238E27FC236}">
                        <a16:creationId xmlns:a16="http://schemas.microsoft.com/office/drawing/2014/main" id="{2518E20F-8820-4061-B1C1-9B2B8E6A835C}"/>
                      </a:ext>
                    </a:extLst>
                  </p:cNvPr>
                  <p:cNvSpPr txBox="1"/>
                  <p:nvPr/>
                </p:nvSpPr>
                <p:spPr>
                  <a:xfrm rot="16200000">
                    <a:off x="1059395" y="2788942"/>
                    <a:ext cx="1409810" cy="277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33" name="文字方塊 32">
                    <a:extLst>
                      <a:ext uri="{FF2B5EF4-FFF2-40B4-BE49-F238E27FC236}">
                        <a16:creationId xmlns:a16="http://schemas.microsoft.com/office/drawing/2014/main" id="{2518E20F-8820-4061-B1C1-9B2B8E6A835C}"/>
                      </a:ext>
                    </a:extLst>
                  </p:cNvPr>
                  <p:cNvSpPr txBox="1">
                    <a:spLocks noRot="1" noChangeAspect="1" noMove="1" noResize="1" noEditPoints="1" noAdjustHandles="1" noChangeArrowheads="1" noChangeShapeType="1" noTextEdit="1"/>
                  </p:cNvSpPr>
                  <p:nvPr/>
                </p:nvSpPr>
                <p:spPr>
                  <a:xfrm rot="16200000">
                    <a:off x="1059395" y="2788942"/>
                    <a:ext cx="1409810" cy="277000"/>
                  </a:xfrm>
                  <a:prstGeom prst="rect">
                    <a:avLst/>
                  </a:prstGeom>
                  <a:blipFill>
                    <a:blip r:embed="rId4"/>
                    <a:stretch>
                      <a:fillRect t="-6522" r="-77143" b="-260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4" name="文字方塊 33">
                    <a:extLst>
                      <a:ext uri="{FF2B5EF4-FFF2-40B4-BE49-F238E27FC236}">
                        <a16:creationId xmlns:a16="http://schemas.microsoft.com/office/drawing/2014/main" id="{C76A7CE7-457D-4FFE-A3B1-39E0A8845413}"/>
                      </a:ext>
                    </a:extLst>
                  </p:cNvPr>
                  <p:cNvSpPr txBox="1"/>
                  <p:nvPr/>
                </p:nvSpPr>
                <p:spPr>
                  <a:xfrm>
                    <a:off x="3287298" y="4741333"/>
                    <a:ext cx="143603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34" name="文字方塊 33">
                    <a:extLst>
                      <a:ext uri="{FF2B5EF4-FFF2-40B4-BE49-F238E27FC236}">
                        <a16:creationId xmlns:a16="http://schemas.microsoft.com/office/drawing/2014/main" id="{C76A7CE7-457D-4FFE-A3B1-39E0A8845413}"/>
                      </a:ext>
                    </a:extLst>
                  </p:cNvPr>
                  <p:cNvSpPr txBox="1">
                    <a:spLocks noRot="1" noChangeAspect="1" noMove="1" noResize="1" noEditPoints="1" noAdjustHandles="1" noChangeArrowheads="1" noChangeShapeType="1" noTextEdit="1"/>
                  </p:cNvSpPr>
                  <p:nvPr/>
                </p:nvSpPr>
                <p:spPr>
                  <a:xfrm>
                    <a:off x="3287298" y="4741333"/>
                    <a:ext cx="1436034" cy="276999"/>
                  </a:xfrm>
                  <a:prstGeom prst="rect">
                    <a:avLst/>
                  </a:prstGeom>
                  <a:blipFill>
                    <a:blip r:embed="rId5"/>
                    <a:stretch>
                      <a:fillRect l="-5495" t="-2222" r="-33516"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5" name="文字方塊 34">
                    <a:extLst>
                      <a:ext uri="{FF2B5EF4-FFF2-40B4-BE49-F238E27FC236}">
                        <a16:creationId xmlns:a16="http://schemas.microsoft.com/office/drawing/2014/main" id="{A2AF3DB8-6AEF-4EDC-934E-65275A38ABCE}"/>
                      </a:ext>
                    </a:extLst>
                  </p:cNvPr>
                  <p:cNvSpPr txBox="1"/>
                  <p:nvPr/>
                </p:nvSpPr>
                <p:spPr>
                  <a:xfrm>
                    <a:off x="7265875" y="4741333"/>
                    <a:ext cx="143603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35" name="文字方塊 34">
                    <a:extLst>
                      <a:ext uri="{FF2B5EF4-FFF2-40B4-BE49-F238E27FC236}">
                        <a16:creationId xmlns:a16="http://schemas.microsoft.com/office/drawing/2014/main" id="{A2AF3DB8-6AEF-4EDC-934E-65275A38ABCE}"/>
                      </a:ext>
                    </a:extLst>
                  </p:cNvPr>
                  <p:cNvSpPr txBox="1">
                    <a:spLocks noRot="1" noChangeAspect="1" noMove="1" noResize="1" noEditPoints="1" noAdjustHandles="1" noChangeArrowheads="1" noChangeShapeType="1" noTextEdit="1"/>
                  </p:cNvSpPr>
                  <p:nvPr/>
                </p:nvSpPr>
                <p:spPr>
                  <a:xfrm>
                    <a:off x="7265875" y="4741333"/>
                    <a:ext cx="1436034" cy="276999"/>
                  </a:xfrm>
                  <a:prstGeom prst="rect">
                    <a:avLst/>
                  </a:prstGeom>
                  <a:blipFill>
                    <a:blip r:embed="rId6"/>
                    <a:stretch>
                      <a:fillRect l="-5495" t="-2222" r="-33516"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6" name="文字方塊 35">
                    <a:extLst>
                      <a:ext uri="{FF2B5EF4-FFF2-40B4-BE49-F238E27FC236}">
                        <a16:creationId xmlns:a16="http://schemas.microsoft.com/office/drawing/2014/main" id="{B76B494B-9CE2-48D5-ABD5-138500987A43}"/>
                      </a:ext>
                    </a:extLst>
                  </p:cNvPr>
                  <p:cNvSpPr txBox="1"/>
                  <p:nvPr/>
                </p:nvSpPr>
                <p:spPr>
                  <a:xfrm>
                    <a:off x="2739450" y="2974322"/>
                    <a:ext cx="51610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b="1" i="1" smtClean="0">
                                  <a:latin typeface="Cambria Math" panose="02040503050406030204" pitchFamily="18" charset="0"/>
                                </a:rPr>
                              </m:ctrlPr>
                            </m:sSubPr>
                            <m:e>
                              <m:r>
                                <a:rPr lang="en-US" altLang="zh-TW" sz="2400" b="1" i="1" smtClean="0">
                                  <a:latin typeface="Cambria Math" panose="02040503050406030204" pitchFamily="18" charset="0"/>
                                </a:rPr>
                                <m:t>𝒒</m:t>
                              </m:r>
                            </m:e>
                            <m:sub>
                              <m:r>
                                <a:rPr lang="en-US" altLang="zh-TW" sz="2400" b="1" i="1" smtClean="0">
                                  <a:latin typeface="Cambria Math" panose="02040503050406030204" pitchFamily="18" charset="0"/>
                                </a:rPr>
                                <m:t>𝒄</m:t>
                              </m:r>
                              <m:r>
                                <a:rPr lang="en-US" altLang="zh-TW" sz="2400" b="1" i="1" smtClean="0">
                                  <a:latin typeface="Cambria Math" panose="02040503050406030204" pitchFamily="18" charset="0"/>
                                </a:rPr>
                                <m:t>𝟐</m:t>
                              </m:r>
                            </m:sub>
                          </m:sSub>
                        </m:oMath>
                      </m:oMathPara>
                    </a14:m>
                    <a:endParaRPr lang="zh-TW" altLang="en-US" b="1" dirty="0"/>
                  </a:p>
                </p:txBody>
              </p:sp>
            </mc:Choice>
            <mc:Fallback xmlns="">
              <p:sp>
                <p:nvSpPr>
                  <p:cNvPr id="36" name="文字方塊 35">
                    <a:extLst>
                      <a:ext uri="{FF2B5EF4-FFF2-40B4-BE49-F238E27FC236}">
                        <a16:creationId xmlns:a16="http://schemas.microsoft.com/office/drawing/2014/main" id="{B76B494B-9CE2-48D5-ABD5-138500987A43}"/>
                      </a:ext>
                    </a:extLst>
                  </p:cNvPr>
                  <p:cNvSpPr txBox="1">
                    <a:spLocks noRot="1" noChangeAspect="1" noMove="1" noResize="1" noEditPoints="1" noAdjustHandles="1" noChangeArrowheads="1" noChangeShapeType="1" noTextEdit="1"/>
                  </p:cNvSpPr>
                  <p:nvPr/>
                </p:nvSpPr>
                <p:spPr>
                  <a:xfrm>
                    <a:off x="2739450" y="2974322"/>
                    <a:ext cx="516103" cy="369332"/>
                  </a:xfrm>
                  <a:prstGeom prst="rect">
                    <a:avLst/>
                  </a:prstGeom>
                  <a:blipFill>
                    <a:blip r:embed="rId7"/>
                    <a:stretch>
                      <a:fillRect l="-27692" r="-29231" b="-2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7" name="文字方塊 36">
                    <a:extLst>
                      <a:ext uri="{FF2B5EF4-FFF2-40B4-BE49-F238E27FC236}">
                        <a16:creationId xmlns:a16="http://schemas.microsoft.com/office/drawing/2014/main" id="{42FCE35B-7D7F-464A-AA8F-6154C7ED7B93}"/>
                      </a:ext>
                    </a:extLst>
                  </p:cNvPr>
                  <p:cNvSpPr txBox="1"/>
                  <p:nvPr/>
                </p:nvSpPr>
                <p:spPr>
                  <a:xfrm>
                    <a:off x="9075800" y="3612821"/>
                    <a:ext cx="51610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b="1" i="1" smtClean="0">
                                  <a:latin typeface="Cambria Math" panose="02040503050406030204" pitchFamily="18" charset="0"/>
                                </a:rPr>
                              </m:ctrlPr>
                            </m:sSubPr>
                            <m:e>
                              <m:r>
                                <a:rPr lang="en-US" altLang="zh-TW" sz="2400" b="1" i="1" smtClean="0">
                                  <a:latin typeface="Cambria Math" panose="02040503050406030204" pitchFamily="18" charset="0"/>
                                </a:rPr>
                                <m:t>𝒒</m:t>
                              </m:r>
                            </m:e>
                            <m:sub>
                              <m:r>
                                <a:rPr lang="en-US" altLang="zh-TW" sz="2400" b="1" i="1" smtClean="0">
                                  <a:latin typeface="Cambria Math" panose="02040503050406030204" pitchFamily="18" charset="0"/>
                                </a:rPr>
                                <m:t>𝒄</m:t>
                              </m:r>
                              <m:r>
                                <a:rPr lang="en-US" altLang="zh-TW" sz="2400" b="1" i="1" smtClean="0">
                                  <a:latin typeface="Cambria Math" panose="02040503050406030204" pitchFamily="18" charset="0"/>
                                </a:rPr>
                                <m:t>𝟏</m:t>
                              </m:r>
                            </m:sub>
                          </m:sSub>
                        </m:oMath>
                      </m:oMathPara>
                    </a14:m>
                    <a:endParaRPr lang="zh-TW" altLang="en-US" b="1" dirty="0"/>
                  </a:p>
                </p:txBody>
              </p:sp>
            </mc:Choice>
            <mc:Fallback xmlns="">
              <p:sp>
                <p:nvSpPr>
                  <p:cNvPr id="37" name="文字方塊 36">
                    <a:extLst>
                      <a:ext uri="{FF2B5EF4-FFF2-40B4-BE49-F238E27FC236}">
                        <a16:creationId xmlns:a16="http://schemas.microsoft.com/office/drawing/2014/main" id="{42FCE35B-7D7F-464A-AA8F-6154C7ED7B93}"/>
                      </a:ext>
                    </a:extLst>
                  </p:cNvPr>
                  <p:cNvSpPr txBox="1">
                    <a:spLocks noRot="1" noChangeAspect="1" noMove="1" noResize="1" noEditPoints="1" noAdjustHandles="1" noChangeArrowheads="1" noChangeShapeType="1" noTextEdit="1"/>
                  </p:cNvSpPr>
                  <p:nvPr/>
                </p:nvSpPr>
                <p:spPr>
                  <a:xfrm>
                    <a:off x="9075800" y="3612821"/>
                    <a:ext cx="516103" cy="369332"/>
                  </a:xfrm>
                  <a:prstGeom prst="rect">
                    <a:avLst/>
                  </a:prstGeom>
                  <a:blipFill>
                    <a:blip r:embed="rId8"/>
                    <a:stretch>
                      <a:fillRect l="-29231" r="-29231" b="-2623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8" name="文字方塊 37">
                    <a:extLst>
                      <a:ext uri="{FF2B5EF4-FFF2-40B4-BE49-F238E27FC236}">
                        <a16:creationId xmlns:a16="http://schemas.microsoft.com/office/drawing/2014/main" id="{6CFB1552-A472-4518-825F-20F0BCA04B3E}"/>
                      </a:ext>
                    </a:extLst>
                  </p:cNvPr>
                  <p:cNvSpPr txBox="1"/>
                  <p:nvPr/>
                </p:nvSpPr>
                <p:spPr>
                  <a:xfrm>
                    <a:off x="4602953" y="3561266"/>
                    <a:ext cx="38869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acc>
                                <m:accPr>
                                  <m:chr m:val="̂"/>
                                  <m:ctrlPr>
                                    <a:rPr lang="en-US" altLang="zh-TW" sz="2400" i="1" smtClean="0">
                                      <a:latin typeface="Cambria Math" panose="02040503050406030204" pitchFamily="18" charset="0"/>
                                    </a:rPr>
                                  </m:ctrlPr>
                                </m:accPr>
                                <m:e>
                                  <m:r>
                                    <a:rPr lang="en-US" altLang="zh-TW" sz="2400" b="0" i="1" smtClean="0">
                                      <a:latin typeface="Cambria Math" panose="02040503050406030204" pitchFamily="18" charset="0"/>
                                    </a:rPr>
                                    <m:t>𝑥</m:t>
                                  </m:r>
                                </m:e>
                              </m:acc>
                            </m:e>
                            <m:sub>
                              <m:r>
                                <a:rPr lang="en-US" altLang="zh-TW" sz="2400" b="0" i="1" smtClean="0">
                                  <a:latin typeface="Cambria Math" panose="02040503050406030204" pitchFamily="18" charset="0"/>
                                </a:rPr>
                                <m:t>𝑎</m:t>
                              </m:r>
                            </m:sub>
                          </m:sSub>
                        </m:oMath>
                      </m:oMathPara>
                    </a14:m>
                    <a:endParaRPr lang="zh-TW" altLang="en-US" dirty="0"/>
                  </a:p>
                </p:txBody>
              </p:sp>
            </mc:Choice>
            <mc:Fallback xmlns="">
              <p:sp>
                <p:nvSpPr>
                  <p:cNvPr id="38" name="文字方塊 37">
                    <a:extLst>
                      <a:ext uri="{FF2B5EF4-FFF2-40B4-BE49-F238E27FC236}">
                        <a16:creationId xmlns:a16="http://schemas.microsoft.com/office/drawing/2014/main" id="{6CFB1552-A472-4518-825F-20F0BCA04B3E}"/>
                      </a:ext>
                    </a:extLst>
                  </p:cNvPr>
                  <p:cNvSpPr txBox="1">
                    <a:spLocks noRot="1" noChangeAspect="1" noMove="1" noResize="1" noEditPoints="1" noAdjustHandles="1" noChangeArrowheads="1" noChangeShapeType="1" noTextEdit="1"/>
                  </p:cNvSpPr>
                  <p:nvPr/>
                </p:nvSpPr>
                <p:spPr>
                  <a:xfrm>
                    <a:off x="4602953" y="3561266"/>
                    <a:ext cx="388696" cy="369332"/>
                  </a:xfrm>
                  <a:prstGeom prst="rect">
                    <a:avLst/>
                  </a:prstGeom>
                  <a:blipFill>
                    <a:blip r:embed="rId9"/>
                    <a:stretch>
                      <a:fillRect l="-26531" t="-18333" r="-48980" b="-1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9" name="文字方塊 38">
                    <a:extLst>
                      <a:ext uri="{FF2B5EF4-FFF2-40B4-BE49-F238E27FC236}">
                        <a16:creationId xmlns:a16="http://schemas.microsoft.com/office/drawing/2014/main" id="{48CAC5C3-013E-4DAB-B73B-F3B88B959FF6}"/>
                      </a:ext>
                    </a:extLst>
                  </p:cNvPr>
                  <p:cNvSpPr txBox="1"/>
                  <p:nvPr/>
                </p:nvSpPr>
                <p:spPr>
                  <a:xfrm>
                    <a:off x="6913368" y="1853204"/>
                    <a:ext cx="38869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acc>
                                <m:accPr>
                                  <m:chr m:val="̂"/>
                                  <m:ctrlPr>
                                    <a:rPr lang="en-US" altLang="zh-TW" sz="2400" i="1" smtClean="0">
                                      <a:latin typeface="Cambria Math" panose="02040503050406030204" pitchFamily="18" charset="0"/>
                                    </a:rPr>
                                  </m:ctrlPr>
                                </m:accPr>
                                <m:e>
                                  <m:r>
                                    <a:rPr lang="en-US" altLang="zh-TW" sz="2400" b="0" i="1" smtClean="0">
                                      <a:latin typeface="Cambria Math" panose="02040503050406030204" pitchFamily="18" charset="0"/>
                                    </a:rPr>
                                    <m:t>𝑥</m:t>
                                  </m:r>
                                </m:e>
                              </m:acc>
                            </m:e>
                            <m:sub>
                              <m:r>
                                <a:rPr lang="en-US" altLang="zh-TW" sz="2400" b="0" i="1" smtClean="0">
                                  <a:latin typeface="Cambria Math" panose="02040503050406030204" pitchFamily="18" charset="0"/>
                                </a:rPr>
                                <m:t>𝑎</m:t>
                              </m:r>
                            </m:sub>
                          </m:sSub>
                        </m:oMath>
                      </m:oMathPara>
                    </a14:m>
                    <a:endParaRPr lang="zh-TW" altLang="en-US" dirty="0"/>
                  </a:p>
                </p:txBody>
              </p:sp>
            </mc:Choice>
            <mc:Fallback xmlns="">
              <p:sp>
                <p:nvSpPr>
                  <p:cNvPr id="39" name="文字方塊 38">
                    <a:extLst>
                      <a:ext uri="{FF2B5EF4-FFF2-40B4-BE49-F238E27FC236}">
                        <a16:creationId xmlns:a16="http://schemas.microsoft.com/office/drawing/2014/main" id="{48CAC5C3-013E-4DAB-B73B-F3B88B959FF6}"/>
                      </a:ext>
                    </a:extLst>
                  </p:cNvPr>
                  <p:cNvSpPr txBox="1">
                    <a:spLocks noRot="1" noChangeAspect="1" noMove="1" noResize="1" noEditPoints="1" noAdjustHandles="1" noChangeArrowheads="1" noChangeShapeType="1" noTextEdit="1"/>
                  </p:cNvSpPr>
                  <p:nvPr/>
                </p:nvSpPr>
                <p:spPr>
                  <a:xfrm>
                    <a:off x="6913368" y="1853204"/>
                    <a:ext cx="388696" cy="369332"/>
                  </a:xfrm>
                  <a:prstGeom prst="rect">
                    <a:avLst/>
                  </a:prstGeom>
                  <a:blipFill>
                    <a:blip r:embed="rId10"/>
                    <a:stretch>
                      <a:fillRect l="-26531" t="-18333" r="-48980" b="-1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1" name="文字方塊 40">
                    <a:extLst>
                      <a:ext uri="{FF2B5EF4-FFF2-40B4-BE49-F238E27FC236}">
                        <a16:creationId xmlns:a16="http://schemas.microsoft.com/office/drawing/2014/main" id="{D9CB3744-E5F2-475B-A7FA-C3CE15D1FA90}"/>
                      </a:ext>
                    </a:extLst>
                  </p:cNvPr>
                  <p:cNvSpPr txBox="1"/>
                  <p:nvPr/>
                </p:nvSpPr>
                <p:spPr>
                  <a:xfrm rot="16200000">
                    <a:off x="9940235" y="2958220"/>
                    <a:ext cx="1068754" cy="30777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sz="2000" b="1" i="1" smtClean="0">
                                  <a:latin typeface="Cambria Math" panose="02040503050406030204" pitchFamily="18" charset="0"/>
                                </a:rPr>
                              </m:ctrlPr>
                            </m:dPr>
                            <m:e>
                              <m:r>
                                <a:rPr lang="en-US" altLang="zh-TW" sz="2000" b="1" i="0" smtClean="0">
                                  <a:latin typeface="Cambria Math" panose="02040503050406030204" pitchFamily="18" charset="0"/>
                                </a:rPr>
                                <m:t>𝐛</m:t>
                              </m:r>
                            </m:e>
                          </m:d>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𝑚𝑇</m:t>
                          </m:r>
                          <m:r>
                            <a:rPr lang="en-US" altLang="zh-TW" sz="2000" b="0" i="1" smtClean="0">
                              <a:latin typeface="Cambria Math" panose="02040503050406030204" pitchFamily="18" charset="0"/>
                            </a:rPr>
                            <m:t>)</m:t>
                          </m:r>
                        </m:oMath>
                      </m:oMathPara>
                    </a14:m>
                    <a:endParaRPr lang="zh-TW" altLang="en-US" sz="1600" dirty="0"/>
                  </a:p>
                </p:txBody>
              </p:sp>
            </mc:Choice>
            <mc:Fallback xmlns="">
              <p:sp>
                <p:nvSpPr>
                  <p:cNvPr id="41" name="文字方塊 40">
                    <a:extLst>
                      <a:ext uri="{FF2B5EF4-FFF2-40B4-BE49-F238E27FC236}">
                        <a16:creationId xmlns:a16="http://schemas.microsoft.com/office/drawing/2014/main" id="{D9CB3744-E5F2-475B-A7FA-C3CE15D1FA90}"/>
                      </a:ext>
                    </a:extLst>
                  </p:cNvPr>
                  <p:cNvSpPr txBox="1">
                    <a:spLocks noRot="1" noChangeAspect="1" noMove="1" noResize="1" noEditPoints="1" noAdjustHandles="1" noChangeArrowheads="1" noChangeShapeType="1" noTextEdit="1"/>
                  </p:cNvSpPr>
                  <p:nvPr/>
                </p:nvSpPr>
                <p:spPr>
                  <a:xfrm rot="16200000">
                    <a:off x="9940235" y="2958220"/>
                    <a:ext cx="1068754" cy="307778"/>
                  </a:xfrm>
                  <a:prstGeom prst="rect">
                    <a:avLst/>
                  </a:prstGeom>
                  <a:blipFill>
                    <a:blip r:embed="rId11"/>
                    <a:stretch>
                      <a:fillRect l="-2564" t="-8000" r="-74359"/>
                    </a:stretch>
                  </a:blipFill>
                </p:spPr>
                <p:txBody>
                  <a:bodyPr/>
                  <a:lstStyle/>
                  <a:p>
                    <a:r>
                      <a:rPr lang="zh-TW" altLang="en-US">
                        <a:noFill/>
                      </a:rPr>
                      <a:t> </a:t>
                    </a:r>
                  </a:p>
                </p:txBody>
              </p:sp>
            </mc:Fallback>
          </mc:AlternateContent>
        </p:grpSp>
      </p:grpSp>
      <p:sp>
        <p:nvSpPr>
          <p:cNvPr id="17" name="文字方塊 16">
            <a:extLst>
              <a:ext uri="{FF2B5EF4-FFF2-40B4-BE49-F238E27FC236}">
                <a16:creationId xmlns:a16="http://schemas.microsoft.com/office/drawing/2014/main" id="{A91C0FFE-50F0-4AB7-A5F1-BC95E437E53F}"/>
              </a:ext>
            </a:extLst>
          </p:cNvPr>
          <p:cNvSpPr txBox="1"/>
          <p:nvPr/>
        </p:nvSpPr>
        <p:spPr>
          <a:xfrm>
            <a:off x="57068" y="762337"/>
            <a:ext cx="7042090" cy="369332"/>
          </a:xfrm>
          <a:prstGeom prst="rect">
            <a:avLst/>
          </a:prstGeom>
          <a:noFill/>
        </p:spPr>
        <p:txBody>
          <a:bodyPr wrap="square" rtlCol="0">
            <a:spAutoFit/>
          </a:bodyPr>
          <a:lstStyle/>
          <a:p>
            <a:pPr marL="285750" indent="-285750">
              <a:buFont typeface="Wingdings" panose="05000000000000000000" pitchFamily="2" charset="2"/>
              <a:buChar char="Ø"/>
            </a:pPr>
            <a:r>
              <a:rPr lang="en-US" altLang="zh-TW" dirty="0"/>
              <a:t>Long</a:t>
            </a:r>
            <a:endParaRPr lang="zh-TW" altLang="en-US" dirty="0"/>
          </a:p>
        </p:txBody>
      </p:sp>
    </p:spTree>
    <p:extLst>
      <p:ext uri="{BB962C8B-B14F-4D97-AF65-F5344CB8AC3E}">
        <p14:creationId xmlns:p14="http://schemas.microsoft.com/office/powerpoint/2010/main" val="18088995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Hall-sensor-voltage-based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grpSp>
        <p:nvGrpSpPr>
          <p:cNvPr id="9" name="群組 8">
            <a:extLst>
              <a:ext uri="{FF2B5EF4-FFF2-40B4-BE49-F238E27FC236}">
                <a16:creationId xmlns:a16="http://schemas.microsoft.com/office/drawing/2014/main" id="{25A00D6E-FD4E-4C44-90C8-33DF18B9660B}"/>
              </a:ext>
            </a:extLst>
          </p:cNvPr>
          <p:cNvGrpSpPr/>
          <p:nvPr/>
        </p:nvGrpSpPr>
        <p:grpSpPr>
          <a:xfrm>
            <a:off x="5805698" y="2065700"/>
            <a:ext cx="6256102" cy="4221833"/>
            <a:chOff x="5695631" y="1608499"/>
            <a:chExt cx="6256102" cy="4221833"/>
          </a:xfrm>
        </p:grpSpPr>
        <p:grpSp>
          <p:nvGrpSpPr>
            <p:cNvPr id="8" name="群組 7">
              <a:extLst>
                <a:ext uri="{FF2B5EF4-FFF2-40B4-BE49-F238E27FC236}">
                  <a16:creationId xmlns:a16="http://schemas.microsoft.com/office/drawing/2014/main" id="{9F80C108-027A-4201-8F65-42784A51CEDA}"/>
                </a:ext>
              </a:extLst>
            </p:cNvPr>
            <p:cNvGrpSpPr/>
            <p:nvPr/>
          </p:nvGrpSpPr>
          <p:grpSpPr>
            <a:xfrm>
              <a:off x="5695631" y="1608499"/>
              <a:ext cx="6256102" cy="4221833"/>
              <a:chOff x="5695631" y="1608499"/>
              <a:chExt cx="6256102" cy="4221833"/>
            </a:xfrm>
          </p:grpSpPr>
          <p:grpSp>
            <p:nvGrpSpPr>
              <p:cNvPr id="3" name="群組 2">
                <a:extLst>
                  <a:ext uri="{FF2B5EF4-FFF2-40B4-BE49-F238E27FC236}">
                    <a16:creationId xmlns:a16="http://schemas.microsoft.com/office/drawing/2014/main" id="{8EF352F0-E9DF-431D-860F-C569ABBF4B20}"/>
                  </a:ext>
                </a:extLst>
              </p:cNvPr>
              <p:cNvGrpSpPr/>
              <p:nvPr/>
            </p:nvGrpSpPr>
            <p:grpSpPr>
              <a:xfrm>
                <a:off x="5695631" y="1608499"/>
                <a:ext cx="6186529" cy="4221833"/>
                <a:chOff x="5695631" y="1608499"/>
                <a:chExt cx="6186529" cy="4221833"/>
              </a:xfrm>
            </p:grpSpPr>
            <p:pic>
              <p:nvPicPr>
                <p:cNvPr id="10" name="圖片 9">
                  <a:extLst>
                    <a:ext uri="{FF2B5EF4-FFF2-40B4-BE49-F238E27FC236}">
                      <a16:creationId xmlns:a16="http://schemas.microsoft.com/office/drawing/2014/main" id="{5CC497E2-F390-4154-8F1C-1D87643010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64962" y="1608499"/>
                  <a:ext cx="5817198" cy="3852501"/>
                </a:xfrm>
                <a:prstGeom prst="rect">
                  <a:avLst/>
                </a:prstGeom>
              </p:spPr>
            </p:pic>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55A6AAFD-256B-4151-9263-E0EA11C874AB}"/>
                        </a:ext>
                      </a:extLst>
                    </p:cNvPr>
                    <p:cNvSpPr txBox="1"/>
                    <p:nvPr/>
                  </p:nvSpPr>
                  <p:spPr>
                    <a:xfrm>
                      <a:off x="7664062" y="5461000"/>
                      <a:ext cx="191148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𝑥</m:t>
                            </m:r>
                            <m:r>
                              <a:rPr lang="en-US" altLang="zh-TW" sz="2400" b="0" i="1" smtClean="0">
                                <a:latin typeface="Cambria Math" panose="02040503050406030204" pitchFamily="18" charset="0"/>
                              </a:rPr>
                              <m:t>−</m:t>
                            </m:r>
                            <m:r>
                              <m:rPr>
                                <m:sty m:val="p"/>
                              </m:rPr>
                              <a:rPr lang="en-US" altLang="zh-TW" sz="2400" b="0" i="0" smtClean="0">
                                <a:latin typeface="Cambria Math" panose="02040503050406030204" pitchFamily="18" charset="0"/>
                              </a:rPr>
                              <m:t>axis</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𝑚𝑚</m:t>
                            </m:r>
                            <m:r>
                              <a:rPr lang="en-US" altLang="zh-TW" sz="2400" b="0" i="1" smtClean="0">
                                <a:latin typeface="Cambria Math" panose="02040503050406030204" pitchFamily="18" charset="0"/>
                              </a:rPr>
                              <m:t>)</m:t>
                            </m:r>
                          </m:oMath>
                        </m:oMathPara>
                      </a14:m>
                      <a:endParaRPr lang="zh-TW" altLang="en-US" sz="2400" i="1" dirty="0">
                        <a:latin typeface="Times New Roman" panose="02020603050405020304" pitchFamily="18" charset="0"/>
                        <a:cs typeface="Times New Roman" panose="02020603050405020304" pitchFamily="18" charset="0"/>
                      </a:endParaRPr>
                    </a:p>
                  </p:txBody>
                </p:sp>
              </mc:Choice>
              <mc:Fallback xmlns="">
                <p:sp>
                  <p:nvSpPr>
                    <p:cNvPr id="4" name="文字方塊 3">
                      <a:extLst>
                        <a:ext uri="{FF2B5EF4-FFF2-40B4-BE49-F238E27FC236}">
                          <a16:creationId xmlns:a16="http://schemas.microsoft.com/office/drawing/2014/main" id="{55A6AAFD-256B-4151-9263-E0EA11C874AB}"/>
                        </a:ext>
                      </a:extLst>
                    </p:cNvPr>
                    <p:cNvSpPr txBox="1">
                      <a:spLocks noRot="1" noChangeAspect="1" noMove="1" noResize="1" noEditPoints="1" noAdjustHandles="1" noChangeArrowheads="1" noChangeShapeType="1" noTextEdit="1"/>
                    </p:cNvSpPr>
                    <p:nvPr/>
                  </p:nvSpPr>
                  <p:spPr>
                    <a:xfrm>
                      <a:off x="7664062" y="5461000"/>
                      <a:ext cx="1911485" cy="369332"/>
                    </a:xfrm>
                    <a:prstGeom prst="rect">
                      <a:avLst/>
                    </a:prstGeom>
                    <a:blipFill>
                      <a:blip r:embed="rId3"/>
                      <a:stretch>
                        <a:fillRect l="-1274" r="-5096" b="-3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C27E30DC-6168-42BC-906D-F547A5F9D1F4}"/>
                        </a:ext>
                      </a:extLst>
                    </p:cNvPr>
                    <p:cNvSpPr txBox="1"/>
                    <p:nvPr/>
                  </p:nvSpPr>
                  <p:spPr>
                    <a:xfrm rot="16200000">
                      <a:off x="4910863" y="3350082"/>
                      <a:ext cx="1938867"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𝑧</m:t>
                            </m:r>
                            <m:r>
                              <a:rPr lang="en-US" altLang="zh-TW" sz="2400" b="0" i="1" smtClean="0">
                                <a:latin typeface="Cambria Math" panose="02040503050406030204" pitchFamily="18" charset="0"/>
                              </a:rPr>
                              <m:t>−</m:t>
                            </m:r>
                            <m:r>
                              <m:rPr>
                                <m:sty m:val="p"/>
                              </m:rPr>
                              <a:rPr lang="en-US" altLang="zh-TW" sz="2400" b="0" i="0" smtClean="0">
                                <a:latin typeface="Cambria Math" panose="02040503050406030204" pitchFamily="18" charset="0"/>
                              </a:rPr>
                              <m:t>axis</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𝑚𝑚</m:t>
                            </m:r>
                            <m:r>
                              <a:rPr lang="en-US" altLang="zh-TW" sz="2400" b="0" i="1" smtClean="0">
                                <a:latin typeface="Cambria Math" panose="02040503050406030204" pitchFamily="18" charset="0"/>
                              </a:rPr>
                              <m:t>)</m:t>
                            </m:r>
                          </m:oMath>
                        </m:oMathPara>
                      </a14:m>
                      <a:endParaRPr lang="zh-TW" altLang="en-US" sz="2400" i="1" dirty="0">
                        <a:latin typeface="Times New Roman" panose="02020603050405020304" pitchFamily="18" charset="0"/>
                        <a:cs typeface="Times New Roman" panose="02020603050405020304" pitchFamily="18" charset="0"/>
                      </a:endParaRPr>
                    </a:p>
                  </p:txBody>
                </p:sp>
              </mc:Choice>
              <mc:Fallback xmlns="">
                <p:sp>
                  <p:nvSpPr>
                    <p:cNvPr id="5" name="文字方塊 4">
                      <a:extLst>
                        <a:ext uri="{FF2B5EF4-FFF2-40B4-BE49-F238E27FC236}">
                          <a16:creationId xmlns:a16="http://schemas.microsoft.com/office/drawing/2014/main" id="{C27E30DC-6168-42BC-906D-F547A5F9D1F4}"/>
                        </a:ext>
                      </a:extLst>
                    </p:cNvPr>
                    <p:cNvSpPr txBox="1">
                      <a:spLocks noRot="1" noChangeAspect="1" noMove="1" noResize="1" noEditPoints="1" noAdjustHandles="1" noChangeArrowheads="1" noChangeShapeType="1" noTextEdit="1"/>
                    </p:cNvSpPr>
                    <p:nvPr/>
                  </p:nvSpPr>
                  <p:spPr>
                    <a:xfrm rot="16200000">
                      <a:off x="4910863" y="3350082"/>
                      <a:ext cx="1938867" cy="369332"/>
                    </a:xfrm>
                    <a:prstGeom prst="rect">
                      <a:avLst/>
                    </a:prstGeom>
                    <a:blipFill>
                      <a:blip r:embed="rId4"/>
                      <a:stretch>
                        <a:fillRect t="-4088" r="-36066" b="-314"/>
                      </a:stretch>
                    </a:blipFill>
                  </p:spPr>
                  <p:txBody>
                    <a:bodyPr/>
                    <a:lstStyle/>
                    <a:p>
                      <a:r>
                        <a:rPr lang="zh-TW" altLang="en-US">
                          <a:noFill/>
                        </a:rPr>
                        <a:t> </a:t>
                      </a:r>
                    </a:p>
                  </p:txBody>
                </p:sp>
              </mc:Fallback>
            </mc:AlternateContent>
          </p:grpSp>
          <p:sp>
            <p:nvSpPr>
              <p:cNvPr id="6" name="矩形 5">
                <a:extLst>
                  <a:ext uri="{FF2B5EF4-FFF2-40B4-BE49-F238E27FC236}">
                    <a16:creationId xmlns:a16="http://schemas.microsoft.com/office/drawing/2014/main" id="{5441C166-FB41-4404-9A7D-FEDB224D96EF}"/>
                  </a:ext>
                </a:extLst>
              </p:cNvPr>
              <p:cNvSpPr/>
              <p:nvPr/>
            </p:nvSpPr>
            <p:spPr>
              <a:xfrm>
                <a:off x="11582400" y="2810933"/>
                <a:ext cx="369333" cy="11768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3263E904-C403-47A7-8195-AD15D1F1D8B1}"/>
                    </a:ext>
                  </a:extLst>
                </p:cNvPr>
                <p:cNvSpPr txBox="1"/>
                <p:nvPr/>
              </p:nvSpPr>
              <p:spPr>
                <a:xfrm rot="16200000">
                  <a:off x="11168601" y="3224732"/>
                  <a:ext cx="1064755" cy="23715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sz="2000" b="1" i="1" smtClean="0">
                                <a:latin typeface="Cambria Math" panose="02040503050406030204" pitchFamily="18" charset="0"/>
                              </a:rPr>
                            </m:ctrlPr>
                          </m:dPr>
                          <m:e>
                            <m:r>
                              <a:rPr lang="en-US" altLang="zh-TW" sz="2000" b="1" i="0" smtClean="0">
                                <a:latin typeface="Cambria Math" panose="02040503050406030204" pitchFamily="18" charset="0"/>
                              </a:rPr>
                              <m:t>𝐛</m:t>
                            </m:r>
                          </m:e>
                        </m:d>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𝑚𝑇</m:t>
                        </m:r>
                        <m:r>
                          <a:rPr lang="en-US" altLang="zh-TW" sz="2000" b="0" i="1" smtClean="0">
                            <a:latin typeface="Cambria Math" panose="02040503050406030204" pitchFamily="18" charset="0"/>
                          </a:rPr>
                          <m:t>)</m:t>
                        </m:r>
                      </m:oMath>
                    </m:oMathPara>
                  </a14:m>
                  <a:endParaRPr lang="zh-TW" altLang="en-US" sz="1600" dirty="0"/>
                </a:p>
              </p:txBody>
            </p:sp>
          </mc:Choice>
          <mc:Fallback xmlns="">
            <p:sp>
              <p:nvSpPr>
                <p:cNvPr id="7" name="文字方塊 6">
                  <a:extLst>
                    <a:ext uri="{FF2B5EF4-FFF2-40B4-BE49-F238E27FC236}">
                      <a16:creationId xmlns:a16="http://schemas.microsoft.com/office/drawing/2014/main" id="{3263E904-C403-47A7-8195-AD15D1F1D8B1}"/>
                    </a:ext>
                  </a:extLst>
                </p:cNvPr>
                <p:cNvSpPr txBox="1">
                  <a:spLocks noRot="1" noChangeAspect="1" noMove="1" noResize="1" noEditPoints="1" noAdjustHandles="1" noChangeArrowheads="1" noChangeShapeType="1" noTextEdit="1"/>
                </p:cNvSpPr>
                <p:nvPr/>
              </p:nvSpPr>
              <p:spPr>
                <a:xfrm rot="16200000">
                  <a:off x="11168601" y="3224732"/>
                  <a:ext cx="1064755" cy="237158"/>
                </a:xfrm>
                <a:prstGeom prst="rect">
                  <a:avLst/>
                </a:prstGeom>
                <a:blipFill>
                  <a:blip r:embed="rId5"/>
                  <a:stretch>
                    <a:fillRect l="-2564" t="-8000" r="-74359"/>
                  </a:stretch>
                </a:blipFill>
              </p:spPr>
              <p:txBody>
                <a:bodyPr/>
                <a:lstStyle/>
                <a:p>
                  <a:r>
                    <a:rPr lang="zh-TW" altLang="en-US">
                      <a:noFill/>
                    </a:rPr>
                    <a:t> </a:t>
                  </a:r>
                </a:p>
              </p:txBody>
            </p:sp>
          </mc:Fallback>
        </mc:AlternateContent>
      </p:grpSp>
      <p:sp>
        <p:nvSpPr>
          <p:cNvPr id="12" name="文字方塊 11">
            <a:extLst>
              <a:ext uri="{FF2B5EF4-FFF2-40B4-BE49-F238E27FC236}">
                <a16:creationId xmlns:a16="http://schemas.microsoft.com/office/drawing/2014/main" id="{A6270A5D-701A-4351-8D05-13126AF56E37}"/>
              </a:ext>
            </a:extLst>
          </p:cNvPr>
          <p:cNvSpPr txBox="1"/>
          <p:nvPr/>
        </p:nvSpPr>
        <p:spPr>
          <a:xfrm>
            <a:off x="103717" y="617796"/>
            <a:ext cx="5632407" cy="2862322"/>
          </a:xfrm>
          <a:prstGeom prst="rect">
            <a:avLst/>
          </a:prstGeom>
          <a:noFill/>
        </p:spPr>
        <p:txBody>
          <a:bodyPr wrap="square">
            <a:spAutoFit/>
          </a:bodyPr>
          <a:lstStyle/>
          <a:p>
            <a:pPr marL="285750" indent="-285750">
              <a:buFont typeface="Arial" panose="020B0604020202020204" pitchFamily="34" charset="0"/>
              <a:buChar char="•"/>
            </a:pPr>
            <a:r>
              <a:rPr lang="en-US" altLang="zh-TW" dirty="0"/>
              <a:t>This figure conveys the sensing concept: the Hall sensor measures the pole's leakage flux. The </a:t>
            </a:r>
            <a:r>
              <a:rPr lang="en-US" altLang="zh-TW" dirty="0" err="1"/>
              <a:t>colour</a:t>
            </a:r>
            <a:r>
              <a:rPr lang="en-US" altLang="zh-TW" dirty="0"/>
              <a:t>-coded arrows show the flux </a:t>
            </a:r>
            <a:r>
              <a:rPr lang="en-US" altLang="zh-TW" dirty="0" err="1"/>
              <a:t>channelled</a:t>
            </a:r>
            <a:r>
              <a:rPr lang="en-US" altLang="zh-TW" dirty="0"/>
              <a:t> inside the cone toward the tip, while the dashed arrows around the pole are the part that escapes through the lateral surface and returns through the air. The sensor (green patch) is mounted on that surface, so it sits in the leakage field rather than in the field between the tips, and the red arrow n⁺ marks the positive sense of what it reads (</a:t>
            </a:r>
            <a:r>
              <a:rPr lang="en-US" altLang="zh-TW" dirty="0" err="1"/>
              <a:t>b·n</a:t>
            </a:r>
            <a:r>
              <a:rPr lang="en-US" altLang="zh-TW" dirty="0"/>
              <a:t>⁺).</a:t>
            </a:r>
            <a:endParaRPr lang="zh-TW" altLang="en-US" dirty="0"/>
          </a:p>
        </p:txBody>
      </p:sp>
    </p:spTree>
    <p:extLst>
      <p:ext uri="{BB962C8B-B14F-4D97-AF65-F5344CB8AC3E}">
        <p14:creationId xmlns:p14="http://schemas.microsoft.com/office/powerpoint/2010/main" val="37240646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Hall-sensor-voltage-based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7" name="文字方塊 6">
            <a:extLst>
              <a:ext uri="{FF2B5EF4-FFF2-40B4-BE49-F238E27FC236}">
                <a16:creationId xmlns:a16="http://schemas.microsoft.com/office/drawing/2014/main" id="{3B970DD4-BBB5-449B-A35D-ACB34E775395}"/>
              </a:ext>
            </a:extLst>
          </p:cNvPr>
          <p:cNvSpPr txBox="1"/>
          <p:nvPr/>
        </p:nvSpPr>
        <p:spPr>
          <a:xfrm>
            <a:off x="3110416" y="804014"/>
            <a:ext cx="3793066"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Single parameter</a:t>
            </a:r>
            <a:endParaRPr lang="zh-TW" altLang="en-US" dirty="0"/>
          </a:p>
        </p:txBody>
      </p:sp>
      <p:sp>
        <p:nvSpPr>
          <p:cNvPr id="9" name="文字方塊 8">
            <a:extLst>
              <a:ext uri="{FF2B5EF4-FFF2-40B4-BE49-F238E27FC236}">
                <a16:creationId xmlns:a16="http://schemas.microsoft.com/office/drawing/2014/main" id="{9FF4D34D-ECD2-4F94-BEEC-33EA0D199F4B}"/>
              </a:ext>
            </a:extLst>
          </p:cNvPr>
          <p:cNvSpPr txBox="1"/>
          <p:nvPr/>
        </p:nvSpPr>
        <p:spPr>
          <a:xfrm>
            <a:off x="3110416" y="2449101"/>
            <a:ext cx="3793066"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Eighteen parameters</a:t>
            </a:r>
            <a:endParaRPr lang="zh-TW" altLang="en-US" dirty="0"/>
          </a:p>
        </p:txBody>
      </p:sp>
      <mc:AlternateContent xmlns:mc="http://schemas.openxmlformats.org/markup-compatibility/2006" xmlns:a14="http://schemas.microsoft.com/office/drawing/2010/main">
        <mc:Choice Requires="a14">
          <p:sp>
            <p:nvSpPr>
              <p:cNvPr id="900" name="CalibV_s_mat"/>
              <p:cNvSpPr txBox="1"/>
              <p:nvPr/>
            </p:nvSpPr>
            <p:spPr>
              <a:xfrm>
                <a:off x="3509544" y="1158219"/>
                <a:ext cx="3911600" cy="868680"/>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050" b="0" i="1">
                              <a:latin typeface="Cambria Math" panose="02040503050406030204" pitchFamily="18" charset="0"/>
                            </a:rPr>
                          </m:ctrlPr>
                        </m:accPr>
                        <m:e>
                          <m:r>
                            <a:rPr lang="en-US" sz="1050" b="0" i="1">
                              <a:latin typeface="Cambria Math" panose="02040503050406030204" pitchFamily="18" charset="0"/>
                            </a:rPr>
                            <m:t>𝑀</m:t>
                          </m:r>
                        </m:e>
                      </m:acc>
                      <m:r>
                        <a:rPr lang="en-US" sz="1050" b="0" i="0">
                          <a:latin typeface="Cambria Math" panose="02040503050406030204" pitchFamily="18" charset="0"/>
                        </a:rPr>
                        <m:t> = </m:t>
                      </m:r>
                      <m:d>
                        <m:dPr>
                          <m:begChr m:val="["/>
                          <m:endChr m:val="]"/>
                          <m:ctrlPr>
                            <a:rPr lang="en-US" sz="1050" b="0" i="1">
                              <a:latin typeface="Cambria Math" panose="02040503050406030204" pitchFamily="18" charset="0"/>
                            </a:rPr>
                          </m:ctrlPr>
                        </m:dPr>
                        <m:e>
                          <m:m>
                            <m:mPr>
                              <m:mcs>
                                <m:mc>
                                  <m:mcPr>
                                    <m:count m:val="6"/>
                                    <m:mcJc m:val="center"/>
                                  </m:mcPr>
                                </m:mc>
                              </m:mcs>
                              <m:ctrlPr>
                                <a:rPr lang="en-US" sz="1050" b="0" i="1">
                                  <a:latin typeface="Cambria Math" panose="02040503050406030204" pitchFamily="18" charset="0"/>
                                </a:rPr>
                              </m:ctrlPr>
                            </m:mPr>
                            <m:mr>
                              <m:e>
                                <m:r>
                                  <a:rPr lang="en-US" sz="1050" b="0" i="0">
                                    <a:latin typeface="Cambria Math" panose="02040503050406030204" pitchFamily="18" charset="0"/>
                                  </a:rPr>
                                  <m:t>0.8333</m:t>
                                </m:r>
                              </m:e>
                              <m:e>
                                <m:r>
                                  <a:rPr lang="en-US" sz="1050" b="0" i="0">
                                    <a:latin typeface="Cambria Math" panose="02040503050406030204" pitchFamily="18" charset="0"/>
                                  </a:rPr>
                                  <m:t>−0.4680</m:t>
                                </m:r>
                              </m:e>
                              <m:e>
                                <m:r>
                                  <a:rPr lang="en-US" sz="1050" b="0" i="0">
                                    <a:latin typeface="Cambria Math" panose="02040503050406030204" pitchFamily="18" charset="0"/>
                                  </a:rPr>
                                  <m:t>−0.3269</m:t>
                                </m:r>
                              </m:e>
                              <m:e>
                                <m:r>
                                  <a:rPr lang="en-US" sz="1050" b="0" i="0">
                                    <a:latin typeface="Cambria Math" panose="02040503050406030204" pitchFamily="18" charset="0"/>
                                  </a:rPr>
                                  <m:t>−0.4226</m:t>
                                </m:r>
                              </m:e>
                              <m:e>
                                <m:r>
                                  <a:rPr lang="en-US" sz="1050" b="0" i="0">
                                    <a:latin typeface="Cambria Math" panose="02040503050406030204" pitchFamily="18" charset="0"/>
                                  </a:rPr>
                                  <m:t>−0.4279</m:t>
                                </m:r>
                              </m:e>
                              <m:e>
                                <m:r>
                                  <a:rPr lang="en-US" sz="1050" b="0" i="0">
                                    <a:latin typeface="Cambria Math" panose="02040503050406030204" pitchFamily="18" charset="0"/>
                                  </a:rPr>
                                  <m:t>−0.3247</m:t>
                                </m:r>
                              </m:e>
                            </m:mr>
                            <m:mr>
                              <m:e>
                                <m:r>
                                  <a:rPr lang="en-US" sz="1050" b="0" i="0">
                                    <a:latin typeface="Cambria Math" panose="02040503050406030204" pitchFamily="18" charset="0"/>
                                  </a:rPr>
                                  <m:t>−0.1416</m:t>
                                </m:r>
                              </m:e>
                              <m:e>
                                <m:r>
                                  <a:rPr lang="en-US" sz="1050" b="0" i="0">
                                    <a:latin typeface="Cambria Math" panose="02040503050406030204" pitchFamily="18" charset="0"/>
                                  </a:rPr>
                                  <m:t>1.3413</m:t>
                                </m:r>
                              </m:e>
                              <m:e>
                                <m:r>
                                  <a:rPr lang="en-US" sz="1050" b="0" i="0">
                                    <a:latin typeface="Cambria Math" panose="02040503050406030204" pitchFamily="18" charset="0"/>
                                  </a:rPr>
                                  <m:t>−0.0378</m:t>
                                </m:r>
                              </m:e>
                              <m:e>
                                <m:r>
                                  <a:rPr lang="en-US" sz="1050" b="0" i="0">
                                    <a:latin typeface="Cambria Math" panose="02040503050406030204" pitchFamily="18" charset="0"/>
                                  </a:rPr>
                                  <m:t>0.3304</m:t>
                                </m:r>
                              </m:e>
                              <m:e>
                                <m:r>
                                  <a:rPr lang="en-US" sz="1050" b="0" i="0">
                                    <a:latin typeface="Cambria Math" panose="02040503050406030204" pitchFamily="18" charset="0"/>
                                  </a:rPr>
                                  <m:t>0.3310</m:t>
                                </m:r>
                              </m:e>
                              <m:e>
                                <m:r>
                                  <a:rPr lang="en-US" sz="1050" b="0" i="0">
                                    <a:latin typeface="Cambria Math" panose="02040503050406030204" pitchFamily="18" charset="0"/>
                                  </a:rPr>
                                  <m:t>−0.0341</m:t>
                                </m:r>
                              </m:e>
                            </m:mr>
                            <m:mr>
                              <m:e>
                                <m:r>
                                  <a:rPr lang="en-US" sz="1050" b="0" i="0">
                                    <a:latin typeface="Cambria Math" panose="02040503050406030204" pitchFamily="18" charset="0"/>
                                  </a:rPr>
                                  <m:t>−0.3356</m:t>
                                </m:r>
                              </m:e>
                              <m:e>
                                <m:r>
                                  <a:rPr lang="en-US" sz="1050" b="0" i="0">
                                    <a:latin typeface="Cambria Math" panose="02040503050406030204" pitchFamily="18" charset="0"/>
                                  </a:rPr>
                                  <m:t>−0.4554</m:t>
                                </m:r>
                              </m:e>
                              <m:e>
                                <m:r>
                                  <a:rPr lang="en-US" sz="1050" b="0" i="0">
                                    <a:latin typeface="Cambria Math" panose="02040503050406030204" pitchFamily="18" charset="0"/>
                                  </a:rPr>
                                  <m:t>0.8090</m:t>
                                </m:r>
                              </m:e>
                              <m:e>
                                <m:r>
                                  <a:rPr lang="en-US" sz="1050" b="0" i="0">
                                    <a:latin typeface="Cambria Math" panose="02040503050406030204" pitchFamily="18" charset="0"/>
                                  </a:rPr>
                                  <m:t>−0.4911</m:t>
                                </m:r>
                              </m:e>
                              <m:e>
                                <m:r>
                                  <a:rPr lang="en-US" sz="1050" b="0" i="0">
                                    <a:latin typeface="Cambria Math" panose="02040503050406030204" pitchFamily="18" charset="0"/>
                                  </a:rPr>
                                  <m:t>−0.4580</m:t>
                                </m:r>
                              </m:e>
                              <m:e>
                                <m:r>
                                  <a:rPr lang="en-US" sz="1050" b="0" i="0">
                                    <a:latin typeface="Cambria Math" panose="02040503050406030204" pitchFamily="18" charset="0"/>
                                  </a:rPr>
                                  <m:t>−0.3417</m:t>
                                </m:r>
                              </m:e>
                            </m:mr>
                            <m:mr>
                              <m:e>
                                <m:r>
                                  <a:rPr lang="en-US" sz="1050" b="0" i="0">
                                    <a:latin typeface="Cambria Math" panose="02040503050406030204" pitchFamily="18" charset="0"/>
                                  </a:rPr>
                                  <m:t>0.0160</m:t>
                                </m:r>
                              </m:e>
                              <m:e>
                                <m:r>
                                  <a:rPr lang="en-US" sz="1050" b="0" i="0">
                                    <a:latin typeface="Cambria Math" panose="02040503050406030204" pitchFamily="18" charset="0"/>
                                  </a:rPr>
                                  <m:t>0.3989</m:t>
                                </m:r>
                              </m:e>
                              <m:e>
                                <m:r>
                                  <a:rPr lang="en-US" sz="1050" b="0" i="0">
                                    <a:latin typeface="Cambria Math" panose="02040503050406030204" pitchFamily="18" charset="0"/>
                                  </a:rPr>
                                  <m:t>−0.1142</m:t>
                                </m:r>
                              </m:e>
                              <m:e>
                                <m:r>
                                  <a:rPr lang="en-US" sz="1050" b="0" i="0">
                                    <a:latin typeface="Cambria Math" panose="02040503050406030204" pitchFamily="18" charset="0"/>
                                  </a:rPr>
                                  <m:t>1.4004</m:t>
                                </m:r>
                              </m:e>
                              <m:e>
                                <m:r>
                                  <a:rPr lang="en-US" sz="1050" b="0" i="0">
                                    <a:latin typeface="Cambria Math" panose="02040503050406030204" pitchFamily="18" charset="0"/>
                                  </a:rPr>
                                  <m:t>0.3968</m:t>
                                </m:r>
                              </m:e>
                              <m:e>
                                <m:r>
                                  <a:rPr lang="en-US" sz="1050" b="0" i="0">
                                    <a:latin typeface="Cambria Math" panose="02040503050406030204" pitchFamily="18" charset="0"/>
                                  </a:rPr>
                                  <m:t>−0.0006</m:t>
                                </m:r>
                              </m:e>
                            </m:mr>
                            <m:mr>
                              <m:e>
                                <m:r>
                                  <a:rPr lang="en-US" sz="1050" b="0" i="0">
                                    <a:latin typeface="Cambria Math" panose="02040503050406030204" pitchFamily="18" charset="0"/>
                                  </a:rPr>
                                  <m:t>0.0112</m:t>
                                </m:r>
                              </m:e>
                              <m:e>
                                <m:r>
                                  <a:rPr lang="en-US" sz="1050" b="0" i="0">
                                    <a:latin typeface="Cambria Math" panose="02040503050406030204" pitchFamily="18" charset="0"/>
                                  </a:rPr>
                                  <m:t>0.3803</m:t>
                                </m:r>
                              </m:e>
                              <m:e>
                                <m:r>
                                  <a:rPr lang="en-US" sz="1050" b="0" i="0">
                                    <a:latin typeface="Cambria Math" panose="02040503050406030204" pitchFamily="18" charset="0"/>
                                  </a:rPr>
                                  <m:t>−0.0103</m:t>
                                </m:r>
                              </m:e>
                              <m:e>
                                <m:r>
                                  <a:rPr lang="en-US" sz="1050" b="0" i="0">
                                    <a:latin typeface="Cambria Math" panose="02040503050406030204" pitchFamily="18" charset="0"/>
                                  </a:rPr>
                                  <m:t>0.3807</m:t>
                                </m:r>
                              </m:e>
                              <m:e>
                                <m:r>
                                  <a:rPr lang="en-US" sz="1050" b="0" i="0">
                                    <a:latin typeface="Cambria Math" panose="02040503050406030204" pitchFamily="18" charset="0"/>
                                  </a:rPr>
                                  <m:t>1.3927</m:t>
                                </m:r>
                              </m:e>
                              <m:e>
                                <m:r>
                                  <a:rPr lang="en-US" sz="1050" b="0" i="0">
                                    <a:latin typeface="Cambria Math" panose="02040503050406030204" pitchFamily="18" charset="0"/>
                                  </a:rPr>
                                  <m:t>−0.1260</m:t>
                                </m:r>
                              </m:e>
                            </m:mr>
                            <m:mr>
                              <m:e>
                                <m:r>
                                  <a:rPr lang="en-US" sz="1050" b="0" i="0">
                                    <a:latin typeface="Cambria Math" panose="02040503050406030204" pitchFamily="18" charset="0"/>
                                  </a:rPr>
                                  <m:t>−0.3287</m:t>
                                </m:r>
                              </m:e>
                              <m:e>
                                <m:r>
                                  <a:rPr lang="en-US" sz="1050" b="0" i="0">
                                    <a:latin typeface="Cambria Math" panose="02040503050406030204" pitchFamily="18" charset="0"/>
                                  </a:rPr>
                                  <m:t>−0.4340</m:t>
                                </m:r>
                              </m:e>
                              <m:e>
                                <m:r>
                                  <a:rPr lang="en-US" sz="1050" b="0" i="0">
                                    <a:latin typeface="Cambria Math" panose="02040503050406030204" pitchFamily="18" charset="0"/>
                                  </a:rPr>
                                  <m:t>−0.3317</m:t>
                                </m:r>
                              </m:e>
                              <m:e>
                                <m:r>
                                  <a:rPr lang="en-US" sz="1050" b="0" i="0">
                                    <a:latin typeface="Cambria Math" panose="02040503050406030204" pitchFamily="18" charset="0"/>
                                  </a:rPr>
                                  <m:t>−0.4351</m:t>
                                </m:r>
                              </m:e>
                              <m:e>
                                <m:r>
                                  <a:rPr lang="en-US" sz="1050" b="0" i="0">
                                    <a:latin typeface="Cambria Math" panose="02040503050406030204" pitchFamily="18" charset="0"/>
                                  </a:rPr>
                                  <m:t>−0.4873</m:t>
                                </m:r>
                              </m:e>
                              <m:e>
                                <m:r>
                                  <a:rPr lang="en-US" sz="1050" b="0" i="0">
                                    <a:latin typeface="Cambria Math" panose="02040503050406030204" pitchFamily="18" charset="0"/>
                                  </a:rPr>
                                  <m:t>0.8305</m:t>
                                </m:r>
                              </m:e>
                            </m:mr>
                          </m:m>
                        </m:e>
                      </m:d>
                      <m:r>
                        <a:rPr lang="en-US" sz="1050" b="0" i="0">
                          <a:latin typeface="Cambria Math" panose="02040503050406030204" pitchFamily="18" charset="0"/>
                        </a:rPr>
                        <m:t>  </m:t>
                      </m:r>
                    </m:oMath>
                  </m:oMathPara>
                </a14:m>
                <a:endParaRPr lang="en-US" sz="900" dirty="0"/>
              </a:p>
            </p:txBody>
          </p:sp>
        </mc:Choice>
        <mc:Fallback xmlns="">
          <p:sp>
            <p:nvSpPr>
              <p:cNvPr id="900" name="CalibV_s_mat"/>
              <p:cNvSpPr txBox="1">
                <a:spLocks noRot="1" noChangeAspect="1" noMove="1" noResize="1" noEditPoints="1" noAdjustHandles="1" noChangeArrowheads="1" noChangeShapeType="1" noTextEdit="1"/>
              </p:cNvSpPr>
              <p:nvPr/>
            </p:nvSpPr>
            <p:spPr>
              <a:xfrm>
                <a:off x="3509544" y="1158219"/>
                <a:ext cx="3911600" cy="868680"/>
              </a:xfrm>
              <a:prstGeom prst="rect">
                <a:avLst/>
              </a:prstGeom>
              <a:blipFill>
                <a:blip r:embed="rId21"/>
                <a:stretch>
                  <a:fillRect l="-6084" b="-352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01" name="CalibV_s_sc"/>
              <p:cNvSpPr txBox="1"/>
              <p:nvPr/>
            </p:nvSpPr>
            <p:spPr>
              <a:xfrm>
                <a:off x="3241649" y="2189453"/>
                <a:ext cx="3556000" cy="256032"/>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200" b="0" i="1">
                              <a:latin typeface="Cambria Math" panose="02040503050406030204" pitchFamily="18" charset="0"/>
                            </a:rPr>
                          </m:ctrlPr>
                        </m:accPr>
                        <m:e>
                          <m:r>
                            <a:rPr lang="en-US" sz="1200" b="0" i="1">
                              <a:latin typeface="Cambria Math" panose="02040503050406030204" pitchFamily="18" charset="0"/>
                            </a:rPr>
                            <m:t>ℓ</m:t>
                          </m:r>
                        </m:e>
                      </m:acc>
                      <m:r>
                        <a:rPr lang="en-US" sz="1200" b="0" i="0">
                          <a:latin typeface="Cambria Math" panose="02040503050406030204" pitchFamily="18" charset="0"/>
                        </a:rPr>
                        <m:t> = 870.7 </m:t>
                      </m:r>
                      <m:r>
                        <m:rPr>
                          <m:sty m:val="p"/>
                        </m:rPr>
                        <a:rPr lang="en-US" sz="1200" b="0" i="0">
                          <a:latin typeface="Cambria Math" panose="02040503050406030204" pitchFamily="18" charset="0"/>
                        </a:rPr>
                        <m:t>μm</m:t>
                      </m:r>
                      <m:r>
                        <a:rPr lang="en-US" sz="1200" b="0" i="0">
                          <a:latin typeface="Cambria Math" panose="02040503050406030204" pitchFamily="18" charset="0"/>
                        </a:rPr>
                        <m:t>  </m:t>
                      </m:r>
                      <m:sPre>
                        <m:sPrePr>
                          <m:ctrlPr>
                            <a:rPr lang="en-US" sz="1200" b="0" i="1">
                              <a:latin typeface="Cambria Math" panose="02040503050406030204" pitchFamily="18" charset="0"/>
                            </a:rPr>
                          </m:ctrlPr>
                        </m:sPrePr>
                        <m:sub/>
                        <m:sup>
                          <m:r>
                            <a:rPr lang="en-US" sz="1200" b="0" i="1">
                              <a:latin typeface="Cambria Math" panose="02040503050406030204" pitchFamily="18" charset="0"/>
                            </a:rPr>
                            <m:t>𝐵</m:t>
                          </m:r>
                        </m:sup>
                        <m:e>
                          <m:sSub>
                            <m:sSubPr>
                              <m:ctrlPr>
                                <a:rPr lang="en-US" sz="1200" b="0" i="1">
                                  <a:latin typeface="Cambria Math" panose="02040503050406030204" pitchFamily="18" charset="0"/>
                                </a:rPr>
                              </m:ctrlPr>
                            </m:sSubPr>
                            <m:e>
                              <m:acc>
                                <m:accPr>
                                  <m:chr m:val="̂"/>
                                  <m:ctrlPr>
                                    <a:rPr lang="en-US" sz="1200" b="0" i="1">
                                      <a:latin typeface="Cambria Math" panose="02040503050406030204" pitchFamily="18" charset="0"/>
                                    </a:rPr>
                                  </m:ctrlPr>
                                </m:accPr>
                                <m:e>
                                  <m:r>
                                    <a:rPr lang="en-US" sz="1200" b="0" i="1">
                                      <a:latin typeface="Cambria Math" panose="02040503050406030204" pitchFamily="18" charset="0"/>
                                    </a:rPr>
                                    <m:t>𝑔</m:t>
                                  </m:r>
                                </m:e>
                              </m:acc>
                            </m:e>
                            <m:sub>
                              <m:r>
                                <a:rPr lang="en-US" sz="1200" b="0" i="1">
                                  <a:latin typeface="Cambria Math" panose="02040503050406030204" pitchFamily="18" charset="0"/>
                                </a:rPr>
                                <m:t>𝑉</m:t>
                              </m:r>
                            </m:sub>
                          </m:sSub>
                        </m:e>
                      </m:sPre>
                      <m:r>
                        <a:rPr lang="en-US" sz="1200" b="0" i="0">
                          <a:latin typeface="Cambria Math" panose="02040503050406030204" pitchFamily="18" charset="0"/>
                        </a:rPr>
                        <m:t> = 5.1056×</m:t>
                      </m:r>
                      <m:sSup>
                        <m:sSupPr>
                          <m:ctrlPr>
                            <a:rPr lang="en-US" sz="1200" b="0" i="1">
                              <a:latin typeface="Cambria Math" panose="02040503050406030204" pitchFamily="18" charset="0"/>
                            </a:rPr>
                          </m:ctrlPr>
                        </m:sSupPr>
                        <m:e>
                          <m:r>
                            <a:rPr lang="en-US" sz="1200" b="0" i="0">
                              <a:latin typeface="Cambria Math" panose="02040503050406030204" pitchFamily="18" charset="0"/>
                            </a:rPr>
                            <m:t>10</m:t>
                          </m:r>
                        </m:e>
                        <m:sup>
                          <m:r>
                            <a:rPr lang="en-US" sz="1200" b="0" i="0">
                              <a:latin typeface="Cambria Math" panose="02040503050406030204" pitchFamily="18" charset="0"/>
                            </a:rPr>
                            <m:t>−3</m:t>
                          </m:r>
                        </m:sup>
                      </m:sSup>
                      <m:r>
                        <a:rPr lang="en-US" sz="1200" b="0" i="0">
                          <a:latin typeface="Cambria Math" panose="02040503050406030204" pitchFamily="18" charset="0"/>
                        </a:rPr>
                        <m:t> </m:t>
                      </m:r>
                      <m:r>
                        <m:rPr>
                          <m:sty m:val="p"/>
                        </m:rPr>
                        <a:rPr lang="en-US" sz="1200" b="0" i="0">
                          <a:latin typeface="Cambria Math" panose="02040503050406030204" pitchFamily="18" charset="0"/>
                        </a:rPr>
                        <m:t>mT</m:t>
                      </m:r>
                      <m:r>
                        <a:rPr lang="en-US" sz="1200" b="0" i="0">
                          <a:latin typeface="Cambria Math" panose="02040503050406030204" pitchFamily="18" charset="0"/>
                        </a:rPr>
                        <m:t>/</m:t>
                      </m:r>
                      <m:r>
                        <m:rPr>
                          <m:sty m:val="p"/>
                        </m:rPr>
                        <a:rPr lang="en-US" sz="1200" b="0" i="0">
                          <a:latin typeface="Cambria Math" panose="02040503050406030204" pitchFamily="18" charset="0"/>
                        </a:rPr>
                        <m:t>mV</m:t>
                      </m:r>
                      <m:r>
                        <a:rPr lang="en-US" sz="1200" b="0" i="0">
                          <a:latin typeface="Cambria Math" panose="02040503050406030204" pitchFamily="18" charset="0"/>
                        </a:rPr>
                        <m:t> </m:t>
                      </m:r>
                    </m:oMath>
                  </m:oMathPara>
                </a14:m>
                <a:endParaRPr lang="en-US" sz="1200" dirty="0"/>
              </a:p>
            </p:txBody>
          </p:sp>
        </mc:Choice>
        <mc:Fallback xmlns="">
          <p:sp>
            <p:nvSpPr>
              <p:cNvPr id="901" name="CalibV_s_sc"/>
              <p:cNvSpPr txBox="1">
                <a:spLocks noRot="1" noChangeAspect="1" noMove="1" noResize="1" noEditPoints="1" noAdjustHandles="1" noChangeArrowheads="1" noChangeShapeType="1" noTextEdit="1"/>
              </p:cNvSpPr>
              <p:nvPr/>
            </p:nvSpPr>
            <p:spPr>
              <a:xfrm>
                <a:off x="3241649" y="2189453"/>
                <a:ext cx="3556000" cy="256032"/>
              </a:xfrm>
              <a:prstGeom prst="rect">
                <a:avLst/>
              </a:prstGeom>
              <a:blipFill>
                <a:blip r:embed="rId22"/>
                <a:stretch>
                  <a:fillRect l="-858" t="-11905" r="-858" b="-1904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02" name="CalibV_e_mat"/>
              <p:cNvSpPr txBox="1"/>
              <p:nvPr/>
            </p:nvSpPr>
            <p:spPr>
              <a:xfrm>
                <a:off x="3685606" y="2770616"/>
                <a:ext cx="3793066" cy="868680"/>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200" b="0" i="1">
                              <a:latin typeface="Cambria Math" panose="02040503050406030204" pitchFamily="18" charset="0"/>
                            </a:rPr>
                          </m:ctrlPr>
                        </m:accPr>
                        <m:e>
                          <m:r>
                            <a:rPr lang="en-US" sz="1200" b="0" i="1">
                              <a:latin typeface="Cambria Math" panose="02040503050406030204" pitchFamily="18" charset="0"/>
                            </a:rPr>
                            <m:t>𝑀</m:t>
                          </m:r>
                        </m:e>
                      </m:acc>
                      <m:r>
                        <a:rPr lang="en-US" sz="1200" b="0" i="0">
                          <a:latin typeface="Cambria Math" panose="02040503050406030204" pitchFamily="18" charset="0"/>
                        </a:rPr>
                        <m:t> =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0.8333</m:t>
                                </m:r>
                              </m:e>
                              <m:e>
                                <m:r>
                                  <a:rPr lang="en-US" sz="1200" b="0" i="0">
                                    <a:latin typeface="Cambria Math" panose="02040503050406030204" pitchFamily="18" charset="0"/>
                                  </a:rPr>
                                  <m:t>−0.4405</m:t>
                                </m:r>
                              </m:e>
                              <m:e>
                                <m:r>
                                  <a:rPr lang="en-US" sz="1200" b="0" i="0">
                                    <a:latin typeface="Cambria Math" panose="02040503050406030204" pitchFamily="18" charset="0"/>
                                  </a:rPr>
                                  <m:t>−0.1801</m:t>
                                </m:r>
                              </m:e>
                              <m:e>
                                <m:r>
                                  <a:rPr lang="en-US" sz="1200" b="0" i="0">
                                    <a:latin typeface="Cambria Math" panose="02040503050406030204" pitchFamily="18" charset="0"/>
                                  </a:rPr>
                                  <m:t>−0.3899</m:t>
                                </m:r>
                              </m:e>
                              <m:e>
                                <m:r>
                                  <a:rPr lang="en-US" sz="1200" b="0" i="0">
                                    <a:latin typeface="Cambria Math" panose="02040503050406030204" pitchFamily="18" charset="0"/>
                                  </a:rPr>
                                  <m:t>−0.3907</m:t>
                                </m:r>
                              </m:e>
                              <m:e>
                                <m:r>
                                  <a:rPr lang="en-US" sz="1200" b="0" i="0">
                                    <a:latin typeface="Cambria Math" panose="02040503050406030204" pitchFamily="18" charset="0"/>
                                  </a:rPr>
                                  <m:t>−0.1805</m:t>
                                </m:r>
                              </m:e>
                            </m:mr>
                            <m:mr>
                              <m:e>
                                <m:r>
                                  <a:rPr lang="en-US" sz="1200" b="0" i="0">
                                    <a:latin typeface="Cambria Math" panose="02040503050406030204" pitchFamily="18" charset="0"/>
                                  </a:rPr>
                                  <m:t>−0.0069</m:t>
                                </m:r>
                              </m:e>
                              <m:e>
                                <m:r>
                                  <a:rPr lang="en-US" sz="1200" b="0" i="0">
                                    <a:latin typeface="Cambria Math" panose="02040503050406030204" pitchFamily="18" charset="0"/>
                                  </a:rPr>
                                  <m:t>1.1679</m:t>
                                </m:r>
                              </m:e>
                              <m:e>
                                <m:r>
                                  <a:rPr lang="en-US" sz="1200" b="0" i="0">
                                    <a:latin typeface="Cambria Math" panose="02040503050406030204" pitchFamily="18" charset="0"/>
                                  </a:rPr>
                                  <m:t>0.0087</m:t>
                                </m:r>
                              </m:e>
                              <m:e>
                                <m:r>
                                  <a:rPr lang="en-US" sz="1200" b="0" i="0">
                                    <a:latin typeface="Cambria Math" panose="02040503050406030204" pitchFamily="18" charset="0"/>
                                  </a:rPr>
                                  <m:t>0.3555</m:t>
                                </m:r>
                              </m:e>
                              <m:e>
                                <m:r>
                                  <a:rPr lang="en-US" sz="1200" b="0" i="0">
                                    <a:latin typeface="Cambria Math" panose="02040503050406030204" pitchFamily="18" charset="0"/>
                                  </a:rPr>
                                  <m:t>0.3598</m:t>
                                </m:r>
                              </m:e>
                              <m:e>
                                <m:r>
                                  <a:rPr lang="en-US" sz="1200" b="0" i="0">
                                    <a:latin typeface="Cambria Math" panose="02040503050406030204" pitchFamily="18" charset="0"/>
                                  </a:rPr>
                                  <m:t>0.0089</m:t>
                                </m:r>
                              </m:e>
                            </m:mr>
                            <m:mr>
                              <m:e>
                                <m:r>
                                  <a:rPr lang="en-US" sz="1200" b="0" i="0">
                                    <a:latin typeface="Cambria Math" panose="02040503050406030204" pitchFamily="18" charset="0"/>
                                  </a:rPr>
                                  <m:t>−0.1985</m:t>
                                </m:r>
                              </m:e>
                              <m:e>
                                <m:r>
                                  <a:rPr lang="en-US" sz="1200" b="0" i="0">
                                    <a:latin typeface="Cambria Math" panose="02040503050406030204" pitchFamily="18" charset="0"/>
                                  </a:rPr>
                                  <m:t>−0.4260</m:t>
                                </m:r>
                              </m:e>
                              <m:e>
                                <m:r>
                                  <a:rPr lang="en-US" sz="1200" b="0" i="0">
                                    <a:latin typeface="Cambria Math" panose="02040503050406030204" pitchFamily="18" charset="0"/>
                                  </a:rPr>
                                  <m:t>0.8298</m:t>
                                </m:r>
                              </m:e>
                              <m:e>
                                <m:r>
                                  <a:rPr lang="en-US" sz="1200" b="0" i="0">
                                    <a:latin typeface="Cambria Math" panose="02040503050406030204" pitchFamily="18" charset="0"/>
                                  </a:rPr>
                                  <m:t>−0.4640</m:t>
                                </m:r>
                              </m:e>
                              <m:e>
                                <m:r>
                                  <a:rPr lang="en-US" sz="1200" b="0" i="0">
                                    <a:latin typeface="Cambria Math" panose="02040503050406030204" pitchFamily="18" charset="0"/>
                                  </a:rPr>
                                  <m:t>−0.4228</m:t>
                                </m:r>
                              </m:e>
                              <m:e>
                                <m:r>
                                  <a:rPr lang="en-US" sz="1200" b="0" i="0">
                                    <a:latin typeface="Cambria Math" panose="02040503050406030204" pitchFamily="18" charset="0"/>
                                  </a:rPr>
                                  <m:t>−0.1982</m:t>
                                </m:r>
                              </m:e>
                            </m:mr>
                            <m:mr>
                              <m:e>
                                <m:r>
                                  <a:rPr lang="en-US" sz="1200" b="0" i="0">
                                    <a:latin typeface="Cambria Math" panose="02040503050406030204" pitchFamily="18" charset="0"/>
                                  </a:rPr>
                                  <m:t>0.0452</m:t>
                                </m:r>
                              </m:e>
                              <m:e>
                                <m:r>
                                  <a:rPr lang="en-US" sz="1200" b="0" i="0">
                                    <a:latin typeface="Cambria Math" panose="02040503050406030204" pitchFamily="18" charset="0"/>
                                  </a:rPr>
                                  <m:t>0.4119</m:t>
                                </m:r>
                              </m:e>
                              <m:e>
                                <m:r>
                                  <a:rPr lang="en-US" sz="1200" b="0" i="0">
                                    <a:latin typeface="Cambria Math" panose="02040503050406030204" pitchFamily="18" charset="0"/>
                                  </a:rPr>
                                  <m:t>0.0222</m:t>
                                </m:r>
                              </m:e>
                              <m:e>
                                <m:r>
                                  <a:rPr lang="en-US" sz="1200" b="0" i="0">
                                    <a:latin typeface="Cambria Math" panose="02040503050406030204" pitchFamily="18" charset="0"/>
                                  </a:rPr>
                                  <m:t>1.2231</m:t>
                                </m:r>
                              </m:e>
                              <m:e>
                                <m:r>
                                  <a:rPr lang="en-US" sz="1200" b="0" i="0">
                                    <a:latin typeface="Cambria Math" panose="02040503050406030204" pitchFamily="18" charset="0"/>
                                  </a:rPr>
                                  <m:t>0.4136</m:t>
                                </m:r>
                              </m:e>
                              <m:e>
                                <m:r>
                                  <a:rPr lang="en-US" sz="1200" b="0" i="0">
                                    <a:latin typeface="Cambria Math" panose="02040503050406030204" pitchFamily="18" charset="0"/>
                                  </a:rPr>
                                  <m:t>0.0347</m:t>
                                </m:r>
                              </m:e>
                            </m:mr>
                            <m:mr>
                              <m:e>
                                <m:r>
                                  <a:rPr lang="en-US" sz="1200" b="0" i="0">
                                    <a:latin typeface="Cambria Math" panose="02040503050406030204" pitchFamily="18" charset="0"/>
                                  </a:rPr>
                                  <m:t>0.0421</m:t>
                                </m:r>
                              </m:e>
                              <m:e>
                                <m:r>
                                  <a:rPr lang="en-US" sz="1200" b="0" i="0">
                                    <a:latin typeface="Cambria Math" panose="02040503050406030204" pitchFamily="18" charset="0"/>
                                  </a:rPr>
                                  <m:t>0.4011</m:t>
                                </m:r>
                              </m:e>
                              <m:e>
                                <m:r>
                                  <a:rPr lang="en-US" sz="1200" b="0" i="0">
                                    <a:latin typeface="Cambria Math" panose="02040503050406030204" pitchFamily="18" charset="0"/>
                                  </a:rPr>
                                  <m:t>0.0309</m:t>
                                </m:r>
                              </m:e>
                              <m:e>
                                <m:r>
                                  <a:rPr lang="en-US" sz="1200" b="0" i="0">
                                    <a:latin typeface="Cambria Math" panose="02040503050406030204" pitchFamily="18" charset="0"/>
                                  </a:rPr>
                                  <m:t>0.4012</m:t>
                                </m:r>
                              </m:e>
                              <m:e>
                                <m:r>
                                  <a:rPr lang="en-US" sz="1200" b="0" i="0">
                                    <a:latin typeface="Cambria Math" panose="02040503050406030204" pitchFamily="18" charset="0"/>
                                  </a:rPr>
                                  <m:t>1.2313</m:t>
                                </m:r>
                              </m:e>
                              <m:e>
                                <m:r>
                                  <a:rPr lang="en-US" sz="1200" b="0" i="0">
                                    <a:latin typeface="Cambria Math" panose="02040503050406030204" pitchFamily="18" charset="0"/>
                                  </a:rPr>
                                  <m:t>0.0113</m:t>
                                </m:r>
                              </m:e>
                            </m:mr>
                            <m:mr>
                              <m:e>
                                <m:r>
                                  <a:rPr lang="en-US" sz="1200" b="0" i="0">
                                    <a:latin typeface="Cambria Math" panose="02040503050406030204" pitchFamily="18" charset="0"/>
                                  </a:rPr>
                                  <m:t>−0.1925</m:t>
                                </m:r>
                              </m:e>
                              <m:e>
                                <m:r>
                                  <a:rPr lang="en-US" sz="1200" b="0" i="0">
                                    <a:latin typeface="Cambria Math" panose="02040503050406030204" pitchFamily="18" charset="0"/>
                                  </a:rPr>
                                  <m:t>−0.4065</m:t>
                                </m:r>
                              </m:e>
                              <m:e>
                                <m:r>
                                  <a:rPr lang="en-US" sz="1200" b="0" i="0">
                                    <a:latin typeface="Cambria Math" panose="02040503050406030204" pitchFamily="18" charset="0"/>
                                  </a:rPr>
                                  <m:t>−0.1873</m:t>
                                </m:r>
                              </m:e>
                              <m:e>
                                <m:r>
                                  <a:rPr lang="en-US" sz="1200" b="0" i="0">
                                    <a:latin typeface="Cambria Math" panose="02040503050406030204" pitchFamily="18" charset="0"/>
                                  </a:rPr>
                                  <m:t>−0.4061</m:t>
                                </m:r>
                              </m:e>
                              <m:e>
                                <m:r>
                                  <a:rPr lang="en-US" sz="1200" b="0" i="0">
                                    <a:latin typeface="Cambria Math" panose="02040503050406030204" pitchFamily="18" charset="0"/>
                                  </a:rPr>
                                  <m:t>−0.4554</m:t>
                                </m:r>
                              </m:e>
                              <m:e>
                                <m:r>
                                  <a:rPr lang="en-US" sz="1200" b="0" i="0">
                                    <a:latin typeface="Cambria Math" panose="02040503050406030204" pitchFamily="18" charset="0"/>
                                  </a:rPr>
                                  <m:t>0.8474</m:t>
                                </m:r>
                              </m:e>
                            </m:mr>
                          </m:m>
                        </m:e>
                      </m:d>
                      <m:r>
                        <a:rPr lang="en-US" sz="1200" b="0" i="0">
                          <a:latin typeface="Cambria Math" panose="02040503050406030204" pitchFamily="18" charset="0"/>
                        </a:rPr>
                        <m:t> </m:t>
                      </m:r>
                    </m:oMath>
                  </m:oMathPara>
                </a14:m>
                <a:endParaRPr lang="en-US" sz="1200" dirty="0"/>
              </a:p>
            </p:txBody>
          </p:sp>
        </mc:Choice>
        <mc:Fallback xmlns="">
          <p:sp>
            <p:nvSpPr>
              <p:cNvPr id="902" name="CalibV_e_mat"/>
              <p:cNvSpPr txBox="1">
                <a:spLocks noRot="1" noChangeAspect="1" noMove="1" noResize="1" noEditPoints="1" noAdjustHandles="1" noChangeArrowheads="1" noChangeShapeType="1" noTextEdit="1"/>
              </p:cNvSpPr>
              <p:nvPr/>
            </p:nvSpPr>
            <p:spPr>
              <a:xfrm>
                <a:off x="3685606" y="2770616"/>
                <a:ext cx="3793066" cy="868680"/>
              </a:xfrm>
              <a:prstGeom prst="rect">
                <a:avLst/>
              </a:prstGeom>
              <a:blipFill>
                <a:blip r:embed="rId23"/>
                <a:stretch>
                  <a:fillRect l="-13666" r="-8842" b="-1748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03" name="CalibV_e_bias"/>
              <p:cNvSpPr txBox="1"/>
              <p:nvPr/>
            </p:nvSpPr>
            <p:spPr>
              <a:xfrm>
                <a:off x="3342803" y="3991344"/>
                <a:ext cx="3793065" cy="539062"/>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altLang="zh-TW" sz="1050" b="0" i="1" smtClean="0">
                              <a:latin typeface="Cambria Math" panose="02040503050406030204" pitchFamily="18" charset="0"/>
                            </a:rPr>
                          </m:ctrlPr>
                        </m:accPr>
                        <m:e>
                          <m:r>
                            <a:rPr lang="en-US" altLang="zh-TW" sz="1050" b="0" i="1" smtClean="0">
                              <a:latin typeface="Cambria Math" panose="02040503050406030204" pitchFamily="18" charset="0"/>
                            </a:rPr>
                            <m:t>𝑒</m:t>
                          </m:r>
                        </m:e>
                      </m:acc>
                      <m:r>
                        <a:rPr lang="en-US" sz="1050" b="0" i="0">
                          <a:latin typeface="Cambria Math" panose="02040503050406030204" pitchFamily="18" charset="0"/>
                        </a:rPr>
                        <m:t>= </m:t>
                      </m:r>
                      <m:d>
                        <m:dPr>
                          <m:begChr m:val="["/>
                          <m:endChr m:val="]"/>
                          <m:ctrlPr>
                            <a:rPr lang="en-US" sz="1050" b="0" i="1">
                              <a:latin typeface="Cambria Math" panose="02040503050406030204" pitchFamily="18" charset="0"/>
                            </a:rPr>
                          </m:ctrlPr>
                        </m:dPr>
                        <m:e>
                          <m:m>
                            <m:mPr>
                              <m:mcs>
                                <m:mc>
                                  <m:mcPr>
                                    <m:count m:val="6"/>
                                    <m:mcJc m:val="center"/>
                                  </m:mcPr>
                                </m:mc>
                              </m:mcs>
                              <m:ctrlPr>
                                <a:rPr lang="en-US" sz="1050" b="0" i="1">
                                  <a:latin typeface="Cambria Math" panose="02040503050406030204" pitchFamily="18" charset="0"/>
                                </a:rPr>
                              </m:ctrlPr>
                            </m:mPr>
                            <m:mr>
                              <m:e>
                                <m:r>
                                  <a:rPr lang="en-US" sz="1050" b="0" i="0">
                                    <a:latin typeface="Cambria Math" panose="02040503050406030204" pitchFamily="18" charset="0"/>
                                  </a:rPr>
                                  <m:t>0.0134</m:t>
                                </m:r>
                              </m:e>
                              <m:e>
                                <m:r>
                                  <a:rPr lang="en-US" sz="1050" b="0" i="0">
                                    <a:latin typeface="Cambria Math" panose="02040503050406030204" pitchFamily="18" charset="0"/>
                                  </a:rPr>
                                  <m:t>0.0200</m:t>
                                </m:r>
                              </m:e>
                              <m:e>
                                <m:r>
                                  <a:rPr lang="en-US" sz="1050" b="0" i="0">
                                    <a:latin typeface="Cambria Math" panose="02040503050406030204" pitchFamily="18" charset="0"/>
                                  </a:rPr>
                                  <m:t>−0.1170</m:t>
                                </m:r>
                              </m:e>
                              <m:e>
                                <m:r>
                                  <a:rPr lang="en-US" sz="1050" b="0" i="0">
                                    <a:latin typeface="Cambria Math" panose="02040503050406030204" pitchFamily="18" charset="0"/>
                                  </a:rPr>
                                  <m:t>0.0016</m:t>
                                </m:r>
                              </m:e>
                              <m:e>
                                <m:r>
                                  <a:rPr lang="en-US" sz="1050" b="0" i="0">
                                    <a:latin typeface="Cambria Math" panose="02040503050406030204" pitchFamily="18" charset="0"/>
                                  </a:rPr>
                                  <m:t>0.0006</m:t>
                                </m:r>
                              </m:e>
                              <m:e>
                                <m:r>
                                  <a:rPr lang="en-US" sz="1050" b="0" i="0">
                                    <a:latin typeface="Cambria Math" panose="02040503050406030204" pitchFamily="18" charset="0"/>
                                  </a:rPr>
                                  <m:t>−0.1170</m:t>
                                </m:r>
                              </m:e>
                            </m:mr>
                            <m:mr>
                              <m:e>
                                <m:r>
                                  <a:rPr lang="en-US" sz="1050" b="0" i="0">
                                    <a:latin typeface="Cambria Math" panose="02040503050406030204" pitchFamily="18" charset="0"/>
                                  </a:rPr>
                                  <m:t>−0.1155</m:t>
                                </m:r>
                              </m:e>
                              <m:e>
                                <m:r>
                                  <a:rPr lang="en-US" sz="1050" b="0" i="0">
                                    <a:latin typeface="Cambria Math" panose="02040503050406030204" pitchFamily="18" charset="0"/>
                                  </a:rPr>
                                  <m:t>0.0028</m:t>
                                </m:r>
                              </m:e>
                              <m:e>
                                <m:r>
                                  <a:rPr lang="en-US" sz="1050" b="0" i="0">
                                    <a:latin typeface="Cambria Math" panose="02040503050406030204" pitchFamily="18" charset="0"/>
                                  </a:rPr>
                                  <m:t>0.0185</m:t>
                                </m:r>
                              </m:e>
                              <m:e>
                                <m:r>
                                  <a:rPr lang="en-US" sz="1050" b="0" i="0">
                                    <a:latin typeface="Cambria Math" panose="02040503050406030204" pitchFamily="18" charset="0"/>
                                  </a:rPr>
                                  <m:t>0.0168</m:t>
                                </m:r>
                              </m:e>
                              <m:e>
                                <m:r>
                                  <a:rPr lang="en-US" sz="1050" b="0" i="0">
                                    <a:latin typeface="Cambria Math" panose="02040503050406030204" pitchFamily="18" charset="0"/>
                                  </a:rPr>
                                  <m:t>0.0012</m:t>
                                </m:r>
                              </m:e>
                              <m:e>
                                <m:r>
                                  <a:rPr lang="en-US" sz="1050" b="0" i="0">
                                    <a:latin typeface="Cambria Math" panose="02040503050406030204" pitchFamily="18" charset="0"/>
                                  </a:rPr>
                                  <m:t>−0.1168</m:t>
                                </m:r>
                              </m:e>
                            </m:mr>
                            <m:mr>
                              <m:e>
                                <m:r>
                                  <a:rPr lang="en-US" sz="1050" b="0" i="0">
                                    <a:latin typeface="Cambria Math" panose="02040503050406030204" pitchFamily="18" charset="0"/>
                                  </a:rPr>
                                  <m:t>0.1152</m:t>
                                </m:r>
                              </m:e>
                              <m:e>
                                <m:r>
                                  <a:rPr lang="en-US" sz="1050" b="0" i="0">
                                    <a:latin typeface="Cambria Math" panose="02040503050406030204" pitchFamily="18" charset="0"/>
                                  </a:rPr>
                                  <m:t>−0.0026</m:t>
                                </m:r>
                              </m:e>
                              <m:e>
                                <m:r>
                                  <a:rPr lang="en-US" sz="1050" b="0" i="0">
                                    <a:latin typeface="Cambria Math" panose="02040503050406030204" pitchFamily="18" charset="0"/>
                                  </a:rPr>
                                  <m:t>0.1159</m:t>
                                </m:r>
                              </m:e>
                              <m:e>
                                <m:r>
                                  <a:rPr lang="en-US" sz="1050" b="0" i="0">
                                    <a:latin typeface="Cambria Math" panose="02040503050406030204" pitchFamily="18" charset="0"/>
                                  </a:rPr>
                                  <m:t>−0.0025</m:t>
                                </m:r>
                              </m:e>
                              <m:e>
                                <m:r>
                                  <a:rPr lang="en-US" sz="1050" b="0" i="0">
                                    <a:latin typeface="Cambria Math" panose="02040503050406030204" pitchFamily="18" charset="0"/>
                                  </a:rPr>
                                  <m:t>−0.0137</m:t>
                                </m:r>
                              </m:e>
                              <m:e>
                                <m:r>
                                  <a:rPr lang="en-US" sz="1050" b="0" i="0">
                                    <a:latin typeface="Cambria Math" panose="02040503050406030204" pitchFamily="18" charset="0"/>
                                  </a:rPr>
                                  <m:t>−0.0187</m:t>
                                </m:r>
                              </m:e>
                            </m:mr>
                          </m:m>
                        </m:e>
                      </m:d>
                    </m:oMath>
                  </m:oMathPara>
                </a14:m>
                <a:endParaRPr lang="en-US" sz="1050" dirty="0"/>
              </a:p>
            </p:txBody>
          </p:sp>
        </mc:Choice>
        <mc:Fallback xmlns="">
          <p:sp>
            <p:nvSpPr>
              <p:cNvPr id="903" name="CalibV_e_bias"/>
              <p:cNvSpPr txBox="1">
                <a:spLocks noRot="1" noChangeAspect="1" noMove="1" noResize="1" noEditPoints="1" noAdjustHandles="1" noChangeArrowheads="1" noChangeShapeType="1" noTextEdit="1"/>
              </p:cNvSpPr>
              <p:nvPr/>
            </p:nvSpPr>
            <p:spPr>
              <a:xfrm>
                <a:off x="3342803" y="3991344"/>
                <a:ext cx="3793065" cy="539062"/>
              </a:xfrm>
              <a:prstGeom prst="rect">
                <a:avLst/>
              </a:prstGeom>
              <a:blipFill>
                <a:blip r:embed="rId24"/>
                <a:stretch>
                  <a:fillRect l="-4494" t="-2273" r="-288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04" name="CalibV_e_sc"/>
              <p:cNvSpPr txBox="1"/>
              <p:nvPr/>
            </p:nvSpPr>
            <p:spPr>
              <a:xfrm>
                <a:off x="3342803" y="4692808"/>
                <a:ext cx="3208867" cy="256032"/>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200" b="0" i="1">
                              <a:latin typeface="Cambria Math" panose="02040503050406030204" pitchFamily="18" charset="0"/>
                            </a:rPr>
                          </m:ctrlPr>
                        </m:accPr>
                        <m:e>
                          <m:r>
                            <a:rPr lang="en-US" sz="1200" b="0" i="1">
                              <a:latin typeface="Cambria Math" panose="02040503050406030204" pitchFamily="18" charset="0"/>
                            </a:rPr>
                            <m:t>ℓ</m:t>
                          </m:r>
                        </m:e>
                      </m:acc>
                      <m:r>
                        <a:rPr lang="en-US" sz="1200" b="0" i="0">
                          <a:latin typeface="Cambria Math" panose="02040503050406030204" pitchFamily="18" charset="0"/>
                        </a:rPr>
                        <m:t> = 868.4 </m:t>
                      </m:r>
                      <m:r>
                        <m:rPr>
                          <m:sty m:val="p"/>
                        </m:rPr>
                        <a:rPr lang="en-US" sz="1200" b="0" i="0">
                          <a:latin typeface="Cambria Math" panose="02040503050406030204" pitchFamily="18" charset="0"/>
                        </a:rPr>
                        <m:t>μm</m:t>
                      </m:r>
                      <m:r>
                        <a:rPr lang="en-US" sz="1200" b="0" i="0">
                          <a:latin typeface="Cambria Math" panose="02040503050406030204" pitchFamily="18" charset="0"/>
                        </a:rPr>
                        <m:t>  </m:t>
                      </m:r>
                      <m:sPre>
                        <m:sPrePr>
                          <m:ctrlPr>
                            <a:rPr lang="en-US" sz="1200" b="0" i="1">
                              <a:latin typeface="Cambria Math" panose="02040503050406030204" pitchFamily="18" charset="0"/>
                            </a:rPr>
                          </m:ctrlPr>
                        </m:sPrePr>
                        <m:sub/>
                        <m:sup>
                          <m:r>
                            <a:rPr lang="en-US" sz="1200" b="0" i="1">
                              <a:latin typeface="Cambria Math" panose="02040503050406030204" pitchFamily="18" charset="0"/>
                            </a:rPr>
                            <m:t>𝐵</m:t>
                          </m:r>
                        </m:sup>
                        <m:e>
                          <m:sSub>
                            <m:sSubPr>
                              <m:ctrlPr>
                                <a:rPr lang="en-US" sz="1200" b="0" i="1">
                                  <a:latin typeface="Cambria Math" panose="02040503050406030204" pitchFamily="18" charset="0"/>
                                </a:rPr>
                              </m:ctrlPr>
                            </m:sSubPr>
                            <m:e>
                              <m:acc>
                                <m:accPr>
                                  <m:chr m:val="̂"/>
                                  <m:ctrlPr>
                                    <a:rPr lang="en-US" sz="1200" b="0" i="1">
                                      <a:latin typeface="Cambria Math" panose="02040503050406030204" pitchFamily="18" charset="0"/>
                                    </a:rPr>
                                  </m:ctrlPr>
                                </m:accPr>
                                <m:e>
                                  <m:r>
                                    <a:rPr lang="en-US" sz="1200" b="0" i="1">
                                      <a:latin typeface="Cambria Math" panose="02040503050406030204" pitchFamily="18" charset="0"/>
                                    </a:rPr>
                                    <m:t>𝑔</m:t>
                                  </m:r>
                                </m:e>
                              </m:acc>
                            </m:e>
                            <m:sub>
                              <m:r>
                                <a:rPr lang="en-US" sz="1200" b="0" i="1">
                                  <a:latin typeface="Cambria Math" panose="02040503050406030204" pitchFamily="18" charset="0"/>
                                </a:rPr>
                                <m:t>𝑉</m:t>
                              </m:r>
                            </m:sub>
                          </m:sSub>
                        </m:e>
                      </m:sPre>
                      <m:r>
                        <a:rPr lang="en-US" sz="1200" b="0" i="0">
                          <a:latin typeface="Cambria Math" panose="02040503050406030204" pitchFamily="18" charset="0"/>
                        </a:rPr>
                        <m:t> = 6.0002×</m:t>
                      </m:r>
                      <m:sSup>
                        <m:sSupPr>
                          <m:ctrlPr>
                            <a:rPr lang="en-US" sz="1200" b="0" i="1">
                              <a:latin typeface="Cambria Math" panose="02040503050406030204" pitchFamily="18" charset="0"/>
                            </a:rPr>
                          </m:ctrlPr>
                        </m:sSupPr>
                        <m:e>
                          <m:r>
                            <a:rPr lang="en-US" sz="1200" b="0" i="0">
                              <a:latin typeface="Cambria Math" panose="02040503050406030204" pitchFamily="18" charset="0"/>
                            </a:rPr>
                            <m:t>10</m:t>
                          </m:r>
                        </m:e>
                        <m:sup>
                          <m:r>
                            <a:rPr lang="en-US" sz="1200" b="0" i="0">
                              <a:latin typeface="Cambria Math" panose="02040503050406030204" pitchFamily="18" charset="0"/>
                            </a:rPr>
                            <m:t>−3</m:t>
                          </m:r>
                        </m:sup>
                      </m:sSup>
                      <m:r>
                        <a:rPr lang="en-US" sz="1200" b="0" i="0">
                          <a:latin typeface="Cambria Math" panose="02040503050406030204" pitchFamily="18" charset="0"/>
                        </a:rPr>
                        <m:t> </m:t>
                      </m:r>
                      <m:r>
                        <m:rPr>
                          <m:sty m:val="p"/>
                        </m:rPr>
                        <a:rPr lang="en-US" sz="1200" b="0" i="0">
                          <a:latin typeface="Cambria Math" panose="02040503050406030204" pitchFamily="18" charset="0"/>
                        </a:rPr>
                        <m:t>mT</m:t>
                      </m:r>
                      <m:r>
                        <a:rPr lang="en-US" sz="1200" b="0" i="0">
                          <a:latin typeface="Cambria Math" panose="02040503050406030204" pitchFamily="18" charset="0"/>
                        </a:rPr>
                        <m:t>/</m:t>
                      </m:r>
                      <m:r>
                        <m:rPr>
                          <m:sty m:val="p"/>
                        </m:rPr>
                        <a:rPr lang="en-US" sz="1200" b="0" i="0">
                          <a:latin typeface="Cambria Math" panose="02040503050406030204" pitchFamily="18" charset="0"/>
                        </a:rPr>
                        <m:t>mV</m:t>
                      </m:r>
                    </m:oMath>
                  </m:oMathPara>
                </a14:m>
                <a:endParaRPr lang="en-US" sz="1200" dirty="0"/>
              </a:p>
            </p:txBody>
          </p:sp>
        </mc:Choice>
        <mc:Fallback xmlns="">
          <p:sp>
            <p:nvSpPr>
              <p:cNvPr id="904" name="CalibV_e_sc"/>
              <p:cNvSpPr txBox="1">
                <a:spLocks noRot="1" noChangeAspect="1" noMove="1" noResize="1" noEditPoints="1" noAdjustHandles="1" noChangeArrowheads="1" noChangeShapeType="1" noTextEdit="1"/>
              </p:cNvSpPr>
              <p:nvPr/>
            </p:nvSpPr>
            <p:spPr>
              <a:xfrm>
                <a:off x="3342803" y="4692808"/>
                <a:ext cx="3208867" cy="256032"/>
              </a:xfrm>
              <a:prstGeom prst="rect">
                <a:avLst/>
              </a:prstGeom>
              <a:blipFill>
                <a:blip r:embed="rId25"/>
                <a:stretch>
                  <a:fillRect l="-3795" t="-14286" r="-2657" b="-1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0" name="文字方塊 29">
                <a:extLst>
                  <a:ext uri="{FF2B5EF4-FFF2-40B4-BE49-F238E27FC236}">
                    <a16:creationId xmlns:a16="http://schemas.microsoft.com/office/drawing/2014/main" id="{05D4D494-842A-47CF-AA77-F7674C9C2B84}"/>
                  </a:ext>
                </a:extLst>
              </p:cNvPr>
              <p:cNvSpPr txBox="1"/>
              <p:nvPr/>
            </p:nvSpPr>
            <p:spPr>
              <a:xfrm>
                <a:off x="7794871" y="1202365"/>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𝑉</m:t>
                                              </m:r>
                                            </m:sub>
                                          </m:sSub>
                                        </m:e>
                                      </m:sPre>
                                      <m:acc>
                                        <m:accPr>
                                          <m:chr m:val="̅"/>
                                          <m:ctrlPr>
                                            <a:rPr lang="zh-TW" altLang="en-US" sz="1400" i="1">
                                              <a:latin typeface="Cambria Math" panose="02040503050406030204" pitchFamily="18" charset="0"/>
                                            </a:rPr>
                                          </m:ctrlPr>
                                        </m:accPr>
                                        <m:e>
                                          <m:r>
                                            <a:rPr lang="en-US" altLang="zh-TW" sz="1400" i="1">
                                              <a:latin typeface="Cambria Math" panose="02040503050406030204" pitchFamily="18" charset="0"/>
                                            </a:rPr>
                                            <m:t>𝑀</m:t>
                                          </m:r>
                                        </m:e>
                                      </m:acc>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𝑉</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%=2.81%</m:t>
                      </m:r>
                    </m:oMath>
                  </m:oMathPara>
                </a14:m>
                <a:endParaRPr lang="zh-TW" altLang="en-US" sz="1400" dirty="0"/>
              </a:p>
            </p:txBody>
          </p:sp>
        </mc:Choice>
        <mc:Fallback xmlns="">
          <p:sp>
            <p:nvSpPr>
              <p:cNvPr id="30" name="文字方塊 29">
                <a:extLst>
                  <a:ext uri="{FF2B5EF4-FFF2-40B4-BE49-F238E27FC236}">
                    <a16:creationId xmlns:a16="http://schemas.microsoft.com/office/drawing/2014/main" id="{05D4D494-842A-47CF-AA77-F7674C9C2B84}"/>
                  </a:ext>
                </a:extLst>
              </p:cNvPr>
              <p:cNvSpPr txBox="1">
                <a:spLocks noRot="1" noChangeAspect="1" noMove="1" noResize="1" noEditPoints="1" noAdjustHandles="1" noChangeArrowheads="1" noChangeShapeType="1" noTextEdit="1"/>
              </p:cNvSpPr>
              <p:nvPr/>
            </p:nvSpPr>
            <p:spPr>
              <a:xfrm>
                <a:off x="7794871" y="1202365"/>
                <a:ext cx="4191000" cy="549509"/>
              </a:xfrm>
              <a:prstGeom prst="rect">
                <a:avLst/>
              </a:prstGeom>
              <a:blipFill>
                <a:blip r:embed="rId26"/>
                <a:stretch>
                  <a:fillRect b="-111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2" name="文字方塊 31">
                <a:extLst>
                  <a:ext uri="{FF2B5EF4-FFF2-40B4-BE49-F238E27FC236}">
                    <a16:creationId xmlns:a16="http://schemas.microsoft.com/office/drawing/2014/main" id="{C685C6EE-EA50-4331-ADBB-49A0A8EDD3B1}"/>
                  </a:ext>
                </a:extLst>
              </p:cNvPr>
              <p:cNvSpPr txBox="1"/>
              <p:nvPr/>
            </p:nvSpPr>
            <p:spPr>
              <a:xfrm>
                <a:off x="7794871" y="2770616"/>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𝑉</m:t>
                                              </m:r>
                                            </m:sub>
                                          </m:sSub>
                                        </m:e>
                                      </m:sPre>
                                      <m:acc>
                                        <m:accPr>
                                          <m:chr m:val="̅"/>
                                          <m:ctrlPr>
                                            <a:rPr lang="zh-TW" altLang="en-US" sz="1400" i="1">
                                              <a:latin typeface="Cambria Math" panose="02040503050406030204" pitchFamily="18" charset="0"/>
                                            </a:rPr>
                                          </m:ctrlPr>
                                        </m:accPr>
                                        <m:e>
                                          <m:r>
                                            <a:rPr lang="en-US" altLang="zh-TW" sz="1400" i="1">
                                              <a:latin typeface="Cambria Math" panose="02040503050406030204" pitchFamily="18" charset="0"/>
                                            </a:rPr>
                                            <m:t>𝑀</m:t>
                                          </m:r>
                                        </m:e>
                                      </m:acc>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𝑉</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%=0.32%</m:t>
                      </m:r>
                    </m:oMath>
                  </m:oMathPara>
                </a14:m>
                <a:endParaRPr lang="zh-TW" altLang="en-US" sz="1400" dirty="0"/>
              </a:p>
            </p:txBody>
          </p:sp>
        </mc:Choice>
        <mc:Fallback xmlns="">
          <p:sp>
            <p:nvSpPr>
              <p:cNvPr id="32" name="文字方塊 31">
                <a:extLst>
                  <a:ext uri="{FF2B5EF4-FFF2-40B4-BE49-F238E27FC236}">
                    <a16:creationId xmlns:a16="http://schemas.microsoft.com/office/drawing/2014/main" id="{C685C6EE-EA50-4331-ADBB-49A0A8EDD3B1}"/>
                  </a:ext>
                </a:extLst>
              </p:cNvPr>
              <p:cNvSpPr txBox="1">
                <a:spLocks noRot="1" noChangeAspect="1" noMove="1" noResize="1" noEditPoints="1" noAdjustHandles="1" noChangeArrowheads="1" noChangeShapeType="1" noTextEdit="1"/>
              </p:cNvSpPr>
              <p:nvPr/>
            </p:nvSpPr>
            <p:spPr>
              <a:xfrm>
                <a:off x="7794871" y="2770616"/>
                <a:ext cx="4191000" cy="549509"/>
              </a:xfrm>
              <a:prstGeom prst="rect">
                <a:avLst/>
              </a:prstGeom>
              <a:blipFill>
                <a:blip r:embed="rId2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50" name="CalibV_Vmat"/>
              <p:cNvSpPr txBox="1"/>
              <p:nvPr/>
            </p:nvSpPr>
            <p:spPr>
              <a:xfrm>
                <a:off x="2957124" y="5292768"/>
                <a:ext cx="6215426" cy="1527623"/>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r>
                        <a:rPr lang="en-US" sz="1100" b="0" i="1" smtClean="0">
                          <a:latin typeface="Cambria Math" panose="02040503050406030204" pitchFamily="18" charset="0"/>
                        </a:rPr>
                        <m:t>𝑉</m:t>
                      </m:r>
                      <m:r>
                        <a:rPr lang="en-US" sz="1100" b="0" i="0">
                          <a:latin typeface="Cambria Math" panose="02040503050406030204" pitchFamily="18" charset="0"/>
                        </a:rPr>
                        <m:t> = </m:t>
                      </m:r>
                      <m:d>
                        <m:dPr>
                          <m:begChr m:val="["/>
                          <m:endChr m:val="]"/>
                          <m:ctrlPr>
                            <a:rPr lang="en-US" sz="1100" b="0" i="1">
                              <a:latin typeface="Cambria Math" panose="02040503050406030204" pitchFamily="18" charset="0"/>
                            </a:rPr>
                          </m:ctrlPr>
                        </m:dPr>
                        <m:e>
                          <m:m>
                            <m:mPr>
                              <m:mcs>
                                <m:mc>
                                  <m:mcPr>
                                    <m:count m:val="6"/>
                                    <m:mcJc m:val="center"/>
                                  </m:mcPr>
                                </m:mc>
                              </m:mcs>
                              <m:ctrlPr>
                                <a:rPr lang="en-US" sz="1100" b="0" i="1">
                                  <a:latin typeface="Cambria Math" panose="02040503050406030204" pitchFamily="18" charset="0"/>
                                </a:rPr>
                              </m:ctrlPr>
                            </m:mPr>
                            <m:mr>
                              <m:e>
                                <m:r>
                                  <a:rPr lang="en-US" sz="1100" b="0" i="0">
                                    <a:latin typeface="Cambria Math" panose="02040503050406030204" pitchFamily="18" charset="0"/>
                                  </a:rPr>
                                  <m:t>1396.5391</m:t>
                                </m:r>
                              </m:e>
                              <m:e>
                                <m:r>
                                  <a:rPr lang="en-US" sz="1100" b="0" i="0">
                                    <a:latin typeface="Cambria Math" panose="02040503050406030204" pitchFamily="18" charset="0"/>
                                  </a:rPr>
                                  <m:t>−44.8828</m:t>
                                </m:r>
                              </m:e>
                              <m:e>
                                <m:r>
                                  <a:rPr lang="en-US" sz="1100" b="0" i="0">
                                    <a:latin typeface="Cambria Math" panose="02040503050406030204" pitchFamily="18" charset="0"/>
                                  </a:rPr>
                                  <m:t>−296.1518</m:t>
                                </m:r>
                              </m:e>
                              <m:e>
                                <m:r>
                                  <a:rPr lang="en-US" sz="1100" b="0" i="0">
                                    <a:latin typeface="Cambria Math" panose="02040503050406030204" pitchFamily="18" charset="0"/>
                                  </a:rPr>
                                  <m:t>−238.5032</m:t>
                                </m:r>
                              </m:e>
                              <m:e>
                                <m:r>
                                  <a:rPr lang="en-US" sz="1100" b="0" i="0">
                                    <a:latin typeface="Cambria Math" panose="02040503050406030204" pitchFamily="18" charset="0"/>
                                  </a:rPr>
                                  <m:t>−249.0178</m:t>
                                </m:r>
                              </m:e>
                              <m:e>
                                <m:r>
                                  <a:rPr lang="en-US" sz="1100" b="0" i="0">
                                    <a:latin typeface="Cambria Math" panose="02040503050406030204" pitchFamily="18" charset="0"/>
                                  </a:rPr>
                                  <m:t>−294.5193</m:t>
                                </m:r>
                              </m:e>
                            </m:mr>
                            <m:mr>
                              <m:e>
                                <m:r>
                                  <a:rPr lang="en-US" sz="1100" b="0" i="0">
                                    <a:latin typeface="Cambria Math" panose="02040503050406030204" pitchFamily="18" charset="0"/>
                                  </a:rPr>
                                  <m:t>−52.4041</m:t>
                                </m:r>
                              </m:e>
                              <m:e>
                                <m:r>
                                  <a:rPr lang="en-US" sz="1100" b="0" i="0">
                                    <a:latin typeface="Cambria Math" panose="02040503050406030204" pitchFamily="18" charset="0"/>
                                  </a:rPr>
                                  <m:t>1598.9320</m:t>
                                </m:r>
                              </m:e>
                              <m:e>
                                <m:r>
                                  <a:rPr lang="en-US" sz="1100" b="0" i="0">
                                    <a:latin typeface="Cambria Math" panose="02040503050406030204" pitchFamily="18" charset="0"/>
                                  </a:rPr>
                                  <m:t>−235.8027</m:t>
                                </m:r>
                              </m:e>
                              <m:e>
                                <m:r>
                                  <a:rPr lang="en-US" sz="1100" b="0" i="0">
                                    <a:latin typeface="Cambria Math" panose="02040503050406030204" pitchFamily="18" charset="0"/>
                                  </a:rPr>
                                  <m:t>−508.0018</m:t>
                                </m:r>
                              </m:e>
                              <m:e>
                                <m:r>
                                  <a:rPr lang="en-US" sz="1100" b="0" i="0">
                                    <a:latin typeface="Cambria Math" panose="02040503050406030204" pitchFamily="18" charset="0"/>
                                  </a:rPr>
                                  <m:t>−515.0291</m:t>
                                </m:r>
                              </m:e>
                              <m:e>
                                <m:r>
                                  <a:rPr lang="en-US" sz="1100" b="0" i="0">
                                    <a:latin typeface="Cambria Math" panose="02040503050406030204" pitchFamily="18" charset="0"/>
                                  </a:rPr>
                                  <m:t>−237.7953</m:t>
                                </m:r>
                              </m:e>
                            </m:mr>
                            <m:mr>
                              <m:e>
                                <m:r>
                                  <a:rPr lang="en-US" sz="1100" b="0" i="0">
                                    <a:latin typeface="Cambria Math" panose="02040503050406030204" pitchFamily="18" charset="0"/>
                                  </a:rPr>
                                  <m:t>−294.0077</m:t>
                                </m:r>
                              </m:e>
                              <m:e>
                                <m:r>
                                  <a:rPr lang="en-US" sz="1100" b="0" i="0">
                                    <a:latin typeface="Cambria Math" panose="02040503050406030204" pitchFamily="18" charset="0"/>
                                  </a:rPr>
                                  <m:t>−233.6914</m:t>
                                </m:r>
                              </m:e>
                              <m:e>
                                <m:r>
                                  <a:rPr lang="en-US" sz="1100" b="0" i="0">
                                    <a:latin typeface="Cambria Math" panose="02040503050406030204" pitchFamily="18" charset="0"/>
                                  </a:rPr>
                                  <m:t>1395.1399</m:t>
                                </m:r>
                              </m:e>
                              <m:e>
                                <m:r>
                                  <a:rPr lang="en-US" sz="1100" b="0" i="0">
                                    <a:latin typeface="Cambria Math" panose="02040503050406030204" pitchFamily="18" charset="0"/>
                                  </a:rPr>
                                  <m:t>−46.3252</m:t>
                                </m:r>
                              </m:e>
                              <m:e>
                                <m:r>
                                  <a:rPr lang="en-US" sz="1100" b="0" i="0">
                                    <a:latin typeface="Cambria Math" panose="02040503050406030204" pitchFamily="18" charset="0"/>
                                  </a:rPr>
                                  <m:t>−240.9851</m:t>
                                </m:r>
                              </m:e>
                              <m:e>
                                <m:r>
                                  <a:rPr lang="en-US" sz="1100" b="0" i="0">
                                    <a:latin typeface="Cambria Math" panose="02040503050406030204" pitchFamily="18" charset="0"/>
                                  </a:rPr>
                                  <m:t>−294.4827</m:t>
                                </m:r>
                              </m:e>
                            </m:mr>
                            <m:mr>
                              <m:e>
                                <m:r>
                                  <a:rPr lang="en-US" sz="1100" b="0" i="0">
                                    <a:latin typeface="Cambria Math" panose="02040503050406030204" pitchFamily="18" charset="0"/>
                                  </a:rPr>
                                  <m:t>−235.1490</m:t>
                                </m:r>
                              </m:e>
                              <m:e>
                                <m:r>
                                  <a:rPr lang="en-US" sz="1100" b="0" i="0">
                                    <a:latin typeface="Cambria Math" panose="02040503050406030204" pitchFamily="18" charset="0"/>
                                  </a:rPr>
                                  <m:t>−531.9087</m:t>
                                </m:r>
                              </m:e>
                              <m:e>
                                <m:r>
                                  <a:rPr lang="en-US" sz="1100" b="0" i="0">
                                    <a:latin typeface="Cambria Math" panose="02040503050406030204" pitchFamily="18" charset="0"/>
                                  </a:rPr>
                                  <m:t>−51.5702</m:t>
                                </m:r>
                              </m:e>
                              <m:e>
                                <m:r>
                                  <a:rPr lang="en-US" sz="1100" b="0" i="0">
                                    <a:latin typeface="Cambria Math" panose="02040503050406030204" pitchFamily="18" charset="0"/>
                                  </a:rPr>
                                  <m:t>1584.0847</m:t>
                                </m:r>
                              </m:e>
                              <m:e>
                                <m:r>
                                  <a:rPr lang="en-US" sz="1100" b="0" i="0">
                                    <a:latin typeface="Cambria Math" panose="02040503050406030204" pitchFamily="18" charset="0"/>
                                  </a:rPr>
                                  <m:t>−527.8858</m:t>
                                </m:r>
                              </m:e>
                              <m:e>
                                <m:r>
                                  <a:rPr lang="en-US" sz="1100" b="0" i="0">
                                    <a:latin typeface="Cambria Math" panose="02040503050406030204" pitchFamily="18" charset="0"/>
                                  </a:rPr>
                                  <m:t>−225.8234</m:t>
                                </m:r>
                              </m:e>
                            </m:mr>
                            <m:mr>
                              <m:e>
                                <m:r>
                                  <a:rPr lang="en-US" sz="1100" b="0" i="0">
                                    <a:latin typeface="Cambria Math" panose="02040503050406030204" pitchFamily="18" charset="0"/>
                                  </a:rPr>
                                  <m:t>−241.7258</m:t>
                                </m:r>
                              </m:e>
                              <m:e>
                                <m:r>
                                  <a:rPr lang="en-US" sz="1100" b="0" i="0">
                                    <a:latin typeface="Cambria Math" panose="02040503050406030204" pitchFamily="18" charset="0"/>
                                  </a:rPr>
                                  <m:t>−521.2521</m:t>
                                </m:r>
                              </m:e>
                              <m:e>
                                <m:r>
                                  <a:rPr lang="en-US" sz="1100" b="0" i="0">
                                    <a:latin typeface="Cambria Math" panose="02040503050406030204" pitchFamily="18" charset="0"/>
                                  </a:rPr>
                                  <m:t>−229.5367</m:t>
                                </m:r>
                              </m:e>
                              <m:e>
                                <m:r>
                                  <a:rPr lang="en-US" sz="1100" b="0" i="0">
                                    <a:latin typeface="Cambria Math" panose="02040503050406030204" pitchFamily="18" charset="0"/>
                                  </a:rPr>
                                  <m:t>−520.2476</m:t>
                                </m:r>
                              </m:e>
                              <m:e>
                                <m:r>
                                  <a:rPr lang="en-US" sz="1100" b="0" i="0">
                                    <a:latin typeface="Cambria Math" panose="02040503050406030204" pitchFamily="18" charset="0"/>
                                  </a:rPr>
                                  <m:t>1580.7629</m:t>
                                </m:r>
                              </m:e>
                              <m:e>
                                <m:r>
                                  <a:rPr lang="en-US" sz="1100" b="0" i="0">
                                    <a:latin typeface="Cambria Math" panose="02040503050406030204" pitchFamily="18" charset="0"/>
                                  </a:rPr>
                                  <m:t>−48.3601</m:t>
                                </m:r>
                              </m:e>
                            </m:mr>
                            <m:mr>
                              <m:e>
                                <m:r>
                                  <a:rPr lang="en-US" sz="1100" b="0" i="0">
                                    <a:latin typeface="Cambria Math" panose="02040503050406030204" pitchFamily="18" charset="0"/>
                                  </a:rPr>
                                  <m:t>−287.8687</m:t>
                                </m:r>
                              </m:e>
                              <m:e>
                                <m:r>
                                  <a:rPr lang="en-US" sz="1100" b="0" i="0">
                                    <a:latin typeface="Cambria Math" panose="02040503050406030204" pitchFamily="18" charset="0"/>
                                  </a:rPr>
                                  <m:t>−243.2226</m:t>
                                </m:r>
                              </m:e>
                              <m:e>
                                <m:r>
                                  <a:rPr lang="en-US" sz="1100" b="0" i="0">
                                    <a:latin typeface="Cambria Math" panose="02040503050406030204" pitchFamily="18" charset="0"/>
                                  </a:rPr>
                                  <m:t>−296.8901</m:t>
                                </m:r>
                              </m:e>
                              <m:e>
                                <m:r>
                                  <a:rPr lang="en-US" sz="1100" b="0" i="0">
                                    <a:latin typeface="Cambria Math" panose="02040503050406030204" pitchFamily="18" charset="0"/>
                                  </a:rPr>
                                  <m:t>−235.1820</m:t>
                                </m:r>
                              </m:e>
                              <m:e>
                                <m:r>
                                  <a:rPr lang="en-US" sz="1100" b="0" i="0">
                                    <a:latin typeface="Cambria Math" panose="02040503050406030204" pitchFamily="18" charset="0"/>
                                  </a:rPr>
                                  <m:t>−44.7048</m:t>
                                </m:r>
                              </m:e>
                              <m:e>
                                <m:r>
                                  <a:rPr lang="en-US" sz="1100" b="0" i="0">
                                    <a:latin typeface="Cambria Math" panose="02040503050406030204" pitchFamily="18" charset="0"/>
                                  </a:rPr>
                                  <m:t>1382.9382</m:t>
                                </m:r>
                              </m:e>
                            </m:mr>
                          </m:m>
                        </m:e>
                      </m:d>
                      <m:r>
                        <a:rPr lang="zh-TW" altLang="en-US" sz="1100" i="1">
                          <a:latin typeface="Cambria Math" panose="02040503050406030204" pitchFamily="18" charset="0"/>
                        </a:rPr>
                        <m:t> </m:t>
                      </m:r>
                      <m:r>
                        <a:rPr lang="en-US" altLang="zh-TW" sz="1100" b="0" i="1" smtClean="0">
                          <a:latin typeface="Cambria Math" panose="02040503050406030204" pitchFamily="18" charset="0"/>
                        </a:rPr>
                        <m:t> (</m:t>
                      </m:r>
                      <m:r>
                        <a:rPr lang="en-US" altLang="zh-TW" sz="1100" b="0" i="1" smtClean="0">
                          <a:latin typeface="Cambria Math" panose="02040503050406030204" pitchFamily="18" charset="0"/>
                        </a:rPr>
                        <m:t>𝑚𝑉</m:t>
                      </m:r>
                      <m:r>
                        <a:rPr lang="en-US" altLang="zh-TW" sz="1100" b="0" i="1" smtClean="0">
                          <a:latin typeface="Cambria Math" panose="02040503050406030204" pitchFamily="18" charset="0"/>
                        </a:rPr>
                        <m:t>)</m:t>
                      </m:r>
                    </m:oMath>
                  </m:oMathPara>
                </a14:m>
                <a:endParaRPr lang="en-US" sz="900" dirty="0"/>
              </a:p>
            </p:txBody>
          </p:sp>
        </mc:Choice>
        <mc:Fallback xmlns="">
          <p:sp>
            <p:nvSpPr>
              <p:cNvPr id="950" name="CalibV_Vmat"/>
              <p:cNvSpPr txBox="1">
                <a:spLocks noRot="1" noChangeAspect="1" noMove="1" noResize="1" noEditPoints="1" noAdjustHandles="1" noChangeArrowheads="1" noChangeShapeType="1" noTextEdit="1"/>
              </p:cNvSpPr>
              <p:nvPr/>
            </p:nvSpPr>
            <p:spPr>
              <a:xfrm>
                <a:off x="2957124" y="5292768"/>
                <a:ext cx="6215426" cy="1527623"/>
              </a:xfrm>
              <a:prstGeom prst="rect">
                <a:avLst/>
              </a:prstGeom>
              <a:blipFill>
                <a:blip r:embed="rId2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41DBDD30-8739-417A-9ECC-F38CA06CA214}"/>
                  </a:ext>
                </a:extLst>
              </p:cNvPr>
              <p:cNvSpPr txBox="1"/>
              <p:nvPr/>
            </p:nvSpPr>
            <p:spPr>
              <a:xfrm>
                <a:off x="8551747" y="376422"/>
                <a:ext cx="3688638"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𝑉</m:t>
                              </m:r>
                            </m:sub>
                          </m:sSub>
                        </m:e>
                      </m:sPr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𝑀</m:t>
                          </m:r>
                        </m:e>
                      </m:acc>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29" name="文字方塊 28">
                <a:extLst>
                  <a:ext uri="{FF2B5EF4-FFF2-40B4-BE49-F238E27FC236}">
                    <a16:creationId xmlns:a16="http://schemas.microsoft.com/office/drawing/2014/main" id="{41DBDD30-8739-417A-9ECC-F38CA06CA214}"/>
                  </a:ext>
                </a:extLst>
              </p:cNvPr>
              <p:cNvSpPr txBox="1">
                <a:spLocks noRot="1" noChangeAspect="1" noMove="1" noResize="1" noEditPoints="1" noAdjustHandles="1" noChangeArrowheads="1" noChangeShapeType="1" noTextEdit="1"/>
              </p:cNvSpPr>
              <p:nvPr/>
            </p:nvSpPr>
            <p:spPr>
              <a:xfrm>
                <a:off x="8551747" y="376422"/>
                <a:ext cx="3688638" cy="321563"/>
              </a:xfrm>
              <a:prstGeom prst="rect">
                <a:avLst/>
              </a:prstGeom>
              <a:blipFill>
                <a:blip r:embed="rId29"/>
                <a:stretch>
                  <a:fillRect t="-15385" r="-3802" b="-25000"/>
                </a:stretch>
              </a:blipFill>
            </p:spPr>
            <p:txBody>
              <a:bodyPr/>
              <a:lstStyle/>
              <a:p>
                <a:r>
                  <a:rPr lang="zh-TW" altLang="en-US">
                    <a:noFill/>
                  </a:rPr>
                  <a:t> </a:t>
                </a:r>
              </a:p>
            </p:txBody>
          </p:sp>
        </mc:Fallback>
      </mc:AlternateContent>
      <p:sp>
        <p:nvSpPr>
          <p:cNvPr id="31" name="文字方塊 30">
            <a:extLst>
              <a:ext uri="{FF2B5EF4-FFF2-40B4-BE49-F238E27FC236}">
                <a16:creationId xmlns:a16="http://schemas.microsoft.com/office/drawing/2014/main" id="{24BF59E0-D28B-4DAD-91DA-4902102B7AE6}"/>
              </a:ext>
            </a:extLst>
          </p:cNvPr>
          <p:cNvSpPr txBox="1"/>
          <p:nvPr/>
        </p:nvSpPr>
        <p:spPr>
          <a:xfrm>
            <a:off x="115648" y="381812"/>
            <a:ext cx="7042090" cy="369332"/>
          </a:xfrm>
          <a:prstGeom prst="rect">
            <a:avLst/>
          </a:prstGeom>
          <a:noFill/>
        </p:spPr>
        <p:txBody>
          <a:bodyPr wrap="square" rtlCol="0">
            <a:spAutoFit/>
          </a:bodyPr>
          <a:lstStyle/>
          <a:p>
            <a:pPr marL="285750" indent="-285750">
              <a:buFont typeface="Wingdings" panose="05000000000000000000" pitchFamily="2" charset="2"/>
              <a:buChar char="Ø"/>
            </a:pPr>
            <a:r>
              <a:rPr lang="en-US" altLang="zh-TW" dirty="0"/>
              <a:t>Long(3mm)</a:t>
            </a:r>
            <a:endParaRPr lang="zh-TW" altLang="en-US" dirty="0"/>
          </a:p>
        </p:txBody>
      </p:sp>
      <p:cxnSp>
        <p:nvCxnSpPr>
          <p:cNvPr id="12" name="直線接點 11">
            <a:extLst>
              <a:ext uri="{FF2B5EF4-FFF2-40B4-BE49-F238E27FC236}">
                <a16:creationId xmlns:a16="http://schemas.microsoft.com/office/drawing/2014/main" id="{5AEC1A57-0EA5-4CFC-A7D4-77B46BA551B2}"/>
              </a:ext>
            </a:extLst>
          </p:cNvPr>
          <p:cNvCxnSpPr>
            <a:cxnSpLocks/>
          </p:cNvCxnSpPr>
          <p:nvPr/>
        </p:nvCxnSpPr>
        <p:spPr>
          <a:xfrm flipH="1">
            <a:off x="948267" y="1537918"/>
            <a:ext cx="67735" cy="21395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36" name="群組 35">
            <a:extLst>
              <a:ext uri="{FF2B5EF4-FFF2-40B4-BE49-F238E27FC236}">
                <a16:creationId xmlns:a16="http://schemas.microsoft.com/office/drawing/2014/main" id="{0224702D-7692-4E46-BAB5-67FB9ABAEE53}"/>
              </a:ext>
            </a:extLst>
          </p:cNvPr>
          <p:cNvGrpSpPr/>
          <p:nvPr/>
        </p:nvGrpSpPr>
        <p:grpSpPr>
          <a:xfrm>
            <a:off x="-65731" y="869520"/>
            <a:ext cx="3201548" cy="2629051"/>
            <a:chOff x="-65731" y="869520"/>
            <a:chExt cx="3201548" cy="2629051"/>
          </a:xfrm>
        </p:grpSpPr>
        <p:grpSp>
          <p:nvGrpSpPr>
            <p:cNvPr id="5" name="群組 4">
              <a:extLst>
                <a:ext uri="{FF2B5EF4-FFF2-40B4-BE49-F238E27FC236}">
                  <a16:creationId xmlns:a16="http://schemas.microsoft.com/office/drawing/2014/main" id="{8FE9ABEB-89BC-4168-B129-8FB78DC98D69}"/>
                </a:ext>
              </a:extLst>
            </p:cNvPr>
            <p:cNvGrpSpPr/>
            <p:nvPr/>
          </p:nvGrpSpPr>
          <p:grpSpPr>
            <a:xfrm>
              <a:off x="-65731" y="869520"/>
              <a:ext cx="3201548" cy="2629051"/>
              <a:chOff x="-34568" y="619043"/>
              <a:chExt cx="3201548" cy="2629051"/>
            </a:xfrm>
          </p:grpSpPr>
          <p:pic>
            <p:nvPicPr>
              <p:cNvPr id="4" name="圖片 3">
                <a:extLst>
                  <a:ext uri="{FF2B5EF4-FFF2-40B4-BE49-F238E27FC236}">
                    <a16:creationId xmlns:a16="http://schemas.microsoft.com/office/drawing/2014/main" id="{8238E239-0659-4120-863F-786BD492D372}"/>
                  </a:ext>
                </a:extLst>
              </p:cNvPr>
              <p:cNvPicPr>
                <a:picLocks noChangeAspect="1"/>
              </p:cNvPicPr>
              <p:nvPr/>
            </p:nvPicPr>
            <p:blipFill>
              <a:blip r:embed="rId30">
                <a:extLst>
                  <a:ext uri="{28A0092B-C50C-407E-A947-70E740481C1C}">
                    <a14:useLocalDpi xmlns:a14="http://schemas.microsoft.com/office/drawing/2010/main" val="0"/>
                  </a:ext>
                </a:extLst>
              </a:blip>
              <a:stretch>
                <a:fillRect/>
              </a:stretch>
            </p:blipFill>
            <p:spPr>
              <a:xfrm>
                <a:off x="211461" y="619043"/>
                <a:ext cx="2955519" cy="2382835"/>
              </a:xfrm>
              <a:prstGeom prst="rect">
                <a:avLst/>
              </a:prstGeom>
            </p:spPr>
          </p:pic>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678E7078-A51C-4AA2-9EF8-D725CC6E86D4}"/>
                      </a:ext>
                    </a:extLst>
                  </p:cNvPr>
                  <p:cNvSpPr txBox="1"/>
                  <p:nvPr/>
                </p:nvSpPr>
                <p:spPr>
                  <a:xfrm>
                    <a:off x="1143000" y="2972131"/>
                    <a:ext cx="1106536" cy="2759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17" name="文字方塊 16">
                    <a:extLst>
                      <a:ext uri="{FF2B5EF4-FFF2-40B4-BE49-F238E27FC236}">
                        <a16:creationId xmlns:a16="http://schemas.microsoft.com/office/drawing/2014/main" id="{678E7078-A51C-4AA2-9EF8-D725CC6E86D4}"/>
                      </a:ext>
                    </a:extLst>
                  </p:cNvPr>
                  <p:cNvSpPr txBox="1">
                    <a:spLocks noRot="1" noChangeAspect="1" noMove="1" noResize="1" noEditPoints="1" noAdjustHandles="1" noChangeArrowheads="1" noChangeShapeType="1" noTextEdit="1"/>
                  </p:cNvSpPr>
                  <p:nvPr/>
                </p:nvSpPr>
                <p:spPr>
                  <a:xfrm>
                    <a:off x="1143000" y="2972131"/>
                    <a:ext cx="1106536" cy="275963"/>
                  </a:xfrm>
                  <a:prstGeom prst="rect">
                    <a:avLst/>
                  </a:prstGeom>
                  <a:blipFill>
                    <a:blip r:embed="rId12"/>
                    <a:stretch>
                      <a:fillRect l="-5525" t="-2222" r="-33702"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EBE875F1-6D13-4A07-89C5-609C93B9D6B9}"/>
                      </a:ext>
                    </a:extLst>
                  </p:cNvPr>
                  <p:cNvSpPr txBox="1"/>
                  <p:nvPr/>
                </p:nvSpPr>
                <p:spPr>
                  <a:xfrm rot="16200000">
                    <a:off x="-630115" y="1518415"/>
                    <a:ext cx="1404535" cy="2134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3" name="文字方塊 22">
                    <a:extLst>
                      <a:ext uri="{FF2B5EF4-FFF2-40B4-BE49-F238E27FC236}">
                        <a16:creationId xmlns:a16="http://schemas.microsoft.com/office/drawing/2014/main" id="{EBE875F1-6D13-4A07-89C5-609C93B9D6B9}"/>
                      </a:ext>
                    </a:extLst>
                  </p:cNvPr>
                  <p:cNvSpPr txBox="1">
                    <a:spLocks noRot="1" noChangeAspect="1" noMove="1" noResize="1" noEditPoints="1" noAdjustHandles="1" noChangeArrowheads="1" noChangeShapeType="1" noTextEdit="1"/>
                  </p:cNvSpPr>
                  <p:nvPr/>
                </p:nvSpPr>
                <p:spPr>
                  <a:xfrm rot="16200000">
                    <a:off x="-630115" y="1518415"/>
                    <a:ext cx="1404535" cy="213442"/>
                  </a:xfrm>
                  <a:prstGeom prst="rect">
                    <a:avLst/>
                  </a:prstGeom>
                  <a:blipFill>
                    <a:blip r:embed="rId13"/>
                    <a:stretch>
                      <a:fillRect t="-6061" r="-77143" b="-2597"/>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89692E87-4B4D-43C4-96A0-589E776C0405}"/>
                    </a:ext>
                  </a:extLst>
                </p:cNvPr>
                <p:cNvSpPr txBox="1"/>
                <p:nvPr/>
              </p:nvSpPr>
              <p:spPr>
                <a:xfrm rot="511814">
                  <a:off x="2662767" y="1842609"/>
                  <a:ext cx="18511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solidFill>
                              <a:schemeClr val="accent1"/>
                            </a:solidFill>
                            <a:latin typeface="Cambria Math" panose="02040503050406030204" pitchFamily="18" charset="0"/>
                          </a:rPr>
                          <m:t>h</m:t>
                        </m:r>
                      </m:oMath>
                    </m:oMathPara>
                  </a14:m>
                  <a:endParaRPr lang="zh-TW" altLang="en-US" dirty="0">
                    <a:solidFill>
                      <a:schemeClr val="accent1"/>
                    </a:solidFill>
                  </a:endParaRPr>
                </a:p>
              </p:txBody>
            </p:sp>
          </mc:Choice>
          <mc:Fallback xmlns="">
            <p:sp>
              <p:nvSpPr>
                <p:cNvPr id="10" name="文字方塊 9">
                  <a:extLst>
                    <a:ext uri="{FF2B5EF4-FFF2-40B4-BE49-F238E27FC236}">
                      <a16:creationId xmlns:a16="http://schemas.microsoft.com/office/drawing/2014/main" id="{89692E87-4B4D-43C4-96A0-589E776C0405}"/>
                    </a:ext>
                  </a:extLst>
                </p:cNvPr>
                <p:cNvSpPr txBox="1">
                  <a:spLocks noRot="1" noChangeAspect="1" noMove="1" noResize="1" noEditPoints="1" noAdjustHandles="1" noChangeArrowheads="1" noChangeShapeType="1" noTextEdit="1"/>
                </p:cNvSpPr>
                <p:nvPr/>
              </p:nvSpPr>
              <p:spPr>
                <a:xfrm rot="511814">
                  <a:off x="2662767" y="1842609"/>
                  <a:ext cx="185114" cy="276999"/>
                </a:xfrm>
                <a:prstGeom prst="rect">
                  <a:avLst/>
                </a:prstGeom>
                <a:blipFill>
                  <a:blip r:embed="rId31"/>
                  <a:stretch>
                    <a:fillRect l="-26316" r="-21053" b="-8000"/>
                  </a:stretch>
                </a:blipFill>
              </p:spPr>
              <p:txBody>
                <a:bodyPr/>
                <a:lstStyle/>
                <a:p>
                  <a:r>
                    <a:rPr lang="zh-TW" altLang="en-US">
                      <a:noFill/>
                    </a:rPr>
                    <a:t> </a:t>
                  </a:r>
                </a:p>
              </p:txBody>
            </p:sp>
          </mc:Fallback>
        </mc:AlternateContent>
        <p:cxnSp>
          <p:nvCxnSpPr>
            <p:cNvPr id="16" name="直線單箭頭接點 15">
              <a:extLst>
                <a:ext uri="{FF2B5EF4-FFF2-40B4-BE49-F238E27FC236}">
                  <a16:creationId xmlns:a16="http://schemas.microsoft.com/office/drawing/2014/main" id="{496AD539-95AD-48B1-A5BD-08D385F836F3}"/>
                </a:ext>
              </a:extLst>
            </p:cNvPr>
            <p:cNvCxnSpPr>
              <a:cxnSpLocks/>
            </p:cNvCxnSpPr>
            <p:nvPr/>
          </p:nvCxnSpPr>
          <p:spPr>
            <a:xfrm>
              <a:off x="1016002" y="1603244"/>
              <a:ext cx="1594658" cy="37786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文字方塊 36">
                  <a:extLst>
                    <a:ext uri="{FF2B5EF4-FFF2-40B4-BE49-F238E27FC236}">
                      <a16:creationId xmlns:a16="http://schemas.microsoft.com/office/drawing/2014/main" id="{FAD3C025-16FC-4CA3-BE4A-F78430927859}"/>
                    </a:ext>
                  </a:extLst>
                </p:cNvPr>
                <p:cNvSpPr txBox="1"/>
                <p:nvPr/>
              </p:nvSpPr>
              <p:spPr>
                <a:xfrm rot="806534">
                  <a:off x="1654329" y="1791945"/>
                  <a:ext cx="19325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solidFill>
                              <a:schemeClr val="accent1"/>
                            </a:solidFill>
                            <a:latin typeface="Cambria Math" panose="02040503050406030204" pitchFamily="18" charset="0"/>
                          </a:rPr>
                          <m:t>𝑑</m:t>
                        </m:r>
                      </m:oMath>
                    </m:oMathPara>
                  </a14:m>
                  <a:endParaRPr lang="zh-TW" altLang="en-US" dirty="0">
                    <a:solidFill>
                      <a:schemeClr val="accent1"/>
                    </a:solidFill>
                  </a:endParaRPr>
                </a:p>
              </p:txBody>
            </p:sp>
          </mc:Choice>
          <mc:Fallback xmlns="">
            <p:sp>
              <p:nvSpPr>
                <p:cNvPr id="37" name="文字方塊 36">
                  <a:extLst>
                    <a:ext uri="{FF2B5EF4-FFF2-40B4-BE49-F238E27FC236}">
                      <a16:creationId xmlns:a16="http://schemas.microsoft.com/office/drawing/2014/main" id="{FAD3C025-16FC-4CA3-BE4A-F78430927859}"/>
                    </a:ext>
                  </a:extLst>
                </p:cNvPr>
                <p:cNvSpPr txBox="1">
                  <a:spLocks noRot="1" noChangeAspect="1" noMove="1" noResize="1" noEditPoints="1" noAdjustHandles="1" noChangeArrowheads="1" noChangeShapeType="1" noTextEdit="1"/>
                </p:cNvSpPr>
                <p:nvPr/>
              </p:nvSpPr>
              <p:spPr>
                <a:xfrm rot="806534">
                  <a:off x="1654329" y="1791945"/>
                  <a:ext cx="193258" cy="276999"/>
                </a:xfrm>
                <a:prstGeom prst="rect">
                  <a:avLst/>
                </a:prstGeom>
                <a:blipFill>
                  <a:blip r:embed="rId32"/>
                  <a:stretch>
                    <a:fillRect l="-23810" t="-1887" r="-19048" b="-9434"/>
                  </a:stretch>
                </a:blipFill>
              </p:spPr>
              <p:txBody>
                <a:bodyPr/>
                <a:lstStyle/>
                <a:p>
                  <a:r>
                    <a:rPr lang="zh-TW" altLang="en-US">
                      <a:noFill/>
                    </a:rPr>
                    <a:t> </a:t>
                  </a:r>
                </a:p>
              </p:txBody>
            </p:sp>
          </mc:Fallback>
        </mc:AlternateContent>
      </p:grpSp>
      <p:cxnSp>
        <p:nvCxnSpPr>
          <p:cNvPr id="38" name="直線接點 37">
            <a:extLst>
              <a:ext uri="{FF2B5EF4-FFF2-40B4-BE49-F238E27FC236}">
                <a16:creationId xmlns:a16="http://schemas.microsoft.com/office/drawing/2014/main" id="{CB9D3550-857D-413B-B277-86810D7E4A0D}"/>
              </a:ext>
            </a:extLst>
          </p:cNvPr>
          <p:cNvCxnSpPr>
            <a:cxnSpLocks/>
          </p:cNvCxnSpPr>
          <p:nvPr/>
        </p:nvCxnSpPr>
        <p:spPr>
          <a:xfrm flipH="1">
            <a:off x="2308532" y="5613379"/>
            <a:ext cx="172201" cy="13968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39" name="群組 38">
            <a:extLst>
              <a:ext uri="{FF2B5EF4-FFF2-40B4-BE49-F238E27FC236}">
                <a16:creationId xmlns:a16="http://schemas.microsoft.com/office/drawing/2014/main" id="{888B3C52-C5C4-4DFF-931E-F7940C9C924F}"/>
              </a:ext>
            </a:extLst>
          </p:cNvPr>
          <p:cNvGrpSpPr/>
          <p:nvPr/>
        </p:nvGrpSpPr>
        <p:grpSpPr>
          <a:xfrm>
            <a:off x="115649" y="3580795"/>
            <a:ext cx="2891829" cy="3254066"/>
            <a:chOff x="115649" y="3580795"/>
            <a:chExt cx="2891829" cy="3254066"/>
          </a:xfrm>
        </p:grpSpPr>
        <p:grpSp>
          <p:nvGrpSpPr>
            <p:cNvPr id="8" name="群組 7">
              <a:extLst>
                <a:ext uri="{FF2B5EF4-FFF2-40B4-BE49-F238E27FC236}">
                  <a16:creationId xmlns:a16="http://schemas.microsoft.com/office/drawing/2014/main" id="{1360E81E-E71E-45BA-B332-92C61EB72938}"/>
                </a:ext>
              </a:extLst>
            </p:cNvPr>
            <p:cNvGrpSpPr/>
            <p:nvPr/>
          </p:nvGrpSpPr>
          <p:grpSpPr>
            <a:xfrm>
              <a:off x="115649" y="3580795"/>
              <a:ext cx="2891829" cy="3254066"/>
              <a:chOff x="72152" y="3256196"/>
              <a:chExt cx="2891829" cy="3254066"/>
            </a:xfrm>
          </p:grpSpPr>
          <p:pic>
            <p:nvPicPr>
              <p:cNvPr id="6" name="圖片 5">
                <a:extLst>
                  <a:ext uri="{FF2B5EF4-FFF2-40B4-BE49-F238E27FC236}">
                    <a16:creationId xmlns:a16="http://schemas.microsoft.com/office/drawing/2014/main" id="{988C42B5-FBD1-4FD8-BABE-1FCBE073D28F}"/>
                  </a:ext>
                </a:extLst>
              </p:cNvPr>
              <p:cNvPicPr>
                <a:picLocks noChangeAspect="1"/>
              </p:cNvPicPr>
              <p:nvPr/>
            </p:nvPicPr>
            <p:blipFill>
              <a:blip r:embed="rId33">
                <a:extLst>
                  <a:ext uri="{28A0092B-C50C-407E-A947-70E740481C1C}">
                    <a14:useLocalDpi xmlns:a14="http://schemas.microsoft.com/office/drawing/2010/main" val="0"/>
                  </a:ext>
                </a:extLst>
              </a:blip>
              <a:stretch>
                <a:fillRect/>
              </a:stretch>
            </p:blipFill>
            <p:spPr>
              <a:xfrm>
                <a:off x="393065" y="3256196"/>
                <a:ext cx="2570916" cy="3005448"/>
              </a:xfrm>
              <a:prstGeom prst="rect">
                <a:avLst/>
              </a:prstGeom>
            </p:spPr>
          </p:pic>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EE65A446-91AE-48EC-8330-BB70D7D76434}"/>
                      </a:ext>
                    </a:extLst>
                  </p:cNvPr>
                  <p:cNvSpPr txBox="1"/>
                  <p:nvPr/>
                </p:nvSpPr>
                <p:spPr>
                  <a:xfrm>
                    <a:off x="1210733" y="6234299"/>
                    <a:ext cx="1106536" cy="2759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4" name="文字方塊 23">
                    <a:extLst>
                      <a:ext uri="{FF2B5EF4-FFF2-40B4-BE49-F238E27FC236}">
                        <a16:creationId xmlns:a16="http://schemas.microsoft.com/office/drawing/2014/main" id="{EE65A446-91AE-48EC-8330-BB70D7D76434}"/>
                      </a:ext>
                    </a:extLst>
                  </p:cNvPr>
                  <p:cNvSpPr txBox="1">
                    <a:spLocks noRot="1" noChangeAspect="1" noMove="1" noResize="1" noEditPoints="1" noAdjustHandles="1" noChangeArrowheads="1" noChangeShapeType="1" noTextEdit="1"/>
                  </p:cNvSpPr>
                  <p:nvPr/>
                </p:nvSpPr>
                <p:spPr>
                  <a:xfrm>
                    <a:off x="1210733" y="6234299"/>
                    <a:ext cx="1106536" cy="275963"/>
                  </a:xfrm>
                  <a:prstGeom prst="rect">
                    <a:avLst/>
                  </a:prstGeom>
                  <a:blipFill>
                    <a:blip r:embed="rId17"/>
                    <a:stretch>
                      <a:fillRect l="-5525" r="-34254"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5" name="文字方塊 24">
                    <a:extLst>
                      <a:ext uri="{FF2B5EF4-FFF2-40B4-BE49-F238E27FC236}">
                        <a16:creationId xmlns:a16="http://schemas.microsoft.com/office/drawing/2014/main" id="{5B2FF76E-ACA6-4049-80D6-58C7F2BBDA09}"/>
                      </a:ext>
                    </a:extLst>
                  </p:cNvPr>
                  <p:cNvSpPr txBox="1"/>
                  <p:nvPr/>
                </p:nvSpPr>
                <p:spPr>
                  <a:xfrm rot="16200000">
                    <a:off x="-523395" y="4479791"/>
                    <a:ext cx="1404535" cy="2134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5" name="文字方塊 24">
                    <a:extLst>
                      <a:ext uri="{FF2B5EF4-FFF2-40B4-BE49-F238E27FC236}">
                        <a16:creationId xmlns:a16="http://schemas.microsoft.com/office/drawing/2014/main" id="{5B2FF76E-ACA6-4049-80D6-58C7F2BBDA09}"/>
                      </a:ext>
                    </a:extLst>
                  </p:cNvPr>
                  <p:cNvSpPr txBox="1">
                    <a:spLocks noRot="1" noChangeAspect="1" noMove="1" noResize="1" noEditPoints="1" noAdjustHandles="1" noChangeArrowheads="1" noChangeShapeType="1" noTextEdit="1"/>
                  </p:cNvSpPr>
                  <p:nvPr/>
                </p:nvSpPr>
                <p:spPr>
                  <a:xfrm rot="16200000">
                    <a:off x="-523395" y="4479791"/>
                    <a:ext cx="1404535" cy="213442"/>
                  </a:xfrm>
                  <a:prstGeom prst="rect">
                    <a:avLst/>
                  </a:prstGeom>
                  <a:blipFill>
                    <a:blip r:embed="rId18"/>
                    <a:stretch>
                      <a:fillRect t="-6061" r="-77143" b="-2597"/>
                    </a:stretch>
                  </a:blipFill>
                </p:spPr>
                <p:txBody>
                  <a:bodyPr/>
                  <a:lstStyle/>
                  <a:p>
                    <a:r>
                      <a:rPr lang="zh-TW" altLang="en-US">
                        <a:noFill/>
                      </a:rPr>
                      <a:t> </a:t>
                    </a:r>
                  </a:p>
                </p:txBody>
              </p:sp>
            </mc:Fallback>
          </mc:AlternateContent>
        </p:grpSp>
        <p:cxnSp>
          <p:nvCxnSpPr>
            <p:cNvPr id="41" name="直線單箭頭接點 40">
              <a:extLst>
                <a:ext uri="{FF2B5EF4-FFF2-40B4-BE49-F238E27FC236}">
                  <a16:creationId xmlns:a16="http://schemas.microsoft.com/office/drawing/2014/main" id="{52789F61-4AA2-4686-BFD3-E465EEDB29A4}"/>
                </a:ext>
              </a:extLst>
            </p:cNvPr>
            <p:cNvCxnSpPr>
              <a:cxnSpLocks/>
            </p:cNvCxnSpPr>
            <p:nvPr/>
          </p:nvCxnSpPr>
          <p:spPr>
            <a:xfrm>
              <a:off x="1185333" y="4493855"/>
              <a:ext cx="1156456" cy="1189368"/>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5" name="文字方塊 44">
                  <a:extLst>
                    <a:ext uri="{FF2B5EF4-FFF2-40B4-BE49-F238E27FC236}">
                      <a16:creationId xmlns:a16="http://schemas.microsoft.com/office/drawing/2014/main" id="{378090BB-486B-4A63-958A-8B9BFE71E0F8}"/>
                    </a:ext>
                  </a:extLst>
                </p:cNvPr>
                <p:cNvSpPr txBox="1"/>
                <p:nvPr/>
              </p:nvSpPr>
              <p:spPr>
                <a:xfrm rot="2558718">
                  <a:off x="1813331" y="4929779"/>
                  <a:ext cx="19325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solidFill>
                              <a:schemeClr val="accent1"/>
                            </a:solidFill>
                            <a:latin typeface="Cambria Math" panose="02040503050406030204" pitchFamily="18" charset="0"/>
                          </a:rPr>
                          <m:t>𝑑</m:t>
                        </m:r>
                      </m:oMath>
                    </m:oMathPara>
                  </a14:m>
                  <a:endParaRPr lang="zh-TW" altLang="en-US" dirty="0">
                    <a:solidFill>
                      <a:schemeClr val="accent1"/>
                    </a:solidFill>
                  </a:endParaRPr>
                </a:p>
              </p:txBody>
            </p:sp>
          </mc:Choice>
          <mc:Fallback xmlns="">
            <p:sp>
              <p:nvSpPr>
                <p:cNvPr id="45" name="文字方塊 44">
                  <a:extLst>
                    <a:ext uri="{FF2B5EF4-FFF2-40B4-BE49-F238E27FC236}">
                      <a16:creationId xmlns:a16="http://schemas.microsoft.com/office/drawing/2014/main" id="{378090BB-486B-4A63-958A-8B9BFE71E0F8}"/>
                    </a:ext>
                  </a:extLst>
                </p:cNvPr>
                <p:cNvSpPr txBox="1">
                  <a:spLocks noRot="1" noChangeAspect="1" noMove="1" noResize="1" noEditPoints="1" noAdjustHandles="1" noChangeArrowheads="1" noChangeShapeType="1" noTextEdit="1"/>
                </p:cNvSpPr>
                <p:nvPr/>
              </p:nvSpPr>
              <p:spPr>
                <a:xfrm rot="2558718">
                  <a:off x="1813331" y="4929779"/>
                  <a:ext cx="193258" cy="276999"/>
                </a:xfrm>
                <a:prstGeom prst="rect">
                  <a:avLst/>
                </a:prstGeom>
                <a:blipFill>
                  <a:blip r:embed="rId34"/>
                  <a:stretch>
                    <a:fillRect l="-16364" t="-8929" r="-9091" b="-1428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6" name="文字方塊 45">
                  <a:extLst>
                    <a:ext uri="{FF2B5EF4-FFF2-40B4-BE49-F238E27FC236}">
                      <a16:creationId xmlns:a16="http://schemas.microsoft.com/office/drawing/2014/main" id="{8409B2A7-094C-413B-AF00-86D8DE29D2F6}"/>
                    </a:ext>
                  </a:extLst>
                </p:cNvPr>
                <p:cNvSpPr txBox="1"/>
                <p:nvPr/>
              </p:nvSpPr>
              <p:spPr>
                <a:xfrm rot="2736683">
                  <a:off x="986471" y="4162288"/>
                  <a:ext cx="18511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solidFill>
                              <a:schemeClr val="accent1"/>
                            </a:solidFill>
                            <a:latin typeface="Cambria Math" panose="02040503050406030204" pitchFamily="18" charset="0"/>
                          </a:rPr>
                          <m:t>h</m:t>
                        </m:r>
                      </m:oMath>
                    </m:oMathPara>
                  </a14:m>
                  <a:endParaRPr lang="zh-TW" altLang="en-US" dirty="0">
                    <a:solidFill>
                      <a:schemeClr val="accent1"/>
                    </a:solidFill>
                  </a:endParaRPr>
                </a:p>
              </p:txBody>
            </p:sp>
          </mc:Choice>
          <mc:Fallback xmlns="">
            <p:sp>
              <p:nvSpPr>
                <p:cNvPr id="46" name="文字方塊 45">
                  <a:extLst>
                    <a:ext uri="{FF2B5EF4-FFF2-40B4-BE49-F238E27FC236}">
                      <a16:creationId xmlns:a16="http://schemas.microsoft.com/office/drawing/2014/main" id="{8409B2A7-094C-413B-AF00-86D8DE29D2F6}"/>
                    </a:ext>
                  </a:extLst>
                </p:cNvPr>
                <p:cNvSpPr txBox="1">
                  <a:spLocks noRot="1" noChangeAspect="1" noMove="1" noResize="1" noEditPoints="1" noAdjustHandles="1" noChangeArrowheads="1" noChangeShapeType="1" noTextEdit="1"/>
                </p:cNvSpPr>
                <p:nvPr/>
              </p:nvSpPr>
              <p:spPr>
                <a:xfrm rot="2736683">
                  <a:off x="986471" y="4162288"/>
                  <a:ext cx="185114" cy="276999"/>
                </a:xfrm>
                <a:prstGeom prst="rect">
                  <a:avLst/>
                </a:prstGeom>
                <a:blipFill>
                  <a:blip r:embed="rId35"/>
                  <a:stretch>
                    <a:fillRect l="-16667" t="-10909" r="-9259" b="-14545"/>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13672797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Hall-sensor-voltage-based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7" name="文字方塊 6">
            <a:extLst>
              <a:ext uri="{FF2B5EF4-FFF2-40B4-BE49-F238E27FC236}">
                <a16:creationId xmlns:a16="http://schemas.microsoft.com/office/drawing/2014/main" id="{3B970DD4-BBB5-449B-A35D-ACB34E775395}"/>
              </a:ext>
            </a:extLst>
          </p:cNvPr>
          <p:cNvSpPr txBox="1"/>
          <p:nvPr/>
        </p:nvSpPr>
        <p:spPr>
          <a:xfrm>
            <a:off x="3127895" y="866752"/>
            <a:ext cx="3793066"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Single parameter</a:t>
            </a:r>
            <a:endParaRPr lang="zh-TW" altLang="en-US" dirty="0"/>
          </a:p>
        </p:txBody>
      </p:sp>
      <p:sp>
        <p:nvSpPr>
          <p:cNvPr id="9" name="文字方塊 8">
            <a:extLst>
              <a:ext uri="{FF2B5EF4-FFF2-40B4-BE49-F238E27FC236}">
                <a16:creationId xmlns:a16="http://schemas.microsoft.com/office/drawing/2014/main" id="{9FF4D34D-ECD2-4F94-BEEC-33EA0D199F4B}"/>
              </a:ext>
            </a:extLst>
          </p:cNvPr>
          <p:cNvSpPr txBox="1"/>
          <p:nvPr/>
        </p:nvSpPr>
        <p:spPr>
          <a:xfrm>
            <a:off x="3127895" y="2511839"/>
            <a:ext cx="3793066"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Eighteen parameters</a:t>
            </a:r>
            <a:endParaRPr lang="zh-TW" altLang="en-US" dirty="0"/>
          </a:p>
        </p:txBody>
      </p:sp>
      <p:sp>
        <p:nvSpPr>
          <p:cNvPr id="34" name="auto caption"/>
          <p:cNvSpPr txBox="1"/>
          <p:nvPr/>
        </p:nvSpPr>
        <p:spPr>
          <a:xfrm>
            <a:off x="2886867" y="5711378"/>
            <a:ext cx="9353518" cy="1463040"/>
          </a:xfrm>
          <a:prstGeom prst="rect">
            <a:avLst/>
          </a:prstGeom>
          <a:noFill/>
        </p:spPr>
        <p:txBody>
          <a:bodyPr wrap="square" rtlCol="0">
            <a:normAutofit/>
          </a:bodyPr>
          <a:lstStyle/>
          <a:p>
            <a:pPr marL="285750" indent="-285750"/>
            <a:r>
              <a:rPr lang="en-US" altLang="zh-TW" sz="1100" dirty="0"/>
              <a:t>Moving the sensors further out along the pole flank leaves the field model completely untouched: the effective length, the charge-offset matrix and the fit error are identical to the closer mounting — and identical to the current-based results as well, since both reduce to the same transfer matrix. Only the voltage scale changes: further from the tip the leakage field is weaker, so the measured voltages drop and the voltage gain rises to compensate. This is structural rather than coincidental — the field model is fitted from the workspace field alone, and the sensor geometry enters only afterwards, when the excitation is re-expressed in volts. The predictive accuracy of the model is therefore independent of where the sensor is mounted, and the mounting position becomes a free design choice, bounded in practice only by keeping the sensor voltage within its linear range.</a:t>
            </a:r>
          </a:p>
        </p:txBody>
      </p:sp>
      <mc:AlternateContent xmlns:mc="http://schemas.openxmlformats.org/markup-compatibility/2006" xmlns:a14="http://schemas.microsoft.com/office/drawing/2010/main">
        <mc:Choice Requires="a14">
          <p:sp>
            <p:nvSpPr>
              <p:cNvPr id="900" name="CalibV_s_mat"/>
              <p:cNvSpPr txBox="1"/>
              <p:nvPr/>
            </p:nvSpPr>
            <p:spPr>
              <a:xfrm>
                <a:off x="3186716" y="1245903"/>
                <a:ext cx="3793066" cy="868680"/>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900" b="0" i="1">
                              <a:latin typeface="Cambria Math" panose="02040503050406030204" pitchFamily="18" charset="0"/>
                            </a:rPr>
                          </m:ctrlPr>
                        </m:accPr>
                        <m:e>
                          <m:r>
                            <a:rPr lang="en-US" sz="900" b="0" i="1">
                              <a:latin typeface="Cambria Math" panose="02040503050406030204" pitchFamily="18" charset="0"/>
                            </a:rPr>
                            <m:t>𝑀</m:t>
                          </m:r>
                        </m:e>
                      </m:acc>
                      <m:r>
                        <a:rPr lang="en-US" sz="900" b="0" i="0">
                          <a:latin typeface="Cambria Math" panose="02040503050406030204" pitchFamily="18" charset="0"/>
                        </a:rPr>
                        <m:t> = </m:t>
                      </m:r>
                      <m:d>
                        <m:dPr>
                          <m:begChr m:val="["/>
                          <m:endChr m:val="]"/>
                          <m:ctrlPr>
                            <a:rPr lang="en-US" sz="900" b="0" i="1">
                              <a:latin typeface="Cambria Math" panose="02040503050406030204" pitchFamily="18" charset="0"/>
                            </a:rPr>
                          </m:ctrlPr>
                        </m:dPr>
                        <m:e>
                          <m:m>
                            <m:mPr>
                              <m:mcs>
                                <m:mc>
                                  <m:mcPr>
                                    <m:count m:val="6"/>
                                    <m:mcJc m:val="center"/>
                                  </m:mcPr>
                                </m:mc>
                              </m:mcs>
                              <m:ctrlPr>
                                <a:rPr lang="en-US" sz="900" b="0" i="1">
                                  <a:latin typeface="Cambria Math" panose="02040503050406030204" pitchFamily="18" charset="0"/>
                                </a:rPr>
                              </m:ctrlPr>
                            </m:mPr>
                            <m:mr>
                              <m:e>
                                <m:r>
                                  <a:rPr lang="en-US" sz="900" b="0" i="0">
                                    <a:latin typeface="Cambria Math" panose="02040503050406030204" pitchFamily="18" charset="0"/>
                                  </a:rPr>
                                  <m:t>0.8333</m:t>
                                </m:r>
                              </m:e>
                              <m:e>
                                <m:r>
                                  <a:rPr lang="en-US" sz="900" b="0" i="0">
                                    <a:latin typeface="Cambria Math" panose="02040503050406030204" pitchFamily="18" charset="0"/>
                                  </a:rPr>
                                  <m:t>−0.3795</m:t>
                                </m:r>
                              </m:e>
                              <m:e>
                                <m:r>
                                  <a:rPr lang="en-US" sz="900" b="0" i="0">
                                    <a:latin typeface="Cambria Math" panose="02040503050406030204" pitchFamily="18" charset="0"/>
                                  </a:rPr>
                                  <m:t>−0.2701</m:t>
                                </m:r>
                              </m:e>
                              <m:e>
                                <m:r>
                                  <a:rPr lang="en-US" sz="900" b="0" i="0">
                                    <a:latin typeface="Cambria Math" panose="02040503050406030204" pitchFamily="18" charset="0"/>
                                  </a:rPr>
                                  <m:t>−0.3165</m:t>
                                </m:r>
                              </m:e>
                              <m:e>
                                <m:r>
                                  <a:rPr lang="en-US" sz="900" b="0" i="0">
                                    <a:latin typeface="Cambria Math" panose="02040503050406030204" pitchFamily="18" charset="0"/>
                                  </a:rPr>
                                  <m:t>−0.3307</m:t>
                                </m:r>
                              </m:e>
                              <m:e>
                                <m:r>
                                  <a:rPr lang="en-US" sz="900" b="0" i="0">
                                    <a:latin typeface="Cambria Math" panose="02040503050406030204" pitchFamily="18" charset="0"/>
                                  </a:rPr>
                                  <m:t>−0.2642</m:t>
                                </m:r>
                              </m:e>
                            </m:mr>
                            <m:mr>
                              <m:e>
                                <m:r>
                                  <a:rPr lang="en-US" sz="900" b="0" i="0">
                                    <a:latin typeface="Cambria Math" panose="02040503050406030204" pitchFamily="18" charset="0"/>
                                  </a:rPr>
                                  <m:t>−0.2016</m:t>
                                </m:r>
                              </m:e>
                              <m:e>
                                <m:r>
                                  <a:rPr lang="en-US" sz="900" b="0" i="0">
                                    <a:latin typeface="Cambria Math" panose="02040503050406030204" pitchFamily="18" charset="0"/>
                                  </a:rPr>
                                  <m:t>1.2003</m:t>
                                </m:r>
                              </m:e>
                              <m:e>
                                <m:r>
                                  <a:rPr lang="en-US" sz="900" b="0" i="0">
                                    <a:latin typeface="Cambria Math" panose="02040503050406030204" pitchFamily="18" charset="0"/>
                                  </a:rPr>
                                  <m:t>−0.0829</m:t>
                                </m:r>
                              </m:e>
                              <m:e>
                                <m:r>
                                  <a:rPr lang="en-US" sz="900" b="0" i="0">
                                    <a:latin typeface="Cambria Math" panose="02040503050406030204" pitchFamily="18" charset="0"/>
                                  </a:rPr>
                                  <m:t>0.2056</m:t>
                                </m:r>
                              </m:e>
                              <m:e>
                                <m:r>
                                  <a:rPr lang="en-US" sz="900" b="0" i="0">
                                    <a:latin typeface="Cambria Math" panose="02040503050406030204" pitchFamily="18" charset="0"/>
                                  </a:rPr>
                                  <m:t>0.2119</m:t>
                                </m:r>
                              </m:e>
                              <m:e>
                                <m:r>
                                  <a:rPr lang="en-US" sz="900" b="0" i="0">
                                    <a:latin typeface="Cambria Math" panose="02040503050406030204" pitchFamily="18" charset="0"/>
                                  </a:rPr>
                                  <m:t>−0.0775</m:t>
                                </m:r>
                              </m:e>
                            </m:mr>
                            <m:mr>
                              <m:e>
                                <m:r>
                                  <a:rPr lang="en-US" sz="900" b="0" i="0">
                                    <a:latin typeface="Cambria Math" panose="02040503050406030204" pitchFamily="18" charset="0"/>
                                  </a:rPr>
                                  <m:t>−0.2673</m:t>
                                </m:r>
                              </m:e>
                              <m:e>
                                <m:r>
                                  <a:rPr lang="en-US" sz="900" b="0" i="0">
                                    <a:latin typeface="Cambria Math" panose="02040503050406030204" pitchFamily="18" charset="0"/>
                                  </a:rPr>
                                  <m:t>−0.3313</m:t>
                                </m:r>
                              </m:e>
                              <m:e>
                                <m:r>
                                  <a:rPr lang="en-US" sz="900" b="0" i="0">
                                    <a:latin typeface="Cambria Math" panose="02040503050406030204" pitchFamily="18" charset="0"/>
                                  </a:rPr>
                                  <m:t>0.8159</m:t>
                                </m:r>
                              </m:e>
                              <m:e>
                                <m:r>
                                  <a:rPr lang="en-US" sz="900" b="0" i="0">
                                    <a:latin typeface="Cambria Math" panose="02040503050406030204" pitchFamily="18" charset="0"/>
                                  </a:rPr>
                                  <m:t>−0.3875</m:t>
                                </m:r>
                              </m:e>
                              <m:e>
                                <m:r>
                                  <a:rPr lang="en-US" sz="900" b="0" i="0">
                                    <a:latin typeface="Cambria Math" panose="02040503050406030204" pitchFamily="18" charset="0"/>
                                  </a:rPr>
                                  <m:t>−0.3395</m:t>
                                </m:r>
                              </m:e>
                              <m:e>
                                <m:r>
                                  <a:rPr lang="en-US" sz="900" b="0" i="0">
                                    <a:latin typeface="Cambria Math" panose="02040503050406030204" pitchFamily="18" charset="0"/>
                                  </a:rPr>
                                  <m:t>−0.2752</m:t>
                                </m:r>
                              </m:e>
                            </m:mr>
                            <m:mr>
                              <m:e>
                                <m:r>
                                  <a:rPr lang="en-US" sz="900" b="0" i="0">
                                    <a:latin typeface="Cambria Math" panose="02040503050406030204" pitchFamily="18" charset="0"/>
                                  </a:rPr>
                                  <m:t>−0.0774</m:t>
                                </m:r>
                              </m:e>
                              <m:e>
                                <m:r>
                                  <a:rPr lang="en-US" sz="900" b="0" i="0">
                                    <a:latin typeface="Cambria Math" panose="02040503050406030204" pitchFamily="18" charset="0"/>
                                  </a:rPr>
                                  <m:t>0.1998</m:t>
                                </m:r>
                              </m:e>
                              <m:e>
                                <m:r>
                                  <a:rPr lang="en-US" sz="900" b="0" i="0">
                                    <a:latin typeface="Cambria Math" panose="02040503050406030204" pitchFamily="18" charset="0"/>
                                  </a:rPr>
                                  <m:t>−0.2154</m:t>
                                </m:r>
                              </m:e>
                              <m:e>
                                <m:r>
                                  <a:rPr lang="en-US" sz="900" b="0" i="0">
                                    <a:latin typeface="Cambria Math" panose="02040503050406030204" pitchFamily="18" charset="0"/>
                                  </a:rPr>
                                  <m:t>1.1803</m:t>
                                </m:r>
                              </m:e>
                              <m:e>
                                <m:r>
                                  <a:rPr lang="en-US" sz="900" b="0" i="0">
                                    <a:latin typeface="Cambria Math" panose="02040503050406030204" pitchFamily="18" charset="0"/>
                                  </a:rPr>
                                  <m:t>0.1982</m:t>
                                </m:r>
                              </m:e>
                              <m:e>
                                <m:r>
                                  <a:rPr lang="en-US" sz="900" b="0" i="0">
                                    <a:latin typeface="Cambria Math" panose="02040503050406030204" pitchFamily="18" charset="0"/>
                                  </a:rPr>
                                  <m:t>−0.0786</m:t>
                                </m:r>
                              </m:e>
                            </m:mr>
                            <m:mr>
                              <m:e>
                                <m:r>
                                  <a:rPr lang="en-US" sz="900" b="0" i="0">
                                    <a:latin typeface="Cambria Math" panose="02040503050406030204" pitchFamily="18" charset="0"/>
                                  </a:rPr>
                                  <m:t>−0.0829</m:t>
                                </m:r>
                              </m:e>
                              <m:e>
                                <m:r>
                                  <a:rPr lang="en-US" sz="900" b="0" i="0">
                                    <a:latin typeface="Cambria Math" panose="02040503050406030204" pitchFamily="18" charset="0"/>
                                  </a:rPr>
                                  <m:t>0.1894</m:t>
                                </m:r>
                              </m:e>
                              <m:e>
                                <m:r>
                                  <a:rPr lang="en-US" sz="900" b="0" i="0">
                                    <a:latin typeface="Cambria Math" panose="02040503050406030204" pitchFamily="18" charset="0"/>
                                  </a:rPr>
                                  <m:t>−0.0958</m:t>
                                </m:r>
                              </m:e>
                              <m:e>
                                <m:r>
                                  <a:rPr lang="en-US" sz="900" b="0" i="0">
                                    <a:latin typeface="Cambria Math" panose="02040503050406030204" pitchFamily="18" charset="0"/>
                                  </a:rPr>
                                  <m:t>0.1871</m:t>
                                </m:r>
                              </m:e>
                              <m:e>
                                <m:r>
                                  <a:rPr lang="en-US" sz="900" b="0" i="0">
                                    <a:latin typeface="Cambria Math" panose="02040503050406030204" pitchFamily="18" charset="0"/>
                                  </a:rPr>
                                  <m:t>1.1909</m:t>
                                </m:r>
                              </m:e>
                              <m:e>
                                <m:r>
                                  <a:rPr lang="en-US" sz="900" b="0" i="0">
                                    <a:latin typeface="Cambria Math" panose="02040503050406030204" pitchFamily="18" charset="0"/>
                                  </a:rPr>
                                  <m:t>−0.2195</m:t>
                                </m:r>
                              </m:e>
                            </m:mr>
                            <m:mr>
                              <m:e>
                                <m:r>
                                  <a:rPr lang="en-US" sz="900" b="0" i="0">
                                    <a:latin typeface="Cambria Math" panose="02040503050406030204" pitchFamily="18" charset="0"/>
                                  </a:rPr>
                                  <m:t>−0.2550</m:t>
                                </m:r>
                              </m:e>
                              <m:e>
                                <m:r>
                                  <a:rPr lang="en-US" sz="900" b="0" i="0">
                                    <a:latin typeface="Cambria Math" panose="02040503050406030204" pitchFamily="18" charset="0"/>
                                  </a:rPr>
                                  <m:t>−0.3158</m:t>
                                </m:r>
                              </m:e>
                              <m:e>
                                <m:r>
                                  <a:rPr lang="en-US" sz="900" b="0" i="0">
                                    <a:latin typeface="Cambria Math" panose="02040503050406030204" pitchFamily="18" charset="0"/>
                                  </a:rPr>
                                  <m:t>−0.2616</m:t>
                                </m:r>
                              </m:e>
                              <m:e>
                                <m:r>
                                  <a:rPr lang="en-US" sz="900" b="0" i="0">
                                    <a:latin typeface="Cambria Math" panose="02040503050406030204" pitchFamily="18" charset="0"/>
                                  </a:rPr>
                                  <m:t>−0.3078</m:t>
                                </m:r>
                              </m:e>
                              <m:e>
                                <m:r>
                                  <a:rPr lang="en-US" sz="900" b="0" i="0">
                                    <a:latin typeface="Cambria Math" panose="02040503050406030204" pitchFamily="18" charset="0"/>
                                  </a:rPr>
                                  <m:t>−0.3794</m:t>
                                </m:r>
                              </m:e>
                              <m:e>
                                <m:r>
                                  <a:rPr lang="en-US" sz="900" b="0" i="0">
                                    <a:latin typeface="Cambria Math" panose="02040503050406030204" pitchFamily="18" charset="0"/>
                                  </a:rPr>
                                  <m:t>0.8260</m:t>
                                </m:r>
                              </m:e>
                            </m:mr>
                          </m:m>
                        </m:e>
                      </m:d>
                      <m:r>
                        <a:rPr lang="en-US" sz="900" b="0" i="0">
                          <a:latin typeface="Cambria Math" panose="02040503050406030204" pitchFamily="18" charset="0"/>
                        </a:rPr>
                        <m:t> </m:t>
                      </m:r>
                    </m:oMath>
                  </m:oMathPara>
                </a14:m>
                <a:endParaRPr lang="en-US" sz="900" dirty="0"/>
              </a:p>
            </p:txBody>
          </p:sp>
        </mc:Choice>
        <mc:Fallback xmlns="">
          <p:sp>
            <p:nvSpPr>
              <p:cNvPr id="900" name="CalibV_s_mat"/>
              <p:cNvSpPr txBox="1">
                <a:spLocks noRot="1" noChangeAspect="1" noMove="1" noResize="1" noEditPoints="1" noAdjustHandles="1" noChangeArrowheads="1" noChangeShapeType="1" noTextEdit="1"/>
              </p:cNvSpPr>
              <p:nvPr/>
            </p:nvSpPr>
            <p:spPr>
              <a:xfrm>
                <a:off x="3186716" y="1245903"/>
                <a:ext cx="3793066" cy="868680"/>
              </a:xfrm>
              <a:prstGeom prst="rect">
                <a:avLst/>
              </a:prstGeom>
              <a:blipFill>
                <a:blip r:embed="rId21"/>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01" name="CalibV_s_sc"/>
              <p:cNvSpPr txBox="1"/>
              <p:nvPr/>
            </p:nvSpPr>
            <p:spPr>
              <a:xfrm>
                <a:off x="3407405" y="2182655"/>
                <a:ext cx="3233712" cy="256032"/>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100" b="0" i="1">
                              <a:latin typeface="Cambria Math" panose="02040503050406030204" pitchFamily="18" charset="0"/>
                            </a:rPr>
                          </m:ctrlPr>
                        </m:accPr>
                        <m:e>
                          <m:r>
                            <a:rPr lang="en-US" sz="1100" b="0" i="1">
                              <a:latin typeface="Cambria Math" panose="02040503050406030204" pitchFamily="18" charset="0"/>
                            </a:rPr>
                            <m:t>ℓ</m:t>
                          </m:r>
                        </m:e>
                      </m:acc>
                      <m:r>
                        <a:rPr lang="en-US" sz="1100" b="0" i="0">
                          <a:latin typeface="Cambria Math" panose="02040503050406030204" pitchFamily="18" charset="0"/>
                        </a:rPr>
                        <m:t> = 870.7 </m:t>
                      </m:r>
                      <m:r>
                        <m:rPr>
                          <m:sty m:val="p"/>
                        </m:rPr>
                        <a:rPr lang="en-US" sz="1100" b="0" i="0">
                          <a:latin typeface="Cambria Math" panose="02040503050406030204" pitchFamily="18" charset="0"/>
                        </a:rPr>
                        <m:t>μm</m:t>
                      </m:r>
                      <m:r>
                        <a:rPr lang="en-US" sz="1100" b="0" i="0">
                          <a:latin typeface="Cambria Math" panose="02040503050406030204" pitchFamily="18" charset="0"/>
                        </a:rPr>
                        <m:t>  </m:t>
                      </m:r>
                      <m:sPre>
                        <m:sPrePr>
                          <m:ctrlPr>
                            <a:rPr lang="en-US" sz="1100" b="0" i="1">
                              <a:latin typeface="Cambria Math" panose="02040503050406030204" pitchFamily="18" charset="0"/>
                            </a:rPr>
                          </m:ctrlPr>
                        </m:sPrePr>
                        <m:sub/>
                        <m:sup>
                          <m:r>
                            <a:rPr lang="en-US" sz="1100" b="0" i="1">
                              <a:latin typeface="Cambria Math" panose="02040503050406030204" pitchFamily="18" charset="0"/>
                            </a:rPr>
                            <m:t>𝐵</m:t>
                          </m:r>
                        </m:sup>
                        <m:e>
                          <m:sSub>
                            <m:sSubPr>
                              <m:ctrlPr>
                                <a:rPr lang="en-US" sz="1100" b="0" i="1">
                                  <a:latin typeface="Cambria Math" panose="02040503050406030204" pitchFamily="18" charset="0"/>
                                </a:rPr>
                              </m:ctrlPr>
                            </m:sSubPr>
                            <m:e>
                              <m:acc>
                                <m:accPr>
                                  <m:chr m:val="̂"/>
                                  <m:ctrlPr>
                                    <a:rPr lang="en-US" sz="1100" b="0" i="1">
                                      <a:latin typeface="Cambria Math" panose="02040503050406030204" pitchFamily="18" charset="0"/>
                                    </a:rPr>
                                  </m:ctrlPr>
                                </m:accPr>
                                <m:e>
                                  <m:r>
                                    <a:rPr lang="en-US" sz="1100" b="0" i="1">
                                      <a:latin typeface="Cambria Math" panose="02040503050406030204" pitchFamily="18" charset="0"/>
                                    </a:rPr>
                                    <m:t>𝑔</m:t>
                                  </m:r>
                                </m:e>
                              </m:acc>
                            </m:e>
                            <m:sub>
                              <m:r>
                                <a:rPr lang="en-US" sz="1100" b="0" i="1">
                                  <a:latin typeface="Cambria Math" panose="02040503050406030204" pitchFamily="18" charset="0"/>
                                </a:rPr>
                                <m:t>𝑉</m:t>
                              </m:r>
                            </m:sub>
                          </m:sSub>
                        </m:e>
                      </m:sPre>
                      <m:r>
                        <a:rPr lang="en-US" sz="1100" b="0" i="0">
                          <a:latin typeface="Cambria Math" panose="02040503050406030204" pitchFamily="18" charset="0"/>
                        </a:rPr>
                        <m:t> = 6.6358×</m:t>
                      </m:r>
                      <m:sSup>
                        <m:sSupPr>
                          <m:ctrlPr>
                            <a:rPr lang="en-US" sz="1100" b="0" i="1">
                              <a:latin typeface="Cambria Math" panose="02040503050406030204" pitchFamily="18" charset="0"/>
                            </a:rPr>
                          </m:ctrlPr>
                        </m:sSupPr>
                        <m:e>
                          <m:r>
                            <a:rPr lang="en-US" sz="1100" b="0" i="0">
                              <a:latin typeface="Cambria Math" panose="02040503050406030204" pitchFamily="18" charset="0"/>
                            </a:rPr>
                            <m:t>10</m:t>
                          </m:r>
                        </m:e>
                        <m:sup>
                          <m:r>
                            <a:rPr lang="en-US" sz="1100" b="0" i="0">
                              <a:latin typeface="Cambria Math" panose="02040503050406030204" pitchFamily="18" charset="0"/>
                            </a:rPr>
                            <m:t>−3</m:t>
                          </m:r>
                        </m:sup>
                      </m:sSup>
                      <m:r>
                        <a:rPr lang="en-US" sz="1100" b="0" i="0">
                          <a:latin typeface="Cambria Math" panose="02040503050406030204" pitchFamily="18" charset="0"/>
                        </a:rPr>
                        <m:t> </m:t>
                      </m:r>
                      <m:r>
                        <m:rPr>
                          <m:sty m:val="p"/>
                        </m:rPr>
                        <a:rPr lang="en-US" sz="1100" b="0" i="0">
                          <a:latin typeface="Cambria Math" panose="02040503050406030204" pitchFamily="18" charset="0"/>
                        </a:rPr>
                        <m:t>mT</m:t>
                      </m:r>
                      <m:r>
                        <a:rPr lang="en-US" sz="1100" b="0" i="0">
                          <a:latin typeface="Cambria Math" panose="02040503050406030204" pitchFamily="18" charset="0"/>
                        </a:rPr>
                        <m:t>/</m:t>
                      </m:r>
                      <m:r>
                        <m:rPr>
                          <m:sty m:val="p"/>
                        </m:rPr>
                        <a:rPr lang="en-US" sz="1100" b="0" i="0">
                          <a:latin typeface="Cambria Math" panose="02040503050406030204" pitchFamily="18" charset="0"/>
                        </a:rPr>
                        <m:t>mV</m:t>
                      </m:r>
                    </m:oMath>
                  </m:oMathPara>
                </a14:m>
                <a:endParaRPr lang="en-US" sz="1100" dirty="0"/>
              </a:p>
            </p:txBody>
          </p:sp>
        </mc:Choice>
        <mc:Fallback xmlns="">
          <p:sp>
            <p:nvSpPr>
              <p:cNvPr id="901" name="CalibV_s_sc"/>
              <p:cNvSpPr txBox="1">
                <a:spLocks noRot="1" noChangeAspect="1" noMove="1" noResize="1" noEditPoints="1" noAdjustHandles="1" noChangeArrowheads="1" noChangeShapeType="1" noTextEdit="1"/>
              </p:cNvSpPr>
              <p:nvPr/>
            </p:nvSpPr>
            <p:spPr>
              <a:xfrm>
                <a:off x="3407405" y="2182655"/>
                <a:ext cx="3233712" cy="256032"/>
              </a:xfrm>
              <a:prstGeom prst="rect">
                <a:avLst/>
              </a:prstGeom>
              <a:blipFill>
                <a:blip r:embed="rId22"/>
                <a:stretch>
                  <a:fillRect t="-9524" b="-952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02" name="CalibV_e_mat"/>
              <p:cNvSpPr txBox="1"/>
              <p:nvPr/>
            </p:nvSpPr>
            <p:spPr>
              <a:xfrm>
                <a:off x="3186716" y="2928399"/>
                <a:ext cx="3556000" cy="868680"/>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900" b="0" i="1">
                              <a:latin typeface="Cambria Math" panose="02040503050406030204" pitchFamily="18" charset="0"/>
                            </a:rPr>
                          </m:ctrlPr>
                        </m:accPr>
                        <m:e>
                          <m:r>
                            <a:rPr lang="en-US" sz="900" b="0" i="1">
                              <a:latin typeface="Cambria Math" panose="02040503050406030204" pitchFamily="18" charset="0"/>
                            </a:rPr>
                            <m:t>𝑀</m:t>
                          </m:r>
                        </m:e>
                      </m:acc>
                      <m:r>
                        <a:rPr lang="en-US" sz="900" b="0" i="0">
                          <a:latin typeface="Cambria Math" panose="02040503050406030204" pitchFamily="18" charset="0"/>
                        </a:rPr>
                        <m:t> = </m:t>
                      </m:r>
                      <m:d>
                        <m:dPr>
                          <m:begChr m:val="["/>
                          <m:endChr m:val="]"/>
                          <m:ctrlPr>
                            <a:rPr lang="en-US" sz="900" b="0" i="1">
                              <a:latin typeface="Cambria Math" panose="02040503050406030204" pitchFamily="18" charset="0"/>
                            </a:rPr>
                          </m:ctrlPr>
                        </m:dPr>
                        <m:e>
                          <m:m>
                            <m:mPr>
                              <m:mcs>
                                <m:mc>
                                  <m:mcPr>
                                    <m:count m:val="6"/>
                                    <m:mcJc m:val="center"/>
                                  </m:mcPr>
                                </m:mc>
                              </m:mcs>
                              <m:ctrlPr>
                                <a:rPr lang="en-US" sz="900" b="0" i="1">
                                  <a:latin typeface="Cambria Math" panose="02040503050406030204" pitchFamily="18" charset="0"/>
                                </a:rPr>
                              </m:ctrlPr>
                            </m:mPr>
                            <m:mr>
                              <m:e>
                                <m:r>
                                  <a:rPr lang="en-US" sz="900" b="0" i="0">
                                    <a:latin typeface="Cambria Math" panose="02040503050406030204" pitchFamily="18" charset="0"/>
                                  </a:rPr>
                                  <m:t>0.8333</m:t>
                                </m:r>
                              </m:e>
                              <m:e>
                                <m:r>
                                  <a:rPr lang="en-US" sz="900" b="0" i="0">
                                    <a:latin typeface="Cambria Math" panose="02040503050406030204" pitchFamily="18" charset="0"/>
                                  </a:rPr>
                                  <m:t>−0.3820</m:t>
                                </m:r>
                              </m:e>
                              <m:e>
                                <m:r>
                                  <a:rPr lang="en-US" sz="900" b="0" i="0">
                                    <a:latin typeface="Cambria Math" panose="02040503050406030204" pitchFamily="18" charset="0"/>
                                  </a:rPr>
                                  <m:t>−0.1567</m:t>
                                </m:r>
                              </m:e>
                              <m:e>
                                <m:r>
                                  <a:rPr lang="en-US" sz="900" b="0" i="0">
                                    <a:latin typeface="Cambria Math" panose="02040503050406030204" pitchFamily="18" charset="0"/>
                                  </a:rPr>
                                  <m:t>−0.3138</m:t>
                                </m:r>
                              </m:e>
                              <m:e>
                                <m:r>
                                  <a:rPr lang="en-US" sz="900" b="0" i="0">
                                    <a:latin typeface="Cambria Math" panose="02040503050406030204" pitchFamily="18" charset="0"/>
                                  </a:rPr>
                                  <m:t>−0.3247</m:t>
                                </m:r>
                              </m:e>
                              <m:e>
                                <m:r>
                                  <a:rPr lang="en-US" sz="900" b="0" i="0">
                                    <a:latin typeface="Cambria Math" panose="02040503050406030204" pitchFamily="18" charset="0"/>
                                  </a:rPr>
                                  <m:t>−0.1545</m:t>
                                </m:r>
                              </m:e>
                            </m:mr>
                            <m:mr>
                              <m:e>
                                <m:r>
                                  <a:rPr lang="en-US" sz="900" b="0" i="0">
                                    <a:latin typeface="Cambria Math" panose="02040503050406030204" pitchFamily="18" charset="0"/>
                                  </a:rPr>
                                  <m:t>−0.0859</m:t>
                                </m:r>
                              </m:e>
                              <m:e>
                                <m:r>
                                  <a:rPr lang="en-US" sz="900" b="0" i="0">
                                    <a:latin typeface="Cambria Math" panose="02040503050406030204" pitchFamily="18" charset="0"/>
                                  </a:rPr>
                                  <m:t>1.0477</m:t>
                                </m:r>
                              </m:e>
                              <m:e>
                                <m:r>
                                  <a:rPr lang="en-US" sz="900" b="0" i="0">
                                    <a:latin typeface="Cambria Math" panose="02040503050406030204" pitchFamily="18" charset="0"/>
                                  </a:rPr>
                                  <m:t>−0.0540</m:t>
                                </m:r>
                              </m:e>
                              <m:e>
                                <m:r>
                                  <a:rPr lang="en-US" sz="900" b="0" i="0">
                                    <a:latin typeface="Cambria Math" panose="02040503050406030204" pitchFamily="18" charset="0"/>
                                  </a:rPr>
                                  <m:t>0.2286</m:t>
                                </m:r>
                              </m:e>
                              <m:e>
                                <m:r>
                                  <a:rPr lang="en-US" sz="900" b="0" i="0">
                                    <a:latin typeface="Cambria Math" panose="02040503050406030204" pitchFamily="18" charset="0"/>
                                  </a:rPr>
                                  <m:t>0.2370</m:t>
                                </m:r>
                              </m:e>
                              <m:e>
                                <m:r>
                                  <a:rPr lang="en-US" sz="900" b="0" i="0">
                                    <a:latin typeface="Cambria Math" panose="02040503050406030204" pitchFamily="18" charset="0"/>
                                  </a:rPr>
                                  <m:t>−0.0514</m:t>
                                </m:r>
                              </m:e>
                            </m:mr>
                            <m:mr>
                              <m:e>
                                <m:r>
                                  <a:rPr lang="en-US" sz="900" b="0" i="0">
                                    <a:latin typeface="Cambria Math" panose="02040503050406030204" pitchFamily="18" charset="0"/>
                                  </a:rPr>
                                  <m:t>−0.1629</m:t>
                                </m:r>
                              </m:e>
                              <m:e>
                                <m:r>
                                  <a:rPr lang="en-US" sz="900" b="0" i="0">
                                    <a:latin typeface="Cambria Math" panose="02040503050406030204" pitchFamily="18" charset="0"/>
                                  </a:rPr>
                                  <m:t>−0.3334</m:t>
                                </m:r>
                              </m:e>
                              <m:e>
                                <m:r>
                                  <a:rPr lang="en-US" sz="900" b="0" i="0">
                                    <a:latin typeface="Cambria Math" panose="02040503050406030204" pitchFamily="18" charset="0"/>
                                  </a:rPr>
                                  <m:t>0.8346</m:t>
                                </m:r>
                              </m:e>
                              <m:e>
                                <m:r>
                                  <a:rPr lang="en-US" sz="900" b="0" i="0">
                                    <a:latin typeface="Cambria Math" panose="02040503050406030204" pitchFamily="18" charset="0"/>
                                  </a:rPr>
                                  <m:t>−0.3904</m:t>
                                </m:r>
                              </m:e>
                              <m:e>
                                <m:r>
                                  <a:rPr lang="en-US" sz="900" b="0" i="0">
                                    <a:latin typeface="Cambria Math" panose="02040503050406030204" pitchFamily="18" charset="0"/>
                                  </a:rPr>
                                  <m:t>−0.3367</m:t>
                                </m:r>
                              </m:e>
                              <m:e>
                                <m:r>
                                  <a:rPr lang="en-US" sz="900" b="0" i="0">
                                    <a:latin typeface="Cambria Math" panose="02040503050406030204" pitchFamily="18" charset="0"/>
                                  </a:rPr>
                                  <m:t>−0.1664</m:t>
                                </m:r>
                              </m:e>
                            </m:mr>
                            <m:mr>
                              <m:e>
                                <m:r>
                                  <a:rPr lang="en-US" sz="900" b="0" i="0">
                                    <a:latin typeface="Cambria Math" panose="02040503050406030204" pitchFamily="18" charset="0"/>
                                  </a:rPr>
                                  <m:t>−0.0564</m:t>
                                </m:r>
                              </m:e>
                              <m:e>
                                <m:r>
                                  <a:rPr lang="en-US" sz="900" b="0" i="0">
                                    <a:latin typeface="Cambria Math" panose="02040503050406030204" pitchFamily="18" charset="0"/>
                                  </a:rPr>
                                  <m:t>0.2248</m:t>
                                </m:r>
                              </m:e>
                              <m:e>
                                <m:r>
                                  <a:rPr lang="en-US" sz="900" b="0" i="0">
                                    <a:latin typeface="Cambria Math" panose="02040503050406030204" pitchFamily="18" charset="0"/>
                                  </a:rPr>
                                  <m:t>−0.0908</m:t>
                                </m:r>
                              </m:e>
                              <m:e>
                                <m:r>
                                  <a:rPr lang="en-US" sz="900" b="0" i="0">
                                    <a:latin typeface="Cambria Math" panose="02040503050406030204" pitchFamily="18" charset="0"/>
                                  </a:rPr>
                                  <m:t>1.0380</m:t>
                                </m:r>
                              </m:e>
                              <m:e>
                                <m:r>
                                  <a:rPr lang="en-US" sz="900" b="0" i="0">
                                    <a:latin typeface="Cambria Math" panose="02040503050406030204" pitchFamily="18" charset="0"/>
                                  </a:rPr>
                                  <m:t>0.2264</m:t>
                                </m:r>
                              </m:e>
                              <m:e>
                                <m:r>
                                  <a:rPr lang="en-US" sz="900" b="0" i="0">
                                    <a:latin typeface="Cambria Math" panose="02040503050406030204" pitchFamily="18" charset="0"/>
                                  </a:rPr>
                                  <m:t>−0.0539</m:t>
                                </m:r>
                              </m:e>
                            </m:mr>
                            <m:mr>
                              <m:e>
                                <m:r>
                                  <a:rPr lang="en-US" sz="900" b="0" i="0">
                                    <a:latin typeface="Cambria Math" panose="02040503050406030204" pitchFamily="18" charset="0"/>
                                  </a:rPr>
                                  <m:t>−0.0606</m:t>
                                </m:r>
                              </m:e>
                              <m:e>
                                <m:r>
                                  <a:rPr lang="en-US" sz="900" b="0" i="0">
                                    <a:latin typeface="Cambria Math" panose="02040503050406030204" pitchFamily="18" charset="0"/>
                                  </a:rPr>
                                  <m:t>0.2187</m:t>
                                </m:r>
                              </m:e>
                              <m:e>
                                <m:r>
                                  <a:rPr lang="en-US" sz="900" b="0" i="0">
                                    <a:latin typeface="Cambria Math" panose="02040503050406030204" pitchFamily="18" charset="0"/>
                                  </a:rPr>
                                  <m:t>−0.0654</m:t>
                                </m:r>
                              </m:e>
                              <m:e>
                                <m:r>
                                  <a:rPr lang="en-US" sz="900" b="0" i="0">
                                    <a:latin typeface="Cambria Math" panose="02040503050406030204" pitchFamily="18" charset="0"/>
                                  </a:rPr>
                                  <m:t>0.2169</m:t>
                                </m:r>
                              </m:e>
                              <m:e>
                                <m:r>
                                  <a:rPr lang="en-US" sz="900" b="0" i="0">
                                    <a:latin typeface="Cambria Math" panose="02040503050406030204" pitchFamily="18" charset="0"/>
                                  </a:rPr>
                                  <m:t>1.0603</m:t>
                                </m:r>
                              </m:e>
                              <m:e>
                                <m:r>
                                  <a:rPr lang="en-US" sz="900" b="0" i="0">
                                    <a:latin typeface="Cambria Math" panose="02040503050406030204" pitchFamily="18" charset="0"/>
                                  </a:rPr>
                                  <m:t>−0.0966</m:t>
                                </m:r>
                              </m:e>
                            </m:mr>
                            <m:mr>
                              <m:e>
                                <m:r>
                                  <a:rPr lang="en-US" sz="900" b="0" i="0">
                                    <a:latin typeface="Cambria Math" panose="02040503050406030204" pitchFamily="18" charset="0"/>
                                  </a:rPr>
                                  <m:t>−0.1518</m:t>
                                </m:r>
                              </m:e>
                              <m:e>
                                <m:r>
                                  <a:rPr lang="en-US" sz="900" b="0" i="0">
                                    <a:latin typeface="Cambria Math" panose="02040503050406030204" pitchFamily="18" charset="0"/>
                                  </a:rPr>
                                  <m:t>−0.3189</m:t>
                                </m:r>
                              </m:e>
                              <m:e>
                                <m:r>
                                  <a:rPr lang="en-US" sz="900" b="0" i="0">
                                    <a:latin typeface="Cambria Math" panose="02040503050406030204" pitchFamily="18" charset="0"/>
                                  </a:rPr>
                                  <m:t>−0.1514</m:t>
                                </m:r>
                              </m:e>
                              <m:e>
                                <m:r>
                                  <a:rPr lang="en-US" sz="900" b="0" i="0">
                                    <a:latin typeface="Cambria Math" panose="02040503050406030204" pitchFamily="18" charset="0"/>
                                  </a:rPr>
                                  <m:t>−0.3097</m:t>
                                </m:r>
                              </m:e>
                              <m:e>
                                <m:r>
                                  <a:rPr lang="en-US" sz="900" b="0" i="0">
                                    <a:latin typeface="Cambria Math" panose="02040503050406030204" pitchFamily="18" charset="0"/>
                                  </a:rPr>
                                  <m:t>−0.3799</m:t>
                                </m:r>
                              </m:e>
                              <m:e>
                                <m:r>
                                  <a:rPr lang="en-US" sz="900" b="0" i="0">
                                    <a:latin typeface="Cambria Math" panose="02040503050406030204" pitchFamily="18" charset="0"/>
                                  </a:rPr>
                                  <m:t>0.8414</m:t>
                                </m:r>
                              </m:e>
                            </m:mr>
                          </m:m>
                        </m:e>
                      </m:d>
                    </m:oMath>
                  </m:oMathPara>
                </a14:m>
                <a:endParaRPr lang="en-US" sz="900" dirty="0"/>
              </a:p>
            </p:txBody>
          </p:sp>
        </mc:Choice>
        <mc:Fallback xmlns="">
          <p:sp>
            <p:nvSpPr>
              <p:cNvPr id="902" name="CalibV_e_mat"/>
              <p:cNvSpPr txBox="1">
                <a:spLocks noRot="1" noChangeAspect="1" noMove="1" noResize="1" noEditPoints="1" noAdjustHandles="1" noChangeArrowheads="1" noChangeShapeType="1" noTextEdit="1"/>
              </p:cNvSpPr>
              <p:nvPr/>
            </p:nvSpPr>
            <p:spPr>
              <a:xfrm>
                <a:off x="3186716" y="2928399"/>
                <a:ext cx="3556000" cy="868680"/>
              </a:xfrm>
              <a:prstGeom prst="rect">
                <a:avLst/>
              </a:prstGeom>
              <a:blipFill>
                <a:blip r:embed="rId2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03" name="CalibV_e_bias"/>
              <p:cNvSpPr txBox="1"/>
              <p:nvPr/>
            </p:nvSpPr>
            <p:spPr>
              <a:xfrm>
                <a:off x="3186716" y="3897663"/>
                <a:ext cx="3632200" cy="457200"/>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altLang="zh-TW" sz="900" b="0" i="1" smtClean="0">
                              <a:latin typeface="Cambria Math" panose="02040503050406030204" pitchFamily="18" charset="0"/>
                            </a:rPr>
                          </m:ctrlPr>
                        </m:accPr>
                        <m:e>
                          <m:r>
                            <a:rPr lang="en-US" altLang="zh-TW" sz="900" b="0" i="1" smtClean="0">
                              <a:latin typeface="Cambria Math" panose="02040503050406030204" pitchFamily="18" charset="0"/>
                            </a:rPr>
                            <m:t>𝑒</m:t>
                          </m:r>
                        </m:e>
                      </m:acc>
                      <m:r>
                        <a:rPr lang="en-US" sz="900" b="0" i="0">
                          <a:latin typeface="Cambria Math" panose="02040503050406030204" pitchFamily="18" charset="0"/>
                        </a:rPr>
                        <m:t>= </m:t>
                      </m:r>
                      <m:d>
                        <m:dPr>
                          <m:begChr m:val="["/>
                          <m:endChr m:val="]"/>
                          <m:ctrlPr>
                            <a:rPr lang="en-US" sz="900" b="0" i="1">
                              <a:latin typeface="Cambria Math" panose="02040503050406030204" pitchFamily="18" charset="0"/>
                            </a:rPr>
                          </m:ctrlPr>
                        </m:dPr>
                        <m:e>
                          <m:m>
                            <m:mPr>
                              <m:mcs>
                                <m:mc>
                                  <m:mcPr>
                                    <m:count m:val="6"/>
                                    <m:mcJc m:val="center"/>
                                  </m:mcPr>
                                </m:mc>
                              </m:mcs>
                              <m:ctrlPr>
                                <a:rPr lang="en-US" sz="900" b="0" i="1">
                                  <a:latin typeface="Cambria Math" panose="02040503050406030204" pitchFamily="18" charset="0"/>
                                </a:rPr>
                              </m:ctrlPr>
                            </m:mPr>
                            <m:mr>
                              <m:e>
                                <m:r>
                                  <a:rPr lang="en-US" sz="900" b="0" i="0">
                                    <a:latin typeface="Cambria Math" panose="02040503050406030204" pitchFamily="18" charset="0"/>
                                  </a:rPr>
                                  <m:t>0.0134</m:t>
                                </m:r>
                              </m:e>
                              <m:e>
                                <m:r>
                                  <a:rPr lang="en-US" sz="900" b="0" i="0">
                                    <a:latin typeface="Cambria Math" panose="02040503050406030204" pitchFamily="18" charset="0"/>
                                  </a:rPr>
                                  <m:t>0.0200</m:t>
                                </m:r>
                              </m:e>
                              <m:e>
                                <m:r>
                                  <a:rPr lang="en-US" sz="900" b="0" i="0">
                                    <a:latin typeface="Cambria Math" panose="02040503050406030204" pitchFamily="18" charset="0"/>
                                  </a:rPr>
                                  <m:t>−0.1170</m:t>
                                </m:r>
                              </m:e>
                              <m:e>
                                <m:r>
                                  <a:rPr lang="en-US" sz="900" b="0" i="0">
                                    <a:latin typeface="Cambria Math" panose="02040503050406030204" pitchFamily="18" charset="0"/>
                                  </a:rPr>
                                  <m:t>0.0016</m:t>
                                </m:r>
                              </m:e>
                              <m:e>
                                <m:r>
                                  <a:rPr lang="en-US" sz="900" b="0" i="0">
                                    <a:latin typeface="Cambria Math" panose="02040503050406030204" pitchFamily="18" charset="0"/>
                                  </a:rPr>
                                  <m:t>0.0006</m:t>
                                </m:r>
                              </m:e>
                              <m:e>
                                <m:r>
                                  <a:rPr lang="en-US" sz="900" b="0" i="0">
                                    <a:latin typeface="Cambria Math" panose="02040503050406030204" pitchFamily="18" charset="0"/>
                                  </a:rPr>
                                  <m:t>−0.1170</m:t>
                                </m:r>
                              </m:e>
                            </m:mr>
                            <m:mr>
                              <m:e>
                                <m:r>
                                  <a:rPr lang="en-US" sz="900" b="0" i="0">
                                    <a:latin typeface="Cambria Math" panose="02040503050406030204" pitchFamily="18" charset="0"/>
                                  </a:rPr>
                                  <m:t>−0.1155</m:t>
                                </m:r>
                              </m:e>
                              <m:e>
                                <m:r>
                                  <a:rPr lang="en-US" sz="900" b="0" i="0">
                                    <a:latin typeface="Cambria Math" panose="02040503050406030204" pitchFamily="18" charset="0"/>
                                  </a:rPr>
                                  <m:t>0.0028</m:t>
                                </m:r>
                              </m:e>
                              <m:e>
                                <m:r>
                                  <a:rPr lang="en-US" sz="900" b="0" i="0">
                                    <a:latin typeface="Cambria Math" panose="02040503050406030204" pitchFamily="18" charset="0"/>
                                  </a:rPr>
                                  <m:t>0.0185</m:t>
                                </m:r>
                              </m:e>
                              <m:e>
                                <m:r>
                                  <a:rPr lang="en-US" sz="900" b="0" i="0">
                                    <a:latin typeface="Cambria Math" panose="02040503050406030204" pitchFamily="18" charset="0"/>
                                  </a:rPr>
                                  <m:t>0.0168</m:t>
                                </m:r>
                              </m:e>
                              <m:e>
                                <m:r>
                                  <a:rPr lang="en-US" sz="900" b="0" i="0">
                                    <a:latin typeface="Cambria Math" panose="02040503050406030204" pitchFamily="18" charset="0"/>
                                  </a:rPr>
                                  <m:t>0.0012</m:t>
                                </m:r>
                              </m:e>
                              <m:e>
                                <m:r>
                                  <a:rPr lang="en-US" sz="900" b="0" i="0">
                                    <a:latin typeface="Cambria Math" panose="02040503050406030204" pitchFamily="18" charset="0"/>
                                  </a:rPr>
                                  <m:t>−0.1168</m:t>
                                </m:r>
                              </m:e>
                            </m:mr>
                            <m:mr>
                              <m:e>
                                <m:r>
                                  <a:rPr lang="en-US" sz="900" b="0" i="0">
                                    <a:latin typeface="Cambria Math" panose="02040503050406030204" pitchFamily="18" charset="0"/>
                                  </a:rPr>
                                  <m:t>0.1152</m:t>
                                </m:r>
                              </m:e>
                              <m:e>
                                <m:r>
                                  <a:rPr lang="en-US" sz="900" b="0" i="0">
                                    <a:latin typeface="Cambria Math" panose="02040503050406030204" pitchFamily="18" charset="0"/>
                                  </a:rPr>
                                  <m:t>−0.0026</m:t>
                                </m:r>
                              </m:e>
                              <m:e>
                                <m:r>
                                  <a:rPr lang="en-US" sz="900" b="0" i="0">
                                    <a:latin typeface="Cambria Math" panose="02040503050406030204" pitchFamily="18" charset="0"/>
                                  </a:rPr>
                                  <m:t>0.1159</m:t>
                                </m:r>
                              </m:e>
                              <m:e>
                                <m:r>
                                  <a:rPr lang="en-US" sz="900" b="0" i="0">
                                    <a:latin typeface="Cambria Math" panose="02040503050406030204" pitchFamily="18" charset="0"/>
                                  </a:rPr>
                                  <m:t>−0.0025</m:t>
                                </m:r>
                              </m:e>
                              <m:e>
                                <m:r>
                                  <a:rPr lang="en-US" sz="900" b="0" i="0">
                                    <a:latin typeface="Cambria Math" panose="02040503050406030204" pitchFamily="18" charset="0"/>
                                  </a:rPr>
                                  <m:t>−0.0137</m:t>
                                </m:r>
                              </m:e>
                              <m:e>
                                <m:r>
                                  <a:rPr lang="en-US" sz="900" b="0" i="0">
                                    <a:latin typeface="Cambria Math" panose="02040503050406030204" pitchFamily="18" charset="0"/>
                                  </a:rPr>
                                  <m:t>−0.0187</m:t>
                                </m:r>
                              </m:e>
                            </m:mr>
                          </m:m>
                        </m:e>
                      </m:d>
                    </m:oMath>
                  </m:oMathPara>
                </a14:m>
                <a:endParaRPr lang="en-US" sz="900" dirty="0"/>
              </a:p>
            </p:txBody>
          </p:sp>
        </mc:Choice>
        <mc:Fallback xmlns="">
          <p:sp>
            <p:nvSpPr>
              <p:cNvPr id="903" name="CalibV_e_bias"/>
              <p:cNvSpPr txBox="1">
                <a:spLocks noRot="1" noChangeAspect="1" noMove="1" noResize="1" noEditPoints="1" noAdjustHandles="1" noChangeArrowheads="1" noChangeShapeType="1" noTextEdit="1"/>
              </p:cNvSpPr>
              <p:nvPr/>
            </p:nvSpPr>
            <p:spPr>
              <a:xfrm>
                <a:off x="3186716" y="3897663"/>
                <a:ext cx="3632200" cy="457200"/>
              </a:xfrm>
              <a:prstGeom prst="rect">
                <a:avLst/>
              </a:prstGeom>
              <a:blipFill>
                <a:blip r:embed="rId24"/>
                <a:stretch>
                  <a:fillRect t="-4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04" name="CalibV_e_sc"/>
              <p:cNvSpPr txBox="1"/>
              <p:nvPr/>
            </p:nvSpPr>
            <p:spPr>
              <a:xfrm>
                <a:off x="3186717" y="4428015"/>
                <a:ext cx="3556000" cy="256032"/>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100" b="0" i="1">
                              <a:latin typeface="Cambria Math" panose="02040503050406030204" pitchFamily="18" charset="0"/>
                            </a:rPr>
                          </m:ctrlPr>
                        </m:accPr>
                        <m:e>
                          <m:r>
                            <a:rPr lang="en-US" sz="1100" b="0" i="1">
                              <a:latin typeface="Cambria Math" panose="02040503050406030204" pitchFamily="18" charset="0"/>
                            </a:rPr>
                            <m:t>ℓ</m:t>
                          </m:r>
                        </m:e>
                      </m:acc>
                      <m:r>
                        <a:rPr lang="en-US" sz="1100" b="0" i="0">
                          <a:latin typeface="Cambria Math" panose="02040503050406030204" pitchFamily="18" charset="0"/>
                        </a:rPr>
                        <m:t> = 868.4 </m:t>
                      </m:r>
                      <m:r>
                        <m:rPr>
                          <m:sty m:val="p"/>
                        </m:rPr>
                        <a:rPr lang="en-US" sz="1100" b="0" i="0">
                          <a:latin typeface="Cambria Math" panose="02040503050406030204" pitchFamily="18" charset="0"/>
                        </a:rPr>
                        <m:t>μm</m:t>
                      </m:r>
                      <m:r>
                        <a:rPr lang="en-US" sz="1100" b="0" i="0">
                          <a:latin typeface="Cambria Math" panose="02040503050406030204" pitchFamily="18" charset="0"/>
                        </a:rPr>
                        <m:t>  </m:t>
                      </m:r>
                      <m:sPre>
                        <m:sPrePr>
                          <m:ctrlPr>
                            <a:rPr lang="en-US" sz="1100" b="0" i="1">
                              <a:latin typeface="Cambria Math" panose="02040503050406030204" pitchFamily="18" charset="0"/>
                            </a:rPr>
                          </m:ctrlPr>
                        </m:sPrePr>
                        <m:sub/>
                        <m:sup>
                          <m:r>
                            <a:rPr lang="en-US" sz="1100" b="0" i="1">
                              <a:latin typeface="Cambria Math" panose="02040503050406030204" pitchFamily="18" charset="0"/>
                            </a:rPr>
                            <m:t>𝐵</m:t>
                          </m:r>
                        </m:sup>
                        <m:e>
                          <m:sSub>
                            <m:sSubPr>
                              <m:ctrlPr>
                                <a:rPr lang="en-US" sz="1100" b="0" i="1">
                                  <a:latin typeface="Cambria Math" panose="02040503050406030204" pitchFamily="18" charset="0"/>
                                </a:rPr>
                              </m:ctrlPr>
                            </m:sSubPr>
                            <m:e>
                              <m:acc>
                                <m:accPr>
                                  <m:chr m:val="̂"/>
                                  <m:ctrlPr>
                                    <a:rPr lang="en-US" sz="1100" b="0" i="1">
                                      <a:latin typeface="Cambria Math" panose="02040503050406030204" pitchFamily="18" charset="0"/>
                                    </a:rPr>
                                  </m:ctrlPr>
                                </m:accPr>
                                <m:e>
                                  <m:r>
                                    <a:rPr lang="en-US" sz="1100" b="0" i="1">
                                      <a:latin typeface="Cambria Math" panose="02040503050406030204" pitchFamily="18" charset="0"/>
                                    </a:rPr>
                                    <m:t>𝑔</m:t>
                                  </m:r>
                                </m:e>
                              </m:acc>
                            </m:e>
                            <m:sub>
                              <m:r>
                                <a:rPr lang="en-US" sz="1100" b="0" i="1">
                                  <a:latin typeface="Cambria Math" panose="02040503050406030204" pitchFamily="18" charset="0"/>
                                </a:rPr>
                                <m:t>𝑉</m:t>
                              </m:r>
                            </m:sub>
                          </m:sSub>
                        </m:e>
                      </m:sPre>
                      <m:r>
                        <a:rPr lang="en-US" sz="1100" b="0" i="0">
                          <a:latin typeface="Cambria Math" panose="02040503050406030204" pitchFamily="18" charset="0"/>
                        </a:rPr>
                        <m:t> = 7.6015×</m:t>
                      </m:r>
                      <m:sSup>
                        <m:sSupPr>
                          <m:ctrlPr>
                            <a:rPr lang="en-US" sz="1100" b="0" i="1">
                              <a:latin typeface="Cambria Math" panose="02040503050406030204" pitchFamily="18" charset="0"/>
                            </a:rPr>
                          </m:ctrlPr>
                        </m:sSupPr>
                        <m:e>
                          <m:r>
                            <a:rPr lang="en-US" sz="1100" b="0" i="0">
                              <a:latin typeface="Cambria Math" panose="02040503050406030204" pitchFamily="18" charset="0"/>
                            </a:rPr>
                            <m:t>10</m:t>
                          </m:r>
                        </m:e>
                        <m:sup>
                          <m:r>
                            <a:rPr lang="en-US" sz="1100" b="0" i="0">
                              <a:latin typeface="Cambria Math" panose="02040503050406030204" pitchFamily="18" charset="0"/>
                            </a:rPr>
                            <m:t>−3</m:t>
                          </m:r>
                        </m:sup>
                      </m:sSup>
                      <m:r>
                        <a:rPr lang="en-US" sz="1100" b="0" i="0">
                          <a:latin typeface="Cambria Math" panose="02040503050406030204" pitchFamily="18" charset="0"/>
                        </a:rPr>
                        <m:t> </m:t>
                      </m:r>
                      <m:r>
                        <m:rPr>
                          <m:sty m:val="p"/>
                        </m:rPr>
                        <a:rPr lang="en-US" sz="1100" b="0" i="0">
                          <a:latin typeface="Cambria Math" panose="02040503050406030204" pitchFamily="18" charset="0"/>
                        </a:rPr>
                        <m:t>mT</m:t>
                      </m:r>
                      <m:r>
                        <a:rPr lang="en-US" sz="1100" b="0" i="0">
                          <a:latin typeface="Cambria Math" panose="02040503050406030204" pitchFamily="18" charset="0"/>
                        </a:rPr>
                        <m:t>/</m:t>
                      </m:r>
                      <m:r>
                        <m:rPr>
                          <m:sty m:val="p"/>
                        </m:rPr>
                        <a:rPr lang="en-US" sz="1100" b="0" i="0">
                          <a:latin typeface="Cambria Math" panose="02040503050406030204" pitchFamily="18" charset="0"/>
                        </a:rPr>
                        <m:t>mV</m:t>
                      </m:r>
                      <m:r>
                        <a:rPr lang="en-US" sz="1100" b="0" i="0">
                          <a:latin typeface="Cambria Math" panose="02040503050406030204" pitchFamily="18" charset="0"/>
                        </a:rPr>
                        <m:t> </m:t>
                      </m:r>
                    </m:oMath>
                  </m:oMathPara>
                </a14:m>
                <a:endParaRPr lang="en-US" sz="1100" dirty="0"/>
              </a:p>
            </p:txBody>
          </p:sp>
        </mc:Choice>
        <mc:Fallback xmlns="">
          <p:sp>
            <p:nvSpPr>
              <p:cNvPr id="904" name="CalibV_e_sc"/>
              <p:cNvSpPr txBox="1">
                <a:spLocks noRot="1" noChangeAspect="1" noMove="1" noResize="1" noEditPoints="1" noAdjustHandles="1" noChangeArrowheads="1" noChangeShapeType="1" noTextEdit="1"/>
              </p:cNvSpPr>
              <p:nvPr/>
            </p:nvSpPr>
            <p:spPr>
              <a:xfrm>
                <a:off x="3186717" y="4428015"/>
                <a:ext cx="3556000" cy="256032"/>
              </a:xfrm>
              <a:prstGeom prst="rect">
                <a:avLst/>
              </a:prstGeom>
              <a:blipFill>
                <a:blip r:embed="rId25"/>
                <a:stretch>
                  <a:fillRect t="-9524" b="-952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8AC383EA-779C-4C2C-B098-EF723DE49D7C}"/>
                  </a:ext>
                </a:extLst>
              </p:cNvPr>
              <p:cNvSpPr txBox="1"/>
              <p:nvPr/>
            </p:nvSpPr>
            <p:spPr>
              <a:xfrm>
                <a:off x="8551747" y="376422"/>
                <a:ext cx="3688638"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𝑉</m:t>
                              </m:r>
                            </m:sub>
                          </m:sSub>
                        </m:e>
                      </m:sPr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𝑀</m:t>
                          </m:r>
                        </m:e>
                      </m:acc>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23" name="文字方塊 22">
                <a:extLst>
                  <a:ext uri="{FF2B5EF4-FFF2-40B4-BE49-F238E27FC236}">
                    <a16:creationId xmlns:a16="http://schemas.microsoft.com/office/drawing/2014/main" id="{8AC383EA-779C-4C2C-B098-EF723DE49D7C}"/>
                  </a:ext>
                </a:extLst>
              </p:cNvPr>
              <p:cNvSpPr txBox="1">
                <a:spLocks noRot="1" noChangeAspect="1" noMove="1" noResize="1" noEditPoints="1" noAdjustHandles="1" noChangeArrowheads="1" noChangeShapeType="1" noTextEdit="1"/>
              </p:cNvSpPr>
              <p:nvPr/>
            </p:nvSpPr>
            <p:spPr>
              <a:xfrm>
                <a:off x="8551747" y="376422"/>
                <a:ext cx="3688638" cy="321563"/>
              </a:xfrm>
              <a:prstGeom prst="rect">
                <a:avLst/>
              </a:prstGeom>
              <a:blipFill>
                <a:blip r:embed="rId26"/>
                <a:stretch>
                  <a:fillRect t="-15385" r="-3802" b="-2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0E47CCE1-4504-404E-836B-C65D993B87CC}"/>
                  </a:ext>
                </a:extLst>
              </p:cNvPr>
              <p:cNvSpPr txBox="1"/>
              <p:nvPr/>
            </p:nvSpPr>
            <p:spPr>
              <a:xfrm>
                <a:off x="6742716" y="1145319"/>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𝑉</m:t>
                                              </m:r>
                                            </m:sub>
                                          </m:sSub>
                                        </m:e>
                                      </m:sPre>
                                      <m:acc>
                                        <m:accPr>
                                          <m:chr m:val="̅"/>
                                          <m:ctrlPr>
                                            <a:rPr lang="zh-TW" altLang="en-US" sz="1400" i="1">
                                              <a:latin typeface="Cambria Math" panose="02040503050406030204" pitchFamily="18" charset="0"/>
                                            </a:rPr>
                                          </m:ctrlPr>
                                        </m:accPr>
                                        <m:e>
                                          <m:r>
                                            <a:rPr lang="en-US" altLang="zh-TW" sz="1400" i="1">
                                              <a:latin typeface="Cambria Math" panose="02040503050406030204" pitchFamily="18" charset="0"/>
                                            </a:rPr>
                                            <m:t>𝑀</m:t>
                                          </m:r>
                                        </m:e>
                                      </m:acc>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𝑉</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%=2.81%</m:t>
                      </m:r>
                    </m:oMath>
                  </m:oMathPara>
                </a14:m>
                <a:endParaRPr lang="zh-TW" altLang="en-US" sz="1400" dirty="0"/>
              </a:p>
            </p:txBody>
          </p:sp>
        </mc:Choice>
        <mc:Fallback xmlns="">
          <p:sp>
            <p:nvSpPr>
              <p:cNvPr id="24" name="文字方塊 23">
                <a:extLst>
                  <a:ext uri="{FF2B5EF4-FFF2-40B4-BE49-F238E27FC236}">
                    <a16:creationId xmlns:a16="http://schemas.microsoft.com/office/drawing/2014/main" id="{0E47CCE1-4504-404E-836B-C65D993B87CC}"/>
                  </a:ext>
                </a:extLst>
              </p:cNvPr>
              <p:cNvSpPr txBox="1">
                <a:spLocks noRot="1" noChangeAspect="1" noMove="1" noResize="1" noEditPoints="1" noAdjustHandles="1" noChangeArrowheads="1" noChangeShapeType="1" noTextEdit="1"/>
              </p:cNvSpPr>
              <p:nvPr/>
            </p:nvSpPr>
            <p:spPr>
              <a:xfrm>
                <a:off x="6742716" y="1145319"/>
                <a:ext cx="4191000" cy="549509"/>
              </a:xfrm>
              <a:prstGeom prst="rect">
                <a:avLst/>
              </a:prstGeom>
              <a:blipFill>
                <a:blip r:embed="rId2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5" name="文字方塊 24">
                <a:extLst>
                  <a:ext uri="{FF2B5EF4-FFF2-40B4-BE49-F238E27FC236}">
                    <a16:creationId xmlns:a16="http://schemas.microsoft.com/office/drawing/2014/main" id="{EBA49798-FF6E-40E0-BBA9-161C19277A44}"/>
                  </a:ext>
                </a:extLst>
              </p:cNvPr>
              <p:cNvSpPr txBox="1"/>
              <p:nvPr/>
            </p:nvSpPr>
            <p:spPr>
              <a:xfrm>
                <a:off x="6818916" y="2896394"/>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𝑉</m:t>
                                              </m:r>
                                            </m:sub>
                                          </m:sSub>
                                        </m:e>
                                      </m:sPre>
                                      <m:acc>
                                        <m:accPr>
                                          <m:chr m:val="̅"/>
                                          <m:ctrlPr>
                                            <a:rPr lang="zh-TW" altLang="en-US" sz="1400" i="1">
                                              <a:latin typeface="Cambria Math" panose="02040503050406030204" pitchFamily="18" charset="0"/>
                                            </a:rPr>
                                          </m:ctrlPr>
                                        </m:accPr>
                                        <m:e>
                                          <m:r>
                                            <a:rPr lang="en-US" altLang="zh-TW" sz="1400" i="1">
                                              <a:latin typeface="Cambria Math" panose="02040503050406030204" pitchFamily="18" charset="0"/>
                                            </a:rPr>
                                            <m:t>𝑀</m:t>
                                          </m:r>
                                        </m:e>
                                      </m:acc>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𝑉</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%=0.32%</m:t>
                      </m:r>
                    </m:oMath>
                  </m:oMathPara>
                </a14:m>
                <a:endParaRPr lang="zh-TW" altLang="en-US" sz="1400" dirty="0"/>
              </a:p>
            </p:txBody>
          </p:sp>
        </mc:Choice>
        <mc:Fallback xmlns="">
          <p:sp>
            <p:nvSpPr>
              <p:cNvPr id="25" name="文字方塊 24">
                <a:extLst>
                  <a:ext uri="{FF2B5EF4-FFF2-40B4-BE49-F238E27FC236}">
                    <a16:creationId xmlns:a16="http://schemas.microsoft.com/office/drawing/2014/main" id="{EBA49798-FF6E-40E0-BBA9-161C19277A44}"/>
                  </a:ext>
                </a:extLst>
              </p:cNvPr>
              <p:cNvSpPr txBox="1">
                <a:spLocks noRot="1" noChangeAspect="1" noMove="1" noResize="1" noEditPoints="1" noAdjustHandles="1" noChangeArrowheads="1" noChangeShapeType="1" noTextEdit="1"/>
              </p:cNvSpPr>
              <p:nvPr/>
            </p:nvSpPr>
            <p:spPr>
              <a:xfrm>
                <a:off x="6818916" y="2896394"/>
                <a:ext cx="4191000" cy="549509"/>
              </a:xfrm>
              <a:prstGeom prst="rect">
                <a:avLst/>
              </a:prstGeom>
              <a:blipFill>
                <a:blip r:embed="rId28"/>
                <a:stretch>
                  <a:fillRect b="-111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50" name="CalibV_Vmat"/>
              <p:cNvSpPr txBox="1"/>
              <p:nvPr/>
            </p:nvSpPr>
            <p:spPr>
              <a:xfrm>
                <a:off x="3204098" y="4684047"/>
                <a:ext cx="5192875" cy="947907"/>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r>
                        <a:rPr lang="en-US" sz="1050" b="0" i="1" smtClean="0">
                          <a:latin typeface="Cambria Math" panose="02040503050406030204" pitchFamily="18" charset="0"/>
                        </a:rPr>
                        <m:t>𝑉</m:t>
                      </m:r>
                      <m:r>
                        <a:rPr lang="en-US" sz="1050" b="0" i="0">
                          <a:latin typeface="Cambria Math" panose="02040503050406030204" pitchFamily="18" charset="0"/>
                        </a:rPr>
                        <m:t> = </m:t>
                      </m:r>
                      <m:d>
                        <m:dPr>
                          <m:begChr m:val="["/>
                          <m:endChr m:val="]"/>
                          <m:ctrlPr>
                            <a:rPr lang="en-US" sz="1050" b="0" i="1">
                              <a:latin typeface="Cambria Math" panose="02040503050406030204" pitchFamily="18" charset="0"/>
                            </a:rPr>
                          </m:ctrlPr>
                        </m:dPr>
                        <m:e>
                          <m:m>
                            <m:mPr>
                              <m:mcs>
                                <m:mc>
                                  <m:mcPr>
                                    <m:count m:val="6"/>
                                    <m:mcJc m:val="center"/>
                                  </m:mcPr>
                                </m:mc>
                              </m:mcs>
                              <m:ctrlPr>
                                <a:rPr lang="en-US" sz="1050" b="0" i="1">
                                  <a:latin typeface="Cambria Math" panose="02040503050406030204" pitchFamily="18" charset="0"/>
                                </a:rPr>
                              </m:ctrlPr>
                            </m:mPr>
                            <m:mr>
                              <m:e>
                                <m:r>
                                  <a:rPr lang="en-US" sz="1050" b="0" i="0">
                                    <a:latin typeface="Cambria Math" panose="02040503050406030204" pitchFamily="18" charset="0"/>
                                  </a:rPr>
                                  <m:t>1158.8497</m:t>
                                </m:r>
                              </m:e>
                              <m:e>
                                <m:r>
                                  <a:rPr lang="en-US" sz="1050" b="0" i="0">
                                    <a:latin typeface="Cambria Math" panose="02040503050406030204" pitchFamily="18" charset="0"/>
                                  </a:rPr>
                                  <m:t>−23.5080</m:t>
                                </m:r>
                              </m:e>
                              <m:e>
                                <m:r>
                                  <a:rPr lang="en-US" sz="1050" b="0" i="0">
                                    <a:latin typeface="Cambria Math" panose="02040503050406030204" pitchFamily="18" charset="0"/>
                                  </a:rPr>
                                  <m:t>−213.6410</m:t>
                                </m:r>
                              </m:e>
                              <m:e>
                                <m:r>
                                  <a:rPr lang="en-US" sz="1050" b="0" i="0">
                                    <a:latin typeface="Cambria Math" panose="02040503050406030204" pitchFamily="18" charset="0"/>
                                  </a:rPr>
                                  <m:t>−208.6561</m:t>
                                </m:r>
                              </m:e>
                              <m:e>
                                <m:r>
                                  <a:rPr lang="en-US" sz="1050" b="0" i="0">
                                    <a:latin typeface="Cambria Math" panose="02040503050406030204" pitchFamily="18" charset="0"/>
                                  </a:rPr>
                                  <m:t>−201.9809</m:t>
                                </m:r>
                              </m:e>
                              <m:e>
                                <m:r>
                                  <a:rPr lang="en-US" sz="1050" b="0" i="0">
                                    <a:latin typeface="Cambria Math" panose="02040503050406030204" pitchFamily="18" charset="0"/>
                                  </a:rPr>
                                  <m:t>−217.6408</m:t>
                                </m:r>
                              </m:e>
                            </m:mr>
                            <m:mr>
                              <m:e>
                                <m:r>
                                  <a:rPr lang="en-US" sz="1050" b="0" i="0">
                                    <a:latin typeface="Cambria Math" panose="02040503050406030204" pitchFamily="18" charset="0"/>
                                  </a:rPr>
                                  <m:t>−25.8727</m:t>
                                </m:r>
                              </m:e>
                              <m:e>
                                <m:r>
                                  <a:rPr lang="en-US" sz="1050" b="0" i="0">
                                    <a:latin typeface="Cambria Math" panose="02040503050406030204" pitchFamily="18" charset="0"/>
                                  </a:rPr>
                                  <m:t>1269.5449</m:t>
                                </m:r>
                              </m:e>
                              <m:e>
                                <m:r>
                                  <a:rPr lang="en-US" sz="1050" b="0" i="0">
                                    <a:latin typeface="Cambria Math" panose="02040503050406030204" pitchFamily="18" charset="0"/>
                                  </a:rPr>
                                  <m:t>−194.3448</m:t>
                                </m:r>
                              </m:e>
                              <m:e>
                                <m:r>
                                  <a:rPr lang="en-US" sz="1050" b="0" i="0">
                                    <a:latin typeface="Cambria Math" panose="02040503050406030204" pitchFamily="18" charset="0"/>
                                  </a:rPr>
                                  <m:t>−385.8231</m:t>
                                </m:r>
                              </m:e>
                              <m:e>
                                <m:r>
                                  <a:rPr lang="en-US" sz="1050" b="0" i="0">
                                    <a:latin typeface="Cambria Math" panose="02040503050406030204" pitchFamily="18" charset="0"/>
                                  </a:rPr>
                                  <m:t>−394.9110</m:t>
                                </m:r>
                              </m:e>
                              <m:e>
                                <m:r>
                                  <a:rPr lang="en-US" sz="1050" b="0" i="0">
                                    <a:latin typeface="Cambria Math" panose="02040503050406030204" pitchFamily="18" charset="0"/>
                                  </a:rPr>
                                  <m:t>−196.2160</m:t>
                                </m:r>
                              </m:e>
                            </m:mr>
                            <m:mr>
                              <m:e>
                                <m:r>
                                  <a:rPr lang="en-US" sz="1050" b="0" i="0">
                                    <a:latin typeface="Cambria Math" panose="02040503050406030204" pitchFamily="18" charset="0"/>
                                  </a:rPr>
                                  <m:t>−214.4307</m:t>
                                </m:r>
                              </m:e>
                              <m:e>
                                <m:r>
                                  <a:rPr lang="en-US" sz="1050" b="0" i="0">
                                    <a:latin typeface="Cambria Math" panose="02040503050406030204" pitchFamily="18" charset="0"/>
                                  </a:rPr>
                                  <m:t>−207.7075</m:t>
                                </m:r>
                              </m:e>
                              <m:e>
                                <m:r>
                                  <a:rPr lang="en-US" sz="1050" b="0" i="0">
                                    <a:latin typeface="Cambria Math" panose="02040503050406030204" pitchFamily="18" charset="0"/>
                                  </a:rPr>
                                  <m:t>1163.5390</m:t>
                                </m:r>
                              </m:e>
                              <m:e>
                                <m:r>
                                  <a:rPr lang="en-US" sz="1050" b="0" i="0">
                                    <a:latin typeface="Cambria Math" panose="02040503050406030204" pitchFamily="18" charset="0"/>
                                  </a:rPr>
                                  <m:t>−23.2264</m:t>
                                </m:r>
                              </m:e>
                              <m:e>
                                <m:r>
                                  <a:rPr lang="en-US" sz="1050" b="0" i="0">
                                    <a:latin typeface="Cambria Math" panose="02040503050406030204" pitchFamily="18" charset="0"/>
                                  </a:rPr>
                                  <m:t>−202.4600</m:t>
                                </m:r>
                              </m:e>
                              <m:e>
                                <m:r>
                                  <a:rPr lang="en-US" sz="1050" b="0" i="0">
                                    <a:latin typeface="Cambria Math" panose="02040503050406030204" pitchFamily="18" charset="0"/>
                                  </a:rPr>
                                  <m:t>−213.3320</m:t>
                                </m:r>
                              </m:e>
                            </m:mr>
                            <m:mr>
                              <m:e>
                                <m:r>
                                  <a:rPr lang="en-US" sz="1050" b="0" i="0">
                                    <a:latin typeface="Cambria Math" panose="02040503050406030204" pitchFamily="18" charset="0"/>
                                  </a:rPr>
                                  <m:t>−194.6750</m:t>
                                </m:r>
                              </m:e>
                              <m:e>
                                <m:r>
                                  <a:rPr lang="en-US" sz="1050" b="0" i="0">
                                    <a:latin typeface="Cambria Math" panose="02040503050406030204" pitchFamily="18" charset="0"/>
                                  </a:rPr>
                                  <m:t>−391.3951</m:t>
                                </m:r>
                              </m:e>
                              <m:e>
                                <m:r>
                                  <a:rPr lang="en-US" sz="1050" b="0" i="0">
                                    <a:latin typeface="Cambria Math" panose="02040503050406030204" pitchFamily="18" charset="0"/>
                                  </a:rPr>
                                  <m:t>−25.8527</m:t>
                                </m:r>
                              </m:e>
                              <m:e>
                                <m:r>
                                  <a:rPr lang="en-US" sz="1050" b="0" i="0">
                                    <a:latin typeface="Cambria Math" panose="02040503050406030204" pitchFamily="18" charset="0"/>
                                  </a:rPr>
                                  <m:t>1277.5581</m:t>
                                </m:r>
                              </m:e>
                              <m:e>
                                <m:r>
                                  <a:rPr lang="en-US" sz="1050" b="0" i="0">
                                    <a:latin typeface="Cambria Math" panose="02040503050406030204" pitchFamily="18" charset="0"/>
                                  </a:rPr>
                                  <m:t>−387.7619</m:t>
                                </m:r>
                              </m:e>
                              <m:e>
                                <m:r>
                                  <a:rPr lang="en-US" sz="1050" b="0" i="0">
                                    <a:latin typeface="Cambria Math" panose="02040503050406030204" pitchFamily="18" charset="0"/>
                                  </a:rPr>
                                  <m:t>−200.4448</m:t>
                                </m:r>
                              </m:e>
                            </m:mr>
                            <m:mr>
                              <m:e>
                                <m:r>
                                  <a:rPr lang="en-US" sz="1050" b="0" i="0">
                                    <a:latin typeface="Cambria Math" panose="02040503050406030204" pitchFamily="18" charset="0"/>
                                  </a:rPr>
                                  <m:t>−194.2998</m:t>
                                </m:r>
                              </m:e>
                              <m:e>
                                <m:r>
                                  <a:rPr lang="en-US" sz="1050" b="0" i="0">
                                    <a:latin typeface="Cambria Math" panose="02040503050406030204" pitchFamily="18" charset="0"/>
                                  </a:rPr>
                                  <m:t>−382.7549</m:t>
                                </m:r>
                              </m:e>
                              <m:e>
                                <m:r>
                                  <a:rPr lang="en-US" sz="1050" b="0" i="0">
                                    <a:latin typeface="Cambria Math" panose="02040503050406030204" pitchFamily="18" charset="0"/>
                                  </a:rPr>
                                  <m:t>−190.9813</m:t>
                                </m:r>
                              </m:e>
                              <m:e>
                                <m:r>
                                  <a:rPr lang="en-US" sz="1050" b="0" i="0">
                                    <a:latin typeface="Cambria Math" panose="02040503050406030204" pitchFamily="18" charset="0"/>
                                  </a:rPr>
                                  <m:t>−380.5144</m:t>
                                </m:r>
                              </m:e>
                              <m:e>
                                <m:r>
                                  <a:rPr lang="en-US" sz="1050" b="0" i="0">
                                    <a:latin typeface="Cambria Math" panose="02040503050406030204" pitchFamily="18" charset="0"/>
                                  </a:rPr>
                                  <m:t>1258.5082</m:t>
                                </m:r>
                              </m:e>
                              <m:e>
                                <m:r>
                                  <a:rPr lang="en-US" sz="1050" b="0" i="0">
                                    <a:latin typeface="Cambria Math" panose="02040503050406030204" pitchFamily="18" charset="0"/>
                                  </a:rPr>
                                  <m:t>−25.1365</m:t>
                                </m:r>
                              </m:e>
                            </m:mr>
                            <m:mr>
                              <m:e>
                                <m:r>
                                  <a:rPr lang="en-US" sz="1050" b="0" i="0">
                                    <a:latin typeface="Cambria Math" panose="02040503050406030204" pitchFamily="18" charset="0"/>
                                  </a:rPr>
                                  <m:t>−215.2013</m:t>
                                </m:r>
                              </m:e>
                              <m:e>
                                <m:r>
                                  <a:rPr lang="en-US" sz="1050" b="0" i="0">
                                    <a:latin typeface="Cambria Math" panose="02040503050406030204" pitchFamily="18" charset="0"/>
                                  </a:rPr>
                                  <m:t>−205.8141</m:t>
                                </m:r>
                              </m:e>
                              <m:e>
                                <m:r>
                                  <a:rPr lang="en-US" sz="1050" b="0" i="0">
                                    <a:latin typeface="Cambria Math" panose="02040503050406030204" pitchFamily="18" charset="0"/>
                                  </a:rPr>
                                  <m:t>−218.6759</m:t>
                                </m:r>
                              </m:e>
                              <m:e>
                                <m:r>
                                  <a:rPr lang="en-US" sz="1050" b="0" i="0">
                                    <a:latin typeface="Cambria Math" panose="02040503050406030204" pitchFamily="18" charset="0"/>
                                  </a:rPr>
                                  <m:t>−213.0352</m:t>
                                </m:r>
                              </m:e>
                              <m:e>
                                <m:r>
                                  <a:rPr lang="en-US" sz="1050" b="0" i="0">
                                    <a:latin typeface="Cambria Math" panose="02040503050406030204" pitchFamily="18" charset="0"/>
                                  </a:rPr>
                                  <m:t>−23.0749</m:t>
                                </m:r>
                              </m:e>
                              <m:e>
                                <m:r>
                                  <a:rPr lang="en-US" sz="1050" b="0" i="0">
                                    <a:latin typeface="Cambria Math" panose="02040503050406030204" pitchFamily="18" charset="0"/>
                                  </a:rPr>
                                  <m:t>1164.5885</m:t>
                                </m:r>
                              </m:e>
                            </m:mr>
                          </m:m>
                        </m:e>
                      </m:d>
                      <m:r>
                        <a:rPr lang="en-US" sz="1050" b="0" i="0" smtClean="0">
                          <a:latin typeface="Cambria Math" panose="02040503050406030204" pitchFamily="18" charset="0"/>
                        </a:rPr>
                        <m:t>(</m:t>
                      </m:r>
                      <m:r>
                        <m:rPr>
                          <m:sty m:val="p"/>
                        </m:rPr>
                        <a:rPr lang="en-US" sz="1050" b="0" i="0" smtClean="0">
                          <a:latin typeface="Cambria Math" panose="02040503050406030204" pitchFamily="18" charset="0"/>
                        </a:rPr>
                        <m:t>mV</m:t>
                      </m:r>
                      <m:r>
                        <a:rPr lang="en-US" sz="1050" b="0" i="0" smtClean="0">
                          <a:latin typeface="Cambria Math" panose="02040503050406030204" pitchFamily="18" charset="0"/>
                        </a:rPr>
                        <m:t>)</m:t>
                      </m:r>
                    </m:oMath>
                  </m:oMathPara>
                </a14:m>
                <a:endParaRPr lang="en-US" sz="1050" dirty="0"/>
              </a:p>
            </p:txBody>
          </p:sp>
        </mc:Choice>
        <mc:Fallback xmlns="">
          <p:sp>
            <p:nvSpPr>
              <p:cNvPr id="950" name="CalibV_Vmat"/>
              <p:cNvSpPr txBox="1">
                <a:spLocks noRot="1" noChangeAspect="1" noMove="1" noResize="1" noEditPoints="1" noAdjustHandles="1" noChangeArrowheads="1" noChangeShapeType="1" noTextEdit="1"/>
              </p:cNvSpPr>
              <p:nvPr/>
            </p:nvSpPr>
            <p:spPr>
              <a:xfrm>
                <a:off x="3204098" y="4684047"/>
                <a:ext cx="5192875" cy="947907"/>
              </a:xfrm>
              <a:prstGeom prst="rect">
                <a:avLst/>
              </a:prstGeom>
              <a:blipFill>
                <a:blip r:embed="rId29"/>
                <a:stretch>
                  <a:fillRect l="-1293" r="-588"/>
                </a:stretch>
              </a:blipFill>
            </p:spPr>
            <p:txBody>
              <a:bodyPr/>
              <a:lstStyle/>
              <a:p>
                <a:r>
                  <a:rPr lang="zh-TW" altLang="en-US">
                    <a:noFill/>
                  </a:rPr>
                  <a:t> </a:t>
                </a:r>
              </a:p>
            </p:txBody>
          </p:sp>
        </mc:Fallback>
      </mc:AlternateContent>
      <p:sp>
        <p:nvSpPr>
          <p:cNvPr id="35" name="文字方塊 34">
            <a:extLst>
              <a:ext uri="{FF2B5EF4-FFF2-40B4-BE49-F238E27FC236}">
                <a16:creationId xmlns:a16="http://schemas.microsoft.com/office/drawing/2014/main" id="{8E4086C3-AC1E-40E1-9FA6-2AABEBDB7262}"/>
              </a:ext>
            </a:extLst>
          </p:cNvPr>
          <p:cNvSpPr txBox="1"/>
          <p:nvPr/>
        </p:nvSpPr>
        <p:spPr>
          <a:xfrm>
            <a:off x="115648" y="381812"/>
            <a:ext cx="7042090" cy="369332"/>
          </a:xfrm>
          <a:prstGeom prst="rect">
            <a:avLst/>
          </a:prstGeom>
          <a:noFill/>
        </p:spPr>
        <p:txBody>
          <a:bodyPr wrap="square" rtlCol="0">
            <a:spAutoFit/>
          </a:bodyPr>
          <a:lstStyle/>
          <a:p>
            <a:pPr marL="285750" indent="-285750">
              <a:buFont typeface="Wingdings" panose="05000000000000000000" pitchFamily="2" charset="2"/>
              <a:buChar char="Ø"/>
            </a:pPr>
            <a:r>
              <a:rPr lang="en-US" altLang="zh-TW" dirty="0"/>
              <a:t>Long(5mm)</a:t>
            </a:r>
            <a:endParaRPr lang="zh-TW" altLang="en-US" dirty="0"/>
          </a:p>
        </p:txBody>
      </p:sp>
      <p:grpSp>
        <p:nvGrpSpPr>
          <p:cNvPr id="36" name="群組 35">
            <a:extLst>
              <a:ext uri="{FF2B5EF4-FFF2-40B4-BE49-F238E27FC236}">
                <a16:creationId xmlns:a16="http://schemas.microsoft.com/office/drawing/2014/main" id="{B03406FD-1CBB-4707-B3BD-FC889A7E2D00}"/>
              </a:ext>
            </a:extLst>
          </p:cNvPr>
          <p:cNvGrpSpPr/>
          <p:nvPr/>
        </p:nvGrpSpPr>
        <p:grpSpPr>
          <a:xfrm>
            <a:off x="2550" y="859427"/>
            <a:ext cx="3201548" cy="2629051"/>
            <a:chOff x="-65731" y="869520"/>
            <a:chExt cx="3201548" cy="2629051"/>
          </a:xfrm>
        </p:grpSpPr>
        <p:grpSp>
          <p:nvGrpSpPr>
            <p:cNvPr id="37" name="群組 36">
              <a:extLst>
                <a:ext uri="{FF2B5EF4-FFF2-40B4-BE49-F238E27FC236}">
                  <a16:creationId xmlns:a16="http://schemas.microsoft.com/office/drawing/2014/main" id="{0C86A9C2-808D-4CB4-AF65-7FE7B08F7234}"/>
                </a:ext>
              </a:extLst>
            </p:cNvPr>
            <p:cNvGrpSpPr/>
            <p:nvPr/>
          </p:nvGrpSpPr>
          <p:grpSpPr>
            <a:xfrm>
              <a:off x="-65731" y="869520"/>
              <a:ext cx="3201548" cy="2629051"/>
              <a:chOff x="-34568" y="619043"/>
              <a:chExt cx="3201548" cy="2629051"/>
            </a:xfrm>
          </p:grpSpPr>
          <p:pic>
            <p:nvPicPr>
              <p:cNvPr id="41" name="圖片 40">
                <a:extLst>
                  <a:ext uri="{FF2B5EF4-FFF2-40B4-BE49-F238E27FC236}">
                    <a16:creationId xmlns:a16="http://schemas.microsoft.com/office/drawing/2014/main" id="{54BC309B-0C9A-43E6-B6D1-8A3E690FC755}"/>
                  </a:ext>
                </a:extLst>
              </p:cNvPr>
              <p:cNvPicPr>
                <a:picLocks noChangeAspect="1"/>
              </p:cNvPicPr>
              <p:nvPr/>
            </p:nvPicPr>
            <p:blipFill>
              <a:blip r:embed="rId30">
                <a:extLst>
                  <a:ext uri="{28A0092B-C50C-407E-A947-70E740481C1C}">
                    <a14:useLocalDpi xmlns:a14="http://schemas.microsoft.com/office/drawing/2010/main" val="0"/>
                  </a:ext>
                </a:extLst>
              </a:blip>
              <a:stretch>
                <a:fillRect/>
              </a:stretch>
            </p:blipFill>
            <p:spPr>
              <a:xfrm>
                <a:off x="211461" y="619043"/>
                <a:ext cx="2955519" cy="2382835"/>
              </a:xfrm>
              <a:prstGeom prst="rect">
                <a:avLst/>
              </a:prstGeom>
            </p:spPr>
          </p:pic>
          <mc:AlternateContent xmlns:mc="http://schemas.openxmlformats.org/markup-compatibility/2006" xmlns:a14="http://schemas.microsoft.com/office/drawing/2010/main">
            <mc:Choice Requires="a14">
              <p:sp>
                <p:nvSpPr>
                  <p:cNvPr id="42" name="文字方塊 41">
                    <a:extLst>
                      <a:ext uri="{FF2B5EF4-FFF2-40B4-BE49-F238E27FC236}">
                        <a16:creationId xmlns:a16="http://schemas.microsoft.com/office/drawing/2014/main" id="{5339CDC5-4746-4933-9B5F-24771E709E46}"/>
                      </a:ext>
                    </a:extLst>
                  </p:cNvPr>
                  <p:cNvSpPr txBox="1"/>
                  <p:nvPr/>
                </p:nvSpPr>
                <p:spPr>
                  <a:xfrm>
                    <a:off x="1143000" y="2972131"/>
                    <a:ext cx="1106536" cy="2759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17" name="文字方塊 16">
                    <a:extLst>
                      <a:ext uri="{FF2B5EF4-FFF2-40B4-BE49-F238E27FC236}">
                        <a16:creationId xmlns:a16="http://schemas.microsoft.com/office/drawing/2014/main" id="{678E7078-A51C-4AA2-9EF8-D725CC6E86D4}"/>
                      </a:ext>
                    </a:extLst>
                  </p:cNvPr>
                  <p:cNvSpPr txBox="1">
                    <a:spLocks noRot="1" noChangeAspect="1" noMove="1" noResize="1" noEditPoints="1" noAdjustHandles="1" noChangeArrowheads="1" noChangeShapeType="1" noTextEdit="1"/>
                  </p:cNvSpPr>
                  <p:nvPr/>
                </p:nvSpPr>
                <p:spPr>
                  <a:xfrm>
                    <a:off x="1143000" y="2972131"/>
                    <a:ext cx="1106536" cy="275963"/>
                  </a:xfrm>
                  <a:prstGeom prst="rect">
                    <a:avLst/>
                  </a:prstGeom>
                  <a:blipFill>
                    <a:blip r:embed="rId12"/>
                    <a:stretch>
                      <a:fillRect l="-5525" t="-2222" r="-33702"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3" name="文字方塊 42">
                    <a:extLst>
                      <a:ext uri="{FF2B5EF4-FFF2-40B4-BE49-F238E27FC236}">
                        <a16:creationId xmlns:a16="http://schemas.microsoft.com/office/drawing/2014/main" id="{F2FC38AE-76BF-41D6-A3DF-54E611BE296F}"/>
                      </a:ext>
                    </a:extLst>
                  </p:cNvPr>
                  <p:cNvSpPr txBox="1"/>
                  <p:nvPr/>
                </p:nvSpPr>
                <p:spPr>
                  <a:xfrm rot="16200000">
                    <a:off x="-630115" y="1518415"/>
                    <a:ext cx="1404535" cy="2134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3" name="文字方塊 22">
                    <a:extLst>
                      <a:ext uri="{FF2B5EF4-FFF2-40B4-BE49-F238E27FC236}">
                        <a16:creationId xmlns:a16="http://schemas.microsoft.com/office/drawing/2014/main" id="{EBE875F1-6D13-4A07-89C5-609C93B9D6B9}"/>
                      </a:ext>
                    </a:extLst>
                  </p:cNvPr>
                  <p:cNvSpPr txBox="1">
                    <a:spLocks noRot="1" noChangeAspect="1" noMove="1" noResize="1" noEditPoints="1" noAdjustHandles="1" noChangeArrowheads="1" noChangeShapeType="1" noTextEdit="1"/>
                  </p:cNvSpPr>
                  <p:nvPr/>
                </p:nvSpPr>
                <p:spPr>
                  <a:xfrm rot="16200000">
                    <a:off x="-630115" y="1518415"/>
                    <a:ext cx="1404535" cy="213442"/>
                  </a:xfrm>
                  <a:prstGeom prst="rect">
                    <a:avLst/>
                  </a:prstGeom>
                  <a:blipFill>
                    <a:blip r:embed="rId13"/>
                    <a:stretch>
                      <a:fillRect t="-6061" r="-77143" b="-2597"/>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38" name="文字方塊 37">
                  <a:extLst>
                    <a:ext uri="{FF2B5EF4-FFF2-40B4-BE49-F238E27FC236}">
                      <a16:creationId xmlns:a16="http://schemas.microsoft.com/office/drawing/2014/main" id="{296BB26F-2601-4D13-9FE1-05A5937BFD2E}"/>
                    </a:ext>
                  </a:extLst>
                </p:cNvPr>
                <p:cNvSpPr txBox="1"/>
                <p:nvPr/>
              </p:nvSpPr>
              <p:spPr>
                <a:xfrm rot="511814">
                  <a:off x="2662767" y="1842609"/>
                  <a:ext cx="18511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solidFill>
                              <a:schemeClr val="accent1"/>
                            </a:solidFill>
                            <a:latin typeface="Cambria Math" panose="02040503050406030204" pitchFamily="18" charset="0"/>
                          </a:rPr>
                          <m:t>h</m:t>
                        </m:r>
                      </m:oMath>
                    </m:oMathPara>
                  </a14:m>
                  <a:endParaRPr lang="zh-TW" altLang="en-US" dirty="0">
                    <a:solidFill>
                      <a:schemeClr val="accent1"/>
                    </a:solidFill>
                  </a:endParaRPr>
                </a:p>
              </p:txBody>
            </p:sp>
          </mc:Choice>
          <mc:Fallback xmlns="">
            <p:sp>
              <p:nvSpPr>
                <p:cNvPr id="38" name="文字方塊 37">
                  <a:extLst>
                    <a:ext uri="{FF2B5EF4-FFF2-40B4-BE49-F238E27FC236}">
                      <a16:creationId xmlns:a16="http://schemas.microsoft.com/office/drawing/2014/main" id="{296BB26F-2601-4D13-9FE1-05A5937BFD2E}"/>
                    </a:ext>
                  </a:extLst>
                </p:cNvPr>
                <p:cNvSpPr txBox="1">
                  <a:spLocks noRot="1" noChangeAspect="1" noMove="1" noResize="1" noEditPoints="1" noAdjustHandles="1" noChangeArrowheads="1" noChangeShapeType="1" noTextEdit="1"/>
                </p:cNvSpPr>
                <p:nvPr/>
              </p:nvSpPr>
              <p:spPr>
                <a:xfrm rot="511814">
                  <a:off x="2662767" y="1842609"/>
                  <a:ext cx="185114" cy="276999"/>
                </a:xfrm>
                <a:prstGeom prst="rect">
                  <a:avLst/>
                </a:prstGeom>
                <a:blipFill>
                  <a:blip r:embed="rId31"/>
                  <a:stretch>
                    <a:fillRect l="-26316" r="-21053" b="-7843"/>
                  </a:stretch>
                </a:blipFill>
              </p:spPr>
              <p:txBody>
                <a:bodyPr/>
                <a:lstStyle/>
                <a:p>
                  <a:r>
                    <a:rPr lang="zh-TW" altLang="en-US">
                      <a:noFill/>
                    </a:rPr>
                    <a:t> </a:t>
                  </a:r>
                </a:p>
              </p:txBody>
            </p:sp>
          </mc:Fallback>
        </mc:AlternateContent>
        <p:cxnSp>
          <p:nvCxnSpPr>
            <p:cNvPr id="39" name="直線單箭頭接點 38">
              <a:extLst>
                <a:ext uri="{FF2B5EF4-FFF2-40B4-BE49-F238E27FC236}">
                  <a16:creationId xmlns:a16="http://schemas.microsoft.com/office/drawing/2014/main" id="{EFFF12FC-0A60-47A7-98A1-653C8C8CDF90}"/>
                </a:ext>
              </a:extLst>
            </p:cNvPr>
            <p:cNvCxnSpPr>
              <a:cxnSpLocks/>
            </p:cNvCxnSpPr>
            <p:nvPr/>
          </p:nvCxnSpPr>
          <p:spPr>
            <a:xfrm>
              <a:off x="1016002" y="1603244"/>
              <a:ext cx="1594658" cy="37786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0" name="文字方塊 39">
                  <a:extLst>
                    <a:ext uri="{FF2B5EF4-FFF2-40B4-BE49-F238E27FC236}">
                      <a16:creationId xmlns:a16="http://schemas.microsoft.com/office/drawing/2014/main" id="{6F57337F-6DBB-4283-B2F3-C24A4DCF6684}"/>
                    </a:ext>
                  </a:extLst>
                </p:cNvPr>
                <p:cNvSpPr txBox="1"/>
                <p:nvPr/>
              </p:nvSpPr>
              <p:spPr>
                <a:xfrm rot="806534">
                  <a:off x="1654329" y="1791945"/>
                  <a:ext cx="19325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solidFill>
                              <a:schemeClr val="accent1"/>
                            </a:solidFill>
                            <a:latin typeface="Cambria Math" panose="02040503050406030204" pitchFamily="18" charset="0"/>
                          </a:rPr>
                          <m:t>𝑑</m:t>
                        </m:r>
                      </m:oMath>
                    </m:oMathPara>
                  </a14:m>
                  <a:endParaRPr lang="zh-TW" altLang="en-US" dirty="0">
                    <a:solidFill>
                      <a:schemeClr val="accent1"/>
                    </a:solidFill>
                  </a:endParaRPr>
                </a:p>
              </p:txBody>
            </p:sp>
          </mc:Choice>
          <mc:Fallback xmlns="">
            <p:sp>
              <p:nvSpPr>
                <p:cNvPr id="40" name="文字方塊 39">
                  <a:extLst>
                    <a:ext uri="{FF2B5EF4-FFF2-40B4-BE49-F238E27FC236}">
                      <a16:creationId xmlns:a16="http://schemas.microsoft.com/office/drawing/2014/main" id="{6F57337F-6DBB-4283-B2F3-C24A4DCF6684}"/>
                    </a:ext>
                  </a:extLst>
                </p:cNvPr>
                <p:cNvSpPr txBox="1">
                  <a:spLocks noRot="1" noChangeAspect="1" noMove="1" noResize="1" noEditPoints="1" noAdjustHandles="1" noChangeArrowheads="1" noChangeShapeType="1" noTextEdit="1"/>
                </p:cNvSpPr>
                <p:nvPr/>
              </p:nvSpPr>
              <p:spPr>
                <a:xfrm rot="806534">
                  <a:off x="1654329" y="1791945"/>
                  <a:ext cx="193258" cy="276999"/>
                </a:xfrm>
                <a:prstGeom prst="rect">
                  <a:avLst/>
                </a:prstGeom>
                <a:blipFill>
                  <a:blip r:embed="rId32"/>
                  <a:stretch>
                    <a:fillRect l="-23256" t="-1923" r="-16279" b="-9615"/>
                  </a:stretch>
                </a:blipFill>
              </p:spPr>
              <p:txBody>
                <a:bodyPr/>
                <a:lstStyle/>
                <a:p>
                  <a:r>
                    <a:rPr lang="zh-TW" altLang="en-US">
                      <a:noFill/>
                    </a:rPr>
                    <a:t> </a:t>
                  </a:r>
                </a:p>
              </p:txBody>
            </p:sp>
          </mc:Fallback>
        </mc:AlternateContent>
      </p:grpSp>
      <p:grpSp>
        <p:nvGrpSpPr>
          <p:cNvPr id="44" name="群組 43">
            <a:extLst>
              <a:ext uri="{FF2B5EF4-FFF2-40B4-BE49-F238E27FC236}">
                <a16:creationId xmlns:a16="http://schemas.microsoft.com/office/drawing/2014/main" id="{937AB143-C454-4A12-8E06-7C1121D79EB3}"/>
              </a:ext>
            </a:extLst>
          </p:cNvPr>
          <p:cNvGrpSpPr/>
          <p:nvPr/>
        </p:nvGrpSpPr>
        <p:grpSpPr>
          <a:xfrm>
            <a:off x="183930" y="3570702"/>
            <a:ext cx="2891829" cy="3254066"/>
            <a:chOff x="115649" y="3580795"/>
            <a:chExt cx="2891829" cy="3254066"/>
          </a:xfrm>
        </p:grpSpPr>
        <p:grpSp>
          <p:nvGrpSpPr>
            <p:cNvPr id="45" name="群組 44">
              <a:extLst>
                <a:ext uri="{FF2B5EF4-FFF2-40B4-BE49-F238E27FC236}">
                  <a16:creationId xmlns:a16="http://schemas.microsoft.com/office/drawing/2014/main" id="{A5894BC4-51AB-419B-97C1-B9C9B8670BE4}"/>
                </a:ext>
              </a:extLst>
            </p:cNvPr>
            <p:cNvGrpSpPr/>
            <p:nvPr/>
          </p:nvGrpSpPr>
          <p:grpSpPr>
            <a:xfrm>
              <a:off x="115649" y="3580795"/>
              <a:ext cx="2891829" cy="3254066"/>
              <a:chOff x="72152" y="3256196"/>
              <a:chExt cx="2891829" cy="3254066"/>
            </a:xfrm>
          </p:grpSpPr>
          <p:pic>
            <p:nvPicPr>
              <p:cNvPr id="49" name="圖片 48">
                <a:extLst>
                  <a:ext uri="{FF2B5EF4-FFF2-40B4-BE49-F238E27FC236}">
                    <a16:creationId xmlns:a16="http://schemas.microsoft.com/office/drawing/2014/main" id="{81414A1B-30B1-48AF-82A7-126C028840BB}"/>
                  </a:ext>
                </a:extLst>
              </p:cNvPr>
              <p:cNvPicPr>
                <a:picLocks noChangeAspect="1"/>
              </p:cNvPicPr>
              <p:nvPr/>
            </p:nvPicPr>
            <p:blipFill>
              <a:blip r:embed="rId31">
                <a:extLst>
                  <a:ext uri="{28A0092B-C50C-407E-A947-70E740481C1C}">
                    <a14:useLocalDpi xmlns:a14="http://schemas.microsoft.com/office/drawing/2010/main" val="0"/>
                  </a:ext>
                </a:extLst>
              </a:blip>
              <a:stretch>
                <a:fillRect/>
              </a:stretch>
            </p:blipFill>
            <p:spPr>
              <a:xfrm>
                <a:off x="393065" y="3256196"/>
                <a:ext cx="2570916" cy="3005448"/>
              </a:xfrm>
              <a:prstGeom prst="rect">
                <a:avLst/>
              </a:prstGeom>
            </p:spPr>
          </p:pic>
          <mc:AlternateContent xmlns:mc="http://schemas.openxmlformats.org/markup-compatibility/2006" xmlns:a14="http://schemas.microsoft.com/office/drawing/2010/main">
            <mc:Choice Requires="a14">
              <p:sp>
                <p:nvSpPr>
                  <p:cNvPr id="50" name="文字方塊 49">
                    <a:extLst>
                      <a:ext uri="{FF2B5EF4-FFF2-40B4-BE49-F238E27FC236}">
                        <a16:creationId xmlns:a16="http://schemas.microsoft.com/office/drawing/2014/main" id="{3641F4FC-FA09-4410-80AD-AAEA83D65687}"/>
                      </a:ext>
                    </a:extLst>
                  </p:cNvPr>
                  <p:cNvSpPr txBox="1"/>
                  <p:nvPr/>
                </p:nvSpPr>
                <p:spPr>
                  <a:xfrm>
                    <a:off x="1210733" y="6234299"/>
                    <a:ext cx="1106536" cy="2759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4" name="文字方塊 23">
                    <a:extLst>
                      <a:ext uri="{FF2B5EF4-FFF2-40B4-BE49-F238E27FC236}">
                        <a16:creationId xmlns:a16="http://schemas.microsoft.com/office/drawing/2014/main" id="{EE65A446-91AE-48EC-8330-BB70D7D76434}"/>
                      </a:ext>
                    </a:extLst>
                  </p:cNvPr>
                  <p:cNvSpPr txBox="1">
                    <a:spLocks noRot="1" noChangeAspect="1" noMove="1" noResize="1" noEditPoints="1" noAdjustHandles="1" noChangeArrowheads="1" noChangeShapeType="1" noTextEdit="1"/>
                  </p:cNvSpPr>
                  <p:nvPr/>
                </p:nvSpPr>
                <p:spPr>
                  <a:xfrm>
                    <a:off x="1210733" y="6234299"/>
                    <a:ext cx="1106536" cy="275963"/>
                  </a:xfrm>
                  <a:prstGeom prst="rect">
                    <a:avLst/>
                  </a:prstGeom>
                  <a:blipFill>
                    <a:blip r:embed="rId17"/>
                    <a:stretch>
                      <a:fillRect l="-5525" r="-34254"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1" name="文字方塊 50">
                    <a:extLst>
                      <a:ext uri="{FF2B5EF4-FFF2-40B4-BE49-F238E27FC236}">
                        <a16:creationId xmlns:a16="http://schemas.microsoft.com/office/drawing/2014/main" id="{55B5F155-693A-4A57-8C4E-A0E5807B3DE4}"/>
                      </a:ext>
                    </a:extLst>
                  </p:cNvPr>
                  <p:cNvSpPr txBox="1"/>
                  <p:nvPr/>
                </p:nvSpPr>
                <p:spPr>
                  <a:xfrm rot="16200000">
                    <a:off x="-523395" y="4479791"/>
                    <a:ext cx="1404535" cy="2134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5" name="文字方塊 24">
                    <a:extLst>
                      <a:ext uri="{FF2B5EF4-FFF2-40B4-BE49-F238E27FC236}">
                        <a16:creationId xmlns:a16="http://schemas.microsoft.com/office/drawing/2014/main" id="{5B2FF76E-ACA6-4049-80D6-58C7F2BBDA09}"/>
                      </a:ext>
                    </a:extLst>
                  </p:cNvPr>
                  <p:cNvSpPr txBox="1">
                    <a:spLocks noRot="1" noChangeAspect="1" noMove="1" noResize="1" noEditPoints="1" noAdjustHandles="1" noChangeArrowheads="1" noChangeShapeType="1" noTextEdit="1"/>
                  </p:cNvSpPr>
                  <p:nvPr/>
                </p:nvSpPr>
                <p:spPr>
                  <a:xfrm rot="16200000">
                    <a:off x="-523395" y="4479791"/>
                    <a:ext cx="1404535" cy="213442"/>
                  </a:xfrm>
                  <a:prstGeom prst="rect">
                    <a:avLst/>
                  </a:prstGeom>
                  <a:blipFill>
                    <a:blip r:embed="rId18"/>
                    <a:stretch>
                      <a:fillRect t="-6061" r="-77143" b="-2597"/>
                    </a:stretch>
                  </a:blipFill>
                </p:spPr>
                <p:txBody>
                  <a:bodyPr/>
                  <a:lstStyle/>
                  <a:p>
                    <a:r>
                      <a:rPr lang="zh-TW" altLang="en-US">
                        <a:noFill/>
                      </a:rPr>
                      <a:t> </a:t>
                    </a:r>
                  </a:p>
                </p:txBody>
              </p:sp>
            </mc:Fallback>
          </mc:AlternateContent>
        </p:grpSp>
        <p:cxnSp>
          <p:nvCxnSpPr>
            <p:cNvPr id="46" name="直線單箭頭接點 45">
              <a:extLst>
                <a:ext uri="{FF2B5EF4-FFF2-40B4-BE49-F238E27FC236}">
                  <a16:creationId xmlns:a16="http://schemas.microsoft.com/office/drawing/2014/main" id="{122DA7E1-67C6-472A-A565-FA79328B8336}"/>
                </a:ext>
              </a:extLst>
            </p:cNvPr>
            <p:cNvCxnSpPr>
              <a:cxnSpLocks/>
            </p:cNvCxnSpPr>
            <p:nvPr/>
          </p:nvCxnSpPr>
          <p:spPr>
            <a:xfrm>
              <a:off x="1185333" y="4493855"/>
              <a:ext cx="1156456" cy="1189368"/>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7" name="文字方塊 46">
                  <a:extLst>
                    <a:ext uri="{FF2B5EF4-FFF2-40B4-BE49-F238E27FC236}">
                      <a16:creationId xmlns:a16="http://schemas.microsoft.com/office/drawing/2014/main" id="{A469EA0B-295F-401F-9089-FF0D27845838}"/>
                    </a:ext>
                  </a:extLst>
                </p:cNvPr>
                <p:cNvSpPr txBox="1"/>
                <p:nvPr/>
              </p:nvSpPr>
              <p:spPr>
                <a:xfrm rot="2558718">
                  <a:off x="1813331" y="4929779"/>
                  <a:ext cx="19325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solidFill>
                              <a:schemeClr val="accent1"/>
                            </a:solidFill>
                            <a:latin typeface="Cambria Math" panose="02040503050406030204" pitchFamily="18" charset="0"/>
                          </a:rPr>
                          <m:t>𝑑</m:t>
                        </m:r>
                      </m:oMath>
                    </m:oMathPara>
                  </a14:m>
                  <a:endParaRPr lang="zh-TW" altLang="en-US" dirty="0">
                    <a:solidFill>
                      <a:schemeClr val="accent1"/>
                    </a:solidFill>
                  </a:endParaRPr>
                </a:p>
              </p:txBody>
            </p:sp>
          </mc:Choice>
          <mc:Fallback xmlns="">
            <p:sp>
              <p:nvSpPr>
                <p:cNvPr id="47" name="文字方塊 46">
                  <a:extLst>
                    <a:ext uri="{FF2B5EF4-FFF2-40B4-BE49-F238E27FC236}">
                      <a16:creationId xmlns:a16="http://schemas.microsoft.com/office/drawing/2014/main" id="{A469EA0B-295F-401F-9089-FF0D27845838}"/>
                    </a:ext>
                  </a:extLst>
                </p:cNvPr>
                <p:cNvSpPr txBox="1">
                  <a:spLocks noRot="1" noChangeAspect="1" noMove="1" noResize="1" noEditPoints="1" noAdjustHandles="1" noChangeArrowheads="1" noChangeShapeType="1" noTextEdit="1"/>
                </p:cNvSpPr>
                <p:nvPr/>
              </p:nvSpPr>
              <p:spPr>
                <a:xfrm rot="2558718">
                  <a:off x="1813331" y="4929779"/>
                  <a:ext cx="193258" cy="276999"/>
                </a:xfrm>
                <a:prstGeom prst="rect">
                  <a:avLst/>
                </a:prstGeom>
                <a:blipFill>
                  <a:blip r:embed="rId34"/>
                  <a:stretch>
                    <a:fillRect l="-16364" t="-10714" r="-9091" b="-125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8" name="文字方塊 47">
                  <a:extLst>
                    <a:ext uri="{FF2B5EF4-FFF2-40B4-BE49-F238E27FC236}">
                      <a16:creationId xmlns:a16="http://schemas.microsoft.com/office/drawing/2014/main" id="{D7061703-62A2-4A31-8A90-6AED324D3DAA}"/>
                    </a:ext>
                  </a:extLst>
                </p:cNvPr>
                <p:cNvSpPr txBox="1"/>
                <p:nvPr/>
              </p:nvSpPr>
              <p:spPr>
                <a:xfrm rot="2736683">
                  <a:off x="986471" y="4162288"/>
                  <a:ext cx="18511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solidFill>
                              <a:schemeClr val="accent1"/>
                            </a:solidFill>
                            <a:latin typeface="Cambria Math" panose="02040503050406030204" pitchFamily="18" charset="0"/>
                          </a:rPr>
                          <m:t>h</m:t>
                        </m:r>
                      </m:oMath>
                    </m:oMathPara>
                  </a14:m>
                  <a:endParaRPr lang="zh-TW" altLang="en-US" dirty="0">
                    <a:solidFill>
                      <a:schemeClr val="accent1"/>
                    </a:solidFill>
                  </a:endParaRPr>
                </a:p>
              </p:txBody>
            </p:sp>
          </mc:Choice>
          <mc:Fallback xmlns="">
            <p:sp>
              <p:nvSpPr>
                <p:cNvPr id="48" name="文字方塊 47">
                  <a:extLst>
                    <a:ext uri="{FF2B5EF4-FFF2-40B4-BE49-F238E27FC236}">
                      <a16:creationId xmlns:a16="http://schemas.microsoft.com/office/drawing/2014/main" id="{D7061703-62A2-4A31-8A90-6AED324D3DAA}"/>
                    </a:ext>
                  </a:extLst>
                </p:cNvPr>
                <p:cNvSpPr txBox="1">
                  <a:spLocks noRot="1" noChangeAspect="1" noMove="1" noResize="1" noEditPoints="1" noAdjustHandles="1" noChangeArrowheads="1" noChangeShapeType="1" noTextEdit="1"/>
                </p:cNvSpPr>
                <p:nvPr/>
              </p:nvSpPr>
              <p:spPr>
                <a:xfrm rot="2736683">
                  <a:off x="986471" y="4162288"/>
                  <a:ext cx="185114" cy="276999"/>
                </a:xfrm>
                <a:prstGeom prst="rect">
                  <a:avLst/>
                </a:prstGeom>
                <a:blipFill>
                  <a:blip r:embed="rId35"/>
                  <a:stretch>
                    <a:fillRect l="-16364" t="-11111" r="-7273" b="-14815"/>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148707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426821"/>
            <a:ext cx="12192000" cy="390106"/>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6" name="文字方塊 15">
            <a:extLst>
              <a:ext uri="{FF2B5EF4-FFF2-40B4-BE49-F238E27FC236}">
                <a16:creationId xmlns:a16="http://schemas.microsoft.com/office/drawing/2014/main" id="{6BA9955A-92B3-406A-93D9-E13D8B8C100E}"/>
              </a:ext>
            </a:extLst>
          </p:cNvPr>
          <p:cNvSpPr txBox="1"/>
          <p:nvPr/>
        </p:nvSpPr>
        <p:spPr>
          <a:xfrm>
            <a:off x="118533" y="516467"/>
            <a:ext cx="3588625" cy="369332"/>
          </a:xfrm>
          <a:prstGeom prst="rect">
            <a:avLst/>
          </a:prstGeom>
          <a:noFill/>
        </p:spPr>
        <p:txBody>
          <a:bodyPr wrap="square" rtlCol="0">
            <a:spAutoFit/>
          </a:bodyPr>
          <a:lstStyle/>
          <a:p>
            <a:pPr marL="285750" indent="-285750">
              <a:buFont typeface="Wingdings" panose="05000000000000000000" pitchFamily="2" charset="2"/>
              <a:buChar char="Ø"/>
            </a:pPr>
            <a:r>
              <a:rPr lang="en-US" altLang="zh-TW" dirty="0"/>
              <a:t>Long</a:t>
            </a:r>
            <a:endParaRPr lang="zh-TW" altLang="en-US" dirty="0"/>
          </a:p>
        </p:txBody>
      </p:sp>
      <p:sp>
        <p:nvSpPr>
          <p:cNvPr id="34" name="矩形 33">
            <a:extLst>
              <a:ext uri="{FF2B5EF4-FFF2-40B4-BE49-F238E27FC236}">
                <a16:creationId xmlns:a16="http://schemas.microsoft.com/office/drawing/2014/main" id="{79D2E760-7634-49B3-8738-C566096C37A8}"/>
              </a:ext>
            </a:extLst>
          </p:cNvPr>
          <p:cNvSpPr/>
          <p:nvPr/>
        </p:nvSpPr>
        <p:spPr>
          <a:xfrm>
            <a:off x="5460999" y="1928550"/>
            <a:ext cx="245534"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2" name="矩形 41">
            <a:extLst>
              <a:ext uri="{FF2B5EF4-FFF2-40B4-BE49-F238E27FC236}">
                <a16:creationId xmlns:a16="http://schemas.microsoft.com/office/drawing/2014/main" id="{1190983A-5C39-4886-9619-EB987BA08A5A}"/>
              </a:ext>
            </a:extLst>
          </p:cNvPr>
          <p:cNvSpPr/>
          <p:nvPr/>
        </p:nvSpPr>
        <p:spPr>
          <a:xfrm>
            <a:off x="10089400" y="2305645"/>
            <a:ext cx="154270" cy="2491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3" name="矩形 42">
            <a:extLst>
              <a:ext uri="{FF2B5EF4-FFF2-40B4-BE49-F238E27FC236}">
                <a16:creationId xmlns:a16="http://schemas.microsoft.com/office/drawing/2014/main" id="{DAC22EB2-D2BB-462C-BC74-58FD2DE4BA6A}"/>
              </a:ext>
            </a:extLst>
          </p:cNvPr>
          <p:cNvSpPr/>
          <p:nvPr/>
        </p:nvSpPr>
        <p:spPr>
          <a:xfrm>
            <a:off x="6256928" y="770989"/>
            <a:ext cx="245534"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45">
            <a:extLst>
              <a:ext uri="{FF2B5EF4-FFF2-40B4-BE49-F238E27FC236}">
                <a16:creationId xmlns:a16="http://schemas.microsoft.com/office/drawing/2014/main" id="{8CA65E4A-CFB2-4EA2-85BD-0D9730ADE9B3}"/>
              </a:ext>
            </a:extLst>
          </p:cNvPr>
          <p:cNvSpPr/>
          <p:nvPr/>
        </p:nvSpPr>
        <p:spPr>
          <a:xfrm>
            <a:off x="8173347" y="3309968"/>
            <a:ext cx="245534"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7" name="矩形 46">
            <a:extLst>
              <a:ext uri="{FF2B5EF4-FFF2-40B4-BE49-F238E27FC236}">
                <a16:creationId xmlns:a16="http://schemas.microsoft.com/office/drawing/2014/main" id="{F8240F74-EA98-4ED3-B43E-B311F02C30DD}"/>
              </a:ext>
            </a:extLst>
          </p:cNvPr>
          <p:cNvSpPr/>
          <p:nvPr/>
        </p:nvSpPr>
        <p:spPr>
          <a:xfrm>
            <a:off x="8932275" y="770989"/>
            <a:ext cx="245534"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矩形 49">
            <a:extLst>
              <a:ext uri="{FF2B5EF4-FFF2-40B4-BE49-F238E27FC236}">
                <a16:creationId xmlns:a16="http://schemas.microsoft.com/office/drawing/2014/main" id="{E3B77C83-699E-461F-B4BA-8C2FA871DCA2}"/>
              </a:ext>
            </a:extLst>
          </p:cNvPr>
          <p:cNvSpPr/>
          <p:nvPr/>
        </p:nvSpPr>
        <p:spPr>
          <a:xfrm>
            <a:off x="5351905" y="2059278"/>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1" name="矩形 50">
            <a:extLst>
              <a:ext uri="{FF2B5EF4-FFF2-40B4-BE49-F238E27FC236}">
                <a16:creationId xmlns:a16="http://schemas.microsoft.com/office/drawing/2014/main" id="{3D14EEA7-B1CC-4A28-BF80-872555CF32BF}"/>
              </a:ext>
            </a:extLst>
          </p:cNvPr>
          <p:cNvSpPr/>
          <p:nvPr/>
        </p:nvSpPr>
        <p:spPr>
          <a:xfrm>
            <a:off x="6535040" y="2906549"/>
            <a:ext cx="218554" cy="1828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6" name="矩形 55">
            <a:extLst>
              <a:ext uri="{FF2B5EF4-FFF2-40B4-BE49-F238E27FC236}">
                <a16:creationId xmlns:a16="http://schemas.microsoft.com/office/drawing/2014/main" id="{3FBA3E74-E0D9-4C92-89A1-FC1810D9C593}"/>
              </a:ext>
            </a:extLst>
          </p:cNvPr>
          <p:cNvSpPr/>
          <p:nvPr/>
        </p:nvSpPr>
        <p:spPr>
          <a:xfrm>
            <a:off x="10419603" y="2544525"/>
            <a:ext cx="61970" cy="4109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66" name="群組 65">
            <a:extLst>
              <a:ext uri="{FF2B5EF4-FFF2-40B4-BE49-F238E27FC236}">
                <a16:creationId xmlns:a16="http://schemas.microsoft.com/office/drawing/2014/main" id="{B8B44E8A-7C69-40AF-868C-858D8E255A75}"/>
              </a:ext>
            </a:extLst>
          </p:cNvPr>
          <p:cNvGrpSpPr/>
          <p:nvPr/>
        </p:nvGrpSpPr>
        <p:grpSpPr>
          <a:xfrm>
            <a:off x="7498212" y="3763636"/>
            <a:ext cx="2973497" cy="2082167"/>
            <a:chOff x="6051068" y="3773292"/>
            <a:chExt cx="3462496" cy="2286540"/>
          </a:xfrm>
        </p:grpSpPr>
        <p:sp>
          <p:nvSpPr>
            <p:cNvPr id="61" name="矩形 60">
              <a:extLst>
                <a:ext uri="{FF2B5EF4-FFF2-40B4-BE49-F238E27FC236}">
                  <a16:creationId xmlns:a16="http://schemas.microsoft.com/office/drawing/2014/main" id="{654CDC74-E55F-4DBC-B616-357EBC5F4474}"/>
                </a:ext>
              </a:extLst>
            </p:cNvPr>
            <p:cNvSpPr/>
            <p:nvPr/>
          </p:nvSpPr>
          <p:spPr>
            <a:xfrm>
              <a:off x="8324876" y="5644809"/>
              <a:ext cx="258270" cy="2709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2" name="矩形 61">
              <a:extLst>
                <a:ext uri="{FF2B5EF4-FFF2-40B4-BE49-F238E27FC236}">
                  <a16:creationId xmlns:a16="http://schemas.microsoft.com/office/drawing/2014/main" id="{CD1471C2-34F2-4760-BFF2-E80C9E428DEC}"/>
                </a:ext>
              </a:extLst>
            </p:cNvPr>
            <p:cNvSpPr/>
            <p:nvPr/>
          </p:nvSpPr>
          <p:spPr>
            <a:xfrm>
              <a:off x="6446961" y="3773292"/>
              <a:ext cx="323457" cy="231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3" name="矩形 62">
              <a:extLst>
                <a:ext uri="{FF2B5EF4-FFF2-40B4-BE49-F238E27FC236}">
                  <a16:creationId xmlns:a16="http://schemas.microsoft.com/office/drawing/2014/main" id="{90FF13F8-3A65-4128-BC28-CAC513B4FB57}"/>
                </a:ext>
              </a:extLst>
            </p:cNvPr>
            <p:cNvSpPr/>
            <p:nvPr/>
          </p:nvSpPr>
          <p:spPr>
            <a:xfrm>
              <a:off x="6051068" y="5067090"/>
              <a:ext cx="323457" cy="231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4" name="矩形 63">
              <a:extLst>
                <a:ext uri="{FF2B5EF4-FFF2-40B4-BE49-F238E27FC236}">
                  <a16:creationId xmlns:a16="http://schemas.microsoft.com/office/drawing/2014/main" id="{5BAF1E9B-9DCD-467B-B70A-E5CD30B363C2}"/>
                </a:ext>
              </a:extLst>
            </p:cNvPr>
            <p:cNvSpPr/>
            <p:nvPr/>
          </p:nvSpPr>
          <p:spPr>
            <a:xfrm>
              <a:off x="7250039" y="5828298"/>
              <a:ext cx="323457" cy="231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5" name="矩形 64">
              <a:extLst>
                <a:ext uri="{FF2B5EF4-FFF2-40B4-BE49-F238E27FC236}">
                  <a16:creationId xmlns:a16="http://schemas.microsoft.com/office/drawing/2014/main" id="{9D7F0799-F13A-4899-9213-C4590823EDB0}"/>
                </a:ext>
              </a:extLst>
            </p:cNvPr>
            <p:cNvSpPr/>
            <p:nvPr/>
          </p:nvSpPr>
          <p:spPr>
            <a:xfrm>
              <a:off x="9295009" y="4197827"/>
              <a:ext cx="218555" cy="9228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sp>
        <p:nvSpPr>
          <p:cNvPr id="79" name="矩形 78">
            <a:extLst>
              <a:ext uri="{FF2B5EF4-FFF2-40B4-BE49-F238E27FC236}">
                <a16:creationId xmlns:a16="http://schemas.microsoft.com/office/drawing/2014/main" id="{6EE2C76E-7851-4AB6-9A3E-18664BA7EDA9}"/>
              </a:ext>
            </a:extLst>
          </p:cNvPr>
          <p:cNvSpPr/>
          <p:nvPr/>
        </p:nvSpPr>
        <p:spPr>
          <a:xfrm>
            <a:off x="5106371" y="3533630"/>
            <a:ext cx="245534" cy="2664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9" name="群組 8">
            <a:extLst>
              <a:ext uri="{FF2B5EF4-FFF2-40B4-BE49-F238E27FC236}">
                <a16:creationId xmlns:a16="http://schemas.microsoft.com/office/drawing/2014/main" id="{E31C501E-2BE5-49EF-B9EA-E57A5D7EB061}"/>
              </a:ext>
            </a:extLst>
          </p:cNvPr>
          <p:cNvGrpSpPr/>
          <p:nvPr/>
        </p:nvGrpSpPr>
        <p:grpSpPr>
          <a:xfrm>
            <a:off x="7047939" y="760013"/>
            <a:ext cx="3779008" cy="1926930"/>
            <a:chOff x="7047939" y="760013"/>
            <a:chExt cx="3779008" cy="1926930"/>
          </a:xfrm>
        </p:grpSpPr>
        <p:pic>
          <p:nvPicPr>
            <p:cNvPr id="7" name="圖片 6">
              <a:extLst>
                <a:ext uri="{FF2B5EF4-FFF2-40B4-BE49-F238E27FC236}">
                  <a16:creationId xmlns:a16="http://schemas.microsoft.com/office/drawing/2014/main" id="{CFD883F9-DD2C-400F-8467-52A57C3680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76006" y="910421"/>
              <a:ext cx="3507394" cy="1631975"/>
            </a:xfrm>
            <a:prstGeom prst="rect">
              <a:avLst/>
            </a:prstGeom>
          </p:spPr>
        </p:pic>
        <p:grpSp>
          <p:nvGrpSpPr>
            <p:cNvPr id="126" name="群組 125">
              <a:extLst>
                <a:ext uri="{FF2B5EF4-FFF2-40B4-BE49-F238E27FC236}">
                  <a16:creationId xmlns:a16="http://schemas.microsoft.com/office/drawing/2014/main" id="{D2C34612-FE87-41C5-9E68-80C0F016BEEF}"/>
                </a:ext>
              </a:extLst>
            </p:cNvPr>
            <p:cNvGrpSpPr/>
            <p:nvPr/>
          </p:nvGrpSpPr>
          <p:grpSpPr>
            <a:xfrm>
              <a:off x="7047939" y="760013"/>
              <a:ext cx="3779008" cy="1926930"/>
              <a:chOff x="5954489" y="996129"/>
              <a:chExt cx="3779008" cy="1926930"/>
            </a:xfrm>
          </p:grpSpPr>
          <p:grpSp>
            <p:nvGrpSpPr>
              <p:cNvPr id="103" name="群組 102">
                <a:extLst>
                  <a:ext uri="{FF2B5EF4-FFF2-40B4-BE49-F238E27FC236}">
                    <a16:creationId xmlns:a16="http://schemas.microsoft.com/office/drawing/2014/main" id="{B312056C-7B99-454C-9849-1B693289290F}"/>
                  </a:ext>
                </a:extLst>
              </p:cNvPr>
              <p:cNvGrpSpPr/>
              <p:nvPr/>
            </p:nvGrpSpPr>
            <p:grpSpPr>
              <a:xfrm>
                <a:off x="6048612" y="1071527"/>
                <a:ext cx="3684885" cy="1753732"/>
                <a:chOff x="6031779" y="1100186"/>
                <a:chExt cx="3684885" cy="1719070"/>
              </a:xfrm>
            </p:grpSpPr>
            <p:sp>
              <p:nvSpPr>
                <p:cNvPr id="93" name="矩形 92">
                  <a:extLst>
                    <a:ext uri="{FF2B5EF4-FFF2-40B4-BE49-F238E27FC236}">
                      <a16:creationId xmlns:a16="http://schemas.microsoft.com/office/drawing/2014/main" id="{525AE447-9ED2-4513-9B43-301DCA1B05D1}"/>
                    </a:ext>
                  </a:extLst>
                </p:cNvPr>
                <p:cNvSpPr/>
                <p:nvPr/>
              </p:nvSpPr>
              <p:spPr>
                <a:xfrm>
                  <a:off x="6857852" y="1100186"/>
                  <a:ext cx="245534" cy="1901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4" name="矩形 93">
                  <a:extLst>
                    <a:ext uri="{FF2B5EF4-FFF2-40B4-BE49-F238E27FC236}">
                      <a16:creationId xmlns:a16="http://schemas.microsoft.com/office/drawing/2014/main" id="{D65C1B0B-E03C-4C86-8C56-4B5AF5A3BD39}"/>
                    </a:ext>
                  </a:extLst>
                </p:cNvPr>
                <p:cNvSpPr/>
                <p:nvPr/>
              </p:nvSpPr>
              <p:spPr>
                <a:xfrm>
                  <a:off x="8407636" y="1100186"/>
                  <a:ext cx="308314" cy="1999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5" name="矩形 94">
                  <a:extLst>
                    <a:ext uri="{FF2B5EF4-FFF2-40B4-BE49-F238E27FC236}">
                      <a16:creationId xmlns:a16="http://schemas.microsoft.com/office/drawing/2014/main" id="{97A0856B-15B2-45BC-9274-DEE2C95991E2}"/>
                    </a:ext>
                  </a:extLst>
                </p:cNvPr>
                <p:cNvSpPr/>
                <p:nvPr/>
              </p:nvSpPr>
              <p:spPr>
                <a:xfrm>
                  <a:off x="7576681" y="1865243"/>
                  <a:ext cx="336141" cy="2161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6" name="矩形 95">
                  <a:extLst>
                    <a:ext uri="{FF2B5EF4-FFF2-40B4-BE49-F238E27FC236}">
                      <a16:creationId xmlns:a16="http://schemas.microsoft.com/office/drawing/2014/main" id="{EAF62A92-51E9-40BA-860A-15EE3CC9F38C}"/>
                    </a:ext>
                  </a:extLst>
                </p:cNvPr>
                <p:cNvSpPr/>
                <p:nvPr/>
              </p:nvSpPr>
              <p:spPr>
                <a:xfrm>
                  <a:off x="6031779" y="1839773"/>
                  <a:ext cx="245534" cy="1901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97" name="矩形 96">
                  <a:extLst>
                    <a:ext uri="{FF2B5EF4-FFF2-40B4-BE49-F238E27FC236}">
                      <a16:creationId xmlns:a16="http://schemas.microsoft.com/office/drawing/2014/main" id="{428B6E4B-BA92-4351-AF44-9EDCF9387C43}"/>
                    </a:ext>
                  </a:extLst>
                </p:cNvPr>
                <p:cNvSpPr/>
                <p:nvPr/>
              </p:nvSpPr>
              <p:spPr>
                <a:xfrm>
                  <a:off x="6805183" y="2629113"/>
                  <a:ext cx="245534" cy="1901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8" name="矩形 97">
                  <a:extLst>
                    <a:ext uri="{FF2B5EF4-FFF2-40B4-BE49-F238E27FC236}">
                      <a16:creationId xmlns:a16="http://schemas.microsoft.com/office/drawing/2014/main" id="{10C9BAEF-BFCC-48D3-98B8-BA829C8B86D9}"/>
                    </a:ext>
                  </a:extLst>
                </p:cNvPr>
                <p:cNvSpPr/>
                <p:nvPr/>
              </p:nvSpPr>
              <p:spPr>
                <a:xfrm>
                  <a:off x="8387231" y="2614434"/>
                  <a:ext cx="245534" cy="1901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9" name="矩形 98">
                  <a:extLst>
                    <a:ext uri="{FF2B5EF4-FFF2-40B4-BE49-F238E27FC236}">
                      <a16:creationId xmlns:a16="http://schemas.microsoft.com/office/drawing/2014/main" id="{A6345865-5CDE-4A43-810D-D8AAECD35F25}"/>
                    </a:ext>
                  </a:extLst>
                </p:cNvPr>
                <p:cNvSpPr/>
                <p:nvPr/>
              </p:nvSpPr>
              <p:spPr>
                <a:xfrm>
                  <a:off x="9574045" y="1663714"/>
                  <a:ext cx="142619" cy="6361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0" name="矩形 99">
                  <a:extLst>
                    <a:ext uri="{FF2B5EF4-FFF2-40B4-BE49-F238E27FC236}">
                      <a16:creationId xmlns:a16="http://schemas.microsoft.com/office/drawing/2014/main" id="{AD847CB7-AB23-4174-880D-8148114705A1}"/>
                    </a:ext>
                  </a:extLst>
                </p:cNvPr>
                <p:cNvSpPr/>
                <p:nvPr/>
              </p:nvSpPr>
              <p:spPr>
                <a:xfrm>
                  <a:off x="9221158" y="1806141"/>
                  <a:ext cx="175304" cy="2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14" name="文字方塊 113">
                <a:extLst>
                  <a:ext uri="{FF2B5EF4-FFF2-40B4-BE49-F238E27FC236}">
                    <a16:creationId xmlns:a16="http://schemas.microsoft.com/office/drawing/2014/main" id="{E622866F-97AA-4705-A2C2-49B20B60A011}"/>
                  </a:ext>
                </a:extLst>
              </p:cNvPr>
              <p:cNvSpPr txBox="1"/>
              <p:nvPr/>
            </p:nvSpPr>
            <p:spPr>
              <a:xfrm>
                <a:off x="7549967" y="2005898"/>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15" name="文字方塊 114">
                <a:extLst>
                  <a:ext uri="{FF2B5EF4-FFF2-40B4-BE49-F238E27FC236}">
                    <a16:creationId xmlns:a16="http://schemas.microsoft.com/office/drawing/2014/main" id="{BF354481-1145-4CE9-A8D7-E3EB0E045610}"/>
                  </a:ext>
                </a:extLst>
              </p:cNvPr>
              <p:cNvSpPr txBox="1"/>
              <p:nvPr/>
            </p:nvSpPr>
            <p:spPr>
              <a:xfrm>
                <a:off x="7618085" y="1668685"/>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16" name="文字方塊 115">
                <a:extLst>
                  <a:ext uri="{FF2B5EF4-FFF2-40B4-BE49-F238E27FC236}">
                    <a16:creationId xmlns:a16="http://schemas.microsoft.com/office/drawing/2014/main" id="{36C778ED-A77C-4E31-B310-802AEAED8562}"/>
                  </a:ext>
                </a:extLst>
              </p:cNvPr>
              <p:cNvSpPr txBox="1"/>
              <p:nvPr/>
            </p:nvSpPr>
            <p:spPr>
              <a:xfrm>
                <a:off x="6749644" y="996129"/>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17" name="文字方塊 116">
                <a:extLst>
                  <a:ext uri="{FF2B5EF4-FFF2-40B4-BE49-F238E27FC236}">
                    <a16:creationId xmlns:a16="http://schemas.microsoft.com/office/drawing/2014/main" id="{FC4BE724-CC8A-4AAD-AE24-C6703DBE7809}"/>
                  </a:ext>
                </a:extLst>
              </p:cNvPr>
              <p:cNvSpPr txBox="1"/>
              <p:nvPr/>
            </p:nvSpPr>
            <p:spPr>
              <a:xfrm>
                <a:off x="5954489" y="1744007"/>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18" name="文字方塊 117">
                <a:extLst>
                  <a:ext uri="{FF2B5EF4-FFF2-40B4-BE49-F238E27FC236}">
                    <a16:creationId xmlns:a16="http://schemas.microsoft.com/office/drawing/2014/main" id="{872148E4-1375-478B-B410-534E4E752F65}"/>
                  </a:ext>
                </a:extLst>
              </p:cNvPr>
              <p:cNvSpPr txBox="1"/>
              <p:nvPr/>
            </p:nvSpPr>
            <p:spPr>
              <a:xfrm>
                <a:off x="6784179" y="2615282"/>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19" name="文字方塊 118">
                <a:extLst>
                  <a:ext uri="{FF2B5EF4-FFF2-40B4-BE49-F238E27FC236}">
                    <a16:creationId xmlns:a16="http://schemas.microsoft.com/office/drawing/2014/main" id="{92DFC208-7E33-4AFA-9692-4CE531AC23A6}"/>
                  </a:ext>
                </a:extLst>
              </p:cNvPr>
              <p:cNvSpPr txBox="1"/>
              <p:nvPr/>
            </p:nvSpPr>
            <p:spPr>
              <a:xfrm>
                <a:off x="8375762" y="1019647"/>
                <a:ext cx="380092"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20" name="文字方塊 119">
                <a:extLst>
                  <a:ext uri="{FF2B5EF4-FFF2-40B4-BE49-F238E27FC236}">
                    <a16:creationId xmlns:a16="http://schemas.microsoft.com/office/drawing/2014/main" id="{0C02D05A-19CA-4649-8B73-FF2BACB0F342}"/>
                  </a:ext>
                </a:extLst>
              </p:cNvPr>
              <p:cNvSpPr txBox="1"/>
              <p:nvPr/>
            </p:nvSpPr>
            <p:spPr>
              <a:xfrm>
                <a:off x="8427913" y="2608158"/>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21" name="文字方塊 120">
                <a:extLst>
                  <a:ext uri="{FF2B5EF4-FFF2-40B4-BE49-F238E27FC236}">
                    <a16:creationId xmlns:a16="http://schemas.microsoft.com/office/drawing/2014/main" id="{F88C7781-126C-4732-B416-731CA551DC04}"/>
                  </a:ext>
                </a:extLst>
              </p:cNvPr>
              <p:cNvSpPr txBox="1"/>
              <p:nvPr/>
            </p:nvSpPr>
            <p:spPr>
              <a:xfrm>
                <a:off x="9146551" y="1940482"/>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2" name="文字方塊 121">
                    <a:extLst>
                      <a:ext uri="{FF2B5EF4-FFF2-40B4-BE49-F238E27FC236}">
                        <a16:creationId xmlns:a16="http://schemas.microsoft.com/office/drawing/2014/main" id="{E4ABD7FA-40B3-4FE8-BC0D-584449707A8F}"/>
                      </a:ext>
                    </a:extLst>
                  </p:cNvPr>
                  <p:cNvSpPr txBox="1"/>
                  <p:nvPr/>
                </p:nvSpPr>
                <p:spPr>
                  <a:xfrm>
                    <a:off x="7089658" y="1894180"/>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𝐱</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22" name="文字方塊 121">
                    <a:extLst>
                      <a:ext uri="{FF2B5EF4-FFF2-40B4-BE49-F238E27FC236}">
                        <a16:creationId xmlns:a16="http://schemas.microsoft.com/office/drawing/2014/main" id="{E4ABD7FA-40B3-4FE8-BC0D-584449707A8F}"/>
                      </a:ext>
                    </a:extLst>
                  </p:cNvPr>
                  <p:cNvSpPr txBox="1">
                    <a:spLocks noRot="1" noChangeAspect="1" noMove="1" noResize="1" noEditPoints="1" noAdjustHandles="1" noChangeArrowheads="1" noChangeShapeType="1" noTextEdit="1"/>
                  </p:cNvSpPr>
                  <p:nvPr/>
                </p:nvSpPr>
                <p:spPr>
                  <a:xfrm>
                    <a:off x="7089658" y="1894180"/>
                    <a:ext cx="332369" cy="307777"/>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3" name="文字方塊 122">
                    <a:extLst>
                      <a:ext uri="{FF2B5EF4-FFF2-40B4-BE49-F238E27FC236}">
                        <a16:creationId xmlns:a16="http://schemas.microsoft.com/office/drawing/2014/main" id="{EC2CC104-96C8-4CFE-8762-71B98E94DB61}"/>
                      </a:ext>
                    </a:extLst>
                  </p:cNvPr>
                  <p:cNvSpPr txBox="1"/>
                  <p:nvPr/>
                </p:nvSpPr>
                <p:spPr>
                  <a:xfrm>
                    <a:off x="6654418" y="1404983"/>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𝐲</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23" name="文字方塊 122">
                    <a:extLst>
                      <a:ext uri="{FF2B5EF4-FFF2-40B4-BE49-F238E27FC236}">
                        <a16:creationId xmlns:a16="http://schemas.microsoft.com/office/drawing/2014/main" id="{EC2CC104-96C8-4CFE-8762-71B98E94DB61}"/>
                      </a:ext>
                    </a:extLst>
                  </p:cNvPr>
                  <p:cNvSpPr txBox="1">
                    <a:spLocks noRot="1" noChangeAspect="1" noMove="1" noResize="1" noEditPoints="1" noAdjustHandles="1" noChangeArrowheads="1" noChangeShapeType="1" noTextEdit="1"/>
                  </p:cNvSpPr>
                  <p:nvPr/>
                </p:nvSpPr>
                <p:spPr>
                  <a:xfrm>
                    <a:off x="6654418" y="1404983"/>
                    <a:ext cx="332369" cy="307777"/>
                  </a:xfrm>
                  <a:prstGeom prst="rect">
                    <a:avLst/>
                  </a:prstGeom>
                  <a:blipFill>
                    <a:blip r:embed="rId5"/>
                    <a:stretch>
                      <a:fillRect b="-4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4" name="文字方塊 123">
                    <a:extLst>
                      <a:ext uri="{FF2B5EF4-FFF2-40B4-BE49-F238E27FC236}">
                        <a16:creationId xmlns:a16="http://schemas.microsoft.com/office/drawing/2014/main" id="{22776C41-A1CC-4F49-B102-F5A60EC60753}"/>
                      </a:ext>
                    </a:extLst>
                  </p:cNvPr>
                  <p:cNvSpPr txBox="1"/>
                  <p:nvPr/>
                </p:nvSpPr>
                <p:spPr>
                  <a:xfrm>
                    <a:off x="8638499" y="1886078"/>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𝐱</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24" name="文字方塊 123">
                    <a:extLst>
                      <a:ext uri="{FF2B5EF4-FFF2-40B4-BE49-F238E27FC236}">
                        <a16:creationId xmlns:a16="http://schemas.microsoft.com/office/drawing/2014/main" id="{22776C41-A1CC-4F49-B102-F5A60EC60753}"/>
                      </a:ext>
                    </a:extLst>
                  </p:cNvPr>
                  <p:cNvSpPr txBox="1">
                    <a:spLocks noRot="1" noChangeAspect="1" noMove="1" noResize="1" noEditPoints="1" noAdjustHandles="1" noChangeArrowheads="1" noChangeShapeType="1" noTextEdit="1"/>
                  </p:cNvSpPr>
                  <p:nvPr/>
                </p:nvSpPr>
                <p:spPr>
                  <a:xfrm>
                    <a:off x="8638499" y="1886078"/>
                    <a:ext cx="332369" cy="307777"/>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5" name="文字方塊 124">
                    <a:extLst>
                      <a:ext uri="{FF2B5EF4-FFF2-40B4-BE49-F238E27FC236}">
                        <a16:creationId xmlns:a16="http://schemas.microsoft.com/office/drawing/2014/main" id="{8B69D8F6-84BA-4CE6-9868-BCC4F0E7F1D4}"/>
                      </a:ext>
                    </a:extLst>
                  </p:cNvPr>
                  <p:cNvSpPr txBox="1"/>
                  <p:nvPr/>
                </p:nvSpPr>
                <p:spPr>
                  <a:xfrm>
                    <a:off x="8276856" y="1486891"/>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𝐳</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25" name="文字方塊 124">
                    <a:extLst>
                      <a:ext uri="{FF2B5EF4-FFF2-40B4-BE49-F238E27FC236}">
                        <a16:creationId xmlns:a16="http://schemas.microsoft.com/office/drawing/2014/main" id="{8B69D8F6-84BA-4CE6-9868-BCC4F0E7F1D4}"/>
                      </a:ext>
                    </a:extLst>
                  </p:cNvPr>
                  <p:cNvSpPr txBox="1">
                    <a:spLocks noRot="1" noChangeAspect="1" noMove="1" noResize="1" noEditPoints="1" noAdjustHandles="1" noChangeArrowheads="1" noChangeShapeType="1" noTextEdit="1"/>
                  </p:cNvSpPr>
                  <p:nvPr/>
                </p:nvSpPr>
                <p:spPr>
                  <a:xfrm>
                    <a:off x="8276856" y="1486891"/>
                    <a:ext cx="332369" cy="307777"/>
                  </a:xfrm>
                  <a:prstGeom prst="rect">
                    <a:avLst/>
                  </a:prstGeom>
                  <a:blipFill>
                    <a:blip r:embed="rId7"/>
                    <a:stretch>
                      <a:fillRect/>
                    </a:stretch>
                  </a:blipFill>
                </p:spPr>
                <p:txBody>
                  <a:bodyPr/>
                  <a:lstStyle/>
                  <a:p>
                    <a:r>
                      <a:rPr lang="zh-TW" altLang="en-US">
                        <a:noFill/>
                      </a:rPr>
                      <a:t> </a:t>
                    </a:r>
                  </a:p>
                </p:txBody>
              </p:sp>
            </mc:Fallback>
          </mc:AlternateContent>
        </p:grpSp>
      </p:grpSp>
      <p:grpSp>
        <p:nvGrpSpPr>
          <p:cNvPr id="10" name="群組 9">
            <a:extLst>
              <a:ext uri="{FF2B5EF4-FFF2-40B4-BE49-F238E27FC236}">
                <a16:creationId xmlns:a16="http://schemas.microsoft.com/office/drawing/2014/main" id="{F076E878-AEC7-4745-A52A-8D018051BE1B}"/>
              </a:ext>
            </a:extLst>
          </p:cNvPr>
          <p:cNvGrpSpPr/>
          <p:nvPr/>
        </p:nvGrpSpPr>
        <p:grpSpPr>
          <a:xfrm>
            <a:off x="7945169" y="2954874"/>
            <a:ext cx="2495598" cy="2026779"/>
            <a:chOff x="7945169" y="2954874"/>
            <a:chExt cx="2495598" cy="2026779"/>
          </a:xfrm>
        </p:grpSpPr>
        <p:pic>
          <p:nvPicPr>
            <p:cNvPr id="4" name="圖片 3">
              <a:extLst>
                <a:ext uri="{FF2B5EF4-FFF2-40B4-BE49-F238E27FC236}">
                  <a16:creationId xmlns:a16="http://schemas.microsoft.com/office/drawing/2014/main" id="{8068726C-9194-4471-A02B-4DED5BAA94E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130410" y="3090294"/>
              <a:ext cx="2172905" cy="1769696"/>
            </a:xfrm>
            <a:prstGeom prst="rect">
              <a:avLst/>
            </a:prstGeom>
          </p:spPr>
        </p:pic>
        <p:grpSp>
          <p:nvGrpSpPr>
            <p:cNvPr id="133" name="群組 132">
              <a:extLst>
                <a:ext uri="{FF2B5EF4-FFF2-40B4-BE49-F238E27FC236}">
                  <a16:creationId xmlns:a16="http://schemas.microsoft.com/office/drawing/2014/main" id="{05AB593D-3DDE-47C0-93D0-1FF33E1F6E12}"/>
                </a:ext>
              </a:extLst>
            </p:cNvPr>
            <p:cNvGrpSpPr/>
            <p:nvPr/>
          </p:nvGrpSpPr>
          <p:grpSpPr>
            <a:xfrm>
              <a:off x="7945169" y="2954874"/>
              <a:ext cx="2495598" cy="2026779"/>
              <a:chOff x="8018969" y="3442605"/>
              <a:chExt cx="2495598" cy="2026779"/>
            </a:xfrm>
          </p:grpSpPr>
          <p:grpSp>
            <p:nvGrpSpPr>
              <p:cNvPr id="111" name="群組 110">
                <a:extLst>
                  <a:ext uri="{FF2B5EF4-FFF2-40B4-BE49-F238E27FC236}">
                    <a16:creationId xmlns:a16="http://schemas.microsoft.com/office/drawing/2014/main" id="{B429A72B-68DB-41E5-9A77-601937261BE5}"/>
                  </a:ext>
                </a:extLst>
              </p:cNvPr>
              <p:cNvGrpSpPr/>
              <p:nvPr/>
            </p:nvGrpSpPr>
            <p:grpSpPr>
              <a:xfrm>
                <a:off x="8061395" y="3442605"/>
                <a:ext cx="2453172" cy="1971389"/>
                <a:chOff x="7393095" y="3875212"/>
                <a:chExt cx="2453172" cy="1971389"/>
              </a:xfrm>
            </p:grpSpPr>
            <p:grpSp>
              <p:nvGrpSpPr>
                <p:cNvPr id="110" name="群組 109">
                  <a:extLst>
                    <a:ext uri="{FF2B5EF4-FFF2-40B4-BE49-F238E27FC236}">
                      <a16:creationId xmlns:a16="http://schemas.microsoft.com/office/drawing/2014/main" id="{185FE1CC-FA74-495A-8F4C-C27BFA14E0E5}"/>
                    </a:ext>
                  </a:extLst>
                </p:cNvPr>
                <p:cNvGrpSpPr/>
                <p:nvPr/>
              </p:nvGrpSpPr>
              <p:grpSpPr>
                <a:xfrm>
                  <a:off x="7393095" y="3875212"/>
                  <a:ext cx="2388559" cy="1971389"/>
                  <a:chOff x="7393095" y="3875212"/>
                  <a:chExt cx="2388559" cy="1971389"/>
                </a:xfrm>
              </p:grpSpPr>
              <p:sp>
                <p:nvSpPr>
                  <p:cNvPr id="105" name="矩形 104">
                    <a:extLst>
                      <a:ext uri="{FF2B5EF4-FFF2-40B4-BE49-F238E27FC236}">
                        <a16:creationId xmlns:a16="http://schemas.microsoft.com/office/drawing/2014/main" id="{CEDE6DB8-73CE-4D0B-83CA-F007F7A25032}"/>
                      </a:ext>
                    </a:extLst>
                  </p:cNvPr>
                  <p:cNvSpPr/>
                  <p:nvPr/>
                </p:nvSpPr>
                <p:spPr>
                  <a:xfrm>
                    <a:off x="8253479" y="3875212"/>
                    <a:ext cx="277776" cy="2558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6" name="矩形 105">
                    <a:extLst>
                      <a:ext uri="{FF2B5EF4-FFF2-40B4-BE49-F238E27FC236}">
                        <a16:creationId xmlns:a16="http://schemas.microsoft.com/office/drawing/2014/main" id="{DCD55C8F-296C-4E3C-984F-6EDF4B36539C}"/>
                      </a:ext>
                    </a:extLst>
                  </p:cNvPr>
                  <p:cNvSpPr/>
                  <p:nvPr/>
                </p:nvSpPr>
                <p:spPr>
                  <a:xfrm>
                    <a:off x="7393095" y="4788351"/>
                    <a:ext cx="277776" cy="2108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7" name="矩形 106">
                    <a:extLst>
                      <a:ext uri="{FF2B5EF4-FFF2-40B4-BE49-F238E27FC236}">
                        <a16:creationId xmlns:a16="http://schemas.microsoft.com/office/drawing/2014/main" id="{CEA50DE1-0099-4B8E-B054-E2A2A728394C}"/>
                      </a:ext>
                    </a:extLst>
                  </p:cNvPr>
                  <p:cNvSpPr/>
                  <p:nvPr/>
                </p:nvSpPr>
                <p:spPr>
                  <a:xfrm>
                    <a:off x="8248334" y="5635762"/>
                    <a:ext cx="277776" cy="210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8" name="矩形 107">
                    <a:extLst>
                      <a:ext uri="{FF2B5EF4-FFF2-40B4-BE49-F238E27FC236}">
                        <a16:creationId xmlns:a16="http://schemas.microsoft.com/office/drawing/2014/main" id="{88D8E9D5-10C5-46A7-B1DD-C0FE37EAF05E}"/>
                      </a:ext>
                    </a:extLst>
                  </p:cNvPr>
                  <p:cNvSpPr/>
                  <p:nvPr/>
                </p:nvSpPr>
                <p:spPr>
                  <a:xfrm>
                    <a:off x="9147877" y="4788350"/>
                    <a:ext cx="221795" cy="210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9" name="矩形 108">
                    <a:extLst>
                      <a:ext uri="{FF2B5EF4-FFF2-40B4-BE49-F238E27FC236}">
                        <a16:creationId xmlns:a16="http://schemas.microsoft.com/office/drawing/2014/main" id="{2C626AEB-C80F-423D-A1AB-96EACC0012E6}"/>
                      </a:ext>
                    </a:extLst>
                  </p:cNvPr>
                  <p:cNvSpPr/>
                  <p:nvPr/>
                </p:nvSpPr>
                <p:spPr>
                  <a:xfrm>
                    <a:off x="9599653" y="4576159"/>
                    <a:ext cx="182001" cy="575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101" name="文字方塊 100">
                      <a:extLst>
                        <a:ext uri="{FF2B5EF4-FFF2-40B4-BE49-F238E27FC236}">
                          <a16:creationId xmlns:a16="http://schemas.microsoft.com/office/drawing/2014/main" id="{D20AA81C-7F37-4628-A13A-25DB08A1B0F2}"/>
                        </a:ext>
                      </a:extLst>
                    </p:cNvPr>
                    <p:cNvSpPr txBox="1"/>
                    <p:nvPr/>
                  </p:nvSpPr>
                  <p:spPr>
                    <a:xfrm rot="16200000">
                      <a:off x="8751500" y="4692980"/>
                      <a:ext cx="1912536" cy="276999"/>
                    </a:xfrm>
                    <a:prstGeom prst="rect">
                      <a:avLst/>
                    </a:prstGeom>
                    <a:noFill/>
                  </p:spPr>
                  <p:txBody>
                    <a:bodyPr wrap="square">
                      <a:spAutoFit/>
                    </a:bodyPr>
                    <a:lstStyle/>
                    <a:p>
                      <a:r>
                        <a:rPr lang="en-US" altLang="zh-TW" sz="1200" dirty="0">
                          <a:latin typeface="Times New Roman" panose="02020603050405020304" pitchFamily="18" charset="0"/>
                          <a:cs typeface="Times New Roman" panose="02020603050405020304" pitchFamily="18" charset="0"/>
                        </a:rPr>
                        <a:t>Efficiency index </a:t>
                      </a:r>
                      <a14:m>
                        <m:oMath xmlns:m="http://schemas.openxmlformats.org/officeDocument/2006/math">
                          <m:d>
                            <m:dPr>
                              <m:ctrlPr>
                                <a:rPr lang="en-US" altLang="zh-TW" sz="1200" i="1">
                                  <a:latin typeface="Cambria Math" panose="02040503050406030204" pitchFamily="18" charset="0"/>
                                  <a:cs typeface="Times New Roman" panose="02020603050405020304" pitchFamily="18" charset="0"/>
                                </a:rPr>
                              </m:ctrlPr>
                            </m:dPr>
                            <m:e>
                              <m:f>
                                <m:fPr>
                                  <m:type m:val="lin"/>
                                  <m:ctrlPr>
                                    <a:rPr lang="en-US" altLang="zh-TW" sz="1200" i="1">
                                      <a:latin typeface="Cambria Math" panose="02040503050406030204" pitchFamily="18" charset="0"/>
                                      <a:cs typeface="Times New Roman" panose="02020603050405020304" pitchFamily="18" charset="0"/>
                                    </a:rPr>
                                  </m:ctrlPr>
                                </m:fPr>
                                <m:num>
                                  <m:r>
                                    <a:rPr lang="en-US" altLang="zh-TW" sz="1200" i="1">
                                      <a:latin typeface="Cambria Math" panose="02040503050406030204" pitchFamily="18" charset="0"/>
                                      <a:cs typeface="Times New Roman" panose="02020603050405020304" pitchFamily="18" charset="0"/>
                                    </a:rPr>
                                    <m:t>𝑚𝑇</m:t>
                                  </m:r>
                                </m:num>
                                <m:den>
                                  <m:r>
                                    <a:rPr lang="en-US" altLang="zh-TW" sz="1200" i="1">
                                      <a:latin typeface="Cambria Math" panose="02040503050406030204" pitchFamily="18" charset="0"/>
                                      <a:cs typeface="Times New Roman" panose="02020603050405020304" pitchFamily="18" charset="0"/>
                                    </a:rPr>
                                    <m:t>𝐴</m:t>
                                  </m:r>
                                </m:den>
                              </m:f>
                            </m:e>
                          </m:d>
                        </m:oMath>
                      </a14:m>
                      <a:endParaRPr lang="zh-TW" altLang="en-US" sz="1200" dirty="0">
                        <a:latin typeface="Times New Roman" panose="02020603050405020304" pitchFamily="18" charset="0"/>
                        <a:cs typeface="Times New Roman" panose="02020603050405020304" pitchFamily="18" charset="0"/>
                      </a:endParaRPr>
                    </a:p>
                  </p:txBody>
                </p:sp>
              </mc:Choice>
              <mc:Fallback xmlns="">
                <p:sp>
                  <p:nvSpPr>
                    <p:cNvPr id="101" name="文字方塊 100">
                      <a:extLst>
                        <a:ext uri="{FF2B5EF4-FFF2-40B4-BE49-F238E27FC236}">
                          <a16:creationId xmlns:a16="http://schemas.microsoft.com/office/drawing/2014/main" id="{D20AA81C-7F37-4628-A13A-25DB08A1B0F2}"/>
                        </a:ext>
                      </a:extLst>
                    </p:cNvPr>
                    <p:cNvSpPr txBox="1">
                      <a:spLocks noRot="1" noChangeAspect="1" noMove="1" noResize="1" noEditPoints="1" noAdjustHandles="1" noChangeArrowheads="1" noChangeShapeType="1" noTextEdit="1"/>
                    </p:cNvSpPr>
                    <p:nvPr/>
                  </p:nvSpPr>
                  <p:spPr>
                    <a:xfrm rot="16200000">
                      <a:off x="8751500" y="4692980"/>
                      <a:ext cx="1912536" cy="276999"/>
                    </a:xfrm>
                    <a:prstGeom prst="rect">
                      <a:avLst/>
                    </a:prstGeom>
                    <a:blipFill>
                      <a:blip r:embed="rId9"/>
                      <a:stretch>
                        <a:fillRect l="-91304" t="-4153" r="-145652" b="-319"/>
                      </a:stretch>
                    </a:blipFill>
                  </p:spPr>
                  <p:txBody>
                    <a:bodyPr/>
                    <a:lstStyle/>
                    <a:p>
                      <a:r>
                        <a:rPr lang="zh-TW" altLang="en-US">
                          <a:noFill/>
                        </a:rPr>
                        <a:t> </a:t>
                      </a:r>
                    </a:p>
                  </p:txBody>
                </p:sp>
              </mc:Fallback>
            </mc:AlternateContent>
          </p:grpSp>
          <p:sp>
            <p:nvSpPr>
              <p:cNvPr id="127" name="文字方塊 126">
                <a:extLst>
                  <a:ext uri="{FF2B5EF4-FFF2-40B4-BE49-F238E27FC236}">
                    <a16:creationId xmlns:a16="http://schemas.microsoft.com/office/drawing/2014/main" id="{CDEC9209-7690-47D1-8032-24B7836DC655}"/>
                  </a:ext>
                </a:extLst>
              </p:cNvPr>
              <p:cNvSpPr txBox="1"/>
              <p:nvPr/>
            </p:nvSpPr>
            <p:spPr>
              <a:xfrm>
                <a:off x="8018969" y="4254970"/>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28" name="文字方塊 127">
                <a:extLst>
                  <a:ext uri="{FF2B5EF4-FFF2-40B4-BE49-F238E27FC236}">
                    <a16:creationId xmlns:a16="http://schemas.microsoft.com/office/drawing/2014/main" id="{D74981A4-1E26-4DB7-83C6-33379484CDF8}"/>
                  </a:ext>
                </a:extLst>
              </p:cNvPr>
              <p:cNvSpPr txBox="1"/>
              <p:nvPr/>
            </p:nvSpPr>
            <p:spPr>
              <a:xfrm>
                <a:off x="8906027" y="3476605"/>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29" name="文字方塊 128">
                <a:extLst>
                  <a:ext uri="{FF2B5EF4-FFF2-40B4-BE49-F238E27FC236}">
                    <a16:creationId xmlns:a16="http://schemas.microsoft.com/office/drawing/2014/main" id="{8962DFBE-B504-4F5F-A4F2-59323633F711}"/>
                  </a:ext>
                </a:extLst>
              </p:cNvPr>
              <p:cNvSpPr txBox="1"/>
              <p:nvPr/>
            </p:nvSpPr>
            <p:spPr>
              <a:xfrm>
                <a:off x="8906027" y="5161607"/>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30" name="文字方塊 129">
                <a:extLst>
                  <a:ext uri="{FF2B5EF4-FFF2-40B4-BE49-F238E27FC236}">
                    <a16:creationId xmlns:a16="http://schemas.microsoft.com/office/drawing/2014/main" id="{DA7B902F-473B-42D1-B8E1-2790BCFA74C8}"/>
                  </a:ext>
                </a:extLst>
              </p:cNvPr>
              <p:cNvSpPr txBox="1"/>
              <p:nvPr/>
            </p:nvSpPr>
            <p:spPr>
              <a:xfrm>
                <a:off x="9745876" y="4408859"/>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31" name="文字方塊 130">
                    <a:extLst>
                      <a:ext uri="{FF2B5EF4-FFF2-40B4-BE49-F238E27FC236}">
                        <a16:creationId xmlns:a16="http://schemas.microsoft.com/office/drawing/2014/main" id="{A1426993-665E-4AF4-BC9A-4D892A836CB1}"/>
                      </a:ext>
                    </a:extLst>
                  </p:cNvPr>
                  <p:cNvSpPr txBox="1"/>
                  <p:nvPr/>
                </p:nvSpPr>
                <p:spPr>
                  <a:xfrm>
                    <a:off x="9205841" y="4377825"/>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𝐲</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31" name="文字方塊 130">
                    <a:extLst>
                      <a:ext uri="{FF2B5EF4-FFF2-40B4-BE49-F238E27FC236}">
                        <a16:creationId xmlns:a16="http://schemas.microsoft.com/office/drawing/2014/main" id="{A1426993-665E-4AF4-BC9A-4D892A836CB1}"/>
                      </a:ext>
                    </a:extLst>
                  </p:cNvPr>
                  <p:cNvSpPr txBox="1">
                    <a:spLocks noRot="1" noChangeAspect="1" noMove="1" noResize="1" noEditPoints="1" noAdjustHandles="1" noChangeArrowheads="1" noChangeShapeType="1" noTextEdit="1"/>
                  </p:cNvSpPr>
                  <p:nvPr/>
                </p:nvSpPr>
                <p:spPr>
                  <a:xfrm>
                    <a:off x="9205841" y="4377825"/>
                    <a:ext cx="332369" cy="307777"/>
                  </a:xfrm>
                  <a:prstGeom prst="rect">
                    <a:avLst/>
                  </a:prstGeom>
                  <a:blipFill>
                    <a:blip r:embed="rId14"/>
                    <a:stretch>
                      <a:fillRect b="-196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2" name="文字方塊 131">
                    <a:extLst>
                      <a:ext uri="{FF2B5EF4-FFF2-40B4-BE49-F238E27FC236}">
                        <a16:creationId xmlns:a16="http://schemas.microsoft.com/office/drawing/2014/main" id="{06B8C82E-92F7-445B-99DE-A74AF1C2956D}"/>
                      </a:ext>
                    </a:extLst>
                  </p:cNvPr>
                  <p:cNvSpPr txBox="1"/>
                  <p:nvPr/>
                </p:nvSpPr>
                <p:spPr>
                  <a:xfrm>
                    <a:off x="8829736" y="3889488"/>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𝐳</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32" name="文字方塊 131">
                    <a:extLst>
                      <a:ext uri="{FF2B5EF4-FFF2-40B4-BE49-F238E27FC236}">
                        <a16:creationId xmlns:a16="http://schemas.microsoft.com/office/drawing/2014/main" id="{06B8C82E-92F7-445B-99DE-A74AF1C2956D}"/>
                      </a:ext>
                    </a:extLst>
                  </p:cNvPr>
                  <p:cNvSpPr txBox="1">
                    <a:spLocks noRot="1" noChangeAspect="1" noMove="1" noResize="1" noEditPoints="1" noAdjustHandles="1" noChangeArrowheads="1" noChangeShapeType="1" noTextEdit="1"/>
                  </p:cNvSpPr>
                  <p:nvPr/>
                </p:nvSpPr>
                <p:spPr>
                  <a:xfrm>
                    <a:off x="8829736" y="3889488"/>
                    <a:ext cx="332369" cy="307777"/>
                  </a:xfrm>
                  <a:prstGeom prst="rect">
                    <a:avLst/>
                  </a:prstGeom>
                  <a:blipFill>
                    <a:blip r:embed="rId7"/>
                    <a:stretch>
                      <a:fillRect/>
                    </a:stretch>
                  </a:blipFill>
                </p:spPr>
                <p:txBody>
                  <a:bodyPr/>
                  <a:lstStyle/>
                  <a:p>
                    <a:r>
                      <a:rPr lang="zh-TW" altLang="en-US">
                        <a:noFill/>
                      </a:rPr>
                      <a:t> </a:t>
                    </a:r>
                  </a:p>
                </p:txBody>
              </p:sp>
            </mc:Fallback>
          </mc:AlternateContent>
        </p:grpSp>
      </p:grpSp>
      <p:sp>
        <p:nvSpPr>
          <p:cNvPr id="67" name="auto caption">
            <a:extLst>
              <a:ext uri="{FF2B5EF4-FFF2-40B4-BE49-F238E27FC236}">
                <a16:creationId xmlns:a16="http://schemas.microsoft.com/office/drawing/2014/main" id="{B939D688-74BF-48DD-B637-E4F31386B5C8}"/>
              </a:ext>
            </a:extLst>
          </p:cNvPr>
          <p:cNvSpPr txBox="1"/>
          <p:nvPr/>
        </p:nvSpPr>
        <p:spPr>
          <a:xfrm>
            <a:off x="153910" y="885799"/>
            <a:ext cx="6375566" cy="5862134"/>
          </a:xfrm>
          <a:prstGeom prst="rect">
            <a:avLst/>
          </a:prstGeom>
          <a:noFill/>
        </p:spPr>
        <p:txBody>
          <a:bodyPr wrap="square" rtlCol="0">
            <a:normAutofit/>
          </a:bodyPr>
          <a:lstStyle/>
          <a:p>
            <a:pPr marL="285750" indent="-285750">
              <a:buFont typeface="Wingdings" panose="05000000000000000000" pitchFamily="2" charset="2"/>
              <a:buChar char="l"/>
            </a:pPr>
            <a:endParaRPr lang="en-US" altLang="zh-TW" sz="1600" dirty="0"/>
          </a:p>
        </p:txBody>
      </p:sp>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FF6E37D5-9B05-4154-8B17-473DC3D8C9E7}"/>
                  </a:ext>
                </a:extLst>
              </p:cNvPr>
              <p:cNvSpPr txBox="1"/>
              <p:nvPr/>
            </p:nvSpPr>
            <p:spPr>
              <a:xfrm>
                <a:off x="153910" y="940322"/>
                <a:ext cx="6656431" cy="5078313"/>
              </a:xfrm>
              <a:prstGeom prst="rect">
                <a:avLst/>
              </a:prstGeom>
              <a:noFill/>
            </p:spPr>
            <p:txBody>
              <a:bodyPr wrap="square" rtlCol="0">
                <a:spAutoFit/>
              </a:bodyPr>
              <a:lstStyle/>
              <a:p>
                <a:pPr marL="285750" indent="-285750">
                  <a:buFont typeface="Wingdings" panose="05000000000000000000" pitchFamily="2" charset="2"/>
                  <a:buChar char="l"/>
                </a:pPr>
                <a:r>
                  <a:rPr lang="en-US" altLang="zh-TW" dirty="0"/>
                  <a:t>The efficiency index </a:t>
                </a:r>
                <a:r>
                  <a:rPr lang="zh-TW" altLang="en-US" dirty="0"/>
                  <a:t>𝒞 </a:t>
                </a:r>
                <a:r>
                  <a:rPr lang="en-US" altLang="zh-TW" dirty="0"/>
                  <a:t>for the tweezer is mapped on three mutually orthogonal actuator planes through the origin (</a:t>
                </a:r>
                <a14:m>
                  <m:oMath xmlns:m="http://schemas.openxmlformats.org/officeDocument/2006/math">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𝑥</m:t>
                            </m:r>
                          </m:e>
                        </m:acc>
                      </m:e>
                      <m:sub>
                        <m:r>
                          <a:rPr lang="en-US" altLang="zh-TW" b="0" i="1" smtClean="0">
                            <a:latin typeface="Cambria Math" panose="02040503050406030204" pitchFamily="18" charset="0"/>
                          </a:rPr>
                          <m:t>𝑎</m:t>
                        </m:r>
                      </m:sub>
                    </m:sSub>
                  </m:oMath>
                </a14:m>
                <a:r>
                  <a:rPr lang="en-US" altLang="zh-TW" dirty="0"/>
                  <a:t>–</a:t>
                </a:r>
                <a14:m>
                  <m:oMath xmlns:m="http://schemas.openxmlformats.org/officeDocument/2006/math">
                    <m:sSub>
                      <m:sSubPr>
                        <m:ctrlPr>
                          <a:rPr lang="en-US" altLang="zh-TW" i="1">
                            <a:latin typeface="Cambria Math" panose="02040503050406030204" pitchFamily="18" charset="0"/>
                          </a:rPr>
                        </m:ctrlPr>
                      </m:sSubPr>
                      <m:e>
                        <m:acc>
                          <m:accPr>
                            <m:chr m:val="̂"/>
                            <m:ctrlPr>
                              <a:rPr lang="en-US" altLang="zh-TW" i="1">
                                <a:latin typeface="Cambria Math" panose="02040503050406030204" pitchFamily="18" charset="0"/>
                              </a:rPr>
                            </m:ctrlPr>
                          </m:accPr>
                          <m:e>
                            <m:r>
                              <a:rPr lang="en-US" altLang="zh-TW" b="0" i="1" smtClean="0">
                                <a:latin typeface="Cambria Math" panose="02040503050406030204" pitchFamily="18" charset="0"/>
                              </a:rPr>
                              <m:t>𝑦</m:t>
                            </m:r>
                          </m:e>
                        </m:acc>
                      </m:e>
                      <m:sub>
                        <m:r>
                          <a:rPr lang="en-US" altLang="zh-TW" i="1">
                            <a:latin typeface="Cambria Math" panose="02040503050406030204" pitchFamily="18" charset="0"/>
                          </a:rPr>
                          <m:t>𝑎</m:t>
                        </m:r>
                      </m:sub>
                    </m:sSub>
                  </m:oMath>
                </a14:m>
                <a:r>
                  <a:rPr lang="en-US" altLang="zh-TW" dirty="0"/>
                  <a:t>, </a:t>
                </a:r>
                <a14:m>
                  <m:oMath xmlns:m="http://schemas.openxmlformats.org/officeDocument/2006/math">
                    <m:sSub>
                      <m:sSubPr>
                        <m:ctrlPr>
                          <a:rPr lang="en-US" altLang="zh-TW" i="1">
                            <a:latin typeface="Cambria Math" panose="02040503050406030204" pitchFamily="18" charset="0"/>
                          </a:rPr>
                        </m:ctrlPr>
                      </m:sSubPr>
                      <m:e>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𝑥</m:t>
                            </m:r>
                          </m:e>
                        </m:acc>
                      </m:e>
                      <m:sub>
                        <m:r>
                          <a:rPr lang="en-US" altLang="zh-TW" i="1">
                            <a:latin typeface="Cambria Math" panose="02040503050406030204" pitchFamily="18" charset="0"/>
                          </a:rPr>
                          <m:t>𝑎</m:t>
                        </m:r>
                      </m:sub>
                    </m:sSub>
                  </m:oMath>
                </a14:m>
                <a:r>
                  <a:rPr lang="en-US" altLang="zh-TW" dirty="0"/>
                  <a:t>–</a:t>
                </a:r>
                <a14:m>
                  <m:oMath xmlns:m="http://schemas.openxmlformats.org/officeDocument/2006/math">
                    <m:sSub>
                      <m:sSubPr>
                        <m:ctrlPr>
                          <a:rPr lang="en-US" altLang="zh-TW" i="1">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𝑧</m:t>
                            </m:r>
                          </m:e>
                        </m:acc>
                      </m:e>
                      <m:sub>
                        <m:r>
                          <a:rPr lang="en-US" altLang="zh-TW" i="1">
                            <a:latin typeface="Cambria Math" panose="02040503050406030204" pitchFamily="18" charset="0"/>
                          </a:rPr>
                          <m:t>𝑎</m:t>
                        </m:r>
                      </m:sub>
                    </m:sSub>
                  </m:oMath>
                </a14:m>
                <a:r>
                  <a:rPr lang="en-US" altLang="zh-TW" dirty="0"/>
                  <a:t>, </a:t>
                </a:r>
                <a14:m>
                  <m:oMath xmlns:m="http://schemas.openxmlformats.org/officeDocument/2006/math">
                    <m:sSub>
                      <m:sSubPr>
                        <m:ctrlPr>
                          <a:rPr lang="en-US" altLang="zh-TW" i="1">
                            <a:latin typeface="Cambria Math" panose="02040503050406030204" pitchFamily="18" charset="0"/>
                          </a:rPr>
                        </m:ctrlPr>
                      </m:sSubPr>
                      <m:e>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𝑦</m:t>
                            </m:r>
                          </m:e>
                        </m:acc>
                      </m:e>
                      <m:sub>
                        <m:r>
                          <a:rPr lang="en-US" altLang="zh-TW" i="1">
                            <a:latin typeface="Cambria Math" panose="02040503050406030204" pitchFamily="18" charset="0"/>
                          </a:rPr>
                          <m:t>𝑎</m:t>
                        </m:r>
                      </m:sub>
                    </m:sSub>
                  </m:oMath>
                </a14:m>
                <a:r>
                  <a:rPr lang="en-US" altLang="zh-TW" dirty="0"/>
                  <a:t>–</a:t>
                </a:r>
                <a14:m>
                  <m:oMath xmlns:m="http://schemas.openxmlformats.org/officeDocument/2006/math">
                    <m:sSub>
                      <m:sSubPr>
                        <m:ctrlPr>
                          <a:rPr lang="en-US" altLang="zh-TW" i="1">
                            <a:latin typeface="Cambria Math" panose="02040503050406030204" pitchFamily="18" charset="0"/>
                          </a:rPr>
                        </m:ctrlPr>
                      </m:sSubPr>
                      <m:e>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𝑧</m:t>
                            </m:r>
                          </m:e>
                        </m:acc>
                      </m:e>
                      <m:sub>
                        <m:r>
                          <a:rPr lang="en-US" altLang="zh-TW" i="1">
                            <a:latin typeface="Cambria Math" panose="02040503050406030204" pitchFamily="18" charset="0"/>
                          </a:rPr>
                          <m:t>𝑎</m:t>
                        </m:r>
                      </m:sub>
                    </m:sSub>
                  </m:oMath>
                </a14:m>
                <a:r>
                  <a:rPr lang="en-US" altLang="zh-TW" dirty="0"/>
                  <a:t>). The model is calibrated on the converged design within R ≤ 150 µm, then evaluated point by point out to the pole-tip sphere at R = 500 µm; the two pole pairs lying in each plane are marked on the rim.</a:t>
                </a:r>
              </a:p>
              <a:p>
                <a:pPr marL="285750" indent="-285750">
                  <a:buFont typeface="Wingdings" panose="05000000000000000000" pitchFamily="2" charset="2"/>
                  <a:buChar char="l"/>
                </a:pPr>
                <a:r>
                  <a:rPr lang="zh-TW" altLang="en-US" dirty="0"/>
                  <a:t>𝒞 </a:t>
                </a:r>
                <a:r>
                  <a:rPr lang="en-US" altLang="zh-TW" dirty="0"/>
                  <a:t>peaks on the rim along the pole directions (16.7–17.3 </a:t>
                </a:r>
                <a:r>
                  <a:rPr lang="en-US" altLang="zh-TW" dirty="0" err="1"/>
                  <a:t>mT</a:t>
                </a:r>
                <a:r>
                  <a:rPr lang="en-US" altLang="zh-TW" dirty="0"/>
                  <a:t>/A) and bottoms out on the rim between poles (13.2–13.3 mT/A), while the </a:t>
                </a:r>
                <a:r>
                  <a:rPr lang="en-US" altLang="zh-TW" dirty="0" err="1"/>
                  <a:t>centre</a:t>
                </a:r>
                <a:r>
                  <a:rPr lang="en-US" altLang="zh-TW" dirty="0"/>
                  <a:t> sits at 14.39 </a:t>
                </a:r>
                <a:r>
                  <a:rPr lang="en-US" altLang="zh-TW" dirty="0" err="1"/>
                  <a:t>mT</a:t>
                </a:r>
                <a:r>
                  <a:rPr lang="en-US" altLang="zh-TW" dirty="0"/>
                  <a:t>/A and is identical on all three planes. Along a pole axis </a:t>
                </a:r>
                <a:r>
                  <a:rPr lang="zh-TW" altLang="en-US" dirty="0"/>
                  <a:t>𝒞 </a:t>
                </a:r>
                <a:r>
                  <a:rPr lang="en-US" altLang="zh-TW" dirty="0"/>
                  <a:t>therefore rises monotonically with radius, but between poles it rises then falls, so the weakest actuation in the workspace lies on the rim between poles rather than at the </a:t>
                </a:r>
                <a:r>
                  <a:rPr lang="en-US" altLang="zh-TW" dirty="0" err="1"/>
                  <a:t>centre</a:t>
                </a:r>
                <a:r>
                  <a:rPr lang="en-US" altLang="zh-TW" dirty="0"/>
                  <a:t> — the </a:t>
                </a:r>
                <a:r>
                  <a:rPr lang="en-US" altLang="zh-TW" dirty="0" err="1"/>
                  <a:t>centre</a:t>
                </a:r>
                <a:r>
                  <a:rPr lang="en-US" altLang="zh-TW" dirty="0"/>
                  <a:t> is the most uniform point, not the weakest. The four lobes are not equal in strength: the lower poles P1/P3/P6 reach ≈16.69 and the upper poles P2/P4/P5 ≈17.31, a 3.7 % difference, and the arrangement of strong lobes differs on </a:t>
                </a:r>
                <a14:m>
                  <m:oMath xmlns:m="http://schemas.openxmlformats.org/officeDocument/2006/math">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𝑥</m:t>
                            </m:r>
                          </m:e>
                        </m:acc>
                      </m:e>
                      <m:sub>
                        <m:r>
                          <a:rPr lang="en-US" altLang="zh-TW" b="0" i="1" smtClean="0">
                            <a:latin typeface="Cambria Math" panose="02040503050406030204" pitchFamily="18" charset="0"/>
                          </a:rPr>
                          <m:t>𝑎</m:t>
                        </m:r>
                      </m:sub>
                    </m:sSub>
                  </m:oMath>
                </a14:m>
                <a:r>
                  <a:rPr lang="en-US" altLang="zh-TW" dirty="0"/>
                  <a:t>–</a:t>
                </a:r>
                <a14:m>
                  <m:oMath xmlns:m="http://schemas.openxmlformats.org/officeDocument/2006/math">
                    <m:sSub>
                      <m:sSubPr>
                        <m:ctrlPr>
                          <a:rPr lang="en-US" altLang="zh-TW" i="1">
                            <a:latin typeface="Cambria Math" panose="02040503050406030204" pitchFamily="18" charset="0"/>
                          </a:rPr>
                        </m:ctrlPr>
                      </m:sSubPr>
                      <m:e>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𝑦</m:t>
                            </m:r>
                          </m:e>
                        </m:acc>
                      </m:e>
                      <m:sub>
                        <m:r>
                          <a:rPr lang="en-US" altLang="zh-TW" i="1">
                            <a:latin typeface="Cambria Math" panose="02040503050406030204" pitchFamily="18" charset="0"/>
                          </a:rPr>
                          <m:t>𝑎</m:t>
                        </m:r>
                      </m:sub>
                    </m:sSub>
                  </m:oMath>
                </a14:m>
                <a:r>
                  <a:rPr lang="en-US" altLang="zh-TW" dirty="0"/>
                  <a:t> from the other two planes — a direct signature of the upper/lower asymmetry of Long's half-cut geometry.</a:t>
                </a:r>
                <a:endParaRPr lang="zh-TW" altLang="en-US" dirty="0"/>
              </a:p>
            </p:txBody>
          </p:sp>
        </mc:Choice>
        <mc:Fallback xmlns="">
          <p:sp>
            <p:nvSpPr>
              <p:cNvPr id="3" name="文字方塊 2">
                <a:extLst>
                  <a:ext uri="{FF2B5EF4-FFF2-40B4-BE49-F238E27FC236}">
                    <a16:creationId xmlns:a16="http://schemas.microsoft.com/office/drawing/2014/main" id="{FF6E37D5-9B05-4154-8B17-473DC3D8C9E7}"/>
                  </a:ext>
                </a:extLst>
              </p:cNvPr>
              <p:cNvSpPr txBox="1">
                <a:spLocks noRot="1" noChangeAspect="1" noMove="1" noResize="1" noEditPoints="1" noAdjustHandles="1" noChangeArrowheads="1" noChangeShapeType="1" noTextEdit="1"/>
              </p:cNvSpPr>
              <p:nvPr/>
            </p:nvSpPr>
            <p:spPr>
              <a:xfrm>
                <a:off x="153910" y="940322"/>
                <a:ext cx="6656431" cy="5078313"/>
              </a:xfrm>
              <a:prstGeom prst="rect">
                <a:avLst/>
              </a:prstGeom>
              <a:blipFill>
                <a:blip r:embed="rId15"/>
                <a:stretch>
                  <a:fillRect l="-549" t="-840" r="-1374" b="-96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8" name="文字方塊 67">
                <a:extLst>
                  <a:ext uri="{FF2B5EF4-FFF2-40B4-BE49-F238E27FC236}">
                    <a16:creationId xmlns:a16="http://schemas.microsoft.com/office/drawing/2014/main" id="{3A2E0BCF-EE50-4D66-961B-71192CC22957}"/>
                  </a:ext>
                </a:extLst>
              </p:cNvPr>
              <p:cNvSpPr txBox="1"/>
              <p:nvPr/>
            </p:nvSpPr>
            <p:spPr>
              <a:xfrm rot="16200000">
                <a:off x="9886164" y="1456765"/>
                <a:ext cx="1854705" cy="276999"/>
              </a:xfrm>
              <a:prstGeom prst="rect">
                <a:avLst/>
              </a:prstGeom>
              <a:noFill/>
            </p:spPr>
            <p:txBody>
              <a:bodyPr wrap="square">
                <a:spAutoFit/>
              </a:bodyPr>
              <a:lstStyle/>
              <a:p>
                <a:r>
                  <a:rPr lang="en-US" altLang="zh-TW" sz="1200" dirty="0">
                    <a:latin typeface="Times New Roman" panose="02020603050405020304" pitchFamily="18" charset="0"/>
                    <a:cs typeface="Times New Roman" panose="02020603050405020304" pitchFamily="18" charset="0"/>
                  </a:rPr>
                  <a:t>Efficiency index </a:t>
                </a:r>
                <a14:m>
                  <m:oMath xmlns:m="http://schemas.openxmlformats.org/officeDocument/2006/math">
                    <m:d>
                      <m:dPr>
                        <m:ctrlPr>
                          <a:rPr lang="en-US" altLang="zh-TW" sz="1200" i="1" smtClean="0">
                            <a:latin typeface="Cambria Math" panose="02040503050406030204" pitchFamily="18" charset="0"/>
                            <a:cs typeface="Times New Roman" panose="02020603050405020304" pitchFamily="18" charset="0"/>
                          </a:rPr>
                        </m:ctrlPr>
                      </m:dPr>
                      <m:e>
                        <m:f>
                          <m:fPr>
                            <m:type m:val="lin"/>
                            <m:ctrlPr>
                              <a:rPr lang="en-US" altLang="zh-TW" sz="1200" i="1" smtClean="0">
                                <a:latin typeface="Cambria Math" panose="02040503050406030204" pitchFamily="18" charset="0"/>
                                <a:cs typeface="Times New Roman" panose="02020603050405020304" pitchFamily="18" charset="0"/>
                              </a:rPr>
                            </m:ctrlPr>
                          </m:fPr>
                          <m:num>
                            <m:r>
                              <a:rPr lang="en-US" altLang="zh-TW" sz="1200" b="0" i="1" smtClean="0">
                                <a:latin typeface="Cambria Math" panose="02040503050406030204" pitchFamily="18" charset="0"/>
                                <a:cs typeface="Times New Roman" panose="02020603050405020304" pitchFamily="18" charset="0"/>
                              </a:rPr>
                              <m:t>𝑚𝑇</m:t>
                            </m:r>
                          </m:num>
                          <m:den>
                            <m:r>
                              <a:rPr lang="en-US" altLang="zh-TW" sz="1200" b="0" i="1" smtClean="0">
                                <a:latin typeface="Cambria Math" panose="02040503050406030204" pitchFamily="18" charset="0"/>
                                <a:cs typeface="Times New Roman" panose="02020603050405020304" pitchFamily="18" charset="0"/>
                              </a:rPr>
                              <m:t>𝐴</m:t>
                            </m:r>
                          </m:den>
                        </m:f>
                      </m:e>
                    </m:d>
                  </m:oMath>
                </a14:m>
                <a:endParaRPr lang="zh-TW" altLang="en-US" sz="1400" dirty="0">
                  <a:latin typeface="Times New Roman" panose="02020603050405020304" pitchFamily="18" charset="0"/>
                  <a:cs typeface="Times New Roman" panose="02020603050405020304" pitchFamily="18" charset="0"/>
                </a:endParaRPr>
              </a:p>
            </p:txBody>
          </p:sp>
        </mc:Choice>
        <mc:Fallback xmlns="">
          <p:sp>
            <p:nvSpPr>
              <p:cNvPr id="68" name="文字方塊 67">
                <a:extLst>
                  <a:ext uri="{FF2B5EF4-FFF2-40B4-BE49-F238E27FC236}">
                    <a16:creationId xmlns:a16="http://schemas.microsoft.com/office/drawing/2014/main" id="{3A2E0BCF-EE50-4D66-961B-71192CC22957}"/>
                  </a:ext>
                </a:extLst>
              </p:cNvPr>
              <p:cNvSpPr txBox="1">
                <a:spLocks noRot="1" noChangeAspect="1" noMove="1" noResize="1" noEditPoints="1" noAdjustHandles="1" noChangeArrowheads="1" noChangeShapeType="1" noTextEdit="1"/>
              </p:cNvSpPr>
              <p:nvPr/>
            </p:nvSpPr>
            <p:spPr>
              <a:xfrm rot="16200000">
                <a:off x="9886164" y="1456765"/>
                <a:ext cx="1854705" cy="276999"/>
              </a:xfrm>
              <a:prstGeom prst="rect">
                <a:avLst/>
              </a:prstGeom>
              <a:blipFill>
                <a:blip r:embed="rId16"/>
                <a:stretch>
                  <a:fillRect l="-91304" t="-7566" r="-145652"/>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52081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488031"/>
            <a:ext cx="12192000" cy="193506"/>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6" name="文字方塊 15">
            <a:extLst>
              <a:ext uri="{FF2B5EF4-FFF2-40B4-BE49-F238E27FC236}">
                <a16:creationId xmlns:a16="http://schemas.microsoft.com/office/drawing/2014/main" id="{6BA9955A-92B3-406A-93D9-E13D8B8C100E}"/>
              </a:ext>
            </a:extLst>
          </p:cNvPr>
          <p:cNvSpPr txBox="1"/>
          <p:nvPr/>
        </p:nvSpPr>
        <p:spPr>
          <a:xfrm>
            <a:off x="118533" y="516467"/>
            <a:ext cx="3588625" cy="369332"/>
          </a:xfrm>
          <a:prstGeom prst="rect">
            <a:avLst/>
          </a:prstGeom>
          <a:noFill/>
        </p:spPr>
        <p:txBody>
          <a:bodyPr wrap="square" rtlCol="0">
            <a:spAutoFit/>
          </a:bodyPr>
          <a:lstStyle/>
          <a:p>
            <a:pPr marL="285750" indent="-285750">
              <a:buFont typeface="Wingdings" panose="05000000000000000000" pitchFamily="2" charset="2"/>
              <a:buChar char="Ø"/>
            </a:pPr>
            <a:r>
              <a:rPr lang="en-US" altLang="zh-TW" dirty="0"/>
              <a:t>Long</a:t>
            </a:r>
            <a:endParaRPr lang="zh-TW" altLang="en-US" dirty="0"/>
          </a:p>
        </p:txBody>
      </p:sp>
      <p:sp>
        <p:nvSpPr>
          <p:cNvPr id="35" name="矩形 34">
            <a:extLst>
              <a:ext uri="{FF2B5EF4-FFF2-40B4-BE49-F238E27FC236}">
                <a16:creationId xmlns:a16="http://schemas.microsoft.com/office/drawing/2014/main" id="{22C1E112-AE50-46DC-8251-D6D5E0450AA8}"/>
              </a:ext>
            </a:extLst>
          </p:cNvPr>
          <p:cNvSpPr/>
          <p:nvPr/>
        </p:nvSpPr>
        <p:spPr>
          <a:xfrm>
            <a:off x="8927424"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矩形 44">
            <a:extLst>
              <a:ext uri="{FF2B5EF4-FFF2-40B4-BE49-F238E27FC236}">
                <a16:creationId xmlns:a16="http://schemas.microsoft.com/office/drawing/2014/main" id="{A7AC5CB5-ED89-4E3E-AD62-78E3BA5A407F}"/>
              </a:ext>
            </a:extLst>
          </p:cNvPr>
          <p:cNvSpPr/>
          <p:nvPr/>
        </p:nvSpPr>
        <p:spPr>
          <a:xfrm>
            <a:off x="6279842"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45">
            <a:extLst>
              <a:ext uri="{FF2B5EF4-FFF2-40B4-BE49-F238E27FC236}">
                <a16:creationId xmlns:a16="http://schemas.microsoft.com/office/drawing/2014/main" id="{ECFCDEC8-6D9E-4F90-9164-5AFC45503F9D}"/>
              </a:ext>
            </a:extLst>
          </p:cNvPr>
          <p:cNvSpPr/>
          <p:nvPr/>
        </p:nvSpPr>
        <p:spPr>
          <a:xfrm>
            <a:off x="5541053" y="1762316"/>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矩形 46">
            <a:extLst>
              <a:ext uri="{FF2B5EF4-FFF2-40B4-BE49-F238E27FC236}">
                <a16:creationId xmlns:a16="http://schemas.microsoft.com/office/drawing/2014/main" id="{42375863-2208-49BC-A294-DC35BC7C0E6F}"/>
              </a:ext>
            </a:extLst>
          </p:cNvPr>
          <p:cNvSpPr/>
          <p:nvPr/>
        </p:nvSpPr>
        <p:spPr>
          <a:xfrm>
            <a:off x="6592957" y="246968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64" name="文字方塊 63">
                <a:extLst>
                  <a:ext uri="{FF2B5EF4-FFF2-40B4-BE49-F238E27FC236}">
                    <a16:creationId xmlns:a16="http://schemas.microsoft.com/office/drawing/2014/main" id="{5B421D71-8641-46AC-AFEE-B118C73A4CD4}"/>
                  </a:ext>
                </a:extLst>
              </p:cNvPr>
              <p:cNvSpPr txBox="1"/>
              <p:nvPr/>
            </p:nvSpPr>
            <p:spPr>
              <a:xfrm>
                <a:off x="186061" y="950588"/>
                <a:ext cx="6176432" cy="4801314"/>
              </a:xfrm>
              <a:prstGeom prst="rect">
                <a:avLst/>
              </a:prstGeom>
              <a:noFill/>
            </p:spPr>
            <p:txBody>
              <a:bodyPr wrap="square">
                <a:spAutoFit/>
              </a:bodyPr>
              <a:lstStyle/>
              <a:p>
                <a:pPr marL="285750" indent="-285750">
                  <a:buFont typeface="Arial" panose="020B0604020202020204" pitchFamily="34" charset="0"/>
                  <a:buChar char="•"/>
                </a:pPr>
                <a:r>
                  <a:rPr lang="en-US" altLang="zh-TW" dirty="0"/>
                  <a:t>Same three actuator planes and the same calibrated model as the previous slide, now mapping isotropy </a:t>
                </a:r>
                <a14:m>
                  <m:oMath xmlns:m="http://schemas.openxmlformats.org/officeDocument/2006/math">
                    <m:r>
                      <a:rPr lang="zh-TW" altLang="en-US" i="1" smtClean="0">
                        <a:latin typeface="Cambria Math" panose="02040503050406030204" pitchFamily="18" charset="0"/>
                      </a:rPr>
                      <m:t>𝜅</m:t>
                    </m:r>
                  </m:oMath>
                </a14:m>
                <a:r>
                  <a:rPr lang="en-US" altLang="zh-TW" dirty="0"/>
                  <a:t> = σ₃/σ₁ (dimensionless, </a:t>
                </a:r>
                <a:r>
                  <a:rPr lang="en-US" altLang="zh-TW" dirty="0" err="1"/>
                  <a:t>colour</a:t>
                </a:r>
                <a:r>
                  <a:rPr lang="en-US" altLang="zh-TW" dirty="0"/>
                  <a:t> scale 0–1). It is again evaluated point by point out to the pole-tip sphere at R = 500 µm, with the in-plane pole pairs marked on the rim.</a:t>
                </a:r>
              </a:p>
              <a:p>
                <a:pPr marL="285750" indent="-285750">
                  <a:buFont typeface="Arial" panose="020B0604020202020204" pitchFamily="34" charset="0"/>
                  <a:buChar char="•"/>
                </a:pPr>
                <a14:m>
                  <m:oMath xmlns:m="http://schemas.openxmlformats.org/officeDocument/2006/math">
                    <m:r>
                      <a:rPr lang="zh-TW" altLang="en-US" i="1" smtClean="0">
                        <a:latin typeface="Cambria Math" panose="02040503050406030204" pitchFamily="18" charset="0"/>
                      </a:rPr>
                      <m:t>𝜅</m:t>
                    </m:r>
                  </m:oMath>
                </a14:m>
                <a:r>
                  <a:rPr lang="en-US" altLang="zh-TW" dirty="0"/>
                  <a:t> is close to 1 at the </a:t>
                </a:r>
                <a:r>
                  <a:rPr lang="en-US" altLang="zh-TW" dirty="0" err="1"/>
                  <a:t>centre</a:t>
                </a:r>
                <a:r>
                  <a:rPr lang="en-US" altLang="zh-TW" dirty="0"/>
                  <a:t> and decays outwards, staying above 0.8 roughly within the calibration radius of 150 µm before degrading quickly. The decay is not circularly symmetric: at the rim, isotropy is worst along the pole directions and best between poles, differing by about a factor of two. Isotropy is therefore the exact complement of the efficiency index — the rim along a pole axis, where the gain is largest, is where the isotropy is worst. The upper poles reach a slightly lower minimum than the lower poles, consistent with the half-cut asymmetry seen on the previous slide. All three planes look essentially the same, showing that the isotropy inherits the overall symmetry of the six-pole layout.</a:t>
                </a:r>
                <a:endParaRPr lang="zh-TW" altLang="en-US" dirty="0"/>
              </a:p>
            </p:txBody>
          </p:sp>
        </mc:Choice>
        <mc:Fallback xmlns="">
          <p:sp>
            <p:nvSpPr>
              <p:cNvPr id="64" name="文字方塊 63">
                <a:extLst>
                  <a:ext uri="{FF2B5EF4-FFF2-40B4-BE49-F238E27FC236}">
                    <a16:creationId xmlns:a16="http://schemas.microsoft.com/office/drawing/2014/main" id="{5B421D71-8641-46AC-AFEE-B118C73A4CD4}"/>
                  </a:ext>
                </a:extLst>
              </p:cNvPr>
              <p:cNvSpPr txBox="1">
                <a:spLocks noRot="1" noChangeAspect="1" noMove="1" noResize="1" noEditPoints="1" noAdjustHandles="1" noChangeArrowheads="1" noChangeShapeType="1" noTextEdit="1"/>
              </p:cNvSpPr>
              <p:nvPr/>
            </p:nvSpPr>
            <p:spPr>
              <a:xfrm>
                <a:off x="186061" y="950588"/>
                <a:ext cx="6176432" cy="4801314"/>
              </a:xfrm>
              <a:prstGeom prst="rect">
                <a:avLst/>
              </a:prstGeom>
              <a:blipFill>
                <a:blip r:embed="rId2"/>
                <a:stretch>
                  <a:fillRect l="-691" t="-761" r="-2468" b="-1015"/>
                </a:stretch>
              </a:blipFill>
            </p:spPr>
            <p:txBody>
              <a:bodyPr/>
              <a:lstStyle/>
              <a:p>
                <a:r>
                  <a:rPr lang="zh-TW" altLang="en-US">
                    <a:noFill/>
                  </a:rPr>
                  <a:t> </a:t>
                </a:r>
              </a:p>
            </p:txBody>
          </p:sp>
        </mc:Fallback>
      </mc:AlternateContent>
      <p:grpSp>
        <p:nvGrpSpPr>
          <p:cNvPr id="18" name="群組 17">
            <a:extLst>
              <a:ext uri="{FF2B5EF4-FFF2-40B4-BE49-F238E27FC236}">
                <a16:creationId xmlns:a16="http://schemas.microsoft.com/office/drawing/2014/main" id="{A415CD8F-9E0E-4E5E-B0A8-D95470451723}"/>
              </a:ext>
            </a:extLst>
          </p:cNvPr>
          <p:cNvGrpSpPr/>
          <p:nvPr/>
        </p:nvGrpSpPr>
        <p:grpSpPr>
          <a:xfrm>
            <a:off x="7920556" y="2783295"/>
            <a:ext cx="2562926" cy="2127726"/>
            <a:chOff x="7885930" y="3644615"/>
            <a:chExt cx="3030173" cy="2400473"/>
          </a:xfrm>
        </p:grpSpPr>
        <p:pic>
          <p:nvPicPr>
            <p:cNvPr id="9" name="圖片 8">
              <a:extLst>
                <a:ext uri="{FF2B5EF4-FFF2-40B4-BE49-F238E27FC236}">
                  <a16:creationId xmlns:a16="http://schemas.microsoft.com/office/drawing/2014/main" id="{C971302C-428C-4B5C-AABD-8E8B866D6D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10053" y="3724539"/>
              <a:ext cx="2737424" cy="2214093"/>
            </a:xfrm>
            <a:prstGeom prst="rect">
              <a:avLst/>
            </a:prstGeom>
          </p:spPr>
        </p:pic>
        <p:grpSp>
          <p:nvGrpSpPr>
            <p:cNvPr id="14" name="群組 13">
              <a:extLst>
                <a:ext uri="{FF2B5EF4-FFF2-40B4-BE49-F238E27FC236}">
                  <a16:creationId xmlns:a16="http://schemas.microsoft.com/office/drawing/2014/main" id="{04A1EDD4-6ABC-4799-BBCC-2AA9A741A982}"/>
                </a:ext>
              </a:extLst>
            </p:cNvPr>
            <p:cNvGrpSpPr/>
            <p:nvPr/>
          </p:nvGrpSpPr>
          <p:grpSpPr>
            <a:xfrm>
              <a:off x="7885930" y="3644615"/>
              <a:ext cx="3030173" cy="2400473"/>
              <a:chOff x="7885930" y="3644615"/>
              <a:chExt cx="3030173" cy="2400473"/>
            </a:xfrm>
          </p:grpSpPr>
          <p:grpSp>
            <p:nvGrpSpPr>
              <p:cNvPr id="13" name="群組 12">
                <a:extLst>
                  <a:ext uri="{FF2B5EF4-FFF2-40B4-BE49-F238E27FC236}">
                    <a16:creationId xmlns:a16="http://schemas.microsoft.com/office/drawing/2014/main" id="{92E71AB5-F95C-4C50-942F-461AE8C8E21F}"/>
                  </a:ext>
                </a:extLst>
              </p:cNvPr>
              <p:cNvGrpSpPr/>
              <p:nvPr/>
            </p:nvGrpSpPr>
            <p:grpSpPr>
              <a:xfrm>
                <a:off x="7983958" y="3667301"/>
                <a:ext cx="2862761" cy="2338334"/>
                <a:chOff x="7983958" y="3667301"/>
                <a:chExt cx="2862761" cy="2338334"/>
              </a:xfrm>
            </p:grpSpPr>
            <p:sp>
              <p:nvSpPr>
                <p:cNvPr id="12" name="矩形 11">
                  <a:extLst>
                    <a:ext uri="{FF2B5EF4-FFF2-40B4-BE49-F238E27FC236}">
                      <a16:creationId xmlns:a16="http://schemas.microsoft.com/office/drawing/2014/main" id="{88E7A9EA-9DAB-451E-9FA8-F7163EE33F2E}"/>
                    </a:ext>
                  </a:extLst>
                </p:cNvPr>
                <p:cNvSpPr/>
                <p:nvPr/>
              </p:nvSpPr>
              <p:spPr>
                <a:xfrm>
                  <a:off x="10044950" y="4669308"/>
                  <a:ext cx="225118" cy="266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2" name="矩形 101">
                  <a:extLst>
                    <a:ext uri="{FF2B5EF4-FFF2-40B4-BE49-F238E27FC236}">
                      <a16:creationId xmlns:a16="http://schemas.microsoft.com/office/drawing/2014/main" id="{697C6A31-1322-4648-82CE-4C68B357ADE9}"/>
                    </a:ext>
                  </a:extLst>
                </p:cNvPr>
                <p:cNvSpPr/>
                <p:nvPr/>
              </p:nvSpPr>
              <p:spPr>
                <a:xfrm>
                  <a:off x="9022607" y="3667301"/>
                  <a:ext cx="225118" cy="266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3" name="矩形 102">
                  <a:extLst>
                    <a:ext uri="{FF2B5EF4-FFF2-40B4-BE49-F238E27FC236}">
                      <a16:creationId xmlns:a16="http://schemas.microsoft.com/office/drawing/2014/main" id="{252EA268-F4BF-4F6E-BC68-B74D1AB21EDC}"/>
                    </a:ext>
                  </a:extLst>
                </p:cNvPr>
                <p:cNvSpPr/>
                <p:nvPr/>
              </p:nvSpPr>
              <p:spPr>
                <a:xfrm>
                  <a:off x="7983958" y="4686154"/>
                  <a:ext cx="225118" cy="266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0" name="矩形 129">
                  <a:extLst>
                    <a:ext uri="{FF2B5EF4-FFF2-40B4-BE49-F238E27FC236}">
                      <a16:creationId xmlns:a16="http://schemas.microsoft.com/office/drawing/2014/main" id="{FD58DA12-398D-4D81-A4DB-E7FFB2E04049}"/>
                    </a:ext>
                  </a:extLst>
                </p:cNvPr>
                <p:cNvSpPr/>
                <p:nvPr/>
              </p:nvSpPr>
              <p:spPr>
                <a:xfrm>
                  <a:off x="9009363" y="5738875"/>
                  <a:ext cx="225118" cy="266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1" name="矩形 130">
                  <a:extLst>
                    <a:ext uri="{FF2B5EF4-FFF2-40B4-BE49-F238E27FC236}">
                      <a16:creationId xmlns:a16="http://schemas.microsoft.com/office/drawing/2014/main" id="{AAD8F26C-0C60-4BB4-A028-E7D8A910AD0D}"/>
                    </a:ext>
                  </a:extLst>
                </p:cNvPr>
                <p:cNvSpPr/>
                <p:nvPr/>
              </p:nvSpPr>
              <p:spPr>
                <a:xfrm>
                  <a:off x="10621601" y="4624884"/>
                  <a:ext cx="225118" cy="266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32" name="文字方塊 131">
                <a:extLst>
                  <a:ext uri="{FF2B5EF4-FFF2-40B4-BE49-F238E27FC236}">
                    <a16:creationId xmlns:a16="http://schemas.microsoft.com/office/drawing/2014/main" id="{59C8220B-BA68-40B1-A2D1-60274F35F105}"/>
                  </a:ext>
                </a:extLst>
              </p:cNvPr>
              <p:cNvSpPr txBox="1"/>
              <p:nvPr/>
            </p:nvSpPr>
            <p:spPr>
              <a:xfrm rot="16200000">
                <a:off x="10187055" y="4420869"/>
                <a:ext cx="1094208" cy="363888"/>
              </a:xfrm>
              <a:prstGeom prst="rect">
                <a:avLst/>
              </a:prstGeom>
              <a:noFill/>
            </p:spPr>
            <p:txBody>
              <a:bodyPr wrap="square">
                <a:spAutoFit/>
              </a:bodyPr>
              <a:lstStyle/>
              <a:p>
                <a:r>
                  <a:rPr lang="en-US" altLang="zh-TW" sz="1400" dirty="0">
                    <a:latin typeface="Times New Roman" panose="02020603050405020304" pitchFamily="18" charset="0"/>
                    <a:cs typeface="Times New Roman" panose="02020603050405020304" pitchFamily="18" charset="0"/>
                  </a:rPr>
                  <a:t>Isotropy</a:t>
                </a:r>
                <a:endParaRPr lang="zh-TW" altLang="en-US" sz="1400" dirty="0">
                  <a:latin typeface="Times New Roman" panose="02020603050405020304" pitchFamily="18" charset="0"/>
                  <a:cs typeface="Times New Roman" panose="02020603050405020304" pitchFamily="18" charset="0"/>
                </a:endParaRPr>
              </a:p>
            </p:txBody>
          </p:sp>
          <p:sp>
            <p:nvSpPr>
              <p:cNvPr id="133" name="文字方塊 132">
                <a:extLst>
                  <a:ext uri="{FF2B5EF4-FFF2-40B4-BE49-F238E27FC236}">
                    <a16:creationId xmlns:a16="http://schemas.microsoft.com/office/drawing/2014/main" id="{6AB274B3-0995-4EEB-9013-E9FCFC70773D}"/>
                  </a:ext>
                </a:extLst>
              </p:cNvPr>
              <p:cNvSpPr txBox="1"/>
              <p:nvPr/>
            </p:nvSpPr>
            <p:spPr>
              <a:xfrm>
                <a:off x="7885930" y="4548241"/>
                <a:ext cx="497957" cy="347230"/>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34" name="文字方塊 133">
                <a:extLst>
                  <a:ext uri="{FF2B5EF4-FFF2-40B4-BE49-F238E27FC236}">
                    <a16:creationId xmlns:a16="http://schemas.microsoft.com/office/drawing/2014/main" id="{860FFD41-4F96-4780-8E19-D375CBC57F46}"/>
                  </a:ext>
                </a:extLst>
              </p:cNvPr>
              <p:cNvSpPr txBox="1"/>
              <p:nvPr/>
            </p:nvSpPr>
            <p:spPr>
              <a:xfrm>
                <a:off x="8923420" y="3644615"/>
                <a:ext cx="508069" cy="347230"/>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35" name="文字方塊 134">
                <a:extLst>
                  <a:ext uri="{FF2B5EF4-FFF2-40B4-BE49-F238E27FC236}">
                    <a16:creationId xmlns:a16="http://schemas.microsoft.com/office/drawing/2014/main" id="{18CB05BB-851D-48E2-B2C0-383926E2DC69}"/>
                  </a:ext>
                </a:extLst>
              </p:cNvPr>
              <p:cNvSpPr txBox="1"/>
              <p:nvPr/>
            </p:nvSpPr>
            <p:spPr>
              <a:xfrm>
                <a:off x="8906756" y="5697858"/>
                <a:ext cx="524733" cy="347230"/>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36" name="文字方塊 135">
                <a:extLst>
                  <a:ext uri="{FF2B5EF4-FFF2-40B4-BE49-F238E27FC236}">
                    <a16:creationId xmlns:a16="http://schemas.microsoft.com/office/drawing/2014/main" id="{268A4645-B4C9-4C93-9DD7-258346092438}"/>
                  </a:ext>
                </a:extLst>
              </p:cNvPr>
              <p:cNvSpPr txBox="1"/>
              <p:nvPr/>
            </p:nvSpPr>
            <p:spPr>
              <a:xfrm>
                <a:off x="9978086" y="4802688"/>
                <a:ext cx="519506" cy="347230"/>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41" name="文字方塊 140">
                    <a:extLst>
                      <a:ext uri="{FF2B5EF4-FFF2-40B4-BE49-F238E27FC236}">
                        <a16:creationId xmlns:a16="http://schemas.microsoft.com/office/drawing/2014/main" id="{881B35F0-DFFE-4DE0-A1B4-E40D2CB808D8}"/>
                      </a:ext>
                    </a:extLst>
                  </p:cNvPr>
                  <p:cNvSpPr txBox="1"/>
                  <p:nvPr/>
                </p:nvSpPr>
                <p:spPr>
                  <a:xfrm>
                    <a:off x="9274555" y="4755386"/>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𝐲</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41" name="文字方塊 140">
                    <a:extLst>
                      <a:ext uri="{FF2B5EF4-FFF2-40B4-BE49-F238E27FC236}">
                        <a16:creationId xmlns:a16="http://schemas.microsoft.com/office/drawing/2014/main" id="{881B35F0-DFFE-4DE0-A1B4-E40D2CB808D8}"/>
                      </a:ext>
                    </a:extLst>
                  </p:cNvPr>
                  <p:cNvSpPr txBox="1">
                    <a:spLocks noRot="1" noChangeAspect="1" noMove="1" noResize="1" noEditPoints="1" noAdjustHandles="1" noChangeArrowheads="1" noChangeShapeType="1" noTextEdit="1"/>
                  </p:cNvSpPr>
                  <p:nvPr/>
                </p:nvSpPr>
                <p:spPr>
                  <a:xfrm>
                    <a:off x="9274555" y="4755386"/>
                    <a:ext cx="332369" cy="307777"/>
                  </a:xfrm>
                  <a:prstGeom prst="rect">
                    <a:avLst/>
                  </a:prstGeom>
                  <a:blipFill>
                    <a:blip r:embed="rId11"/>
                    <a:stretch>
                      <a:fillRect r="-2174" b="-1555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2" name="文字方塊 141">
                    <a:extLst>
                      <a:ext uri="{FF2B5EF4-FFF2-40B4-BE49-F238E27FC236}">
                        <a16:creationId xmlns:a16="http://schemas.microsoft.com/office/drawing/2014/main" id="{82249A39-0601-4737-8A03-EA956AB6FF5A}"/>
                      </a:ext>
                    </a:extLst>
                  </p:cNvPr>
                  <p:cNvSpPr txBox="1"/>
                  <p:nvPr/>
                </p:nvSpPr>
                <p:spPr>
                  <a:xfrm>
                    <a:off x="8841152" y="4225225"/>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𝐳</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42" name="文字方塊 141">
                    <a:extLst>
                      <a:ext uri="{FF2B5EF4-FFF2-40B4-BE49-F238E27FC236}">
                        <a16:creationId xmlns:a16="http://schemas.microsoft.com/office/drawing/2014/main" id="{82249A39-0601-4737-8A03-EA956AB6FF5A}"/>
                      </a:ext>
                    </a:extLst>
                  </p:cNvPr>
                  <p:cNvSpPr txBox="1">
                    <a:spLocks noRot="1" noChangeAspect="1" noMove="1" noResize="1" noEditPoints="1" noAdjustHandles="1" noChangeArrowheads="1" noChangeShapeType="1" noTextEdit="1"/>
                  </p:cNvSpPr>
                  <p:nvPr/>
                </p:nvSpPr>
                <p:spPr>
                  <a:xfrm>
                    <a:off x="8841152" y="4225225"/>
                    <a:ext cx="332369" cy="307777"/>
                  </a:xfrm>
                  <a:prstGeom prst="rect">
                    <a:avLst/>
                  </a:prstGeom>
                  <a:blipFill>
                    <a:blip r:embed="rId12"/>
                    <a:stretch>
                      <a:fillRect b="-4444"/>
                    </a:stretch>
                  </a:blipFill>
                </p:spPr>
                <p:txBody>
                  <a:bodyPr/>
                  <a:lstStyle/>
                  <a:p>
                    <a:r>
                      <a:rPr lang="zh-TW" altLang="en-US">
                        <a:noFill/>
                      </a:rPr>
                      <a:t> </a:t>
                    </a:r>
                  </a:p>
                </p:txBody>
              </p:sp>
            </mc:Fallback>
          </mc:AlternateContent>
        </p:grpSp>
      </p:grpSp>
      <p:grpSp>
        <p:nvGrpSpPr>
          <p:cNvPr id="3" name="群組 2">
            <a:extLst>
              <a:ext uri="{FF2B5EF4-FFF2-40B4-BE49-F238E27FC236}">
                <a16:creationId xmlns:a16="http://schemas.microsoft.com/office/drawing/2014/main" id="{DCC0AD1E-CB33-4FB9-90A8-4ED575B2C393}"/>
              </a:ext>
            </a:extLst>
          </p:cNvPr>
          <p:cNvGrpSpPr/>
          <p:nvPr/>
        </p:nvGrpSpPr>
        <p:grpSpPr>
          <a:xfrm>
            <a:off x="7156700" y="696453"/>
            <a:ext cx="4130633" cy="1894811"/>
            <a:chOff x="7156700" y="696453"/>
            <a:chExt cx="4130633" cy="1894811"/>
          </a:xfrm>
        </p:grpSpPr>
        <p:grpSp>
          <p:nvGrpSpPr>
            <p:cNvPr id="7" name="群組 6">
              <a:extLst>
                <a:ext uri="{FF2B5EF4-FFF2-40B4-BE49-F238E27FC236}">
                  <a16:creationId xmlns:a16="http://schemas.microsoft.com/office/drawing/2014/main" id="{CA0CB9F4-235A-4616-BC61-7AFFCEE4ABAB}"/>
                </a:ext>
              </a:extLst>
            </p:cNvPr>
            <p:cNvGrpSpPr/>
            <p:nvPr/>
          </p:nvGrpSpPr>
          <p:grpSpPr>
            <a:xfrm>
              <a:off x="7156700" y="696453"/>
              <a:ext cx="4072017" cy="1894811"/>
              <a:chOff x="7156700" y="696453"/>
              <a:chExt cx="4072017" cy="1894811"/>
            </a:xfrm>
          </p:grpSpPr>
          <p:pic>
            <p:nvPicPr>
              <p:cNvPr id="5" name="圖片 4">
                <a:extLst>
                  <a:ext uri="{FF2B5EF4-FFF2-40B4-BE49-F238E27FC236}">
                    <a16:creationId xmlns:a16="http://schemas.microsoft.com/office/drawing/2014/main" id="{22E3FC60-916B-4B6C-9BAE-8363C5CCFB33}"/>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321264" y="815524"/>
                <a:ext cx="3793335" cy="1651300"/>
              </a:xfrm>
              <a:prstGeom prst="rect">
                <a:avLst/>
              </a:prstGeom>
            </p:spPr>
          </p:pic>
          <p:grpSp>
            <p:nvGrpSpPr>
              <p:cNvPr id="17" name="群組 16">
                <a:extLst>
                  <a:ext uri="{FF2B5EF4-FFF2-40B4-BE49-F238E27FC236}">
                    <a16:creationId xmlns:a16="http://schemas.microsoft.com/office/drawing/2014/main" id="{8BE4C305-B690-4A6A-AB62-66C15A5C438C}"/>
                  </a:ext>
                </a:extLst>
              </p:cNvPr>
              <p:cNvGrpSpPr/>
              <p:nvPr/>
            </p:nvGrpSpPr>
            <p:grpSpPr>
              <a:xfrm>
                <a:off x="7156700" y="696453"/>
                <a:ext cx="4072017" cy="1894811"/>
                <a:chOff x="6923595" y="822679"/>
                <a:chExt cx="4072017" cy="1894811"/>
              </a:xfrm>
            </p:grpSpPr>
            <p:grpSp>
              <p:nvGrpSpPr>
                <p:cNvPr id="15" name="群組 14">
                  <a:extLst>
                    <a:ext uri="{FF2B5EF4-FFF2-40B4-BE49-F238E27FC236}">
                      <a16:creationId xmlns:a16="http://schemas.microsoft.com/office/drawing/2014/main" id="{612F600C-B391-4D02-BE5B-9A6D0B54E62C}"/>
                    </a:ext>
                  </a:extLst>
                </p:cNvPr>
                <p:cNvGrpSpPr/>
                <p:nvPr/>
              </p:nvGrpSpPr>
              <p:grpSpPr>
                <a:xfrm>
                  <a:off x="6923595" y="822679"/>
                  <a:ext cx="4072017" cy="1894811"/>
                  <a:chOff x="6923595" y="822679"/>
                  <a:chExt cx="4072017" cy="1894811"/>
                </a:xfrm>
              </p:grpSpPr>
              <p:grpSp>
                <p:nvGrpSpPr>
                  <p:cNvPr id="11" name="群組 10">
                    <a:extLst>
                      <a:ext uri="{FF2B5EF4-FFF2-40B4-BE49-F238E27FC236}">
                        <a16:creationId xmlns:a16="http://schemas.microsoft.com/office/drawing/2014/main" id="{D2C9EE08-81D0-4C2D-B956-F0B60EAB80F7}"/>
                      </a:ext>
                    </a:extLst>
                  </p:cNvPr>
                  <p:cNvGrpSpPr/>
                  <p:nvPr/>
                </p:nvGrpSpPr>
                <p:grpSpPr>
                  <a:xfrm>
                    <a:off x="7007767" y="885799"/>
                    <a:ext cx="3987845" cy="1773589"/>
                    <a:chOff x="7007767" y="885799"/>
                    <a:chExt cx="3987845" cy="1773589"/>
                  </a:xfrm>
                </p:grpSpPr>
                <p:sp>
                  <p:nvSpPr>
                    <p:cNvPr id="10" name="矩形 9">
                      <a:extLst>
                        <a:ext uri="{FF2B5EF4-FFF2-40B4-BE49-F238E27FC236}">
                          <a16:creationId xmlns:a16="http://schemas.microsoft.com/office/drawing/2014/main" id="{F5F07B25-EAB2-4083-9FAC-EFC85D2120CD}"/>
                        </a:ext>
                      </a:extLst>
                    </p:cNvPr>
                    <p:cNvSpPr/>
                    <p:nvPr/>
                  </p:nvSpPr>
                  <p:spPr>
                    <a:xfrm>
                      <a:off x="7831667" y="885799"/>
                      <a:ext cx="218554" cy="1935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0" name="矩形 69">
                      <a:extLst>
                        <a:ext uri="{FF2B5EF4-FFF2-40B4-BE49-F238E27FC236}">
                          <a16:creationId xmlns:a16="http://schemas.microsoft.com/office/drawing/2014/main" id="{FC3083EF-83C7-450B-8ADE-A99B46B37053}"/>
                        </a:ext>
                      </a:extLst>
                    </p:cNvPr>
                    <p:cNvSpPr/>
                    <p:nvPr/>
                  </p:nvSpPr>
                  <p:spPr>
                    <a:xfrm>
                      <a:off x="7007767" y="1663102"/>
                      <a:ext cx="218554" cy="1935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2" name="矩形 71">
                      <a:extLst>
                        <a:ext uri="{FF2B5EF4-FFF2-40B4-BE49-F238E27FC236}">
                          <a16:creationId xmlns:a16="http://schemas.microsoft.com/office/drawing/2014/main" id="{3722C7AD-6A4A-4007-AF36-5CCD4C5E8597}"/>
                        </a:ext>
                      </a:extLst>
                    </p:cNvPr>
                    <p:cNvSpPr/>
                    <p:nvPr/>
                  </p:nvSpPr>
                  <p:spPr>
                    <a:xfrm>
                      <a:off x="7827456" y="2465882"/>
                      <a:ext cx="218554" cy="1935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3" name="矩形 72">
                      <a:extLst>
                        <a:ext uri="{FF2B5EF4-FFF2-40B4-BE49-F238E27FC236}">
                          <a16:creationId xmlns:a16="http://schemas.microsoft.com/office/drawing/2014/main" id="{8C041678-A44A-4B2F-A86A-6D773426879F}"/>
                        </a:ext>
                      </a:extLst>
                    </p:cNvPr>
                    <p:cNvSpPr/>
                    <p:nvPr/>
                  </p:nvSpPr>
                  <p:spPr>
                    <a:xfrm>
                      <a:off x="8639145" y="1664810"/>
                      <a:ext cx="338637" cy="191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4" name="矩形 73">
                      <a:extLst>
                        <a:ext uri="{FF2B5EF4-FFF2-40B4-BE49-F238E27FC236}">
                          <a16:creationId xmlns:a16="http://schemas.microsoft.com/office/drawing/2014/main" id="{0AB71390-058C-48DB-8F99-4472D1421CE3}"/>
                        </a:ext>
                      </a:extLst>
                    </p:cNvPr>
                    <p:cNvSpPr/>
                    <p:nvPr/>
                  </p:nvSpPr>
                  <p:spPr>
                    <a:xfrm>
                      <a:off x="9586634" y="904164"/>
                      <a:ext cx="338637" cy="191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5" name="矩形 74">
                      <a:extLst>
                        <a:ext uri="{FF2B5EF4-FFF2-40B4-BE49-F238E27FC236}">
                          <a16:creationId xmlns:a16="http://schemas.microsoft.com/office/drawing/2014/main" id="{276E6E7F-1958-4F14-9108-30888D35FA5F}"/>
                        </a:ext>
                      </a:extLst>
                    </p:cNvPr>
                    <p:cNvSpPr/>
                    <p:nvPr/>
                  </p:nvSpPr>
                  <p:spPr>
                    <a:xfrm>
                      <a:off x="9481831" y="2454945"/>
                      <a:ext cx="338637" cy="191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6" name="矩形 75">
                      <a:extLst>
                        <a:ext uri="{FF2B5EF4-FFF2-40B4-BE49-F238E27FC236}">
                          <a16:creationId xmlns:a16="http://schemas.microsoft.com/office/drawing/2014/main" id="{4FA014DA-9FFB-44C8-BC87-9425A4C49C84}"/>
                        </a:ext>
                      </a:extLst>
                    </p:cNvPr>
                    <p:cNvSpPr/>
                    <p:nvPr/>
                  </p:nvSpPr>
                  <p:spPr>
                    <a:xfrm>
                      <a:off x="10374310" y="1574534"/>
                      <a:ext cx="190544" cy="3498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7" name="矩形 76">
                      <a:extLst>
                        <a:ext uri="{FF2B5EF4-FFF2-40B4-BE49-F238E27FC236}">
                          <a16:creationId xmlns:a16="http://schemas.microsoft.com/office/drawing/2014/main" id="{D3E9EE23-9AC3-43BC-BF47-30C82E12B2A2}"/>
                        </a:ext>
                      </a:extLst>
                    </p:cNvPr>
                    <p:cNvSpPr/>
                    <p:nvPr/>
                  </p:nvSpPr>
                  <p:spPr>
                    <a:xfrm>
                      <a:off x="10805068" y="1701472"/>
                      <a:ext cx="190544" cy="1628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80" name="文字方塊 79">
                    <a:extLst>
                      <a:ext uri="{FF2B5EF4-FFF2-40B4-BE49-F238E27FC236}">
                        <a16:creationId xmlns:a16="http://schemas.microsoft.com/office/drawing/2014/main" id="{9B8EB1CD-A79B-47D9-AB70-E74BF30A65B7}"/>
                      </a:ext>
                    </a:extLst>
                  </p:cNvPr>
                  <p:cNvSpPr txBox="1"/>
                  <p:nvPr/>
                </p:nvSpPr>
                <p:spPr>
                  <a:xfrm>
                    <a:off x="8547048" y="1716397"/>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90" name="文字方塊 89">
                    <a:extLst>
                      <a:ext uri="{FF2B5EF4-FFF2-40B4-BE49-F238E27FC236}">
                        <a16:creationId xmlns:a16="http://schemas.microsoft.com/office/drawing/2014/main" id="{92D55786-83DD-4F8D-8DFD-BE3DCCAD1169}"/>
                      </a:ext>
                    </a:extLst>
                  </p:cNvPr>
                  <p:cNvSpPr txBox="1"/>
                  <p:nvPr/>
                </p:nvSpPr>
                <p:spPr>
                  <a:xfrm>
                    <a:off x="7726146" y="832003"/>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91" name="文字方塊 90">
                    <a:extLst>
                      <a:ext uri="{FF2B5EF4-FFF2-40B4-BE49-F238E27FC236}">
                        <a16:creationId xmlns:a16="http://schemas.microsoft.com/office/drawing/2014/main" id="{481EAFC4-8465-4D04-8689-9DA473F00F16}"/>
                      </a:ext>
                    </a:extLst>
                  </p:cNvPr>
                  <p:cNvSpPr txBox="1"/>
                  <p:nvPr/>
                </p:nvSpPr>
                <p:spPr>
                  <a:xfrm>
                    <a:off x="6923595" y="1500930"/>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92" name="文字方塊 91">
                    <a:extLst>
                      <a:ext uri="{FF2B5EF4-FFF2-40B4-BE49-F238E27FC236}">
                        <a16:creationId xmlns:a16="http://schemas.microsoft.com/office/drawing/2014/main" id="{58303001-9243-4CE3-AB16-9F0D7C0BAA8D}"/>
                      </a:ext>
                    </a:extLst>
                  </p:cNvPr>
                  <p:cNvSpPr txBox="1"/>
                  <p:nvPr/>
                </p:nvSpPr>
                <p:spPr>
                  <a:xfrm>
                    <a:off x="7728906" y="2375986"/>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93" name="文字方塊 92">
                    <a:extLst>
                      <a:ext uri="{FF2B5EF4-FFF2-40B4-BE49-F238E27FC236}">
                        <a16:creationId xmlns:a16="http://schemas.microsoft.com/office/drawing/2014/main" id="{B50C7079-CAA8-4007-9D2F-2B2CD971FFD6}"/>
                      </a:ext>
                    </a:extLst>
                  </p:cNvPr>
                  <p:cNvSpPr txBox="1"/>
                  <p:nvPr/>
                </p:nvSpPr>
                <p:spPr>
                  <a:xfrm>
                    <a:off x="8674497" y="1475099"/>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99" name="文字方塊 98">
                    <a:extLst>
                      <a:ext uri="{FF2B5EF4-FFF2-40B4-BE49-F238E27FC236}">
                        <a16:creationId xmlns:a16="http://schemas.microsoft.com/office/drawing/2014/main" id="{523FB46B-214B-4674-A0BB-F7A2E5B66450}"/>
                      </a:ext>
                    </a:extLst>
                  </p:cNvPr>
                  <p:cNvSpPr txBox="1"/>
                  <p:nvPr/>
                </p:nvSpPr>
                <p:spPr>
                  <a:xfrm>
                    <a:off x="9489536" y="822679"/>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00" name="文字方塊 99">
                    <a:extLst>
                      <a:ext uri="{FF2B5EF4-FFF2-40B4-BE49-F238E27FC236}">
                        <a16:creationId xmlns:a16="http://schemas.microsoft.com/office/drawing/2014/main" id="{6D0655F7-DECE-4E33-B8DB-34EAEA9FBCCD}"/>
                      </a:ext>
                    </a:extLst>
                  </p:cNvPr>
                  <p:cNvSpPr txBox="1"/>
                  <p:nvPr/>
                </p:nvSpPr>
                <p:spPr>
                  <a:xfrm>
                    <a:off x="9489535" y="2409713"/>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01" name="文字方塊 100">
                    <a:extLst>
                      <a:ext uri="{FF2B5EF4-FFF2-40B4-BE49-F238E27FC236}">
                        <a16:creationId xmlns:a16="http://schemas.microsoft.com/office/drawing/2014/main" id="{15C241B5-3C9B-4E25-96F6-629915F58BB4}"/>
                      </a:ext>
                    </a:extLst>
                  </p:cNvPr>
                  <p:cNvSpPr txBox="1"/>
                  <p:nvPr/>
                </p:nvSpPr>
                <p:spPr>
                  <a:xfrm>
                    <a:off x="10275561" y="1722297"/>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37" name="文字方塊 136">
                        <a:extLst>
                          <a:ext uri="{FF2B5EF4-FFF2-40B4-BE49-F238E27FC236}">
                            <a16:creationId xmlns:a16="http://schemas.microsoft.com/office/drawing/2014/main" id="{D255ABDE-FE08-4D92-985E-D28FA82E5F65}"/>
                          </a:ext>
                        </a:extLst>
                      </p:cNvPr>
                      <p:cNvSpPr txBox="1"/>
                      <p:nvPr/>
                    </p:nvSpPr>
                    <p:spPr>
                      <a:xfrm>
                        <a:off x="8077108" y="1748079"/>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𝐱</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37" name="文字方塊 136">
                        <a:extLst>
                          <a:ext uri="{FF2B5EF4-FFF2-40B4-BE49-F238E27FC236}">
                            <a16:creationId xmlns:a16="http://schemas.microsoft.com/office/drawing/2014/main" id="{D255ABDE-FE08-4D92-985E-D28FA82E5F65}"/>
                          </a:ext>
                        </a:extLst>
                      </p:cNvPr>
                      <p:cNvSpPr txBox="1">
                        <a:spLocks noRot="1" noChangeAspect="1" noMove="1" noResize="1" noEditPoints="1" noAdjustHandles="1" noChangeArrowheads="1" noChangeShapeType="1" noTextEdit="1"/>
                      </p:cNvSpPr>
                      <p:nvPr/>
                    </p:nvSpPr>
                    <p:spPr>
                      <a:xfrm>
                        <a:off x="8077108" y="1748079"/>
                        <a:ext cx="332369" cy="307777"/>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8" name="文字方塊 137">
                        <a:extLst>
                          <a:ext uri="{FF2B5EF4-FFF2-40B4-BE49-F238E27FC236}">
                            <a16:creationId xmlns:a16="http://schemas.microsoft.com/office/drawing/2014/main" id="{04DB010C-9BAE-4354-BDBC-05D6FEB0ED55}"/>
                          </a:ext>
                        </a:extLst>
                      </p:cNvPr>
                      <p:cNvSpPr txBox="1"/>
                      <p:nvPr/>
                    </p:nvSpPr>
                    <p:spPr>
                      <a:xfrm>
                        <a:off x="7609788" y="1286136"/>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𝐲</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38" name="文字方塊 137">
                        <a:extLst>
                          <a:ext uri="{FF2B5EF4-FFF2-40B4-BE49-F238E27FC236}">
                            <a16:creationId xmlns:a16="http://schemas.microsoft.com/office/drawing/2014/main" id="{04DB010C-9BAE-4354-BDBC-05D6FEB0ED55}"/>
                          </a:ext>
                        </a:extLst>
                      </p:cNvPr>
                      <p:cNvSpPr txBox="1">
                        <a:spLocks noRot="1" noChangeAspect="1" noMove="1" noResize="1" noEditPoints="1" noAdjustHandles="1" noChangeArrowheads="1" noChangeShapeType="1" noTextEdit="1"/>
                      </p:cNvSpPr>
                      <p:nvPr/>
                    </p:nvSpPr>
                    <p:spPr>
                      <a:xfrm>
                        <a:off x="7609788" y="1286136"/>
                        <a:ext cx="332369" cy="307777"/>
                      </a:xfrm>
                      <a:prstGeom prst="rect">
                        <a:avLst/>
                      </a:prstGeom>
                      <a:blipFill>
                        <a:blip r:embed="rId6"/>
                        <a:stretch>
                          <a:fillRect b="-1961"/>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139" name="文字方塊 138">
                      <a:extLst>
                        <a:ext uri="{FF2B5EF4-FFF2-40B4-BE49-F238E27FC236}">
                          <a16:creationId xmlns:a16="http://schemas.microsoft.com/office/drawing/2014/main" id="{74515AE3-A20F-4F0C-AD65-88EE10FC7A5A}"/>
                        </a:ext>
                      </a:extLst>
                    </p:cNvPr>
                    <p:cNvSpPr txBox="1"/>
                    <p:nvPr/>
                  </p:nvSpPr>
                  <p:spPr>
                    <a:xfrm>
                      <a:off x="9804337" y="1670625"/>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𝐱</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39" name="文字方塊 138">
                      <a:extLst>
                        <a:ext uri="{FF2B5EF4-FFF2-40B4-BE49-F238E27FC236}">
                          <a16:creationId xmlns:a16="http://schemas.microsoft.com/office/drawing/2014/main" id="{74515AE3-A20F-4F0C-AD65-88EE10FC7A5A}"/>
                        </a:ext>
                      </a:extLst>
                    </p:cNvPr>
                    <p:cNvSpPr txBox="1">
                      <a:spLocks noRot="1" noChangeAspect="1" noMove="1" noResize="1" noEditPoints="1" noAdjustHandles="1" noChangeArrowheads="1" noChangeShapeType="1" noTextEdit="1"/>
                    </p:cNvSpPr>
                    <p:nvPr/>
                  </p:nvSpPr>
                  <p:spPr>
                    <a:xfrm>
                      <a:off x="9804337" y="1670625"/>
                      <a:ext cx="332369" cy="307777"/>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0" name="文字方塊 139">
                      <a:extLst>
                        <a:ext uri="{FF2B5EF4-FFF2-40B4-BE49-F238E27FC236}">
                          <a16:creationId xmlns:a16="http://schemas.microsoft.com/office/drawing/2014/main" id="{62CB1572-73EF-459D-972D-CB9A0157F7EF}"/>
                        </a:ext>
                      </a:extLst>
                    </p:cNvPr>
                    <p:cNvSpPr txBox="1"/>
                    <p:nvPr/>
                  </p:nvSpPr>
                  <p:spPr>
                    <a:xfrm>
                      <a:off x="9353246" y="1293503"/>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𝐳</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40" name="文字方塊 139">
                      <a:extLst>
                        <a:ext uri="{FF2B5EF4-FFF2-40B4-BE49-F238E27FC236}">
                          <a16:creationId xmlns:a16="http://schemas.microsoft.com/office/drawing/2014/main" id="{62CB1572-73EF-459D-972D-CB9A0157F7EF}"/>
                        </a:ext>
                      </a:extLst>
                    </p:cNvPr>
                    <p:cNvSpPr txBox="1">
                      <a:spLocks noRot="1" noChangeAspect="1" noMove="1" noResize="1" noEditPoints="1" noAdjustHandles="1" noChangeArrowheads="1" noChangeShapeType="1" noTextEdit="1"/>
                    </p:cNvSpPr>
                    <p:nvPr/>
                  </p:nvSpPr>
                  <p:spPr>
                    <a:xfrm>
                      <a:off x="9353246" y="1293503"/>
                      <a:ext cx="332369" cy="307777"/>
                    </a:xfrm>
                    <a:prstGeom prst="rect">
                      <a:avLst/>
                    </a:prstGeom>
                    <a:blipFill>
                      <a:blip r:embed="rId8"/>
                      <a:stretch>
                        <a:fillRect/>
                      </a:stretch>
                    </a:blipFill>
                  </p:spPr>
                  <p:txBody>
                    <a:bodyPr/>
                    <a:lstStyle/>
                    <a:p>
                      <a:r>
                        <a:rPr lang="zh-TW" altLang="en-US">
                          <a:noFill/>
                        </a:rPr>
                        <a:t> </a:t>
                      </a:r>
                    </a:p>
                  </p:txBody>
                </p:sp>
              </mc:Fallback>
            </mc:AlternateContent>
          </p:grpSp>
        </p:grpSp>
        <p:sp>
          <p:nvSpPr>
            <p:cNvPr id="52" name="文字方塊 51">
              <a:extLst>
                <a:ext uri="{FF2B5EF4-FFF2-40B4-BE49-F238E27FC236}">
                  <a16:creationId xmlns:a16="http://schemas.microsoft.com/office/drawing/2014/main" id="{EAA16F18-CE39-4DD7-94E3-6F61E5A152E1}"/>
                </a:ext>
              </a:extLst>
            </p:cNvPr>
            <p:cNvSpPr txBox="1"/>
            <p:nvPr/>
          </p:nvSpPr>
          <p:spPr>
            <a:xfrm rot="16200000">
              <a:off x="10648504" y="1421357"/>
              <a:ext cx="969882" cy="307777"/>
            </a:xfrm>
            <a:prstGeom prst="rect">
              <a:avLst/>
            </a:prstGeom>
            <a:noFill/>
          </p:spPr>
          <p:txBody>
            <a:bodyPr wrap="square">
              <a:spAutoFit/>
            </a:bodyPr>
            <a:lstStyle/>
            <a:p>
              <a:r>
                <a:rPr lang="en-US" altLang="zh-TW" sz="1400" dirty="0">
                  <a:latin typeface="Times New Roman" panose="02020603050405020304" pitchFamily="18" charset="0"/>
                  <a:cs typeface="Times New Roman" panose="02020603050405020304" pitchFamily="18" charset="0"/>
                </a:rPr>
                <a:t>Isotropy</a:t>
              </a:r>
              <a:endParaRPr lang="zh-TW" altLang="en-US" sz="1400"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14130841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488031"/>
            <a:ext cx="12192000" cy="193506"/>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6" name="文字方塊 15">
            <a:extLst>
              <a:ext uri="{FF2B5EF4-FFF2-40B4-BE49-F238E27FC236}">
                <a16:creationId xmlns:a16="http://schemas.microsoft.com/office/drawing/2014/main" id="{6BA9955A-92B3-406A-93D9-E13D8B8C100E}"/>
              </a:ext>
            </a:extLst>
          </p:cNvPr>
          <p:cNvSpPr txBox="1"/>
          <p:nvPr/>
        </p:nvSpPr>
        <p:spPr>
          <a:xfrm>
            <a:off x="98886" y="383190"/>
            <a:ext cx="3588625" cy="369332"/>
          </a:xfrm>
          <a:prstGeom prst="rect">
            <a:avLst/>
          </a:prstGeom>
          <a:noFill/>
        </p:spPr>
        <p:txBody>
          <a:bodyPr wrap="square" rtlCol="0">
            <a:spAutoFit/>
          </a:bodyPr>
          <a:lstStyle/>
          <a:p>
            <a:pPr marL="285750" indent="-285750">
              <a:buFont typeface="Wingdings" panose="05000000000000000000" pitchFamily="2" charset="2"/>
              <a:buChar char="Ø"/>
            </a:pPr>
            <a:r>
              <a:rPr lang="en-US" altLang="zh-TW" dirty="0"/>
              <a:t>Long</a:t>
            </a:r>
            <a:endParaRPr lang="zh-TW" altLang="en-US" dirty="0"/>
          </a:p>
        </p:txBody>
      </p:sp>
      <p:sp>
        <p:nvSpPr>
          <p:cNvPr id="33" name="矩形 32">
            <a:extLst>
              <a:ext uri="{FF2B5EF4-FFF2-40B4-BE49-F238E27FC236}">
                <a16:creationId xmlns:a16="http://schemas.microsoft.com/office/drawing/2014/main" id="{BB2FC3B6-34F2-47A5-A4AF-A882448CE798}"/>
              </a:ext>
            </a:extLst>
          </p:cNvPr>
          <p:cNvSpPr/>
          <p:nvPr/>
        </p:nvSpPr>
        <p:spPr>
          <a:xfrm>
            <a:off x="11647706" y="2231996"/>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矩形 33">
            <a:extLst>
              <a:ext uri="{FF2B5EF4-FFF2-40B4-BE49-F238E27FC236}">
                <a16:creationId xmlns:a16="http://schemas.microsoft.com/office/drawing/2014/main" id="{666288C7-F5CB-48E4-8D76-163CDF4E1521}"/>
              </a:ext>
            </a:extLst>
          </p:cNvPr>
          <p:cNvSpPr/>
          <p:nvPr/>
        </p:nvSpPr>
        <p:spPr>
          <a:xfrm>
            <a:off x="11485470" y="5360209"/>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矩形 34">
            <a:extLst>
              <a:ext uri="{FF2B5EF4-FFF2-40B4-BE49-F238E27FC236}">
                <a16:creationId xmlns:a16="http://schemas.microsoft.com/office/drawing/2014/main" id="{22C1E112-AE50-46DC-8251-D6D5E0450AA8}"/>
              </a:ext>
            </a:extLst>
          </p:cNvPr>
          <p:cNvSpPr/>
          <p:nvPr/>
        </p:nvSpPr>
        <p:spPr>
          <a:xfrm>
            <a:off x="8927424"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矩形 44">
            <a:extLst>
              <a:ext uri="{FF2B5EF4-FFF2-40B4-BE49-F238E27FC236}">
                <a16:creationId xmlns:a16="http://schemas.microsoft.com/office/drawing/2014/main" id="{A7AC5CB5-ED89-4E3E-AD62-78E3BA5A407F}"/>
              </a:ext>
            </a:extLst>
          </p:cNvPr>
          <p:cNvSpPr/>
          <p:nvPr/>
        </p:nvSpPr>
        <p:spPr>
          <a:xfrm>
            <a:off x="6279842"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45">
            <a:extLst>
              <a:ext uri="{FF2B5EF4-FFF2-40B4-BE49-F238E27FC236}">
                <a16:creationId xmlns:a16="http://schemas.microsoft.com/office/drawing/2014/main" id="{ECFCDEC8-6D9E-4F90-9164-5AFC45503F9D}"/>
              </a:ext>
            </a:extLst>
          </p:cNvPr>
          <p:cNvSpPr/>
          <p:nvPr/>
        </p:nvSpPr>
        <p:spPr>
          <a:xfrm>
            <a:off x="5541053" y="1762316"/>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矩形 46">
            <a:extLst>
              <a:ext uri="{FF2B5EF4-FFF2-40B4-BE49-F238E27FC236}">
                <a16:creationId xmlns:a16="http://schemas.microsoft.com/office/drawing/2014/main" id="{42375863-2208-49BC-A294-DC35BC7C0E6F}"/>
              </a:ext>
            </a:extLst>
          </p:cNvPr>
          <p:cNvSpPr/>
          <p:nvPr/>
        </p:nvSpPr>
        <p:spPr>
          <a:xfrm>
            <a:off x="6592957" y="246968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矩形 29">
            <a:extLst>
              <a:ext uri="{FF2B5EF4-FFF2-40B4-BE49-F238E27FC236}">
                <a16:creationId xmlns:a16="http://schemas.microsoft.com/office/drawing/2014/main" id="{4AEC54F1-2642-426E-80DB-775A61DDF044}"/>
              </a:ext>
            </a:extLst>
          </p:cNvPr>
          <p:cNvSpPr/>
          <p:nvPr/>
        </p:nvSpPr>
        <p:spPr>
          <a:xfrm>
            <a:off x="10930467" y="1596950"/>
            <a:ext cx="107305"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id="{7B2555E3-898A-435A-9CA9-B6575FB7B1AA}"/>
              </a:ext>
            </a:extLst>
          </p:cNvPr>
          <p:cNvSpPr/>
          <p:nvPr/>
        </p:nvSpPr>
        <p:spPr>
          <a:xfrm>
            <a:off x="9794725" y="4840409"/>
            <a:ext cx="467790" cy="3979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1" name="矩形 70">
            <a:extLst>
              <a:ext uri="{FF2B5EF4-FFF2-40B4-BE49-F238E27FC236}">
                <a16:creationId xmlns:a16="http://schemas.microsoft.com/office/drawing/2014/main" id="{339F7727-7052-4D90-B6A9-2AED4DBC48EF}"/>
              </a:ext>
            </a:extLst>
          </p:cNvPr>
          <p:cNvSpPr/>
          <p:nvPr/>
        </p:nvSpPr>
        <p:spPr>
          <a:xfrm>
            <a:off x="9556542" y="4654243"/>
            <a:ext cx="218554" cy="2218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文字方塊 35">
            <a:extLst>
              <a:ext uri="{FF2B5EF4-FFF2-40B4-BE49-F238E27FC236}">
                <a16:creationId xmlns:a16="http://schemas.microsoft.com/office/drawing/2014/main" id="{BC8D4A16-5CCA-40C5-9964-FFF5383065ED}"/>
              </a:ext>
            </a:extLst>
          </p:cNvPr>
          <p:cNvSpPr txBox="1"/>
          <p:nvPr/>
        </p:nvSpPr>
        <p:spPr>
          <a:xfrm>
            <a:off x="76852" y="703212"/>
            <a:ext cx="6176432" cy="6186309"/>
          </a:xfrm>
          <a:prstGeom prst="rect">
            <a:avLst/>
          </a:prstGeom>
          <a:noFill/>
        </p:spPr>
        <p:txBody>
          <a:bodyPr wrap="square">
            <a:spAutoFit/>
          </a:bodyPr>
          <a:lstStyle/>
          <a:p>
            <a:pPr marL="285750" indent="-285750">
              <a:buFont typeface="Arial" panose="020B0604020202020204" pitchFamily="34" charset="0"/>
              <a:buChar char="•"/>
            </a:pPr>
            <a:r>
              <a:rPr lang="en-US" altLang="zh-TW" dirty="0"/>
              <a:t>Using the same calibrated model, the three singular values σ₁ ≥ σ₂ ≥ σ₃ at every real FEM node in the workspace are </a:t>
            </a:r>
            <a:r>
              <a:rPr lang="en-US" altLang="zh-TW" dirty="0" err="1"/>
              <a:t>histogrammed</a:t>
            </a:r>
            <a:r>
              <a:rPr lang="en-US" altLang="zh-TW" dirty="0"/>
              <a:t> separately. All three share one set of bins and are each </a:t>
            </a:r>
            <a:r>
              <a:rPr lang="en-US" altLang="zh-TW" dirty="0" err="1"/>
              <a:t>normalised</a:t>
            </a:r>
            <a:r>
              <a:rPr lang="en-US" altLang="zh-TW" dirty="0"/>
              <a:t> to a percentage, so the bar heights are directly </a:t>
            </a:r>
            <a:r>
              <a:rPr lang="en-US" altLang="zh-TW" dirty="0" err="1"/>
              <a:t>comparable. The</a:t>
            </a:r>
            <a:r>
              <a:rPr lang="en-US" altLang="zh-TW" dirty="0"/>
              <a:t> histogram resolution is 0.02 mT/A, the same as the efficiency-index histogram on the next slide.</a:t>
            </a:r>
          </a:p>
          <a:p>
            <a:pPr marL="285750" indent="-285750">
              <a:buFont typeface="Arial" panose="020B0604020202020204" pitchFamily="34" charset="0"/>
              <a:buChar char="•"/>
            </a:pPr>
            <a:r>
              <a:rPr lang="en-US" altLang="zh-TW" dirty="0"/>
              <a:t>Within the calibration radius the tweezer behaves as an essentially direction-independent three-degree-of-freedom actuator: the three principal gains differ by only 13.5 %, no direction is weak enough to be unusable, and the controller needs no extra margin for any particular axis. What sets the usable authority is the weakest axis σ₃, whose mean is 13.85 </a:t>
            </a:r>
            <a:r>
              <a:rPr lang="en-US" altLang="zh-TW" dirty="0" err="1"/>
              <a:t>mT</a:t>
            </a:r>
            <a:r>
              <a:rPr lang="en-US" altLang="zh-TW" dirty="0"/>
              <a:t>/A with only 1.5 % variation — the worst-case actuation capability is therefore very nearly a constant across the whole workspace and can be taken directly as a design value. Almost all of the spread comes from the strongest axis σ₁ (3.7 % variation), but since performance is governed by the weakest axis this fluctuation does not affect the guaranteed capability. The three peaks are clearly separated yet all fall within the narrow band of 13.4–17.3 </a:t>
            </a:r>
            <a:r>
              <a:rPr lang="en-US" altLang="zh-TW" dirty="0" err="1"/>
              <a:t>mT</a:t>
            </a:r>
            <a:r>
              <a:rPr lang="en-US" altLang="zh-TW" dirty="0"/>
              <a:t>/A, overlapping only on their adjacent flanks — direct evidence that the hexapole remains well-conditioned at this radius.</a:t>
            </a:r>
            <a:endParaRPr lang="zh-TW" altLang="en-US" dirty="0"/>
          </a:p>
        </p:txBody>
      </p:sp>
      <mc:AlternateContent xmlns:mc="http://schemas.openxmlformats.org/markup-compatibility/2006" xmlns:a14="http://schemas.microsoft.com/office/drawing/2010/main">
        <mc:Choice Requires="a14">
          <p:graphicFrame>
            <p:nvGraphicFramePr>
              <p:cNvPr id="10" name="表格 10">
                <a:extLst>
                  <a:ext uri="{FF2B5EF4-FFF2-40B4-BE49-F238E27FC236}">
                    <a16:creationId xmlns:a16="http://schemas.microsoft.com/office/drawing/2014/main" id="{8AD94496-9899-4763-AC19-DE9E4B62DF29}"/>
                  </a:ext>
                </a:extLst>
              </p:cNvPr>
              <p:cNvGraphicFramePr>
                <a:graphicFrameLocks noGrp="1"/>
              </p:cNvGraphicFramePr>
              <p:nvPr>
                <p:extLst>
                  <p:ext uri="{D42A27DB-BD31-4B8C-83A1-F6EECF244321}">
                    <p14:modId xmlns:p14="http://schemas.microsoft.com/office/powerpoint/2010/main" val="3481364289"/>
                  </p:ext>
                </p:extLst>
              </p:nvPr>
            </p:nvGraphicFramePr>
            <p:xfrm>
              <a:off x="6389119" y="4763249"/>
              <a:ext cx="5465600" cy="1010920"/>
            </p:xfrm>
            <a:graphic>
              <a:graphicData uri="http://schemas.openxmlformats.org/drawingml/2006/table">
                <a:tbl>
                  <a:tblPr firstRow="1" bandRow="1">
                    <a:tableStyleId>{5940675A-B579-460E-94D1-54222C63F5DA}</a:tableStyleId>
                  </a:tblPr>
                  <a:tblGrid>
                    <a:gridCol w="1366400">
                      <a:extLst>
                        <a:ext uri="{9D8B030D-6E8A-4147-A177-3AD203B41FA5}">
                          <a16:colId xmlns:a16="http://schemas.microsoft.com/office/drawing/2014/main" val="1576531335"/>
                        </a:ext>
                      </a:extLst>
                    </a:gridCol>
                    <a:gridCol w="1366400">
                      <a:extLst>
                        <a:ext uri="{9D8B030D-6E8A-4147-A177-3AD203B41FA5}">
                          <a16:colId xmlns:a16="http://schemas.microsoft.com/office/drawing/2014/main" val="3507019064"/>
                        </a:ext>
                      </a:extLst>
                    </a:gridCol>
                    <a:gridCol w="1366400">
                      <a:extLst>
                        <a:ext uri="{9D8B030D-6E8A-4147-A177-3AD203B41FA5}">
                          <a16:colId xmlns:a16="http://schemas.microsoft.com/office/drawing/2014/main" val="1921430209"/>
                        </a:ext>
                      </a:extLst>
                    </a:gridCol>
                    <a:gridCol w="1366400">
                      <a:extLst>
                        <a:ext uri="{9D8B030D-6E8A-4147-A177-3AD203B41FA5}">
                          <a16:colId xmlns:a16="http://schemas.microsoft.com/office/drawing/2014/main" val="2237932526"/>
                        </a:ext>
                      </a:extLst>
                    </a:gridCol>
                  </a:tblGrid>
                  <a:tr h="370840">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𝜎</m:t>
                                    </m:r>
                                  </m:e>
                                  <m:sub>
                                    <m:r>
                                      <a:rPr lang="en-US" altLang="zh-TW" b="0" i="1" smtClean="0">
                                        <a:latin typeface="Cambria Math" panose="02040503050406030204" pitchFamily="18" charset="0"/>
                                      </a:rPr>
                                      <m:t>11</m:t>
                                    </m:r>
                                  </m:sub>
                                </m:sSub>
                              </m:oMath>
                            </m:oMathPara>
                          </a14:m>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𝜎</m:t>
                                    </m:r>
                                  </m:e>
                                  <m:sub>
                                    <m:r>
                                      <a:rPr lang="en-US" altLang="zh-TW" b="0" i="1" smtClean="0">
                                        <a:latin typeface="Cambria Math" panose="02040503050406030204" pitchFamily="18" charset="0"/>
                                      </a:rPr>
                                      <m:t>22</m:t>
                                    </m:r>
                                  </m:sub>
                                </m:sSub>
                              </m:oMath>
                            </m:oMathPara>
                          </a14:m>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𝜎</m:t>
                                    </m:r>
                                  </m:e>
                                  <m:sub>
                                    <m:r>
                                      <a:rPr lang="en-US" altLang="zh-TW" b="0" i="1" smtClean="0">
                                        <a:latin typeface="Cambria Math" panose="02040503050406030204" pitchFamily="18" charset="0"/>
                                      </a:rPr>
                                      <m:t>33</m:t>
                                    </m:r>
                                  </m:sub>
                                </m:sSub>
                              </m:oMath>
                            </m:oMathPara>
                          </a14:m>
                          <a:endParaRPr lang="zh-TW" altLang="en-US" dirty="0"/>
                        </a:p>
                      </a:txBody>
                      <a:tcPr/>
                    </a:tc>
                    <a:extLst>
                      <a:ext uri="{0D108BD9-81ED-4DB2-BD59-A6C34878D82A}">
                        <a16:rowId xmlns:a16="http://schemas.microsoft.com/office/drawing/2014/main" val="168208475"/>
                      </a:ext>
                    </a:extLst>
                  </a:tr>
                  <a:tr h="370840">
                    <a:tc>
                      <a:txBody>
                        <a:bodyPr/>
                        <a:lstStyle/>
                        <a:p>
                          <a:pPr algn="ctr"/>
                          <a:r>
                            <a:rPr lang="en-US" altLang="zh-TW" dirty="0"/>
                            <a:t>Mean</a:t>
                          </a:r>
                          <a14:m>
                            <m:oMath xmlns:m="http://schemas.openxmlformats.org/officeDocument/2006/math">
                              <m:r>
                                <a:rPr lang="en-US" altLang="zh-TW" b="0" i="1" smtClean="0">
                                  <a:latin typeface="Cambria Math" panose="02040503050406030204" pitchFamily="18" charset="0"/>
                                </a:rPr>
                                <m:t>(</m:t>
                              </m:r>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r>
                                    <a:rPr lang="en-US" altLang="zh-TW" b="0" i="1" smtClean="0">
                                      <a:latin typeface="Cambria Math" panose="02040503050406030204" pitchFamily="18" charset="0"/>
                                    </a:rPr>
                                    <m:t>)</m:t>
                                  </m:r>
                                </m:den>
                              </m:f>
                            </m:oMath>
                          </a14:m>
                          <a:endParaRPr lang="zh-TW" altLang="en-US" dirty="0"/>
                        </a:p>
                      </a:txBody>
                      <a:tcPr/>
                    </a:tc>
                    <a:tc>
                      <a:txBody>
                        <a:bodyPr/>
                        <a:lstStyle/>
                        <a:p>
                          <a:pPr algn="ctr"/>
                          <a:r>
                            <a:rPr lang="en-US" altLang="zh-TW" dirty="0"/>
                            <a:t>15.721</a:t>
                          </a:r>
                          <a:endParaRPr lang="zh-TW" altLang="en-US" dirty="0"/>
                        </a:p>
                      </a:txBody>
                      <a:tcPr/>
                    </a:tc>
                    <a:tc>
                      <a:txBody>
                        <a:bodyPr/>
                        <a:lstStyle/>
                        <a:p>
                          <a:pPr algn="ctr"/>
                          <a:r>
                            <a:rPr lang="en-US" altLang="zh-TW" dirty="0"/>
                            <a:t>14.403</a:t>
                          </a:r>
                          <a:endParaRPr lang="zh-TW" altLang="en-US" dirty="0"/>
                        </a:p>
                      </a:txBody>
                      <a:tcPr/>
                    </a:tc>
                    <a:tc>
                      <a:txBody>
                        <a:bodyPr/>
                        <a:lstStyle/>
                        <a:p>
                          <a:pPr algn="ctr"/>
                          <a:r>
                            <a:rPr lang="en-US" altLang="zh-TW" dirty="0"/>
                            <a:t>13.852</a:t>
                          </a:r>
                          <a:endParaRPr lang="zh-TW" altLang="en-US" dirty="0"/>
                        </a:p>
                      </a:txBody>
                      <a:tcPr/>
                    </a:tc>
                    <a:extLst>
                      <a:ext uri="{0D108BD9-81ED-4DB2-BD59-A6C34878D82A}">
                        <a16:rowId xmlns:a16="http://schemas.microsoft.com/office/drawing/2014/main" val="3046649366"/>
                      </a:ext>
                    </a:extLst>
                  </a:tr>
                </a:tbl>
              </a:graphicData>
            </a:graphic>
          </p:graphicFrame>
        </mc:Choice>
        <mc:Fallback xmlns="">
          <p:graphicFrame>
            <p:nvGraphicFramePr>
              <p:cNvPr id="10" name="表格 10">
                <a:extLst>
                  <a:ext uri="{FF2B5EF4-FFF2-40B4-BE49-F238E27FC236}">
                    <a16:creationId xmlns:a16="http://schemas.microsoft.com/office/drawing/2014/main" id="{8AD94496-9899-4763-AC19-DE9E4B62DF29}"/>
                  </a:ext>
                </a:extLst>
              </p:cNvPr>
              <p:cNvGraphicFramePr>
                <a:graphicFrameLocks noGrp="1"/>
              </p:cNvGraphicFramePr>
              <p:nvPr>
                <p:extLst>
                  <p:ext uri="{D42A27DB-BD31-4B8C-83A1-F6EECF244321}">
                    <p14:modId xmlns:p14="http://schemas.microsoft.com/office/powerpoint/2010/main" val="3481364289"/>
                  </p:ext>
                </p:extLst>
              </p:nvPr>
            </p:nvGraphicFramePr>
            <p:xfrm>
              <a:off x="6389119" y="4763249"/>
              <a:ext cx="5465600" cy="1010920"/>
            </p:xfrm>
            <a:graphic>
              <a:graphicData uri="http://schemas.openxmlformats.org/drawingml/2006/table">
                <a:tbl>
                  <a:tblPr firstRow="1" bandRow="1">
                    <a:tableStyleId>{5940675A-B579-460E-94D1-54222C63F5DA}</a:tableStyleId>
                  </a:tblPr>
                  <a:tblGrid>
                    <a:gridCol w="1366400">
                      <a:extLst>
                        <a:ext uri="{9D8B030D-6E8A-4147-A177-3AD203B41FA5}">
                          <a16:colId xmlns:a16="http://schemas.microsoft.com/office/drawing/2014/main" val="1576531335"/>
                        </a:ext>
                      </a:extLst>
                    </a:gridCol>
                    <a:gridCol w="1366400">
                      <a:extLst>
                        <a:ext uri="{9D8B030D-6E8A-4147-A177-3AD203B41FA5}">
                          <a16:colId xmlns:a16="http://schemas.microsoft.com/office/drawing/2014/main" val="3507019064"/>
                        </a:ext>
                      </a:extLst>
                    </a:gridCol>
                    <a:gridCol w="1366400">
                      <a:extLst>
                        <a:ext uri="{9D8B030D-6E8A-4147-A177-3AD203B41FA5}">
                          <a16:colId xmlns:a16="http://schemas.microsoft.com/office/drawing/2014/main" val="1921430209"/>
                        </a:ext>
                      </a:extLst>
                    </a:gridCol>
                    <a:gridCol w="1366400">
                      <a:extLst>
                        <a:ext uri="{9D8B030D-6E8A-4147-A177-3AD203B41FA5}">
                          <a16:colId xmlns:a16="http://schemas.microsoft.com/office/drawing/2014/main" val="2237932526"/>
                        </a:ext>
                      </a:extLst>
                    </a:gridCol>
                  </a:tblGrid>
                  <a:tr h="370840">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p>
                      </a:txBody>
                      <a:tcPr>
                        <a:blipFill>
                          <a:blip r:embed="rId2"/>
                          <a:stretch>
                            <a:fillRect l="-100000" t="-1639" r="-200000" b="-349180"/>
                          </a:stretch>
                        </a:blipFill>
                      </a:tcPr>
                    </a:tc>
                    <a:tc>
                      <a:txBody>
                        <a:bodyPr/>
                        <a:lstStyle/>
                        <a:p>
                          <a:endParaRPr lang="zh-TW"/>
                        </a:p>
                      </a:txBody>
                      <a:tcPr>
                        <a:blipFill>
                          <a:blip r:embed="rId2"/>
                          <a:stretch>
                            <a:fillRect l="-200893" t="-1639" r="-100893" b="-349180"/>
                          </a:stretch>
                        </a:blipFill>
                      </a:tcPr>
                    </a:tc>
                    <a:tc>
                      <a:txBody>
                        <a:bodyPr/>
                        <a:lstStyle/>
                        <a:p>
                          <a:endParaRPr lang="zh-TW"/>
                        </a:p>
                      </a:txBody>
                      <a:tcPr>
                        <a:blipFill>
                          <a:blip r:embed="rId2"/>
                          <a:stretch>
                            <a:fillRect l="-300893" t="-1639" r="-893" b="-349180"/>
                          </a:stretch>
                        </a:blipFill>
                      </a:tcPr>
                    </a:tc>
                    <a:extLst>
                      <a:ext uri="{0D108BD9-81ED-4DB2-BD59-A6C34878D82A}">
                        <a16:rowId xmlns:a16="http://schemas.microsoft.com/office/drawing/2014/main" val="168208475"/>
                      </a:ext>
                    </a:extLst>
                  </a:tr>
                  <a:tr h="640080">
                    <a:tc>
                      <a:txBody>
                        <a:bodyPr/>
                        <a:lstStyle/>
                        <a:p>
                          <a:endParaRPr lang="zh-TW"/>
                        </a:p>
                      </a:txBody>
                      <a:tcPr>
                        <a:blipFill>
                          <a:blip r:embed="rId2"/>
                          <a:stretch>
                            <a:fillRect l="-446" t="-58491" r="-301339" b="-100943"/>
                          </a:stretch>
                        </a:blipFill>
                      </a:tcPr>
                    </a:tc>
                    <a:tc>
                      <a:txBody>
                        <a:bodyPr/>
                        <a:lstStyle/>
                        <a:p>
                          <a:pPr algn="ctr"/>
                          <a:r>
                            <a:rPr lang="en-US" altLang="zh-TW" dirty="0"/>
                            <a:t>15.721</a:t>
                          </a:r>
                          <a:endParaRPr lang="zh-TW" altLang="en-US" dirty="0"/>
                        </a:p>
                      </a:txBody>
                      <a:tcPr/>
                    </a:tc>
                    <a:tc>
                      <a:txBody>
                        <a:bodyPr/>
                        <a:lstStyle/>
                        <a:p>
                          <a:pPr algn="ctr"/>
                          <a:r>
                            <a:rPr lang="en-US" altLang="zh-TW" dirty="0"/>
                            <a:t>14.403</a:t>
                          </a:r>
                          <a:endParaRPr lang="zh-TW" altLang="en-US" dirty="0"/>
                        </a:p>
                      </a:txBody>
                      <a:tcPr/>
                    </a:tc>
                    <a:tc>
                      <a:txBody>
                        <a:bodyPr/>
                        <a:lstStyle/>
                        <a:p>
                          <a:pPr algn="ctr"/>
                          <a:r>
                            <a:rPr lang="en-US" altLang="zh-TW" dirty="0"/>
                            <a:t>13.852</a:t>
                          </a:r>
                          <a:endParaRPr lang="zh-TW" altLang="en-US" dirty="0"/>
                        </a:p>
                      </a:txBody>
                      <a:tcPr/>
                    </a:tc>
                    <a:extLst>
                      <a:ext uri="{0D108BD9-81ED-4DB2-BD59-A6C34878D82A}">
                        <a16:rowId xmlns:a16="http://schemas.microsoft.com/office/drawing/2014/main" val="3046649366"/>
                      </a:ext>
                    </a:extLst>
                  </a:tr>
                </a:tbl>
              </a:graphicData>
            </a:graphic>
          </p:graphicFrame>
        </mc:Fallback>
      </mc:AlternateContent>
      <p:grpSp>
        <p:nvGrpSpPr>
          <p:cNvPr id="17" name="群組 16">
            <a:extLst>
              <a:ext uri="{FF2B5EF4-FFF2-40B4-BE49-F238E27FC236}">
                <a16:creationId xmlns:a16="http://schemas.microsoft.com/office/drawing/2014/main" id="{992EFE15-F508-4AD8-86F1-386C54E47BD7}"/>
              </a:ext>
            </a:extLst>
          </p:cNvPr>
          <p:cNvGrpSpPr/>
          <p:nvPr/>
        </p:nvGrpSpPr>
        <p:grpSpPr>
          <a:xfrm>
            <a:off x="7329042" y="1253971"/>
            <a:ext cx="3415318" cy="2999811"/>
            <a:chOff x="7180484" y="1371330"/>
            <a:chExt cx="3415318" cy="2999811"/>
          </a:xfrm>
        </p:grpSpPr>
        <p:pic>
          <p:nvPicPr>
            <p:cNvPr id="13" name="圖片 12">
              <a:extLst>
                <a:ext uri="{FF2B5EF4-FFF2-40B4-BE49-F238E27FC236}">
                  <a16:creationId xmlns:a16="http://schemas.microsoft.com/office/drawing/2014/main" id="{C983E29E-A97A-4397-B896-F9216C0D7178}"/>
                </a:ext>
              </a:extLst>
            </p:cNvPr>
            <p:cNvPicPr>
              <a:picLocks noChangeAspect="1"/>
            </p:cNvPicPr>
            <p:nvPr/>
          </p:nvPicPr>
          <p:blipFill rotWithShape="1">
            <a:blip r:embed="rId3">
              <a:extLst>
                <a:ext uri="{28A0092B-C50C-407E-A947-70E740481C1C}">
                  <a14:useLocalDpi xmlns:a14="http://schemas.microsoft.com/office/drawing/2010/main" val="0"/>
                </a:ext>
              </a:extLst>
            </a:blip>
            <a:srcRect l="3951" t="5588" b="5588"/>
            <a:stretch/>
          </p:blipFill>
          <p:spPr>
            <a:xfrm>
              <a:off x="7510324" y="1371330"/>
              <a:ext cx="3085478" cy="2661257"/>
            </a:xfrm>
            <a:prstGeom prst="rect">
              <a:avLst/>
            </a:prstGeom>
          </p:spPr>
        </p:pic>
        <mc:AlternateContent xmlns:mc="http://schemas.openxmlformats.org/markup-compatibility/2006" xmlns:a14="http://schemas.microsoft.com/office/drawing/2010/main">
          <mc:Choice Requires="a14">
            <p:sp>
              <p:nvSpPr>
                <p:cNvPr id="41" name="文字方塊 40">
                  <a:extLst>
                    <a:ext uri="{FF2B5EF4-FFF2-40B4-BE49-F238E27FC236}">
                      <a16:creationId xmlns:a16="http://schemas.microsoft.com/office/drawing/2014/main" id="{51D18F12-379B-41DB-BF57-1AEA3635026E}"/>
                    </a:ext>
                  </a:extLst>
                </p:cNvPr>
                <p:cNvSpPr txBox="1"/>
                <p:nvPr/>
              </p:nvSpPr>
              <p:spPr>
                <a:xfrm>
                  <a:off x="7847695" y="4032587"/>
                  <a:ext cx="2596566" cy="338554"/>
                </a:xfrm>
                <a:prstGeom prst="rect">
                  <a:avLst/>
                </a:prstGeom>
                <a:noFill/>
              </p:spPr>
              <p:txBody>
                <a:bodyPr wrap="square">
                  <a:spAutoFit/>
                </a:bodyPr>
                <a:lstStyle/>
                <a:p>
                  <a:r>
                    <a:rPr lang="en-US" altLang="zh-TW" sz="1600" dirty="0">
                      <a:latin typeface="Times New Roman" panose="02020603050405020304" pitchFamily="18" charset="0"/>
                      <a:cs typeface="Times New Roman" panose="02020603050405020304" pitchFamily="18" charset="0"/>
                    </a:rPr>
                    <a:t>Singular value </a:t>
                  </a:r>
                  <a14:m>
                    <m:oMath xmlns:m="http://schemas.openxmlformats.org/officeDocument/2006/math">
                      <m:r>
                        <a:rPr lang="en-US" altLang="zh-TW" sz="1600" b="0" i="0" smtClean="0">
                          <a:latin typeface="Cambria Math" panose="02040503050406030204" pitchFamily="18" charset="0"/>
                        </a:rPr>
                        <m:t>(</m:t>
                      </m:r>
                      <m:f>
                        <m:fPr>
                          <m:type m:val="lin"/>
                          <m:ctrlPr>
                            <a:rPr lang="en-US" altLang="zh-TW" sz="1600" i="1" smtClean="0">
                              <a:latin typeface="Cambria Math" panose="02040503050406030204" pitchFamily="18" charset="0"/>
                            </a:rPr>
                          </m:ctrlPr>
                        </m:fPr>
                        <m:num>
                          <m:r>
                            <a:rPr lang="en-US" altLang="zh-TW" sz="1600" b="0" i="1" smtClean="0">
                              <a:latin typeface="Cambria Math" panose="02040503050406030204" pitchFamily="18" charset="0"/>
                            </a:rPr>
                            <m:t>𝑚𝑇</m:t>
                          </m:r>
                        </m:num>
                        <m:den>
                          <m:r>
                            <a:rPr lang="en-US" altLang="zh-TW" sz="1600" b="0" i="1" smtClean="0">
                              <a:latin typeface="Cambria Math" panose="02040503050406030204" pitchFamily="18" charset="0"/>
                            </a:rPr>
                            <m:t>𝐴</m:t>
                          </m:r>
                        </m:den>
                      </m:f>
                      <m:r>
                        <a:rPr lang="en-US" altLang="zh-TW" sz="1600" b="0" i="1" smtClean="0">
                          <a:latin typeface="Cambria Math" panose="02040503050406030204" pitchFamily="18" charset="0"/>
                        </a:rPr>
                        <m:t>)</m:t>
                      </m:r>
                    </m:oMath>
                  </a14:m>
                  <a:endParaRPr lang="zh-TW" altLang="en-US" sz="1600" dirty="0">
                    <a:latin typeface="Times New Roman" panose="02020603050405020304" pitchFamily="18" charset="0"/>
                    <a:cs typeface="Times New Roman" panose="02020603050405020304" pitchFamily="18" charset="0"/>
                  </a:endParaRPr>
                </a:p>
              </p:txBody>
            </p:sp>
          </mc:Choice>
          <mc:Fallback xmlns="">
            <p:sp>
              <p:nvSpPr>
                <p:cNvPr id="41" name="文字方塊 40">
                  <a:extLst>
                    <a:ext uri="{FF2B5EF4-FFF2-40B4-BE49-F238E27FC236}">
                      <a16:creationId xmlns:a16="http://schemas.microsoft.com/office/drawing/2014/main" id="{51D18F12-379B-41DB-BF57-1AEA3635026E}"/>
                    </a:ext>
                  </a:extLst>
                </p:cNvPr>
                <p:cNvSpPr txBox="1">
                  <a:spLocks noRot="1" noChangeAspect="1" noMove="1" noResize="1" noEditPoints="1" noAdjustHandles="1" noChangeArrowheads="1" noChangeShapeType="1" noTextEdit="1"/>
                </p:cNvSpPr>
                <p:nvPr/>
              </p:nvSpPr>
              <p:spPr>
                <a:xfrm>
                  <a:off x="7847695" y="4032587"/>
                  <a:ext cx="2596566" cy="338554"/>
                </a:xfrm>
                <a:prstGeom prst="rect">
                  <a:avLst/>
                </a:prstGeom>
                <a:blipFill>
                  <a:blip r:embed="rId4"/>
                  <a:stretch>
                    <a:fillRect l="-1408" t="-100000" r="-4695" b="-16428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2" name="文字方塊 41">
                  <a:extLst>
                    <a:ext uri="{FF2B5EF4-FFF2-40B4-BE49-F238E27FC236}">
                      <a16:creationId xmlns:a16="http://schemas.microsoft.com/office/drawing/2014/main" id="{35DA66F6-824F-4035-B87B-02930C45CF94}"/>
                    </a:ext>
                  </a:extLst>
                </p:cNvPr>
                <p:cNvSpPr txBox="1"/>
                <p:nvPr/>
              </p:nvSpPr>
              <p:spPr>
                <a:xfrm rot="16200000">
                  <a:off x="6386036" y="2447320"/>
                  <a:ext cx="1865895" cy="276999"/>
                </a:xfrm>
                <a:prstGeom prst="rect">
                  <a:avLst/>
                </a:prstGeom>
                <a:noFill/>
              </p:spPr>
              <p:txBody>
                <a:bodyPr wrap="none" lIns="0" tIns="0" rIns="0" bIns="0" rtlCol="0">
                  <a:spAutoFit/>
                </a:bodyPr>
                <a:lstStyle/>
                <a:p>
                  <a:r>
                    <a:rPr lang="zh-TW" altLang="en-US" dirty="0">
                      <a:latin typeface="Times New Roman" panose="02020603050405020304" pitchFamily="18" charset="0"/>
                      <a:cs typeface="Times New Roman" panose="02020603050405020304" pitchFamily="18" charset="0"/>
                    </a:rPr>
                    <a:t> </a:t>
                  </a:r>
                  <a:r>
                    <a:rPr lang="en-US" altLang="zh-TW" sz="1600" dirty="0">
                      <a:latin typeface="Times New Roman" panose="02020603050405020304" pitchFamily="18" charset="0"/>
                      <a:cs typeface="Times New Roman" panose="02020603050405020304" pitchFamily="18" charset="0"/>
                    </a:rPr>
                    <a:t>Percentage count</a:t>
                  </a:r>
                  <a14:m>
                    <m:oMath xmlns:m="http://schemas.openxmlformats.org/officeDocument/2006/math">
                      <m:r>
                        <a:rPr lang="en-US" altLang="zh-TW" sz="1600">
                          <a:latin typeface="Cambria Math" panose="02040503050406030204" pitchFamily="18" charset="0"/>
                        </a:rPr>
                        <m:t> </m:t>
                      </m:r>
                      <m:r>
                        <a:rPr lang="en-US" altLang="zh-TW" sz="1600" b="0" i="1" smtClean="0">
                          <a:latin typeface="Cambria Math" panose="02040503050406030204" pitchFamily="18" charset="0"/>
                        </a:rPr>
                        <m:t>(%)</m:t>
                      </m:r>
                    </m:oMath>
                  </a14:m>
                  <a:endParaRPr lang="zh-TW" altLang="en-US" dirty="0"/>
                </a:p>
              </p:txBody>
            </p:sp>
          </mc:Choice>
          <mc:Fallback xmlns="">
            <p:sp>
              <p:nvSpPr>
                <p:cNvPr id="42" name="文字方塊 41">
                  <a:extLst>
                    <a:ext uri="{FF2B5EF4-FFF2-40B4-BE49-F238E27FC236}">
                      <a16:creationId xmlns:a16="http://schemas.microsoft.com/office/drawing/2014/main" id="{35DA66F6-824F-4035-B87B-02930C45CF94}"/>
                    </a:ext>
                  </a:extLst>
                </p:cNvPr>
                <p:cNvSpPr txBox="1">
                  <a:spLocks noRot="1" noChangeAspect="1" noMove="1" noResize="1" noEditPoints="1" noAdjustHandles="1" noChangeArrowheads="1" noChangeShapeType="1" noTextEdit="1"/>
                </p:cNvSpPr>
                <p:nvPr/>
              </p:nvSpPr>
              <p:spPr>
                <a:xfrm rot="16200000">
                  <a:off x="6386036" y="2447320"/>
                  <a:ext cx="1865895" cy="276999"/>
                </a:xfrm>
                <a:prstGeom prst="rect">
                  <a:avLst/>
                </a:prstGeom>
                <a:blipFill>
                  <a:blip r:embed="rId5"/>
                  <a:stretch>
                    <a:fillRect l="-13043" t="-3268" r="-41304" b="-3595"/>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21740148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488031"/>
            <a:ext cx="12192000" cy="193506"/>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33" name="矩形 32">
            <a:extLst>
              <a:ext uri="{FF2B5EF4-FFF2-40B4-BE49-F238E27FC236}">
                <a16:creationId xmlns:a16="http://schemas.microsoft.com/office/drawing/2014/main" id="{BB2FC3B6-34F2-47A5-A4AF-A882448CE798}"/>
              </a:ext>
            </a:extLst>
          </p:cNvPr>
          <p:cNvSpPr/>
          <p:nvPr/>
        </p:nvSpPr>
        <p:spPr>
          <a:xfrm>
            <a:off x="11647706" y="2231996"/>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矩形 33">
            <a:extLst>
              <a:ext uri="{FF2B5EF4-FFF2-40B4-BE49-F238E27FC236}">
                <a16:creationId xmlns:a16="http://schemas.microsoft.com/office/drawing/2014/main" id="{666288C7-F5CB-48E4-8D76-163CDF4E1521}"/>
              </a:ext>
            </a:extLst>
          </p:cNvPr>
          <p:cNvSpPr/>
          <p:nvPr/>
        </p:nvSpPr>
        <p:spPr>
          <a:xfrm>
            <a:off x="11485470" y="5360209"/>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矩形 34">
            <a:extLst>
              <a:ext uri="{FF2B5EF4-FFF2-40B4-BE49-F238E27FC236}">
                <a16:creationId xmlns:a16="http://schemas.microsoft.com/office/drawing/2014/main" id="{22C1E112-AE50-46DC-8251-D6D5E0450AA8}"/>
              </a:ext>
            </a:extLst>
          </p:cNvPr>
          <p:cNvSpPr/>
          <p:nvPr/>
        </p:nvSpPr>
        <p:spPr>
          <a:xfrm>
            <a:off x="8927424"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矩形 44">
            <a:extLst>
              <a:ext uri="{FF2B5EF4-FFF2-40B4-BE49-F238E27FC236}">
                <a16:creationId xmlns:a16="http://schemas.microsoft.com/office/drawing/2014/main" id="{A7AC5CB5-ED89-4E3E-AD62-78E3BA5A407F}"/>
              </a:ext>
            </a:extLst>
          </p:cNvPr>
          <p:cNvSpPr/>
          <p:nvPr/>
        </p:nvSpPr>
        <p:spPr>
          <a:xfrm>
            <a:off x="6279842"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45">
            <a:extLst>
              <a:ext uri="{FF2B5EF4-FFF2-40B4-BE49-F238E27FC236}">
                <a16:creationId xmlns:a16="http://schemas.microsoft.com/office/drawing/2014/main" id="{ECFCDEC8-6D9E-4F90-9164-5AFC45503F9D}"/>
              </a:ext>
            </a:extLst>
          </p:cNvPr>
          <p:cNvSpPr/>
          <p:nvPr/>
        </p:nvSpPr>
        <p:spPr>
          <a:xfrm>
            <a:off x="5541053" y="1762316"/>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矩形 46">
            <a:extLst>
              <a:ext uri="{FF2B5EF4-FFF2-40B4-BE49-F238E27FC236}">
                <a16:creationId xmlns:a16="http://schemas.microsoft.com/office/drawing/2014/main" id="{42375863-2208-49BC-A294-DC35BC7C0E6F}"/>
              </a:ext>
            </a:extLst>
          </p:cNvPr>
          <p:cNvSpPr/>
          <p:nvPr/>
        </p:nvSpPr>
        <p:spPr>
          <a:xfrm>
            <a:off x="6592957" y="246968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矩形 29">
            <a:extLst>
              <a:ext uri="{FF2B5EF4-FFF2-40B4-BE49-F238E27FC236}">
                <a16:creationId xmlns:a16="http://schemas.microsoft.com/office/drawing/2014/main" id="{4AEC54F1-2642-426E-80DB-775A61DDF044}"/>
              </a:ext>
            </a:extLst>
          </p:cNvPr>
          <p:cNvSpPr/>
          <p:nvPr/>
        </p:nvSpPr>
        <p:spPr>
          <a:xfrm>
            <a:off x="10930467" y="1596950"/>
            <a:ext cx="107305"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id="{7B2555E3-898A-435A-9CA9-B6575FB7B1AA}"/>
              </a:ext>
            </a:extLst>
          </p:cNvPr>
          <p:cNvSpPr/>
          <p:nvPr/>
        </p:nvSpPr>
        <p:spPr>
          <a:xfrm>
            <a:off x="9794725" y="4840409"/>
            <a:ext cx="467790" cy="3979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1" name="矩形 70">
            <a:extLst>
              <a:ext uri="{FF2B5EF4-FFF2-40B4-BE49-F238E27FC236}">
                <a16:creationId xmlns:a16="http://schemas.microsoft.com/office/drawing/2014/main" id="{339F7727-7052-4D90-B6A9-2AED4DBC48EF}"/>
              </a:ext>
            </a:extLst>
          </p:cNvPr>
          <p:cNvSpPr/>
          <p:nvPr/>
        </p:nvSpPr>
        <p:spPr>
          <a:xfrm>
            <a:off x="9556542" y="4654243"/>
            <a:ext cx="218554" cy="2218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graphicFrame>
            <p:nvGraphicFramePr>
              <p:cNvPr id="10" name="表格 10">
                <a:extLst>
                  <a:ext uri="{FF2B5EF4-FFF2-40B4-BE49-F238E27FC236}">
                    <a16:creationId xmlns:a16="http://schemas.microsoft.com/office/drawing/2014/main" id="{8AD94496-9899-4763-AC19-DE9E4B62DF29}"/>
                  </a:ext>
                </a:extLst>
              </p:cNvPr>
              <p:cNvGraphicFramePr>
                <a:graphicFrameLocks noGrp="1"/>
              </p:cNvGraphicFramePr>
              <p:nvPr>
                <p:extLst>
                  <p:ext uri="{D42A27DB-BD31-4B8C-83A1-F6EECF244321}">
                    <p14:modId xmlns:p14="http://schemas.microsoft.com/office/powerpoint/2010/main" val="2447262638"/>
                  </p:ext>
                </p:extLst>
              </p:nvPr>
            </p:nvGraphicFramePr>
            <p:xfrm>
              <a:off x="752904" y="5583678"/>
              <a:ext cx="4099200" cy="741680"/>
            </p:xfrm>
            <a:graphic>
              <a:graphicData uri="http://schemas.openxmlformats.org/drawingml/2006/table">
                <a:tbl>
                  <a:tblPr firstRow="1" bandRow="1">
                    <a:tableStyleId>{5940675A-B579-460E-94D1-54222C63F5DA}</a:tableStyleId>
                  </a:tblPr>
                  <a:tblGrid>
                    <a:gridCol w="2049600">
                      <a:extLst>
                        <a:ext uri="{9D8B030D-6E8A-4147-A177-3AD203B41FA5}">
                          <a16:colId xmlns:a16="http://schemas.microsoft.com/office/drawing/2014/main" val="62779187"/>
                        </a:ext>
                      </a:extLst>
                    </a:gridCol>
                    <a:gridCol w="2049600">
                      <a:extLst>
                        <a:ext uri="{9D8B030D-6E8A-4147-A177-3AD203B41FA5}">
                          <a16:colId xmlns:a16="http://schemas.microsoft.com/office/drawing/2014/main" val="3507019064"/>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Mean</a:t>
                          </a:r>
                          <a14:m>
                            <m:oMath xmlns:m="http://schemas.openxmlformats.org/officeDocument/2006/math">
                              <m:r>
                                <a:rPr lang="en-US" altLang="zh-TW" b="0" i="1" smtClean="0">
                                  <a:latin typeface="Cambria Math" panose="02040503050406030204" pitchFamily="18" charset="0"/>
                                </a:rPr>
                                <m:t>(</m:t>
                              </m:r>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r>
                                    <a:rPr lang="en-US" altLang="zh-TW" b="0" i="1" smtClean="0">
                                      <a:latin typeface="Cambria Math" panose="02040503050406030204" pitchFamily="18" charset="0"/>
                                    </a:rPr>
                                    <m:t>)</m:t>
                                  </m:r>
                                </m:den>
                              </m:f>
                            </m:oMath>
                          </a14:m>
                          <a:endParaRPr lang="zh-TW" altLang="en-US" dirty="0"/>
                        </a:p>
                      </a:txBody>
                      <a:tcPr>
                        <a:lnL w="12700" cap="flat" cmpd="sng" algn="ctr">
                          <a:solidFill>
                            <a:schemeClr val="tx1"/>
                          </a:solidFill>
                          <a:prstDash val="solid"/>
                          <a:round/>
                          <a:headEnd type="none" w="med" len="med"/>
                          <a:tailEnd type="none" w="med" len="med"/>
                        </a:lnL>
                      </a:tcPr>
                    </a:tc>
                    <a:tc>
                      <a:txBody>
                        <a:bodyPr/>
                        <a:lstStyle/>
                        <a:p>
                          <a:pPr algn="ctr"/>
                          <a:r>
                            <a:rPr lang="zh-TW" altLang="en-US" dirty="0"/>
                            <a:t> </a:t>
                          </a:r>
                          <a:r>
                            <a:rPr lang="en-US" altLang="zh-TW" dirty="0"/>
                            <a:t>14.6337</a:t>
                          </a:r>
                          <a:endParaRPr lang="zh-TW" altLang="en-US" dirty="0"/>
                        </a:p>
                      </a:txBody>
                      <a:tcPr/>
                    </a:tc>
                    <a:extLst>
                      <a:ext uri="{0D108BD9-81ED-4DB2-BD59-A6C34878D82A}">
                        <a16:rowId xmlns:a16="http://schemas.microsoft.com/office/drawing/2014/main" val="168208475"/>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Std</a:t>
                          </a:r>
                          <a14:m>
                            <m:oMath xmlns:m="http://schemas.openxmlformats.org/officeDocument/2006/math">
                              <m:r>
                                <a:rPr lang="en-US" altLang="zh-TW" b="0" i="1" smtClean="0">
                                  <a:latin typeface="Cambria Math" panose="02040503050406030204" pitchFamily="18" charset="0"/>
                                </a:rPr>
                                <m:t>(</m:t>
                              </m:r>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r>
                                    <a:rPr lang="en-US" altLang="zh-TW" b="0" i="1" smtClean="0">
                                      <a:latin typeface="Cambria Math" panose="02040503050406030204" pitchFamily="18" charset="0"/>
                                    </a:rPr>
                                    <m:t>)</m:t>
                                  </m:r>
                                </m:den>
                              </m:f>
                            </m:oMath>
                          </a14:m>
                          <a:endParaRPr lang="zh-TW" altLang="en-US" dirty="0"/>
                        </a:p>
                      </a:txBody>
                      <a:tcPr>
                        <a:lnL w="12700" cap="flat" cmpd="sng" algn="ctr">
                          <a:solidFill>
                            <a:schemeClr val="tx1"/>
                          </a:solidFill>
                          <a:prstDash val="solid"/>
                          <a:round/>
                          <a:headEnd type="none" w="med" len="med"/>
                          <a:tailEnd type="none" w="med" len="med"/>
                        </a:lnL>
                      </a:tcPr>
                    </a:tc>
                    <a:tc>
                      <a:txBody>
                        <a:bodyPr/>
                        <a:lstStyle/>
                        <a:p>
                          <a:pPr algn="ctr"/>
                          <a:r>
                            <a:rPr lang="zh-TW" altLang="en-US" dirty="0"/>
                            <a:t> </a:t>
                          </a:r>
                          <a:r>
                            <a:rPr lang="en-US" altLang="zh-TW" dirty="0"/>
                            <a:t>0.1374</a:t>
                          </a:r>
                          <a:endParaRPr lang="zh-TW" altLang="en-US" dirty="0"/>
                        </a:p>
                      </a:txBody>
                      <a:tcPr/>
                    </a:tc>
                    <a:extLst>
                      <a:ext uri="{0D108BD9-81ED-4DB2-BD59-A6C34878D82A}">
                        <a16:rowId xmlns:a16="http://schemas.microsoft.com/office/drawing/2014/main" val="168208476"/>
                      </a:ext>
                    </a:extLst>
                  </a:tr>
                </a:tbl>
              </a:graphicData>
            </a:graphic>
          </p:graphicFrame>
        </mc:Choice>
        <mc:Fallback xmlns="">
          <p:graphicFrame>
            <p:nvGraphicFramePr>
              <p:cNvPr id="10" name="表格 10">
                <a:extLst>
                  <a:ext uri="{FF2B5EF4-FFF2-40B4-BE49-F238E27FC236}">
                    <a16:creationId xmlns:a16="http://schemas.microsoft.com/office/drawing/2014/main" id="{8AD94496-9899-4763-AC19-DE9E4B62DF29}"/>
                  </a:ext>
                </a:extLst>
              </p:cNvPr>
              <p:cNvGraphicFramePr>
                <a:graphicFrameLocks noGrp="1"/>
              </p:cNvGraphicFramePr>
              <p:nvPr>
                <p:extLst>
                  <p:ext uri="{D42A27DB-BD31-4B8C-83A1-F6EECF244321}">
                    <p14:modId xmlns:p14="http://schemas.microsoft.com/office/powerpoint/2010/main" val="2447262638"/>
                  </p:ext>
                </p:extLst>
              </p:nvPr>
            </p:nvGraphicFramePr>
            <p:xfrm>
              <a:off x="752904" y="5583678"/>
              <a:ext cx="4099200" cy="741680"/>
            </p:xfrm>
            <a:graphic>
              <a:graphicData uri="http://schemas.openxmlformats.org/drawingml/2006/table">
                <a:tbl>
                  <a:tblPr firstRow="1" bandRow="1">
                    <a:tableStyleId>{5940675A-B579-460E-94D1-54222C63F5DA}</a:tableStyleId>
                  </a:tblPr>
                  <a:tblGrid>
                    <a:gridCol w="2049600">
                      <a:extLst>
                        <a:ext uri="{9D8B030D-6E8A-4147-A177-3AD203B41FA5}">
                          <a16:colId xmlns:a16="http://schemas.microsoft.com/office/drawing/2014/main" val="62779187"/>
                        </a:ext>
                      </a:extLst>
                    </a:gridCol>
                    <a:gridCol w="2049600">
                      <a:extLst>
                        <a:ext uri="{9D8B030D-6E8A-4147-A177-3AD203B41FA5}">
                          <a16:colId xmlns:a16="http://schemas.microsoft.com/office/drawing/2014/main" val="3507019064"/>
                        </a:ext>
                      </a:extLst>
                    </a:gridCol>
                  </a:tblGrid>
                  <a:tr h="370840">
                    <a:tc>
                      <a:txBody>
                        <a:bodyPr/>
                        <a:lstStyle/>
                        <a:p>
                          <a:endParaRPr lang="zh-TW"/>
                        </a:p>
                      </a:txBody>
                      <a:tcPr>
                        <a:lnL w="12700" cap="flat" cmpd="sng" algn="ctr">
                          <a:solidFill>
                            <a:schemeClr val="tx1"/>
                          </a:solidFill>
                          <a:prstDash val="solid"/>
                          <a:round/>
                          <a:headEnd type="none" w="med" len="med"/>
                          <a:tailEnd type="none" w="med" len="med"/>
                        </a:lnL>
                        <a:blipFill>
                          <a:blip r:embed="rId2"/>
                          <a:stretch>
                            <a:fillRect l="-297" t="-56911" r="-100593" b="-37398"/>
                          </a:stretch>
                        </a:blipFill>
                      </a:tcPr>
                    </a:tc>
                    <a:tc>
                      <a:txBody>
                        <a:bodyPr/>
                        <a:lstStyle/>
                        <a:p>
                          <a:pPr algn="ctr"/>
                          <a:r>
                            <a:rPr lang="zh-TW" altLang="en-US" dirty="0"/>
                            <a:t> </a:t>
                          </a:r>
                          <a:r>
                            <a:rPr lang="en-US" altLang="zh-TW" dirty="0"/>
                            <a:t>14.6337</a:t>
                          </a:r>
                          <a:endParaRPr lang="zh-TW" altLang="en-US" dirty="0"/>
                        </a:p>
                      </a:txBody>
                      <a:tcPr/>
                    </a:tc>
                    <a:extLst>
                      <a:ext uri="{0D108BD9-81ED-4DB2-BD59-A6C34878D82A}">
                        <a16:rowId xmlns:a16="http://schemas.microsoft.com/office/drawing/2014/main" val="168208475"/>
                      </a:ext>
                    </a:extLst>
                  </a:tr>
                  <a:tr h="370840">
                    <a:tc>
                      <a:txBody>
                        <a:bodyPr/>
                        <a:lstStyle/>
                        <a:p>
                          <a:pPr algn="ctr"/>
                          <a:r>
                            <a:rPr lang="en-US" altLang="zh-TW" dirty="0"/>
                            <a:t>Std(mT/A)</a:t>
                          </a:r>
                        </a:p>
                      </a:txBody>
                      <a:tcPr>
                        <a:lnL w="12700" cap="flat" cmpd="sng" algn="ctr">
                          <a:solidFill>
                            <a:schemeClr val="tx1"/>
                          </a:solidFill>
                          <a:prstDash val="solid"/>
                          <a:round/>
                          <a:headEnd type="none" w="med" len="med"/>
                          <a:tailEnd type="none" w="med" len="med"/>
                        </a:lnL>
                      </a:tcPr>
                    </a:tc>
                    <a:tc>
                      <a:txBody>
                        <a:bodyPr/>
                        <a:lstStyle/>
                        <a:p>
                          <a:pPr algn="ctr"/>
                          <a:r>
                            <a:rPr lang="zh-TW" altLang="en-US" dirty="0"/>
                            <a:t> </a:t>
                          </a:r>
                          <a:r>
                            <a:rPr lang="en-US" altLang="zh-TW" dirty="0"/>
                            <a:t>0.1374</a:t>
                          </a:r>
                          <a:endParaRPr lang="zh-TW" altLang="en-US" dirty="0"/>
                        </a:p>
                      </a:txBody>
                      <a:tcPr/>
                    </a:tc>
                    <a:extLst>
                      <a:ext uri="{0D108BD9-81ED-4DB2-BD59-A6C34878D82A}">
                        <a16:rowId xmlns:a16="http://schemas.microsoft.com/office/drawing/2014/main" val="168208476"/>
                      </a:ext>
                    </a:extLst>
                  </a:tr>
                </a:tbl>
              </a:graphicData>
            </a:graphic>
          </p:graphicFrame>
        </mc:Fallback>
      </mc:AlternateContent>
      <p:grpSp>
        <p:nvGrpSpPr>
          <p:cNvPr id="14" name="群組 13">
            <a:extLst>
              <a:ext uri="{FF2B5EF4-FFF2-40B4-BE49-F238E27FC236}">
                <a16:creationId xmlns:a16="http://schemas.microsoft.com/office/drawing/2014/main" id="{C299C441-BCF8-4475-BFF9-35587BD5D694}"/>
              </a:ext>
            </a:extLst>
          </p:cNvPr>
          <p:cNvGrpSpPr/>
          <p:nvPr/>
        </p:nvGrpSpPr>
        <p:grpSpPr>
          <a:xfrm>
            <a:off x="532216" y="1820150"/>
            <a:ext cx="3068396" cy="2276433"/>
            <a:chOff x="7145625" y="2109855"/>
            <a:chExt cx="3068396" cy="2276433"/>
          </a:xfrm>
        </p:grpSpPr>
        <p:sp>
          <p:nvSpPr>
            <p:cNvPr id="11" name="矩形 10">
              <a:extLst>
                <a:ext uri="{FF2B5EF4-FFF2-40B4-BE49-F238E27FC236}">
                  <a16:creationId xmlns:a16="http://schemas.microsoft.com/office/drawing/2014/main" id="{F3FAB7FA-B1DA-4330-B83C-E622173A04E6}"/>
                </a:ext>
              </a:extLst>
            </p:cNvPr>
            <p:cNvSpPr/>
            <p:nvPr/>
          </p:nvSpPr>
          <p:spPr>
            <a:xfrm>
              <a:off x="9223695" y="4165600"/>
              <a:ext cx="990326" cy="2206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矩形 36">
              <a:extLst>
                <a:ext uri="{FF2B5EF4-FFF2-40B4-BE49-F238E27FC236}">
                  <a16:creationId xmlns:a16="http://schemas.microsoft.com/office/drawing/2014/main" id="{583C597C-6CE1-44DE-B1A0-2232A829391D}"/>
                </a:ext>
              </a:extLst>
            </p:cNvPr>
            <p:cNvSpPr/>
            <p:nvPr/>
          </p:nvSpPr>
          <p:spPr>
            <a:xfrm rot="16200000">
              <a:off x="6595311" y="2660169"/>
              <a:ext cx="1321315" cy="2206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graphicFrame>
        <p:nvGraphicFramePr>
          <p:cNvPr id="36" name="表格 10">
            <a:extLst>
              <a:ext uri="{FF2B5EF4-FFF2-40B4-BE49-F238E27FC236}">
                <a16:creationId xmlns:a16="http://schemas.microsoft.com/office/drawing/2014/main" id="{06A81075-ED01-41B7-9DB8-42F5FE710999}"/>
              </a:ext>
            </a:extLst>
          </p:cNvPr>
          <p:cNvGraphicFramePr>
            <a:graphicFrameLocks noGrp="1"/>
          </p:cNvGraphicFramePr>
          <p:nvPr>
            <p:extLst>
              <p:ext uri="{D42A27DB-BD31-4B8C-83A1-F6EECF244321}">
                <p14:modId xmlns:p14="http://schemas.microsoft.com/office/powerpoint/2010/main" val="107762648"/>
              </p:ext>
            </p:extLst>
          </p:nvPr>
        </p:nvGraphicFramePr>
        <p:xfrm>
          <a:off x="7096378" y="5549943"/>
          <a:ext cx="4099200" cy="741680"/>
        </p:xfrm>
        <a:graphic>
          <a:graphicData uri="http://schemas.openxmlformats.org/drawingml/2006/table">
            <a:tbl>
              <a:tblPr firstRow="1" bandRow="1">
                <a:tableStyleId>{5940675A-B579-460E-94D1-54222C63F5DA}</a:tableStyleId>
              </a:tblPr>
              <a:tblGrid>
                <a:gridCol w="2049600">
                  <a:extLst>
                    <a:ext uri="{9D8B030D-6E8A-4147-A177-3AD203B41FA5}">
                      <a16:colId xmlns:a16="http://schemas.microsoft.com/office/drawing/2014/main" val="62779187"/>
                    </a:ext>
                  </a:extLst>
                </a:gridCol>
                <a:gridCol w="2049600">
                  <a:extLst>
                    <a:ext uri="{9D8B030D-6E8A-4147-A177-3AD203B41FA5}">
                      <a16:colId xmlns:a16="http://schemas.microsoft.com/office/drawing/2014/main" val="3507019064"/>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Mean</a:t>
                      </a:r>
                      <a:endParaRPr lang="zh-TW" altLang="en-US" dirty="0"/>
                    </a:p>
                  </a:txBody>
                  <a:tcPr>
                    <a:lnL w="12700" cap="flat" cmpd="sng" algn="ctr">
                      <a:solidFill>
                        <a:schemeClr val="tx1"/>
                      </a:solidFill>
                      <a:prstDash val="solid"/>
                      <a:round/>
                      <a:headEnd type="none" w="med" len="med"/>
                      <a:tailEnd type="none" w="med" len="med"/>
                    </a:lnL>
                  </a:tcPr>
                </a:tc>
                <a:tc>
                  <a:txBody>
                    <a:bodyPr/>
                    <a:lstStyle/>
                    <a:p>
                      <a:pPr algn="ctr"/>
                      <a:r>
                        <a:rPr lang="zh-TW" altLang="en-US" dirty="0"/>
                        <a:t> </a:t>
                      </a:r>
                      <a:r>
                        <a:rPr lang="en-US" altLang="zh-TW" dirty="0"/>
                        <a:t>0.8826</a:t>
                      </a:r>
                      <a:endParaRPr lang="zh-TW" altLang="en-US" dirty="0"/>
                    </a:p>
                  </a:txBody>
                  <a:tcPr/>
                </a:tc>
                <a:extLst>
                  <a:ext uri="{0D108BD9-81ED-4DB2-BD59-A6C34878D82A}">
                    <a16:rowId xmlns:a16="http://schemas.microsoft.com/office/drawing/2014/main" val="168208475"/>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Std</a:t>
                      </a:r>
                      <a:endParaRPr lang="zh-TW" altLang="en-US" dirty="0"/>
                    </a:p>
                  </a:txBody>
                  <a:tcPr>
                    <a:lnL w="12700" cap="flat" cmpd="sng" algn="ctr">
                      <a:solidFill>
                        <a:schemeClr val="tx1"/>
                      </a:solidFill>
                      <a:prstDash val="solid"/>
                      <a:round/>
                      <a:headEnd type="none" w="med" len="med"/>
                      <a:tailEnd type="none" w="med" len="med"/>
                    </a:lnL>
                  </a:tcPr>
                </a:tc>
                <a:tc>
                  <a:txBody>
                    <a:bodyPr/>
                    <a:lstStyle/>
                    <a:p>
                      <a:pPr algn="ctr"/>
                      <a:r>
                        <a:rPr lang="zh-TW" altLang="en-US" dirty="0"/>
                        <a:t> </a:t>
                      </a:r>
                      <a:r>
                        <a:rPr lang="en-US" altLang="zh-TW" dirty="0"/>
                        <a:t>0.0417</a:t>
                      </a:r>
                      <a:endParaRPr lang="zh-TW" altLang="en-US" dirty="0"/>
                    </a:p>
                  </a:txBody>
                  <a:tcPr/>
                </a:tc>
                <a:extLst>
                  <a:ext uri="{0D108BD9-81ED-4DB2-BD59-A6C34878D82A}">
                    <a16:rowId xmlns:a16="http://schemas.microsoft.com/office/drawing/2014/main" val="168208476"/>
                  </a:ext>
                </a:extLst>
              </a:tr>
            </a:tbl>
          </a:graphicData>
        </a:graphic>
      </p:graphicFrame>
      <p:grpSp>
        <p:nvGrpSpPr>
          <p:cNvPr id="7" name="群組 6">
            <a:extLst>
              <a:ext uri="{FF2B5EF4-FFF2-40B4-BE49-F238E27FC236}">
                <a16:creationId xmlns:a16="http://schemas.microsoft.com/office/drawing/2014/main" id="{5C5594DC-3EFD-4C1C-8ECE-7FF6BBBDADC3}"/>
              </a:ext>
            </a:extLst>
          </p:cNvPr>
          <p:cNvGrpSpPr/>
          <p:nvPr/>
        </p:nvGrpSpPr>
        <p:grpSpPr>
          <a:xfrm>
            <a:off x="618655" y="1318178"/>
            <a:ext cx="3228508" cy="2887767"/>
            <a:chOff x="621677" y="879336"/>
            <a:chExt cx="4086310" cy="3533459"/>
          </a:xfrm>
        </p:grpSpPr>
        <p:pic>
          <p:nvPicPr>
            <p:cNvPr id="6" name="圖片 5">
              <a:extLst>
                <a:ext uri="{FF2B5EF4-FFF2-40B4-BE49-F238E27FC236}">
                  <a16:creationId xmlns:a16="http://schemas.microsoft.com/office/drawing/2014/main" id="{C888683B-4034-4E91-9C20-5D643AA660EC}"/>
                </a:ext>
              </a:extLst>
            </p:cNvPr>
            <p:cNvPicPr>
              <a:picLocks noChangeAspect="1"/>
            </p:cNvPicPr>
            <p:nvPr/>
          </p:nvPicPr>
          <p:blipFill rotWithShape="1">
            <a:blip r:embed="rId3">
              <a:extLst>
                <a:ext uri="{28A0092B-C50C-407E-A947-70E740481C1C}">
                  <a14:useLocalDpi xmlns:a14="http://schemas.microsoft.com/office/drawing/2010/main" val="0"/>
                </a:ext>
              </a:extLst>
            </a:blip>
            <a:srcRect l="7098" t="5139" b="5015"/>
            <a:stretch/>
          </p:blipFill>
          <p:spPr>
            <a:xfrm>
              <a:off x="1042704" y="879336"/>
              <a:ext cx="3665283" cy="3202793"/>
            </a:xfrm>
            <a:prstGeom prst="rect">
              <a:avLst/>
            </a:prstGeom>
          </p:spPr>
        </p:pic>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FEF79B47-1C29-458E-94E1-E6497CCF1948}"/>
                    </a:ext>
                  </a:extLst>
                </p:cNvPr>
                <p:cNvSpPr txBox="1"/>
                <p:nvPr/>
              </p:nvSpPr>
              <p:spPr>
                <a:xfrm>
                  <a:off x="1475755" y="3998542"/>
                  <a:ext cx="3142508" cy="414253"/>
                </a:xfrm>
                <a:prstGeom prst="rect">
                  <a:avLst/>
                </a:prstGeom>
                <a:noFill/>
              </p:spPr>
              <p:txBody>
                <a:bodyPr wrap="square">
                  <a:spAutoFit/>
                </a:bodyPr>
                <a:lstStyle/>
                <a:p>
                  <a:r>
                    <a:rPr lang="en-US" altLang="zh-TW" sz="1600" dirty="0">
                      <a:latin typeface="Times New Roman" panose="02020603050405020304" pitchFamily="18" charset="0"/>
                      <a:cs typeface="Times New Roman" panose="02020603050405020304" pitchFamily="18" charset="0"/>
                    </a:rPr>
                    <a:t>Efficiency index </a:t>
                  </a:r>
                  <a14:m>
                    <m:oMath xmlns:m="http://schemas.openxmlformats.org/officeDocument/2006/math">
                      <m:d>
                        <m:dPr>
                          <m:ctrlPr>
                            <a:rPr lang="en-US" altLang="zh-TW" sz="1600" i="1">
                              <a:latin typeface="Cambria Math" panose="02040503050406030204" pitchFamily="18" charset="0"/>
                              <a:cs typeface="Times New Roman" panose="02020603050405020304" pitchFamily="18" charset="0"/>
                            </a:rPr>
                          </m:ctrlPr>
                        </m:dPr>
                        <m:e>
                          <m:f>
                            <m:fPr>
                              <m:type m:val="lin"/>
                              <m:ctrlPr>
                                <a:rPr lang="en-US" altLang="zh-TW" sz="1600" i="1">
                                  <a:latin typeface="Cambria Math" panose="02040503050406030204" pitchFamily="18" charset="0"/>
                                  <a:cs typeface="Times New Roman" panose="02020603050405020304" pitchFamily="18" charset="0"/>
                                </a:rPr>
                              </m:ctrlPr>
                            </m:fPr>
                            <m:num>
                              <m:r>
                                <a:rPr lang="en-US" altLang="zh-TW" sz="1600" i="1">
                                  <a:latin typeface="Cambria Math" panose="02040503050406030204" pitchFamily="18" charset="0"/>
                                  <a:cs typeface="Times New Roman" panose="02020603050405020304" pitchFamily="18" charset="0"/>
                                </a:rPr>
                                <m:t>𝑚𝑇</m:t>
                              </m:r>
                            </m:num>
                            <m:den>
                              <m:r>
                                <a:rPr lang="en-US" altLang="zh-TW" sz="1600" i="1">
                                  <a:latin typeface="Cambria Math" panose="02040503050406030204" pitchFamily="18" charset="0"/>
                                  <a:cs typeface="Times New Roman" panose="02020603050405020304" pitchFamily="18" charset="0"/>
                                </a:rPr>
                                <m:t>𝐴</m:t>
                              </m:r>
                            </m:den>
                          </m:f>
                        </m:e>
                      </m:d>
                    </m:oMath>
                  </a14:m>
                  <a:endParaRPr lang="zh-TW" altLang="en-US" sz="1600" dirty="0">
                    <a:latin typeface="Times New Roman" panose="02020603050405020304" pitchFamily="18" charset="0"/>
                    <a:cs typeface="Times New Roman" panose="02020603050405020304" pitchFamily="18" charset="0"/>
                  </a:endParaRPr>
                </a:p>
              </p:txBody>
            </p:sp>
          </mc:Choice>
          <mc:Fallback xmlns="">
            <p:sp>
              <p:nvSpPr>
                <p:cNvPr id="26" name="文字方塊 25">
                  <a:extLst>
                    <a:ext uri="{FF2B5EF4-FFF2-40B4-BE49-F238E27FC236}">
                      <a16:creationId xmlns:a16="http://schemas.microsoft.com/office/drawing/2014/main" id="{FEF79B47-1C29-458E-94E1-E6497CCF1948}"/>
                    </a:ext>
                  </a:extLst>
                </p:cNvPr>
                <p:cNvSpPr txBox="1">
                  <a:spLocks noRot="1" noChangeAspect="1" noMove="1" noResize="1" noEditPoints="1" noAdjustHandles="1" noChangeArrowheads="1" noChangeShapeType="1" noTextEdit="1"/>
                </p:cNvSpPr>
                <p:nvPr/>
              </p:nvSpPr>
              <p:spPr>
                <a:xfrm>
                  <a:off x="1475755" y="3998542"/>
                  <a:ext cx="3142508" cy="414253"/>
                </a:xfrm>
                <a:prstGeom prst="rect">
                  <a:avLst/>
                </a:prstGeom>
                <a:blipFill>
                  <a:blip r:embed="rId5"/>
                  <a:stretch>
                    <a:fillRect l="-1229" t="-100000" r="-5651" b="-16428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1AF27334-E988-48DD-B36A-86972053722A}"/>
                    </a:ext>
                  </a:extLst>
                </p:cNvPr>
                <p:cNvSpPr txBox="1"/>
                <p:nvPr/>
              </p:nvSpPr>
              <p:spPr>
                <a:xfrm rot="16200000">
                  <a:off x="-344575" y="2259949"/>
                  <a:ext cx="2283101" cy="350597"/>
                </a:xfrm>
                <a:prstGeom prst="rect">
                  <a:avLst/>
                </a:prstGeom>
                <a:noFill/>
              </p:spPr>
              <p:txBody>
                <a:bodyPr wrap="none" lIns="0" tIns="0" rIns="0" bIns="0" rtlCol="0">
                  <a:spAutoFit/>
                </a:bodyPr>
                <a:lstStyle/>
                <a:p>
                  <a:r>
                    <a:rPr lang="zh-TW" altLang="en-US" dirty="0">
                      <a:latin typeface="Times New Roman" panose="02020603050405020304" pitchFamily="18" charset="0"/>
                      <a:cs typeface="Times New Roman" panose="02020603050405020304" pitchFamily="18" charset="0"/>
                    </a:rPr>
                    <a:t> </a:t>
                  </a:r>
                  <a:r>
                    <a:rPr lang="en-US" altLang="zh-TW" sz="1600" dirty="0">
                      <a:latin typeface="Times New Roman" panose="02020603050405020304" pitchFamily="18" charset="0"/>
                      <a:cs typeface="Times New Roman" panose="02020603050405020304" pitchFamily="18" charset="0"/>
                    </a:rPr>
                    <a:t>Percentage count</a:t>
                  </a:r>
                  <a14:m>
                    <m:oMath xmlns:m="http://schemas.openxmlformats.org/officeDocument/2006/math">
                      <m:r>
                        <a:rPr lang="en-US" altLang="zh-TW" sz="1600">
                          <a:latin typeface="Cambria Math" panose="02040503050406030204" pitchFamily="18" charset="0"/>
                        </a:rPr>
                        <m:t> </m:t>
                      </m:r>
                      <m:r>
                        <a:rPr lang="en-US" altLang="zh-TW" sz="1600" b="0" i="1" smtClean="0">
                          <a:latin typeface="Cambria Math" panose="02040503050406030204" pitchFamily="18" charset="0"/>
                        </a:rPr>
                        <m:t>(%)</m:t>
                      </m:r>
                    </m:oMath>
                  </a14:m>
                  <a:endParaRPr lang="zh-TW" altLang="en-US" dirty="0"/>
                </a:p>
              </p:txBody>
            </p:sp>
          </mc:Choice>
          <mc:Fallback xmlns="">
            <p:sp>
              <p:nvSpPr>
                <p:cNvPr id="27" name="文字方塊 26">
                  <a:extLst>
                    <a:ext uri="{FF2B5EF4-FFF2-40B4-BE49-F238E27FC236}">
                      <a16:creationId xmlns:a16="http://schemas.microsoft.com/office/drawing/2014/main" id="{1AF27334-E988-48DD-B36A-86972053722A}"/>
                    </a:ext>
                  </a:extLst>
                </p:cNvPr>
                <p:cNvSpPr txBox="1">
                  <a:spLocks noRot="1" noChangeAspect="1" noMove="1" noResize="1" noEditPoints="1" noAdjustHandles="1" noChangeArrowheads="1" noChangeShapeType="1" noTextEdit="1"/>
                </p:cNvSpPr>
                <p:nvPr/>
              </p:nvSpPr>
              <p:spPr>
                <a:xfrm rot="16200000">
                  <a:off x="-344575" y="2259949"/>
                  <a:ext cx="2283101" cy="350597"/>
                </a:xfrm>
                <a:prstGeom prst="rect">
                  <a:avLst/>
                </a:prstGeom>
                <a:blipFill>
                  <a:blip r:embed="rId6"/>
                  <a:stretch>
                    <a:fillRect l="-13043" t="-3268" r="-41304" b="-3595"/>
                  </a:stretch>
                </a:blipFill>
              </p:spPr>
              <p:txBody>
                <a:bodyPr/>
                <a:lstStyle/>
                <a:p>
                  <a:r>
                    <a:rPr lang="zh-TW" altLang="en-US">
                      <a:noFill/>
                    </a:rPr>
                    <a:t> </a:t>
                  </a:r>
                </a:p>
              </p:txBody>
            </p:sp>
          </mc:Fallback>
        </mc:AlternateContent>
      </p:grpSp>
      <p:sp>
        <p:nvSpPr>
          <p:cNvPr id="8" name="文字方塊 7">
            <a:extLst>
              <a:ext uri="{FF2B5EF4-FFF2-40B4-BE49-F238E27FC236}">
                <a16:creationId xmlns:a16="http://schemas.microsoft.com/office/drawing/2014/main" id="{F4A528F8-4FA5-4DC8-ACC8-2E873A6F2490}"/>
              </a:ext>
            </a:extLst>
          </p:cNvPr>
          <p:cNvSpPr txBox="1"/>
          <p:nvPr/>
        </p:nvSpPr>
        <p:spPr>
          <a:xfrm>
            <a:off x="642559" y="4814741"/>
            <a:ext cx="3784600"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Histogram resolution:0.02 </a:t>
            </a:r>
            <a:r>
              <a:rPr lang="en-US" altLang="zh-TW" dirty="0" err="1"/>
              <a:t>mT</a:t>
            </a:r>
            <a:r>
              <a:rPr lang="en-US" altLang="zh-TW" dirty="0"/>
              <a:t>/A</a:t>
            </a:r>
            <a:endParaRPr lang="zh-TW" altLang="en-US" dirty="0"/>
          </a:p>
        </p:txBody>
      </p:sp>
      <p:sp>
        <p:nvSpPr>
          <p:cNvPr id="31" name="文字方塊 30">
            <a:extLst>
              <a:ext uri="{FF2B5EF4-FFF2-40B4-BE49-F238E27FC236}">
                <a16:creationId xmlns:a16="http://schemas.microsoft.com/office/drawing/2014/main" id="{94B1D736-2D57-41E4-B054-55D92DE0B3C2}"/>
              </a:ext>
            </a:extLst>
          </p:cNvPr>
          <p:cNvSpPr txBox="1"/>
          <p:nvPr/>
        </p:nvSpPr>
        <p:spPr>
          <a:xfrm>
            <a:off x="6967159" y="4876102"/>
            <a:ext cx="3784600"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Histogram resolution:0.02 </a:t>
            </a:r>
            <a:endParaRPr lang="zh-TW" altLang="en-US" dirty="0"/>
          </a:p>
        </p:txBody>
      </p:sp>
      <p:grpSp>
        <p:nvGrpSpPr>
          <p:cNvPr id="18" name="群組 17">
            <a:extLst>
              <a:ext uri="{FF2B5EF4-FFF2-40B4-BE49-F238E27FC236}">
                <a16:creationId xmlns:a16="http://schemas.microsoft.com/office/drawing/2014/main" id="{354CEE28-943A-4704-83EC-763859EE7F2A}"/>
              </a:ext>
            </a:extLst>
          </p:cNvPr>
          <p:cNvGrpSpPr/>
          <p:nvPr/>
        </p:nvGrpSpPr>
        <p:grpSpPr>
          <a:xfrm>
            <a:off x="6871649" y="1142656"/>
            <a:ext cx="3439482" cy="3302459"/>
            <a:chOff x="6603398" y="677060"/>
            <a:chExt cx="3803243" cy="3785476"/>
          </a:xfrm>
        </p:grpSpPr>
        <p:pic>
          <p:nvPicPr>
            <p:cNvPr id="17" name="圖片 16">
              <a:extLst>
                <a:ext uri="{FF2B5EF4-FFF2-40B4-BE49-F238E27FC236}">
                  <a16:creationId xmlns:a16="http://schemas.microsoft.com/office/drawing/2014/main" id="{C424775C-C795-4608-BAB9-BF168421C1F2}"/>
                </a:ext>
              </a:extLst>
            </p:cNvPr>
            <p:cNvPicPr>
              <a:picLocks noChangeAspect="1"/>
            </p:cNvPicPr>
            <p:nvPr/>
          </p:nvPicPr>
          <p:blipFill rotWithShape="1">
            <a:blip r:embed="rId7">
              <a:extLst>
                <a:ext uri="{28A0092B-C50C-407E-A947-70E740481C1C}">
                  <a14:useLocalDpi xmlns:a14="http://schemas.microsoft.com/office/drawing/2010/main" val="0"/>
                </a:ext>
              </a:extLst>
            </a:blip>
            <a:srcRect l="3793" b="3542"/>
            <a:stretch/>
          </p:blipFill>
          <p:spPr>
            <a:xfrm>
              <a:off x="6880397" y="677060"/>
              <a:ext cx="3526244" cy="3480073"/>
            </a:xfrm>
            <a:prstGeom prst="rect">
              <a:avLst/>
            </a:prstGeom>
          </p:spPr>
        </p:pic>
        <p:sp>
          <p:nvSpPr>
            <p:cNvPr id="38" name="文字方塊 37">
              <a:extLst>
                <a:ext uri="{FF2B5EF4-FFF2-40B4-BE49-F238E27FC236}">
                  <a16:creationId xmlns:a16="http://schemas.microsoft.com/office/drawing/2014/main" id="{BADF1D84-F108-4AA8-9456-CED888C4EF20}"/>
                </a:ext>
              </a:extLst>
            </p:cNvPr>
            <p:cNvSpPr txBox="1"/>
            <p:nvPr/>
          </p:nvSpPr>
          <p:spPr>
            <a:xfrm>
              <a:off x="8148963" y="4060062"/>
              <a:ext cx="1240913" cy="402474"/>
            </a:xfrm>
            <a:prstGeom prst="rect">
              <a:avLst/>
            </a:prstGeom>
            <a:noFill/>
          </p:spPr>
          <p:txBody>
            <a:bodyPr wrap="square">
              <a:spAutoFit/>
            </a:bodyPr>
            <a:lstStyle/>
            <a:p>
              <a:r>
                <a:rPr lang="en-US" altLang="zh-TW" dirty="0">
                  <a:latin typeface="Times New Roman" panose="02020603050405020304" pitchFamily="18" charset="0"/>
                  <a:cs typeface="Times New Roman" panose="02020603050405020304" pitchFamily="18" charset="0"/>
                </a:rPr>
                <a:t>Isotropy</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9" name="文字方塊 38">
                  <a:extLst>
                    <a:ext uri="{FF2B5EF4-FFF2-40B4-BE49-F238E27FC236}">
                      <a16:creationId xmlns:a16="http://schemas.microsoft.com/office/drawing/2014/main" id="{579A6B44-3768-4212-B9BC-A8DE7CD364F1}"/>
                    </a:ext>
                  </a:extLst>
                </p:cNvPr>
                <p:cNvSpPr txBox="1"/>
                <p:nvPr/>
              </p:nvSpPr>
              <p:spPr>
                <a:xfrm rot="16200000">
                  <a:off x="5696740" y="2217865"/>
                  <a:ext cx="2090316" cy="276999"/>
                </a:xfrm>
                <a:prstGeom prst="rect">
                  <a:avLst/>
                </a:prstGeom>
                <a:noFill/>
              </p:spPr>
              <p:txBody>
                <a:bodyPr wrap="none" lIns="0" tIns="0" rIns="0" bIns="0" rtlCol="0">
                  <a:spAutoFit/>
                </a:bodyPr>
                <a:lstStyle/>
                <a:p>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Percentage count</a:t>
                  </a:r>
                  <a14:m>
                    <m:oMath xmlns:m="http://schemas.openxmlformats.org/officeDocument/2006/math">
                      <m:r>
                        <a:rPr lang="en-US" altLang="zh-TW">
                          <a:latin typeface="Cambria Math" panose="02040503050406030204" pitchFamily="18" charset="0"/>
                        </a:rPr>
                        <m:t> </m:t>
                      </m:r>
                      <m:r>
                        <a:rPr lang="en-US" altLang="zh-TW" b="0" i="1" smtClean="0">
                          <a:latin typeface="Cambria Math" panose="02040503050406030204" pitchFamily="18" charset="0"/>
                        </a:rPr>
                        <m:t>(%)</m:t>
                      </m:r>
                    </m:oMath>
                  </a14:m>
                  <a:endParaRPr lang="zh-TW" altLang="en-US" dirty="0"/>
                </a:p>
              </p:txBody>
            </p:sp>
          </mc:Choice>
          <mc:Fallback xmlns="">
            <p:sp>
              <p:nvSpPr>
                <p:cNvPr id="39" name="文字方塊 38">
                  <a:extLst>
                    <a:ext uri="{FF2B5EF4-FFF2-40B4-BE49-F238E27FC236}">
                      <a16:creationId xmlns:a16="http://schemas.microsoft.com/office/drawing/2014/main" id="{579A6B44-3768-4212-B9BC-A8DE7CD364F1}"/>
                    </a:ext>
                  </a:extLst>
                </p:cNvPr>
                <p:cNvSpPr txBox="1">
                  <a:spLocks noRot="1" noChangeAspect="1" noMove="1" noResize="1" noEditPoints="1" noAdjustHandles="1" noChangeArrowheads="1" noChangeShapeType="1" noTextEdit="1"/>
                </p:cNvSpPr>
                <p:nvPr/>
              </p:nvSpPr>
              <p:spPr>
                <a:xfrm rot="16200000">
                  <a:off x="5696740" y="2217865"/>
                  <a:ext cx="2090316" cy="276999"/>
                </a:xfrm>
                <a:prstGeom prst="rect">
                  <a:avLst/>
                </a:prstGeom>
                <a:blipFill>
                  <a:blip r:embed="rId8"/>
                  <a:stretch>
                    <a:fillRect l="-33333" t="-13651" r="-59524" b="-4444"/>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29984656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Reference</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8" name="矩形 17">
            <a:extLst>
              <a:ext uri="{FF2B5EF4-FFF2-40B4-BE49-F238E27FC236}">
                <a16:creationId xmlns:a16="http://schemas.microsoft.com/office/drawing/2014/main" id="{D626DE7A-F9C6-47BF-9503-E4D79EF03BB4}"/>
              </a:ext>
            </a:extLst>
          </p:cNvPr>
          <p:cNvSpPr/>
          <p:nvPr/>
        </p:nvSpPr>
        <p:spPr>
          <a:xfrm rot="21166399">
            <a:off x="8390467" y="5858933"/>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1" name="文字方塊 20">
                <a:extLst>
                  <a:ext uri="{FF2B5EF4-FFF2-40B4-BE49-F238E27FC236}">
                    <a16:creationId xmlns:a16="http://schemas.microsoft.com/office/drawing/2014/main" id="{527AD032-2BCD-42FA-94F3-08857DF7AF3A}"/>
                  </a:ext>
                </a:extLst>
              </p:cNvPr>
              <p:cNvSpPr txBox="1"/>
              <p:nvPr/>
            </p:nvSpPr>
            <p:spPr>
              <a:xfrm>
                <a:off x="110067" y="552085"/>
                <a:ext cx="11763465" cy="383567"/>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rPr>
                      <m:t>𝑊𝑜𝑟𝑘𝑠𝑝𝑎𝑐𝑒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𝑟𝑎𝑑𝑖𝑢𝑠</m:t>
                    </m:r>
                    <m:r>
                      <a:rPr lang="en-US" altLang="zh-TW" b="0" i="1" smtClean="0">
                        <a:latin typeface="Cambria Math" panose="02040503050406030204" pitchFamily="18" charset="0"/>
                      </a:rPr>
                      <m:t>=</m:t>
                    </m:r>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ea typeface="Cambria Math" panose="02040503050406030204" pitchFamily="18" charset="0"/>
                          </a:rPr>
                          <m:t>ℓ</m:t>
                        </m:r>
                      </m:e>
                    </m:acc>
                  </m:oMath>
                </a14:m>
                <a:endParaRPr lang="zh-TW" altLang="en-US" dirty="0"/>
              </a:p>
            </p:txBody>
          </p:sp>
        </mc:Choice>
        <mc:Fallback xmlns="">
          <p:sp>
            <p:nvSpPr>
              <p:cNvPr id="21" name="文字方塊 20">
                <a:extLst>
                  <a:ext uri="{FF2B5EF4-FFF2-40B4-BE49-F238E27FC236}">
                    <a16:creationId xmlns:a16="http://schemas.microsoft.com/office/drawing/2014/main" id="{527AD032-2BCD-42FA-94F3-08857DF7AF3A}"/>
                  </a:ext>
                </a:extLst>
              </p:cNvPr>
              <p:cNvSpPr txBox="1">
                <a:spLocks noRot="1" noChangeAspect="1" noMove="1" noResize="1" noEditPoints="1" noAdjustHandles="1" noChangeArrowheads="1" noChangeShapeType="1" noTextEdit="1"/>
              </p:cNvSpPr>
              <p:nvPr/>
            </p:nvSpPr>
            <p:spPr>
              <a:xfrm>
                <a:off x="110067" y="552085"/>
                <a:ext cx="11763465" cy="383567"/>
              </a:xfrm>
              <a:prstGeom prst="rect">
                <a:avLst/>
              </a:prstGeom>
              <a:blipFill>
                <a:blip r:embed="rId2"/>
                <a:stretch>
                  <a:fillRect l="-311" t="-1613" b="-2096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2DEABB3D-9062-4DA4-A120-2766352A3F4C}"/>
                  </a:ext>
                </a:extLst>
              </p:cNvPr>
              <p:cNvSpPr txBox="1"/>
              <p:nvPr/>
            </p:nvSpPr>
            <p:spPr>
              <a:xfrm>
                <a:off x="110067" y="1103976"/>
                <a:ext cx="4258733" cy="369332"/>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ea typeface="Cambria Math" panose="02040503050406030204" pitchFamily="18" charset="0"/>
                      </a:rPr>
                      <m:t>𝐹𝑙𝑢𝑥</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𝑑𝑖𝑠𝑡𝑟𝑖𝑏𝑢𝑡𝑖𝑜𝑛</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𝑚𝑎𝑡𝑟𝑖𝑥</m:t>
                    </m:r>
                    <m:r>
                      <a:rPr lang="en-US" altLang="zh-TW" b="0" i="1" smtClean="0">
                        <a:latin typeface="Cambria Math" panose="02040503050406030204" pitchFamily="18" charset="0"/>
                        <a:ea typeface="Cambria Math" panose="02040503050406030204" pitchFamily="18" charset="0"/>
                      </a:rPr>
                      <m:t>=</m:t>
                    </m:r>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oMath>
                </a14:m>
                <a:endParaRPr lang="zh-TW" altLang="en-US" dirty="0"/>
              </a:p>
            </p:txBody>
          </p:sp>
        </mc:Choice>
        <mc:Fallback xmlns="">
          <p:sp>
            <p:nvSpPr>
              <p:cNvPr id="14" name="文字方塊 13">
                <a:extLst>
                  <a:ext uri="{FF2B5EF4-FFF2-40B4-BE49-F238E27FC236}">
                    <a16:creationId xmlns:a16="http://schemas.microsoft.com/office/drawing/2014/main" id="{2DEABB3D-9062-4DA4-A120-2766352A3F4C}"/>
                  </a:ext>
                </a:extLst>
              </p:cNvPr>
              <p:cNvSpPr txBox="1">
                <a:spLocks noRot="1" noChangeAspect="1" noMove="1" noResize="1" noEditPoints="1" noAdjustHandles="1" noChangeArrowheads="1" noChangeShapeType="1" noTextEdit="1"/>
              </p:cNvSpPr>
              <p:nvPr/>
            </p:nvSpPr>
            <p:spPr>
              <a:xfrm>
                <a:off x="110067" y="1103976"/>
                <a:ext cx="4258733" cy="369332"/>
              </a:xfrm>
              <a:prstGeom prst="rect">
                <a:avLst/>
              </a:prstGeom>
              <a:blipFill>
                <a:blip r:embed="rId3"/>
                <a:stretch>
                  <a:fillRect l="-858" t="-3279" b="-180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文字方塊 14">
                <a:extLst>
                  <a:ext uri="{FF2B5EF4-FFF2-40B4-BE49-F238E27FC236}">
                    <a16:creationId xmlns:a16="http://schemas.microsoft.com/office/drawing/2014/main" id="{7423A256-C166-4717-91CD-2EEEBEC6306E}"/>
                  </a:ext>
                </a:extLst>
              </p:cNvPr>
              <p:cNvSpPr txBox="1"/>
              <p:nvPr/>
            </p:nvSpPr>
            <p:spPr>
              <a:xfrm>
                <a:off x="110067" y="1641632"/>
                <a:ext cx="4258733" cy="397673"/>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rPr>
                      <m:t>𝐶𝑢𝑟𝑟𝑒𝑛𝑡</m:t>
                    </m:r>
                    <m:r>
                      <a:rPr lang="en-US" altLang="zh-TW" b="0" i="1" smtClean="0">
                        <a:latin typeface="Cambria Math" panose="02040503050406030204" pitchFamily="18" charset="0"/>
                      </a:rPr>
                      <m:t> </m:t>
                    </m:r>
                    <m:r>
                      <a:rPr lang="en-US" altLang="zh-TW" b="0" i="1" smtClean="0">
                        <a:latin typeface="Cambria Math" panose="02040503050406030204" pitchFamily="18" charset="0"/>
                      </a:rPr>
                      <m:t>𝑡𝑜</m:t>
                    </m:r>
                    <m:r>
                      <a:rPr lang="en-US" altLang="zh-TW" b="0" i="1" smtClean="0">
                        <a:latin typeface="Cambria Math" panose="02040503050406030204" pitchFamily="18" charset="0"/>
                      </a:rPr>
                      <m:t> </m:t>
                    </m:r>
                    <m:r>
                      <a:rPr lang="en-US" altLang="zh-TW" b="0" i="1" smtClean="0">
                        <a:latin typeface="Cambria Math" panose="02040503050406030204" pitchFamily="18" charset="0"/>
                      </a:rPr>
                      <m:t>𝑓𝑖𝑒𝑙𝑑</m:t>
                    </m:r>
                    <m:r>
                      <a:rPr lang="en-US" altLang="zh-TW" b="0" i="1" smtClean="0">
                        <a:latin typeface="Cambria Math" panose="02040503050406030204" pitchFamily="18" charset="0"/>
                      </a:rPr>
                      <m:t> </m:t>
                    </m:r>
                    <m:r>
                      <a:rPr lang="en-US" altLang="zh-TW" b="0" i="1" smtClean="0">
                        <a:latin typeface="Cambria Math" panose="02040503050406030204" pitchFamily="18" charset="0"/>
                      </a:rPr>
                      <m:t>𝑔𝑎𝑖𝑛</m:t>
                    </m:r>
                    <m:r>
                      <a:rPr lang="en-US" altLang="zh-TW" b="0" i="1" smtClean="0">
                        <a:latin typeface="Cambria Math" panose="02040503050406030204" pitchFamily="18" charset="0"/>
                        <a:ea typeface="Cambria Math" panose="02040503050406030204" pitchFamily="18" charset="0"/>
                      </a:rPr>
                      <m:t>=</m:t>
                    </m:r>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oMath>
                </a14:m>
                <a:endParaRPr lang="zh-TW" altLang="en-US" dirty="0"/>
              </a:p>
            </p:txBody>
          </p:sp>
        </mc:Choice>
        <mc:Fallback xmlns="">
          <p:sp>
            <p:nvSpPr>
              <p:cNvPr id="15" name="文字方塊 14">
                <a:extLst>
                  <a:ext uri="{FF2B5EF4-FFF2-40B4-BE49-F238E27FC236}">
                    <a16:creationId xmlns:a16="http://schemas.microsoft.com/office/drawing/2014/main" id="{7423A256-C166-4717-91CD-2EEEBEC6306E}"/>
                  </a:ext>
                </a:extLst>
              </p:cNvPr>
              <p:cNvSpPr txBox="1">
                <a:spLocks noRot="1" noChangeAspect="1" noMove="1" noResize="1" noEditPoints="1" noAdjustHandles="1" noChangeArrowheads="1" noChangeShapeType="1" noTextEdit="1"/>
              </p:cNvSpPr>
              <p:nvPr/>
            </p:nvSpPr>
            <p:spPr>
              <a:xfrm>
                <a:off x="110067" y="1641632"/>
                <a:ext cx="4258733" cy="397673"/>
              </a:xfrm>
              <a:prstGeom prst="rect">
                <a:avLst/>
              </a:prstGeom>
              <a:blipFill>
                <a:blip r:embed="rId4"/>
                <a:stretch>
                  <a:fillRect l="-858" b="-1515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0" name="文字方塊 19">
                <a:extLst>
                  <a:ext uri="{FF2B5EF4-FFF2-40B4-BE49-F238E27FC236}">
                    <a16:creationId xmlns:a16="http://schemas.microsoft.com/office/drawing/2014/main" id="{594BBAD5-0B9C-40E7-A139-CD14DD1A069D}"/>
                  </a:ext>
                </a:extLst>
              </p:cNvPr>
              <p:cNvSpPr txBox="1"/>
              <p:nvPr/>
            </p:nvSpPr>
            <p:spPr>
              <a:xfrm>
                <a:off x="110065" y="2855412"/>
                <a:ext cx="8585202" cy="656013"/>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ea typeface="Cambria Math" panose="02040503050406030204" pitchFamily="18" charset="0"/>
                      </a:rPr>
                      <m:t>𝑅𝑀𝑆</m:t>
                    </m:r>
                    <m:r>
                      <a:rPr lang="en-US" altLang="zh-TW" b="0" i="1" smtClean="0">
                        <a:latin typeface="Cambria Math" panose="02040503050406030204" pitchFamily="18" charset="0"/>
                        <a:ea typeface="Cambria Math" panose="02040503050406030204" pitchFamily="18" charset="0"/>
                      </a:rPr>
                      <m:t>=</m:t>
                    </m:r>
                    <m:rad>
                      <m:radPr>
                        <m:degHide m:val="on"/>
                        <m:ctrlPr>
                          <a:rPr lang="en-US" altLang="zh-TW" b="0" i="1" smtClean="0">
                            <a:latin typeface="Cambria Math" panose="02040503050406030204" pitchFamily="18" charset="0"/>
                            <a:ea typeface="Cambria Math" panose="02040503050406030204" pitchFamily="18" charset="0"/>
                          </a:rPr>
                        </m:ctrlPr>
                      </m:radPr>
                      <m:deg/>
                      <m:e>
                        <m:f>
                          <m:fPr>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𝐽</m:t>
                            </m:r>
                          </m:num>
                          <m:den>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𝑁</m:t>
                                </m:r>
                              </m:e>
                              <m:sub>
                                <m:r>
                                  <m:rPr>
                                    <m:sty m:val="p"/>
                                  </m:rPr>
                                  <a:rPr lang="en-US" altLang="zh-TW" i="1">
                                    <a:latin typeface="Cambria Math" panose="02040503050406030204" pitchFamily="18" charset="0"/>
                                    <a:ea typeface="Cambria Math" panose="02040503050406030204" pitchFamily="18" charset="0"/>
                                  </a:rPr>
                                  <m:t>C</m:t>
                                </m:r>
                              </m:sub>
                            </m:sSub>
                          </m:den>
                        </m:f>
                      </m:e>
                    </m:rad>
                    <m:r>
                      <a:rPr lang="en-US" altLang="zh-TW" b="0" i="1" smtClean="0">
                        <a:latin typeface="Cambria Math" panose="02040503050406030204" pitchFamily="18" charset="0"/>
                        <a:ea typeface="Cambria Math" panose="02040503050406030204" pitchFamily="18" charset="0"/>
                      </a:rPr>
                      <m:t> </m:t>
                    </m:r>
                  </m:oMath>
                </a14:m>
                <a:r>
                  <a:rPr lang="en-US" altLang="zh-TW" dirty="0"/>
                  <a:t>, where </a:t>
                </a:r>
                <a14:m>
                  <m:oMath xmlns:m="http://schemas.openxmlformats.org/officeDocument/2006/math">
                    <m:r>
                      <a:rPr lang="en-US" altLang="zh-TW" b="0" i="1" smtClean="0">
                        <a:latin typeface="Cambria Math" panose="02040503050406030204" pitchFamily="18" charset="0"/>
                      </a:rPr>
                      <m:t>𝐽</m:t>
                    </m:r>
                    <m:r>
                      <a:rPr lang="en-US" altLang="zh-TW" b="0" i="1" smtClean="0">
                        <a:latin typeface="Cambria Math" panose="02040503050406030204" pitchFamily="18" charset="0"/>
                      </a:rPr>
                      <m:t>=</m:t>
                    </m:r>
                    <m:nary>
                      <m:naryPr>
                        <m:chr m:val="∑"/>
                        <m:supHide m:val="on"/>
                        <m:ctrlPr>
                          <a:rPr lang="en-US" altLang="zh-TW" b="0" i="1" smtClean="0">
                            <a:latin typeface="Cambria Math" panose="02040503050406030204" pitchFamily="18" charset="0"/>
                          </a:rPr>
                        </m:ctrlPr>
                      </m:naryPr>
                      <m:sub>
                        <m:r>
                          <m:rPr>
                            <m:brk m:alnAt="7"/>
                          </m:rPr>
                          <a:rPr lang="en-US" altLang="zh-TW" b="0" i="1" smtClean="0">
                            <a:latin typeface="Cambria Math" panose="02040503050406030204" pitchFamily="18" charset="0"/>
                          </a:rPr>
                          <m:t>𝑗</m:t>
                        </m:r>
                      </m:sub>
                      <m:sup/>
                      <m:e>
                        <m:nary>
                          <m:naryPr>
                            <m:chr m:val="∑"/>
                            <m:supHide m:val="on"/>
                            <m:ctrlPr>
                              <a:rPr lang="en-US" altLang="zh-TW" b="0" i="1" smtClean="0">
                                <a:latin typeface="Cambria Math" panose="02040503050406030204" pitchFamily="18" charset="0"/>
                              </a:rPr>
                            </m:ctrlPr>
                          </m:naryPr>
                          <m:sub>
                            <m:r>
                              <m:rPr>
                                <m:brk m:alnAt="7"/>
                              </m:rPr>
                              <a:rPr lang="en-US" altLang="zh-TW" b="0" i="1" smtClean="0">
                                <a:latin typeface="Cambria Math" panose="02040503050406030204" pitchFamily="18" charset="0"/>
                              </a:rPr>
                              <m:t>𝑖</m:t>
                            </m:r>
                          </m:sub>
                          <m:sup/>
                          <m:e>
                            <m:sSup>
                              <m:sSupPr>
                                <m:ctrlPr>
                                  <a:rPr lang="en-US" altLang="zh-TW" b="0" i="1" smtClean="0">
                                    <a:latin typeface="Cambria Math" panose="02040503050406030204" pitchFamily="18" charset="0"/>
                                  </a:rPr>
                                </m:ctrlPr>
                              </m:sSupPr>
                              <m:e>
                                <m:sSub>
                                  <m:sSubPr>
                                    <m:ctrlPr>
                                      <a:rPr lang="en-US" altLang="zh-TW" b="0" i="1" smtClean="0">
                                        <a:latin typeface="Cambria Math" panose="02040503050406030204" pitchFamily="18" charset="0"/>
                                      </a:rPr>
                                    </m:ctrlPr>
                                  </m:sSubPr>
                                  <m:e>
                                    <m:r>
                                      <a:rPr lang="zh-TW" altLang="en-US" b="0" i="1" smtClean="0">
                                        <a:latin typeface="Cambria Math" panose="02040503050406030204" pitchFamily="18" charset="0"/>
                                      </a:rPr>
                                      <m:t>𝜀</m:t>
                                    </m:r>
                                  </m:e>
                                  <m:sub>
                                    <m:r>
                                      <a:rPr lang="en-US" altLang="zh-TW" b="0" i="1" smtClean="0">
                                        <a:latin typeface="Cambria Math" panose="02040503050406030204" pitchFamily="18" charset="0"/>
                                      </a:rPr>
                                      <m:t>𝑖𝑗</m:t>
                                    </m:r>
                                  </m:sub>
                                </m:sSub>
                              </m:e>
                              <m:sup>
                                <m:r>
                                  <a:rPr lang="en-US" altLang="zh-TW" b="0" i="1" smtClean="0">
                                    <a:latin typeface="Cambria Math" panose="02040503050406030204" pitchFamily="18" charset="0"/>
                                  </a:rPr>
                                  <m:t>𝑇</m:t>
                                </m:r>
                              </m:sup>
                            </m:sSup>
                            <m:sSub>
                              <m:sSubPr>
                                <m:ctrlPr>
                                  <a:rPr lang="en-US" altLang="zh-TW" b="0" i="1" smtClean="0">
                                    <a:latin typeface="Cambria Math" panose="02040503050406030204" pitchFamily="18" charset="0"/>
                                  </a:rPr>
                                </m:ctrlPr>
                              </m:sSubPr>
                              <m:e>
                                <m:r>
                                  <a:rPr lang="zh-TW" altLang="en-US" b="0" i="1" smtClean="0">
                                    <a:latin typeface="Cambria Math" panose="02040503050406030204" pitchFamily="18" charset="0"/>
                                  </a:rPr>
                                  <m:t>𝜀</m:t>
                                </m:r>
                              </m:e>
                              <m:sub>
                                <m:r>
                                  <a:rPr lang="en-US" altLang="zh-TW" b="0" i="1" smtClean="0">
                                    <a:latin typeface="Cambria Math" panose="02040503050406030204" pitchFamily="18" charset="0"/>
                                  </a:rPr>
                                  <m:t>𝑖𝑗</m:t>
                                </m:r>
                              </m:sub>
                            </m:sSub>
                          </m:e>
                        </m:nary>
                      </m:e>
                    </m:nary>
                  </m:oMath>
                </a14:m>
                <a:endParaRPr lang="zh-TW" altLang="en-US" dirty="0"/>
              </a:p>
            </p:txBody>
          </p:sp>
        </mc:Choice>
        <mc:Fallback xmlns="">
          <p:sp>
            <p:nvSpPr>
              <p:cNvPr id="20" name="文字方塊 19">
                <a:extLst>
                  <a:ext uri="{FF2B5EF4-FFF2-40B4-BE49-F238E27FC236}">
                    <a16:creationId xmlns:a16="http://schemas.microsoft.com/office/drawing/2014/main" id="{594BBAD5-0B9C-40E7-A139-CD14DD1A069D}"/>
                  </a:ext>
                </a:extLst>
              </p:cNvPr>
              <p:cNvSpPr txBox="1">
                <a:spLocks noRot="1" noChangeAspect="1" noMove="1" noResize="1" noEditPoints="1" noAdjustHandles="1" noChangeArrowheads="1" noChangeShapeType="1" noTextEdit="1"/>
              </p:cNvSpPr>
              <p:nvPr/>
            </p:nvSpPr>
            <p:spPr>
              <a:xfrm>
                <a:off x="110065" y="2855412"/>
                <a:ext cx="8585202" cy="656013"/>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32777E16-0C9E-41F4-89C8-D87B57A3B331}"/>
                  </a:ext>
                </a:extLst>
              </p:cNvPr>
              <p:cNvSpPr txBox="1"/>
              <p:nvPr/>
            </p:nvSpPr>
            <p:spPr>
              <a:xfrm>
                <a:off x="110066" y="2289415"/>
                <a:ext cx="4258733" cy="397673"/>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rPr>
                      <m:t>𝑉𝑜𝑙𝑡𝑎𝑔𝑒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𝑡𝑜</m:t>
                    </m:r>
                    <m:r>
                      <a:rPr lang="en-US" altLang="zh-TW" b="0" i="1" smtClean="0">
                        <a:latin typeface="Cambria Math" panose="02040503050406030204" pitchFamily="18" charset="0"/>
                      </a:rPr>
                      <m:t> </m:t>
                    </m:r>
                    <m:r>
                      <a:rPr lang="en-US" altLang="zh-TW" b="0" i="1" smtClean="0">
                        <a:latin typeface="Cambria Math" panose="02040503050406030204" pitchFamily="18" charset="0"/>
                      </a:rPr>
                      <m:t>𝑓𝑖𝑒𝑙𝑑</m:t>
                    </m:r>
                    <m:r>
                      <a:rPr lang="en-US" altLang="zh-TW" b="0" i="1" smtClean="0">
                        <a:latin typeface="Cambria Math" panose="02040503050406030204" pitchFamily="18" charset="0"/>
                      </a:rPr>
                      <m:t> </m:t>
                    </m:r>
                    <m:r>
                      <a:rPr lang="en-US" altLang="zh-TW" b="0" i="1" smtClean="0">
                        <a:latin typeface="Cambria Math" panose="02040503050406030204" pitchFamily="18" charset="0"/>
                      </a:rPr>
                      <m:t>𝑔𝑎𝑖𝑛</m:t>
                    </m:r>
                    <m:r>
                      <a:rPr lang="en-US" altLang="zh-TW" b="0" i="1" smtClean="0">
                        <a:latin typeface="Cambria Math" panose="02040503050406030204" pitchFamily="18" charset="0"/>
                        <a:ea typeface="Cambria Math" panose="02040503050406030204" pitchFamily="18" charset="0"/>
                      </a:rPr>
                      <m:t>=</m:t>
                    </m:r>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𝑉</m:t>
                            </m:r>
                          </m:sub>
                        </m:sSub>
                      </m:e>
                    </m:sPre>
                  </m:oMath>
                </a14:m>
                <a:endParaRPr lang="zh-TW" altLang="en-US" dirty="0"/>
              </a:p>
            </p:txBody>
          </p:sp>
        </mc:Choice>
        <mc:Fallback xmlns="">
          <p:sp>
            <p:nvSpPr>
              <p:cNvPr id="16" name="文字方塊 15">
                <a:extLst>
                  <a:ext uri="{FF2B5EF4-FFF2-40B4-BE49-F238E27FC236}">
                    <a16:creationId xmlns:a16="http://schemas.microsoft.com/office/drawing/2014/main" id="{32777E16-0C9E-41F4-89C8-D87B57A3B331}"/>
                  </a:ext>
                </a:extLst>
              </p:cNvPr>
              <p:cNvSpPr txBox="1">
                <a:spLocks noRot="1" noChangeAspect="1" noMove="1" noResize="1" noEditPoints="1" noAdjustHandles="1" noChangeArrowheads="1" noChangeShapeType="1" noTextEdit="1"/>
              </p:cNvSpPr>
              <p:nvPr/>
            </p:nvSpPr>
            <p:spPr>
              <a:xfrm>
                <a:off x="110066" y="2289415"/>
                <a:ext cx="4258733" cy="397673"/>
              </a:xfrm>
              <a:prstGeom prst="rect">
                <a:avLst/>
              </a:prstGeom>
              <a:blipFill>
                <a:blip r:embed="rId7"/>
                <a:stretch>
                  <a:fillRect l="-858" b="-1692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7A83D49E-FBA0-44F1-BA58-A7ED9A0C3CBA}"/>
                  </a:ext>
                </a:extLst>
              </p:cNvPr>
              <p:cNvSpPr txBox="1"/>
              <p:nvPr/>
            </p:nvSpPr>
            <p:spPr>
              <a:xfrm>
                <a:off x="110062" y="4250299"/>
                <a:ext cx="4258733" cy="369332"/>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ea typeface="Cambria Math" panose="02040503050406030204" pitchFamily="18" charset="0"/>
                      </a:rPr>
                      <m:t>𝐼𝑠𝑜𝑡𝑟𝑜𝑝𝑦</m:t>
                    </m:r>
                    <m:r>
                      <a:rPr lang="en-US" altLang="zh-TW" b="0" i="1" smtClean="0">
                        <a:latin typeface="Cambria Math" panose="02040503050406030204" pitchFamily="18" charset="0"/>
                        <a:ea typeface="Cambria Math" panose="02040503050406030204" pitchFamily="18" charset="0"/>
                      </a:rPr>
                      <m:t>=</m:t>
                    </m:r>
                    <m:r>
                      <a:rPr lang="zh-TW" altLang="en-US" b="0" i="1" smtClean="0">
                        <a:latin typeface="Cambria Math" panose="02040503050406030204" pitchFamily="18" charset="0"/>
                        <a:ea typeface="Cambria Math" panose="02040503050406030204" pitchFamily="18" charset="0"/>
                      </a:rPr>
                      <m:t>𝜅</m:t>
                    </m:r>
                  </m:oMath>
                </a14:m>
                <a:endParaRPr lang="zh-TW" altLang="en-US" dirty="0"/>
              </a:p>
            </p:txBody>
          </p:sp>
        </mc:Choice>
        <mc:Fallback xmlns="">
          <p:sp>
            <p:nvSpPr>
              <p:cNvPr id="10" name="文字方塊 9">
                <a:extLst>
                  <a:ext uri="{FF2B5EF4-FFF2-40B4-BE49-F238E27FC236}">
                    <a16:creationId xmlns:a16="http://schemas.microsoft.com/office/drawing/2014/main" id="{7A83D49E-FBA0-44F1-BA58-A7ED9A0C3CBA}"/>
                  </a:ext>
                </a:extLst>
              </p:cNvPr>
              <p:cNvSpPr txBox="1">
                <a:spLocks noRot="1" noChangeAspect="1" noMove="1" noResize="1" noEditPoints="1" noAdjustHandles="1" noChangeArrowheads="1" noChangeShapeType="1" noTextEdit="1"/>
              </p:cNvSpPr>
              <p:nvPr/>
            </p:nvSpPr>
            <p:spPr>
              <a:xfrm>
                <a:off x="110062" y="4250299"/>
                <a:ext cx="4258733" cy="369332"/>
              </a:xfrm>
              <a:prstGeom prst="rect">
                <a:avLst/>
              </a:prstGeom>
              <a:blipFill>
                <a:blip r:embed="rId8"/>
                <a:stretch>
                  <a:fillRect l="-858" t="-3279" b="-180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CC97BA21-92F0-4A4F-926E-5D3A151931D0}"/>
                  </a:ext>
                </a:extLst>
              </p:cNvPr>
              <p:cNvSpPr txBox="1"/>
              <p:nvPr/>
            </p:nvSpPr>
            <p:spPr>
              <a:xfrm>
                <a:off x="110062" y="3598807"/>
                <a:ext cx="4258733" cy="369332"/>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i="1" smtClean="0">
                        <a:latin typeface="Cambria Math" panose="02040503050406030204" pitchFamily="18" charset="0"/>
                        <a:ea typeface="Cambria Math" panose="02040503050406030204" pitchFamily="18" charset="0"/>
                      </a:rPr>
                      <m:t>𝐶</m:t>
                    </m:r>
                    <m:r>
                      <a:rPr lang="en-US" altLang="zh-TW" b="0" i="1" smtClean="0">
                        <a:latin typeface="Cambria Math" panose="02040503050406030204" pitchFamily="18" charset="0"/>
                        <a:ea typeface="Cambria Math" panose="02040503050406030204" pitchFamily="18" charset="0"/>
                      </a:rPr>
                      <m:t>𝑎𝑝𝑎𝑐𝑖𝑡𝑦</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𝑚𝑒𝑎𝑠𝑢𝑟𝑒</m:t>
                    </m:r>
                    <m:r>
                      <a:rPr lang="en-US" altLang="zh-TW" b="0" i="1" smtClean="0">
                        <a:latin typeface="Cambria Math" panose="02040503050406030204" pitchFamily="18" charset="0"/>
                        <a:ea typeface="Cambria Math" panose="02040503050406030204" pitchFamily="18" charset="0"/>
                      </a:rPr>
                      <m:t>=</m:t>
                    </m:r>
                    <m:r>
                      <a:rPr lang="zh-TW" altLang="en-US" b="0" i="1" smtClean="0">
                        <a:latin typeface="Cambria Math" panose="02040503050406030204" pitchFamily="18" charset="0"/>
                        <a:ea typeface="Cambria Math" panose="02040503050406030204" pitchFamily="18" charset="0"/>
                      </a:rPr>
                      <m:t>𝒞</m:t>
                    </m:r>
                    <m:r>
                      <a:rPr lang="en-US" altLang="zh-TW" b="0" i="1" smtClean="0">
                        <a:latin typeface="Cambria Math" panose="02040503050406030204" pitchFamily="18" charset="0"/>
                        <a:ea typeface="Cambria Math" panose="02040503050406030204" pitchFamily="18" charset="0"/>
                      </a:rPr>
                      <m:t> (</m:t>
                    </m:r>
                    <m:f>
                      <m:fPr>
                        <m:type m:val="lin"/>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𝑚𝑇</m:t>
                        </m:r>
                      </m:num>
                      <m:den>
                        <m:r>
                          <a:rPr lang="en-US" altLang="zh-TW" b="0" i="1" smtClean="0">
                            <a:latin typeface="Cambria Math" panose="02040503050406030204" pitchFamily="18" charset="0"/>
                            <a:ea typeface="Cambria Math" panose="02040503050406030204" pitchFamily="18" charset="0"/>
                          </a:rPr>
                          <m:t>𝐴</m:t>
                        </m:r>
                      </m:den>
                    </m:f>
                    <m:r>
                      <a:rPr lang="en-US" altLang="zh-TW" b="0" i="1" smtClean="0">
                        <a:latin typeface="Cambria Math" panose="02040503050406030204" pitchFamily="18" charset="0"/>
                        <a:ea typeface="Cambria Math" panose="02040503050406030204" pitchFamily="18" charset="0"/>
                      </a:rPr>
                      <m:t>)</m:t>
                    </m:r>
                  </m:oMath>
                </a14:m>
                <a:endParaRPr lang="zh-TW" altLang="en-US" dirty="0"/>
              </a:p>
            </p:txBody>
          </p:sp>
        </mc:Choice>
        <mc:Fallback xmlns="">
          <p:sp>
            <p:nvSpPr>
              <p:cNvPr id="11" name="文字方塊 10">
                <a:extLst>
                  <a:ext uri="{FF2B5EF4-FFF2-40B4-BE49-F238E27FC236}">
                    <a16:creationId xmlns:a16="http://schemas.microsoft.com/office/drawing/2014/main" id="{CC97BA21-92F0-4A4F-926E-5D3A151931D0}"/>
                  </a:ext>
                </a:extLst>
              </p:cNvPr>
              <p:cNvSpPr txBox="1">
                <a:spLocks noRot="1" noChangeAspect="1" noMove="1" noResize="1" noEditPoints="1" noAdjustHandles="1" noChangeArrowheads="1" noChangeShapeType="1" noTextEdit="1"/>
              </p:cNvSpPr>
              <p:nvPr/>
            </p:nvSpPr>
            <p:spPr>
              <a:xfrm>
                <a:off x="110062" y="3598807"/>
                <a:ext cx="4258733" cy="369332"/>
              </a:xfrm>
              <a:prstGeom prst="rect">
                <a:avLst/>
              </a:prstGeom>
              <a:blipFill>
                <a:blip r:embed="rId9"/>
                <a:stretch>
                  <a:fillRect l="-858" t="-116393" b="-17541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文字方塊 11">
                <a:extLst>
                  <a:ext uri="{FF2B5EF4-FFF2-40B4-BE49-F238E27FC236}">
                    <a16:creationId xmlns:a16="http://schemas.microsoft.com/office/drawing/2014/main" id="{AF6FC7C5-863F-44FE-B7F6-035F92FE2774}"/>
                  </a:ext>
                </a:extLst>
              </p:cNvPr>
              <p:cNvSpPr txBox="1"/>
              <p:nvPr/>
            </p:nvSpPr>
            <p:spPr>
              <a:xfrm>
                <a:off x="110061" y="5527641"/>
                <a:ext cx="4258733" cy="621709"/>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ea typeface="Cambria Math" panose="02040503050406030204" pitchFamily="18" charset="0"/>
                      </a:rPr>
                      <m:t>𝐴𝑣𝑒𝑟𝑎𝑔𝑒</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𝑓𝑖𝑒𝑙𝑑</m:t>
                    </m:r>
                    <m:r>
                      <a:rPr lang="en-US" altLang="zh-TW" b="0" i="1" smtClean="0">
                        <a:latin typeface="Cambria Math" panose="02040503050406030204" pitchFamily="18" charset="0"/>
                        <a:ea typeface="Cambria Math" panose="02040503050406030204" pitchFamily="18" charset="0"/>
                      </a:rPr>
                      <m:t>=</m:t>
                    </m:r>
                    <m:f>
                      <m:fPr>
                        <m:ctrlPr>
                          <a:rPr lang="en-US" altLang="zh-TW" b="0" i="1" smtClean="0">
                            <a:latin typeface="Cambria Math" panose="02040503050406030204" pitchFamily="18" charset="0"/>
                            <a:ea typeface="Cambria Math" panose="02040503050406030204" pitchFamily="18" charset="0"/>
                          </a:rPr>
                        </m:ctrlPr>
                      </m:fPr>
                      <m:num>
                        <m:nary>
                          <m:naryPr>
                            <m:chr m:val="∑"/>
                            <m:supHide m:val="on"/>
                            <m:ctrlPr>
                              <a:rPr lang="en-US" altLang="zh-TW" b="0" i="1" smtClean="0">
                                <a:latin typeface="Cambria Math" panose="02040503050406030204" pitchFamily="18" charset="0"/>
                                <a:ea typeface="Cambria Math" panose="02040503050406030204" pitchFamily="18" charset="0"/>
                              </a:rPr>
                            </m:ctrlPr>
                          </m:naryPr>
                          <m:sub>
                            <m:r>
                              <m:rPr>
                                <m:brk m:alnAt="7"/>
                              </m:rPr>
                              <a:rPr lang="en-US" altLang="zh-TW" b="0" i="1" smtClean="0">
                                <a:latin typeface="Cambria Math" panose="02040503050406030204" pitchFamily="18" charset="0"/>
                                <a:ea typeface="Cambria Math" panose="02040503050406030204" pitchFamily="18" charset="0"/>
                              </a:rPr>
                              <m:t>𝑗</m:t>
                            </m:r>
                          </m:sub>
                          <m:sup/>
                          <m:e>
                            <m:nary>
                              <m:naryPr>
                                <m:chr m:val="∑"/>
                                <m:supHide m:val="on"/>
                                <m:ctrlPr>
                                  <a:rPr lang="en-US" altLang="zh-TW" b="0" i="1" smtClean="0">
                                    <a:latin typeface="Cambria Math" panose="02040503050406030204" pitchFamily="18" charset="0"/>
                                    <a:ea typeface="Cambria Math" panose="02040503050406030204" pitchFamily="18" charset="0"/>
                                  </a:rPr>
                                </m:ctrlPr>
                              </m:naryPr>
                              <m:sub>
                                <m:r>
                                  <m:rPr>
                                    <m:brk m:alnAt="7"/>
                                  </m:rPr>
                                  <a:rPr lang="en-US" altLang="zh-TW" b="0" i="1" smtClean="0">
                                    <a:latin typeface="Cambria Math" panose="02040503050406030204" pitchFamily="18" charset="0"/>
                                    <a:ea typeface="Cambria Math" panose="02040503050406030204" pitchFamily="18" charset="0"/>
                                  </a:rPr>
                                  <m:t>𝑖</m:t>
                                </m:r>
                              </m:sub>
                              <m:sup/>
                              <m:e>
                                <m:d>
                                  <m:dPr>
                                    <m:begChr m:val="‖"/>
                                    <m:endChr m:val="‖"/>
                                    <m:ctrlPr>
                                      <a:rPr lang="en-US" altLang="zh-TW" b="0" i="1" smtClean="0">
                                        <a:latin typeface="Cambria Math" panose="02040503050406030204" pitchFamily="18" charset="0"/>
                                        <a:ea typeface="Cambria Math" panose="02040503050406030204" pitchFamily="18" charset="0"/>
                                      </a:rPr>
                                    </m:ctrlPr>
                                  </m:dPr>
                                  <m:e>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e>
                                </m:d>
                              </m:e>
                            </m:nary>
                          </m:e>
                        </m:nary>
                      </m:num>
                      <m:den>
                        <m:r>
                          <a:rPr lang="en-US" altLang="zh-TW" b="0" i="1" smtClean="0">
                            <a:latin typeface="Cambria Math" panose="02040503050406030204" pitchFamily="18" charset="0"/>
                            <a:ea typeface="Cambria Math" panose="02040503050406030204" pitchFamily="18" charset="0"/>
                          </a:rPr>
                          <m:t>6×</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𝑁</m:t>
                            </m:r>
                          </m:e>
                          <m:sub>
                            <m:r>
                              <a:rPr lang="en-US" altLang="zh-TW" b="0" i="1" smtClean="0">
                                <a:latin typeface="Cambria Math" panose="02040503050406030204" pitchFamily="18" charset="0"/>
                                <a:ea typeface="Cambria Math" panose="02040503050406030204" pitchFamily="18" charset="0"/>
                              </a:rPr>
                              <m:t>𝑝</m:t>
                            </m:r>
                          </m:sub>
                        </m:sSub>
                      </m:den>
                    </m:f>
                  </m:oMath>
                </a14:m>
                <a:endParaRPr lang="zh-TW" altLang="en-US" dirty="0"/>
              </a:p>
            </p:txBody>
          </p:sp>
        </mc:Choice>
        <mc:Fallback xmlns="">
          <p:sp>
            <p:nvSpPr>
              <p:cNvPr id="12" name="文字方塊 11">
                <a:extLst>
                  <a:ext uri="{FF2B5EF4-FFF2-40B4-BE49-F238E27FC236}">
                    <a16:creationId xmlns:a16="http://schemas.microsoft.com/office/drawing/2014/main" id="{AF6FC7C5-863F-44FE-B7F6-035F92FE2774}"/>
                  </a:ext>
                </a:extLst>
              </p:cNvPr>
              <p:cNvSpPr txBox="1">
                <a:spLocks noRot="1" noChangeAspect="1" noMove="1" noResize="1" noEditPoints="1" noAdjustHandles="1" noChangeArrowheads="1" noChangeShapeType="1" noTextEdit="1"/>
              </p:cNvSpPr>
              <p:nvPr/>
            </p:nvSpPr>
            <p:spPr>
              <a:xfrm>
                <a:off x="110061" y="5527641"/>
                <a:ext cx="4258733" cy="621709"/>
              </a:xfrm>
              <a:prstGeom prst="rect">
                <a:avLst/>
              </a:prstGeom>
              <a:blipFill>
                <a:blip r:embed="rId10"/>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8DE89842-7151-467A-86A6-2337273E03CC}"/>
                  </a:ext>
                </a:extLst>
              </p:cNvPr>
              <p:cNvSpPr txBox="1"/>
              <p:nvPr/>
            </p:nvSpPr>
            <p:spPr>
              <a:xfrm>
                <a:off x="110061" y="4760826"/>
                <a:ext cx="4258733" cy="665054"/>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ea typeface="Cambria Math" panose="02040503050406030204" pitchFamily="18" charset="0"/>
                      </a:rPr>
                      <m:t>𝐹𝑟𝑜𝑏𝑒𝑛𝑖𝑢𝑠</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𝑒𝑟𝑟𝑜𝑟</m:t>
                    </m:r>
                    <m:r>
                      <a:rPr lang="en-US" altLang="zh-TW" b="0" i="1" smtClean="0">
                        <a:latin typeface="Cambria Math" panose="02040503050406030204" pitchFamily="18" charset="0"/>
                        <a:ea typeface="Cambria Math" panose="02040503050406030204" pitchFamily="18" charset="0"/>
                      </a:rPr>
                      <m:t>=</m:t>
                    </m:r>
                    <m:f>
                      <m:fPr>
                        <m:ctrlPr>
                          <a:rPr lang="en-US" altLang="zh-TW" b="0" i="1" smtClean="0">
                            <a:latin typeface="Cambria Math" panose="02040503050406030204" pitchFamily="18" charset="0"/>
                            <a:ea typeface="Cambria Math" panose="02040503050406030204" pitchFamily="18" charset="0"/>
                          </a:rPr>
                        </m:ctrlPr>
                      </m:fPr>
                      <m:num>
                        <m:sSub>
                          <m:sSubPr>
                            <m:ctrlPr>
                              <a:rPr lang="en-US" altLang="zh-TW" b="0" i="1" smtClean="0">
                                <a:latin typeface="Cambria Math" panose="02040503050406030204" pitchFamily="18" charset="0"/>
                                <a:ea typeface="Cambria Math" panose="02040503050406030204" pitchFamily="18" charset="0"/>
                              </a:rPr>
                            </m:ctrlPr>
                          </m:sSubPr>
                          <m:e>
                            <m:d>
                              <m:dPr>
                                <m:begChr m:val="‖"/>
                                <m:endChr m:val="‖"/>
                                <m:ctrlPr>
                                  <a:rPr lang="en-US" altLang="zh-TW" b="0" i="1" smtClean="0">
                                    <a:latin typeface="Cambria Math" panose="02040503050406030204" pitchFamily="18" charset="0"/>
                                    <a:ea typeface="Cambria Math" panose="02040503050406030204" pitchFamily="18" charset="0"/>
                                  </a:rPr>
                                </m:ctrlPr>
                              </m:dPr>
                              <m:e>
                                <m:sSub>
                                  <m:sSubPr>
                                    <m:ctrlPr>
                                      <a:rPr lang="en-US" altLang="zh-TW" b="0" i="1" smtClean="0">
                                        <a:latin typeface="Cambria Math" panose="02040503050406030204" pitchFamily="18" charset="0"/>
                                        <a:ea typeface="Cambria Math" panose="02040503050406030204" pitchFamily="18" charset="0"/>
                                      </a:rPr>
                                    </m:ctrlPr>
                                  </m:sSubPr>
                                  <m:e>
                                    <m:acc>
                                      <m:accPr>
                                        <m:chr m:val="̅"/>
                                        <m:ctrlPr>
                                          <a:rPr lang="en-US" altLang="zh-TW" b="0" i="1" smtClean="0">
                                            <a:latin typeface="Cambria Math" panose="02040503050406030204" pitchFamily="18" charset="0"/>
                                            <a:ea typeface="Cambria Math" panose="02040503050406030204" pitchFamily="18" charset="0"/>
                                          </a:rPr>
                                        </m:ctrlPr>
                                      </m:accPr>
                                      <m:e>
                                        <m:r>
                                          <a:rPr lang="en-US" altLang="zh-TW" b="0" i="1" smtClean="0">
                                            <a:latin typeface="Cambria Math" panose="02040503050406030204" pitchFamily="18" charset="0"/>
                                            <a:ea typeface="Cambria Math" panose="02040503050406030204" pitchFamily="18" charset="0"/>
                                          </a:rPr>
                                          <m:t>𝐾</m:t>
                                        </m:r>
                                      </m:e>
                                    </m:acc>
                                  </m:e>
                                  <m:sub>
                                    <m:r>
                                      <a:rPr lang="en-US" altLang="zh-TW" b="0" i="1" smtClean="0">
                                        <a:latin typeface="Cambria Math" panose="02040503050406030204" pitchFamily="18" charset="0"/>
                                        <a:ea typeface="Cambria Math" panose="02040503050406030204" pitchFamily="18" charset="0"/>
                                      </a:rPr>
                                      <m:t>𝐼</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acc>
                                      <m:accPr>
                                        <m:chr m:val="̅"/>
                                        <m:ctrlPr>
                                          <a:rPr lang="en-US" altLang="zh-TW" b="0" i="1" smtClean="0">
                                            <a:latin typeface="Cambria Math" panose="02040503050406030204" pitchFamily="18" charset="0"/>
                                            <a:ea typeface="Cambria Math" panose="02040503050406030204" pitchFamily="18" charset="0"/>
                                          </a:rPr>
                                        </m:ctrlPr>
                                      </m:accPr>
                                      <m:e>
                                        <m:r>
                                          <a:rPr lang="en-US" altLang="zh-TW" b="0" i="1" smtClean="0">
                                            <a:latin typeface="Cambria Math" panose="02040503050406030204" pitchFamily="18" charset="0"/>
                                            <a:ea typeface="Cambria Math" panose="02040503050406030204" pitchFamily="18" charset="0"/>
                                          </a:rPr>
                                          <m:t>𝐾</m:t>
                                        </m:r>
                                      </m:e>
                                    </m:acc>
                                  </m:e>
                                  <m:sub>
                                    <m:r>
                                      <a:rPr lang="en-US" altLang="zh-TW" b="0" i="1" smtClean="0">
                                        <a:latin typeface="Cambria Math" panose="02040503050406030204" pitchFamily="18" charset="0"/>
                                        <a:ea typeface="Cambria Math" panose="02040503050406030204" pitchFamily="18" charset="0"/>
                                      </a:rPr>
                                      <m:t>𝐼</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𝑎𝑙𝑙</m:t>
                                    </m:r>
                                    <m:r>
                                      <a:rPr lang="en-US" altLang="zh-TW" b="0" i="1" smtClean="0">
                                        <a:latin typeface="Cambria Math" panose="02040503050406030204" pitchFamily="18" charset="0"/>
                                        <a:ea typeface="Cambria Math" panose="02040503050406030204" pitchFamily="18" charset="0"/>
                                      </a:rPr>
                                      <m:t>_</m:t>
                                    </m:r>
                                    <m:r>
                                      <a:rPr lang="en-US" altLang="zh-TW" b="0" i="1" smtClean="0">
                                        <a:latin typeface="Cambria Math" panose="02040503050406030204" pitchFamily="18" charset="0"/>
                                        <a:ea typeface="Cambria Math" panose="02040503050406030204" pitchFamily="18" charset="0"/>
                                      </a:rPr>
                                      <m:t>𝑔𝑟𝑖𝑑</m:t>
                                    </m:r>
                                  </m:sub>
                                </m:sSub>
                              </m:e>
                            </m:d>
                          </m:e>
                          <m:sub>
                            <m:r>
                              <a:rPr lang="en-US" altLang="zh-TW" b="0" i="1" smtClean="0">
                                <a:latin typeface="Cambria Math" panose="02040503050406030204" pitchFamily="18" charset="0"/>
                                <a:ea typeface="Cambria Math" panose="02040503050406030204" pitchFamily="18" charset="0"/>
                              </a:rPr>
                              <m:t>𝐹</m:t>
                            </m:r>
                          </m:sub>
                        </m:sSub>
                      </m:num>
                      <m:den>
                        <m:sSub>
                          <m:sSubPr>
                            <m:ctrlPr>
                              <a:rPr lang="en-US" altLang="zh-TW" i="1">
                                <a:latin typeface="Cambria Math" panose="02040503050406030204" pitchFamily="18" charset="0"/>
                                <a:ea typeface="Cambria Math" panose="02040503050406030204" pitchFamily="18" charset="0"/>
                              </a:rPr>
                            </m:ctrlPr>
                          </m:sSubPr>
                          <m:e>
                            <m:d>
                              <m:dPr>
                                <m:begChr m:val="‖"/>
                                <m:endChr m:val="‖"/>
                                <m:ctrlPr>
                                  <a:rPr lang="en-US" altLang="zh-TW" i="1">
                                    <a:latin typeface="Cambria Math" panose="02040503050406030204" pitchFamily="18" charset="0"/>
                                    <a:ea typeface="Cambria Math" panose="02040503050406030204" pitchFamily="18" charset="0"/>
                                  </a:rPr>
                                </m:ctrlPr>
                              </m:dPr>
                              <m:e>
                                <m:sSub>
                                  <m:sSubPr>
                                    <m:ctrlPr>
                                      <a:rPr lang="en-US" altLang="zh-TW" i="1">
                                        <a:latin typeface="Cambria Math" panose="02040503050406030204" pitchFamily="18" charset="0"/>
                                        <a:ea typeface="Cambria Math" panose="02040503050406030204" pitchFamily="18" charset="0"/>
                                      </a:rPr>
                                    </m:ctrlPr>
                                  </m:sSubPr>
                                  <m:e>
                                    <m:acc>
                                      <m:accPr>
                                        <m:chr m:val="̅"/>
                                        <m:ctrlPr>
                                          <a:rPr lang="en-US" altLang="zh-TW" i="1">
                                            <a:latin typeface="Cambria Math" panose="02040503050406030204" pitchFamily="18" charset="0"/>
                                            <a:ea typeface="Cambria Math" panose="02040503050406030204" pitchFamily="18" charset="0"/>
                                          </a:rPr>
                                        </m:ctrlPr>
                                      </m:accPr>
                                      <m:e>
                                        <m:r>
                                          <a:rPr lang="en-US" altLang="zh-TW" i="1">
                                            <a:latin typeface="Cambria Math" panose="02040503050406030204" pitchFamily="18" charset="0"/>
                                            <a:ea typeface="Cambria Math" panose="02040503050406030204" pitchFamily="18" charset="0"/>
                                          </a:rPr>
                                          <m:t>𝐾</m:t>
                                        </m:r>
                                      </m:e>
                                    </m:acc>
                                  </m:e>
                                  <m:sub>
                                    <m:r>
                                      <a:rPr lang="en-US" altLang="zh-TW" i="1">
                                        <a:latin typeface="Cambria Math" panose="02040503050406030204" pitchFamily="18" charset="0"/>
                                        <a:ea typeface="Cambria Math" panose="02040503050406030204" pitchFamily="18" charset="0"/>
                                      </a:rPr>
                                      <m:t>𝐼</m:t>
                                    </m:r>
                                    <m:r>
                                      <a:rPr lang="en-US" altLang="zh-TW" i="1">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𝑎𝑙𝑙</m:t>
                                    </m:r>
                                    <m:r>
                                      <a:rPr lang="en-US" altLang="zh-TW" i="1">
                                        <a:latin typeface="Cambria Math" panose="02040503050406030204" pitchFamily="18" charset="0"/>
                                        <a:ea typeface="Cambria Math" panose="02040503050406030204" pitchFamily="18" charset="0"/>
                                      </a:rPr>
                                      <m:t>_</m:t>
                                    </m:r>
                                    <m:r>
                                      <a:rPr lang="en-US" altLang="zh-TW" i="1">
                                        <a:latin typeface="Cambria Math" panose="02040503050406030204" pitchFamily="18" charset="0"/>
                                        <a:ea typeface="Cambria Math" panose="02040503050406030204" pitchFamily="18" charset="0"/>
                                      </a:rPr>
                                      <m:t>𝑔𝑟𝑖𝑑</m:t>
                                    </m:r>
                                  </m:sub>
                                </m:sSub>
                              </m:e>
                            </m:d>
                          </m:e>
                          <m:sub>
                            <m:r>
                              <a:rPr lang="en-US" altLang="zh-TW" i="1">
                                <a:latin typeface="Cambria Math" panose="02040503050406030204" pitchFamily="18" charset="0"/>
                                <a:ea typeface="Cambria Math" panose="02040503050406030204" pitchFamily="18" charset="0"/>
                              </a:rPr>
                              <m:t>𝐹</m:t>
                            </m:r>
                          </m:sub>
                        </m:sSub>
                      </m:den>
                    </m:f>
                  </m:oMath>
                </a14:m>
                <a:endParaRPr lang="zh-TW" altLang="en-US" dirty="0"/>
              </a:p>
            </p:txBody>
          </p:sp>
        </mc:Choice>
        <mc:Fallback xmlns="">
          <p:sp>
            <p:nvSpPr>
              <p:cNvPr id="13" name="文字方塊 12">
                <a:extLst>
                  <a:ext uri="{FF2B5EF4-FFF2-40B4-BE49-F238E27FC236}">
                    <a16:creationId xmlns:a16="http://schemas.microsoft.com/office/drawing/2014/main" id="{8DE89842-7151-467A-86A6-2337273E03CC}"/>
                  </a:ext>
                </a:extLst>
              </p:cNvPr>
              <p:cNvSpPr txBox="1">
                <a:spLocks noRot="1" noChangeAspect="1" noMove="1" noResize="1" noEditPoints="1" noAdjustHandles="1" noChangeArrowheads="1" noChangeShapeType="1" noTextEdit="1"/>
              </p:cNvSpPr>
              <p:nvPr/>
            </p:nvSpPr>
            <p:spPr>
              <a:xfrm>
                <a:off x="110061" y="4760826"/>
                <a:ext cx="4258733" cy="665054"/>
              </a:xfrm>
              <a:prstGeom prst="rect">
                <a:avLst/>
              </a:prstGeom>
              <a:blipFill>
                <a:blip r:embed="rId11"/>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119403427"/>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48865</TotalTime>
  <Words>2714</Words>
  <Application>Microsoft Office PowerPoint</Application>
  <PresentationFormat>寬螢幕</PresentationFormat>
  <Paragraphs>274</Paragraphs>
  <Slides>18</Slides>
  <Notes>0</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18</vt:i4>
      </vt:variant>
    </vt:vector>
  </HeadingPairs>
  <TitlesOfParts>
    <vt:vector size="26" baseType="lpstr">
      <vt:lpstr>Aptos</vt:lpstr>
      <vt:lpstr>Arial</vt:lpstr>
      <vt:lpstr>Calibri</vt:lpstr>
      <vt:lpstr>Calibri Light</vt:lpstr>
      <vt:lpstr>Cambria Math</vt:lpstr>
      <vt:lpstr>Times New Roman</vt:lpstr>
      <vt:lpstr>Wingdings</vt:lpstr>
      <vt:lpstr>Office 佈景主題</vt:lpstr>
      <vt:lpstr>A Lumped-Parameter Modeling, Calibration, and Capacity-Measure Framework for Flux Generation in Symmetric Multipole Electromagnetic Actuators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Hall-sensor-voltage-based lumped-parameter modeling and calibration </vt:lpstr>
      <vt:lpstr>Hall-sensor-voltage-based lumped-parameter modeling and calibration </vt:lpstr>
      <vt:lpstr>Hall-sensor-voltage-based lumped-parameter modeling and calibration </vt:lpstr>
      <vt:lpstr>Quantitative Assessment of Multi-Pole Actuators  </vt:lpstr>
      <vt:lpstr>Quantitative Assessment of Multi-Pole Actuators  </vt:lpstr>
      <vt:lpstr>Quantitative Assessment of Multi-Pole Actuators  </vt:lpstr>
      <vt:lpstr>Quantitative Assessment of Multi-Pole Actuators  </vt:lpstr>
      <vt:lpstr>Reference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Lumped-Parameter Modeling, Calibration, and Capacity-Measure Framework for Flux Generation in Symmetric Multipole Electromagnetic Actuators</dc:title>
  <dc:creator>郭建棋</dc:creator>
  <cp:lastModifiedBy>郭建棋</cp:lastModifiedBy>
  <cp:revision>559</cp:revision>
  <dcterms:created xsi:type="dcterms:W3CDTF">2026-07-23T11:39:15Z</dcterms:created>
  <dcterms:modified xsi:type="dcterms:W3CDTF">2026-10-05T14:15:18Z</dcterms:modified>
</cp:coreProperties>
</file>