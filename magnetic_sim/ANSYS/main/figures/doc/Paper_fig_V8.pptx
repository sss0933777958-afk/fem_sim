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306" r:id="rId4"/>
    <p:sldId id="287" r:id="rId5"/>
    <p:sldId id="285" r:id="rId6"/>
    <p:sldId id="269" r:id="rId7"/>
    <p:sldId id="290" r:id="rId8"/>
    <p:sldId id="272" r:id="rId9"/>
    <p:sldId id="291" r:id="rId10"/>
    <p:sldId id="273" r:id="rId11"/>
    <p:sldId id="293" r:id="rId12"/>
    <p:sldId id="311" r:id="rId13"/>
    <p:sldId id="310" r:id="rId14"/>
    <p:sldId id="294" r:id="rId15"/>
    <p:sldId id="296" r:id="rId16"/>
    <p:sldId id="297" r:id="rId17"/>
    <p:sldId id="300" r:id="rId18"/>
    <p:sldId id="301" r:id="rId19"/>
    <p:sldId id="302" r:id="rId20"/>
    <p:sldId id="304" r:id="rId21"/>
    <p:sldId id="305" r:id="rId22"/>
    <p:sldId id="307" r:id="rId23"/>
    <p:sldId id="308" r:id="rId24"/>
    <p:sldId id="292" r:id="rId25"/>
    <p:sldId id="309" r:id="rId2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2026/8/21</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10.png"/><Relationship Id="rId10" Type="http://schemas.openxmlformats.org/officeDocument/2006/relationships/image" Target="../media/image9.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13" Type="http://schemas.openxmlformats.org/officeDocument/2006/relationships/image" Target="../media/image13.png"/><Relationship Id="rId12" Type="http://schemas.openxmlformats.org/officeDocument/2006/relationships/image" Target="../media/image12.png"/><Relationship Id="rId2" Type="http://schemas.openxmlformats.org/officeDocument/2006/relationships/image" Target="../media/image151.png"/><Relationship Id="rId16" Type="http://schemas.openxmlformats.org/officeDocument/2006/relationships/image" Target="../media/image16.png"/><Relationship Id="rId1" Type="http://schemas.openxmlformats.org/officeDocument/2006/relationships/slideLayout" Target="../slideLayouts/slideLayout2.xml"/><Relationship Id="rId11" Type="http://schemas.openxmlformats.org/officeDocument/2006/relationships/image" Target="../media/image11.png"/><Relationship Id="rId15" Type="http://schemas.openxmlformats.org/officeDocument/2006/relationships/image" Target="../media/image15.png"/><Relationship Id="rId10" Type="http://schemas.openxmlformats.org/officeDocument/2006/relationships/image" Target="../media/image10.png"/><Relationship Id="rId9" Type="http://schemas.openxmlformats.org/officeDocument/2006/relationships/image" Target="../media/image37.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4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1.png"/></Relationships>
</file>

<file path=ppt/slides/_rels/slide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32.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3.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34.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1.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57.png"/><Relationship Id="rId26" Type="http://schemas.openxmlformats.org/officeDocument/2006/relationships/image" Target="../media/image411.png"/><Relationship Id="rId21" Type="http://schemas.openxmlformats.org/officeDocument/2006/relationships/image" Target="../media/image350.png"/><Relationship Id="rId12" Type="http://schemas.openxmlformats.org/officeDocument/2006/relationships/image" Target="../media/image49.png"/><Relationship Id="rId17" Type="http://schemas.openxmlformats.org/officeDocument/2006/relationships/image" Target="../media/image56.png"/><Relationship Id="rId25" Type="http://schemas.openxmlformats.org/officeDocument/2006/relationships/image" Target="../media/image400.png"/><Relationship Id="rId2" Type="http://schemas.openxmlformats.org/officeDocument/2006/relationships/image" Target="../media/image40.png"/><Relationship Id="rId16" Type="http://schemas.openxmlformats.org/officeDocument/2006/relationships/image" Target="../media/image41.png"/><Relationship Id="rId20" Type="http://schemas.openxmlformats.org/officeDocument/2006/relationships/image" Target="../media/image59.png"/><Relationship Id="rId29" Type="http://schemas.openxmlformats.org/officeDocument/2006/relationships/image" Target="../media/image44.png"/><Relationship Id="rId1" Type="http://schemas.openxmlformats.org/officeDocument/2006/relationships/slideLayout" Target="../slideLayouts/slideLayout2.xml"/><Relationship Id="rId24" Type="http://schemas.openxmlformats.org/officeDocument/2006/relationships/image" Target="../media/image42.png"/><Relationship Id="rId15" Type="http://schemas.openxmlformats.org/officeDocument/2006/relationships/image" Target="../media/image52.png"/><Relationship Id="rId23" Type="http://schemas.openxmlformats.org/officeDocument/2006/relationships/image" Target="../media/image380.png"/><Relationship Id="rId28" Type="http://schemas.openxmlformats.org/officeDocument/2006/relationships/image" Target="../media/image430.png"/><Relationship Id="rId19" Type="http://schemas.openxmlformats.org/officeDocument/2006/relationships/image" Target="../media/image58.png"/><Relationship Id="rId14" Type="http://schemas.openxmlformats.org/officeDocument/2006/relationships/image" Target="../media/image51.png"/><Relationship Id="rId22" Type="http://schemas.openxmlformats.org/officeDocument/2006/relationships/image" Target="../media/image360.png"/><Relationship Id="rId27" Type="http://schemas.openxmlformats.org/officeDocument/2006/relationships/image" Target="../media/image43.png"/></Relationships>
</file>

<file path=ppt/slides/_rels/slide15.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image" Target="../media/image73.png"/><Relationship Id="rId26" Type="http://schemas.openxmlformats.org/officeDocument/2006/relationships/image" Target="../media/image44.png"/><Relationship Id="rId21" Type="http://schemas.openxmlformats.org/officeDocument/2006/relationships/image" Target="../media/image460.png"/><Relationship Id="rId12" Type="http://schemas.openxmlformats.org/officeDocument/2006/relationships/image" Target="../media/image67.png"/><Relationship Id="rId17" Type="http://schemas.openxmlformats.org/officeDocument/2006/relationships/image" Target="../media/image72.png"/><Relationship Id="rId25" Type="http://schemas.openxmlformats.org/officeDocument/2006/relationships/image" Target="../media/image53.png"/><Relationship Id="rId2" Type="http://schemas.openxmlformats.org/officeDocument/2006/relationships/image" Target="../media/image45.png"/><Relationship Id="rId16" Type="http://schemas.openxmlformats.org/officeDocument/2006/relationships/image" Target="../media/image46.png"/><Relationship Id="rId20" Type="http://schemas.openxmlformats.org/officeDocument/2006/relationships/image" Target="../media/image75.png"/><Relationship Id="rId29" Type="http://schemas.openxmlformats.org/officeDocument/2006/relationships/image" Target="../media/image54.png"/><Relationship Id="rId1" Type="http://schemas.openxmlformats.org/officeDocument/2006/relationships/slideLayout" Target="../slideLayouts/slideLayout2.xml"/><Relationship Id="rId24" Type="http://schemas.openxmlformats.org/officeDocument/2006/relationships/image" Target="../media/image390.png"/><Relationship Id="rId15" Type="http://schemas.openxmlformats.org/officeDocument/2006/relationships/image" Target="../media/image70.png"/><Relationship Id="rId23" Type="http://schemas.openxmlformats.org/officeDocument/2006/relationships/image" Target="../media/image48.png"/><Relationship Id="rId28" Type="http://schemas.openxmlformats.org/officeDocument/2006/relationships/image" Target="../media/image55.png"/><Relationship Id="rId19" Type="http://schemas.openxmlformats.org/officeDocument/2006/relationships/image" Target="../media/image74.png"/><Relationship Id="rId14" Type="http://schemas.openxmlformats.org/officeDocument/2006/relationships/image" Target="../media/image69.png"/><Relationship Id="rId22" Type="http://schemas.openxmlformats.org/officeDocument/2006/relationships/image" Target="../media/image47.png"/><Relationship Id="rId27" Type="http://schemas.openxmlformats.org/officeDocument/2006/relationships/image" Target="../media/image410.png"/></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66.png"/><Relationship Id="rId3" Type="http://schemas.openxmlformats.org/officeDocument/2006/relationships/image" Target="../media/image63.png"/><Relationship Id="rId12" Type="http://schemas.openxmlformats.org/officeDocument/2006/relationships/image" Target="../media/image65.png"/><Relationship Id="rId2" Type="http://schemas.openxmlformats.org/officeDocument/2006/relationships/image" Target="../media/image62.png"/><Relationship Id="rId1" Type="http://schemas.openxmlformats.org/officeDocument/2006/relationships/slideLayout" Target="../slideLayouts/slideLayout2.xml"/><Relationship Id="rId11" Type="http://schemas.openxmlformats.org/officeDocument/2006/relationships/image" Target="../media/image64.png"/><Relationship Id="rId15" Type="http://schemas.openxmlformats.org/officeDocument/2006/relationships/image" Target="../media/image83.png"/><Relationship Id="rId10" Type="http://schemas.openxmlformats.org/officeDocument/2006/relationships/image" Target="../media/image78.png"/><Relationship Id="rId9" Type="http://schemas.openxmlformats.org/officeDocument/2006/relationships/image" Target="../media/image77.png"/><Relationship Id="rId14" Type="http://schemas.openxmlformats.org/officeDocument/2006/relationships/image" Target="../media/image82.png"/></Relationships>
</file>

<file path=ppt/slides/_rels/slide1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79.png"/><Relationship Id="rId7" Type="http://schemas.openxmlformats.org/officeDocument/2006/relationships/image" Target="../media/image85.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64.png"/><Relationship Id="rId5" Type="http://schemas.openxmlformats.org/officeDocument/2006/relationships/image" Target="../media/image81.png"/><Relationship Id="rId10" Type="http://schemas.openxmlformats.org/officeDocument/2006/relationships/image" Target="../media/image88.png"/><Relationship Id="rId4" Type="http://schemas.openxmlformats.org/officeDocument/2006/relationships/image" Target="../media/image80.png"/><Relationship Id="rId9" Type="http://schemas.openxmlformats.org/officeDocument/2006/relationships/image" Target="../media/image87.png"/></Relationships>
</file>

<file path=ppt/slides/_rels/slide1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2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3" Type="http://schemas.openxmlformats.org/officeDocument/2006/relationships/image" Target="../media/image94.png"/><Relationship Id="rId7" Type="http://schemas.openxmlformats.org/officeDocument/2006/relationships/image" Target="../media/image98.png"/><Relationship Id="rId12" Type="http://schemas.openxmlformats.org/officeDocument/2006/relationships/image" Target="../media/image103.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2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6.png"/><Relationship Id="rId7" Type="http://schemas.openxmlformats.org/officeDocument/2006/relationships/image" Target="../media/image108.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10.png"/><Relationship Id="rId5" Type="http://schemas.openxmlformats.org/officeDocument/2006/relationships/image" Target="../media/image103.png"/><Relationship Id="rId10" Type="http://schemas.openxmlformats.org/officeDocument/2006/relationships/image" Target="../media/image96.png"/><Relationship Id="rId4" Type="http://schemas.openxmlformats.org/officeDocument/2006/relationships/image" Target="../media/image107.png"/><Relationship Id="rId9" Type="http://schemas.openxmlformats.org/officeDocument/2006/relationships/image" Target="../media/image100.png"/></Relationships>
</file>

<file path=ppt/slides/_rels/slide2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970.png"/><Relationship Id="rId1" Type="http://schemas.openxmlformats.org/officeDocument/2006/relationships/slideLayout" Target="../slideLayouts/slideLayout2.xml"/><Relationship Id="rId5" Type="http://schemas.openxmlformats.org/officeDocument/2006/relationships/image" Target="../media/image1001.png"/><Relationship Id="rId4" Type="http://schemas.openxmlformats.org/officeDocument/2006/relationships/image" Target="../media/image991.png"/></Relationships>
</file>

<file path=ppt/slides/_rels/slide23.xml.rels><?xml version="1.0" encoding="UTF-8" standalone="yes"?>
<Relationships xmlns="http://schemas.openxmlformats.org/package/2006/relationships"><Relationship Id="rId8" Type="http://schemas.openxmlformats.org/officeDocument/2006/relationships/image" Target="../media/image1070.png"/><Relationship Id="rId3" Type="http://schemas.openxmlformats.org/officeDocument/2006/relationships/image" Target="../media/image113.png"/><Relationship Id="rId7" Type="http://schemas.openxmlformats.org/officeDocument/2006/relationships/image" Target="../media/image1061.png"/><Relationship Id="rId2" Type="http://schemas.openxmlformats.org/officeDocument/2006/relationships/image" Target="../media/image1011.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040.png"/><Relationship Id="rId4" Type="http://schemas.openxmlformats.org/officeDocument/2006/relationships/image" Target="../media/image1030.png"/></Relationships>
</file>

<file path=ppt/slides/_rels/slide24.xml.rels><?xml version="1.0" encoding="UTF-8" standalone="yes"?>
<Relationships xmlns="http://schemas.openxmlformats.org/package/2006/relationships"><Relationship Id="rId8" Type="http://schemas.openxmlformats.org/officeDocument/2006/relationships/image" Target="../media/image1000.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990.png"/><Relationship Id="rId10" Type="http://schemas.openxmlformats.org/officeDocument/2006/relationships/image" Target="../media/image1020.png"/><Relationship Id="rId4" Type="http://schemas.openxmlformats.org/officeDocument/2006/relationships/image" Target="../media/image490.png"/><Relationship Id="rId9" Type="http://schemas.openxmlformats.org/officeDocument/2006/relationships/image" Target="../media/image1010.png"/></Relationships>
</file>

<file path=ppt/slides/_rels/slide25.xml.rels><?xml version="1.0" encoding="UTF-8" standalone="yes"?>
<Relationships xmlns="http://schemas.openxmlformats.org/package/2006/relationships"><Relationship Id="rId8" Type="http://schemas.openxmlformats.org/officeDocument/2006/relationships/image" Target="../media/image1100.png"/><Relationship Id="rId3" Type="http://schemas.openxmlformats.org/officeDocument/2006/relationships/image" Target="../media/image1050.png"/><Relationship Id="rId7" Type="http://schemas.openxmlformats.org/officeDocument/2006/relationships/image" Target="../media/image1101.png"/><Relationship Id="rId2" Type="http://schemas.openxmlformats.org/officeDocument/2006/relationships/image" Target="../media/image1080.png"/><Relationship Id="rId1" Type="http://schemas.openxmlformats.org/officeDocument/2006/relationships/slideLayout" Target="../slideLayouts/slideLayout2.xml"/><Relationship Id="rId6" Type="http://schemas.openxmlformats.org/officeDocument/2006/relationships/image" Target="../media/image1090.png"/><Relationship Id="rId11" Type="http://schemas.openxmlformats.org/officeDocument/2006/relationships/image" Target="../media/image1140.png"/><Relationship Id="rId5" Type="http://schemas.openxmlformats.org/officeDocument/2006/relationships/image" Target="../media/image1091.png"/><Relationship Id="rId10" Type="http://schemas.openxmlformats.org/officeDocument/2006/relationships/image" Target="../media/image1130.png"/><Relationship Id="rId4" Type="http://schemas.openxmlformats.org/officeDocument/2006/relationships/image" Target="../media/image1060.png"/><Relationship Id="rId9" Type="http://schemas.openxmlformats.org/officeDocument/2006/relationships/image" Target="../media/image11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workspace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5232404" cy="5784019"/>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0" smtClean="0">
                        <a:latin typeface="Cambria Math" panose="02040503050406030204" pitchFamily="18" charset="0"/>
                      </a:rPr>
                      <m:t>,</m:t>
                    </m:r>
                    <m:r>
                      <a:rPr lang="en-US" altLang="zh-TW" b="0" i="1" smtClean="0">
                        <a:latin typeface="Cambria Math" panose="02040503050406030204" pitchFamily="18" charset="0"/>
                      </a:rPr>
                      <m:t>𝑅</m:t>
                    </m:r>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𝜙</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𝑐𝑜𝑠</m:t>
                          </m:r>
                        </m:e>
                        <m:sup>
                          <m:r>
                            <a:rPr lang="en-US" altLang="zh-TW" b="0" i="1" smtClean="0">
                              <a:latin typeface="Cambria Math" panose="02040503050406030204" pitchFamily="18" charset="0"/>
                            </a:rPr>
                            <m:t>−1</m:t>
                          </m:r>
                        </m:sup>
                      </m:sSup>
                      <m:d>
                        <m:dPr>
                          <m:begChr m:val="["/>
                          <m:endChr m:val="]"/>
                          <m:ctrlPr>
                            <a:rPr lang="en-US" altLang="zh-TW" b="0" i="1" smtClean="0">
                              <a:latin typeface="Cambria Math" panose="02040503050406030204" pitchFamily="18" charset="0"/>
                            </a:rPr>
                          </m:ctrlPr>
                        </m:dPr>
                        <m:e>
                          <m:r>
                            <a:rPr lang="en-US" altLang="zh-TW" i="1">
                              <a:latin typeface="Cambria Math" panose="02040503050406030204" pitchFamily="18" charset="0"/>
                            </a:rPr>
                            <m:t>1−</m:t>
                          </m:r>
                          <m:f>
                            <m:fPr>
                              <m:ctrlPr>
                                <a:rPr lang="en-US" altLang="zh-TW" i="1">
                                  <a:latin typeface="Cambria Math" panose="02040503050406030204" pitchFamily="18" charset="0"/>
                                </a:rPr>
                              </m:ctrlPr>
                            </m:fPr>
                            <m:num>
                              <m:d>
                                <m:dPr>
                                  <m:ctrlPr>
                                    <a:rPr lang="en-US" altLang="zh-TW" i="1">
                                      <a:latin typeface="Cambria Math" panose="02040503050406030204" pitchFamily="18" charset="0"/>
                                    </a:rPr>
                                  </m:ctrlPr>
                                </m:dPr>
                                <m:e>
                                  <m:r>
                                    <a:rPr lang="en-US" altLang="zh-TW" i="1">
                                      <a:latin typeface="Cambria Math" panose="02040503050406030204" pitchFamily="18" charset="0"/>
                                    </a:rPr>
                                    <m:t>2</m:t>
                                  </m:r>
                                  <m:r>
                                    <a:rPr lang="en-US" altLang="zh-TW" b="0" i="1" smtClean="0">
                                      <a:latin typeface="Cambria Math" panose="02040503050406030204" pitchFamily="18" charset="0"/>
                                    </a:rPr>
                                    <m:t>𝑗</m:t>
                                  </m:r>
                                  <m:r>
                                    <a:rPr lang="en-US" altLang="zh-TW" i="1">
                                      <a:latin typeface="Cambria Math" panose="02040503050406030204" pitchFamily="18" charset="0"/>
                                    </a:rPr>
                                    <m:t>−1</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l-GR" altLang="zh-TW" i="1">
                                      <a:latin typeface="Cambria Math" panose="02040503050406030204" pitchFamily="18" charset="0"/>
                                      <a:ea typeface="Cambria Math" panose="02040503050406030204" pitchFamily="18" charset="0"/>
                                    </a:rPr>
                                    <m:t>𝜙</m:t>
                                  </m:r>
                                </m:sub>
                              </m:sSub>
                            </m:den>
                          </m:f>
                        </m:e>
                      </m:d>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=2</m:t>
                      </m:r>
                      <m:r>
                        <a:rPr lang="zh-TW" altLang="en-US" b="0" i="1" smtClean="0">
                          <a:latin typeface="Cambria Math" panose="02040503050406030204" pitchFamily="18" charset="0"/>
                        </a:rPr>
                        <m:t>𝜋</m:t>
                      </m:r>
                      <m:r>
                        <a:rPr lang="en-US" altLang="zh-TW" i="1">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−0.5</m:t>
                          </m:r>
                        </m:num>
                        <m:den>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i="1" smtClean="0">
                                  <a:latin typeface="Cambria Math" panose="02040503050406030204" pitchFamily="18" charset="0"/>
                                  <a:ea typeface="Cambria Math" panose="02040503050406030204" pitchFamily="18" charset="0"/>
                                </a:rPr>
                                <m:t>𝜃</m:t>
                              </m:r>
                            </m:sub>
                          </m:sSub>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b="0" i="1" smtClean="0">
                              <a:latin typeface="Cambria Math" panose="02040503050406030204" pitchFamily="18" charset="0"/>
                              <a:ea typeface="Cambria Math" panose="02040503050406030204" pitchFamily="18" charset="0"/>
                            </a:rPr>
                            <m:t>𝜃</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5232404" cy="5784019"/>
              </a:xfrm>
              <a:prstGeom prst="rect">
                <a:avLst/>
              </a:prstGeom>
              <a:blipFill>
                <a:blip r:embed="rId2"/>
                <a:stretch>
                  <a:fillRect l="-931" t="-5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BAC94394-2803-4407-90C8-1813E84CFAF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17" name="文字方塊 16">
                <a:extLst>
                  <a:ext uri="{FF2B5EF4-FFF2-40B4-BE49-F238E27FC236}">
                    <a16:creationId xmlns:a16="http://schemas.microsoft.com/office/drawing/2014/main" id="{BAC94394-2803-4407-90C8-1813E84CFAF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C0E707CC-394C-449D-AA24-F6E85B3C8C59}"/>
                  </a:ext>
                </a:extLst>
              </p:cNvPr>
              <p:cNvSpPr txBox="1"/>
              <p:nvPr/>
            </p:nvSpPr>
            <p:spPr>
              <a:xfrm>
                <a:off x="5367871" y="5215467"/>
                <a:ext cx="6578596"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Ex:</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=2</m:t>
                    </m:r>
                  </m:oMath>
                </a14:m>
                <a:endParaRPr lang="en-US" altLang="zh-TW" b="0" dirty="0"/>
              </a:p>
              <a:p>
                <a:r>
                  <a:rPr lang="en-US" altLang="zh-TW" dirty="0"/>
                  <a:t>	</a:t>
                </a:r>
                <a:endParaRPr lang="zh-TW" altLang="en-US" dirty="0"/>
              </a:p>
            </p:txBody>
          </p:sp>
        </mc:Choice>
        <mc:Fallback xmlns="">
          <p:sp>
            <p:nvSpPr>
              <p:cNvPr id="28" name="文字方塊 27">
                <a:extLst>
                  <a:ext uri="{FF2B5EF4-FFF2-40B4-BE49-F238E27FC236}">
                    <a16:creationId xmlns:a16="http://schemas.microsoft.com/office/drawing/2014/main" id="{C0E707CC-394C-449D-AA24-F6E85B3C8C59}"/>
                  </a:ext>
                </a:extLst>
              </p:cNvPr>
              <p:cNvSpPr txBox="1">
                <a:spLocks noRot="1" noChangeAspect="1" noMove="1" noResize="1" noEditPoints="1" noAdjustHandles="1" noChangeArrowheads="1" noChangeShapeType="1" noTextEdit="1"/>
              </p:cNvSpPr>
              <p:nvPr/>
            </p:nvSpPr>
            <p:spPr>
              <a:xfrm>
                <a:off x="5367871" y="5215467"/>
                <a:ext cx="6578596" cy="646331"/>
              </a:xfrm>
              <a:prstGeom prst="rect">
                <a:avLst/>
              </a:prstGeom>
              <a:blipFill>
                <a:blip r:embed="rId4"/>
                <a:stretch>
                  <a:fillRect l="-649" t="-5660"/>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26E08411-0E10-498E-B632-44320EB42710}"/>
              </a:ext>
            </a:extLst>
          </p:cNvPr>
          <p:cNvCxnSpPr/>
          <p:nvPr/>
        </p:nvCxnSpPr>
        <p:spPr>
          <a:xfrm>
            <a:off x="6096000" y="5689600"/>
            <a:ext cx="53424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394DFB9A-EE1F-4ECE-B4C3-64D9170AAD25}"/>
              </a:ext>
            </a:extLst>
          </p:cNvPr>
          <p:cNvSpPr/>
          <p:nvPr/>
        </p:nvSpPr>
        <p:spPr>
          <a:xfrm>
            <a:off x="5981700" y="5569635"/>
            <a:ext cx="228600" cy="23992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id="{6E4001B8-D496-4EB8-A427-29F8F6CD681F}"/>
              </a:ext>
            </a:extLst>
          </p:cNvPr>
          <p:cNvSpPr txBox="1"/>
          <p:nvPr/>
        </p:nvSpPr>
        <p:spPr>
          <a:xfrm>
            <a:off x="5668433" y="5770582"/>
            <a:ext cx="855133" cy="369332"/>
          </a:xfrm>
          <a:prstGeom prst="rect">
            <a:avLst/>
          </a:prstGeom>
          <a:noFill/>
        </p:spPr>
        <p:txBody>
          <a:bodyPr wrap="square" rtlCol="0">
            <a:spAutoFit/>
          </a:bodyPr>
          <a:lstStyle/>
          <a:p>
            <a:r>
              <a:rPr lang="en-US" altLang="zh-TW" dirty="0"/>
              <a:t>Center</a:t>
            </a:r>
            <a:endParaRPr lang="zh-TW" altLang="en-US" dirty="0"/>
          </a:p>
        </p:txBody>
      </p:sp>
      <p:cxnSp>
        <p:nvCxnSpPr>
          <p:cNvPr id="34" name="直線接點 33">
            <a:extLst>
              <a:ext uri="{FF2B5EF4-FFF2-40B4-BE49-F238E27FC236}">
                <a16:creationId xmlns:a16="http://schemas.microsoft.com/office/drawing/2014/main" id="{11B9BCAE-16E0-4EA9-9AC3-71AC94AE5DDD}"/>
              </a:ext>
            </a:extLst>
          </p:cNvPr>
          <p:cNvCxnSpPr/>
          <p:nvPr/>
        </p:nvCxnSpPr>
        <p:spPr>
          <a:xfrm>
            <a:off x="8767233" y="5393267"/>
            <a:ext cx="0" cy="6434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橢圓 34">
            <a:extLst>
              <a:ext uri="{FF2B5EF4-FFF2-40B4-BE49-F238E27FC236}">
                <a16:creationId xmlns:a16="http://schemas.microsoft.com/office/drawing/2014/main" id="{E4972A8D-69DC-47C0-9A60-93F8D71F6348}"/>
              </a:ext>
            </a:extLst>
          </p:cNvPr>
          <p:cNvSpPr/>
          <p:nvPr/>
        </p:nvSpPr>
        <p:spPr>
          <a:xfrm>
            <a:off x="7552267" y="5569635"/>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F6BE17E4-2DD2-4A20-A697-5728CEAF5814}"/>
              </a:ext>
            </a:extLst>
          </p:cNvPr>
          <p:cNvSpPr/>
          <p:nvPr/>
        </p:nvSpPr>
        <p:spPr>
          <a:xfrm>
            <a:off x="10024533" y="5575303"/>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C7DE772D-91AB-4873-BA84-0850F2D64CCD}"/>
              </a:ext>
            </a:extLst>
          </p:cNvPr>
          <p:cNvSpPr txBox="1"/>
          <p:nvPr/>
        </p:nvSpPr>
        <p:spPr>
          <a:xfrm>
            <a:off x="7289799" y="5799729"/>
            <a:ext cx="1126066" cy="646331"/>
          </a:xfrm>
          <a:prstGeom prst="rect">
            <a:avLst/>
          </a:prstGeom>
          <a:noFill/>
        </p:spPr>
        <p:txBody>
          <a:bodyPr wrap="square" rtlCol="0">
            <a:spAutoFit/>
          </a:bodyPr>
          <a:lstStyle/>
          <a:p>
            <a:r>
              <a:rPr lang="en-US" altLang="zh-TW" dirty="0"/>
              <a:t>Sample point</a:t>
            </a:r>
            <a:endParaRPr lang="zh-TW" altLang="en-US" dirty="0"/>
          </a:p>
        </p:txBody>
      </p:sp>
      <p:sp>
        <p:nvSpPr>
          <p:cNvPr id="39" name="文字方塊 38">
            <a:extLst>
              <a:ext uri="{FF2B5EF4-FFF2-40B4-BE49-F238E27FC236}">
                <a16:creationId xmlns:a16="http://schemas.microsoft.com/office/drawing/2014/main" id="{383C0C6E-8646-44C1-8A4F-0CEE72F7AF79}"/>
              </a:ext>
            </a:extLst>
          </p:cNvPr>
          <p:cNvSpPr txBox="1"/>
          <p:nvPr/>
        </p:nvSpPr>
        <p:spPr>
          <a:xfrm>
            <a:off x="9751484" y="5770582"/>
            <a:ext cx="1126066" cy="646331"/>
          </a:xfrm>
          <a:prstGeom prst="rect">
            <a:avLst/>
          </a:prstGeom>
          <a:noFill/>
        </p:spPr>
        <p:txBody>
          <a:bodyPr wrap="square" rtlCol="0">
            <a:spAutoFit/>
          </a:bodyPr>
          <a:lstStyle/>
          <a:p>
            <a:r>
              <a:rPr lang="en-US" altLang="zh-TW" dirty="0"/>
              <a:t>Sample point</a:t>
            </a:r>
            <a:endParaRPr lang="zh-TW" altLang="en-US" dirty="0"/>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FE617669-674F-499C-B4B5-705FFEAAF284}"/>
                  </a:ext>
                </a:extLst>
              </p:cNvPr>
              <p:cNvSpPr txBox="1"/>
              <p:nvPr/>
            </p:nvSpPr>
            <p:spPr>
              <a:xfrm>
                <a:off x="11500222" y="551542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𝑟</m:t>
                      </m:r>
                    </m:oMath>
                  </m:oMathPara>
                </a14:m>
                <a:endParaRPr lang="zh-TW" altLang="en-US" dirty="0"/>
              </a:p>
            </p:txBody>
          </p:sp>
        </mc:Choice>
        <mc:Fallback xmlns="">
          <p:sp>
            <p:nvSpPr>
              <p:cNvPr id="36" name="文字方塊 35">
                <a:extLst>
                  <a:ext uri="{FF2B5EF4-FFF2-40B4-BE49-F238E27FC236}">
                    <a16:creationId xmlns:a16="http://schemas.microsoft.com/office/drawing/2014/main" id="{FE617669-674F-499C-B4B5-705FFEAAF284}"/>
                  </a:ext>
                </a:extLst>
              </p:cNvPr>
              <p:cNvSpPr txBox="1">
                <a:spLocks noRot="1" noChangeAspect="1" noMove="1" noResize="1" noEditPoints="1" noAdjustHandles="1" noChangeArrowheads="1" noChangeShapeType="1" noTextEdit="1"/>
              </p:cNvSpPr>
              <p:nvPr/>
            </p:nvSpPr>
            <p:spPr>
              <a:xfrm>
                <a:off x="11500222" y="5515423"/>
                <a:ext cx="166969" cy="276999"/>
              </a:xfrm>
              <a:prstGeom prst="rect">
                <a:avLst/>
              </a:prstGeom>
              <a:blipFill>
                <a:blip r:embed="rId5"/>
                <a:stretch>
                  <a:fillRect l="-22222" r="-18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11430000" cy="3298532"/>
              </a:xfrm>
              <a:prstGeom prst="rect">
                <a:avLst/>
              </a:prstGeom>
              <a:noFill/>
            </p:spPr>
            <p:txBody>
              <a:bodyPr wrap="square" rtlCol="0">
                <a:spAutoFit/>
              </a:bodyPr>
              <a:lstStyle/>
              <a:p>
                <a:pPr marL="342900" indent="-342900">
                  <a:buFont typeface="+mj-lt"/>
                  <a:buAutoNum type="arabicPeriod"/>
                </a:pPr>
                <a:r>
                  <a:rPr lang="en-US" altLang="zh-TW" dirty="0"/>
                  <a:t>Initial Setup</a:t>
                </a:r>
                <a:r>
                  <a:rPr lang="zh-TW" altLang="en-US" dirty="0"/>
                  <a:t> </a:t>
                </a:r>
                <a14:m>
                  <m:oMath xmlns:m="http://schemas.openxmlformats.org/officeDocument/2006/math">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1" smtClean="0">
                        <a:latin typeface="Cambria Math" panose="02040503050406030204" pitchFamily="18" charset="0"/>
                      </a:rPr>
                      <m:t>]=[1 2 3]</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Ratio of the Three Parameters</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1 3 3</m:t>
                        </m:r>
                        <m:r>
                          <a:rPr lang="zh-TW" altLang="en-US" b="0" i="1" smtClean="0">
                            <a:latin typeface="Cambria Math" panose="02040503050406030204" pitchFamily="18" charset="0"/>
                            <a:ea typeface="Cambria Math" panose="02040503050406030204" pitchFamily="18" charset="0"/>
                          </a:rPr>
                          <m:t>𝜋</m:t>
                        </m:r>
                      </m:e>
                    </m:d>
                  </m:oMath>
                </a14:m>
                <a:endParaRPr lang="en-US" altLang="zh-TW" b="0" dirty="0">
                  <a:ea typeface="Cambria Math" panose="02040503050406030204" pitchFamily="18" charset="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Calculation at Each Step </a:t>
                </a:r>
                <a14:m>
                  <m:oMath xmlns:m="http://schemas.openxmlformats.org/officeDocument/2006/math">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num>
                      <m:den>
                        <m:r>
                          <a:rPr lang="en-US" altLang="zh-TW" b="0" i="1" smtClean="0">
                            <a:latin typeface="Cambria Math" panose="02040503050406030204" pitchFamily="18" charset="0"/>
                          </a:rPr>
                          <m:t>1</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𝜃</m:t>
                            </m:r>
                          </m:sub>
                        </m:sSub>
                      </m:num>
                      <m:den>
                        <m:r>
                          <a:rPr lang="en-US" altLang="zh-TW" b="0" i="1" smtClean="0">
                            <a:latin typeface="Cambria Math" panose="02040503050406030204" pitchFamily="18" charset="0"/>
                          </a:rPr>
                          <m:t>3</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𝜙</m:t>
                            </m:r>
                          </m:sub>
                        </m:sSub>
                      </m:num>
                      <m:den>
                        <m:r>
                          <a:rPr lang="en-US" altLang="zh-TW" i="1">
                            <a:latin typeface="Cambria Math" panose="02040503050406030204" pitchFamily="18" charset="0"/>
                          </a:rPr>
                          <m:t>3</m:t>
                        </m:r>
                        <m:r>
                          <a:rPr lang="zh-TW" altLang="en-US" i="1" smtClean="0">
                            <a:latin typeface="Cambria Math" panose="02040503050406030204" pitchFamily="18" charset="0"/>
                          </a:rPr>
                          <m:t>𝜋</m:t>
                        </m:r>
                      </m:den>
                    </m:f>
                    <m:r>
                      <a:rPr lang="en-US" altLang="zh-TW" b="0" i="1" smtClean="0">
                        <a:latin typeface="Cambria Math" panose="02040503050406030204" pitchFamily="18" charset="0"/>
                      </a:rPr>
                      <m:t>]</m:t>
                    </m:r>
                    <m:r>
                      <a:rPr lang="zh-TW" altLang="en-US" i="1">
                        <a:latin typeface="Cambria Math" panose="02040503050406030204" pitchFamily="18" charset="0"/>
                      </a:rPr>
                      <m:t>，</m:t>
                    </m:r>
                    <m:r>
                      <m:rPr>
                        <m:nor/>
                      </m:rPr>
                      <a:rPr lang="en-US" altLang="zh-TW"/>
                      <m:t>Increment</m:t>
                    </m:r>
                    <m:r>
                      <m:rPr>
                        <m:nor/>
                      </m:rPr>
                      <a:rPr lang="en-US" altLang="zh-TW"/>
                      <m:t> </m:t>
                    </m:r>
                    <m:r>
                      <m:rPr>
                        <m:nor/>
                      </m:rPr>
                      <a:rPr lang="en-US" altLang="zh-TW"/>
                      <m:t>the</m:t>
                    </m:r>
                    <m:r>
                      <m:rPr>
                        <m:nor/>
                      </m:rPr>
                      <a:rPr lang="en-US" altLang="zh-TW"/>
                      <m:t> </m:t>
                    </m:r>
                    <m:r>
                      <m:rPr>
                        <m:nor/>
                      </m:rPr>
                      <a:rPr lang="en-US" altLang="zh-TW"/>
                      <m:t>field</m:t>
                    </m:r>
                    <m:r>
                      <m:rPr>
                        <m:nor/>
                      </m:rPr>
                      <a:rPr lang="en-US" altLang="zh-TW"/>
                      <m:t> </m:t>
                    </m:r>
                    <m:r>
                      <m:rPr>
                        <m:nor/>
                      </m:rPr>
                      <a:rPr lang="en-US" altLang="zh-TW"/>
                      <m:t>corresponding</m:t>
                    </m:r>
                    <m:r>
                      <m:rPr>
                        <m:nor/>
                      </m:rPr>
                      <a:rPr lang="en-US" altLang="zh-TW"/>
                      <m:t> </m:t>
                    </m:r>
                    <m:r>
                      <m:rPr>
                        <m:nor/>
                      </m:rPr>
                      <a:rPr lang="en-US" altLang="zh-TW"/>
                      <m:t>to</m:t>
                    </m:r>
                    <m:r>
                      <m:rPr>
                        <m:nor/>
                      </m:rPr>
                      <a:rPr lang="en-US" altLang="zh-TW"/>
                      <m:t> </m:t>
                    </m:r>
                    <m:r>
                      <m:rPr>
                        <m:nor/>
                      </m:rPr>
                      <a:rPr lang="en-US" altLang="zh-TW"/>
                      <m:t>the</m:t>
                    </m:r>
                    <m:r>
                      <m:rPr>
                        <m:nor/>
                      </m:rPr>
                      <a:rPr lang="en-US" altLang="zh-TW"/>
                      <m:t> </m:t>
                    </m:r>
                    <m:r>
                      <m:rPr>
                        <m:nor/>
                      </m:rPr>
                      <a:rPr lang="en-US" altLang="zh-TW"/>
                      <m:t>smallest</m:t>
                    </m:r>
                    <m:r>
                      <m:rPr>
                        <m:nor/>
                      </m:rPr>
                      <a:rPr lang="en-US" altLang="zh-TW"/>
                      <m:t> </m:t>
                    </m:r>
                    <m:r>
                      <m:rPr>
                        <m:nor/>
                      </m:rPr>
                      <a:rPr lang="en-US" altLang="zh-TW"/>
                      <m:t>quotient</m:t>
                    </m:r>
                    <m:r>
                      <m:rPr>
                        <m:nor/>
                      </m:rPr>
                      <a:rPr lang="en-US" altLang="zh-TW"/>
                      <m:t> </m:t>
                    </m:r>
                    <m:r>
                      <m:rPr>
                        <m:nor/>
                      </m:rPr>
                      <a:rPr lang="en-US" altLang="zh-TW"/>
                      <m:t>by</m:t>
                    </m:r>
                    <m:r>
                      <m:rPr>
                        <m:nor/>
                      </m:rPr>
                      <a:rPr lang="en-US" altLang="zh-TW"/>
                      <m:t> 1 </m:t>
                    </m:r>
                    <m:r>
                      <m:rPr>
                        <m:nor/>
                      </m:rPr>
                      <a:rPr lang="en-US" altLang="zh-TW"/>
                      <m:t>until</m:t>
                    </m:r>
                    <m:r>
                      <m:rPr>
                        <m:nor/>
                      </m:rPr>
                      <a:rPr lang="en-US" altLang="zh-TW"/>
                      <m:t> </m:t>
                    </m:r>
                    <m:r>
                      <m:rPr>
                        <m:nor/>
                      </m:rPr>
                      <a:rPr lang="en-US" altLang="zh-TW"/>
                      <m:t>a</m:t>
                    </m:r>
                    <m:r>
                      <m:rPr>
                        <m:nor/>
                      </m:rPr>
                      <a:rPr lang="en-US" altLang="zh-TW"/>
                      <m:t> </m:t>
                    </m:r>
                    <m:r>
                      <m:rPr>
                        <m:nor/>
                      </m:rPr>
                      <a:rPr lang="en-US" altLang="zh-TW"/>
                      <m:t>point</m:t>
                    </m:r>
                    <m:r>
                      <m:rPr>
                        <m:nor/>
                      </m:rPr>
                      <a:rPr lang="en-US" altLang="zh-TW"/>
                      <m:t>−</m:t>
                    </m:r>
                    <m:r>
                      <m:rPr>
                        <m:nor/>
                      </m:rPr>
                      <a:rPr lang="en-US" altLang="zh-TW"/>
                      <m:t>count</m:t>
                    </m:r>
                    <m:r>
                      <m:rPr>
                        <m:nor/>
                      </m:rPr>
                      <a:rPr lang="en-US" altLang="zh-TW"/>
                      <m:t> </m:t>
                    </m:r>
                    <m:r>
                      <m:rPr>
                        <m:nor/>
                      </m:rPr>
                      <a:rPr lang="en-US" altLang="zh-TW"/>
                      <m:t>combination</m:t>
                    </m:r>
                    <m:r>
                      <m:rPr>
                        <m:nor/>
                      </m:rPr>
                      <a:rPr lang="en-US" altLang="zh-TW"/>
                      <m:t> </m:t>
                    </m:r>
                    <m:r>
                      <m:rPr>
                        <m:nor/>
                      </m:rPr>
                      <a:rPr lang="en-US" altLang="zh-TW"/>
                      <m:t>satisfying</m:t>
                    </m:r>
                    <m:r>
                      <m:rPr>
                        <m:nor/>
                      </m:rPr>
                      <a:rPr lang="en-US" altLang="zh-TW"/>
                      <m:t> </m:t>
                    </m:r>
                    <m:r>
                      <m:rPr>
                        <m:nor/>
                      </m:rPr>
                      <a:rPr lang="en-US" altLang="zh-TW"/>
                      <m:t>the</m:t>
                    </m:r>
                    <m:r>
                      <m:rPr>
                        <m:nor/>
                      </m:rPr>
                      <a:rPr lang="en-US" altLang="zh-TW"/>
                      <m:t> </m:t>
                    </m:r>
                    <m:r>
                      <m:rPr>
                        <m:nor/>
                      </m:rPr>
                      <a:rPr lang="en-US" altLang="zh-TW"/>
                      <m:t>criteria</m:t>
                    </m:r>
                    <m:r>
                      <m:rPr>
                        <m:nor/>
                      </m:rPr>
                      <a:rPr lang="en-US" altLang="zh-TW"/>
                      <m:t> </m:t>
                    </m:r>
                    <m:r>
                      <m:rPr>
                        <m:nor/>
                      </m:rPr>
                      <a:rPr lang="en-US" altLang="zh-TW"/>
                      <m:t>is</m:t>
                    </m:r>
                    <m:r>
                      <m:rPr>
                        <m:nor/>
                      </m:rPr>
                      <a:rPr lang="en-US" altLang="zh-TW"/>
                      <m:t> </m:t>
                    </m:r>
                    <m:r>
                      <m:rPr>
                        <m:nor/>
                      </m:rPr>
                      <a:rPr lang="en-US" altLang="zh-TW"/>
                      <m:t>found</m:t>
                    </m:r>
                    <m:r>
                      <m:rPr>
                        <m:nor/>
                      </m:rPr>
                      <a:rPr lang="en-US" altLang="zh-TW"/>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11430000" cy="3298532"/>
              </a:xfrm>
              <a:prstGeom prst="rect">
                <a:avLst/>
              </a:prstGeom>
              <a:blipFill>
                <a:blip r:embed="rId2"/>
                <a:stretch>
                  <a:fillRect l="-427" t="-92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55481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id="{4C4C9969-1B44-4A59-A7E0-FC50AC2A4271}"/>
              </a:ext>
            </a:extLst>
          </p:cNvPr>
          <p:cNvGrpSpPr/>
          <p:nvPr/>
        </p:nvGrpSpPr>
        <p:grpSpPr>
          <a:xfrm>
            <a:off x="412433" y="4672988"/>
            <a:ext cx="2345798" cy="2058673"/>
            <a:chOff x="318690" y="3303224"/>
            <a:chExt cx="3702977" cy="3002063"/>
          </a:xfrm>
        </p:grpSpPr>
        <p:sp>
          <p:nvSpPr>
            <p:cNvPr id="3" name="矩形 2">
              <a:extLst>
                <a:ext uri="{FF2B5EF4-FFF2-40B4-BE49-F238E27FC236}">
                  <a16:creationId xmlns:a16="http://schemas.microsoft.com/office/drawing/2014/main" id="{68A97F66-D40E-4AE5-9BB8-EB697B953184}"/>
                </a:ext>
              </a:extLst>
            </p:cNvPr>
            <p:cNvSpPr/>
            <p:nvPr/>
          </p:nvSpPr>
          <p:spPr>
            <a:xfrm>
              <a:off x="2048933" y="5985933"/>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CA362B68-8F37-4BBB-9784-37CA0CAA23D0}"/>
                </a:ext>
              </a:extLst>
            </p:cNvPr>
            <p:cNvSpPr/>
            <p:nvPr/>
          </p:nvSpPr>
          <p:spPr>
            <a:xfrm rot="16200000">
              <a:off x="-508000" y="4129914"/>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 name="群組 7">
            <a:extLst>
              <a:ext uri="{FF2B5EF4-FFF2-40B4-BE49-F238E27FC236}">
                <a16:creationId xmlns:a16="http://schemas.microsoft.com/office/drawing/2014/main" id="{91081E8E-4A21-4CFA-B87B-CE8D6BA8512B}"/>
              </a:ext>
            </a:extLst>
          </p:cNvPr>
          <p:cNvGrpSpPr/>
          <p:nvPr/>
        </p:nvGrpSpPr>
        <p:grpSpPr>
          <a:xfrm>
            <a:off x="1067095" y="4542832"/>
            <a:ext cx="2008760" cy="1722057"/>
            <a:chOff x="1009082" y="4368800"/>
            <a:chExt cx="2271409" cy="1845464"/>
          </a:xfrm>
        </p:grpSpPr>
        <p:sp>
          <p:nvSpPr>
            <p:cNvPr id="4" name="矩形 3">
              <a:extLst>
                <a:ext uri="{FF2B5EF4-FFF2-40B4-BE49-F238E27FC236}">
                  <a16:creationId xmlns:a16="http://schemas.microsoft.com/office/drawing/2014/main" id="{B7E317EE-9350-4E48-B5B8-C659C8A7DB3E}"/>
                </a:ext>
              </a:extLst>
            </p:cNvPr>
            <p:cNvSpPr/>
            <p:nvPr/>
          </p:nvSpPr>
          <p:spPr>
            <a:xfrm>
              <a:off x="1009082" y="4368800"/>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43D4EBAC-202E-436B-825F-230919A14899}"/>
                </a:ext>
              </a:extLst>
            </p:cNvPr>
            <p:cNvSpPr/>
            <p:nvPr/>
          </p:nvSpPr>
          <p:spPr>
            <a:xfrm rot="5400000">
              <a:off x="2630809" y="5564582"/>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829602"/>
                <a:ext cx="11882359" cy="293323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Therefore, the evaluation criteria are revised as follows: the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and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must be stable, with the relative errors of the following ten points with respect to their respective preceding points being less than 0.5%, and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must exhibit a physically consistent distribution, i.e., diagonal dominance.</a:t>
                </a:r>
              </a:p>
              <a:p>
                <a:pPr marL="285750" indent="-285750">
                  <a:buFont typeface="Arial" panose="020B0604020202020204" pitchFamily="34" charset="0"/>
                  <a:buChar char="•"/>
                </a:pPr>
                <a:r>
                  <a:rPr lang="en-US" altLang="zh-TW" dirty="0"/>
                  <a:t>The first actual design is N = 6, where the blue curve (single parameter) jumps to 931 µm and the red curve (eighteen parameters) to 873.5 µm; both then flatten almost immediately, blue settling at 877 and red at 872. The two vertical dashed lines mark the convergence points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criterion (relative change below 0.5% for ten consecutive designs): red at </a:t>
                </a:r>
                <a:r>
                  <a:rPr lang="en-US" altLang="zh-TW" b="1" dirty="0"/>
                  <a:t>6 points </a:t>
                </a:r>
                <a:r>
                  <a:rPr lang="en-US" altLang="zh-TW" dirty="0"/>
                  <a:t>and blue at </a:t>
                </a:r>
                <a:r>
                  <a:rPr lang="en-US" altLang="zh-TW" b="1" dirty="0"/>
                  <a:t>8 points</a:t>
                </a:r>
                <a:r>
                  <a:rPr lang="en-US" altLang="zh-TW" dirty="0"/>
                  <a:t>.</a:t>
                </a:r>
              </a:p>
              <a:p>
                <a:pPr marL="285750" indent="-285750">
                  <a:buFont typeface="Arial" panose="020B0604020202020204" pitchFamily="34" charset="0"/>
                  <a:buChar char="•"/>
                </a:pPr>
                <a:r>
                  <a:rPr lang="en-US" altLang="zh-TW" dirty="0"/>
                  <a:t>The two dashed lines mark the convergence points of the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oMath>
                </a14:m>
                <a:r>
                  <a:rPr lang="en-US" altLang="zh-TW" dirty="0"/>
                  <a:t>criterion: red at </a:t>
                </a:r>
                <a:r>
                  <a:rPr lang="en-US" altLang="zh-TW" b="1" dirty="0"/>
                  <a:t>80 points </a:t>
                </a:r>
                <a:r>
                  <a:rPr lang="en-US" altLang="zh-TW" dirty="0"/>
                  <a:t>and blue at </a:t>
                </a:r>
                <a:r>
                  <a:rPr lang="en-US" altLang="zh-TW" b="1" dirty="0"/>
                  <a:t>528 points</a:t>
                </a:r>
                <a:r>
                  <a:rPr lang="en-US" altLang="zh-TW" dirty="0"/>
                  <a:t>. Therefore, by taking the intersection of these criteria, the required number of points is determined to be 528 for the single-parameter model and 80 for the eighteen-parameter model.</a:t>
                </a: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829602"/>
                <a:ext cx="11882359" cy="2933239"/>
              </a:xfrm>
              <a:prstGeom prst="rect">
                <a:avLst/>
              </a:prstGeom>
              <a:blipFill>
                <a:blip r:embed="rId5"/>
                <a:stretch>
                  <a:fillRect l="-308" t="-208" b="-2495"/>
                </a:stretch>
              </a:blipFill>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215B1C10-4A8D-4F5C-BA12-89D80FC3EC4E}"/>
              </a:ext>
            </a:extLst>
          </p:cNvPr>
          <p:cNvSpPr txBox="1"/>
          <p:nvPr/>
        </p:nvSpPr>
        <p:spPr>
          <a:xfrm>
            <a:off x="0" y="2339706"/>
            <a:ext cx="11978275" cy="369332"/>
          </a:xfrm>
          <a:prstGeom prst="rect">
            <a:avLst/>
          </a:prstGeom>
          <a:noFill/>
        </p:spPr>
        <p:txBody>
          <a:bodyPr wrap="square">
            <a:spAutoFit/>
          </a:bodyPr>
          <a:lstStyle/>
          <a:p>
            <a:pPr marL="285750" indent="-285750">
              <a:buFont typeface="Arial" panose="020B0604020202020204" pitchFamily="34" charset="0"/>
              <a:buChar char="•"/>
            </a:pPr>
            <a:endParaRPr lang="zh-TW" altLang="en-US" dirty="0"/>
          </a:p>
        </p:txBody>
      </p:sp>
      <p:grpSp>
        <p:nvGrpSpPr>
          <p:cNvPr id="27" name="群組 26">
            <a:extLst>
              <a:ext uri="{FF2B5EF4-FFF2-40B4-BE49-F238E27FC236}">
                <a16:creationId xmlns:a16="http://schemas.microsoft.com/office/drawing/2014/main" id="{720736BF-05DC-4FA3-BD2A-D5906CF89058}"/>
              </a:ext>
            </a:extLst>
          </p:cNvPr>
          <p:cNvGrpSpPr/>
          <p:nvPr/>
        </p:nvGrpSpPr>
        <p:grpSpPr>
          <a:xfrm>
            <a:off x="1380172" y="3914523"/>
            <a:ext cx="3164344" cy="2586717"/>
            <a:chOff x="1407654" y="3989241"/>
            <a:chExt cx="3164344" cy="2586717"/>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1445169" y="3989241"/>
              <a:ext cx="3126829" cy="2586717"/>
              <a:chOff x="1445170" y="3989241"/>
              <a:chExt cx="2724532" cy="2182819"/>
            </a:xfrm>
          </p:grpSpPr>
          <p:pic>
            <p:nvPicPr>
              <p:cNvPr id="12" name="圖片 11">
                <a:extLst>
                  <a:ext uri="{FF2B5EF4-FFF2-40B4-BE49-F238E27FC236}">
                    <a16:creationId xmlns:a16="http://schemas.microsoft.com/office/drawing/2014/main" id="{9E4537B2-81C4-4B97-82D1-69C34AD568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5203" y="3989241"/>
                <a:ext cx="2684499" cy="2132324"/>
              </a:xfrm>
              <a:prstGeom prst="rect">
                <a:avLst/>
              </a:prstGeom>
            </p:spPr>
          </p:pic>
          <p:sp>
            <p:nvSpPr>
              <p:cNvPr id="25" name="矩形 24">
                <a:extLst>
                  <a:ext uri="{FF2B5EF4-FFF2-40B4-BE49-F238E27FC236}">
                    <a16:creationId xmlns:a16="http://schemas.microsoft.com/office/drawing/2014/main" id="{50ABEE23-C0F3-4396-A9CE-84BD3E69946C}"/>
                  </a:ext>
                </a:extLst>
              </p:cNvPr>
              <p:cNvSpPr/>
              <p:nvPr/>
            </p:nvSpPr>
            <p:spPr>
              <a:xfrm>
                <a:off x="2471405"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989487" y="4909206"/>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2502574" y="6316841"/>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2502574" y="6316841"/>
                  <a:ext cx="1381789" cy="215444"/>
                </a:xfrm>
                <a:prstGeom prst="rect">
                  <a:avLst/>
                </a:prstGeom>
                <a:blipFill>
                  <a:blip r:embed="rId7"/>
                  <a:stretch>
                    <a:fillRect l="-2643" r="-3084" b="-3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924630" y="4964854"/>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924630" y="4964854"/>
                  <a:ext cx="1192585" cy="226537"/>
                </a:xfrm>
                <a:prstGeom prst="rect">
                  <a:avLst/>
                </a:prstGeom>
                <a:blipFill>
                  <a:blip r:embed="rId8"/>
                  <a:stretch>
                    <a:fillRect l="-23684" r="-28947"/>
                  </a:stretch>
                </a:blipFill>
              </p:spPr>
              <p:txBody>
                <a:bodyPr/>
                <a:lstStyle/>
                <a:p>
                  <a:r>
                    <a:rPr lang="zh-TW" altLang="en-US">
                      <a:noFill/>
                    </a:rPr>
                    <a:t> </a:t>
                  </a:r>
                </a:p>
              </p:txBody>
            </p:sp>
          </mc:Fallback>
        </mc:AlternateContent>
      </p:grpSp>
      <p:grpSp>
        <p:nvGrpSpPr>
          <p:cNvPr id="9" name="群組 8">
            <a:extLst>
              <a:ext uri="{FF2B5EF4-FFF2-40B4-BE49-F238E27FC236}">
                <a16:creationId xmlns:a16="http://schemas.microsoft.com/office/drawing/2014/main" id="{2DD94B81-4154-4DA8-91AA-05C9D52771BE}"/>
              </a:ext>
            </a:extLst>
          </p:cNvPr>
          <p:cNvGrpSpPr/>
          <p:nvPr/>
        </p:nvGrpSpPr>
        <p:grpSpPr>
          <a:xfrm>
            <a:off x="6913066" y="4496482"/>
            <a:ext cx="2443245" cy="2016181"/>
            <a:chOff x="6734621" y="4514758"/>
            <a:chExt cx="2443245" cy="2016181"/>
          </a:xfrm>
        </p:grpSpPr>
        <p:sp>
          <p:nvSpPr>
            <p:cNvPr id="20" name="矩形 19">
              <a:extLst>
                <a:ext uri="{FF2B5EF4-FFF2-40B4-BE49-F238E27FC236}">
                  <a16:creationId xmlns:a16="http://schemas.microsoft.com/office/drawing/2014/main" id="{14E9E751-0BCD-4B68-947D-DBAE2AC41314}"/>
                </a:ext>
              </a:extLst>
            </p:cNvPr>
            <p:cNvSpPr/>
            <p:nvPr/>
          </p:nvSpPr>
          <p:spPr>
            <a:xfrm>
              <a:off x="6734621" y="4514758"/>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4AD1768C-7A7E-4232-8FAD-3166CADD2577}"/>
                </a:ext>
              </a:extLst>
            </p:cNvPr>
            <p:cNvSpPr/>
            <p:nvPr/>
          </p:nvSpPr>
          <p:spPr>
            <a:xfrm rot="5400000">
              <a:off x="8411063" y="5764136"/>
              <a:ext cx="249629" cy="1283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CA03B68E-6DE4-4661-8AF0-D6EB397A3943}"/>
              </a:ext>
            </a:extLst>
          </p:cNvPr>
          <p:cNvGrpSpPr/>
          <p:nvPr/>
        </p:nvGrpSpPr>
        <p:grpSpPr>
          <a:xfrm>
            <a:off x="6324600" y="3868319"/>
            <a:ext cx="3326834" cy="2707639"/>
            <a:chOff x="6995344" y="3694251"/>
            <a:chExt cx="3574586" cy="2847876"/>
          </a:xfrm>
        </p:grpSpPr>
        <p:grpSp>
          <p:nvGrpSpPr>
            <p:cNvPr id="32" name="群組 31">
              <a:extLst>
                <a:ext uri="{FF2B5EF4-FFF2-40B4-BE49-F238E27FC236}">
                  <a16:creationId xmlns:a16="http://schemas.microsoft.com/office/drawing/2014/main" id="{FADE59AD-F7C1-43E5-87D0-AF71B5D8F8DE}"/>
                </a:ext>
              </a:extLst>
            </p:cNvPr>
            <p:cNvGrpSpPr/>
            <p:nvPr/>
          </p:nvGrpSpPr>
          <p:grpSpPr>
            <a:xfrm>
              <a:off x="6995344" y="3694251"/>
              <a:ext cx="3574586" cy="2847876"/>
              <a:chOff x="6995344" y="3694251"/>
              <a:chExt cx="3574586" cy="2847876"/>
            </a:xfrm>
          </p:grpSpPr>
          <p:pic>
            <p:nvPicPr>
              <p:cNvPr id="31" name="圖片 30">
                <a:extLst>
                  <a:ext uri="{FF2B5EF4-FFF2-40B4-BE49-F238E27FC236}">
                    <a16:creationId xmlns:a16="http://schemas.microsoft.com/office/drawing/2014/main" id="{1A2F41E1-9557-4290-8586-5D53FAC30E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96182" y="3694251"/>
                <a:ext cx="3473748" cy="2732125"/>
              </a:xfrm>
              <a:prstGeom prst="rect">
                <a:avLst/>
              </a:prstGeom>
            </p:spPr>
          </p:pic>
          <p:sp>
            <p:nvSpPr>
              <p:cNvPr id="18" name="矩形 17">
                <a:extLst>
                  <a:ext uri="{FF2B5EF4-FFF2-40B4-BE49-F238E27FC236}">
                    <a16:creationId xmlns:a16="http://schemas.microsoft.com/office/drawing/2014/main" id="{D626DE7A-F9C6-47BF-9503-E4D79EF03BB4}"/>
                  </a:ext>
                </a:extLst>
              </p:cNvPr>
              <p:cNvSpPr/>
              <p:nvPr/>
            </p:nvSpPr>
            <p:spPr>
              <a:xfrm>
                <a:off x="8087529" y="6211927"/>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40789712-EA39-472C-851C-CF16838DED38}"/>
                  </a:ext>
                </a:extLst>
              </p:cNvPr>
              <p:cNvSpPr/>
              <p:nvPr/>
            </p:nvSpPr>
            <p:spPr>
              <a:xfrm rot="16200000">
                <a:off x="6221674" y="4640208"/>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D25B04E1-24E0-409C-A4AE-39A474367A3E}"/>
                    </a:ext>
                  </a:extLst>
                </p:cNvPr>
                <p:cNvSpPr txBox="1"/>
                <p:nvPr/>
              </p:nvSpPr>
              <p:spPr>
                <a:xfrm>
                  <a:off x="8335119" y="6210932"/>
                  <a:ext cx="13817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24" name="文字方塊 23">
                  <a:extLst>
                    <a:ext uri="{FF2B5EF4-FFF2-40B4-BE49-F238E27FC236}">
                      <a16:creationId xmlns:a16="http://schemas.microsoft.com/office/drawing/2014/main" id="{D25B04E1-24E0-409C-A4AE-39A474367A3E}"/>
                    </a:ext>
                  </a:extLst>
                </p:cNvPr>
                <p:cNvSpPr txBox="1">
                  <a:spLocks noRot="1" noChangeAspect="1" noMove="1" noResize="1" noEditPoints="1" noAdjustHandles="1" noChangeArrowheads="1" noChangeShapeType="1" noTextEdit="1"/>
                </p:cNvSpPr>
                <p:nvPr/>
              </p:nvSpPr>
              <p:spPr>
                <a:xfrm>
                  <a:off x="8335119" y="6210932"/>
                  <a:ext cx="1381789" cy="215444"/>
                </a:xfrm>
                <a:prstGeom prst="rect">
                  <a:avLst/>
                </a:prstGeom>
                <a:blipFill>
                  <a:blip r:embed="rId7"/>
                  <a:stretch>
                    <a:fillRect l="-4739" r="-9005" b="-352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826BDEB-84BE-4C7C-A660-0692872B3F34}"/>
                    </a:ext>
                  </a:extLst>
                </p:cNvPr>
                <p:cNvSpPr txBox="1"/>
                <p:nvPr/>
              </p:nvSpPr>
              <p:spPr>
                <a:xfrm rot="16200000">
                  <a:off x="6626914" y="4683570"/>
                  <a:ext cx="999633" cy="237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4" name="文字方塊 33">
                  <a:extLst>
                    <a:ext uri="{FF2B5EF4-FFF2-40B4-BE49-F238E27FC236}">
                      <a16:creationId xmlns:a16="http://schemas.microsoft.com/office/drawing/2014/main" id="{8826BDEB-84BE-4C7C-A660-0692872B3F34}"/>
                    </a:ext>
                  </a:extLst>
                </p:cNvPr>
                <p:cNvSpPr txBox="1">
                  <a:spLocks noRot="1" noChangeAspect="1" noMove="1" noResize="1" noEditPoints="1" noAdjustHandles="1" noChangeArrowheads="1" noChangeShapeType="1" noTextEdit="1"/>
                </p:cNvSpPr>
                <p:nvPr/>
              </p:nvSpPr>
              <p:spPr>
                <a:xfrm rot="16200000">
                  <a:off x="6626914" y="4683570"/>
                  <a:ext cx="999633" cy="237501"/>
                </a:xfrm>
                <a:prstGeom prst="rect">
                  <a:avLst/>
                </a:prstGeom>
                <a:blipFill>
                  <a:blip r:embed="rId10"/>
                  <a:stretch>
                    <a:fillRect l="-137838" t="-37821" r="-237838" b="-641"/>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1818330"/>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parameter(528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3886867"/>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parameters(80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923330"/>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923330"/>
              </a:xfrm>
              <a:prstGeom prst="rect">
                <a:avLst/>
              </a:prstGeom>
              <a:blipFill>
                <a:blip r:embed="rId9"/>
                <a:stretch>
                  <a:fillRect l="-519" t="-1987" r="-865" b="-99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CalibR150_s_mat"/>
              <p:cNvSpPr txBox="1"/>
              <p:nvPr/>
            </p:nvSpPr>
            <p:spPr>
              <a:xfrm>
                <a:off x="386080" y="2187662"/>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−0.0843</m:t>
                                </m:r>
                              </m:e>
                              <m:e>
                                <m:r>
                                  <a:rPr lang="en-US" sz="1200" b="0" i="0">
                                    <a:latin typeface="Cambria Math" panose="02040503050406030204" pitchFamily="18" charset="0"/>
                                  </a:rPr>
                                  <m:t>−0.2135</m:t>
                                </m:r>
                              </m:e>
                              <m:e>
                                <m:r>
                                  <a:rPr lang="en-US" sz="1200" b="0" i="0">
                                    <a:latin typeface="Cambria Math" panose="02040503050406030204" pitchFamily="18" charset="0"/>
                                  </a:rPr>
                                  <m:t>−0.1559</m:t>
                                </m:r>
                              </m:e>
                              <m:e>
                                <m:r>
                                  <a:rPr lang="en-US" sz="1200" b="0" i="0">
                                    <a:latin typeface="Cambria Math" panose="02040503050406030204" pitchFamily="18" charset="0"/>
                                  </a:rPr>
                                  <m:t>−0.1564</m:t>
                                </m:r>
                              </m:e>
                              <m:e>
                                <m:r>
                                  <a:rPr lang="en-US" sz="1200" b="0" i="0">
                                    <a:latin typeface="Cambria Math" panose="02040503050406030204" pitchFamily="18" charset="0"/>
                                  </a:rPr>
                                  <m:t>−0.2138</m:t>
                                </m:r>
                              </m:e>
                            </m:mr>
                            <m:mr>
                              <m:e>
                                <m:r>
                                  <a:rPr lang="en-US" sz="1200" b="0" i="0">
                                    <a:latin typeface="Cambria Math" panose="02040503050406030204" pitchFamily="18" charset="0"/>
                                  </a:rPr>
                                  <m:t>−0.2397</m:t>
                                </m:r>
                              </m:e>
                              <m:e>
                                <m:r>
                                  <a:rPr lang="en-US" sz="1200" b="0" i="0">
                                    <a:latin typeface="Cambria Math" panose="02040503050406030204" pitchFamily="18" charset="0"/>
                                  </a:rPr>
                                  <m:t>0.9973</m:t>
                                </m:r>
                              </m:e>
                              <m:e>
                                <m:r>
                                  <a:rPr lang="en-US" sz="1200" b="0" i="0">
                                    <a:latin typeface="Cambria Math" panose="02040503050406030204" pitchFamily="18" charset="0"/>
                                  </a:rPr>
                                  <m:t>−0.2316</m:t>
                                </m:r>
                              </m:e>
                              <m:e>
                                <m:r>
                                  <a:rPr lang="en-US" sz="1200" b="0" i="0">
                                    <a:latin typeface="Cambria Math" panose="02040503050406030204" pitchFamily="18" charset="0"/>
                                  </a:rPr>
                                  <m:t>−0.1398</m:t>
                                </m:r>
                              </m:e>
                              <m:e>
                                <m:r>
                                  <a:rPr lang="en-US" sz="1200" b="0" i="0">
                                    <a:latin typeface="Cambria Math" panose="02040503050406030204" pitchFamily="18" charset="0"/>
                                  </a:rPr>
                                  <m:t>−0.1399</m:t>
                                </m:r>
                              </m:e>
                              <m:e>
                                <m:r>
                                  <a:rPr lang="en-US" sz="1200" b="0" i="0">
                                    <a:latin typeface="Cambria Math" panose="02040503050406030204" pitchFamily="18" charset="0"/>
                                  </a:rPr>
                                  <m:t>−0.2317</m:t>
                                </m:r>
                              </m:e>
                            </m:mr>
                            <m:mr>
                              <m:e>
                                <m:r>
                                  <a:rPr lang="en-US" sz="1200" b="0" i="0">
                                    <a:latin typeface="Cambria Math" panose="02040503050406030204" pitchFamily="18" charset="0"/>
                                  </a:rPr>
                                  <m:t>−0.2129</m:t>
                                </m:r>
                              </m:e>
                              <m:e>
                                <m:r>
                                  <a:rPr lang="en-US" sz="1200" b="0" i="0">
                                    <a:latin typeface="Cambria Math" panose="02040503050406030204" pitchFamily="18" charset="0"/>
                                  </a:rPr>
                                  <m:t>−0.1559</m:t>
                                </m:r>
                              </m:e>
                              <m:e>
                                <m:r>
                                  <a:rPr lang="en-US" sz="1200" b="0" i="0">
                                    <a:latin typeface="Cambria Math" panose="02040503050406030204" pitchFamily="18" charset="0"/>
                                  </a:rPr>
                                  <m:t>0.8360</m:t>
                                </m:r>
                              </m:e>
                              <m:e>
                                <m:r>
                                  <a:rPr lang="en-US" sz="1200" b="0" i="0">
                                    <a:latin typeface="Cambria Math" panose="02040503050406030204" pitchFamily="18" charset="0"/>
                                  </a:rPr>
                                  <m:t>−0.0866</m:t>
                                </m:r>
                              </m:e>
                              <m:e>
                                <m:r>
                                  <a:rPr lang="en-US" sz="1200" b="0" i="0">
                                    <a:latin typeface="Cambria Math" panose="02040503050406030204" pitchFamily="18" charset="0"/>
                                  </a:rPr>
                                  <m:t>−0.1568</m:t>
                                </m:r>
                              </m:e>
                              <m:e>
                                <m:r>
                                  <a:rPr lang="en-US" sz="1200" b="0" i="0">
                                    <a:latin typeface="Cambria Math" panose="02040503050406030204" pitchFamily="18" charset="0"/>
                                  </a:rPr>
                                  <m:t>−0.2138</m:t>
                                </m:r>
                              </m:e>
                            </m:mr>
                            <m:mr>
                              <m:e>
                                <m:r>
                                  <a:rPr lang="en-US" sz="1200" b="0" i="0">
                                    <a:latin typeface="Cambria Math" panose="02040503050406030204" pitchFamily="18" charset="0"/>
                                  </a:rPr>
                                  <m:t>−0.2301</m:t>
                                </m:r>
                              </m:e>
                              <m:e>
                                <m:r>
                                  <a:rPr lang="en-US" sz="1200" b="0" i="0">
                                    <a:latin typeface="Cambria Math" panose="02040503050406030204" pitchFamily="18" charset="0"/>
                                  </a:rPr>
                                  <m:t>−0.1389</m:t>
                                </m:r>
                              </m:e>
                              <m:e>
                                <m:r>
                                  <a:rPr lang="en-US" sz="1200" b="0" i="0">
                                    <a:latin typeface="Cambria Math" panose="02040503050406030204" pitchFamily="18" charset="0"/>
                                  </a:rPr>
                                  <m:t>−0.2388</m:t>
                                </m:r>
                              </m:e>
                              <m:e>
                                <m:r>
                                  <a:rPr lang="en-US" sz="1200" b="0" i="0">
                                    <a:latin typeface="Cambria Math" panose="02040503050406030204" pitchFamily="18" charset="0"/>
                                  </a:rPr>
                                  <m:t>0.9918</m:t>
                                </m:r>
                              </m:e>
                              <m:e>
                                <m:r>
                                  <a:rPr lang="en-US" sz="1200" b="0" i="0">
                                    <a:latin typeface="Cambria Math" panose="02040503050406030204" pitchFamily="18" charset="0"/>
                                  </a:rPr>
                                  <m:t>−0.1392</m:t>
                                </m:r>
                              </m:e>
                              <m:e>
                                <m:r>
                                  <a:rPr lang="en-US" sz="1200" b="0" i="0">
                                    <a:latin typeface="Cambria Math" panose="02040503050406030204" pitchFamily="18" charset="0"/>
                                  </a:rPr>
                                  <m:t>−0.2308</m:t>
                                </m:r>
                              </m:e>
                            </m:mr>
                            <m:mr>
                              <m:e>
                                <m:r>
                                  <a:rPr lang="en-US" sz="1200" b="0" i="0">
                                    <a:latin typeface="Cambria Math" panose="02040503050406030204" pitchFamily="18" charset="0"/>
                                  </a:rPr>
                                  <m:t>−0.2308</m:t>
                                </m:r>
                              </m:e>
                              <m:e>
                                <m:r>
                                  <a:rPr lang="en-US" sz="1200" b="0" i="0">
                                    <a:latin typeface="Cambria Math" panose="02040503050406030204" pitchFamily="18" charset="0"/>
                                  </a:rPr>
                                  <m:t>−0.1391</m:t>
                                </m:r>
                              </m:e>
                              <m:e>
                                <m:r>
                                  <a:rPr lang="en-US" sz="1200" b="0" i="0">
                                    <a:latin typeface="Cambria Math" panose="02040503050406030204" pitchFamily="18" charset="0"/>
                                  </a:rPr>
                                  <m:t>−0.2313</m:t>
                                </m:r>
                              </m:e>
                              <m:e>
                                <m:r>
                                  <a:rPr lang="en-US" sz="1200" b="0" i="0">
                                    <a:latin typeface="Cambria Math" panose="02040503050406030204" pitchFamily="18" charset="0"/>
                                  </a:rPr>
                                  <m:t>−0.1399</m:t>
                                </m:r>
                              </m:e>
                              <m:e>
                                <m:r>
                                  <a:rPr lang="en-US" sz="1200" b="0" i="0">
                                    <a:latin typeface="Cambria Math" panose="02040503050406030204" pitchFamily="18" charset="0"/>
                                  </a:rPr>
                                  <m:t>0.9964</m:t>
                                </m:r>
                              </m:e>
                              <m:e>
                                <m:r>
                                  <a:rPr lang="en-US" sz="1200" b="0" i="0">
                                    <a:latin typeface="Cambria Math" panose="02040503050406030204" pitchFamily="18" charset="0"/>
                                  </a:rPr>
                                  <m:t>−0.2403</m:t>
                                </m:r>
                              </m:e>
                            </m:mr>
                            <m:mr>
                              <m:e>
                                <m:r>
                                  <a:rPr lang="en-US" sz="1200" b="0" i="0">
                                    <a:latin typeface="Cambria Math" panose="02040503050406030204" pitchFamily="18" charset="0"/>
                                  </a:rPr>
                                  <m:t>−0.2129</m:t>
                                </m:r>
                              </m:e>
                              <m:e>
                                <m:r>
                                  <a:rPr lang="en-US" sz="1200" b="0" i="0">
                                    <a:latin typeface="Cambria Math" panose="02040503050406030204" pitchFamily="18" charset="0"/>
                                  </a:rPr>
                                  <m:t>−0.1556</m:t>
                                </m:r>
                              </m:e>
                              <m:e>
                                <m:r>
                                  <a:rPr lang="en-US" sz="1200" b="0" i="0">
                                    <a:latin typeface="Cambria Math" panose="02040503050406030204" pitchFamily="18" charset="0"/>
                                  </a:rPr>
                                  <m:t>−0.2129</m:t>
                                </m:r>
                              </m:e>
                              <m:e>
                                <m:r>
                                  <a:rPr lang="en-US" sz="1200" b="0" i="0">
                                    <a:latin typeface="Cambria Math" panose="02040503050406030204" pitchFamily="18" charset="0"/>
                                  </a:rPr>
                                  <m:t>−0.1560</m:t>
                                </m:r>
                              </m:e>
                              <m:e>
                                <m:r>
                                  <a:rPr lang="en-US" sz="1200" b="0" i="0">
                                    <a:latin typeface="Cambria Math" panose="02040503050406030204" pitchFamily="18" charset="0"/>
                                  </a:rPr>
                                  <m:t>−0.0857</m:t>
                                </m:r>
                              </m:e>
                              <m:e>
                                <m:r>
                                  <a:rPr lang="en-US" sz="1200" b="0" i="0">
                                    <a:latin typeface="Cambria Math" panose="02040503050406030204" pitchFamily="18" charset="0"/>
                                  </a:rPr>
                                  <m:t>0.8329</m:t>
                                </m:r>
                              </m:e>
                            </m:mr>
                          </m:m>
                        </m:e>
                      </m:d>
                      <m:r>
                        <a:rPr lang="en-US" sz="1200" b="0" i="0">
                          <a:latin typeface="Cambria Math" panose="02040503050406030204" pitchFamily="18" charset="0"/>
                        </a:rPr>
                        <m:t> </m:t>
                      </m:r>
                    </m:oMath>
                  </m:oMathPara>
                </a14:m>
                <a:endParaRPr lang="en-US" sz="1100" dirty="0"/>
              </a:p>
            </p:txBody>
          </p:sp>
        </mc:Choice>
        <mc:Fallback xmlns="">
          <p:sp>
            <p:nvSpPr>
              <p:cNvPr id="48" name="CalibR150_s_mat"/>
              <p:cNvSpPr txBox="1">
                <a:spLocks noRot="1" noChangeAspect="1" noMove="1" noResize="1" noEditPoints="1" noAdjustHandles="1" noChangeArrowheads="1" noChangeShapeType="1" noTextEdit="1"/>
              </p:cNvSpPr>
              <p:nvPr/>
            </p:nvSpPr>
            <p:spPr>
              <a:xfrm>
                <a:off x="386080" y="2187662"/>
                <a:ext cx="4389119" cy="1115568"/>
              </a:xfrm>
              <a:prstGeom prst="rect">
                <a:avLst/>
              </a:prstGeom>
              <a:blipFill>
                <a:blip r:embed="rId10"/>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CalibR150_s_sc"/>
              <p:cNvSpPr txBox="1"/>
              <p:nvPr/>
            </p:nvSpPr>
            <p:spPr>
              <a:xfrm>
                <a:off x="182880" y="341985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875.1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9.4451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CalibR150_s_sc"/>
              <p:cNvSpPr txBox="1">
                <a:spLocks noRot="1" noChangeAspect="1" noMove="1" noResize="1" noEditPoints="1" noAdjustHandles="1" noChangeArrowheads="1" noChangeShapeType="1" noTextEdit="1"/>
              </p:cNvSpPr>
              <p:nvPr/>
            </p:nvSpPr>
            <p:spPr>
              <a:xfrm>
                <a:off x="182880" y="3419856"/>
                <a:ext cx="3457787" cy="310896"/>
              </a:xfrm>
              <a:prstGeom prst="rect">
                <a:avLst/>
              </a:prstGeom>
              <a:blipFill>
                <a:blip r:embed="rId11"/>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CalibR150_e_mat"/>
              <p:cNvSpPr txBox="1"/>
              <p:nvPr/>
            </p:nvSpPr>
            <p:spPr>
              <a:xfrm>
                <a:off x="335280" y="4302514"/>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−0.1373</m:t>
                                </m:r>
                              </m:e>
                              <m:e>
                                <m:r>
                                  <a:rPr lang="en-US" sz="1200" b="0" i="0">
                                    <a:latin typeface="Cambria Math" panose="02040503050406030204" pitchFamily="18" charset="0"/>
                                  </a:rPr>
                                  <m:t>−0.1282</m:t>
                                </m:r>
                              </m:e>
                              <m:e>
                                <m:r>
                                  <a:rPr lang="en-US" sz="1200" b="0" i="0">
                                    <a:latin typeface="Cambria Math" panose="02040503050406030204" pitchFamily="18" charset="0"/>
                                  </a:rPr>
                                  <m:t>−0.1926</m:t>
                                </m:r>
                              </m:e>
                              <m:e>
                                <m:r>
                                  <a:rPr lang="en-US" sz="1200" b="0" i="0">
                                    <a:latin typeface="Cambria Math" panose="02040503050406030204" pitchFamily="18" charset="0"/>
                                  </a:rPr>
                                  <m:t>−0.1934</m:t>
                                </m:r>
                              </m:e>
                              <m:e>
                                <m:r>
                                  <a:rPr lang="en-US" sz="1200" b="0" i="0">
                                    <a:latin typeface="Cambria Math" panose="02040503050406030204" pitchFamily="18" charset="0"/>
                                  </a:rPr>
                                  <m:t>−0.1285</m:t>
                                </m:r>
                              </m:e>
                            </m:mr>
                            <m:mr>
                              <m:e>
                                <m:r>
                                  <a:rPr lang="en-US" sz="1200" b="0" i="0">
                                    <a:latin typeface="Cambria Math" panose="02040503050406030204" pitchFamily="18" charset="0"/>
                                  </a:rPr>
                                  <m:t>−0.1391</m:t>
                                </m:r>
                              </m:e>
                              <m:e>
                                <m:r>
                                  <a:rPr lang="en-US" sz="1200" b="0" i="0">
                                    <a:latin typeface="Cambria Math" panose="02040503050406030204" pitchFamily="18" charset="0"/>
                                  </a:rPr>
                                  <m:t>0.8299</m:t>
                                </m:r>
                              </m:e>
                              <m:e>
                                <m:r>
                                  <a:rPr lang="en-US" sz="1200" b="0" i="0">
                                    <a:latin typeface="Cambria Math" panose="02040503050406030204" pitchFamily="18" charset="0"/>
                                  </a:rPr>
                                  <m:t>−0.2024</m:t>
                                </m:r>
                              </m:e>
                              <m:e>
                                <m:r>
                                  <a:rPr lang="en-US" sz="1200" b="0" i="0">
                                    <a:latin typeface="Cambria Math" panose="02040503050406030204" pitchFamily="18" charset="0"/>
                                  </a:rPr>
                                  <m:t>−0.1220</m:t>
                                </m:r>
                              </m:e>
                              <m:e>
                                <m:r>
                                  <a:rPr lang="en-US" sz="1200" b="0" i="0">
                                    <a:latin typeface="Cambria Math" panose="02040503050406030204" pitchFamily="18" charset="0"/>
                                  </a:rPr>
                                  <m:t>−0.1226</m:t>
                                </m:r>
                              </m:e>
                              <m:e>
                                <m:r>
                                  <a:rPr lang="en-US" sz="1200" b="0" i="0">
                                    <a:latin typeface="Cambria Math" panose="02040503050406030204" pitchFamily="18" charset="0"/>
                                  </a:rPr>
                                  <m:t>−0.2030</m:t>
                                </m:r>
                              </m:e>
                            </m:mr>
                            <m:mr>
                              <m:e>
                                <m:r>
                                  <a:rPr lang="en-US" sz="1200" b="0" i="0">
                                    <a:latin typeface="Cambria Math" panose="02040503050406030204" pitchFamily="18" charset="0"/>
                                  </a:rPr>
                                  <m:t>−0.1291</m:t>
                                </m:r>
                              </m:e>
                              <m:e>
                                <m:r>
                                  <a:rPr lang="en-US" sz="1200" b="0" i="0">
                                    <a:latin typeface="Cambria Math" panose="02040503050406030204" pitchFamily="18" charset="0"/>
                                  </a:rPr>
                                  <m:t>−0.1924</m:t>
                                </m:r>
                              </m:e>
                              <m:e>
                                <m:r>
                                  <a:rPr lang="en-US" sz="1200" b="0" i="0">
                                    <a:latin typeface="Cambria Math" panose="02040503050406030204" pitchFamily="18" charset="0"/>
                                  </a:rPr>
                                  <m:t>0.8335</m:t>
                                </m:r>
                              </m:e>
                              <m:e>
                                <m:r>
                                  <a:rPr lang="en-US" sz="1200" b="0" i="0">
                                    <a:latin typeface="Cambria Math" panose="02040503050406030204" pitchFamily="18" charset="0"/>
                                  </a:rPr>
                                  <m:t>−0.1365</m:t>
                                </m:r>
                              </m:e>
                              <m:e>
                                <m:r>
                                  <a:rPr lang="en-US" sz="1200" b="0" i="0">
                                    <a:latin typeface="Cambria Math" panose="02040503050406030204" pitchFamily="18" charset="0"/>
                                  </a:rPr>
                                  <m:t>−0.1932</m:t>
                                </m:r>
                              </m:e>
                              <m:e>
                                <m:r>
                                  <a:rPr lang="en-US" sz="1200" b="0" i="0">
                                    <a:latin typeface="Cambria Math" panose="02040503050406030204" pitchFamily="18" charset="0"/>
                                  </a:rPr>
                                  <m:t>−0.1284</m:t>
                                </m:r>
                              </m:e>
                            </m:mr>
                            <m:mr>
                              <m:e>
                                <m:r>
                                  <a:rPr lang="en-US" sz="1200" b="0" i="0">
                                    <a:latin typeface="Cambria Math" panose="02040503050406030204" pitchFamily="18" charset="0"/>
                                  </a:rPr>
                                  <m:t>−0.2048</m:t>
                                </m:r>
                              </m:e>
                              <m:e>
                                <m:r>
                                  <a:rPr lang="en-US" sz="1200" b="0" i="0">
                                    <a:latin typeface="Cambria Math" panose="02040503050406030204" pitchFamily="18" charset="0"/>
                                  </a:rPr>
                                  <m:t>−0.1224</m:t>
                                </m:r>
                              </m:e>
                              <m:e>
                                <m:r>
                                  <a:rPr lang="en-US" sz="1200" b="0" i="0">
                                    <a:latin typeface="Cambria Math" panose="02040503050406030204" pitchFamily="18" charset="0"/>
                                  </a:rPr>
                                  <m:t>−0.1387</m:t>
                                </m:r>
                              </m:e>
                              <m:e>
                                <m:r>
                                  <a:rPr lang="en-US" sz="1200" b="0" i="0">
                                    <a:latin typeface="Cambria Math" panose="02040503050406030204" pitchFamily="18" charset="0"/>
                                  </a:rPr>
                                  <m:t>0.8342</m:t>
                                </m:r>
                              </m:e>
                              <m:e>
                                <m:r>
                                  <a:rPr lang="en-US" sz="1200" b="0" i="0">
                                    <a:latin typeface="Cambria Math" panose="02040503050406030204" pitchFamily="18" charset="0"/>
                                  </a:rPr>
                                  <m:t>−0.1232</m:t>
                                </m:r>
                              </m:e>
                              <m:e>
                                <m:r>
                                  <a:rPr lang="en-US" sz="1200" b="0" i="0">
                                    <a:latin typeface="Cambria Math" panose="02040503050406030204" pitchFamily="18" charset="0"/>
                                  </a:rPr>
                                  <m:t>−0.2044</m:t>
                                </m:r>
                              </m:e>
                            </m:mr>
                            <m:mr>
                              <m:e>
                                <m:r>
                                  <a:rPr lang="en-US" sz="1200" b="0" i="0">
                                    <a:latin typeface="Cambria Math" panose="02040503050406030204" pitchFamily="18" charset="0"/>
                                  </a:rPr>
                                  <m:t>−0.2043</m:t>
                                </m:r>
                              </m:e>
                              <m:e>
                                <m:r>
                                  <a:rPr lang="en-US" sz="1200" b="0" i="0">
                                    <a:latin typeface="Cambria Math" panose="02040503050406030204" pitchFamily="18" charset="0"/>
                                  </a:rPr>
                                  <m:t>−0.1222</m:t>
                                </m:r>
                              </m:e>
                              <m:e>
                                <m:r>
                                  <a:rPr lang="en-US" sz="1200" b="0" i="0">
                                    <a:latin typeface="Cambria Math" panose="02040503050406030204" pitchFamily="18" charset="0"/>
                                  </a:rPr>
                                  <m:t>−0.2028</m:t>
                                </m:r>
                              </m:e>
                              <m:e>
                                <m:r>
                                  <a:rPr lang="en-US" sz="1200" b="0" i="0">
                                    <a:latin typeface="Cambria Math" panose="02040503050406030204" pitchFamily="18" charset="0"/>
                                  </a:rPr>
                                  <m:t>−0.1227</m:t>
                                </m:r>
                              </m:e>
                              <m:e>
                                <m:r>
                                  <a:rPr lang="en-US" sz="1200" b="0" i="0">
                                    <a:latin typeface="Cambria Math" panose="02040503050406030204" pitchFamily="18" charset="0"/>
                                  </a:rPr>
                                  <m:t>0.8325</m:t>
                                </m:r>
                              </m:e>
                              <m:e>
                                <m:r>
                                  <a:rPr lang="en-US" sz="1200" b="0" i="0">
                                    <a:latin typeface="Cambria Math" panose="02040503050406030204" pitchFamily="18" charset="0"/>
                                  </a:rPr>
                                  <m:t>−0.1385</m:t>
                                </m:r>
                              </m:e>
                            </m:mr>
                            <m:mr>
                              <m:e>
                                <m:r>
                                  <a:rPr lang="en-US" sz="1200" b="0" i="0">
                                    <a:latin typeface="Cambria Math" panose="02040503050406030204" pitchFamily="18" charset="0"/>
                                  </a:rPr>
                                  <m:t>−0.1295</m:t>
                                </m:r>
                              </m:e>
                              <m:e>
                                <m:r>
                                  <a:rPr lang="en-US" sz="1200" b="0" i="0">
                                    <a:latin typeface="Cambria Math" panose="02040503050406030204" pitchFamily="18" charset="0"/>
                                  </a:rPr>
                                  <m:t>−0.1936</m:t>
                                </m:r>
                              </m:e>
                              <m:e>
                                <m:r>
                                  <a:rPr lang="en-US" sz="1200" b="0" i="0">
                                    <a:latin typeface="Cambria Math" panose="02040503050406030204" pitchFamily="18" charset="0"/>
                                  </a:rPr>
                                  <m:t>−0.1283</m:t>
                                </m:r>
                              </m:e>
                              <m:e>
                                <m:r>
                                  <a:rPr lang="en-US" sz="1200" b="0" i="0">
                                    <a:latin typeface="Cambria Math" panose="02040503050406030204" pitchFamily="18" charset="0"/>
                                  </a:rPr>
                                  <m:t>−0.1937</m:t>
                                </m:r>
                              </m:e>
                              <m:e>
                                <m:r>
                                  <a:rPr lang="en-US" sz="1200" b="0" i="0">
                                    <a:latin typeface="Cambria Math" panose="02040503050406030204" pitchFamily="18" charset="0"/>
                                  </a:rPr>
                                  <m:t>−0.1384</m:t>
                                </m:r>
                              </m:e>
                              <m:e>
                                <m:r>
                                  <a:rPr lang="en-US" sz="1200" b="0" i="0">
                                    <a:latin typeface="Cambria Math" panose="02040503050406030204" pitchFamily="18" charset="0"/>
                                  </a:rPr>
                                  <m:t>0.8376</m:t>
                                </m:r>
                              </m:e>
                            </m:mr>
                          </m:m>
                        </m:e>
                      </m:d>
                      <m:r>
                        <a:rPr lang="en-US" sz="1200" b="0" i="0">
                          <a:latin typeface="Cambria Math" panose="02040503050406030204" pitchFamily="18" charset="0"/>
                        </a:rPr>
                        <m:t> </m:t>
                      </m:r>
                    </m:oMath>
                  </m:oMathPara>
                </a14:m>
                <a:endParaRPr lang="en-US" sz="1100" dirty="0"/>
              </a:p>
            </p:txBody>
          </p:sp>
        </mc:Choice>
        <mc:Fallback xmlns="">
          <p:sp>
            <p:nvSpPr>
              <p:cNvPr id="50" name="CalibR150_e_mat"/>
              <p:cNvSpPr txBox="1">
                <a:spLocks noRot="1" noChangeAspect="1" noMove="1" noResize="1" noEditPoints="1" noAdjustHandles="1" noChangeArrowheads="1" noChangeShapeType="1" noTextEdit="1"/>
              </p:cNvSpPr>
              <p:nvPr/>
            </p:nvSpPr>
            <p:spPr>
              <a:xfrm>
                <a:off x="335280" y="4302514"/>
                <a:ext cx="4524587" cy="1115568"/>
              </a:xfrm>
              <a:prstGeom prst="rect">
                <a:avLst/>
              </a:prstGeom>
              <a:blipFill>
                <a:blip r:embed="rId12"/>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CalibR150_e_bias"/>
              <p:cNvSpPr txBox="1"/>
              <p:nvPr/>
            </p:nvSpPr>
            <p:spPr>
              <a:xfrm>
                <a:off x="4360333" y="5651028"/>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0.0185</m:t>
                                </m:r>
                              </m:e>
                              <m:e>
                                <m:r>
                                  <a:rPr lang="en-US" sz="1200" b="0" i="0">
                                    <a:latin typeface="Cambria Math" panose="02040503050406030204" pitchFamily="18" charset="0"/>
                                  </a:rPr>
                                  <m:t>0.0203</m:t>
                                </m:r>
                              </m:e>
                              <m:e>
                                <m:r>
                                  <a:rPr lang="en-US" sz="1200" b="0" i="0">
                                    <a:latin typeface="Cambria Math" panose="02040503050406030204" pitchFamily="18" charset="0"/>
                                  </a:rPr>
                                  <m:t>−0.1173</m:t>
                                </m:r>
                              </m:e>
                              <m:e>
                                <m:r>
                                  <a:rPr lang="en-US" sz="1200" b="0" i="0">
                                    <a:latin typeface="Cambria Math" panose="02040503050406030204" pitchFamily="18" charset="0"/>
                                  </a:rPr>
                                  <m:t>0.0024</m:t>
                                </m:r>
                              </m:e>
                              <m:e>
                                <m:r>
                                  <a:rPr lang="en-US" sz="1200" b="0" i="0">
                                    <a:latin typeface="Cambria Math" panose="02040503050406030204" pitchFamily="18" charset="0"/>
                                  </a:rPr>
                                  <m:t>0.0018</m:t>
                                </m:r>
                              </m:e>
                              <m:e>
                                <m:r>
                                  <a:rPr lang="en-US" sz="1200" b="0" i="0">
                                    <a:latin typeface="Cambria Math" panose="02040503050406030204" pitchFamily="18" charset="0"/>
                                  </a:rPr>
                                  <m:t>−0.1186</m:t>
                                </m:r>
                              </m:e>
                            </m:mr>
                            <m:mr>
                              <m:e>
                                <m:r>
                                  <a:rPr lang="en-US" sz="1200" b="0" i="0">
                                    <a:latin typeface="Cambria Math" panose="02040503050406030204" pitchFamily="18" charset="0"/>
                                  </a:rPr>
                                  <m:t>−0.1183</m:t>
                                </m:r>
                              </m:e>
                              <m:e>
                                <m:r>
                                  <a:rPr lang="en-US" sz="1200" b="0" i="0">
                                    <a:latin typeface="Cambria Math" panose="02040503050406030204" pitchFamily="18" charset="0"/>
                                  </a:rPr>
                                  <m:t>0.0026</m:t>
                                </m:r>
                              </m:e>
                              <m:e>
                                <m:r>
                                  <a:rPr lang="en-US" sz="1200" b="0" i="0">
                                    <a:latin typeface="Cambria Math" panose="02040503050406030204" pitchFamily="18" charset="0"/>
                                  </a:rPr>
                                  <m:t>0.0168</m:t>
                                </m:r>
                              </m:e>
                              <m:e>
                                <m:r>
                                  <a:rPr lang="en-US" sz="1200" b="0" i="0">
                                    <a:latin typeface="Cambria Math" panose="02040503050406030204" pitchFamily="18" charset="0"/>
                                  </a:rPr>
                                  <m:t>0.0163</m:t>
                                </m:r>
                              </m:e>
                              <m:e>
                                <m:r>
                                  <a:rPr lang="en-US" sz="1200" b="0" i="0">
                                    <a:latin typeface="Cambria Math" panose="02040503050406030204" pitchFamily="18" charset="0"/>
                                  </a:rPr>
                                  <m:t>0.0019</m:t>
                                </m:r>
                              </m:e>
                              <m:e>
                                <m:r>
                                  <a:rPr lang="en-US" sz="1200" b="0" i="0">
                                    <a:latin typeface="Cambria Math" panose="02040503050406030204" pitchFamily="18" charset="0"/>
                                  </a:rPr>
                                  <m:t>−0.1185</m:t>
                                </m:r>
                              </m:e>
                            </m:mr>
                            <m:mr>
                              <m:e>
                                <m:r>
                                  <a:rPr lang="en-US" sz="1200" b="0" i="0">
                                    <a:latin typeface="Cambria Math" panose="02040503050406030204" pitchFamily="18" charset="0"/>
                                  </a:rPr>
                                  <m:t>0.1182</m:t>
                                </m:r>
                              </m:e>
                              <m:e>
                                <m:r>
                                  <a:rPr lang="en-US" sz="1200" b="0" i="0">
                                    <a:latin typeface="Cambria Math" panose="02040503050406030204" pitchFamily="18" charset="0"/>
                                  </a:rPr>
                                  <m:t>−0.0029</m:t>
                                </m:r>
                              </m:e>
                              <m:e>
                                <m:r>
                                  <a:rPr lang="en-US" sz="1200" b="0" i="0">
                                    <a:latin typeface="Cambria Math" panose="02040503050406030204" pitchFamily="18" charset="0"/>
                                  </a:rPr>
                                  <m:t>0.1166</m:t>
                                </m:r>
                              </m:e>
                              <m:e>
                                <m:r>
                                  <a:rPr lang="en-US" sz="1200" b="0" i="0">
                                    <a:latin typeface="Cambria Math" panose="02040503050406030204" pitchFamily="18" charset="0"/>
                                  </a:rPr>
                                  <m:t>−0.0029</m:t>
                                </m:r>
                              </m:e>
                              <m:e>
                                <m:r>
                                  <a:rPr lang="en-US" sz="1200" b="0" i="0">
                                    <a:latin typeface="Cambria Math" panose="02040503050406030204" pitchFamily="18" charset="0"/>
                                  </a:rPr>
                                  <m:t>−0.0186</m:t>
                                </m:r>
                              </m:e>
                              <m:e>
                                <m:r>
                                  <a:rPr lang="en-US" sz="1200" b="0" i="0">
                                    <a:latin typeface="Cambria Math" panose="02040503050406030204" pitchFamily="18" charset="0"/>
                                  </a:rPr>
                                  <m:t>−0.0199</m:t>
                                </m:r>
                              </m:e>
                            </m:mr>
                          </m:m>
                        </m:e>
                      </m:d>
                    </m:oMath>
                  </m:oMathPara>
                </a14:m>
                <a:endParaRPr lang="en-US" sz="1100" dirty="0"/>
              </a:p>
            </p:txBody>
          </p:sp>
        </mc:Choice>
        <mc:Fallback xmlns="">
          <p:sp>
            <p:nvSpPr>
              <p:cNvPr id="51" name="CalibR150_e_bias"/>
              <p:cNvSpPr txBox="1">
                <a:spLocks noRot="1" noChangeAspect="1" noMove="1" noResize="1" noEditPoints="1" noAdjustHandles="1" noChangeArrowheads="1" noChangeShapeType="1" noTextEdit="1"/>
              </p:cNvSpPr>
              <p:nvPr/>
            </p:nvSpPr>
            <p:spPr>
              <a:xfrm>
                <a:off x="4360333" y="5651028"/>
                <a:ext cx="5235787" cy="566928"/>
              </a:xfrm>
              <a:prstGeom prst="rect">
                <a:avLst/>
              </a:prstGeom>
              <a:blipFill>
                <a:blip r:embed="rId13"/>
                <a:stretch>
                  <a:fillRect t="-2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CalibR150_e_sc"/>
              <p:cNvSpPr txBox="1"/>
              <p:nvPr/>
            </p:nvSpPr>
            <p:spPr>
              <a:xfrm>
                <a:off x="154577" y="5713137"/>
                <a:ext cx="3847253"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873.0 </m:t>
                      </m:r>
                      <m:r>
                        <m:rPr>
                          <m:sty m:val="p"/>
                        </m:rPr>
                        <a:rPr lang="en-US" sz="1400" b="0" i="0">
                          <a:latin typeface="Cambria Math" panose="02040503050406030204" pitchFamily="18" charset="0"/>
                        </a:rPr>
                        <m:t>μm</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10.7405 </m:t>
                      </m:r>
                      <m:r>
                        <m:rPr>
                          <m:sty m:val="p"/>
                        </m:rPr>
                        <a:rPr lang="en-US" sz="1400" b="0" i="0">
                          <a:latin typeface="Cambria Math" panose="02040503050406030204" pitchFamily="18" charset="0"/>
                        </a:rPr>
                        <m:t>mT</m:t>
                      </m:r>
                      <m:r>
                        <a:rPr lang="en-US" sz="1400" b="0" i="0">
                          <a:latin typeface="Cambria Math" panose="02040503050406030204" pitchFamily="18" charset="0"/>
                        </a:rPr>
                        <m:t>/</m:t>
                      </m:r>
                      <m:r>
                        <m:rPr>
                          <m:sty m:val="p"/>
                        </m:rPr>
                        <a:rPr lang="en-US" sz="1400" b="0" i="0">
                          <a:latin typeface="Cambria Math" panose="02040503050406030204" pitchFamily="18" charset="0"/>
                        </a:rPr>
                        <m:t>A</m:t>
                      </m:r>
                    </m:oMath>
                  </m:oMathPara>
                </a14:m>
                <a:endParaRPr lang="en-US" sz="1400" dirty="0"/>
              </a:p>
            </p:txBody>
          </p:sp>
        </mc:Choice>
        <mc:Fallback xmlns="">
          <p:sp>
            <p:nvSpPr>
              <p:cNvPr id="52" name="CalibR150_e_sc"/>
              <p:cNvSpPr txBox="1">
                <a:spLocks noRot="1" noChangeAspect="1" noMove="1" noResize="1" noEditPoints="1" noAdjustHandles="1" noChangeArrowheads="1" noChangeShapeType="1" noTextEdit="1"/>
              </p:cNvSpPr>
              <p:nvPr/>
            </p:nvSpPr>
            <p:spPr>
              <a:xfrm>
                <a:off x="154577" y="5713137"/>
                <a:ext cx="3847253" cy="310896"/>
              </a:xfrm>
              <a:prstGeom prst="rect">
                <a:avLst/>
              </a:prstGeom>
              <a:blipFill>
                <a:blip r:embed="rId14"/>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FCA51D30-2E55-417A-9F09-4C3BB8853DC8}"/>
                  </a:ext>
                </a:extLst>
              </p:cNvPr>
              <p:cNvSpPr txBox="1"/>
              <p:nvPr/>
            </p:nvSpPr>
            <p:spPr>
              <a:xfrm>
                <a:off x="5003799" y="2281316"/>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3" name="文字方塊 2">
                <a:extLst>
                  <a:ext uri="{FF2B5EF4-FFF2-40B4-BE49-F238E27FC236}">
                    <a16:creationId xmlns:a16="http://schemas.microsoft.com/office/drawing/2014/main" id="{FCA51D30-2E55-417A-9F09-4C3BB8853DC8}"/>
                  </a:ext>
                </a:extLst>
              </p:cNvPr>
              <p:cNvSpPr txBox="1">
                <a:spLocks noRot="1" noChangeAspect="1" noMove="1" noResize="1" noEditPoints="1" noAdjustHandles="1" noChangeArrowheads="1" noChangeShapeType="1" noTextEdit="1"/>
              </p:cNvSpPr>
              <p:nvPr/>
            </p:nvSpPr>
            <p:spPr>
              <a:xfrm>
                <a:off x="5003799" y="2281316"/>
                <a:ext cx="4191000" cy="549509"/>
              </a:xfrm>
              <a:prstGeom prst="rect">
                <a:avLst/>
              </a:prstGeom>
              <a:blipFill>
                <a:blip r:embed="rId15"/>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1D851CB-3BD6-4072-98DB-69D2B35EA860}"/>
                  </a:ext>
                </a:extLst>
              </p:cNvPr>
              <p:cNvSpPr txBox="1"/>
              <p:nvPr/>
            </p:nvSpPr>
            <p:spPr>
              <a:xfrm>
                <a:off x="4092187" y="4442528"/>
                <a:ext cx="6189132" cy="641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19" name="文字方塊 18">
                <a:extLst>
                  <a:ext uri="{FF2B5EF4-FFF2-40B4-BE49-F238E27FC236}">
                    <a16:creationId xmlns:a16="http://schemas.microsoft.com/office/drawing/2014/main" id="{01D851CB-3BD6-4072-98DB-69D2B35EA860}"/>
                  </a:ext>
                </a:extLst>
              </p:cNvPr>
              <p:cNvSpPr txBox="1">
                <a:spLocks noRot="1" noChangeAspect="1" noMove="1" noResize="1" noEditPoints="1" noAdjustHandles="1" noChangeArrowheads="1" noChangeShapeType="1" noTextEdit="1"/>
              </p:cNvSpPr>
              <p:nvPr/>
            </p:nvSpPr>
            <p:spPr>
              <a:xfrm>
                <a:off x="4092187" y="4442528"/>
                <a:ext cx="6189132" cy="641842"/>
              </a:xfrm>
              <a:prstGeom prst="rect">
                <a:avLst/>
              </a:prstGeom>
              <a:blipFill>
                <a:blip r:embed="rId1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auto caption"/>
              <p:cNvSpPr txBox="1"/>
              <p:nvPr/>
            </p:nvSpPr>
            <p:spPr>
              <a:xfrm>
                <a:off x="333587" y="743604"/>
                <a:ext cx="11155680" cy="3095994"/>
              </a:xfrm>
              <a:prstGeom prst="rect">
                <a:avLst/>
              </a:prstGeom>
              <a:noFill/>
            </p:spPr>
            <p:txBody>
              <a:bodyPr wrap="square" rtlCol="0">
                <a:noAutofit/>
              </a:bodyPr>
              <a:lstStyle/>
              <a:p>
                <a:pPr marL="285750" indent="-285750">
                  <a:buFont typeface="Arial" panose="020B0604020202020204" pitchFamily="34" charset="0"/>
                  <a:buChar char="•"/>
                </a:pPr>
                <a:r>
                  <a:rPr lang="en-US" altLang="zh-TW" sz="1600" dirty="0"/>
                  <a:t>Setup: For every sampling radius R the model is re-calibrated from scratch on that radius' own converged reduced design. R is swept from 20 to 500 µm in 20 µm steps. Blue is the single-parameter fit (</a:t>
                </a:r>
                <a14:m>
                  <m:oMath xmlns:m="http://schemas.openxmlformats.org/officeDocument/2006/math">
                    <m:acc>
                      <m:accPr>
                        <m:chr m:val="̂"/>
                        <m:ctrlPr>
                          <a:rPr lang="en-US" altLang="zh-TW"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oMath>
                </a14:m>
                <a:r>
                  <a:rPr lang="en-US" altLang="zh-TW" sz="1600" dirty="0"/>
                  <a:t> only), red the eighteen-parameter fit (</a:t>
                </a:r>
                <a14:m>
                  <m:oMath xmlns:m="http://schemas.openxmlformats.org/officeDocument/2006/math">
                    <m:acc>
                      <m:accPr>
                        <m:chr m:val="̂"/>
                        <m:ctrlPr>
                          <a:rPr lang="en-US" altLang="zh-TW"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oMath>
                </a14:m>
                <a:r>
                  <a:rPr lang="en-US" altLang="zh-TW" sz="1600" dirty="0"/>
                  <a:t>plus 17 charge offsets). The straight segment below R = 20 µm is only an anchor drawn to the origin — there is no data there.</a:t>
                </a:r>
              </a:p>
              <a:p>
                <a:pPr marL="285750" indent="-285750">
                  <a:buFont typeface="Arial" panose="020B0604020202020204" pitchFamily="34" charset="0"/>
                  <a:buChar char="•"/>
                </a:pPr>
                <a:endParaRPr lang="en-US" altLang="zh-TW" sz="1600" dirty="0"/>
              </a:p>
              <a:p>
                <a:pPr marL="285750" indent="-285750">
                  <a:buFont typeface="Arial" panose="020B0604020202020204" pitchFamily="34" charset="0"/>
                  <a:buChar char="•"/>
                </a:pPr>
                <a:r>
                  <a:rPr lang="en-US" altLang="zh-TW" sz="1600" dirty="0"/>
                  <a:t>The effective length </a:t>
                </a:r>
                <a14:m>
                  <m:oMath xmlns:m="http://schemas.openxmlformats.org/officeDocument/2006/math">
                    <m:acc>
                      <m:accPr>
                        <m:chr m:val="̂"/>
                        <m:ctrlPr>
                          <a:rPr lang="en-US" altLang="zh-TW"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oMath>
                </a14:m>
                <a:r>
                  <a:rPr lang="en-US" altLang="zh-TW" sz="1600" dirty="0"/>
                  <a:t>  is remarkably flat: it peaks at 890.5 µm at R = 40 µm and then decays monotonically, and the two parameterizations track each other to within a few µm over almost the whole sweep — only beyond R ≈ 400 µm do both fall away steeply. The gain tells the opposite story. The single-parameter gain is unusable at small radii: it blows up to 40 </a:t>
                </a:r>
                <a:r>
                  <a:rPr lang="en-US" altLang="zh-TW" sz="1600" dirty="0" err="1"/>
                  <a:t>mT</a:t>
                </a:r>
                <a:r>
                  <a:rPr lang="en-US" altLang="zh-TW" sz="1600" dirty="0"/>
                  <a:t>/A at R = 20 µm, is still 14.8 </a:t>
                </a:r>
                <a:r>
                  <a:rPr lang="en-US" altLang="zh-TW" sz="1600" dirty="0" err="1"/>
                  <a:t>mT</a:t>
                </a:r>
                <a:r>
                  <a:rPr lang="en-US" altLang="zh-TW" sz="1600" dirty="0"/>
                  <a:t>/A at R = 40 µm, and only settles onto its plateau of ≈ 9.4 </a:t>
                </a:r>
                <a:r>
                  <a:rPr lang="en-US" altLang="zh-TW" sz="1600" dirty="0" err="1"/>
                  <a:t>mT</a:t>
                </a:r>
                <a:r>
                  <a:rPr lang="en-US" altLang="zh-TW" sz="1600" dirty="0"/>
                  <a:t>/A from R = 80 µm onward. The eighteen-parameter gain is well behaved at every radius tested, rising quickly to ≈ 10.6 </a:t>
                </a:r>
                <a:r>
                  <a:rPr lang="en-US" altLang="zh-TW" sz="1600" dirty="0" err="1"/>
                  <a:t>mT</a:t>
                </a:r>
                <a:r>
                  <a:rPr lang="en-US" altLang="zh-TW" sz="1600" dirty="0"/>
                  <a:t>/A and staying there. The practical conclusion is that the eighteen-parameter model is usable over the whole plotted range, whereas the single-parameter model is only trustworthy from R = 80 µm.</a:t>
                </a:r>
              </a:p>
            </p:txBody>
          </p:sp>
        </mc:Choice>
        <mc:Fallback xmlns="">
          <p:sp>
            <p:nvSpPr>
              <p:cNvPr id="41" name="auto caption"/>
              <p:cNvSpPr txBox="1">
                <a:spLocks noRot="1" noChangeAspect="1" noMove="1" noResize="1" noEditPoints="1" noAdjustHandles="1" noChangeArrowheads="1" noChangeShapeType="1" noTextEdit="1"/>
              </p:cNvSpPr>
              <p:nvPr/>
            </p:nvSpPr>
            <p:spPr>
              <a:xfrm>
                <a:off x="333587" y="743604"/>
                <a:ext cx="11155680" cy="3095994"/>
              </a:xfrm>
              <a:prstGeom prst="rect">
                <a:avLst/>
              </a:prstGeom>
              <a:blipFill>
                <a:blip r:embed="rId2"/>
                <a:stretch>
                  <a:fillRect l="-219" t="-591" r="-164"/>
                </a:stretch>
              </a:blipFill>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38A87356-DFFA-449B-A1BC-B35781328F4F}"/>
              </a:ext>
            </a:extLst>
          </p:cNvPr>
          <p:cNvSpPr/>
          <p:nvPr/>
        </p:nvSpPr>
        <p:spPr>
          <a:xfrm>
            <a:off x="6510866" y="5999327"/>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98911A9-7043-4A49-B961-C771243DB34D}"/>
              </a:ext>
            </a:extLst>
          </p:cNvPr>
          <p:cNvSpPr/>
          <p:nvPr/>
        </p:nvSpPr>
        <p:spPr>
          <a:xfrm rot="16200000">
            <a:off x="1380067" y="4624105"/>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 name="群組 19">
            <a:extLst>
              <a:ext uri="{FF2B5EF4-FFF2-40B4-BE49-F238E27FC236}">
                <a16:creationId xmlns:a16="http://schemas.microsoft.com/office/drawing/2014/main" id="{06015091-5680-4CA7-94EE-CCD4D232374B}"/>
              </a:ext>
            </a:extLst>
          </p:cNvPr>
          <p:cNvGrpSpPr/>
          <p:nvPr/>
        </p:nvGrpSpPr>
        <p:grpSpPr>
          <a:xfrm>
            <a:off x="2773848" y="3842313"/>
            <a:ext cx="6275157" cy="2813946"/>
            <a:chOff x="2614843" y="3425857"/>
            <a:chExt cx="5740733" cy="2486028"/>
          </a:xfrm>
        </p:grpSpPr>
        <p:grpSp>
          <p:nvGrpSpPr>
            <p:cNvPr id="19" name="群組 18">
              <a:extLst>
                <a:ext uri="{FF2B5EF4-FFF2-40B4-BE49-F238E27FC236}">
                  <a16:creationId xmlns:a16="http://schemas.microsoft.com/office/drawing/2014/main" id="{61BCF2E1-081B-4366-95C9-547A338F5AA5}"/>
                </a:ext>
              </a:extLst>
            </p:cNvPr>
            <p:cNvGrpSpPr/>
            <p:nvPr/>
          </p:nvGrpSpPr>
          <p:grpSpPr>
            <a:xfrm>
              <a:off x="2614843" y="3425857"/>
              <a:ext cx="5740733" cy="2486028"/>
              <a:chOff x="2614843" y="3425857"/>
              <a:chExt cx="5740733" cy="2486028"/>
            </a:xfrm>
          </p:grpSpPr>
          <p:pic>
            <p:nvPicPr>
              <p:cNvPr id="18" name="圖片 17">
                <a:extLst>
                  <a:ext uri="{FF2B5EF4-FFF2-40B4-BE49-F238E27FC236}">
                    <a16:creationId xmlns:a16="http://schemas.microsoft.com/office/drawing/2014/main" id="{C34E5C03-79C9-4DBF-8955-361335D3D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5167" y="3425857"/>
                <a:ext cx="5570409" cy="2317996"/>
              </a:xfrm>
              <a:prstGeom prst="rect">
                <a:avLst/>
              </a:prstGeom>
            </p:spPr>
          </p:pic>
          <p:sp>
            <p:nvSpPr>
              <p:cNvPr id="9" name="矩形 8">
                <a:extLst>
                  <a:ext uri="{FF2B5EF4-FFF2-40B4-BE49-F238E27FC236}">
                    <a16:creationId xmlns:a16="http://schemas.microsoft.com/office/drawing/2014/main" id="{F5B0EBB1-6AB8-48EE-BC7C-3B87A1F01F92}"/>
                  </a:ext>
                </a:extLst>
              </p:cNvPr>
              <p:cNvSpPr/>
              <p:nvPr/>
            </p:nvSpPr>
            <p:spPr>
              <a:xfrm rot="16200000">
                <a:off x="5023646" y="4364790"/>
                <a:ext cx="1352083"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B39A8314-EAC6-4F5A-BED0-BFEBA3939728}"/>
                  </a:ext>
                </a:extLst>
              </p:cNvPr>
              <p:cNvSpPr/>
              <p:nvPr/>
            </p:nvSpPr>
            <p:spPr>
              <a:xfrm>
                <a:off x="6040966" y="5568436"/>
                <a:ext cx="2044701"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extLst>
                  <a:ext uri="{FF2B5EF4-FFF2-40B4-BE49-F238E27FC236}">
                    <a16:creationId xmlns:a16="http://schemas.microsoft.com/office/drawing/2014/main" id="{89AC422D-71C0-4090-ABCE-0B69D83E54AC}"/>
                  </a:ext>
                </a:extLst>
              </p:cNvPr>
              <p:cNvSpPr/>
              <p:nvPr/>
            </p:nvSpPr>
            <p:spPr>
              <a:xfrm>
                <a:off x="3162300" y="5602451"/>
                <a:ext cx="2076646"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3EA903BB-C827-4FD7-88CD-461937614CB9}"/>
                  </a:ext>
                </a:extLst>
              </p:cNvPr>
              <p:cNvSpPr/>
              <p:nvPr/>
            </p:nvSpPr>
            <p:spPr>
              <a:xfrm rot="5400000">
                <a:off x="2056817" y="4408705"/>
                <a:ext cx="1425484"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487081C-210E-415F-A6F2-E8AE31E2131C}"/>
                    </a:ext>
                  </a:extLst>
                </p:cNvPr>
                <p:cNvSpPr txBox="1"/>
                <p:nvPr/>
              </p:nvSpPr>
              <p:spPr>
                <a:xfrm>
                  <a:off x="3413253" y="5609430"/>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10" name="文字方塊 9">
                  <a:extLst>
                    <a:ext uri="{FF2B5EF4-FFF2-40B4-BE49-F238E27FC236}">
                      <a16:creationId xmlns:a16="http://schemas.microsoft.com/office/drawing/2014/main" id="{1487081C-210E-415F-A6F2-E8AE31E2131C}"/>
                    </a:ext>
                  </a:extLst>
                </p:cNvPr>
                <p:cNvSpPr txBox="1">
                  <a:spLocks noRot="1" noChangeAspect="1" noMove="1" noResize="1" noEditPoints="1" noAdjustHandles="1" noChangeArrowheads="1" noChangeShapeType="1" noTextEdit="1"/>
                </p:cNvSpPr>
                <p:nvPr/>
              </p:nvSpPr>
              <p:spPr>
                <a:xfrm>
                  <a:off x="3413253" y="5609430"/>
                  <a:ext cx="1825693" cy="215444"/>
                </a:xfrm>
                <a:prstGeom prst="rect">
                  <a:avLst/>
                </a:prstGeom>
                <a:blipFill>
                  <a:blip r:embed="rId4"/>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01D18A8-F93B-4D42-A49A-87F8D1B61E60}"/>
                    </a:ext>
                  </a:extLst>
                </p:cNvPr>
                <p:cNvSpPr txBox="1"/>
                <p:nvPr/>
              </p:nvSpPr>
              <p:spPr>
                <a:xfrm>
                  <a:off x="6324600" y="5607278"/>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13" name="文字方塊 12">
                  <a:extLst>
                    <a:ext uri="{FF2B5EF4-FFF2-40B4-BE49-F238E27FC236}">
                      <a16:creationId xmlns:a16="http://schemas.microsoft.com/office/drawing/2014/main" id="{601D18A8-F93B-4D42-A49A-87F8D1B61E60}"/>
                    </a:ext>
                  </a:extLst>
                </p:cNvPr>
                <p:cNvSpPr txBox="1">
                  <a:spLocks noRot="1" noChangeAspect="1" noMove="1" noResize="1" noEditPoints="1" noAdjustHandles="1" noChangeArrowheads="1" noChangeShapeType="1" noTextEdit="1"/>
                </p:cNvSpPr>
                <p:nvPr/>
              </p:nvSpPr>
              <p:spPr>
                <a:xfrm>
                  <a:off x="6324600" y="5607278"/>
                  <a:ext cx="1825693" cy="215444"/>
                </a:xfrm>
                <a:prstGeom prst="rect">
                  <a:avLst/>
                </a:prstGeom>
                <a:blipFill>
                  <a:blip r:embed="rId5"/>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C7094952-35E6-43E5-BE17-A85B6FDD4727}"/>
                    </a:ext>
                  </a:extLst>
                </p:cNvPr>
                <p:cNvSpPr txBox="1"/>
                <p:nvPr/>
              </p:nvSpPr>
              <p:spPr>
                <a:xfrm rot="16200000">
                  <a:off x="2169359" y="4450151"/>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6" name="文字方塊 15">
                  <a:extLst>
                    <a:ext uri="{FF2B5EF4-FFF2-40B4-BE49-F238E27FC236}">
                      <a16:creationId xmlns:a16="http://schemas.microsoft.com/office/drawing/2014/main" id="{C7094952-35E6-43E5-BE17-A85B6FDD4727}"/>
                    </a:ext>
                  </a:extLst>
                </p:cNvPr>
                <p:cNvSpPr txBox="1">
                  <a:spLocks noRot="1" noChangeAspect="1" noMove="1" noResize="1" noEditPoints="1" noAdjustHandles="1" noChangeArrowheads="1" noChangeShapeType="1" noTextEdit="1"/>
                </p:cNvSpPr>
                <p:nvPr/>
              </p:nvSpPr>
              <p:spPr>
                <a:xfrm rot="16200000">
                  <a:off x="2169359" y="4450151"/>
                  <a:ext cx="1192585" cy="226537"/>
                </a:xfrm>
                <a:prstGeom prst="rect">
                  <a:avLst/>
                </a:prstGeom>
                <a:blipFill>
                  <a:blip r:embed="rId6"/>
                  <a:stretch>
                    <a:fillRect l="-21951" r="-195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F01E71D-583C-4777-894D-8568132157A9}"/>
                    </a:ext>
                  </a:extLst>
                </p:cNvPr>
                <p:cNvSpPr txBox="1"/>
                <p:nvPr/>
              </p:nvSpPr>
              <p:spPr>
                <a:xfrm rot="16200000">
                  <a:off x="5208874" y="4408987"/>
                  <a:ext cx="950408" cy="221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17" name="文字方塊 16">
                  <a:extLst>
                    <a:ext uri="{FF2B5EF4-FFF2-40B4-BE49-F238E27FC236}">
                      <a16:creationId xmlns:a16="http://schemas.microsoft.com/office/drawing/2014/main" id="{CF01E71D-583C-4777-894D-8568132157A9}"/>
                    </a:ext>
                  </a:extLst>
                </p:cNvPr>
                <p:cNvSpPr txBox="1">
                  <a:spLocks noRot="1" noChangeAspect="1" noMove="1" noResize="1" noEditPoints="1" noAdjustHandles="1" noChangeArrowheads="1" noChangeShapeType="1" noTextEdit="1"/>
                </p:cNvSpPr>
                <p:nvPr/>
              </p:nvSpPr>
              <p:spPr>
                <a:xfrm rot="16200000">
                  <a:off x="5208874" y="4408987"/>
                  <a:ext cx="950408" cy="221040"/>
                </a:xfrm>
                <a:prstGeom prst="rect">
                  <a:avLst/>
                </a:prstGeom>
                <a:blipFill>
                  <a:blip r:embed="rId7"/>
                  <a:stretch>
                    <a:fillRect l="-133333" t="-28409" r="-217949"/>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27831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5" name="群組 4">
            <a:extLst>
              <a:ext uri="{FF2B5EF4-FFF2-40B4-BE49-F238E27FC236}">
                <a16:creationId xmlns:a16="http://schemas.microsoft.com/office/drawing/2014/main" id="{E73C6DB4-FFCE-4B74-A22D-3447285A5BE2}"/>
              </a:ext>
            </a:extLst>
          </p:cNvPr>
          <p:cNvGrpSpPr/>
          <p:nvPr/>
        </p:nvGrpSpPr>
        <p:grpSpPr>
          <a:xfrm>
            <a:off x="7128967" y="2388388"/>
            <a:ext cx="3281223" cy="2819400"/>
            <a:chOff x="7048110" y="2472267"/>
            <a:chExt cx="3281223" cy="2819400"/>
          </a:xfrm>
        </p:grpSpPr>
        <p:sp>
          <p:nvSpPr>
            <p:cNvPr id="3" name="矩形 2">
              <a:extLst>
                <a:ext uri="{FF2B5EF4-FFF2-40B4-BE49-F238E27FC236}">
                  <a16:creationId xmlns:a16="http://schemas.microsoft.com/office/drawing/2014/main" id="{F66BDAD5-FC86-474B-922D-6119A5E142BE}"/>
                </a:ext>
              </a:extLst>
            </p:cNvPr>
            <p:cNvSpPr/>
            <p:nvPr/>
          </p:nvSpPr>
          <p:spPr>
            <a:xfrm>
              <a:off x="8796867" y="4995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4BF8DC2-75C9-420A-9713-1C412FAEB073}"/>
                </a:ext>
              </a:extLst>
            </p:cNvPr>
            <p:cNvSpPr/>
            <p:nvPr/>
          </p:nvSpPr>
          <p:spPr>
            <a:xfrm rot="16200000">
              <a:off x="6430044" y="3090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 name="群組 13">
            <a:extLst>
              <a:ext uri="{FF2B5EF4-FFF2-40B4-BE49-F238E27FC236}">
                <a16:creationId xmlns:a16="http://schemas.microsoft.com/office/drawing/2014/main" id="{2DD737F1-79D0-498C-AD2E-96B6E991F4B2}"/>
              </a:ext>
            </a:extLst>
          </p:cNvPr>
          <p:cNvGrpSpPr/>
          <p:nvPr/>
        </p:nvGrpSpPr>
        <p:grpSpPr>
          <a:xfrm>
            <a:off x="7697026" y="1560770"/>
            <a:ext cx="3893861" cy="3041398"/>
            <a:chOff x="7376079" y="1416837"/>
            <a:chExt cx="3893861" cy="3041398"/>
          </a:xfrm>
        </p:grpSpPr>
        <p:grpSp>
          <p:nvGrpSpPr>
            <p:cNvPr id="13" name="群組 12">
              <a:extLst>
                <a:ext uri="{FF2B5EF4-FFF2-40B4-BE49-F238E27FC236}">
                  <a16:creationId xmlns:a16="http://schemas.microsoft.com/office/drawing/2014/main" id="{9E044CCD-18A9-4ED0-803D-09C25E2DC084}"/>
                </a:ext>
              </a:extLst>
            </p:cNvPr>
            <p:cNvGrpSpPr/>
            <p:nvPr/>
          </p:nvGrpSpPr>
          <p:grpSpPr>
            <a:xfrm>
              <a:off x="7425301" y="1416837"/>
              <a:ext cx="3844639" cy="3041398"/>
              <a:chOff x="7425301" y="1416837"/>
              <a:chExt cx="3844639" cy="3041398"/>
            </a:xfrm>
          </p:grpSpPr>
          <p:pic>
            <p:nvPicPr>
              <p:cNvPr id="9" name="圖片 8">
                <a:extLst>
                  <a:ext uri="{FF2B5EF4-FFF2-40B4-BE49-F238E27FC236}">
                    <a16:creationId xmlns:a16="http://schemas.microsoft.com/office/drawing/2014/main" id="{5C237DB9-1DB7-4449-8F79-D4E5C6D77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8299" y="1416837"/>
                <a:ext cx="3771641" cy="2937146"/>
              </a:xfrm>
              <a:prstGeom prst="rect">
                <a:avLst/>
              </a:prstGeom>
            </p:spPr>
          </p:pic>
          <p:sp>
            <p:nvSpPr>
              <p:cNvPr id="12" name="矩形 11">
                <a:extLst>
                  <a:ext uri="{FF2B5EF4-FFF2-40B4-BE49-F238E27FC236}">
                    <a16:creationId xmlns:a16="http://schemas.microsoft.com/office/drawing/2014/main" id="{D0CE3E51-43DC-4E17-866A-933141C91C15}"/>
                  </a:ext>
                </a:extLst>
              </p:cNvPr>
              <p:cNvSpPr/>
              <p:nvPr/>
            </p:nvSpPr>
            <p:spPr>
              <a:xfrm>
                <a:off x="7425301" y="2252133"/>
                <a:ext cx="296334" cy="10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F767F21-8108-48BC-9FF8-4D48706CC9E8}"/>
                  </a:ext>
                </a:extLst>
              </p:cNvPr>
              <p:cNvSpPr/>
              <p:nvPr/>
            </p:nvSpPr>
            <p:spPr>
              <a:xfrm rot="5400000">
                <a:off x="9422082" y="3534050"/>
                <a:ext cx="296334" cy="1552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C3849D6-2303-4245-94EB-A3E3CD04C5BC}"/>
                    </a:ext>
                  </a:extLst>
                </p:cNvPr>
                <p:cNvSpPr txBox="1"/>
                <p:nvPr/>
              </p:nvSpPr>
              <p:spPr>
                <a:xfrm rot="16200000">
                  <a:off x="6492095" y="2505884"/>
                  <a:ext cx="213729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Residual</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error</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10" name="文字方塊 9">
                  <a:extLst>
                    <a:ext uri="{FF2B5EF4-FFF2-40B4-BE49-F238E27FC236}">
                      <a16:creationId xmlns:a16="http://schemas.microsoft.com/office/drawing/2014/main" id="{4C3849D6-2303-4245-94EB-A3E3CD04C5BC}"/>
                    </a:ext>
                  </a:extLst>
                </p:cNvPr>
                <p:cNvSpPr txBox="1">
                  <a:spLocks noRot="1" noChangeAspect="1" noMove="1" noResize="1" noEditPoints="1" noAdjustHandles="1" noChangeArrowheads="1" noChangeShapeType="1" noTextEdit="1"/>
                </p:cNvSpPr>
                <p:nvPr/>
              </p:nvSpPr>
              <p:spPr>
                <a:xfrm rot="16200000">
                  <a:off x="6492095" y="2505884"/>
                  <a:ext cx="2137299" cy="369332"/>
                </a:xfrm>
                <a:prstGeom prst="rect">
                  <a:avLst/>
                </a:prstGeom>
                <a:blipFill>
                  <a:blip r:embed="rId3"/>
                  <a:stretch>
                    <a:fillRect t="-2279" r="-114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42506FCA-AD85-4D09-9F6E-FA92DD820306}"/>
                    </a:ext>
                  </a:extLst>
                </p:cNvPr>
                <p:cNvSpPr txBox="1"/>
                <p:nvPr/>
              </p:nvSpPr>
              <p:spPr>
                <a:xfrm>
                  <a:off x="8512135" y="4129110"/>
                  <a:ext cx="2406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W</m:t>
                        </m:r>
                        <m:r>
                          <m:rPr>
                            <m:sty m:val="p"/>
                          </m:rPr>
                          <a:rPr lang="en-US" altLang="zh-TW">
                            <a:latin typeface="Cambria Math" panose="02040503050406030204" pitchFamily="18" charset="0"/>
                          </a:rPr>
                          <m:t>orkspace</m:t>
                        </m:r>
                        <m:r>
                          <a:rPr lang="en-US" altLang="zh-TW">
                            <a:latin typeface="Cambria Math" panose="02040503050406030204" pitchFamily="18" charset="0"/>
                          </a:rPr>
                          <m:t> </m:t>
                        </m:r>
                        <m:r>
                          <m:rPr>
                            <m:sty m:val="p"/>
                          </m:rPr>
                          <a:rPr lang="en-US" altLang="zh-TW">
                            <a:latin typeface="Cambria Math" panose="02040503050406030204" pitchFamily="18" charset="0"/>
                          </a:rPr>
                          <m:t>radius</m:t>
                        </m:r>
                        <m:r>
                          <a:rPr lang="en-US" altLang="zh-TW" b="0" i="0" smtClean="0">
                            <a:latin typeface="Cambria Math" panose="02040503050406030204" pitchFamily="18" charset="0"/>
                          </a:rPr>
                          <m:t> (</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0" smtClean="0">
                            <a:latin typeface="Cambria Math" panose="02040503050406030204" pitchFamily="18" charset="0"/>
                          </a:rPr>
                          <m:t>)</m:t>
                        </m:r>
                      </m:oMath>
                    </m:oMathPara>
                  </a14:m>
                  <a:endParaRPr lang="zh-TW" altLang="en-US" dirty="0"/>
                </a:p>
              </p:txBody>
            </p:sp>
          </mc:Choice>
          <mc:Fallback xmlns="">
            <p:sp>
              <p:nvSpPr>
                <p:cNvPr id="11" name="文字方塊 10">
                  <a:extLst>
                    <a:ext uri="{FF2B5EF4-FFF2-40B4-BE49-F238E27FC236}">
                      <a16:creationId xmlns:a16="http://schemas.microsoft.com/office/drawing/2014/main" id="{42506FCA-AD85-4D09-9F6E-FA92DD820306}"/>
                    </a:ext>
                  </a:extLst>
                </p:cNvPr>
                <p:cNvSpPr txBox="1">
                  <a:spLocks noRot="1" noChangeAspect="1" noMove="1" noResize="1" noEditPoints="1" noAdjustHandles="1" noChangeArrowheads="1" noChangeShapeType="1" noTextEdit="1"/>
                </p:cNvSpPr>
                <p:nvPr/>
              </p:nvSpPr>
              <p:spPr>
                <a:xfrm>
                  <a:off x="8512135" y="4129110"/>
                  <a:ext cx="2406877" cy="276999"/>
                </a:xfrm>
                <a:prstGeom prst="rect">
                  <a:avLst/>
                </a:prstGeom>
                <a:blipFill>
                  <a:blip r:embed="rId4"/>
                  <a:stretch>
                    <a:fillRect l="-1772" t="-2174" r="-3038" b="-32609"/>
                  </a:stretch>
                </a:blipFill>
              </p:spPr>
              <p:txBody>
                <a:bodyPr/>
                <a:lstStyle/>
                <a:p>
                  <a:r>
                    <a:rPr lang="zh-TW" altLang="en-US">
                      <a:noFill/>
                    </a:rPr>
                    <a:t> </a:t>
                  </a:r>
                </a:p>
              </p:txBody>
            </p:sp>
          </mc:Fallback>
        </mc:AlternateContent>
      </p:grpSp>
      <p:sp>
        <p:nvSpPr>
          <p:cNvPr id="41" name="auto caption"/>
          <p:cNvSpPr txBox="1"/>
          <p:nvPr/>
        </p:nvSpPr>
        <p:spPr>
          <a:xfrm>
            <a:off x="457200" y="699641"/>
            <a:ext cx="6309360" cy="5692692"/>
          </a:xfrm>
          <a:prstGeom prst="rect">
            <a:avLst/>
          </a:prstGeom>
          <a:noFill/>
        </p:spPr>
        <p:txBody>
          <a:bodyPr wrap="square" rtlCol="0">
            <a:normAutofit/>
          </a:bodyPr>
          <a:lstStyle/>
          <a:p>
            <a:pPr marL="285750" indent="-285750">
              <a:buFont typeface="Arial" panose="020B0604020202020204" pitchFamily="34" charset="0"/>
              <a:buChar char="•"/>
            </a:pPr>
            <a:r>
              <a:rPr lang="en-US" altLang="zh-TW" dirty="0"/>
              <a:t>Setup: The calibration side is identical to the previous slide: the same R sweep, the same converged reduced design at each R. What changes is the evaluation: the residual is computed on every real FEM node inside R.</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residual grows monotonically with the workspace radius for both models, as expected: the point-charge model is an inner expansion, so it degrades as the workspace boundary approaches the tip sphere (R = 500 µm). The eighteen-parameter model is better at every radius, but the gap between the two closes rapidly as R grows — 13× at R = 100 µm, 10× at R = 150 µm, 3.4× at R = 300 µm (0.449 vs 0.132 </a:t>
            </a:r>
            <a:r>
              <a:rPr lang="en-US" altLang="zh-TW" dirty="0" err="1"/>
              <a:t>mT</a:t>
            </a:r>
            <a:r>
              <a:rPr lang="en-US" altLang="zh-TW" dirty="0"/>
              <a:t>), and only 15% at R = 500 µm (1.98 vs 1.73 </a:t>
            </a:r>
            <a:r>
              <a:rPr lang="en-US" altLang="zh-TW" dirty="0" err="1"/>
              <a:t>mT</a:t>
            </a:r>
            <a:r>
              <a:rPr lang="en-US" altLang="zh-TW" dirty="0"/>
              <a:t>). The seventeen extra degrees of freedom therefore improve the fit only while the workspace is small compared with R; once its boundary reaches the pole tips both models fail alike.</a:t>
            </a:r>
          </a:p>
        </p:txBody>
      </p:sp>
    </p:spTree>
    <p:extLst>
      <p:ext uri="{BB962C8B-B14F-4D97-AF65-F5344CB8AC3E}">
        <p14:creationId xmlns:p14="http://schemas.microsoft.com/office/powerpoint/2010/main" val="338644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775771" y="715061"/>
                <a:ext cx="6005735" cy="503464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b="1" dirty="0"/>
                  <a:t>This figure shows the fitting results for the FEM nodes within R≤150μm after both models were calibrated over the same region using their respective convergence </a:t>
                </a:r>
                <a:r>
                  <a:rPr lang="en-US" altLang="zh-TW" b="1" dirty="0" err="1"/>
                  <a:t>points</a:t>
                </a:r>
                <a:r>
                  <a:rPr lang="en-US" altLang="zh-TW" dirty="0" err="1"/>
                  <a:t>.This</a:t>
                </a:r>
                <a:r>
                  <a:rPr lang="en-US" altLang="zh-TW" dirty="0"/>
                  <a:t>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Both histograms have the same resolution (2.8 </a:t>
                </a:r>
                <a:r>
                  <a:rPr lang="en-US" altLang="zh-TW" dirty="0" err="1"/>
                  <a:t>μT</a:t>
                </a:r>
                <a:r>
                  <a:rPr lang="en-US" altLang="zh-TW" dirty="0"/>
                  <a:t>).</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Workspace radius:</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775771" y="715061"/>
                <a:ext cx="6005735" cy="5034648"/>
              </a:xfrm>
              <a:prstGeom prst="rect">
                <a:avLst/>
              </a:prstGeom>
              <a:blipFill>
                <a:blip r:embed="rId3"/>
                <a:stretch>
                  <a:fillRect l="-609" b="-969"/>
                </a:stretch>
              </a:blipFill>
            </p:spPr>
            <p:txBody>
              <a:bodyPr/>
              <a:lstStyle/>
              <a:p>
                <a:r>
                  <a:rPr lang="zh-TW" altLang="en-US">
                    <a:noFill/>
                  </a:rPr>
                  <a:t> </a:t>
                </a:r>
              </a:p>
            </p:txBody>
          </p:sp>
        </mc:Fallback>
      </mc:AlternateContent>
      <p:grpSp>
        <p:nvGrpSpPr>
          <p:cNvPr id="10" name="群組 9">
            <a:extLst>
              <a:ext uri="{FF2B5EF4-FFF2-40B4-BE49-F238E27FC236}">
                <a16:creationId xmlns:a16="http://schemas.microsoft.com/office/drawing/2014/main" id="{23A70D0A-AAC3-4B49-B53D-4C8ECA5E91B3}"/>
              </a:ext>
            </a:extLst>
          </p:cNvPr>
          <p:cNvGrpSpPr/>
          <p:nvPr/>
        </p:nvGrpSpPr>
        <p:grpSpPr>
          <a:xfrm>
            <a:off x="503421" y="824438"/>
            <a:ext cx="3662179" cy="2989700"/>
            <a:chOff x="562688" y="1245891"/>
            <a:chExt cx="3933864" cy="3165912"/>
          </a:xfrm>
        </p:grpSpPr>
        <p:pic>
          <p:nvPicPr>
            <p:cNvPr id="9" name="圖片 8">
              <a:extLst>
                <a:ext uri="{FF2B5EF4-FFF2-40B4-BE49-F238E27FC236}">
                  <a16:creationId xmlns:a16="http://schemas.microsoft.com/office/drawing/2014/main" id="{580F5769-9BA4-4EF1-A00E-82CB027DB1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604" y="1245891"/>
              <a:ext cx="3836948" cy="3099558"/>
            </a:xfrm>
            <a:prstGeom prst="rect">
              <a:avLst/>
            </a:prstGeom>
          </p:spPr>
        </p:pic>
        <p:grpSp>
          <p:nvGrpSpPr>
            <p:cNvPr id="24" name="群組 23">
              <a:extLst>
                <a:ext uri="{FF2B5EF4-FFF2-40B4-BE49-F238E27FC236}">
                  <a16:creationId xmlns:a16="http://schemas.microsoft.com/office/drawing/2014/main" id="{736B9DAB-E3B5-4F04-9A4C-16D89A3418FB}"/>
                </a:ext>
              </a:extLst>
            </p:cNvPr>
            <p:cNvGrpSpPr/>
            <p:nvPr/>
          </p:nvGrpSpPr>
          <p:grpSpPr>
            <a:xfrm>
              <a:off x="562688" y="1465948"/>
              <a:ext cx="3107451" cy="2945855"/>
              <a:chOff x="638889" y="1685413"/>
              <a:chExt cx="3107451" cy="2945855"/>
            </a:xfrm>
          </p:grpSpPr>
          <p:grpSp>
            <p:nvGrpSpPr>
              <p:cNvPr id="22" name="群組 21">
                <a:extLst>
                  <a:ext uri="{FF2B5EF4-FFF2-40B4-BE49-F238E27FC236}">
                    <a16:creationId xmlns:a16="http://schemas.microsoft.com/office/drawing/2014/main" id="{A4A560D3-71C7-4CB4-8189-12B276A02F3D}"/>
                  </a:ext>
                </a:extLst>
              </p:cNvPr>
              <p:cNvGrpSpPr/>
              <p:nvPr/>
            </p:nvGrpSpPr>
            <p:grpSpPr>
              <a:xfrm>
                <a:off x="638889" y="2161355"/>
                <a:ext cx="3010243" cy="2469913"/>
                <a:chOff x="638889" y="2161355"/>
                <a:chExt cx="3010243" cy="2469913"/>
              </a:xfrm>
            </p:grpSpPr>
            <p:sp>
              <p:nvSpPr>
                <p:cNvPr id="19" name="矩形 18">
                  <a:extLst>
                    <a:ext uri="{FF2B5EF4-FFF2-40B4-BE49-F238E27FC236}">
                      <a16:creationId xmlns:a16="http://schemas.microsoft.com/office/drawing/2014/main" id="{43ED5006-814D-4846-B24D-AE6159A9C482}"/>
                    </a:ext>
                  </a:extLst>
                </p:cNvPr>
                <p:cNvSpPr/>
                <p:nvPr/>
              </p:nvSpPr>
              <p:spPr>
                <a:xfrm>
                  <a:off x="638889" y="2161355"/>
                  <a:ext cx="287866" cy="143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2D0C6A87-3CD1-4B1B-A571-0BAF86B0C5C6}"/>
                    </a:ext>
                  </a:extLst>
                </p:cNvPr>
                <p:cNvSpPr/>
                <p:nvPr/>
              </p:nvSpPr>
              <p:spPr>
                <a:xfrm rot="5400000">
                  <a:off x="2667215" y="3649350"/>
                  <a:ext cx="287866" cy="1675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A2DF51AA-0F9C-4EED-9B62-90FB9ABAA407}"/>
                      </a:ext>
                    </a:extLst>
                  </p:cNvPr>
                  <p:cNvSpPr txBox="1"/>
                  <p:nvPr/>
                </p:nvSpPr>
                <p:spPr>
                  <a:xfrm>
                    <a:off x="1875956" y="4318693"/>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25" name="文字方塊 24">
                    <a:extLst>
                      <a:ext uri="{FF2B5EF4-FFF2-40B4-BE49-F238E27FC236}">
                        <a16:creationId xmlns:a16="http://schemas.microsoft.com/office/drawing/2014/main" id="{A2DF51AA-0F9C-4EED-9B62-90FB9ABAA407}"/>
                      </a:ext>
                    </a:extLst>
                  </p:cNvPr>
                  <p:cNvSpPr txBox="1">
                    <a:spLocks noRot="1" noChangeAspect="1" noMove="1" noResize="1" noEditPoints="1" noAdjustHandles="1" noChangeArrowheads="1" noChangeShapeType="1" noTextEdit="1"/>
                  </p:cNvSpPr>
                  <p:nvPr/>
                </p:nvSpPr>
                <p:spPr>
                  <a:xfrm>
                    <a:off x="1875956" y="4318693"/>
                    <a:ext cx="1870384" cy="246221"/>
                  </a:xfrm>
                  <a:prstGeom prst="rect">
                    <a:avLst/>
                  </a:prstGeom>
                  <a:blipFill>
                    <a:blip r:embed="rId5"/>
                    <a:stretch>
                      <a:fillRect l="-2280" r="-1303" b="-3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3958413D-FBA3-41F1-A1D7-B896CB461548}"/>
                      </a:ext>
                    </a:extLst>
                  </p:cNvPr>
                  <p:cNvSpPr txBox="1"/>
                  <p:nvPr/>
                </p:nvSpPr>
                <p:spPr>
                  <a:xfrm rot="16200000">
                    <a:off x="-257643" y="2581946"/>
                    <a:ext cx="2057554" cy="264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6" name="文字方塊 25">
                    <a:extLst>
                      <a:ext uri="{FF2B5EF4-FFF2-40B4-BE49-F238E27FC236}">
                        <a16:creationId xmlns:a16="http://schemas.microsoft.com/office/drawing/2014/main" id="{3958413D-FBA3-41F1-A1D7-B896CB461548}"/>
                      </a:ext>
                    </a:extLst>
                  </p:cNvPr>
                  <p:cNvSpPr txBox="1">
                    <a:spLocks noRot="1" noChangeAspect="1" noMove="1" noResize="1" noEditPoints="1" noAdjustHandles="1" noChangeArrowheads="1" noChangeShapeType="1" noTextEdit="1"/>
                  </p:cNvSpPr>
                  <p:nvPr/>
                </p:nvSpPr>
                <p:spPr>
                  <a:xfrm rot="16200000">
                    <a:off x="-257643" y="2581946"/>
                    <a:ext cx="2057554" cy="264487"/>
                  </a:xfrm>
                  <a:prstGeom prst="rect">
                    <a:avLst/>
                  </a:prstGeom>
                  <a:blipFill>
                    <a:blip r:embed="rId6"/>
                    <a:stretch>
                      <a:fillRect t="-2194" r="-32500" b="-2194"/>
                    </a:stretch>
                  </a:blipFill>
                </p:spPr>
                <p:txBody>
                  <a:bodyPr/>
                  <a:lstStyle/>
                  <a:p>
                    <a:r>
                      <a:rPr lang="zh-TW" altLang="en-US">
                        <a:noFill/>
                      </a:rPr>
                      <a:t> </a:t>
                    </a:r>
                  </a:p>
                </p:txBody>
              </p:sp>
            </mc:Fallback>
          </mc:AlternateContent>
        </p:grpSp>
      </p:grpSp>
      <p:graphicFrame>
        <p:nvGraphicFramePr>
          <p:cNvPr id="14" name="表格 14">
            <a:extLst>
              <a:ext uri="{FF2B5EF4-FFF2-40B4-BE49-F238E27FC236}">
                <a16:creationId xmlns:a16="http://schemas.microsoft.com/office/drawing/2014/main" id="{669D49AD-E8AD-4123-BA4B-4C406F1D844B}"/>
              </a:ext>
            </a:extLst>
          </p:cNvPr>
          <p:cNvGraphicFramePr>
            <a:graphicFrameLocks noGrp="1"/>
          </p:cNvGraphicFramePr>
          <p:nvPr>
            <p:extLst>
              <p:ext uri="{D42A27DB-BD31-4B8C-83A1-F6EECF244321}">
                <p14:modId xmlns:p14="http://schemas.microsoft.com/office/powerpoint/2010/main" val="697380596"/>
              </p:ext>
            </p:extLst>
          </p:nvPr>
        </p:nvGraphicFramePr>
        <p:xfrm>
          <a:off x="503421" y="4087716"/>
          <a:ext cx="5143845" cy="2567084"/>
        </p:xfrm>
        <a:graphic>
          <a:graphicData uri="http://schemas.openxmlformats.org/drawingml/2006/table">
            <a:tbl>
              <a:tblPr firstRow="1" bandRow="1">
                <a:tableStyleId>{5940675A-B579-460E-94D1-54222C63F5DA}</a:tableStyleId>
              </a:tblPr>
              <a:tblGrid>
                <a:gridCol w="1714615">
                  <a:extLst>
                    <a:ext uri="{9D8B030D-6E8A-4147-A177-3AD203B41FA5}">
                      <a16:colId xmlns:a16="http://schemas.microsoft.com/office/drawing/2014/main" val="2949357934"/>
                    </a:ext>
                  </a:extLst>
                </a:gridCol>
                <a:gridCol w="1714615">
                  <a:extLst>
                    <a:ext uri="{9D8B030D-6E8A-4147-A177-3AD203B41FA5}">
                      <a16:colId xmlns:a16="http://schemas.microsoft.com/office/drawing/2014/main" val="3764907268"/>
                    </a:ext>
                  </a:extLst>
                </a:gridCol>
                <a:gridCol w="1714615">
                  <a:extLst>
                    <a:ext uri="{9D8B030D-6E8A-4147-A177-3AD203B41FA5}">
                      <a16:colId xmlns:a16="http://schemas.microsoft.com/office/drawing/2014/main" val="855758062"/>
                    </a:ext>
                  </a:extLst>
                </a:gridCol>
              </a:tblGrid>
              <a:tr h="1317043">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1250041">
                <a:tc>
                  <a:txBody>
                    <a:bodyPr/>
                    <a:lstStyle/>
                    <a:p>
                      <a:pPr algn="ctr"/>
                      <a:r>
                        <a:rPr lang="en-US" altLang="zh-TW" dirty="0"/>
                        <a:t>Mean error</a:t>
                      </a:r>
                      <a:endParaRPr lang="zh-TW" altLang="en-US" dirty="0"/>
                    </a:p>
                  </a:txBody>
                  <a:tcPr/>
                </a:tc>
                <a:tc>
                  <a:txBody>
                    <a:bodyPr/>
                    <a:lstStyle/>
                    <a:p>
                      <a:pPr algn="ctr"/>
                      <a:r>
                        <a:rPr lang="en-US" altLang="zh-TW" dirty="0"/>
                        <a:t>0.2876mT</a:t>
                      </a:r>
                      <a:endParaRPr lang="zh-TW" altLang="en-US" dirty="0"/>
                    </a:p>
                  </a:txBody>
                  <a:tcPr/>
                </a:tc>
                <a:tc>
                  <a:txBody>
                    <a:bodyPr/>
                    <a:lstStyle/>
                    <a:p>
                      <a:pPr algn="ctr"/>
                      <a:r>
                        <a:rPr lang="en-US" altLang="zh-TW" dirty="0"/>
                        <a:t>0.0277mT</a:t>
                      </a:r>
                      <a:endParaRPr lang="zh-TW" altLang="en-US" dirty="0"/>
                    </a:p>
                  </a:txBody>
                  <a:tcPr/>
                </a:tc>
                <a:extLst>
                  <a:ext uri="{0D108BD9-81ED-4DB2-BD59-A6C34878D82A}">
                    <a16:rowId xmlns:a16="http://schemas.microsoft.com/office/drawing/2014/main" val="2702200097"/>
                  </a:ext>
                </a:extLst>
              </a:tr>
            </a:tbl>
          </a:graphicData>
        </a:graphic>
      </p:graphicFrame>
    </p:spTree>
    <p:extLst>
      <p:ext uri="{BB962C8B-B14F-4D97-AF65-F5344CB8AC3E}">
        <p14:creationId xmlns:p14="http://schemas.microsoft.com/office/powerpoint/2010/main" val="3963438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34" name="矩形 33">
            <a:extLst>
              <a:ext uri="{FF2B5EF4-FFF2-40B4-BE49-F238E27FC236}">
                <a16:creationId xmlns:a16="http://schemas.microsoft.com/office/drawing/2014/main" id="{8659A643-E450-4CA6-88EB-0AE5D5F0627F}"/>
              </a:ext>
            </a:extLst>
          </p:cNvPr>
          <p:cNvSpPr/>
          <p:nvPr/>
        </p:nvSpPr>
        <p:spPr>
          <a:xfrm>
            <a:off x="9674200" y="2996360"/>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CC076215-4C1E-4750-B734-07194AED0FD8}"/>
              </a:ext>
            </a:extLst>
          </p:cNvPr>
          <p:cNvSpPr/>
          <p:nvPr/>
        </p:nvSpPr>
        <p:spPr>
          <a:xfrm rot="16200000">
            <a:off x="7091804" y="1694224"/>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6" name="auto caption"/>
              <p:cNvSpPr txBox="1"/>
              <p:nvPr/>
            </p:nvSpPr>
            <p:spPr>
              <a:xfrm>
                <a:off x="-33942" y="586474"/>
                <a:ext cx="7714179" cy="3044893"/>
              </a:xfrm>
              <a:prstGeom prst="rect">
                <a:avLst/>
              </a:prstGeom>
              <a:noFill/>
            </p:spPr>
            <p:txBody>
              <a:bodyPr wrap="square" rtlCol="0">
                <a:normAutofit fontScale="85000" lnSpcReduction="20000"/>
              </a:bodyPr>
              <a:lstStyle/>
              <a:p>
                <a:pPr marL="285750" indent="-285750">
                  <a:buFont typeface="Arial" panose="020B0604020202020204" pitchFamily="34" charset="0"/>
                  <a:buChar char="•"/>
                </a:pPr>
                <a:r>
                  <a:rPr lang="en-US" altLang="zh-TW" dirty="0"/>
                  <a:t>Setup: </a:t>
                </a:r>
                <a:r>
                  <a:rPr lang="en-US" altLang="zh-TW" b="1" dirty="0"/>
                  <a:t>Calibration is performed using the eighteen-parameter model with 80 calibration points, followed by fitting to the FEM nodes within the workspace</a:t>
                </a:r>
                <a:r>
                  <a:rPr lang="en-US" altLang="zh-TW" dirty="0"/>
                  <a:t>. The top histogram is the model calibrated at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oMath>
                </a14:m>
                <a:r>
                  <a:rPr lang="en-US" altLang="zh-TW" dirty="0"/>
                  <a:t> µm and evaluated inside </a:t>
                </a:r>
                <a14:m>
                  <m:oMath xmlns:m="http://schemas.openxmlformats.org/officeDocument/2006/math">
                    <m:r>
                      <a:rPr lang="en-US" altLang="zh-TW" i="1">
                        <a:latin typeface="Cambria Math" panose="02040503050406030204" pitchFamily="18" charset="0"/>
                      </a:rPr>
                      <m:t>𝑅</m:t>
                    </m:r>
                    <m:r>
                      <a:rPr lang="en-US" altLang="zh-TW" i="1">
                        <a:latin typeface="Cambria Math" panose="02040503050406030204" pitchFamily="18" charset="0"/>
                        <a:ea typeface="Cambria Math" panose="02040503050406030204" pitchFamily="18" charset="0"/>
                      </a:rPr>
                      <m:t>≤150</m:t>
                    </m:r>
                  </m:oMath>
                </a14:m>
                <a:r>
                  <a:rPr lang="en-US" altLang="zh-TW" dirty="0"/>
                  <a:t> µm. The bottom histogram is the model calibrated at </a:t>
                </a:r>
                <a14:m>
                  <m:oMath xmlns:m="http://schemas.openxmlformats.org/officeDocument/2006/math">
                    <m:r>
                      <a:rPr lang="en-US" altLang="zh-TW" i="1">
                        <a:latin typeface="Cambria Math" panose="02040503050406030204" pitchFamily="18" charset="0"/>
                      </a:rPr>
                      <m:t>𝑅</m:t>
                    </m:r>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30</m:t>
                    </m:r>
                    <m:r>
                      <a:rPr lang="en-US" altLang="zh-TW" i="1">
                        <a:latin typeface="Cambria Math" panose="02040503050406030204" pitchFamily="18" charset="0"/>
                        <a:ea typeface="Cambria Math" panose="02040503050406030204" pitchFamily="18" charset="0"/>
                      </a:rPr>
                      <m:t>0</m:t>
                    </m:r>
                  </m:oMath>
                </a14:m>
                <a:r>
                  <a:rPr lang="en-US" altLang="zh-TW" dirty="0"/>
                  <a:t> µm and evaluated inside </a:t>
                </a:r>
                <a14:m>
                  <m:oMath xmlns:m="http://schemas.openxmlformats.org/officeDocument/2006/math">
                    <m:r>
                      <a:rPr lang="en-US" altLang="zh-TW" i="1">
                        <a:latin typeface="Cambria Math" panose="02040503050406030204" pitchFamily="18" charset="0"/>
                      </a:rPr>
                      <m:t>𝑅</m:t>
                    </m:r>
                    <m:r>
                      <a:rPr lang="en-US" altLang="zh-TW" i="1">
                        <a:latin typeface="Cambria Math" panose="02040503050406030204" pitchFamily="18" charset="0"/>
                        <a:ea typeface="Cambria Math" panose="02040503050406030204" pitchFamily="18" charset="0"/>
                      </a:rPr>
                      <m:t>≤300</m:t>
                    </m:r>
                  </m:oMath>
                </a14:m>
                <a:r>
                  <a:rPr lang="en-US" altLang="zh-TW" dirty="0"/>
                  <a:t> , with the points split by radius into an inner core (</a:t>
                </a:r>
                <a:r>
                  <a:rPr lang="en-US" altLang="zh-TW" i="1" dirty="0"/>
                  <a:t>R ≤ 150 </a:t>
                </a:r>
                <a:r>
                  <a:rPr lang="en-US" altLang="zh-TW" dirty="0"/>
                  <a:t>µm, blue) and an outer shell (150 &lt; R ≤ 300 µm, red).</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Inside the calibrated workspace the residual is only 0.27% of the average field (0.0277 </a:t>
                </a:r>
                <a:r>
                  <a:rPr lang="en-US" altLang="zh-TW" dirty="0" err="1"/>
                  <a:t>mT</a:t>
                </a:r>
                <a:r>
                  <a:rPr lang="en-US" altLang="zh-TW" dirty="0"/>
                  <a:t> against 10.2452 </a:t>
                </a:r>
                <a:r>
                  <a:rPr lang="en-US" altLang="zh-TW" dirty="0" err="1"/>
                  <a:t>mT</a:t>
                </a:r>
                <a:r>
                  <a:rPr lang="en-US" altLang="zh-TW" dirty="0"/>
                  <a:t>), so the six-pole system is quantitatively captured by</a:t>
                </a:r>
                <a:r>
                  <a:rPr lang="en-US" altLang="zh-TW" sz="1800" dirty="0"/>
                  <a:t> </a:t>
                </a:r>
                <a14:m>
                  <m:oMath xmlns:m="http://schemas.openxmlformats.org/officeDocument/2006/math">
                    <m:acc>
                      <m:accPr>
                        <m:chr m:val="̂"/>
                        <m:ctrlPr>
                          <a:rPr lang="en-US" altLang="zh-TW" sz="1800" i="1" smtClean="0">
                            <a:latin typeface="Cambria Math" panose="02040503050406030204" pitchFamily="18" charset="0"/>
                          </a:rPr>
                        </m:ctrlPr>
                      </m:accPr>
                      <m:e>
                        <m:r>
                          <a:rPr lang="en-US" altLang="zh-TW" sz="1800" i="1" smtClean="0">
                            <a:latin typeface="Cambria Math" panose="02040503050406030204" pitchFamily="18" charset="0"/>
                            <a:ea typeface="Cambria Math" panose="02040503050406030204" pitchFamily="18" charset="0"/>
                          </a:rPr>
                          <m:t>ℓ</m:t>
                        </m:r>
                      </m:e>
                    </m:acc>
                  </m:oMath>
                </a14:m>
                <a:r>
                  <a:rPr lang="en-US" altLang="zh-TW" dirty="0"/>
                  <a:t>,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r>
                      <a:rPr lang="en-US" altLang="zh-TW" i="1">
                        <a:latin typeface="Cambria Math" panose="02040503050406030204" pitchFamily="18" charset="0"/>
                      </a:rPr>
                      <m:t> </m:t>
                    </m:r>
                  </m:oMath>
                </a14:m>
                <a:r>
                  <a:rPr lang="en-US" altLang="zh-TW" dirty="0"/>
                  <a:t>and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𝐾</m:t>
                            </m:r>
                          </m:e>
                        </m:acc>
                      </m:e>
                      <m:sub>
                        <m:r>
                          <a:rPr lang="en-US" altLang="zh-TW" i="1">
                            <a:latin typeface="Cambria Math" panose="02040503050406030204" pitchFamily="18" charset="0"/>
                          </a:rPr>
                          <m:t>𝐼</m:t>
                        </m:r>
                      </m:sub>
                    </m:sSub>
                    <m:r>
                      <a:rPr lang="en-US" altLang="zh-TW" i="1">
                        <a:latin typeface="Cambria Math" panose="02040503050406030204" pitchFamily="18" charset="0"/>
                      </a:rPr>
                      <m:t> </m:t>
                    </m:r>
                  </m:oMath>
                </a14:m>
                <a:r>
                  <a:rPr lang="zh-TW" altLang="en-US" dirty="0"/>
                  <a:t>，</a:t>
                </a:r>
                <a:r>
                  <a:rPr lang="en-US" altLang="zh-TW" dirty="0"/>
                  <a:t> changes the accuracy is the calibration range — widening it from R = 150 to 300 µm raises the error in the same inner core by 59% (0.0277 → 0.0441 </a:t>
                </a:r>
                <a:r>
                  <a:rPr lang="en-US" altLang="zh-TW" dirty="0" err="1"/>
                  <a:t>mT</a:t>
                </a:r>
                <a:r>
                  <a:rPr lang="en-US" altLang="zh-TW" dirty="0"/>
                  <a:t>). The error is also concentrated near the outer boundary, the shell carrying 4.5× the core error (0.2006 vs 0.0441 </a:t>
                </a:r>
                <a:r>
                  <a:rPr lang="en-US" altLang="zh-TW" dirty="0" err="1"/>
                  <a:t>mT</a:t>
                </a:r>
                <a:r>
                  <a:rPr lang="en-US" altLang="zh-TW" dirty="0"/>
                  <a:t>), which is the signature of the point-charge model as an inner expansion: accuracy is lost by approaching the pole tips, not by a poor fit, and it degrades predictably — the relative error rises from 0.27% to 1.73% when the workspace radius is doubled.</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Both histograms have the same resolution (2.8μT).</a:t>
                </a:r>
              </a:p>
              <a:p>
                <a:pPr marL="285750" indent="-285750">
                  <a:buFont typeface="Arial" panose="020B0604020202020204" pitchFamily="34" charset="0"/>
                  <a:buChar char="•"/>
                </a:pPr>
                <a:endParaRPr lang="en-US" altLang="zh-TW" dirty="0"/>
              </a:p>
            </p:txBody>
          </p:sp>
        </mc:Choice>
        <mc:Fallback xmlns="">
          <p:sp>
            <p:nvSpPr>
              <p:cNvPr id="46" name="auto caption"/>
              <p:cNvSpPr txBox="1">
                <a:spLocks noRot="1" noChangeAspect="1" noMove="1" noResize="1" noEditPoints="1" noAdjustHandles="1" noChangeArrowheads="1" noChangeShapeType="1" noTextEdit="1"/>
              </p:cNvSpPr>
              <p:nvPr/>
            </p:nvSpPr>
            <p:spPr>
              <a:xfrm>
                <a:off x="-33942" y="586474"/>
                <a:ext cx="7714179" cy="3044893"/>
              </a:xfrm>
              <a:prstGeom prst="rect">
                <a:avLst/>
              </a:prstGeom>
              <a:blipFill>
                <a:blip r:embed="rId2"/>
                <a:stretch>
                  <a:fillRect l="-237" t="-1600" r="-632" b="-2200"/>
                </a:stretch>
              </a:blipFill>
            </p:spPr>
            <p:txBody>
              <a:bodyPr/>
              <a:lstStyle/>
              <a:p>
                <a:r>
                  <a:rPr lang="zh-TW" altLang="en-US">
                    <a:noFill/>
                  </a:rPr>
                  <a:t> </a:t>
                </a:r>
              </a:p>
            </p:txBody>
          </p:sp>
        </mc:Fallback>
      </mc:AlternateContent>
      <p:grpSp>
        <p:nvGrpSpPr>
          <p:cNvPr id="17" name="群組 16">
            <a:extLst>
              <a:ext uri="{FF2B5EF4-FFF2-40B4-BE49-F238E27FC236}">
                <a16:creationId xmlns:a16="http://schemas.microsoft.com/office/drawing/2014/main" id="{1DFB45FC-9DFC-4FC9-A9F3-1169414D7357}"/>
              </a:ext>
            </a:extLst>
          </p:cNvPr>
          <p:cNvGrpSpPr/>
          <p:nvPr/>
        </p:nvGrpSpPr>
        <p:grpSpPr>
          <a:xfrm>
            <a:off x="8761063" y="605024"/>
            <a:ext cx="3104892" cy="2433301"/>
            <a:chOff x="8539479" y="812926"/>
            <a:chExt cx="3104892" cy="2433301"/>
          </a:xfrm>
        </p:grpSpPr>
        <p:pic>
          <p:nvPicPr>
            <p:cNvPr id="16" name="圖片 15">
              <a:extLst>
                <a:ext uri="{FF2B5EF4-FFF2-40B4-BE49-F238E27FC236}">
                  <a16:creationId xmlns:a16="http://schemas.microsoft.com/office/drawing/2014/main" id="{D93D5404-D40C-45AC-ACAC-A03C2B6D7B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8318" y="812926"/>
              <a:ext cx="2936053" cy="2366002"/>
            </a:xfrm>
            <a:prstGeom prst="rect">
              <a:avLst/>
            </a:prstGeom>
          </p:spPr>
        </p:pic>
        <p:grpSp>
          <p:nvGrpSpPr>
            <p:cNvPr id="26" name="群組 25">
              <a:extLst>
                <a:ext uri="{FF2B5EF4-FFF2-40B4-BE49-F238E27FC236}">
                  <a16:creationId xmlns:a16="http://schemas.microsoft.com/office/drawing/2014/main" id="{70478066-310B-4F80-997B-F860B06EC624}"/>
                </a:ext>
              </a:extLst>
            </p:cNvPr>
            <p:cNvGrpSpPr/>
            <p:nvPr/>
          </p:nvGrpSpPr>
          <p:grpSpPr>
            <a:xfrm>
              <a:off x="8539479" y="922869"/>
              <a:ext cx="2682852" cy="2323358"/>
              <a:chOff x="8290300" y="811678"/>
              <a:chExt cx="2682852" cy="2323358"/>
            </a:xfrm>
          </p:grpSpPr>
          <p:grpSp>
            <p:nvGrpSpPr>
              <p:cNvPr id="14" name="群組 13">
                <a:extLst>
                  <a:ext uri="{FF2B5EF4-FFF2-40B4-BE49-F238E27FC236}">
                    <a16:creationId xmlns:a16="http://schemas.microsoft.com/office/drawing/2014/main" id="{98E2DA52-7382-44DD-9802-8F4A47DA9DEE}"/>
                  </a:ext>
                </a:extLst>
              </p:cNvPr>
              <p:cNvGrpSpPr/>
              <p:nvPr/>
            </p:nvGrpSpPr>
            <p:grpSpPr>
              <a:xfrm>
                <a:off x="8459139" y="1134150"/>
                <a:ext cx="2167387" cy="1933587"/>
                <a:chOff x="8459139" y="1134150"/>
                <a:chExt cx="2167387" cy="1933587"/>
              </a:xfrm>
            </p:grpSpPr>
            <p:sp>
              <p:nvSpPr>
                <p:cNvPr id="13" name="矩形 12">
                  <a:extLst>
                    <a:ext uri="{FF2B5EF4-FFF2-40B4-BE49-F238E27FC236}">
                      <a16:creationId xmlns:a16="http://schemas.microsoft.com/office/drawing/2014/main" id="{62D9AAFB-45CB-41B6-A7DA-A163C76C7C70}"/>
                    </a:ext>
                  </a:extLst>
                </p:cNvPr>
                <p:cNvSpPr/>
                <p:nvPr/>
              </p:nvSpPr>
              <p:spPr>
                <a:xfrm>
                  <a:off x="9381066" y="2926271"/>
                  <a:ext cx="1245460" cy="141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4D5CEEC-4BD3-41C5-AEA4-00E812C48194}"/>
                    </a:ext>
                  </a:extLst>
                </p:cNvPr>
                <p:cNvSpPr/>
                <p:nvPr/>
              </p:nvSpPr>
              <p:spPr>
                <a:xfrm rot="16200000">
                  <a:off x="7993276" y="1600013"/>
                  <a:ext cx="1092200" cy="1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76C41D3C-8E9A-426D-BF6B-D03547810A62}"/>
                      </a:ext>
                    </a:extLst>
                  </p:cNvPr>
                  <p:cNvSpPr txBox="1"/>
                  <p:nvPr/>
                </p:nvSpPr>
                <p:spPr>
                  <a:xfrm>
                    <a:off x="9102768" y="2888815"/>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6" name="文字方塊 35">
                    <a:extLst>
                      <a:ext uri="{FF2B5EF4-FFF2-40B4-BE49-F238E27FC236}">
                        <a16:creationId xmlns:a16="http://schemas.microsoft.com/office/drawing/2014/main" id="{76C41D3C-8E9A-426D-BF6B-D03547810A62}"/>
                      </a:ext>
                    </a:extLst>
                  </p:cNvPr>
                  <p:cNvSpPr txBox="1">
                    <a:spLocks noRot="1" noChangeAspect="1" noMove="1" noResize="1" noEditPoints="1" noAdjustHandles="1" noChangeArrowheads="1" noChangeShapeType="1" noTextEdit="1"/>
                  </p:cNvSpPr>
                  <p:nvPr/>
                </p:nvSpPr>
                <p:spPr>
                  <a:xfrm>
                    <a:off x="9102768" y="2888815"/>
                    <a:ext cx="1870384" cy="246221"/>
                  </a:xfrm>
                  <a:prstGeom prst="rect">
                    <a:avLst/>
                  </a:prstGeom>
                  <a:blipFill>
                    <a:blip r:embed="rId4"/>
                    <a:stretch>
                      <a:fillRect l="-2280" r="-1303"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BACF366E-8A86-48E7-B656-FA0D777C2587}"/>
                      </a:ext>
                    </a:extLst>
                  </p:cNvPr>
                  <p:cNvSpPr txBox="1"/>
                  <p:nvPr/>
                </p:nvSpPr>
                <p:spPr>
                  <a:xfrm rot="16200000">
                    <a:off x="7441895" y="1660083"/>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38" name="文字方塊 37">
                    <a:extLst>
                      <a:ext uri="{FF2B5EF4-FFF2-40B4-BE49-F238E27FC236}">
                        <a16:creationId xmlns:a16="http://schemas.microsoft.com/office/drawing/2014/main" id="{BACF366E-8A86-48E7-B656-FA0D777C2587}"/>
                      </a:ext>
                    </a:extLst>
                  </p:cNvPr>
                  <p:cNvSpPr txBox="1">
                    <a:spLocks noRot="1" noChangeAspect="1" noMove="1" noResize="1" noEditPoints="1" noAdjustHandles="1" noChangeArrowheads="1" noChangeShapeType="1" noTextEdit="1"/>
                  </p:cNvSpPr>
                  <p:nvPr/>
                </p:nvSpPr>
                <p:spPr>
                  <a:xfrm rot="16200000">
                    <a:off x="7441895" y="1660083"/>
                    <a:ext cx="1943032" cy="246221"/>
                  </a:xfrm>
                  <a:prstGeom prst="rect">
                    <a:avLst/>
                  </a:prstGeom>
                  <a:blipFill>
                    <a:blip r:embed="rId5"/>
                    <a:stretch>
                      <a:fillRect t="-2194" r="-31707" b="-2194"/>
                    </a:stretch>
                  </a:blipFill>
                </p:spPr>
                <p:txBody>
                  <a:bodyPr/>
                  <a:lstStyle/>
                  <a:p>
                    <a:r>
                      <a:rPr lang="zh-TW" altLang="en-US">
                        <a:noFill/>
                      </a:rPr>
                      <a:t> </a:t>
                    </a:r>
                  </a:p>
                </p:txBody>
              </p:sp>
            </mc:Fallback>
          </mc:AlternateContent>
        </p:grpSp>
      </p:grpSp>
      <p:grpSp>
        <p:nvGrpSpPr>
          <p:cNvPr id="20" name="群組 19">
            <a:extLst>
              <a:ext uri="{FF2B5EF4-FFF2-40B4-BE49-F238E27FC236}">
                <a16:creationId xmlns:a16="http://schemas.microsoft.com/office/drawing/2014/main" id="{3CADBCF9-4A23-4F71-BFF4-FCE678BC8992}"/>
              </a:ext>
            </a:extLst>
          </p:cNvPr>
          <p:cNvGrpSpPr/>
          <p:nvPr/>
        </p:nvGrpSpPr>
        <p:grpSpPr>
          <a:xfrm>
            <a:off x="8716104" y="3530302"/>
            <a:ext cx="3187467" cy="2456450"/>
            <a:chOff x="8445514" y="3721335"/>
            <a:chExt cx="3187467" cy="2456450"/>
          </a:xfrm>
        </p:grpSpPr>
        <p:pic>
          <p:nvPicPr>
            <p:cNvPr id="19" name="圖片 18">
              <a:extLst>
                <a:ext uri="{FF2B5EF4-FFF2-40B4-BE49-F238E27FC236}">
                  <a16:creationId xmlns:a16="http://schemas.microsoft.com/office/drawing/2014/main" id="{204FAE90-D1C7-4DC9-80A7-911AB63065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49208" y="3721335"/>
              <a:ext cx="3083773" cy="2420308"/>
            </a:xfrm>
            <a:prstGeom prst="rect">
              <a:avLst/>
            </a:prstGeom>
          </p:spPr>
        </p:pic>
        <p:grpSp>
          <p:nvGrpSpPr>
            <p:cNvPr id="4" name="群組 3">
              <a:extLst>
                <a:ext uri="{FF2B5EF4-FFF2-40B4-BE49-F238E27FC236}">
                  <a16:creationId xmlns:a16="http://schemas.microsoft.com/office/drawing/2014/main" id="{933C1DEA-2A25-4CD8-B1F2-559B13368157}"/>
                </a:ext>
              </a:extLst>
            </p:cNvPr>
            <p:cNvGrpSpPr/>
            <p:nvPr/>
          </p:nvGrpSpPr>
          <p:grpSpPr>
            <a:xfrm>
              <a:off x="8445514" y="3782124"/>
              <a:ext cx="2890057" cy="2395661"/>
              <a:chOff x="8244845" y="3930845"/>
              <a:chExt cx="2890057" cy="2395661"/>
            </a:xfrm>
          </p:grpSpPr>
          <p:grpSp>
            <p:nvGrpSpPr>
              <p:cNvPr id="27" name="群組 26">
                <a:extLst>
                  <a:ext uri="{FF2B5EF4-FFF2-40B4-BE49-F238E27FC236}">
                    <a16:creationId xmlns:a16="http://schemas.microsoft.com/office/drawing/2014/main" id="{AC662A1D-67BC-4890-A4F8-3F3FC002A9EE}"/>
                  </a:ext>
                </a:extLst>
              </p:cNvPr>
              <p:cNvGrpSpPr/>
              <p:nvPr/>
            </p:nvGrpSpPr>
            <p:grpSpPr>
              <a:xfrm>
                <a:off x="8331004" y="4412505"/>
                <a:ext cx="2803898" cy="1914001"/>
                <a:chOff x="8331004" y="4412505"/>
                <a:chExt cx="2803898" cy="1914001"/>
              </a:xfrm>
            </p:grpSpPr>
            <p:grpSp>
              <p:nvGrpSpPr>
                <p:cNvPr id="23" name="群組 22">
                  <a:extLst>
                    <a:ext uri="{FF2B5EF4-FFF2-40B4-BE49-F238E27FC236}">
                      <a16:creationId xmlns:a16="http://schemas.microsoft.com/office/drawing/2014/main" id="{8A0D190F-A149-479A-B4CF-2466476579D5}"/>
                    </a:ext>
                  </a:extLst>
                </p:cNvPr>
                <p:cNvGrpSpPr/>
                <p:nvPr/>
              </p:nvGrpSpPr>
              <p:grpSpPr>
                <a:xfrm>
                  <a:off x="8331004" y="4412505"/>
                  <a:ext cx="2363085" cy="1909281"/>
                  <a:chOff x="8331004" y="4412505"/>
                  <a:chExt cx="2363085" cy="1909281"/>
                </a:xfrm>
              </p:grpSpPr>
              <p:sp>
                <p:nvSpPr>
                  <p:cNvPr id="32" name="矩形 31">
                    <a:extLst>
                      <a:ext uri="{FF2B5EF4-FFF2-40B4-BE49-F238E27FC236}">
                        <a16:creationId xmlns:a16="http://schemas.microsoft.com/office/drawing/2014/main" id="{121C5590-E60E-40CA-90CE-72EB5B131EAA}"/>
                      </a:ext>
                    </a:extLst>
                  </p:cNvPr>
                  <p:cNvSpPr/>
                  <p:nvPr/>
                </p:nvSpPr>
                <p:spPr>
                  <a:xfrm rot="16200000">
                    <a:off x="7865141" y="4878368"/>
                    <a:ext cx="1092200" cy="160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28DA81AC-D8F6-40B2-92CE-B56A4FCF8FB1}"/>
                      </a:ext>
                    </a:extLst>
                  </p:cNvPr>
                  <p:cNvSpPr/>
                  <p:nvPr/>
                </p:nvSpPr>
                <p:spPr>
                  <a:xfrm>
                    <a:off x="9429576" y="6117004"/>
                    <a:ext cx="1264513"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6B367B9D-C1D1-403F-8DEB-C37529FC5139}"/>
                        </a:ext>
                      </a:extLst>
                    </p:cNvPr>
                    <p:cNvSpPr txBox="1"/>
                    <p:nvPr/>
                  </p:nvSpPr>
                  <p:spPr>
                    <a:xfrm>
                      <a:off x="9264518" y="6080285"/>
                      <a:ext cx="187038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0" i="0" smtClean="0">
                                <a:latin typeface="Cambria Math" panose="02040503050406030204" pitchFamily="18" charset="0"/>
                              </a:rPr>
                              <m:t> </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 </m:t>
                            </m:r>
                          </m:oMath>
                        </m:oMathPara>
                      </a14:m>
                      <a:endParaRPr lang="zh-TW" altLang="en-US" sz="2000" dirty="0"/>
                    </a:p>
                  </p:txBody>
                </p:sp>
              </mc:Choice>
              <mc:Fallback xmlns="">
                <p:sp>
                  <p:nvSpPr>
                    <p:cNvPr id="39" name="文字方塊 38">
                      <a:extLst>
                        <a:ext uri="{FF2B5EF4-FFF2-40B4-BE49-F238E27FC236}">
                          <a16:creationId xmlns:a16="http://schemas.microsoft.com/office/drawing/2014/main" id="{6B367B9D-C1D1-403F-8DEB-C37529FC5139}"/>
                        </a:ext>
                      </a:extLst>
                    </p:cNvPr>
                    <p:cNvSpPr txBox="1">
                      <a:spLocks noRot="1" noChangeAspect="1" noMove="1" noResize="1" noEditPoints="1" noAdjustHandles="1" noChangeArrowheads="1" noChangeShapeType="1" noTextEdit="1"/>
                    </p:cNvSpPr>
                    <p:nvPr/>
                  </p:nvSpPr>
                  <p:spPr>
                    <a:xfrm>
                      <a:off x="9264518" y="6080285"/>
                      <a:ext cx="1870384" cy="246221"/>
                    </a:xfrm>
                    <a:prstGeom prst="rect">
                      <a:avLst/>
                    </a:prstGeom>
                    <a:blipFill>
                      <a:blip r:embed="rId7"/>
                      <a:stretch>
                        <a:fillRect l="-2280" r="-1303" b="-3250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AAFCE20-3EC1-4EF5-886A-490516CB6BF3}"/>
                      </a:ext>
                    </a:extLst>
                  </p:cNvPr>
                  <p:cNvSpPr txBox="1"/>
                  <p:nvPr/>
                </p:nvSpPr>
                <p:spPr>
                  <a:xfrm rot="16200000">
                    <a:off x="7396440" y="4779250"/>
                    <a:ext cx="194303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zh-TW" altLang="en-US" sz="1600" i="1">
                              <a:latin typeface="Cambria Math" panose="02040503050406030204" pitchFamily="18" charset="0"/>
                            </a:rPr>
                            <m:t> </m:t>
                          </m:r>
                          <m:r>
                            <m:rPr>
                              <m:sty m:val="p"/>
                            </m:rPr>
                            <a:rPr lang="en-US" altLang="zh-TW" sz="1600" b="0" i="0" smtClean="0">
                              <a:latin typeface="Cambria Math" panose="02040503050406030204" pitchFamily="18" charset="0"/>
                            </a:rPr>
                            <m:t>count</m:t>
                          </m:r>
                          <m:r>
                            <a:rPr lang="en-US" altLang="zh-TW" sz="1600" b="0" i="1" smtClean="0">
                              <a:latin typeface="Cambria Math" panose="02040503050406030204" pitchFamily="18" charset="0"/>
                            </a:rPr>
                            <m:t>(%)</m:t>
                          </m:r>
                        </m:oMath>
                      </m:oMathPara>
                    </a14:m>
                    <a:endParaRPr lang="zh-TW" altLang="en-US" sz="2000" dirty="0"/>
                  </a:p>
                </p:txBody>
              </p:sp>
            </mc:Choice>
            <mc:Fallback xmlns="">
              <p:sp>
                <p:nvSpPr>
                  <p:cNvPr id="28" name="文字方塊 27">
                    <a:extLst>
                      <a:ext uri="{FF2B5EF4-FFF2-40B4-BE49-F238E27FC236}">
                        <a16:creationId xmlns:a16="http://schemas.microsoft.com/office/drawing/2014/main" id="{9AAFCE20-3EC1-4EF5-886A-490516CB6BF3}"/>
                      </a:ext>
                    </a:extLst>
                  </p:cNvPr>
                  <p:cNvSpPr txBox="1">
                    <a:spLocks noRot="1" noChangeAspect="1" noMove="1" noResize="1" noEditPoints="1" noAdjustHandles="1" noChangeArrowheads="1" noChangeShapeType="1" noTextEdit="1"/>
                  </p:cNvSpPr>
                  <p:nvPr/>
                </p:nvSpPr>
                <p:spPr>
                  <a:xfrm rot="16200000">
                    <a:off x="7396440" y="4779250"/>
                    <a:ext cx="1943032" cy="246221"/>
                  </a:xfrm>
                  <a:prstGeom prst="rect">
                    <a:avLst/>
                  </a:prstGeom>
                  <a:blipFill>
                    <a:blip r:embed="rId8"/>
                    <a:stretch>
                      <a:fillRect t="-2508" r="-32500" b="-2194"/>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530742811"/>
                  </p:ext>
                </p:extLst>
              </p:nvPr>
            </p:nvGraphicFramePr>
            <p:xfrm>
              <a:off x="203708" y="3570579"/>
              <a:ext cx="8310720" cy="1667129"/>
            </p:xfrm>
            <a:graphic>
              <a:graphicData uri="http://schemas.openxmlformats.org/drawingml/2006/table">
                <a:tbl>
                  <a:tblPr firstRow="1" bandRow="1">
                    <a:tableStyleId>{5940675A-B579-460E-94D1-54222C63F5DA}</a:tableStyleId>
                  </a:tblPr>
                  <a:tblGrid>
                    <a:gridCol w="931889">
                      <a:extLst>
                        <a:ext uri="{9D8B030D-6E8A-4147-A177-3AD203B41FA5}">
                          <a16:colId xmlns:a16="http://schemas.microsoft.com/office/drawing/2014/main" val="2220848039"/>
                        </a:ext>
                      </a:extLst>
                    </a:gridCol>
                    <a:gridCol w="896403">
                      <a:extLst>
                        <a:ext uri="{9D8B030D-6E8A-4147-A177-3AD203B41FA5}">
                          <a16:colId xmlns:a16="http://schemas.microsoft.com/office/drawing/2014/main" val="2517592409"/>
                        </a:ext>
                      </a:extLst>
                    </a:gridCol>
                    <a:gridCol w="2590800">
                      <a:extLst>
                        <a:ext uri="{9D8B030D-6E8A-4147-A177-3AD203B41FA5}">
                          <a16:colId xmlns:a16="http://schemas.microsoft.com/office/drawing/2014/main" val="1542711824"/>
                        </a:ext>
                      </a:extLst>
                    </a:gridCol>
                    <a:gridCol w="2167467">
                      <a:extLst>
                        <a:ext uri="{9D8B030D-6E8A-4147-A177-3AD203B41FA5}">
                          <a16:colId xmlns:a16="http://schemas.microsoft.com/office/drawing/2014/main" val="1951294256"/>
                        </a:ext>
                      </a:extLst>
                    </a:gridCol>
                    <a:gridCol w="1724161">
                      <a:extLst>
                        <a:ext uri="{9D8B030D-6E8A-4147-A177-3AD203B41FA5}">
                          <a16:colId xmlns:a16="http://schemas.microsoft.com/office/drawing/2014/main" val="2486765925"/>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a:txBody>
                        <a:bodyPr/>
                        <a:lstStyle/>
                        <a:p>
                          <a:pPr algn="ctr"/>
                          <a:r>
                            <a:rPr lang="en-US" altLang="zh-TW" i="0" dirty="0"/>
                            <a:t>Mean error</a:t>
                          </a:r>
                          <a:endParaRPr lang="zh-TW" altLang="en-US" i="0" dirty="0"/>
                        </a:p>
                      </a:txBody>
                      <a:tcPr/>
                    </a:tc>
                    <a:extLst>
                      <a:ext uri="{0D108BD9-81ED-4DB2-BD59-A6C34878D82A}">
                        <a16:rowId xmlns:a16="http://schemas.microsoft.com/office/drawing/2014/main" val="3860471253"/>
                      </a:ext>
                    </a:extLst>
                  </a:tr>
                  <a:tr h="370840">
                    <a:tc>
                      <a:txBody>
                        <a:bodyPr/>
                        <a:lstStyle/>
                        <a:p>
                          <a:r>
                            <a:rPr lang="en-US" altLang="zh-TW" dirty="0"/>
                            <a:t>Top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7.9804%</a:t>
                          </a:r>
                          <a:endParaRPr lang="zh-TW" altLang="en-US" dirty="0"/>
                        </a:p>
                      </a:txBody>
                      <a:tcPr/>
                    </a:tc>
                    <a:tc>
                      <a:txBody>
                        <a:bodyPr/>
                        <a:lstStyle/>
                        <a:p>
                          <a:pPr algn="ctr"/>
                          <a:r>
                            <a:rPr lang="en-US" altLang="zh-TW" dirty="0"/>
                            <a:t>10.2452mT</a:t>
                          </a:r>
                          <a:endParaRPr lang="zh-TW" altLang="en-US" dirty="0"/>
                        </a:p>
                      </a:txBody>
                      <a:tcPr/>
                    </a:tc>
                    <a:tc>
                      <a:txBody>
                        <a:bodyPr/>
                        <a:lstStyle/>
                        <a:p>
                          <a:pPr algn="ctr"/>
                          <a:r>
                            <a:rPr lang="en-US" altLang="zh-TW" dirty="0"/>
                            <a:t>0.0277mT</a:t>
                          </a:r>
                          <a:endParaRPr lang="zh-TW" altLang="en-US" dirty="0"/>
                        </a:p>
                      </a:txBody>
                      <a:tcPr/>
                    </a:tc>
                    <a:extLst>
                      <a:ext uri="{0D108BD9-81ED-4DB2-BD59-A6C34878D82A}">
                        <a16:rowId xmlns:a16="http://schemas.microsoft.com/office/drawing/2014/main" val="142448062"/>
                      </a:ext>
                    </a:extLst>
                  </a:tr>
                  <a:tr h="370840">
                    <a:tc>
                      <a:txBody>
                        <a:bodyPr/>
                        <a:lstStyle/>
                        <a:p>
                          <a:r>
                            <a:rPr lang="en-US" altLang="zh-TW" dirty="0"/>
                            <a:t>Bottom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0.7326%</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0.0441mT</a:t>
                          </a:r>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530742811"/>
                  </p:ext>
                </p:extLst>
              </p:nvPr>
            </p:nvGraphicFramePr>
            <p:xfrm>
              <a:off x="203708" y="3570579"/>
              <a:ext cx="8310720" cy="1667129"/>
            </p:xfrm>
            <a:graphic>
              <a:graphicData uri="http://schemas.openxmlformats.org/drawingml/2006/table">
                <a:tbl>
                  <a:tblPr firstRow="1" bandRow="1">
                    <a:tableStyleId>{5940675A-B579-460E-94D1-54222C63F5DA}</a:tableStyleId>
                  </a:tblPr>
                  <a:tblGrid>
                    <a:gridCol w="931889">
                      <a:extLst>
                        <a:ext uri="{9D8B030D-6E8A-4147-A177-3AD203B41FA5}">
                          <a16:colId xmlns:a16="http://schemas.microsoft.com/office/drawing/2014/main" val="2220848039"/>
                        </a:ext>
                      </a:extLst>
                    </a:gridCol>
                    <a:gridCol w="896403">
                      <a:extLst>
                        <a:ext uri="{9D8B030D-6E8A-4147-A177-3AD203B41FA5}">
                          <a16:colId xmlns:a16="http://schemas.microsoft.com/office/drawing/2014/main" val="2517592409"/>
                        </a:ext>
                      </a:extLst>
                    </a:gridCol>
                    <a:gridCol w="2590800">
                      <a:extLst>
                        <a:ext uri="{9D8B030D-6E8A-4147-A177-3AD203B41FA5}">
                          <a16:colId xmlns:a16="http://schemas.microsoft.com/office/drawing/2014/main" val="1542711824"/>
                        </a:ext>
                      </a:extLst>
                    </a:gridCol>
                    <a:gridCol w="2167467">
                      <a:extLst>
                        <a:ext uri="{9D8B030D-6E8A-4147-A177-3AD203B41FA5}">
                          <a16:colId xmlns:a16="http://schemas.microsoft.com/office/drawing/2014/main" val="1951294256"/>
                        </a:ext>
                      </a:extLst>
                    </a:gridCol>
                    <a:gridCol w="1724161">
                      <a:extLst>
                        <a:ext uri="{9D8B030D-6E8A-4147-A177-3AD203B41FA5}">
                          <a16:colId xmlns:a16="http://schemas.microsoft.com/office/drawing/2014/main" val="2486765925"/>
                        </a:ext>
                      </a:extLst>
                    </a:gridCol>
                  </a:tblGrid>
                  <a:tr h="38696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04762" t="-7813" r="-725170" b="-353125"/>
                          </a:stretch>
                        </a:blipFill>
                      </a:tcPr>
                    </a:tc>
                    <a:tc>
                      <a:txBody>
                        <a:bodyPr/>
                        <a:lstStyle/>
                        <a:p>
                          <a:endParaRPr lang="zh-TW"/>
                        </a:p>
                      </a:txBody>
                      <a:tcPr>
                        <a:blipFill>
                          <a:blip r:embed="rId9"/>
                          <a:stretch>
                            <a:fillRect l="-70824" t="-7813" r="-150824" b="-353125"/>
                          </a:stretch>
                        </a:blipFill>
                      </a:tcPr>
                    </a:tc>
                    <a:tc>
                      <a:txBody>
                        <a:bodyPr/>
                        <a:lstStyle/>
                        <a:p>
                          <a:endParaRPr lang="zh-TW"/>
                        </a:p>
                      </a:txBody>
                      <a:tcPr>
                        <a:blipFill>
                          <a:blip r:embed="rId9"/>
                          <a:stretch>
                            <a:fillRect l="-203933" t="-7813" r="-80056" b="-353125"/>
                          </a:stretch>
                        </a:blipFill>
                      </a:tcPr>
                    </a:tc>
                    <a:tc>
                      <a:txBody>
                        <a:bodyPr/>
                        <a:lstStyle/>
                        <a:p>
                          <a:pPr algn="ctr"/>
                          <a:r>
                            <a:rPr lang="en-US" altLang="zh-TW" i="0" dirty="0"/>
                            <a:t>Mean error</a:t>
                          </a:r>
                          <a:endParaRPr lang="zh-TW" altLang="en-US" i="0" dirty="0"/>
                        </a:p>
                      </a:txBody>
                      <a:tcPr/>
                    </a:tc>
                    <a:extLst>
                      <a:ext uri="{0D108BD9-81ED-4DB2-BD59-A6C34878D82A}">
                        <a16:rowId xmlns:a16="http://schemas.microsoft.com/office/drawing/2014/main" val="3860471253"/>
                      </a:ext>
                    </a:extLst>
                  </a:tr>
                  <a:tr h="640080">
                    <a:tc>
                      <a:txBody>
                        <a:bodyPr/>
                        <a:lstStyle/>
                        <a:p>
                          <a:r>
                            <a:rPr lang="en-US" altLang="zh-TW" dirty="0"/>
                            <a:t>Top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7.9804%</a:t>
                          </a:r>
                          <a:endParaRPr lang="zh-TW" altLang="en-US" dirty="0"/>
                        </a:p>
                      </a:txBody>
                      <a:tcPr/>
                    </a:tc>
                    <a:tc>
                      <a:txBody>
                        <a:bodyPr/>
                        <a:lstStyle/>
                        <a:p>
                          <a:pPr algn="ctr"/>
                          <a:r>
                            <a:rPr lang="en-US" altLang="zh-TW" dirty="0"/>
                            <a:t>10.2452mT</a:t>
                          </a:r>
                          <a:endParaRPr lang="zh-TW" altLang="en-US" dirty="0"/>
                        </a:p>
                      </a:txBody>
                      <a:tcPr/>
                    </a:tc>
                    <a:tc>
                      <a:txBody>
                        <a:bodyPr/>
                        <a:lstStyle/>
                        <a:p>
                          <a:pPr algn="ctr"/>
                          <a:r>
                            <a:rPr lang="en-US" altLang="zh-TW" dirty="0"/>
                            <a:t>0.0277mT</a:t>
                          </a:r>
                          <a:endParaRPr lang="zh-TW" altLang="en-US" dirty="0"/>
                        </a:p>
                      </a:txBody>
                      <a:tcPr/>
                    </a:tc>
                    <a:extLst>
                      <a:ext uri="{0D108BD9-81ED-4DB2-BD59-A6C34878D82A}">
                        <a16:rowId xmlns:a16="http://schemas.microsoft.com/office/drawing/2014/main" val="142448062"/>
                      </a:ext>
                    </a:extLst>
                  </a:tr>
                  <a:tr h="640080">
                    <a:tc>
                      <a:txBody>
                        <a:bodyPr/>
                        <a:lstStyle/>
                        <a:p>
                          <a:r>
                            <a:rPr lang="en-US" altLang="zh-TW" dirty="0"/>
                            <a:t>Bottom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0.7326%</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0.0441mT</a:t>
                          </a:r>
                          <a:endParaRPr lang="zh-TW" altLang="en-US" dirty="0"/>
                        </a:p>
                      </a:txBody>
                      <a:tcPr/>
                    </a:tc>
                    <a:extLst>
                      <a:ext uri="{0D108BD9-81ED-4DB2-BD59-A6C34878D82A}">
                        <a16:rowId xmlns:a16="http://schemas.microsoft.com/office/drawing/2014/main" val="1327120116"/>
                      </a:ext>
                    </a:extLst>
                  </a:tr>
                </a:tbl>
              </a:graphicData>
            </a:graphic>
          </p:graphicFrame>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4DE95F52-EE17-4F7F-8E9E-EA06983672A7}"/>
                  </a:ext>
                </a:extLst>
              </p:cNvPr>
              <p:cNvSpPr txBox="1"/>
              <p:nvPr/>
            </p:nvSpPr>
            <p:spPr>
              <a:xfrm>
                <a:off x="149923" y="5326442"/>
                <a:ext cx="3078535" cy="1074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14082</m:t>
                          </m:r>
                        </m:num>
                        <m:den>
                          <m:r>
                            <a:rPr lang="en-US" altLang="zh-TW" b="0" i="1" smtClean="0">
                              <a:latin typeface="Cambria Math" panose="02040503050406030204" pitchFamily="18" charset="0"/>
                            </a:rPr>
                            <m:t>1771</m:t>
                          </m:r>
                        </m:den>
                      </m:f>
                      <m:r>
                        <a:rPr lang="en-US" altLang="zh-TW" b="0" i="1" smtClean="0">
                          <a:latin typeface="Cambria Math" panose="02040503050406030204" pitchFamily="18" charset="0"/>
                        </a:rPr>
                        <m:t>=7.95  ,</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7.9804</m:t>
                          </m:r>
                        </m:num>
                        <m:den>
                          <m:r>
                            <a:rPr lang="en-US" altLang="zh-TW" b="0" i="1" smtClean="0">
                              <a:latin typeface="Cambria Math" panose="02040503050406030204" pitchFamily="18" charset="0"/>
                            </a:rPr>
                            <m:t>0.7326</m:t>
                          </m:r>
                        </m:den>
                      </m:f>
                      <m:r>
                        <a:rPr lang="en-US" altLang="zh-TW" b="0" i="1" smtClean="0">
                          <a:latin typeface="Cambria Math" panose="02040503050406030204" pitchFamily="18" charset="0"/>
                        </a:rPr>
                        <m:t>=10.9</m:t>
                      </m:r>
                    </m:oMath>
                  </m:oMathPara>
                </a14:m>
                <a:endParaRPr lang="en-US" altLang="zh-TW" b="0" dirty="0"/>
              </a:p>
              <a:p>
                <a:endParaRPr lang="en-US" altLang="zh-TW" dirty="0"/>
              </a:p>
              <a:p>
                <a:endParaRPr lang="zh-TW" altLang="en-US" dirty="0"/>
              </a:p>
            </p:txBody>
          </p:sp>
        </mc:Choice>
        <mc:Fallback xmlns="">
          <p:sp>
            <p:nvSpPr>
              <p:cNvPr id="22" name="文字方塊 21">
                <a:extLst>
                  <a:ext uri="{FF2B5EF4-FFF2-40B4-BE49-F238E27FC236}">
                    <a16:creationId xmlns:a16="http://schemas.microsoft.com/office/drawing/2014/main" id="{4DE95F52-EE17-4F7F-8E9E-EA06983672A7}"/>
                  </a:ext>
                </a:extLst>
              </p:cNvPr>
              <p:cNvSpPr txBox="1">
                <a:spLocks noRot="1" noChangeAspect="1" noMove="1" noResize="1" noEditPoints="1" noAdjustHandles="1" noChangeArrowheads="1" noChangeShapeType="1" noTextEdit="1"/>
              </p:cNvSpPr>
              <p:nvPr/>
            </p:nvSpPr>
            <p:spPr>
              <a:xfrm>
                <a:off x="149923" y="5326442"/>
                <a:ext cx="3078535" cy="1074397"/>
              </a:xfrm>
              <a:prstGeom prst="rect">
                <a:avLst/>
              </a:prstGeom>
              <a:blipFill>
                <a:blip r:embed="rId10"/>
                <a:stretch>
                  <a:fillRect/>
                </a:stretch>
              </a:blipFill>
            </p:spPr>
            <p:txBody>
              <a:bodyPr/>
              <a:lstStyle/>
              <a:p>
                <a:r>
                  <a:rPr lang="zh-TW" altLang="en-US">
                    <a:noFill/>
                  </a:rPr>
                  <a:t> </a:t>
                </a:r>
              </a:p>
            </p:txBody>
          </p:sp>
        </mc:Fallback>
      </mc:AlternateContent>
      <p:sp>
        <p:nvSpPr>
          <p:cNvPr id="41" name="文字方塊 40">
            <a:extLst>
              <a:ext uri="{FF2B5EF4-FFF2-40B4-BE49-F238E27FC236}">
                <a16:creationId xmlns:a16="http://schemas.microsoft.com/office/drawing/2014/main" id="{637BCB09-25D3-4AAB-A541-35EC44243A85}"/>
              </a:ext>
            </a:extLst>
          </p:cNvPr>
          <p:cNvSpPr txBox="1"/>
          <p:nvPr/>
        </p:nvSpPr>
        <p:spPr>
          <a:xfrm>
            <a:off x="66211" y="5888239"/>
            <a:ext cx="8419886" cy="923330"/>
          </a:xfrm>
          <a:prstGeom prst="rect">
            <a:avLst/>
          </a:prstGeom>
          <a:noFill/>
        </p:spPr>
        <p:txBody>
          <a:bodyPr wrap="square">
            <a:spAutoFit/>
          </a:bodyPr>
          <a:lstStyle/>
          <a:p>
            <a:r>
              <a:rPr lang="en-US" altLang="zh-TW" dirty="0"/>
              <a:t>Under the condition of equal area, a peak height that is 1.37 times lower is equivalent to an effective distribution width that is 1.37 times wider (48.07 vs. 35.09 µT). This difference arises from the use of different calibration models.</a:t>
            </a:r>
            <a:endParaRPr lang="zh-TW" altLang="en-US" dirty="0"/>
          </a:p>
        </p:txBody>
      </p:sp>
    </p:spTree>
    <p:extLst>
      <p:ext uri="{BB962C8B-B14F-4D97-AF65-F5344CB8AC3E}">
        <p14:creationId xmlns:p14="http://schemas.microsoft.com/office/powerpoint/2010/main" val="3056572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2" name="文字方塊 11">
            <a:extLst>
              <a:ext uri="{FF2B5EF4-FFF2-40B4-BE49-F238E27FC236}">
                <a16:creationId xmlns:a16="http://schemas.microsoft.com/office/drawing/2014/main" id="{A6270A5D-701A-4351-8D05-13126AF56E37}"/>
              </a:ext>
            </a:extLst>
          </p:cNvPr>
          <p:cNvSpPr txBox="1"/>
          <p:nvPr/>
        </p:nvSpPr>
        <p:spPr>
          <a:xfrm>
            <a:off x="103717" y="617796"/>
            <a:ext cx="5632407" cy="286232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conveys the sensing concept: the Hall sensor measures the pole's leakage flux. The </a:t>
            </a:r>
            <a:r>
              <a:rPr lang="en-US" altLang="zh-TW" dirty="0" err="1"/>
              <a:t>colour</a:t>
            </a:r>
            <a:r>
              <a:rPr lang="en-US" altLang="zh-TW" dirty="0"/>
              <a:t>-coded arrows show the flux </a:t>
            </a:r>
            <a:r>
              <a:rPr lang="en-US" altLang="zh-TW" dirty="0" err="1"/>
              <a:t>channelled</a:t>
            </a:r>
            <a:r>
              <a:rPr lang="en-US" altLang="zh-TW" dirty="0"/>
              <a:t> inside the cone toward the tip, while the dashed arrows around the pole are the part that escapes through the lateral surface and returns through the air. The sensor (green patch) is mounted on that surface, so it sits in the leakage field rather than in the field between the tips, and the red arrow n⁺ marks the positive sense of what it reads (</a:t>
            </a:r>
            <a:r>
              <a:rPr lang="en-US" altLang="zh-TW" dirty="0" err="1"/>
              <a:t>b·n</a:t>
            </a:r>
            <a:r>
              <a:rPr lang="en-US" altLang="zh-TW" dirty="0"/>
              <a:t>⁺).</a:t>
            </a:r>
            <a:endParaRPr lang="zh-TW" altLang="en-US" dirty="0"/>
          </a:p>
        </p:txBody>
      </p:sp>
    </p:spTree>
    <p:extLst>
      <p:ext uri="{BB962C8B-B14F-4D97-AF65-F5344CB8AC3E}">
        <p14:creationId xmlns:p14="http://schemas.microsoft.com/office/powerpoint/2010/main" val="372406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3" name="文字方塊 12">
            <a:extLst>
              <a:ext uri="{FF2B5EF4-FFF2-40B4-BE49-F238E27FC236}">
                <a16:creationId xmlns:a16="http://schemas.microsoft.com/office/drawing/2014/main" id="{07D0BEBD-A632-4258-A649-75AA4269318D}"/>
              </a:ext>
            </a:extLst>
          </p:cNvPr>
          <p:cNvSpPr txBox="1"/>
          <p:nvPr/>
        </p:nvSpPr>
        <p:spPr>
          <a:xfrm>
            <a:off x="27458" y="425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 area</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789F05BF-8DE1-4EC6-87D7-D20943E065CD}"/>
                  </a:ext>
                </a:extLst>
              </p:cNvPr>
              <p:cNvSpPr txBox="1"/>
              <p:nvPr/>
            </p:nvSpPr>
            <p:spPr>
              <a:xfrm>
                <a:off x="152401" y="922869"/>
                <a:ext cx="5232404" cy="5620385"/>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𝑅</m:t>
                        </m:r>
                      </m:e>
                      <m:sub>
                        <m:r>
                          <a:rPr lang="en-US" altLang="zh-TW" b="0" i="1" smtClean="0">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2</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zh-TW" altLang="en-US" b="0" i="1" smtClean="0">
                              <a:latin typeface="Cambria Math" panose="02040503050406030204" pitchFamily="18" charset="0"/>
                            </a:rPr>
                            <m:t>𝜋</m:t>
                          </m:r>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den>
                      </m:f>
                      <m:r>
                        <a:rPr lang="en-US" altLang="zh-TW" b="0" i="1" smtClean="0">
                          <a:latin typeface="Cambria Math" panose="02040503050406030204" pitchFamily="18" charset="0"/>
                        </a:rPr>
                        <m:t>(2</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𝜃</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h</m:t>
                          </m:r>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𝑧</m:t>
                              </m:r>
                            </m:sub>
                          </m:sSub>
                        </m:den>
                      </m:f>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−0.5)</m:t>
                      </m:r>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𝑧</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5" name="文字方塊 4">
                <a:extLst>
                  <a:ext uri="{FF2B5EF4-FFF2-40B4-BE49-F238E27FC236}">
                    <a16:creationId xmlns:a16="http://schemas.microsoft.com/office/drawing/2014/main" id="{789F05BF-8DE1-4EC6-87D7-D20943E065CD}"/>
                  </a:ext>
                </a:extLst>
              </p:cNvPr>
              <p:cNvSpPr txBox="1">
                <a:spLocks noRot="1" noChangeAspect="1" noMove="1" noResize="1" noEditPoints="1" noAdjustHandles="1" noChangeArrowheads="1" noChangeShapeType="1" noTextEdit="1"/>
              </p:cNvSpPr>
              <p:nvPr/>
            </p:nvSpPr>
            <p:spPr>
              <a:xfrm>
                <a:off x="152401" y="922869"/>
                <a:ext cx="5232404" cy="5620385"/>
              </a:xfrm>
              <a:prstGeom prst="rect">
                <a:avLst/>
              </a:prstGeom>
              <a:blipFill>
                <a:blip r:embed="rId2"/>
                <a:stretch>
                  <a:fillRect l="-932" t="-54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CE49929-F69A-421F-B19A-AE8B11C06BB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6" name="文字方塊 5">
                <a:extLst>
                  <a:ext uri="{FF2B5EF4-FFF2-40B4-BE49-F238E27FC236}">
                    <a16:creationId xmlns:a16="http://schemas.microsoft.com/office/drawing/2014/main" id="{2CE49929-F69A-421F-B19A-AE8B11C06BB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51972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3" name="文字方塊 12">
            <a:extLst>
              <a:ext uri="{FF2B5EF4-FFF2-40B4-BE49-F238E27FC236}">
                <a16:creationId xmlns:a16="http://schemas.microsoft.com/office/drawing/2014/main" id="{07D0BEBD-A632-4258-A649-75AA4269318D}"/>
              </a:ext>
            </a:extLst>
          </p:cNvPr>
          <p:cNvSpPr txBox="1"/>
          <p:nvPr/>
        </p:nvSpPr>
        <p:spPr>
          <a:xfrm>
            <a:off x="27458" y="425713"/>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sensor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82D307D2-6DAC-4D7E-9C83-F22C31911AA3}"/>
                  </a:ext>
                </a:extLst>
              </p:cNvPr>
              <p:cNvSpPr txBox="1"/>
              <p:nvPr/>
            </p:nvSpPr>
            <p:spPr>
              <a:xfrm>
                <a:off x="146051" y="795045"/>
                <a:ext cx="11430000" cy="3624775"/>
              </a:xfrm>
              <a:prstGeom prst="rect">
                <a:avLst/>
              </a:prstGeom>
              <a:noFill/>
            </p:spPr>
            <p:txBody>
              <a:bodyPr wrap="square" rtlCol="0">
                <a:spAutoFit/>
              </a:bodyPr>
              <a:lstStyle/>
              <a:p>
                <a:pPr marL="342900" indent="-342900">
                  <a:buFont typeface="+mj-lt"/>
                  <a:buAutoNum type="arabicPeriod"/>
                </a:pPr>
                <a:r>
                  <a:rPr lang="en-US" altLang="zh-TW" dirty="0"/>
                  <a:t>Initial Setup</a:t>
                </a:r>
                <a:r>
                  <a:rPr lang="zh-TW" altLang="en-US" dirty="0"/>
                  <a:t> </a:t>
                </a:r>
                <a14:m>
                  <m:oMath xmlns:m="http://schemas.openxmlformats.org/officeDocument/2006/math">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r>
                      <a:rPr lang="en-US" altLang="zh-TW" b="0" i="1" smtClean="0">
                        <a:latin typeface="Cambria Math" panose="02040503050406030204" pitchFamily="18" charset="0"/>
                      </a:rPr>
                      <m:t>]=[1 3 2]</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Ratio of the Three Parameters</a:t>
                </a:r>
                <a14:m>
                  <m:oMath xmlns:m="http://schemas.openxmlformats.org/officeDocument/2006/math">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i="1">
                            <a:latin typeface="Cambria Math" panose="02040503050406030204" pitchFamily="18" charset="0"/>
                          </a:rPr>
                          <m:t>𝑟</m:t>
                        </m:r>
                      </m:sub>
                    </m:sSub>
                    <m:r>
                      <m:rPr>
                        <m:nor/>
                      </m:rPr>
                      <a:rPr lang="en-US" altLang="zh-TW" dirty="0"/>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r>
                      <m:rPr>
                        <m:nor/>
                      </m:rPr>
                      <a:rPr lang="en-US" altLang="zh-TW" dirty="0"/>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r>
                      <a:rPr lang="en-US" altLang="zh-TW" i="1">
                        <a:latin typeface="Cambria Math" panose="02040503050406030204" pitchFamily="18" charset="0"/>
                      </a:rPr>
                      <m:t>]</m:t>
                    </m:r>
                    <m:r>
                      <a:rPr lang="en-US" altLang="zh-TW" i="1" smtClean="0">
                        <a:latin typeface="Cambria Math" panose="02040503050406030204" pitchFamily="18" charset="0"/>
                        <a:ea typeface="Cambria Math" panose="02040503050406030204" pitchFamily="18" charset="0"/>
                      </a:rPr>
                      <m:t>=</m:t>
                    </m:r>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 1 2</m:t>
                        </m:r>
                        <m:r>
                          <a:rPr lang="zh-TW" altLang="en-US" b="0" i="1" smtClean="0">
                            <a:latin typeface="Cambria Math" panose="02040503050406030204" pitchFamily="18" charset="0"/>
                            <a:ea typeface="Cambria Math" panose="02040503050406030204" pitchFamily="18" charset="0"/>
                          </a:rPr>
                          <m:t>𝜋</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𝐻</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𝑅</m:t>
                                </m:r>
                              </m:e>
                              <m:sub>
                                <m:r>
                                  <a:rPr lang="en-US" altLang="zh-TW" b="0" i="1" smtClean="0">
                                    <a:latin typeface="Cambria Math" panose="02040503050406030204" pitchFamily="18" charset="0"/>
                                    <a:ea typeface="Cambria Math" panose="02040503050406030204" pitchFamily="18" charset="0"/>
                                  </a:rPr>
                                  <m:t>𝑠</m:t>
                                </m:r>
                              </m:sub>
                            </m:sSub>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r>
                                  <a:rPr lang="en-US" altLang="zh-TW" b="0" i="1" smtClean="0">
                                    <a:latin typeface="Cambria Math" panose="02040503050406030204" pitchFamily="18" charset="0"/>
                                    <a:ea typeface="Cambria Math" panose="02040503050406030204" pitchFamily="18" charset="0"/>
                                  </a:rPr>
                                  <m:t>2</m:t>
                                </m:r>
                              </m:e>
                            </m:rad>
                          </m:den>
                        </m:f>
                      </m:e>
                    </m:d>
                  </m:oMath>
                </a14:m>
                <a:r>
                  <a:rPr lang="zh-TW" altLang="en-US" b="0" dirty="0">
                    <a:ea typeface="Cambria Math" panose="02040503050406030204" pitchFamily="18" charset="0"/>
                  </a:rPr>
                  <a:t>，</a:t>
                </a:r>
                <a:r>
                  <a:rPr lang="en-US" altLang="zh-TW" dirty="0"/>
                  <a:t>where H=0.1mm is the height of the sensing region, and </a:t>
                </a:r>
                <a14:m>
                  <m:oMath xmlns:m="http://schemas.openxmlformats.org/officeDocument/2006/math">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i="1">
                        <a:latin typeface="Cambria Math" panose="02040503050406030204" pitchFamily="18" charset="0"/>
                        <a:ea typeface="Cambria Math" panose="02040503050406030204" pitchFamily="18" charset="0"/>
                      </a:rPr>
                      <m:t> </m:t>
                    </m:r>
                  </m:oMath>
                </a14:m>
                <a:r>
                  <a:rPr lang="en-US" altLang="zh-TW" dirty="0"/>
                  <a:t>=0.15mm is the radius of the sensing region.</a:t>
                </a:r>
                <a:endParaRPr lang="en-US" altLang="zh-TW" b="0" dirty="0">
                  <a:ea typeface="Cambria Math" panose="02040503050406030204" pitchFamily="18" charset="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Calculation at Each Step </a:t>
                </a:r>
                <a14:m>
                  <m:oMath xmlns:m="http://schemas.openxmlformats.org/officeDocument/2006/math">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num>
                      <m:den>
                        <m:r>
                          <a:rPr lang="en-US" altLang="zh-TW" b="0" i="1" smtClean="0">
                            <a:latin typeface="Cambria Math" panose="02040503050406030204" pitchFamily="18" charset="0"/>
                          </a:rPr>
                          <m:t>1</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smtClean="0">
                                <a:latin typeface="Cambria Math" panose="02040503050406030204" pitchFamily="18" charset="0"/>
                              </a:rPr>
                              <m:t>𝜃</m:t>
                            </m:r>
                          </m:sub>
                        </m:sSub>
                      </m:num>
                      <m:den>
                        <m:r>
                          <a:rPr lang="en-US" altLang="zh-TW" b="0" i="1" smtClean="0">
                            <a:latin typeface="Cambria Math" panose="02040503050406030204" pitchFamily="18" charset="0"/>
                          </a:rPr>
                          <m:t>2</m:t>
                        </m:r>
                        <m:r>
                          <a:rPr lang="zh-TW" altLang="en-US" i="1">
                            <a:latin typeface="Cambria Math" panose="02040503050406030204" pitchFamily="18" charset="0"/>
                            <a:ea typeface="Cambria Math" panose="02040503050406030204" pitchFamily="18" charset="0"/>
                          </a:rPr>
                          <m:t>𝜋</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n-US" altLang="zh-TW" b="0" i="1" smtClean="0">
                                <a:latin typeface="Cambria Math" panose="02040503050406030204" pitchFamily="18" charset="0"/>
                              </a:rPr>
                              <m:t>𝑧</m:t>
                            </m:r>
                          </m:sub>
                        </m:sSub>
                      </m:num>
                      <m:den>
                        <m:r>
                          <a:rPr lang="en-US" altLang="zh-TW" i="1">
                            <a:latin typeface="Cambria Math" panose="02040503050406030204" pitchFamily="18" charset="0"/>
                            <a:ea typeface="Cambria Math" panose="02040503050406030204" pitchFamily="18" charset="0"/>
                          </a:rPr>
                          <m:t>(</m:t>
                        </m:r>
                        <m:f>
                          <m:fPr>
                            <m:type m:val="lin"/>
                            <m:ctrlPr>
                              <a:rPr lang="en-US" altLang="zh-TW" i="1">
                                <a:latin typeface="Cambria Math" panose="02040503050406030204" pitchFamily="18" charset="0"/>
                                <a:ea typeface="Cambria Math" panose="02040503050406030204" pitchFamily="18" charset="0"/>
                              </a:rPr>
                            </m:ctrlPr>
                          </m:fPr>
                          <m:num>
                            <m:r>
                              <a:rPr lang="en-US" altLang="zh-TW" i="1">
                                <a:latin typeface="Cambria Math" panose="02040503050406030204" pitchFamily="18" charset="0"/>
                                <a:ea typeface="Cambria Math" panose="02040503050406030204" pitchFamily="18" charset="0"/>
                              </a:rPr>
                              <m:t>𝐻</m:t>
                            </m:r>
                          </m:num>
                          <m:den>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𝑅</m:t>
                                </m:r>
                              </m:e>
                              <m:sub>
                                <m:r>
                                  <a:rPr lang="en-US" altLang="zh-TW" i="1">
                                    <a:latin typeface="Cambria Math" panose="02040503050406030204" pitchFamily="18" charset="0"/>
                                    <a:ea typeface="Cambria Math" panose="02040503050406030204" pitchFamily="18" charset="0"/>
                                  </a:rPr>
                                  <m:t>𝑠</m:t>
                                </m:r>
                              </m:sub>
                            </m:sSub>
                            <m:r>
                              <a:rPr lang="en-US" altLang="zh-TW" i="1">
                                <a:latin typeface="Cambria Math" panose="02040503050406030204" pitchFamily="18" charset="0"/>
                                <a:ea typeface="Cambria Math" panose="02040503050406030204" pitchFamily="18" charset="0"/>
                              </a:rPr>
                              <m:t>)</m:t>
                            </m:r>
                            <m:rad>
                              <m:radPr>
                                <m:degHide m:val="on"/>
                                <m:ctrlPr>
                                  <a:rPr lang="en-US" altLang="zh-TW" i="1">
                                    <a:latin typeface="Cambria Math" panose="02040503050406030204" pitchFamily="18" charset="0"/>
                                    <a:ea typeface="Cambria Math" panose="02040503050406030204" pitchFamily="18" charset="0"/>
                                  </a:rPr>
                                </m:ctrlPr>
                              </m:radPr>
                              <m:deg/>
                              <m:e>
                                <m:r>
                                  <a:rPr lang="en-US" altLang="zh-TW" i="1">
                                    <a:latin typeface="Cambria Math" panose="02040503050406030204" pitchFamily="18" charset="0"/>
                                    <a:ea typeface="Cambria Math" panose="02040503050406030204" pitchFamily="18" charset="0"/>
                                  </a:rPr>
                                  <m:t>2</m:t>
                                </m:r>
                              </m:e>
                            </m:rad>
                          </m:den>
                        </m:f>
                      </m:den>
                    </m:f>
                    <m:r>
                      <a:rPr lang="en-US" altLang="zh-TW" b="0" i="1" smtClean="0">
                        <a:latin typeface="Cambria Math" panose="02040503050406030204" pitchFamily="18" charset="0"/>
                      </a:rPr>
                      <m:t>]</m:t>
                    </m:r>
                    <m:r>
                      <a:rPr lang="zh-TW" altLang="en-US" i="1">
                        <a:latin typeface="Cambria Math" panose="02040503050406030204" pitchFamily="18" charset="0"/>
                      </a:rPr>
                      <m:t>，</m:t>
                    </m:r>
                    <m:r>
                      <m:rPr>
                        <m:nor/>
                      </m:rPr>
                      <a:rPr lang="en-US" altLang="zh-TW"/>
                      <m:t>Increment</m:t>
                    </m:r>
                    <m:r>
                      <m:rPr>
                        <m:nor/>
                      </m:rPr>
                      <a:rPr lang="en-US" altLang="zh-TW"/>
                      <m:t> </m:t>
                    </m:r>
                    <m:r>
                      <m:rPr>
                        <m:nor/>
                      </m:rPr>
                      <a:rPr lang="en-US" altLang="zh-TW"/>
                      <m:t>the</m:t>
                    </m:r>
                    <m:r>
                      <m:rPr>
                        <m:nor/>
                      </m:rPr>
                      <a:rPr lang="en-US" altLang="zh-TW"/>
                      <m:t> </m:t>
                    </m:r>
                    <m:r>
                      <m:rPr>
                        <m:nor/>
                      </m:rPr>
                      <a:rPr lang="en-US" altLang="zh-TW"/>
                      <m:t>field</m:t>
                    </m:r>
                    <m:r>
                      <m:rPr>
                        <m:nor/>
                      </m:rPr>
                      <a:rPr lang="en-US" altLang="zh-TW"/>
                      <m:t> </m:t>
                    </m:r>
                    <m:r>
                      <m:rPr>
                        <m:nor/>
                      </m:rPr>
                      <a:rPr lang="en-US" altLang="zh-TW"/>
                      <m:t>corresponding</m:t>
                    </m:r>
                    <m:r>
                      <m:rPr>
                        <m:nor/>
                      </m:rPr>
                      <a:rPr lang="en-US" altLang="zh-TW"/>
                      <m:t> </m:t>
                    </m:r>
                    <m:r>
                      <m:rPr>
                        <m:nor/>
                      </m:rPr>
                      <a:rPr lang="en-US" altLang="zh-TW"/>
                      <m:t>to</m:t>
                    </m:r>
                    <m:r>
                      <m:rPr>
                        <m:nor/>
                      </m:rPr>
                      <a:rPr lang="en-US" altLang="zh-TW"/>
                      <m:t> </m:t>
                    </m:r>
                    <m:r>
                      <m:rPr>
                        <m:nor/>
                      </m:rPr>
                      <a:rPr lang="en-US" altLang="zh-TW"/>
                      <m:t>the</m:t>
                    </m:r>
                    <m:r>
                      <m:rPr>
                        <m:nor/>
                      </m:rPr>
                      <a:rPr lang="en-US" altLang="zh-TW"/>
                      <m:t> </m:t>
                    </m:r>
                    <m:r>
                      <m:rPr>
                        <m:nor/>
                      </m:rPr>
                      <a:rPr lang="en-US" altLang="zh-TW"/>
                      <m:t>smallest</m:t>
                    </m:r>
                    <m:r>
                      <m:rPr>
                        <m:nor/>
                      </m:rPr>
                      <a:rPr lang="en-US" altLang="zh-TW"/>
                      <m:t> </m:t>
                    </m:r>
                    <m:r>
                      <m:rPr>
                        <m:nor/>
                      </m:rPr>
                      <a:rPr lang="en-US" altLang="zh-TW"/>
                      <m:t>quotient</m:t>
                    </m:r>
                    <m:r>
                      <m:rPr>
                        <m:nor/>
                      </m:rPr>
                      <a:rPr lang="en-US" altLang="zh-TW"/>
                      <m:t> </m:t>
                    </m:r>
                    <m:r>
                      <m:rPr>
                        <m:nor/>
                      </m:rPr>
                      <a:rPr lang="en-US" altLang="zh-TW"/>
                      <m:t>by</m:t>
                    </m:r>
                    <m:r>
                      <m:rPr>
                        <m:nor/>
                      </m:rPr>
                      <a:rPr lang="en-US" altLang="zh-TW"/>
                      <m:t> 1 </m:t>
                    </m:r>
                    <m:r>
                      <m:rPr>
                        <m:nor/>
                      </m:rPr>
                      <a:rPr lang="en-US" altLang="zh-TW"/>
                      <m:t>until</m:t>
                    </m:r>
                    <m:r>
                      <m:rPr>
                        <m:nor/>
                      </m:rPr>
                      <a:rPr lang="en-US" altLang="zh-TW"/>
                      <m:t> </m:t>
                    </m:r>
                    <m:r>
                      <m:rPr>
                        <m:nor/>
                      </m:rPr>
                      <a:rPr lang="en-US" altLang="zh-TW"/>
                      <m:t>a</m:t>
                    </m:r>
                    <m:r>
                      <m:rPr>
                        <m:nor/>
                      </m:rPr>
                      <a:rPr lang="en-US" altLang="zh-TW"/>
                      <m:t> </m:t>
                    </m:r>
                    <m:r>
                      <m:rPr>
                        <m:nor/>
                      </m:rPr>
                      <a:rPr lang="en-US" altLang="zh-TW"/>
                      <m:t>point</m:t>
                    </m:r>
                    <m:r>
                      <m:rPr>
                        <m:nor/>
                      </m:rPr>
                      <a:rPr lang="en-US" altLang="zh-TW"/>
                      <m:t>−</m:t>
                    </m:r>
                    <m:r>
                      <m:rPr>
                        <m:nor/>
                      </m:rPr>
                      <a:rPr lang="en-US" altLang="zh-TW"/>
                      <m:t>count</m:t>
                    </m:r>
                    <m:r>
                      <m:rPr>
                        <m:nor/>
                      </m:rPr>
                      <a:rPr lang="en-US" altLang="zh-TW"/>
                      <m:t> </m:t>
                    </m:r>
                    <m:r>
                      <m:rPr>
                        <m:nor/>
                      </m:rPr>
                      <a:rPr lang="en-US" altLang="zh-TW"/>
                      <m:t>combination</m:t>
                    </m:r>
                    <m:r>
                      <m:rPr>
                        <m:nor/>
                      </m:rPr>
                      <a:rPr lang="en-US" altLang="zh-TW"/>
                      <m:t> </m:t>
                    </m:r>
                    <m:r>
                      <m:rPr>
                        <m:nor/>
                      </m:rPr>
                      <a:rPr lang="en-US" altLang="zh-TW"/>
                      <m:t>satisfying</m:t>
                    </m:r>
                    <m:r>
                      <m:rPr>
                        <m:nor/>
                      </m:rPr>
                      <a:rPr lang="en-US" altLang="zh-TW"/>
                      <m:t> </m:t>
                    </m:r>
                    <m:r>
                      <m:rPr>
                        <m:nor/>
                      </m:rPr>
                      <a:rPr lang="en-US" altLang="zh-TW"/>
                      <m:t>the</m:t>
                    </m:r>
                    <m:r>
                      <m:rPr>
                        <m:nor/>
                      </m:rPr>
                      <a:rPr lang="en-US" altLang="zh-TW"/>
                      <m:t> </m:t>
                    </m:r>
                    <m:r>
                      <m:rPr>
                        <m:nor/>
                      </m:rPr>
                      <a:rPr lang="en-US" altLang="zh-TW"/>
                      <m:t>criteria</m:t>
                    </m:r>
                    <m:r>
                      <m:rPr>
                        <m:nor/>
                      </m:rPr>
                      <a:rPr lang="en-US" altLang="zh-TW"/>
                      <m:t> </m:t>
                    </m:r>
                    <m:r>
                      <m:rPr>
                        <m:nor/>
                      </m:rPr>
                      <a:rPr lang="en-US" altLang="zh-TW"/>
                      <m:t>is</m:t>
                    </m:r>
                    <m:r>
                      <m:rPr>
                        <m:nor/>
                      </m:rPr>
                      <a:rPr lang="en-US" altLang="zh-TW"/>
                      <m:t> </m:t>
                    </m:r>
                    <m:r>
                      <m:rPr>
                        <m:nor/>
                      </m:rPr>
                      <a:rPr lang="en-US" altLang="zh-TW"/>
                      <m:t>found</m:t>
                    </m:r>
                    <m:r>
                      <m:rPr>
                        <m:nor/>
                      </m:rPr>
                      <a:rPr lang="en-US" altLang="zh-TW"/>
                      <m:t>.</m:t>
                    </m:r>
                  </m:oMath>
                </a14:m>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zh-TW" altLang="en-US" dirty="0"/>
              </a:p>
            </p:txBody>
          </p:sp>
        </mc:Choice>
        <mc:Fallback xmlns="">
          <p:sp>
            <p:nvSpPr>
              <p:cNvPr id="14" name="文字方塊 13">
                <a:extLst>
                  <a:ext uri="{FF2B5EF4-FFF2-40B4-BE49-F238E27FC236}">
                    <a16:creationId xmlns:a16="http://schemas.microsoft.com/office/drawing/2014/main" id="{82D307D2-6DAC-4D7E-9C83-F22C31911AA3}"/>
                  </a:ext>
                </a:extLst>
              </p:cNvPr>
              <p:cNvSpPr txBox="1">
                <a:spLocks noRot="1" noChangeAspect="1" noMove="1" noResize="1" noEditPoints="1" noAdjustHandles="1" noChangeArrowheads="1" noChangeShapeType="1" noTextEdit="1"/>
              </p:cNvSpPr>
              <p:nvPr/>
            </p:nvSpPr>
            <p:spPr>
              <a:xfrm>
                <a:off x="146051" y="795045"/>
                <a:ext cx="11430000" cy="3624775"/>
              </a:xfrm>
              <a:prstGeom prst="rect">
                <a:avLst/>
              </a:prstGeom>
              <a:blipFill>
                <a:blip r:embed="rId2"/>
                <a:stretch>
                  <a:fillRect l="-480" t="-840"/>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293AAAAC-AC97-4CF7-96F2-DD265BF6B6E2}"/>
              </a:ext>
            </a:extLst>
          </p:cNvPr>
          <p:cNvSpPr txBox="1"/>
          <p:nvPr/>
        </p:nvSpPr>
        <p:spPr>
          <a:xfrm>
            <a:off x="233892" y="3860800"/>
            <a:ext cx="11254318" cy="646331"/>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A checkpoint is considered a convergence point if the rates of change of the subsequent ten points relative to their respective preceding points are all less than 0.5%.</a:t>
            </a:r>
            <a:endParaRPr lang="zh-TW" altLang="en-US" dirty="0"/>
          </a:p>
        </p:txBody>
      </p:sp>
    </p:spTree>
    <p:extLst>
      <p:ext uri="{BB962C8B-B14F-4D97-AF65-F5344CB8AC3E}">
        <p14:creationId xmlns:p14="http://schemas.microsoft.com/office/powerpoint/2010/main" val="335783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5" name="群組 4">
            <a:extLst>
              <a:ext uri="{FF2B5EF4-FFF2-40B4-BE49-F238E27FC236}">
                <a16:creationId xmlns:a16="http://schemas.microsoft.com/office/drawing/2014/main" id="{8FE9ABEB-89BC-4168-B129-8FB78DC98D69}"/>
              </a:ext>
            </a:extLst>
          </p:cNvPr>
          <p:cNvGrpSpPr/>
          <p:nvPr/>
        </p:nvGrpSpPr>
        <p:grpSpPr>
          <a:xfrm>
            <a:off x="-34568" y="619043"/>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46812" y="3330318"/>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00" name="CalibV_s_mat"/>
              <p:cNvSpPr txBox="1"/>
              <p:nvPr/>
            </p:nvSpPr>
            <p:spPr>
              <a:xfrm>
                <a:off x="3540707" y="907742"/>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050" b="0" i="1">
                              <a:latin typeface="Cambria Math" panose="02040503050406030204" pitchFamily="18" charset="0"/>
                            </a:rPr>
                          </m:ctrlPr>
                        </m:accPr>
                        <m:e>
                          <m:r>
                            <a:rPr lang="en-US" sz="1050" b="0" i="1">
                              <a:latin typeface="Cambria Math" panose="02040503050406030204" pitchFamily="18" charset="0"/>
                            </a:rPr>
                            <m:t>𝐷</m:t>
                          </m:r>
                        </m:e>
                      </m:acc>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0.8333</m:t>
                                </m:r>
                              </m:e>
                              <m:e>
                                <m:r>
                                  <a:rPr lang="en-US" sz="1050" b="0" i="0">
                                    <a:latin typeface="Cambria Math" panose="02040503050406030204" pitchFamily="18" charset="0"/>
                                  </a:rPr>
                                  <m:t>−0.4091</m:t>
                                </m:r>
                              </m:e>
                              <m:e>
                                <m:r>
                                  <a:rPr lang="en-US" sz="1050" b="0" i="0">
                                    <a:latin typeface="Cambria Math" panose="02040503050406030204" pitchFamily="18" charset="0"/>
                                  </a:rPr>
                                  <m:t>−0.3164</m:t>
                                </m:r>
                              </m:e>
                              <m:e>
                                <m:r>
                                  <a:rPr lang="en-US" sz="1050" b="0" i="0">
                                    <a:latin typeface="Cambria Math" panose="02040503050406030204" pitchFamily="18" charset="0"/>
                                  </a:rPr>
                                  <m:t>−0.3630</m:t>
                                </m:r>
                              </m:e>
                              <m:e>
                                <m:r>
                                  <a:rPr lang="en-US" sz="1050" b="0" i="0">
                                    <a:latin typeface="Cambria Math" panose="02040503050406030204" pitchFamily="18" charset="0"/>
                                  </a:rPr>
                                  <m:t>−0.3643</m:t>
                                </m:r>
                              </m:e>
                              <m:e>
                                <m:r>
                                  <a:rPr lang="en-US" sz="1050" b="0" i="0">
                                    <a:latin typeface="Cambria Math" panose="02040503050406030204" pitchFamily="18" charset="0"/>
                                  </a:rPr>
                                  <m:t>−0.3180</m:t>
                                </m:r>
                              </m:e>
                            </m:mr>
                            <m:mr>
                              <m:e>
                                <m:r>
                                  <a:rPr lang="en-US" sz="1050" b="0" i="0">
                                    <a:latin typeface="Cambria Math" panose="02040503050406030204" pitchFamily="18" charset="0"/>
                                  </a:rPr>
                                  <m:t>−0.1435</m:t>
                                </m:r>
                              </m:e>
                              <m:e>
                                <m:r>
                                  <a:rPr lang="en-US" sz="1050" b="0" i="0">
                                    <a:latin typeface="Cambria Math" panose="02040503050406030204" pitchFamily="18" charset="0"/>
                                  </a:rPr>
                                  <m:t>1.4020</m:t>
                                </m:r>
                              </m:e>
                              <m:e>
                                <m:r>
                                  <a:rPr lang="en-US" sz="1050" b="0" i="0">
                                    <a:latin typeface="Cambria Math" panose="02040503050406030204" pitchFamily="18" charset="0"/>
                                  </a:rPr>
                                  <m:t>−0.0278</m:t>
                                </m:r>
                              </m:e>
                              <m:e>
                                <m:r>
                                  <a:rPr lang="en-US" sz="1050" b="0" i="0">
                                    <a:latin typeface="Cambria Math" panose="02040503050406030204" pitchFamily="18" charset="0"/>
                                  </a:rPr>
                                  <m:t>0.3880</m:t>
                                </m:r>
                              </m:e>
                              <m:e>
                                <m:r>
                                  <a:rPr lang="en-US" sz="1050" b="0" i="0">
                                    <a:latin typeface="Cambria Math" panose="02040503050406030204" pitchFamily="18" charset="0"/>
                                  </a:rPr>
                                  <m:t>0.3952</m:t>
                                </m:r>
                              </m:e>
                              <m:e>
                                <m:r>
                                  <a:rPr lang="en-US" sz="1050" b="0" i="0">
                                    <a:latin typeface="Cambria Math" panose="02040503050406030204" pitchFamily="18" charset="0"/>
                                  </a:rPr>
                                  <m:t>−0.0290</m:t>
                                </m:r>
                              </m:e>
                            </m:mr>
                            <m:mr>
                              <m:e>
                                <m:r>
                                  <a:rPr lang="en-US" sz="1050" b="0" i="0">
                                    <a:latin typeface="Cambria Math" panose="02040503050406030204" pitchFamily="18" charset="0"/>
                                  </a:rPr>
                                  <m:t>−0.3316</m:t>
                                </m:r>
                              </m:e>
                              <m:e>
                                <m:r>
                                  <a:rPr lang="en-US" sz="1050" b="0" i="0">
                                    <a:latin typeface="Cambria Math" panose="02040503050406030204" pitchFamily="18" charset="0"/>
                                  </a:rPr>
                                  <m:t>−0.3895</m:t>
                                </m:r>
                              </m:e>
                              <m:e>
                                <m:r>
                                  <a:rPr lang="en-US" sz="1050" b="0" i="0">
                                    <a:latin typeface="Cambria Math" panose="02040503050406030204" pitchFamily="18" charset="0"/>
                                  </a:rPr>
                                  <m:t>0.8224</m:t>
                                </m:r>
                              </m:e>
                              <m:e>
                                <m:r>
                                  <a:rPr lang="en-US" sz="1050" b="0" i="0">
                                    <a:latin typeface="Cambria Math" panose="02040503050406030204" pitchFamily="18" charset="0"/>
                                  </a:rPr>
                                  <m:t>−0.4285</m:t>
                                </m:r>
                              </m:e>
                              <m:e>
                                <m:r>
                                  <a:rPr lang="en-US" sz="1050" b="0" i="0">
                                    <a:latin typeface="Cambria Math" panose="02040503050406030204" pitchFamily="18" charset="0"/>
                                  </a:rPr>
                                  <m:t>−0.3899</m:t>
                                </m:r>
                              </m:e>
                              <m:e>
                                <m:r>
                                  <a:rPr lang="en-US" sz="1050" b="0" i="0">
                                    <a:latin typeface="Cambria Math" panose="02040503050406030204" pitchFamily="18" charset="0"/>
                                  </a:rPr>
                                  <m:t>−0.3315</m:t>
                                </m:r>
                              </m:e>
                            </m:mr>
                            <m:mr>
                              <m:e>
                                <m:r>
                                  <a:rPr lang="en-US" sz="1050" b="0" i="0">
                                    <a:latin typeface="Cambria Math" panose="02040503050406030204" pitchFamily="18" charset="0"/>
                                  </a:rPr>
                                  <m:t>0.0136</m:t>
                                </m:r>
                              </m:e>
                              <m:e>
                                <m:r>
                                  <a:rPr lang="en-US" sz="1050" b="0" i="0">
                                    <a:latin typeface="Cambria Math" panose="02040503050406030204" pitchFamily="18" charset="0"/>
                                  </a:rPr>
                                  <m:t>0.4566</m:t>
                                </m:r>
                              </m:e>
                              <m:e>
                                <m:r>
                                  <a:rPr lang="en-US" sz="1050" b="0" i="0">
                                    <a:latin typeface="Cambria Math" panose="02040503050406030204" pitchFamily="18" charset="0"/>
                                  </a:rPr>
                                  <m:t>−0.1075</m:t>
                                </m:r>
                              </m:e>
                              <m:e>
                                <m:r>
                                  <a:rPr lang="en-US" sz="1050" b="0" i="0">
                                    <a:latin typeface="Cambria Math" panose="02040503050406030204" pitchFamily="18" charset="0"/>
                                  </a:rPr>
                                  <m:t>1.4521</m:t>
                                </m:r>
                              </m:e>
                              <m:e>
                                <m:r>
                                  <a:rPr lang="en-US" sz="1050" b="0" i="0">
                                    <a:latin typeface="Cambria Math" panose="02040503050406030204" pitchFamily="18" charset="0"/>
                                  </a:rPr>
                                  <m:t>0.4570</m:t>
                                </m:r>
                              </m:e>
                              <m:e>
                                <m:r>
                                  <a:rPr lang="en-US" sz="1050" b="0" i="0">
                                    <a:latin typeface="Cambria Math" panose="02040503050406030204" pitchFamily="18" charset="0"/>
                                  </a:rPr>
                                  <m:t>0.0024</m:t>
                                </m:r>
                              </m:e>
                            </m:mr>
                            <m:mr>
                              <m:e>
                                <m:r>
                                  <a:rPr lang="en-US" sz="1050" b="0" i="0">
                                    <a:latin typeface="Cambria Math" panose="02040503050406030204" pitchFamily="18" charset="0"/>
                                  </a:rPr>
                                  <m:t>0.0122</m:t>
                                </m:r>
                              </m:e>
                              <m:e>
                                <m:r>
                                  <a:rPr lang="en-US" sz="1050" b="0" i="0">
                                    <a:latin typeface="Cambria Math" panose="02040503050406030204" pitchFamily="18" charset="0"/>
                                  </a:rPr>
                                  <m:t>0.4436</m:t>
                                </m:r>
                              </m:e>
                              <m:e>
                                <m:r>
                                  <a:rPr lang="en-US" sz="1050" b="0" i="0">
                                    <a:latin typeface="Cambria Math" panose="02040503050406030204" pitchFamily="18" charset="0"/>
                                  </a:rPr>
                                  <m:t>0.0012</m:t>
                                </m:r>
                              </m:e>
                              <m:e>
                                <m:r>
                                  <a:rPr lang="en-US" sz="1050" b="0" i="0">
                                    <a:latin typeface="Cambria Math" panose="02040503050406030204" pitchFamily="18" charset="0"/>
                                  </a:rPr>
                                  <m:t>0.4406</m:t>
                                </m:r>
                              </m:e>
                              <m:e>
                                <m:r>
                                  <a:rPr lang="en-US" sz="1050" b="0" i="0">
                                    <a:latin typeface="Cambria Math" panose="02040503050406030204" pitchFamily="18" charset="0"/>
                                  </a:rPr>
                                  <m:t>1.4588</m:t>
                                </m:r>
                              </m:e>
                              <m:e>
                                <m:r>
                                  <a:rPr lang="en-US" sz="1050" b="0" i="0">
                                    <a:latin typeface="Cambria Math" panose="02040503050406030204" pitchFamily="18" charset="0"/>
                                  </a:rPr>
                                  <m:t>−0.1197</m:t>
                                </m:r>
                              </m:e>
                            </m:mr>
                            <m:mr>
                              <m:e>
                                <m:r>
                                  <a:rPr lang="en-US" sz="1050" b="0" i="0">
                                    <a:latin typeface="Cambria Math" panose="02040503050406030204" pitchFamily="18" charset="0"/>
                                  </a:rPr>
                                  <m:t>−0.3275</m:t>
                                </m:r>
                              </m:e>
                              <m:e>
                                <m:r>
                                  <a:rPr lang="en-US" sz="1050" b="0" i="0">
                                    <a:latin typeface="Cambria Math" panose="02040503050406030204" pitchFamily="18" charset="0"/>
                                  </a:rPr>
                                  <m:t>−0.3723</m:t>
                                </m:r>
                              </m:e>
                              <m:e>
                                <m:r>
                                  <a:rPr lang="en-US" sz="1050" b="0" i="0">
                                    <a:latin typeface="Cambria Math" panose="02040503050406030204" pitchFamily="18" charset="0"/>
                                  </a:rPr>
                                  <m:t>−0.3205</m:t>
                                </m:r>
                              </m:e>
                              <m:e>
                                <m:r>
                                  <a:rPr lang="en-US" sz="1050" b="0" i="0">
                                    <a:latin typeface="Cambria Math" panose="02040503050406030204" pitchFamily="18" charset="0"/>
                                  </a:rPr>
                                  <m:t>−0.3744</m:t>
                                </m:r>
                              </m:e>
                              <m:e>
                                <m:r>
                                  <a:rPr lang="en-US" sz="1050" b="0" i="0">
                                    <a:latin typeface="Cambria Math" panose="02040503050406030204" pitchFamily="18" charset="0"/>
                                  </a:rPr>
                                  <m:t>−0.4241</m:t>
                                </m:r>
                              </m:e>
                              <m:e>
                                <m:r>
                                  <a:rPr lang="en-US" sz="1050" b="0" i="0">
                                    <a:latin typeface="Cambria Math" panose="02040503050406030204" pitchFamily="18" charset="0"/>
                                  </a:rPr>
                                  <m:t>0.8360</m:t>
                                </m:r>
                              </m:e>
                            </m:mr>
                          </m:m>
                        </m:e>
                      </m:d>
                      <m:r>
                        <a:rPr lang="en-US" sz="105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540707" y="907742"/>
                <a:ext cx="3911600" cy="868680"/>
              </a:xfrm>
              <a:prstGeom prst="rect">
                <a:avLst/>
              </a:prstGeom>
              <a:blipFill>
                <a:blip r:embed="rId21"/>
                <a:stretch>
                  <a:fillRect l="-6084" b="-35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272812" y="1938976"/>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875.1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5.0964×</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r>
                        <a:rPr lang="en-US" sz="1200" b="0" i="0">
                          <a:latin typeface="Cambria Math" panose="02040503050406030204" pitchFamily="18" charset="0"/>
                        </a:rPr>
                        <m:t> </m:t>
                      </m:r>
                    </m:oMath>
                  </m:oMathPara>
                </a14:m>
                <a:endParaRPr lang="en-US" sz="12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272812" y="1938976"/>
                <a:ext cx="3556000" cy="256032"/>
              </a:xfrm>
              <a:prstGeom prst="rect">
                <a:avLst/>
              </a:prstGeom>
              <a:blipFill>
                <a:blip r:embed="rId22"/>
                <a:stretch>
                  <a:fillRect l="-686" t="-11905" r="-1029" b="-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716769" y="2520139"/>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𝐷</m:t>
                          </m:r>
                        </m:e>
                      </m:acc>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−0.4379</m:t>
                                </m:r>
                              </m:e>
                              <m:e>
                                <m:r>
                                  <a:rPr lang="en-US" sz="1200" b="0" i="0">
                                    <a:latin typeface="Cambria Math" panose="02040503050406030204" pitchFamily="18" charset="0"/>
                                  </a:rPr>
                                  <m:t>−0.1755</m:t>
                                </m:r>
                              </m:e>
                              <m:e>
                                <m:r>
                                  <a:rPr lang="en-US" sz="1200" b="0" i="0">
                                    <a:latin typeface="Cambria Math" panose="02040503050406030204" pitchFamily="18" charset="0"/>
                                  </a:rPr>
                                  <m:t>−0.3883</m:t>
                                </m:r>
                              </m:e>
                              <m:e>
                                <m:r>
                                  <a:rPr lang="en-US" sz="1200" b="0" i="0">
                                    <a:latin typeface="Cambria Math" panose="02040503050406030204" pitchFamily="18" charset="0"/>
                                  </a:rPr>
                                  <m:t>−0.3898</m:t>
                                </m:r>
                              </m:e>
                              <m:e>
                                <m:r>
                                  <a:rPr lang="en-US" sz="1200" b="0" i="0">
                                    <a:latin typeface="Cambria Math" panose="02040503050406030204" pitchFamily="18" charset="0"/>
                                  </a:rPr>
                                  <m:t>−0.1761</m:t>
                                </m:r>
                              </m:e>
                            </m:mr>
                            <m:mr>
                              <m:e>
                                <m:r>
                                  <a:rPr lang="en-US" sz="1200" b="0" i="0">
                                    <a:latin typeface="Cambria Math" panose="02040503050406030204" pitchFamily="18" charset="0"/>
                                  </a:rPr>
                                  <m:t>−0.0079</m:t>
                                </m:r>
                              </m:e>
                              <m:e>
                                <m:r>
                                  <a:rPr lang="en-US" sz="1200" b="0" i="0">
                                    <a:latin typeface="Cambria Math" panose="02040503050406030204" pitchFamily="18" charset="0"/>
                                  </a:rPr>
                                  <m:t>1.1555</m:t>
                                </m:r>
                              </m:e>
                              <m:e>
                                <m:r>
                                  <a:rPr lang="en-US" sz="1200" b="0" i="0">
                                    <a:latin typeface="Cambria Math" panose="02040503050406030204" pitchFamily="18" charset="0"/>
                                  </a:rPr>
                                  <m:t>0.0106</m:t>
                                </m:r>
                              </m:e>
                              <m:e>
                                <m:r>
                                  <a:rPr lang="en-US" sz="1200" b="0" i="0">
                                    <a:latin typeface="Cambria Math" panose="02040503050406030204" pitchFamily="18" charset="0"/>
                                  </a:rPr>
                                  <m:t>0.3511</m:t>
                                </m:r>
                              </m:e>
                              <m:e>
                                <m:r>
                                  <a:rPr lang="en-US" sz="1200" b="0" i="0">
                                    <a:latin typeface="Cambria Math" panose="02040503050406030204" pitchFamily="18" charset="0"/>
                                  </a:rPr>
                                  <m:t>0.3574</m:t>
                                </m:r>
                              </m:e>
                              <m:e>
                                <m:r>
                                  <a:rPr lang="en-US" sz="1200" b="0" i="0">
                                    <a:latin typeface="Cambria Math" panose="02040503050406030204" pitchFamily="18" charset="0"/>
                                  </a:rPr>
                                  <m:t>0.0090</m:t>
                                </m:r>
                              </m:e>
                            </m:mr>
                            <m:mr>
                              <m:e>
                                <m:r>
                                  <a:rPr lang="en-US" sz="1200" b="0" i="0">
                                    <a:latin typeface="Cambria Math" panose="02040503050406030204" pitchFamily="18" charset="0"/>
                                  </a:rPr>
                                  <m:t>−0.1904</m:t>
                                </m:r>
                              </m:e>
                              <m:e>
                                <m:r>
                                  <a:rPr lang="en-US" sz="1200" b="0" i="0">
                                    <a:latin typeface="Cambria Math" panose="02040503050406030204" pitchFamily="18" charset="0"/>
                                  </a:rPr>
                                  <m:t>−0.4090</m:t>
                                </m:r>
                              </m:e>
                              <m:e>
                                <m:r>
                                  <a:rPr lang="en-US" sz="1200" b="0" i="0">
                                    <a:latin typeface="Cambria Math" panose="02040503050406030204" pitchFamily="18" charset="0"/>
                                  </a:rPr>
                                  <m:t>0.8233</m:t>
                                </m:r>
                              </m:e>
                              <m:e>
                                <m:r>
                                  <a:rPr lang="en-US" sz="1200" b="0" i="0">
                                    <a:latin typeface="Cambria Math" panose="02040503050406030204" pitchFamily="18" charset="0"/>
                                  </a:rPr>
                                  <m:t>−0.4494</m:t>
                                </m:r>
                              </m:e>
                              <m:e>
                                <m:r>
                                  <a:rPr lang="en-US" sz="1200" b="0" i="0">
                                    <a:latin typeface="Cambria Math" panose="02040503050406030204" pitchFamily="18" charset="0"/>
                                  </a:rPr>
                                  <m:t>−0.4093</m:t>
                                </m:r>
                              </m:e>
                              <m:e>
                                <m:r>
                                  <a:rPr lang="en-US" sz="1200" b="0" i="0">
                                    <a:latin typeface="Cambria Math" panose="02040503050406030204" pitchFamily="18" charset="0"/>
                                  </a:rPr>
                                  <m:t>−0.1868</m:t>
                                </m:r>
                              </m:e>
                            </m:mr>
                            <m:mr>
                              <m:e>
                                <m:r>
                                  <a:rPr lang="en-US" sz="1200" b="0" i="0">
                                    <a:latin typeface="Cambria Math" panose="02040503050406030204" pitchFamily="18" charset="0"/>
                                  </a:rPr>
                                  <m:t>0.0418</m:t>
                                </m:r>
                              </m:e>
                              <m:e>
                                <m:r>
                                  <a:rPr lang="en-US" sz="1200" b="0" i="0">
                                    <a:latin typeface="Cambria Math" panose="02040503050406030204" pitchFamily="18" charset="0"/>
                                  </a:rPr>
                                  <m:t>0.4099</m:t>
                                </m:r>
                              </m:e>
                              <m:e>
                                <m:r>
                                  <a:rPr lang="en-US" sz="1200" b="0" i="0">
                                    <a:latin typeface="Cambria Math" panose="02040503050406030204" pitchFamily="18" charset="0"/>
                                  </a:rPr>
                                  <m:t>0.0215</m:t>
                                </m:r>
                              </m:e>
                              <m:e>
                                <m:r>
                                  <a:rPr lang="en-US" sz="1200" b="0" i="0">
                                    <a:latin typeface="Cambria Math" panose="02040503050406030204" pitchFamily="18" charset="0"/>
                                  </a:rPr>
                                  <m:t>1.2072</m:t>
                                </m:r>
                              </m:e>
                              <m:e>
                                <m:r>
                                  <a:rPr lang="en-US" sz="1200" b="0" i="0">
                                    <a:latin typeface="Cambria Math" panose="02040503050406030204" pitchFamily="18" charset="0"/>
                                  </a:rPr>
                                  <m:t>0.4102</m:t>
                                </m:r>
                              </m:e>
                              <m:e>
                                <m:r>
                                  <a:rPr lang="en-US" sz="1200" b="0" i="0">
                                    <a:latin typeface="Cambria Math" panose="02040503050406030204" pitchFamily="18" charset="0"/>
                                  </a:rPr>
                                  <m:t>0.0339</m:t>
                                </m:r>
                              </m:e>
                            </m:mr>
                            <m:mr>
                              <m:e>
                                <m:r>
                                  <a:rPr lang="en-US" sz="1200" b="0" i="0">
                                    <a:latin typeface="Cambria Math" panose="02040503050406030204" pitchFamily="18" charset="0"/>
                                  </a:rPr>
                                  <m:t>0.0411</m:t>
                                </m:r>
                              </m:e>
                              <m:e>
                                <m:r>
                                  <a:rPr lang="en-US" sz="1200" b="0" i="0">
                                    <a:latin typeface="Cambria Math" panose="02040503050406030204" pitchFamily="18" charset="0"/>
                                  </a:rPr>
                                  <m:t>0.3980</m:t>
                                </m:r>
                              </m:e>
                              <m:e>
                                <m:r>
                                  <a:rPr lang="en-US" sz="1200" b="0" i="0">
                                    <a:latin typeface="Cambria Math" panose="02040503050406030204" pitchFamily="18" charset="0"/>
                                  </a:rPr>
                                  <m:t>0.0345</m:t>
                                </m:r>
                              </m:e>
                              <m:e>
                                <m:r>
                                  <a:rPr lang="en-US" sz="1200" b="0" i="0">
                                    <a:latin typeface="Cambria Math" panose="02040503050406030204" pitchFamily="18" charset="0"/>
                                  </a:rPr>
                                  <m:t>0.3950</m:t>
                                </m:r>
                              </m:e>
                              <m:e>
                                <m:r>
                                  <a:rPr lang="en-US" sz="1200" b="0" i="0">
                                    <a:latin typeface="Cambria Math" panose="02040503050406030204" pitchFamily="18" charset="0"/>
                                  </a:rPr>
                                  <m:t>1.2064</m:t>
                                </m:r>
                              </m:e>
                              <m:e>
                                <m:r>
                                  <a:rPr lang="en-US" sz="1200" b="0" i="0">
                                    <a:latin typeface="Cambria Math" panose="02040503050406030204" pitchFamily="18" charset="0"/>
                                  </a:rPr>
                                  <m:t>0.0138</m:t>
                                </m:r>
                              </m:e>
                            </m:mr>
                            <m:mr>
                              <m:e>
                                <m:r>
                                  <a:rPr lang="en-US" sz="1200" b="0" i="0">
                                    <a:latin typeface="Cambria Math" panose="02040503050406030204" pitchFamily="18" charset="0"/>
                                  </a:rPr>
                                  <m:t>−0.1882</m:t>
                                </m:r>
                              </m:e>
                              <m:e>
                                <m:r>
                                  <a:rPr lang="en-US" sz="1200" b="0" i="0">
                                    <a:latin typeface="Cambria Math" panose="02040503050406030204" pitchFamily="18" charset="0"/>
                                  </a:rPr>
                                  <m:t>−0.3982</m:t>
                                </m:r>
                              </m:e>
                              <m:e>
                                <m:r>
                                  <a:rPr lang="en-US" sz="1200" b="0" i="0">
                                    <a:latin typeface="Cambria Math" panose="02040503050406030204" pitchFamily="18" charset="0"/>
                                  </a:rPr>
                                  <m:t>−0.1795</m:t>
                                </m:r>
                              </m:e>
                              <m:e>
                                <m:r>
                                  <a:rPr lang="en-US" sz="1200" b="0" i="0">
                                    <a:latin typeface="Cambria Math" panose="02040503050406030204" pitchFamily="18" charset="0"/>
                                  </a:rPr>
                                  <m:t>−0.3997</m:t>
                                </m:r>
                              </m:e>
                              <m:e>
                                <m:r>
                                  <a:rPr lang="en-US" sz="1200" b="0" i="0">
                                    <a:latin typeface="Cambria Math" panose="02040503050406030204" pitchFamily="18" charset="0"/>
                                  </a:rPr>
                                  <m:t>−0.4518</m:t>
                                </m:r>
                              </m:e>
                              <m:e>
                                <m:r>
                                  <a:rPr lang="en-US" sz="1200" b="0" i="0">
                                    <a:latin typeface="Cambria Math" panose="02040503050406030204" pitchFamily="18" charset="0"/>
                                  </a:rPr>
                                  <m:t>0.8425</m:t>
                                </m:r>
                              </m:e>
                            </m:mr>
                          </m:m>
                        </m:e>
                      </m:d>
                      <m:r>
                        <a:rPr lang="en-US" sz="1200" b="0" i="0">
                          <a:latin typeface="Cambria Math" panose="02040503050406030204" pitchFamily="18" charset="0"/>
                        </a:rPr>
                        <m:t> </m:t>
                      </m:r>
                    </m:oMath>
                  </m:oMathPara>
                </a14:m>
                <a:endParaRPr lang="en-US" sz="12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716769" y="2520139"/>
                <a:ext cx="3793066" cy="868680"/>
              </a:xfrm>
              <a:prstGeom prst="rect">
                <a:avLst/>
              </a:prstGeom>
              <a:blipFill>
                <a:blip r:embed="rId23"/>
                <a:stretch>
                  <a:fillRect l="-13666" r="-8842" b="-181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373966" y="3740867"/>
                <a:ext cx="3793065" cy="53906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050" b="0" i="1" smtClean="0">
                              <a:latin typeface="Cambria Math" panose="02040503050406030204" pitchFamily="18" charset="0"/>
                            </a:rPr>
                          </m:ctrlPr>
                        </m:accPr>
                        <m:e>
                          <m:r>
                            <a:rPr lang="en-US" altLang="zh-TW" sz="1050" b="0" i="1" smtClean="0">
                              <a:latin typeface="Cambria Math" panose="02040503050406030204" pitchFamily="18" charset="0"/>
                            </a:rPr>
                            <m:t>𝑒</m:t>
                          </m:r>
                        </m:e>
                      </m:acc>
                      <m:r>
                        <a:rPr lang="en-US" sz="1050" b="0" i="0">
                          <a:latin typeface="Cambria Math" panose="02040503050406030204" pitchFamily="18" charset="0"/>
                        </a:rPr>
                        <m:t>=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0.0185</m:t>
                                </m:r>
                              </m:e>
                              <m:e>
                                <m:r>
                                  <a:rPr lang="en-US" sz="1050" b="0" i="0">
                                    <a:latin typeface="Cambria Math" panose="02040503050406030204" pitchFamily="18" charset="0"/>
                                  </a:rPr>
                                  <m:t>0.0203</m:t>
                                </m:r>
                              </m:e>
                              <m:e>
                                <m:r>
                                  <a:rPr lang="en-US" sz="1050" b="0" i="0">
                                    <a:latin typeface="Cambria Math" panose="02040503050406030204" pitchFamily="18" charset="0"/>
                                  </a:rPr>
                                  <m:t>−0.1173</m:t>
                                </m:r>
                              </m:e>
                              <m:e>
                                <m:r>
                                  <a:rPr lang="en-US" sz="1050" b="0" i="0">
                                    <a:latin typeface="Cambria Math" panose="02040503050406030204" pitchFamily="18" charset="0"/>
                                  </a:rPr>
                                  <m:t>0.0024</m:t>
                                </m:r>
                              </m:e>
                              <m:e>
                                <m:r>
                                  <a:rPr lang="en-US" sz="1050" b="0" i="0">
                                    <a:latin typeface="Cambria Math" panose="02040503050406030204" pitchFamily="18" charset="0"/>
                                  </a:rPr>
                                  <m:t>0.0018</m:t>
                                </m:r>
                              </m:e>
                              <m:e>
                                <m:r>
                                  <a:rPr lang="en-US" sz="1050" b="0" i="0">
                                    <a:latin typeface="Cambria Math" panose="02040503050406030204" pitchFamily="18" charset="0"/>
                                  </a:rPr>
                                  <m:t>−0.1186</m:t>
                                </m:r>
                              </m:e>
                            </m:mr>
                            <m:mr>
                              <m:e>
                                <m:r>
                                  <a:rPr lang="en-US" sz="1050" b="0" i="0">
                                    <a:latin typeface="Cambria Math" panose="02040503050406030204" pitchFamily="18" charset="0"/>
                                  </a:rPr>
                                  <m:t>−0.1183</m:t>
                                </m:r>
                              </m:e>
                              <m:e>
                                <m:r>
                                  <a:rPr lang="en-US" sz="1050" b="0" i="0">
                                    <a:latin typeface="Cambria Math" panose="02040503050406030204" pitchFamily="18" charset="0"/>
                                  </a:rPr>
                                  <m:t>0.0026</m:t>
                                </m:r>
                              </m:e>
                              <m:e>
                                <m:r>
                                  <a:rPr lang="en-US" sz="1050" b="0" i="0">
                                    <a:latin typeface="Cambria Math" panose="02040503050406030204" pitchFamily="18" charset="0"/>
                                  </a:rPr>
                                  <m:t>0.0168</m:t>
                                </m:r>
                              </m:e>
                              <m:e>
                                <m:r>
                                  <a:rPr lang="en-US" sz="1050" b="0" i="0">
                                    <a:latin typeface="Cambria Math" panose="02040503050406030204" pitchFamily="18" charset="0"/>
                                  </a:rPr>
                                  <m:t>0.0163</m:t>
                                </m:r>
                              </m:e>
                              <m:e>
                                <m:r>
                                  <a:rPr lang="en-US" sz="1050" b="0" i="0">
                                    <a:latin typeface="Cambria Math" panose="02040503050406030204" pitchFamily="18" charset="0"/>
                                  </a:rPr>
                                  <m:t>0.0019</m:t>
                                </m:r>
                              </m:e>
                              <m:e>
                                <m:r>
                                  <a:rPr lang="en-US" sz="1050" b="0" i="0">
                                    <a:latin typeface="Cambria Math" panose="02040503050406030204" pitchFamily="18" charset="0"/>
                                  </a:rPr>
                                  <m:t>−0.1185</m:t>
                                </m:r>
                              </m:e>
                            </m:mr>
                            <m:mr>
                              <m:e>
                                <m:r>
                                  <a:rPr lang="en-US" sz="1050" b="0" i="0">
                                    <a:latin typeface="Cambria Math" panose="02040503050406030204" pitchFamily="18" charset="0"/>
                                  </a:rPr>
                                  <m:t>0.1182</m:t>
                                </m:r>
                              </m:e>
                              <m:e>
                                <m:r>
                                  <a:rPr lang="en-US" sz="1050" b="0" i="0">
                                    <a:latin typeface="Cambria Math" panose="02040503050406030204" pitchFamily="18" charset="0"/>
                                  </a:rPr>
                                  <m:t>−0.0029</m:t>
                                </m:r>
                              </m:e>
                              <m:e>
                                <m:r>
                                  <a:rPr lang="en-US" sz="1050" b="0" i="0">
                                    <a:latin typeface="Cambria Math" panose="02040503050406030204" pitchFamily="18" charset="0"/>
                                  </a:rPr>
                                  <m:t>0.1166</m:t>
                                </m:r>
                              </m:e>
                              <m:e>
                                <m:r>
                                  <a:rPr lang="en-US" sz="1050" b="0" i="0">
                                    <a:latin typeface="Cambria Math" panose="02040503050406030204" pitchFamily="18" charset="0"/>
                                  </a:rPr>
                                  <m:t>−0.0029</m:t>
                                </m:r>
                              </m:e>
                              <m:e>
                                <m:r>
                                  <a:rPr lang="en-US" sz="1050" b="0" i="0">
                                    <a:latin typeface="Cambria Math" panose="02040503050406030204" pitchFamily="18" charset="0"/>
                                  </a:rPr>
                                  <m:t>−0.0186</m:t>
                                </m:r>
                              </m:e>
                              <m:e>
                                <m:r>
                                  <a:rPr lang="en-US" sz="1050" b="0" i="0">
                                    <a:latin typeface="Cambria Math" panose="02040503050406030204" pitchFamily="18" charset="0"/>
                                  </a:rPr>
                                  <m:t>−0.0199</m:t>
                                </m:r>
                              </m:e>
                            </m:mr>
                          </m:m>
                        </m:e>
                      </m:d>
                    </m:oMath>
                  </m:oMathPara>
                </a14:m>
                <a:endParaRPr lang="en-US" sz="105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373966" y="3740867"/>
                <a:ext cx="3793065" cy="539062"/>
              </a:xfrm>
              <a:prstGeom prst="rect">
                <a:avLst/>
              </a:prstGeom>
              <a:blipFill>
                <a:blip r:embed="rId24"/>
                <a:stretch>
                  <a:fillRect l="-4494" t="-2273" r="-2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373966" y="4442331"/>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873.0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6.0657×</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oMath>
                  </m:oMathPara>
                </a14:m>
                <a:endParaRPr lang="en-US" sz="12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373966" y="4442331"/>
                <a:ext cx="3208867" cy="256032"/>
              </a:xfrm>
              <a:prstGeom prst="rect">
                <a:avLst/>
              </a:prstGeom>
              <a:blipFill>
                <a:blip r:embed="rId25"/>
                <a:stretch>
                  <a:fillRect l="-3605" t="-14286" r="-2657"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05D4D494-842A-47CF-AA77-F7674C9C2B84}"/>
                  </a:ext>
                </a:extLst>
              </p:cNvPr>
              <p:cNvSpPr txBox="1"/>
              <p:nvPr/>
            </p:nvSpPr>
            <p:spPr>
              <a:xfrm>
                <a:off x="7826034" y="951888"/>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7826034" y="951888"/>
                <a:ext cx="4191000" cy="549509"/>
              </a:xfrm>
              <a:prstGeom prst="rect">
                <a:avLst/>
              </a:prstGeom>
              <a:blipFill>
                <a:blip r:embed="rId26"/>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685C6EE-EA50-4331-ADBB-49A0A8EDD3B1}"/>
                  </a:ext>
                </a:extLst>
              </p:cNvPr>
              <p:cNvSpPr txBox="1"/>
              <p:nvPr/>
            </p:nvSpPr>
            <p:spPr>
              <a:xfrm>
                <a:off x="7826034" y="252013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7826034" y="2520139"/>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2988287" y="5042291"/>
                <a:ext cx="6215426" cy="1527623"/>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𝑉</m:t>
                      </m:r>
                      <m:r>
                        <a:rPr lang="en-US" sz="1100" b="0" i="0">
                          <a:latin typeface="Cambria Math" panose="02040503050406030204" pitchFamily="18" charset="0"/>
                        </a:rPr>
                        <m:t> = </m:t>
                      </m:r>
                      <m:d>
                        <m:dPr>
                          <m:begChr m:val="["/>
                          <m:endChr m:val="]"/>
                          <m:ctrlPr>
                            <a:rPr lang="en-US" sz="1100" b="0" i="1">
                              <a:latin typeface="Cambria Math" panose="02040503050406030204" pitchFamily="18" charset="0"/>
                            </a:rPr>
                          </m:ctrlPr>
                        </m:dPr>
                        <m:e>
                          <m:m>
                            <m:mPr>
                              <m:mcs>
                                <m:mc>
                                  <m:mcPr>
                                    <m:count m:val="6"/>
                                    <m:mcJc m:val="center"/>
                                  </m:mcPr>
                                </m:mc>
                              </m:mcs>
                              <m:ctrlPr>
                                <a:rPr lang="en-US" sz="1100" b="0" i="1">
                                  <a:latin typeface="Cambria Math" panose="02040503050406030204" pitchFamily="18" charset="0"/>
                                </a:rPr>
                              </m:ctrlPr>
                            </m:mPr>
                            <m:mr>
                              <m:e>
                                <m:r>
                                  <a:rPr lang="en-US" sz="1100" b="0" i="0">
                                    <a:latin typeface="Cambria Math" panose="02040503050406030204" pitchFamily="18" charset="0"/>
                                  </a:rPr>
                                  <m:t>1397.5153</m:t>
                                </m:r>
                              </m:e>
                              <m:e>
                                <m:r>
                                  <a:rPr lang="en-US" sz="1100" b="0" i="0">
                                    <a:latin typeface="Cambria Math" panose="02040503050406030204" pitchFamily="18" charset="0"/>
                                  </a:rPr>
                                  <m:t>−44.8949</m:t>
                                </m:r>
                              </m:e>
                              <m:e>
                                <m:r>
                                  <a:rPr lang="en-US" sz="1100" b="0" i="0">
                                    <a:latin typeface="Cambria Math" panose="02040503050406030204" pitchFamily="18" charset="0"/>
                                  </a:rPr>
                                  <m:t>−296.4434</m:t>
                                </m:r>
                              </m:e>
                              <m:e>
                                <m:r>
                                  <a:rPr lang="en-US" sz="1100" b="0" i="0">
                                    <a:latin typeface="Cambria Math" panose="02040503050406030204" pitchFamily="18" charset="0"/>
                                  </a:rPr>
                                  <m:t>−239.1196</m:t>
                                </m:r>
                              </m:e>
                              <m:e>
                                <m:r>
                                  <a:rPr lang="en-US" sz="1100" b="0" i="0">
                                    <a:latin typeface="Cambria Math" panose="02040503050406030204" pitchFamily="18" charset="0"/>
                                  </a:rPr>
                                  <m:t>−249.0026</m:t>
                                </m:r>
                              </m:e>
                              <m:e>
                                <m:r>
                                  <a:rPr lang="en-US" sz="1100" b="0" i="0">
                                    <a:latin typeface="Cambria Math" panose="02040503050406030204" pitchFamily="18" charset="0"/>
                                  </a:rPr>
                                  <m:t>−294.9264</m:t>
                                </m:r>
                              </m:e>
                            </m:mr>
                            <m:mr>
                              <m:e>
                                <m:r>
                                  <a:rPr lang="en-US" sz="1100" b="0" i="0">
                                    <a:latin typeface="Cambria Math" panose="02040503050406030204" pitchFamily="18" charset="0"/>
                                  </a:rPr>
                                  <m:t>−52.3899</m:t>
                                </m:r>
                              </m:e>
                              <m:e>
                                <m:r>
                                  <a:rPr lang="en-US" sz="1100" b="0" i="0">
                                    <a:latin typeface="Cambria Math" panose="02040503050406030204" pitchFamily="18" charset="0"/>
                                  </a:rPr>
                                  <m:t>1598.4115</m:t>
                                </m:r>
                              </m:e>
                              <m:e>
                                <m:r>
                                  <a:rPr lang="en-US" sz="1100" b="0" i="0">
                                    <a:latin typeface="Cambria Math" panose="02040503050406030204" pitchFamily="18" charset="0"/>
                                  </a:rPr>
                                  <m:t>−236.0011</m:t>
                                </m:r>
                              </m:e>
                              <m:e>
                                <m:r>
                                  <a:rPr lang="en-US" sz="1100" b="0" i="0">
                                    <a:latin typeface="Cambria Math" panose="02040503050406030204" pitchFamily="18" charset="0"/>
                                  </a:rPr>
                                  <m:t>−508.1098</m:t>
                                </m:r>
                              </m:e>
                              <m:e>
                                <m:r>
                                  <a:rPr lang="en-US" sz="1100" b="0" i="0">
                                    <a:latin typeface="Cambria Math" panose="02040503050406030204" pitchFamily="18" charset="0"/>
                                  </a:rPr>
                                  <m:t>−515.4042</m:t>
                                </m:r>
                              </m:e>
                              <m:e>
                                <m:r>
                                  <a:rPr lang="en-US" sz="1100" b="0" i="0">
                                    <a:latin typeface="Cambria Math" panose="02040503050406030204" pitchFamily="18" charset="0"/>
                                  </a:rPr>
                                  <m:t>−237.3949</m:t>
                                </m:r>
                              </m:e>
                            </m:mr>
                            <m:mr>
                              <m:e>
                                <m:r>
                                  <a:rPr lang="en-US" sz="1100" b="0" i="0">
                                    <a:latin typeface="Cambria Math" panose="02040503050406030204" pitchFamily="18" charset="0"/>
                                  </a:rPr>
                                  <m:t>−294.5246</m:t>
                                </m:r>
                              </m:e>
                              <m:e>
                                <m:r>
                                  <a:rPr lang="en-US" sz="1100" b="0" i="0">
                                    <a:latin typeface="Cambria Math" panose="02040503050406030204" pitchFamily="18" charset="0"/>
                                  </a:rPr>
                                  <m:t>−235.2099</m:t>
                                </m:r>
                              </m:e>
                              <m:e>
                                <m:r>
                                  <a:rPr lang="en-US" sz="1100" b="0" i="0">
                                    <a:latin typeface="Cambria Math" panose="02040503050406030204" pitchFamily="18" charset="0"/>
                                  </a:rPr>
                                  <m:t>1397.1511</m:t>
                                </m:r>
                              </m:e>
                              <m:e>
                                <m:r>
                                  <a:rPr lang="en-US" sz="1100" b="0" i="0">
                                    <a:latin typeface="Cambria Math" panose="02040503050406030204" pitchFamily="18" charset="0"/>
                                  </a:rPr>
                                  <m:t>−46.2959</m:t>
                                </m:r>
                              </m:e>
                              <m:e>
                                <m:r>
                                  <a:rPr lang="en-US" sz="1100" b="0" i="0">
                                    <a:latin typeface="Cambria Math" panose="02040503050406030204" pitchFamily="18" charset="0"/>
                                  </a:rPr>
                                  <m:t>−241.8620</m:t>
                                </m:r>
                              </m:e>
                              <m:e>
                                <m:r>
                                  <a:rPr lang="en-US" sz="1100" b="0" i="0">
                                    <a:latin typeface="Cambria Math" panose="02040503050406030204" pitchFamily="18" charset="0"/>
                                  </a:rPr>
                                  <m:t>−295.1847</m:t>
                                </m:r>
                              </m:e>
                            </m:mr>
                            <m:mr>
                              <m:e>
                                <m:r>
                                  <a:rPr lang="en-US" sz="1100" b="0" i="0">
                                    <a:latin typeface="Cambria Math" panose="02040503050406030204" pitchFamily="18" charset="0"/>
                                  </a:rPr>
                                  <m:t>−235.7501</m:t>
                                </m:r>
                              </m:e>
                              <m:e>
                                <m:r>
                                  <a:rPr lang="en-US" sz="1100" b="0" i="0">
                                    <a:latin typeface="Cambria Math" panose="02040503050406030204" pitchFamily="18" charset="0"/>
                                  </a:rPr>
                                  <m:t>−532.4126</m:t>
                                </m:r>
                              </m:e>
                              <m:e>
                                <m:r>
                                  <a:rPr lang="en-US" sz="1100" b="0" i="0">
                                    <a:latin typeface="Cambria Math" panose="02040503050406030204" pitchFamily="18" charset="0"/>
                                  </a:rPr>
                                  <m:t>−51.6440</m:t>
                                </m:r>
                              </m:e>
                              <m:e>
                                <m:r>
                                  <a:rPr lang="en-US" sz="1100" b="0" i="0">
                                    <a:latin typeface="Cambria Math" panose="02040503050406030204" pitchFamily="18" charset="0"/>
                                  </a:rPr>
                                  <m:t>1588.6363</m:t>
                                </m:r>
                              </m:e>
                              <m:e>
                                <m:r>
                                  <a:rPr lang="en-US" sz="1100" b="0" i="0">
                                    <a:latin typeface="Cambria Math" panose="02040503050406030204" pitchFamily="18" charset="0"/>
                                  </a:rPr>
                                  <m:t>−528.6298</m:t>
                                </m:r>
                              </m:e>
                              <m:e>
                                <m:r>
                                  <a:rPr lang="en-US" sz="1100" b="0" i="0">
                                    <a:latin typeface="Cambria Math" panose="02040503050406030204" pitchFamily="18" charset="0"/>
                                  </a:rPr>
                                  <m:t>−226.1507</m:t>
                                </m:r>
                              </m:e>
                            </m:mr>
                            <m:mr>
                              <m:e>
                                <m:r>
                                  <a:rPr lang="en-US" sz="1100" b="0" i="0">
                                    <a:latin typeface="Cambria Math" panose="02040503050406030204" pitchFamily="18" charset="0"/>
                                  </a:rPr>
                                  <m:t>−241.2077</m:t>
                                </m:r>
                              </m:e>
                              <m:e>
                                <m:r>
                                  <a:rPr lang="en-US" sz="1100" b="0" i="0">
                                    <a:latin typeface="Cambria Math" panose="02040503050406030204" pitchFamily="18" charset="0"/>
                                  </a:rPr>
                                  <m:t>−521.3975</m:t>
                                </m:r>
                              </m:e>
                              <m:e>
                                <m:r>
                                  <a:rPr lang="en-US" sz="1100" b="0" i="0">
                                    <a:latin typeface="Cambria Math" panose="02040503050406030204" pitchFamily="18" charset="0"/>
                                  </a:rPr>
                                  <m:t>−229.4493</m:t>
                                </m:r>
                              </m:e>
                              <m:e>
                                <m:r>
                                  <a:rPr lang="en-US" sz="1100" b="0" i="0">
                                    <a:latin typeface="Cambria Math" panose="02040503050406030204" pitchFamily="18" charset="0"/>
                                  </a:rPr>
                                  <m:t>−520.3586</m:t>
                                </m:r>
                              </m:e>
                              <m:e>
                                <m:r>
                                  <a:rPr lang="en-US" sz="1100" b="0" i="0">
                                    <a:latin typeface="Cambria Math" panose="02040503050406030204" pitchFamily="18" charset="0"/>
                                  </a:rPr>
                                  <m:t>1580.8644</m:t>
                                </m:r>
                              </m:e>
                              <m:e>
                                <m:r>
                                  <a:rPr lang="en-US" sz="1100" b="0" i="0">
                                    <a:latin typeface="Cambria Math" panose="02040503050406030204" pitchFamily="18" charset="0"/>
                                  </a:rPr>
                                  <m:t>−48.3108</m:t>
                                </m:r>
                              </m:e>
                            </m:mr>
                            <m:mr>
                              <m:e>
                                <m:r>
                                  <a:rPr lang="en-US" sz="1100" b="0" i="0">
                                    <a:latin typeface="Cambria Math" panose="02040503050406030204" pitchFamily="18" charset="0"/>
                                  </a:rPr>
                                  <m:t>−288.5384</m:t>
                                </m:r>
                              </m:e>
                              <m:e>
                                <m:r>
                                  <a:rPr lang="en-US" sz="1100" b="0" i="0">
                                    <a:latin typeface="Cambria Math" panose="02040503050406030204" pitchFamily="18" charset="0"/>
                                  </a:rPr>
                                  <m:t>−243.6843</m:t>
                                </m:r>
                              </m:e>
                              <m:e>
                                <m:r>
                                  <a:rPr lang="en-US" sz="1100" b="0" i="0">
                                    <a:latin typeface="Cambria Math" panose="02040503050406030204" pitchFamily="18" charset="0"/>
                                  </a:rPr>
                                  <m:t>−297.2197</m:t>
                                </m:r>
                              </m:e>
                              <m:e>
                                <m:r>
                                  <a:rPr lang="en-US" sz="1100" b="0" i="0">
                                    <a:latin typeface="Cambria Math" panose="02040503050406030204" pitchFamily="18" charset="0"/>
                                  </a:rPr>
                                  <m:t>−235.9084</m:t>
                                </m:r>
                              </m:e>
                              <m:e>
                                <m:r>
                                  <a:rPr lang="en-US" sz="1100" b="0" i="0">
                                    <a:latin typeface="Cambria Math" panose="02040503050406030204" pitchFamily="18" charset="0"/>
                                  </a:rPr>
                                  <m:t>−44.7064</m:t>
                                </m:r>
                              </m:e>
                              <m:e>
                                <m:r>
                                  <a:rPr lang="en-US" sz="1100" b="0" i="0">
                                    <a:latin typeface="Cambria Math" panose="02040503050406030204" pitchFamily="18" charset="0"/>
                                  </a:rPr>
                                  <m:t>1386.2112</m:t>
                                </m:r>
                              </m:e>
                            </m:mr>
                          </m:m>
                        </m:e>
                      </m:d>
                      <m:r>
                        <a:rPr lang="zh-TW" altLang="en-US" sz="1100" i="1">
                          <a:latin typeface="Cambria Math" panose="02040503050406030204" pitchFamily="18" charset="0"/>
                        </a:rPr>
                        <m:t> </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𝑚𝑉</m:t>
                      </m:r>
                      <m:r>
                        <a:rPr lang="en-US" altLang="zh-TW" sz="1100" b="0" i="1" smtClean="0">
                          <a:latin typeface="Cambria Math" panose="02040503050406030204" pitchFamily="18" charset="0"/>
                        </a:rPr>
                        <m:t>)</m:t>
                      </m:r>
                    </m:oMath>
                  </m:oMathPara>
                </a14:m>
                <a:endParaRPr lang="en-US" sz="90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2988287" y="5042291"/>
                <a:ext cx="6215426" cy="1527623"/>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1DBDD30-8739-417A-9ECC-F38CA06CA214}"/>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41DBDD30-8739-417A-9ECC-F38CA06CA214}"/>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9"/>
                <a:stretch>
                  <a:fillRect t="-15385" r="-3802" b="-25000"/>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8CD6E91D-DA9C-48D6-8E1D-D3024F8E65AA}"/>
              </a:ext>
            </a:extLst>
          </p:cNvPr>
          <p:cNvSpPr txBox="1"/>
          <p:nvPr/>
        </p:nvSpPr>
        <p:spPr>
          <a:xfrm>
            <a:off x="8155400" y="6292513"/>
            <a:ext cx="3869266" cy="307777"/>
          </a:xfrm>
          <a:prstGeom prst="rect">
            <a:avLst/>
          </a:prstGeom>
          <a:noFill/>
        </p:spPr>
        <p:txBody>
          <a:bodyPr wrap="square" rtlCol="0">
            <a:spAutoFit/>
          </a:bodyPr>
          <a:lstStyle/>
          <a:p>
            <a:pPr marL="285750" indent="-285750">
              <a:buFont typeface="Wingdings" panose="05000000000000000000" pitchFamily="2" charset="2"/>
              <a:buChar char="Ø"/>
            </a:pPr>
            <a:r>
              <a:rPr lang="en-US" altLang="zh-TW" sz="1400" dirty="0"/>
              <a:t>Number of Interpolation Points:180(six sensor)</a:t>
            </a:r>
            <a:endParaRPr lang="zh-TW" altLang="en-US" sz="1400" dirty="0"/>
          </a:p>
        </p:txBody>
      </p:sp>
    </p:spTree>
    <p:extLst>
      <p:ext uri="{BB962C8B-B14F-4D97-AF65-F5344CB8AC3E}">
        <p14:creationId xmlns:p14="http://schemas.microsoft.com/office/powerpoint/2010/main" val="1367279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11" name="群組 10">
            <a:extLst>
              <a:ext uri="{FF2B5EF4-FFF2-40B4-BE49-F238E27FC236}">
                <a16:creationId xmlns:a16="http://schemas.microsoft.com/office/drawing/2014/main" id="{F8B1ABB2-778A-49C9-AFA2-90D17FFE48E7}"/>
              </a:ext>
            </a:extLst>
          </p:cNvPr>
          <p:cNvGrpSpPr/>
          <p:nvPr/>
        </p:nvGrpSpPr>
        <p:grpSpPr>
          <a:xfrm>
            <a:off x="-34701" y="601115"/>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62717" y="3075736"/>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3047020" y="5318739"/>
            <a:ext cx="8778240" cy="1463040"/>
          </a:xfrm>
          <a:prstGeom prst="rect">
            <a:avLst/>
          </a:prstGeom>
          <a:noFill/>
        </p:spPr>
        <p:txBody>
          <a:bodyPr wrap="square" rtlCol="0">
            <a:normAutofit fontScale="77500" lnSpcReduction="20000"/>
          </a:bodyPr>
          <a:lstStyle/>
          <a:p>
            <a:pPr marL="285750" indent="-285750"/>
            <a:r>
              <a:rPr lang="en-US" altLang="zh-TW"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900" name="CalibV_s_mat"/>
              <p:cNvSpPr txBox="1"/>
              <p:nvPr/>
            </p:nvSpPr>
            <p:spPr>
              <a:xfrm>
                <a:off x="3200400" y="932688"/>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−0.3405</m:t>
                                </m:r>
                              </m:e>
                              <m:e>
                                <m:r>
                                  <a:rPr lang="en-US" sz="900" b="0" i="0">
                                    <a:latin typeface="Cambria Math" panose="02040503050406030204" pitchFamily="18" charset="0"/>
                                  </a:rPr>
                                  <m:t>−0.2722</m:t>
                                </m:r>
                              </m:e>
                              <m:e>
                                <m:r>
                                  <a:rPr lang="en-US" sz="900" b="0" i="0">
                                    <a:latin typeface="Cambria Math" panose="02040503050406030204" pitchFamily="18" charset="0"/>
                                  </a:rPr>
                                  <m:t>−0.2776</m:t>
                                </m:r>
                              </m:e>
                              <m:e>
                                <m:r>
                                  <a:rPr lang="en-US" sz="900" b="0" i="0">
                                    <a:latin typeface="Cambria Math" panose="02040503050406030204" pitchFamily="18" charset="0"/>
                                  </a:rPr>
                                  <m:t>−0.2864</m:t>
                                </m:r>
                              </m:e>
                              <m:e>
                                <m:r>
                                  <a:rPr lang="en-US" sz="900" b="0" i="0">
                                    <a:latin typeface="Cambria Math" panose="02040503050406030204" pitchFamily="18" charset="0"/>
                                  </a:rPr>
                                  <m:t>−0.2702</m:t>
                                </m:r>
                              </m:e>
                            </m:mr>
                            <m:mr>
                              <m:e>
                                <m:r>
                                  <a:rPr lang="en-US" sz="900" b="0" i="0">
                                    <a:latin typeface="Cambria Math" panose="02040503050406030204" pitchFamily="18" charset="0"/>
                                  </a:rPr>
                                  <m:t>−0.2154</m:t>
                                </m:r>
                              </m:e>
                              <m:e>
                                <m:r>
                                  <a:rPr lang="en-US" sz="900" b="0" i="0">
                                    <a:latin typeface="Cambria Math" panose="02040503050406030204" pitchFamily="18" charset="0"/>
                                  </a:rPr>
                                  <m:t>1.2558</m:t>
                                </m:r>
                              </m:e>
                              <m:e>
                                <m:r>
                                  <a:rPr lang="en-US" sz="900" b="0" i="0">
                                    <a:latin typeface="Cambria Math" panose="02040503050406030204" pitchFamily="18" charset="0"/>
                                  </a:rPr>
                                  <m:t>−0.0837</m:t>
                                </m:r>
                              </m:e>
                              <m:e>
                                <m:r>
                                  <a:rPr lang="en-US" sz="900" b="0" i="0">
                                    <a:latin typeface="Cambria Math" panose="02040503050406030204" pitchFamily="18" charset="0"/>
                                  </a:rPr>
                                  <m:t>0.2482</m:t>
                                </m:r>
                              </m:e>
                              <m:e>
                                <m:r>
                                  <a:rPr lang="en-US" sz="900" b="0" i="0">
                                    <a:latin typeface="Cambria Math" panose="02040503050406030204" pitchFamily="18" charset="0"/>
                                  </a:rPr>
                                  <m:t>0.2607</m:t>
                                </m:r>
                              </m:e>
                              <m:e>
                                <m:r>
                                  <a:rPr lang="en-US" sz="900" b="0" i="0">
                                    <a:latin typeface="Cambria Math" panose="02040503050406030204" pitchFamily="18" charset="0"/>
                                  </a:rPr>
                                  <m:t>−0.0826</m:t>
                                </m:r>
                              </m:e>
                            </m:mr>
                            <m:mr>
                              <m:e>
                                <m:r>
                                  <a:rPr lang="en-US" sz="900" b="0" i="0">
                                    <a:latin typeface="Cambria Math" panose="02040503050406030204" pitchFamily="18" charset="0"/>
                                  </a:rPr>
                                  <m:t>−0.2775</m:t>
                                </m:r>
                              </m:e>
                              <m:e>
                                <m:r>
                                  <a:rPr lang="en-US" sz="900" b="0" i="0">
                                    <a:latin typeface="Cambria Math" panose="02040503050406030204" pitchFamily="18" charset="0"/>
                                  </a:rPr>
                                  <m:t>−0.2878</m:t>
                                </m:r>
                              </m:e>
                              <m:e>
                                <m:r>
                                  <a:rPr lang="en-US" sz="900" b="0" i="0">
                                    <a:latin typeface="Cambria Math" panose="02040503050406030204" pitchFamily="18" charset="0"/>
                                  </a:rPr>
                                  <m:t>0.8279</m:t>
                                </m:r>
                              </m:e>
                              <m:e>
                                <m:r>
                                  <a:rPr lang="en-US" sz="900" b="0" i="0">
                                    <a:latin typeface="Cambria Math" panose="02040503050406030204" pitchFamily="18" charset="0"/>
                                  </a:rPr>
                                  <m:t>−0.3486</m:t>
                                </m:r>
                              </m:e>
                              <m:e>
                                <m:r>
                                  <a:rPr lang="en-US" sz="900" b="0" i="0">
                                    <a:latin typeface="Cambria Math" panose="02040503050406030204" pitchFamily="18" charset="0"/>
                                  </a:rPr>
                                  <m:t>−0.2934</m:t>
                                </m:r>
                              </m:e>
                              <m:e>
                                <m:r>
                                  <a:rPr lang="en-US" sz="900" b="0" i="0">
                                    <a:latin typeface="Cambria Math" panose="02040503050406030204" pitchFamily="18" charset="0"/>
                                  </a:rPr>
                                  <m:t>−0.2794</m:t>
                                </m:r>
                              </m:e>
                            </m:mr>
                            <m:mr>
                              <m:e>
                                <m:r>
                                  <a:rPr lang="en-US" sz="900" b="0" i="0">
                                    <a:latin typeface="Cambria Math" panose="02040503050406030204" pitchFamily="18" charset="0"/>
                                  </a:rPr>
                                  <m:t>−0.0873</m:t>
                                </m:r>
                              </m:e>
                              <m:e>
                                <m:r>
                                  <a:rPr lang="en-US" sz="900" b="0" i="0">
                                    <a:latin typeface="Cambria Math" panose="02040503050406030204" pitchFamily="18" charset="0"/>
                                  </a:rPr>
                                  <m:t>0.2468</m:t>
                                </m:r>
                              </m:e>
                              <m:e>
                                <m:r>
                                  <a:rPr lang="en-US" sz="900" b="0" i="0">
                                    <a:latin typeface="Cambria Math" panose="02040503050406030204" pitchFamily="18" charset="0"/>
                                  </a:rPr>
                                  <m:t>−0.2180</m:t>
                                </m:r>
                              </m:e>
                              <m:e>
                                <m:r>
                                  <a:rPr lang="en-US" sz="900" b="0" i="0">
                                    <a:latin typeface="Cambria Math" panose="02040503050406030204" pitchFamily="18" charset="0"/>
                                  </a:rPr>
                                  <m:t>1.2346</m:t>
                                </m:r>
                              </m:e>
                              <m:e>
                                <m:r>
                                  <a:rPr lang="en-US" sz="900" b="0" i="0">
                                    <a:latin typeface="Cambria Math" panose="02040503050406030204" pitchFamily="18" charset="0"/>
                                  </a:rPr>
                                  <m:t>0.2477</m:t>
                                </m:r>
                              </m:e>
                              <m:e>
                                <m:r>
                                  <a:rPr lang="en-US" sz="900" b="0" i="0">
                                    <a:latin typeface="Cambria Math" panose="02040503050406030204" pitchFamily="18" charset="0"/>
                                  </a:rPr>
                                  <m:t>−0.0829</m:t>
                                </m:r>
                              </m:e>
                            </m:mr>
                            <m:mr>
                              <m:e>
                                <m:r>
                                  <a:rPr lang="en-US" sz="900" b="0" i="0">
                                    <a:latin typeface="Cambria Math" panose="02040503050406030204" pitchFamily="18" charset="0"/>
                                  </a:rPr>
                                  <m:t>−0.0922</m:t>
                                </m:r>
                              </m:e>
                              <m:e>
                                <m:r>
                                  <a:rPr lang="en-US" sz="900" b="0" i="0">
                                    <a:latin typeface="Cambria Math" panose="02040503050406030204" pitchFamily="18" charset="0"/>
                                  </a:rPr>
                                  <m:t>0.2368</m:t>
                                </m:r>
                              </m:e>
                              <m:e>
                                <m:r>
                                  <a:rPr lang="en-US" sz="900" b="0" i="0">
                                    <a:latin typeface="Cambria Math" panose="02040503050406030204" pitchFamily="18" charset="0"/>
                                  </a:rPr>
                                  <m:t>−0.0955</m:t>
                                </m:r>
                              </m:e>
                              <m:e>
                                <m:r>
                                  <a:rPr lang="en-US" sz="900" b="0" i="0">
                                    <a:latin typeface="Cambria Math" panose="02040503050406030204" pitchFamily="18" charset="0"/>
                                  </a:rPr>
                                  <m:t>0.2320</m:t>
                                </m:r>
                              </m:e>
                              <m:e>
                                <m:r>
                                  <a:rPr lang="en-US" sz="900" b="0" i="0">
                                    <a:latin typeface="Cambria Math" panose="02040503050406030204" pitchFamily="18" charset="0"/>
                                  </a:rPr>
                                  <m:t>1.2519</m:t>
                                </m:r>
                              </m:e>
                              <m:e>
                                <m:r>
                                  <a:rPr lang="en-US" sz="900" b="0" i="0">
                                    <a:latin typeface="Cambria Math" panose="02040503050406030204" pitchFamily="18" charset="0"/>
                                  </a:rPr>
                                  <m:t>−0.2255</m:t>
                                </m:r>
                              </m:e>
                            </m:mr>
                            <m:mr>
                              <m:e>
                                <m:r>
                                  <a:rPr lang="en-US" sz="900" b="0" i="0">
                                    <a:latin typeface="Cambria Math" panose="02040503050406030204" pitchFamily="18" charset="0"/>
                                  </a:rPr>
                                  <m:t>−0.2655</m:t>
                                </m:r>
                              </m:e>
                              <m:e>
                                <m:r>
                                  <a:rPr lang="en-US" sz="900" b="0" i="0">
                                    <a:latin typeface="Cambria Math" panose="02040503050406030204" pitchFamily="18" charset="0"/>
                                  </a:rPr>
                                  <m:t>−0.2723</m:t>
                                </m:r>
                              </m:e>
                              <m:e>
                                <m:r>
                                  <a:rPr lang="en-US" sz="900" b="0" i="0">
                                    <a:latin typeface="Cambria Math" panose="02040503050406030204" pitchFamily="18" charset="0"/>
                                  </a:rPr>
                                  <m:t>−0.2622</m:t>
                                </m:r>
                              </m:e>
                              <m:e>
                                <m:r>
                                  <a:rPr lang="en-US" sz="900" b="0" i="0">
                                    <a:latin typeface="Cambria Math" panose="02040503050406030204" pitchFamily="18" charset="0"/>
                                  </a:rPr>
                                  <m:t>−0.2671</m:t>
                                </m:r>
                              </m:e>
                              <m:e>
                                <m:r>
                                  <a:rPr lang="en-US" sz="900" b="0" i="0">
                                    <a:latin typeface="Cambria Math" panose="02040503050406030204" pitchFamily="18" charset="0"/>
                                  </a:rPr>
                                  <m:t>−0.3353</m:t>
                                </m:r>
                              </m:e>
                              <m:e>
                                <m:r>
                                  <a:rPr lang="en-US" sz="900" b="0" i="0">
                                    <a:latin typeface="Cambria Math" panose="02040503050406030204" pitchFamily="18" charset="0"/>
                                  </a:rPr>
                                  <m:t>0.8344</m:t>
                                </m:r>
                              </m:e>
                            </m:mr>
                          </m:m>
                        </m:e>
                      </m:d>
                      <m:r>
                        <a:rPr lang="en-US" sz="90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200400" y="932688"/>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421089" y="1869440"/>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875.1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6.5513×</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421089" y="1869440"/>
                <a:ext cx="3233712" cy="256032"/>
              </a:xfrm>
              <a:prstGeom prst="rect">
                <a:avLst/>
              </a:prstGeom>
              <a:blipFill>
                <a:blip r:embed="rId22"/>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200400" y="2615184"/>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−0.3802</m:t>
                                </m:r>
                              </m:e>
                              <m:e>
                                <m:r>
                                  <a:rPr lang="en-US" sz="900" b="0" i="0">
                                    <a:latin typeface="Cambria Math" panose="02040503050406030204" pitchFamily="18" charset="0"/>
                                  </a:rPr>
                                  <m:t>−0.1534</m:t>
                                </m:r>
                              </m:e>
                              <m:e>
                                <m:r>
                                  <a:rPr lang="en-US" sz="900" b="0" i="0">
                                    <a:latin typeface="Cambria Math" panose="02040503050406030204" pitchFamily="18" charset="0"/>
                                  </a:rPr>
                                  <m:t>−0.3142</m:t>
                                </m:r>
                              </m:e>
                              <m:e>
                                <m:r>
                                  <a:rPr lang="en-US" sz="900" b="0" i="0">
                                    <a:latin typeface="Cambria Math" panose="02040503050406030204" pitchFamily="18" charset="0"/>
                                  </a:rPr>
                                  <m:t>−0.3247</m:t>
                                </m:r>
                              </m:e>
                              <m:e>
                                <m:r>
                                  <a:rPr lang="en-US" sz="900" b="0" i="0">
                                    <a:latin typeface="Cambria Math" panose="02040503050406030204" pitchFamily="18" charset="0"/>
                                  </a:rPr>
                                  <m:t>−0.1519</m:t>
                                </m:r>
                              </m:e>
                            </m:mr>
                            <m:mr>
                              <m:e>
                                <m:r>
                                  <a:rPr lang="en-US" sz="900" b="0" i="0">
                                    <a:latin typeface="Cambria Math" panose="02040503050406030204" pitchFamily="18" charset="0"/>
                                  </a:rPr>
                                  <m:t>−0.0870</m:t>
                                </m:r>
                              </m:e>
                              <m:e>
                                <m:r>
                                  <a:rPr lang="en-US" sz="900" b="0" i="0">
                                    <a:latin typeface="Cambria Math" panose="02040503050406030204" pitchFamily="18" charset="0"/>
                                  </a:rPr>
                                  <m:t>1.0354</m:t>
                                </m:r>
                              </m:e>
                              <m:e>
                                <m:r>
                                  <a:rPr lang="en-US" sz="900" b="0" i="0">
                                    <a:latin typeface="Cambria Math" panose="02040503050406030204" pitchFamily="18" charset="0"/>
                                  </a:rPr>
                                  <m:t>−0.0524</m:t>
                                </m:r>
                              </m:e>
                              <m:e>
                                <m:r>
                                  <a:rPr lang="en-US" sz="900" b="0" i="0">
                                    <a:latin typeface="Cambria Math" panose="02040503050406030204" pitchFamily="18" charset="0"/>
                                  </a:rPr>
                                  <m:t>0.2247</m:t>
                                </m:r>
                              </m:e>
                              <m:e>
                                <m:r>
                                  <a:rPr lang="en-US" sz="900" b="0" i="0">
                                    <a:latin typeface="Cambria Math" panose="02040503050406030204" pitchFamily="18" charset="0"/>
                                  </a:rPr>
                                  <m:t>0.2344</m:t>
                                </m:r>
                              </m:e>
                              <m:e>
                                <m:r>
                                  <a:rPr lang="en-US" sz="900" b="0" i="0">
                                    <a:latin typeface="Cambria Math" panose="02040503050406030204" pitchFamily="18" charset="0"/>
                                  </a:rPr>
                                  <m:t>−0.0516</m:t>
                                </m:r>
                              </m:e>
                            </m:mr>
                            <m:mr>
                              <m:e>
                                <m:r>
                                  <a:rPr lang="en-US" sz="900" b="0" i="0">
                                    <a:latin typeface="Cambria Math" panose="02040503050406030204" pitchFamily="18" charset="0"/>
                                  </a:rPr>
                                  <m:t>−0.1588</m:t>
                                </m:r>
                              </m:e>
                              <m:e>
                                <m:r>
                                  <a:rPr lang="en-US" sz="900" b="0" i="0">
                                    <a:latin typeface="Cambria Math" panose="02040503050406030204" pitchFamily="18" charset="0"/>
                                  </a:rPr>
                                  <m:t>−0.3220</m:t>
                                </m:r>
                              </m:e>
                              <m:e>
                                <m:r>
                                  <a:rPr lang="en-US" sz="900" b="0" i="0">
                                    <a:latin typeface="Cambria Math" panose="02040503050406030204" pitchFamily="18" charset="0"/>
                                  </a:rPr>
                                  <m:t>0.8266</m:t>
                                </m:r>
                              </m:e>
                              <m:e>
                                <m:r>
                                  <a:rPr lang="en-US" sz="900" b="0" i="0">
                                    <a:latin typeface="Cambria Math" panose="02040503050406030204" pitchFamily="18" charset="0"/>
                                  </a:rPr>
                                  <m:t>−0.3816</m:t>
                                </m:r>
                              </m:e>
                              <m:e>
                                <m:r>
                                  <a:rPr lang="en-US" sz="900" b="0" i="0">
                                    <a:latin typeface="Cambria Math" panose="02040503050406030204" pitchFamily="18" charset="0"/>
                                  </a:rPr>
                                  <m:t>−0.3284</m:t>
                                </m:r>
                              </m:e>
                              <m:e>
                                <m:r>
                                  <a:rPr lang="en-US" sz="900" b="0" i="0">
                                    <a:latin typeface="Cambria Math" panose="02040503050406030204" pitchFamily="18" charset="0"/>
                                  </a:rPr>
                                  <m:t>−0.1591</m:t>
                                </m:r>
                              </m:e>
                            </m:mr>
                            <m:mr>
                              <m:e>
                                <m:r>
                                  <a:rPr lang="en-US" sz="900" b="0" i="0">
                                    <a:latin typeface="Cambria Math" panose="02040503050406030204" pitchFamily="18" charset="0"/>
                                  </a:rPr>
                                  <m:t>−0.0575</m:t>
                                </m:r>
                              </m:e>
                              <m:e>
                                <m:r>
                                  <a:rPr lang="en-US" sz="900" b="0" i="0">
                                    <a:latin typeface="Cambria Math" panose="02040503050406030204" pitchFamily="18" charset="0"/>
                                  </a:rPr>
                                  <m:t>0.2264</m:t>
                                </m:r>
                              </m:e>
                              <m:e>
                                <m:r>
                                  <a:rPr lang="en-US" sz="900" b="0" i="0">
                                    <a:latin typeface="Cambria Math" panose="02040503050406030204" pitchFamily="18" charset="0"/>
                                  </a:rPr>
                                  <m:t>−0.0893</m:t>
                                </m:r>
                              </m:e>
                              <m:e>
                                <m:r>
                                  <a:rPr lang="en-US" sz="900" b="0" i="0">
                                    <a:latin typeface="Cambria Math" panose="02040503050406030204" pitchFamily="18" charset="0"/>
                                  </a:rPr>
                                  <m:t>1.0290</m:t>
                                </m:r>
                              </m:e>
                              <m:e>
                                <m:r>
                                  <a:rPr lang="en-US" sz="900" b="0" i="0">
                                    <a:latin typeface="Cambria Math" panose="02040503050406030204" pitchFamily="18" charset="0"/>
                                  </a:rPr>
                                  <m:t>0.2265</m:t>
                                </m:r>
                              </m:e>
                              <m:e>
                                <m:r>
                                  <a:rPr lang="en-US" sz="900" b="0" i="0">
                                    <a:latin typeface="Cambria Math" panose="02040503050406030204" pitchFamily="18" charset="0"/>
                                  </a:rPr>
                                  <m:t>−0.0527</m:t>
                                </m:r>
                              </m:e>
                            </m:mr>
                            <m:mr>
                              <m:e>
                                <m:r>
                                  <a:rPr lang="en-US" sz="900" b="0" i="0">
                                    <a:latin typeface="Cambria Math" panose="02040503050406030204" pitchFamily="18" charset="0"/>
                                  </a:rPr>
                                  <m:t>−0.0602</m:t>
                                </m:r>
                              </m:e>
                              <m:e>
                                <m:r>
                                  <a:rPr lang="en-US" sz="900" b="0" i="0">
                                    <a:latin typeface="Cambria Math" panose="02040503050406030204" pitchFamily="18" charset="0"/>
                                  </a:rPr>
                                  <m:t>0.2176</m:t>
                                </m:r>
                              </m:e>
                              <m:e>
                                <m:r>
                                  <a:rPr lang="en-US" sz="900" b="0" i="0">
                                    <a:latin typeface="Cambria Math" panose="02040503050406030204" pitchFamily="18" charset="0"/>
                                  </a:rPr>
                                  <m:t>−0.0609</m:t>
                                </m:r>
                              </m:e>
                              <m:e>
                                <m:r>
                                  <a:rPr lang="en-US" sz="900" b="0" i="0">
                                    <a:latin typeface="Cambria Math" panose="02040503050406030204" pitchFamily="18" charset="0"/>
                                  </a:rPr>
                                  <m:t>0.2139</m:t>
                                </m:r>
                              </m:e>
                              <m:e>
                                <m:r>
                                  <a:rPr lang="en-US" sz="900" b="0" i="0">
                                    <a:latin typeface="Cambria Math" panose="02040503050406030204" pitchFamily="18" charset="0"/>
                                  </a:rPr>
                                  <m:t>1.0378</m:t>
                                </m:r>
                              </m:e>
                              <m:e>
                                <m:r>
                                  <a:rPr lang="en-US" sz="900" b="0" i="0">
                                    <a:latin typeface="Cambria Math" panose="02040503050406030204" pitchFamily="18" charset="0"/>
                                  </a:rPr>
                                  <m:t>−0.0931</m:t>
                                </m:r>
                              </m:e>
                            </m:mr>
                            <m:mr>
                              <m:e>
                                <m:r>
                                  <a:rPr lang="en-US" sz="900" b="0" i="0">
                                    <a:latin typeface="Cambria Math" panose="02040503050406030204" pitchFamily="18" charset="0"/>
                                  </a:rPr>
                                  <m:t>−0.1489</m:t>
                                </m:r>
                              </m:e>
                              <m:e>
                                <m:r>
                                  <a:rPr lang="en-US" sz="900" b="0" i="0">
                                    <a:latin typeface="Cambria Math" panose="02040503050406030204" pitchFamily="18" charset="0"/>
                                  </a:rPr>
                                  <m:t>−0.3113</m:t>
                                </m:r>
                              </m:e>
                              <m:e>
                                <m:r>
                                  <a:rPr lang="en-US" sz="900" b="0" i="0">
                                    <a:latin typeface="Cambria Math" panose="02040503050406030204" pitchFamily="18" charset="0"/>
                                  </a:rPr>
                                  <m:t>−0.1447</m:t>
                                </m:r>
                              </m:e>
                              <m:e>
                                <m:r>
                                  <a:rPr lang="en-US" sz="900" b="0" i="0">
                                    <a:latin typeface="Cambria Math" panose="02040503050406030204" pitchFamily="18" charset="0"/>
                                  </a:rPr>
                                  <m:t>−0.3055</m:t>
                                </m:r>
                              </m:e>
                              <m:e>
                                <m:r>
                                  <a:rPr lang="en-US" sz="900" b="0" i="0">
                                    <a:latin typeface="Cambria Math" panose="02040503050406030204" pitchFamily="18" charset="0"/>
                                  </a:rPr>
                                  <m:t>−0.3773</m:t>
                                </m:r>
                              </m:e>
                              <m:e>
                                <m:r>
                                  <a:rPr lang="en-US" sz="900" b="0" i="0">
                                    <a:latin typeface="Cambria Math" panose="02040503050406030204" pitchFamily="18" charset="0"/>
                                  </a:rPr>
                                  <m:t>0.8390</m:t>
                                </m:r>
                              </m:e>
                            </m:mr>
                          </m:m>
                        </m:e>
                      </m:d>
                    </m:oMath>
                  </m:oMathPara>
                </a14:m>
                <a:endParaRPr lang="en-US" sz="9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200400" y="2615184"/>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200400" y="3584448"/>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0.0185</m:t>
                                </m:r>
                              </m:e>
                              <m:e>
                                <m:r>
                                  <a:rPr lang="en-US" sz="900" b="0" i="0">
                                    <a:latin typeface="Cambria Math" panose="02040503050406030204" pitchFamily="18" charset="0"/>
                                  </a:rPr>
                                  <m:t>0.0203</m:t>
                                </m:r>
                              </m:e>
                              <m:e>
                                <m:r>
                                  <a:rPr lang="en-US" sz="900" b="0" i="0">
                                    <a:latin typeface="Cambria Math" panose="02040503050406030204" pitchFamily="18" charset="0"/>
                                  </a:rPr>
                                  <m:t>−0.1173</m:t>
                                </m:r>
                              </m:e>
                              <m:e>
                                <m:r>
                                  <a:rPr lang="en-US" sz="900" b="0" i="0">
                                    <a:latin typeface="Cambria Math" panose="02040503050406030204" pitchFamily="18" charset="0"/>
                                  </a:rPr>
                                  <m:t>0.0024</m:t>
                                </m:r>
                              </m:e>
                              <m:e>
                                <m:r>
                                  <a:rPr lang="en-US" sz="900" b="0" i="0">
                                    <a:latin typeface="Cambria Math" panose="02040503050406030204" pitchFamily="18" charset="0"/>
                                  </a:rPr>
                                  <m:t>0.0018</m:t>
                                </m:r>
                              </m:e>
                              <m:e>
                                <m:r>
                                  <a:rPr lang="en-US" sz="900" b="0" i="0">
                                    <a:latin typeface="Cambria Math" panose="02040503050406030204" pitchFamily="18" charset="0"/>
                                  </a:rPr>
                                  <m:t>−0.1186</m:t>
                                </m:r>
                              </m:e>
                            </m:mr>
                            <m:mr>
                              <m:e>
                                <m:r>
                                  <a:rPr lang="en-US" sz="900" b="0" i="0">
                                    <a:latin typeface="Cambria Math" panose="02040503050406030204" pitchFamily="18" charset="0"/>
                                  </a:rPr>
                                  <m:t>−0.1183</m:t>
                                </m:r>
                              </m:e>
                              <m:e>
                                <m:r>
                                  <a:rPr lang="en-US" sz="900" b="0" i="0">
                                    <a:latin typeface="Cambria Math" panose="02040503050406030204" pitchFamily="18" charset="0"/>
                                  </a:rPr>
                                  <m:t>0.0026</m:t>
                                </m:r>
                              </m:e>
                              <m:e>
                                <m:r>
                                  <a:rPr lang="en-US" sz="900" b="0" i="0">
                                    <a:latin typeface="Cambria Math" panose="02040503050406030204" pitchFamily="18" charset="0"/>
                                  </a:rPr>
                                  <m:t>0.0168</m:t>
                                </m:r>
                              </m:e>
                              <m:e>
                                <m:r>
                                  <a:rPr lang="en-US" sz="900" b="0" i="0">
                                    <a:latin typeface="Cambria Math" panose="02040503050406030204" pitchFamily="18" charset="0"/>
                                  </a:rPr>
                                  <m:t>0.0163</m:t>
                                </m:r>
                              </m:e>
                              <m:e>
                                <m:r>
                                  <a:rPr lang="en-US" sz="900" b="0" i="0">
                                    <a:latin typeface="Cambria Math" panose="02040503050406030204" pitchFamily="18" charset="0"/>
                                  </a:rPr>
                                  <m:t>0.0019</m:t>
                                </m:r>
                              </m:e>
                              <m:e>
                                <m:r>
                                  <a:rPr lang="en-US" sz="900" b="0" i="0">
                                    <a:latin typeface="Cambria Math" panose="02040503050406030204" pitchFamily="18" charset="0"/>
                                  </a:rPr>
                                  <m:t>−0.1185</m:t>
                                </m:r>
                              </m:e>
                            </m:mr>
                            <m:mr>
                              <m:e>
                                <m:r>
                                  <a:rPr lang="en-US" sz="900" b="0" i="0">
                                    <a:latin typeface="Cambria Math" panose="02040503050406030204" pitchFamily="18" charset="0"/>
                                  </a:rPr>
                                  <m:t>0.1182</m:t>
                                </m:r>
                              </m:e>
                              <m:e>
                                <m:r>
                                  <a:rPr lang="en-US" sz="900" b="0" i="0">
                                    <a:latin typeface="Cambria Math" panose="02040503050406030204" pitchFamily="18" charset="0"/>
                                  </a:rPr>
                                  <m:t>−0.0029</m:t>
                                </m:r>
                              </m:e>
                              <m:e>
                                <m:r>
                                  <a:rPr lang="en-US" sz="900" b="0" i="0">
                                    <a:latin typeface="Cambria Math" panose="02040503050406030204" pitchFamily="18" charset="0"/>
                                  </a:rPr>
                                  <m:t>0.1166</m:t>
                                </m:r>
                              </m:e>
                              <m:e>
                                <m:r>
                                  <a:rPr lang="en-US" sz="900" b="0" i="0">
                                    <a:latin typeface="Cambria Math" panose="02040503050406030204" pitchFamily="18" charset="0"/>
                                  </a:rPr>
                                  <m:t>−0.0029</m:t>
                                </m:r>
                              </m:e>
                              <m:e>
                                <m:r>
                                  <a:rPr lang="en-US" sz="900" b="0" i="0">
                                    <a:latin typeface="Cambria Math" panose="02040503050406030204" pitchFamily="18" charset="0"/>
                                  </a:rPr>
                                  <m:t>−0.0186</m:t>
                                </m:r>
                              </m:e>
                              <m:e>
                                <m:r>
                                  <a:rPr lang="en-US" sz="900" b="0" i="0">
                                    <a:latin typeface="Cambria Math" panose="02040503050406030204" pitchFamily="18" charset="0"/>
                                  </a:rPr>
                                  <m:t>−0.0199</m:t>
                                </m:r>
                              </m:e>
                            </m:mr>
                          </m:m>
                        </m:e>
                      </m:d>
                    </m:oMath>
                  </m:oMathPara>
                </a14:m>
                <a:endParaRPr lang="en-US" sz="90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200400" y="3584448"/>
                <a:ext cx="3632200" cy="457200"/>
              </a:xfrm>
              <a:prstGeom prst="rect">
                <a:avLst/>
              </a:prstGeom>
              <a:blipFill>
                <a:blip r:embed="rId24"/>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200401" y="41148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873.0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7.6756×</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200401" y="4114800"/>
                <a:ext cx="3556000" cy="256032"/>
              </a:xfrm>
              <a:prstGeom prst="rect">
                <a:avLst/>
              </a:prstGeom>
              <a:blipFill>
                <a:blip r:embed="rId25"/>
                <a:stretch>
                  <a:fillRect t="-9524"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47CCE1-4504-404E-836B-C65D993B87CC}"/>
                  </a:ext>
                </a:extLst>
              </p:cNvPr>
              <p:cNvSpPr txBox="1"/>
              <p:nvPr/>
            </p:nvSpPr>
            <p:spPr>
              <a:xfrm>
                <a:off x="6756400" y="83210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56400" y="832104"/>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BA49798-FF6E-40E0-BBA9-161C19277A44}"/>
                  </a:ext>
                </a:extLst>
              </p:cNvPr>
              <p:cNvSpPr txBox="1"/>
              <p:nvPr/>
            </p:nvSpPr>
            <p:spPr>
              <a:xfrm>
                <a:off x="6832600" y="258317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32600" y="2583179"/>
                <a:ext cx="4191000" cy="549509"/>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3217782" y="4370832"/>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1159.5668</m:t>
                                </m:r>
                              </m:e>
                              <m:e>
                                <m:r>
                                  <a:rPr lang="en-US" sz="1050" b="0" i="0">
                                    <a:latin typeface="Cambria Math" panose="02040503050406030204" pitchFamily="18" charset="0"/>
                                  </a:rPr>
                                  <m:t>−23.5248</m:t>
                                </m:r>
                              </m:e>
                              <m:e>
                                <m:r>
                                  <a:rPr lang="en-US" sz="1050" b="0" i="0">
                                    <a:latin typeface="Cambria Math" panose="02040503050406030204" pitchFamily="18" charset="0"/>
                                  </a:rPr>
                                  <m:t>−213.7308</m:t>
                                </m:r>
                              </m:e>
                              <m:e>
                                <m:r>
                                  <a:rPr lang="en-US" sz="1050" b="0" i="0">
                                    <a:latin typeface="Cambria Math" panose="02040503050406030204" pitchFamily="18" charset="0"/>
                                  </a:rPr>
                                  <m:t>−208.7612</m:t>
                                </m:r>
                              </m:e>
                              <m:e>
                                <m:r>
                                  <a:rPr lang="en-US" sz="1050" b="0" i="0">
                                    <a:latin typeface="Cambria Math" panose="02040503050406030204" pitchFamily="18" charset="0"/>
                                  </a:rPr>
                                  <m:t>−202.0178</m:t>
                                </m:r>
                              </m:e>
                              <m:e>
                                <m:r>
                                  <a:rPr lang="en-US" sz="1050" b="0" i="0">
                                    <a:latin typeface="Cambria Math" panose="02040503050406030204" pitchFamily="18" charset="0"/>
                                  </a:rPr>
                                  <m:t>−217.6552</m:t>
                                </m:r>
                              </m:e>
                            </m:mr>
                            <m:mr>
                              <m:e>
                                <m:r>
                                  <a:rPr lang="en-US" sz="1050" b="0" i="0">
                                    <a:latin typeface="Cambria Math" panose="02040503050406030204" pitchFamily="18" charset="0"/>
                                  </a:rPr>
                                  <m:t>−25.8751</m:t>
                                </m:r>
                              </m:e>
                              <m:e>
                                <m:r>
                                  <a:rPr lang="en-US" sz="1050" b="0" i="0">
                                    <a:latin typeface="Cambria Math" panose="02040503050406030204" pitchFamily="18" charset="0"/>
                                  </a:rPr>
                                  <m:t>1270.3779</m:t>
                                </m:r>
                              </m:e>
                              <m:e>
                                <m:r>
                                  <a:rPr lang="en-US" sz="1050" b="0" i="0">
                                    <a:latin typeface="Cambria Math" panose="02040503050406030204" pitchFamily="18" charset="0"/>
                                  </a:rPr>
                                  <m:t>−194.5319</m:t>
                                </m:r>
                              </m:e>
                              <m:e>
                                <m:r>
                                  <a:rPr lang="en-US" sz="1050" b="0" i="0">
                                    <a:latin typeface="Cambria Math" panose="02040503050406030204" pitchFamily="18" charset="0"/>
                                  </a:rPr>
                                  <m:t>−385.6372</m:t>
                                </m:r>
                              </m:e>
                              <m:e>
                                <m:r>
                                  <a:rPr lang="en-US" sz="1050" b="0" i="0">
                                    <a:latin typeface="Cambria Math" panose="02040503050406030204" pitchFamily="18" charset="0"/>
                                  </a:rPr>
                                  <m:t>−395.0217</m:t>
                                </m:r>
                              </m:e>
                              <m:e>
                                <m:r>
                                  <a:rPr lang="en-US" sz="1050" b="0" i="0">
                                    <a:latin typeface="Cambria Math" panose="02040503050406030204" pitchFamily="18" charset="0"/>
                                  </a:rPr>
                                  <m:t>−196.1640</m:t>
                                </m:r>
                              </m:e>
                            </m:mr>
                            <m:mr>
                              <m:e>
                                <m:r>
                                  <a:rPr lang="en-US" sz="1050" b="0" i="0">
                                    <a:latin typeface="Cambria Math" panose="02040503050406030204" pitchFamily="18" charset="0"/>
                                  </a:rPr>
                                  <m:t>−214.4977</m:t>
                                </m:r>
                              </m:e>
                              <m:e>
                                <m:r>
                                  <a:rPr lang="en-US" sz="1050" b="0" i="0">
                                    <a:latin typeface="Cambria Math" panose="02040503050406030204" pitchFamily="18" charset="0"/>
                                  </a:rPr>
                                  <m:t>−207.8367</m:t>
                                </m:r>
                              </m:e>
                              <m:e>
                                <m:r>
                                  <a:rPr lang="en-US" sz="1050" b="0" i="0">
                                    <a:latin typeface="Cambria Math" panose="02040503050406030204" pitchFamily="18" charset="0"/>
                                  </a:rPr>
                                  <m:t>1164.1663</m:t>
                                </m:r>
                              </m:e>
                              <m:e>
                                <m:r>
                                  <a:rPr lang="en-US" sz="1050" b="0" i="0">
                                    <a:latin typeface="Cambria Math" panose="02040503050406030204" pitchFamily="18" charset="0"/>
                                  </a:rPr>
                                  <m:t>−23.2533</m:t>
                                </m:r>
                              </m:e>
                              <m:e>
                                <m:r>
                                  <a:rPr lang="en-US" sz="1050" b="0" i="0">
                                    <a:latin typeface="Cambria Math" panose="02040503050406030204" pitchFamily="18" charset="0"/>
                                  </a:rPr>
                                  <m:t>−202.7730</m:t>
                                </m:r>
                              </m:e>
                              <m:e>
                                <m:r>
                                  <a:rPr lang="en-US" sz="1050" b="0" i="0">
                                    <a:latin typeface="Cambria Math" panose="02040503050406030204" pitchFamily="18" charset="0"/>
                                  </a:rPr>
                                  <m:t>−213.7765</m:t>
                                </m:r>
                              </m:e>
                            </m:mr>
                            <m:mr>
                              <m:e>
                                <m:r>
                                  <a:rPr lang="en-US" sz="1050" b="0" i="0">
                                    <a:latin typeface="Cambria Math" panose="02040503050406030204" pitchFamily="18" charset="0"/>
                                  </a:rPr>
                                  <m:t>−194.8479</m:t>
                                </m:r>
                              </m:e>
                              <m:e>
                                <m:r>
                                  <a:rPr lang="en-US" sz="1050" b="0" i="0">
                                    <a:latin typeface="Cambria Math" panose="02040503050406030204" pitchFamily="18" charset="0"/>
                                  </a:rPr>
                                  <m:t>−391.6311</m:t>
                                </m:r>
                              </m:e>
                              <m:e>
                                <m:r>
                                  <a:rPr lang="en-US" sz="1050" b="0" i="0">
                                    <a:latin typeface="Cambria Math" panose="02040503050406030204" pitchFamily="18" charset="0"/>
                                  </a:rPr>
                                  <m:t>−25.8715</m:t>
                                </m:r>
                              </m:e>
                              <m:e>
                                <m:r>
                                  <a:rPr lang="en-US" sz="1050" b="0" i="0">
                                    <a:latin typeface="Cambria Math" panose="02040503050406030204" pitchFamily="18" charset="0"/>
                                  </a:rPr>
                                  <m:t>1278.5043</m:t>
                                </m:r>
                              </m:e>
                              <m:e>
                                <m:r>
                                  <a:rPr lang="en-US" sz="1050" b="0" i="0">
                                    <a:latin typeface="Cambria Math" panose="02040503050406030204" pitchFamily="18" charset="0"/>
                                  </a:rPr>
                                  <m:t>−387.9531</m:t>
                                </m:r>
                              </m:e>
                              <m:e>
                                <m:r>
                                  <a:rPr lang="en-US" sz="1050" b="0" i="0">
                                    <a:latin typeface="Cambria Math" panose="02040503050406030204" pitchFamily="18" charset="0"/>
                                  </a:rPr>
                                  <m:t>−200.2446</m:t>
                                </m:r>
                              </m:e>
                            </m:mr>
                            <m:mr>
                              <m:e>
                                <m:r>
                                  <a:rPr lang="en-US" sz="1050" b="0" i="0">
                                    <a:latin typeface="Cambria Math" panose="02040503050406030204" pitchFamily="18" charset="0"/>
                                  </a:rPr>
                                  <m:t>−194.4885</m:t>
                                </m:r>
                              </m:e>
                              <m:e>
                                <m:r>
                                  <a:rPr lang="en-US" sz="1050" b="0" i="0">
                                    <a:latin typeface="Cambria Math" panose="02040503050406030204" pitchFamily="18" charset="0"/>
                                  </a:rPr>
                                  <m:t>−382.5715</m:t>
                                </m:r>
                              </m:e>
                              <m:e>
                                <m:r>
                                  <a:rPr lang="en-US" sz="1050" b="0" i="0">
                                    <a:latin typeface="Cambria Math" panose="02040503050406030204" pitchFamily="18" charset="0"/>
                                  </a:rPr>
                                  <m:t>−191.0582</m:t>
                                </m:r>
                              </m:e>
                              <m:e>
                                <m:r>
                                  <a:rPr lang="en-US" sz="1050" b="0" i="0">
                                    <a:latin typeface="Cambria Math" panose="02040503050406030204" pitchFamily="18" charset="0"/>
                                  </a:rPr>
                                  <m:t>−380.5290</m:t>
                                </m:r>
                              </m:e>
                              <m:e>
                                <m:r>
                                  <a:rPr lang="en-US" sz="1050" b="0" i="0">
                                    <a:latin typeface="Cambria Math" panose="02040503050406030204" pitchFamily="18" charset="0"/>
                                  </a:rPr>
                                  <m:t>1259.5404</m:t>
                                </m:r>
                              </m:e>
                              <m:e>
                                <m:r>
                                  <a:rPr lang="en-US" sz="1050" b="0" i="0">
                                    <a:latin typeface="Cambria Math" panose="02040503050406030204" pitchFamily="18" charset="0"/>
                                  </a:rPr>
                                  <m:t>−25.1148</m:t>
                                </m:r>
                              </m:e>
                            </m:mr>
                            <m:mr>
                              <m:e>
                                <m:r>
                                  <a:rPr lang="en-US" sz="1050" b="0" i="0">
                                    <a:latin typeface="Cambria Math" panose="02040503050406030204" pitchFamily="18" charset="0"/>
                                  </a:rPr>
                                  <m:t>−215.1006</m:t>
                                </m:r>
                              </m:e>
                              <m:e>
                                <m:r>
                                  <a:rPr lang="en-US" sz="1050" b="0" i="0">
                                    <a:latin typeface="Cambria Math" panose="02040503050406030204" pitchFamily="18" charset="0"/>
                                  </a:rPr>
                                  <m:t>−206.1265</m:t>
                                </m:r>
                              </m:e>
                              <m:e>
                                <m:r>
                                  <a:rPr lang="en-US" sz="1050" b="0" i="0">
                                    <a:latin typeface="Cambria Math" panose="02040503050406030204" pitchFamily="18" charset="0"/>
                                  </a:rPr>
                                  <m:t>−218.6404</m:t>
                                </m:r>
                              </m:e>
                              <m:e>
                                <m:r>
                                  <a:rPr lang="en-US" sz="1050" b="0" i="0">
                                    <a:latin typeface="Cambria Math" panose="02040503050406030204" pitchFamily="18" charset="0"/>
                                  </a:rPr>
                                  <m:t>−212.7699</m:t>
                                </m:r>
                              </m:e>
                              <m:e>
                                <m:r>
                                  <a:rPr lang="en-US" sz="1050" b="0" i="0">
                                    <a:latin typeface="Cambria Math" panose="02040503050406030204" pitchFamily="18" charset="0"/>
                                  </a:rPr>
                                  <m:t>−23.0765</m:t>
                                </m:r>
                              </m:e>
                              <m:e>
                                <m:r>
                                  <a:rPr lang="en-US" sz="1050" b="0" i="0">
                                    <a:latin typeface="Cambria Math" panose="02040503050406030204" pitchFamily="18" charset="0"/>
                                  </a:rPr>
                                  <m:t>1164.4823</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3217782" y="4370832"/>
                <a:ext cx="5192875" cy="947907"/>
              </a:xfrm>
              <a:prstGeom prst="rect">
                <a:avLst/>
              </a:prstGeom>
              <a:blipFill>
                <a:blip r:embed="rId29"/>
                <a:stretch>
                  <a:fillRect l="-1291" r="-4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870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409671" y="2626733"/>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418127" y="2649838"/>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804867" y="3222729"/>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91261" y="3253470"/>
              <a:ext cx="1228561" cy="1176562"/>
              <a:chOff x="2701406" y="2893183"/>
              <a:chExt cx="1228561" cy="1176562"/>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75874" y="3278260"/>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72497" y="4791315"/>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48976" y="4369251"/>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2080822" y="4023193"/>
              <a:ext cx="56534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202260" y="5009637"/>
              <a:ext cx="70684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1722778" y="4920250"/>
              <a:ext cx="716087"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646170" y="4218252"/>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D04B276D-81CC-4937-B2F5-C3C828784D45}"/>
              </a:ext>
            </a:extLst>
          </p:cNvPr>
          <p:cNvSpPr/>
          <p:nvPr/>
        </p:nvSpPr>
        <p:spPr>
          <a:xfrm>
            <a:off x="10917927" y="1323922"/>
            <a:ext cx="245534" cy="798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97843" y="1658714"/>
            <a:ext cx="453262"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 name="群組 4">
            <a:extLst>
              <a:ext uri="{FF2B5EF4-FFF2-40B4-BE49-F238E27FC236}">
                <a16:creationId xmlns:a16="http://schemas.microsoft.com/office/drawing/2014/main" id="{1076ECCF-AE78-499B-802A-49657D03E324}"/>
              </a:ext>
            </a:extLst>
          </p:cNvPr>
          <p:cNvGrpSpPr/>
          <p:nvPr/>
        </p:nvGrpSpPr>
        <p:grpSpPr>
          <a:xfrm>
            <a:off x="6937522" y="587617"/>
            <a:ext cx="4480574" cy="2181247"/>
            <a:chOff x="6659389" y="655634"/>
            <a:chExt cx="4480574" cy="2181247"/>
          </a:xfrm>
        </p:grpSpPr>
        <p:pic>
          <p:nvPicPr>
            <p:cNvPr id="4" name="圖片 3">
              <a:extLst>
                <a:ext uri="{FF2B5EF4-FFF2-40B4-BE49-F238E27FC236}">
                  <a16:creationId xmlns:a16="http://schemas.microsoft.com/office/drawing/2014/main" id="{FD0E1181-1334-454B-9EC1-F138635B0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3748" y="766703"/>
              <a:ext cx="4226819" cy="1972467"/>
            </a:xfrm>
            <a:prstGeom prst="rect">
              <a:avLst/>
            </a:prstGeom>
          </p:spPr>
        </p:pic>
        <p:grpSp>
          <p:nvGrpSpPr>
            <p:cNvPr id="126" name="群組 125">
              <a:extLst>
                <a:ext uri="{FF2B5EF4-FFF2-40B4-BE49-F238E27FC236}">
                  <a16:creationId xmlns:a16="http://schemas.microsoft.com/office/drawing/2014/main" id="{D2C34612-FE87-41C5-9E68-80C0F016BEEF}"/>
                </a:ext>
              </a:extLst>
            </p:cNvPr>
            <p:cNvGrpSpPr/>
            <p:nvPr/>
          </p:nvGrpSpPr>
          <p:grpSpPr>
            <a:xfrm>
              <a:off x="6659389" y="655634"/>
              <a:ext cx="4480574" cy="2181247"/>
              <a:chOff x="5745188" y="774368"/>
              <a:chExt cx="4480574" cy="2181247"/>
            </a:xfrm>
          </p:grpSpPr>
          <p:grpSp>
            <p:nvGrpSpPr>
              <p:cNvPr id="104" name="群組 103">
                <a:extLst>
                  <a:ext uri="{FF2B5EF4-FFF2-40B4-BE49-F238E27FC236}">
                    <a16:creationId xmlns:a16="http://schemas.microsoft.com/office/drawing/2014/main" id="{A6B76983-543C-42CB-9656-7C72DACBE64A}"/>
                  </a:ext>
                </a:extLst>
              </p:cNvPr>
              <p:cNvGrpSpPr/>
              <p:nvPr/>
            </p:nvGrpSpPr>
            <p:grpSpPr>
              <a:xfrm>
                <a:off x="5815627" y="842775"/>
                <a:ext cx="4410135" cy="2052179"/>
                <a:chOff x="5798794" y="875955"/>
                <a:chExt cx="4410135" cy="2011622"/>
              </a:xfrm>
            </p:grpSpPr>
            <p:grpSp>
              <p:nvGrpSpPr>
                <p:cNvPr id="103" name="群組 102">
                  <a:extLst>
                    <a:ext uri="{FF2B5EF4-FFF2-40B4-BE49-F238E27FC236}">
                      <a16:creationId xmlns:a16="http://schemas.microsoft.com/office/drawing/2014/main" id="{B312056C-7B99-454C-9849-1B693289290F}"/>
                    </a:ext>
                  </a:extLst>
                </p:cNvPr>
                <p:cNvGrpSpPr/>
                <p:nvPr/>
              </p:nvGrpSpPr>
              <p:grpSpPr>
                <a:xfrm>
                  <a:off x="5798794" y="875955"/>
                  <a:ext cx="4332546" cy="2011622"/>
                  <a:chOff x="5798794" y="875955"/>
                  <a:chExt cx="4332546" cy="2011622"/>
                </a:xfrm>
              </p:grpSpPr>
              <p:sp>
                <p:nvSpPr>
                  <p:cNvPr id="93" name="矩形 92">
                    <a:extLst>
                      <a:ext uri="{FF2B5EF4-FFF2-40B4-BE49-F238E27FC236}">
                        <a16:creationId xmlns:a16="http://schemas.microsoft.com/office/drawing/2014/main" id="{525AE447-9ED2-4513-9B43-301DCA1B05D1}"/>
                      </a:ext>
                    </a:extLst>
                  </p:cNvPr>
                  <p:cNvSpPr/>
                  <p:nvPr/>
                </p:nvSpPr>
                <p:spPr>
                  <a:xfrm>
                    <a:off x="6753594" y="885799"/>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a:extLst>
                      <a:ext uri="{FF2B5EF4-FFF2-40B4-BE49-F238E27FC236}">
                        <a16:creationId xmlns:a16="http://schemas.microsoft.com/office/drawing/2014/main" id="{D65C1B0B-E03C-4C86-8C56-4B5AF5A3BD39}"/>
                      </a:ext>
                    </a:extLst>
                  </p:cNvPr>
                  <p:cNvSpPr/>
                  <p:nvPr/>
                </p:nvSpPr>
                <p:spPr>
                  <a:xfrm>
                    <a:off x="8658167" y="875955"/>
                    <a:ext cx="308314" cy="19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97A0856B-15B2-45BC-9274-DEE2C95991E2}"/>
                      </a:ext>
                    </a:extLst>
                  </p:cNvPr>
                  <p:cNvSpPr/>
                  <p:nvPr/>
                </p:nvSpPr>
                <p:spPr>
                  <a:xfrm>
                    <a:off x="7598726" y="1782249"/>
                    <a:ext cx="415695" cy="21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EAF62A92-51E9-40BA-860A-15EE3CC9F38C}"/>
                      </a:ext>
                    </a:extLst>
                  </p:cNvPr>
                  <p:cNvSpPr/>
                  <p:nvPr/>
                </p:nvSpPr>
                <p:spPr>
                  <a:xfrm>
                    <a:off x="5798794" y="1782756"/>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28B6E4B-BA92-4351-AF44-9EDCF9387C43}"/>
                      </a:ext>
                    </a:extLst>
                  </p:cNvPr>
                  <p:cNvSpPr/>
                  <p:nvPr/>
                </p:nvSpPr>
                <p:spPr>
                  <a:xfrm>
                    <a:off x="6686652" y="2687208"/>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10C9BAEF-BFCC-48D3-98B8-BA829C8B86D9}"/>
                      </a:ext>
                    </a:extLst>
                  </p:cNvPr>
                  <p:cNvSpPr/>
                  <p:nvPr/>
                </p:nvSpPr>
                <p:spPr>
                  <a:xfrm>
                    <a:off x="8658167" y="26974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A6345865-5CDE-4A43-810D-D8AAECD35F25}"/>
                      </a:ext>
                    </a:extLst>
                  </p:cNvPr>
                  <p:cNvSpPr/>
                  <p:nvPr/>
                </p:nvSpPr>
                <p:spPr>
                  <a:xfrm>
                    <a:off x="9557111" y="1725679"/>
                    <a:ext cx="181350" cy="258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a:extLst>
                      <a:ext uri="{FF2B5EF4-FFF2-40B4-BE49-F238E27FC236}">
                        <a16:creationId xmlns:a16="http://schemas.microsoft.com/office/drawing/2014/main" id="{AD847CB7-AB23-4174-880D-8148114705A1}"/>
                      </a:ext>
                    </a:extLst>
                  </p:cNvPr>
                  <p:cNvSpPr/>
                  <p:nvPr/>
                </p:nvSpPr>
                <p:spPr>
                  <a:xfrm>
                    <a:off x="10008573" y="1597528"/>
                    <a:ext cx="122767" cy="571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786A494C-BAF4-4D1F-BA9A-4460EFDB47C1}"/>
                        </a:ext>
                      </a:extLst>
                    </p:cNvPr>
                    <p:cNvSpPr txBox="1"/>
                    <p:nvPr/>
                  </p:nvSpPr>
                  <p:spPr>
                    <a:xfrm rot="16200000">
                      <a:off x="9154140" y="1727490"/>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59" name="文字方塊 58">
                      <a:extLst>
                        <a:ext uri="{FF2B5EF4-FFF2-40B4-BE49-F238E27FC236}">
                          <a16:creationId xmlns:a16="http://schemas.microsoft.com/office/drawing/2014/main" id="{786A494C-BAF4-4D1F-BA9A-4460EFDB47C1}"/>
                        </a:ext>
                      </a:extLst>
                    </p:cNvPr>
                    <p:cNvSpPr txBox="1">
                      <a:spLocks noRot="1" noChangeAspect="1" noMove="1" noResize="1" noEditPoints="1" noAdjustHandles="1" noChangeArrowheads="1" noChangeShapeType="1" noTextEdit="1"/>
                    </p:cNvSpPr>
                    <p:nvPr/>
                  </p:nvSpPr>
                  <p:spPr>
                    <a:xfrm rot="16200000">
                      <a:off x="9154140" y="1727490"/>
                      <a:ext cx="1832580" cy="276999"/>
                    </a:xfrm>
                    <a:prstGeom prst="rect">
                      <a:avLst/>
                    </a:prstGeom>
                    <a:blipFill>
                      <a:blip r:embed="rId3"/>
                      <a:stretch>
                        <a:fillRect l="-95556" t="-13681" r="-148889"/>
                      </a:stretch>
                    </a:blipFill>
                  </p:spPr>
                  <p:txBody>
                    <a:bodyPr/>
                    <a:lstStyle/>
                    <a:p>
                      <a:r>
                        <a:rPr lang="zh-TW" altLang="en-US">
                          <a:noFill/>
                        </a:rPr>
                        <a:t> </a:t>
                      </a:r>
                    </a:p>
                  </p:txBody>
                </p:sp>
              </mc:Fallback>
            </mc:AlternateContent>
          </p:grpSp>
          <p:sp>
            <p:nvSpPr>
              <p:cNvPr id="114" name="文字方塊 113">
                <a:extLst>
                  <a:ext uri="{FF2B5EF4-FFF2-40B4-BE49-F238E27FC236}">
                    <a16:creationId xmlns:a16="http://schemas.microsoft.com/office/drawing/2014/main" id="{E622866F-97AA-4705-A2C2-49B20B60A011}"/>
                  </a:ext>
                </a:extLst>
              </p:cNvPr>
              <p:cNvSpPr txBox="1"/>
              <p:nvPr/>
            </p:nvSpPr>
            <p:spPr>
              <a:xfrm>
                <a:off x="7572305" y="180135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5" name="文字方塊 114">
                <a:extLst>
                  <a:ext uri="{FF2B5EF4-FFF2-40B4-BE49-F238E27FC236}">
                    <a16:creationId xmlns:a16="http://schemas.microsoft.com/office/drawing/2014/main" id="{BF354481-1145-4CE9-A8D7-E3EB0E045610}"/>
                  </a:ext>
                </a:extLst>
              </p:cNvPr>
              <p:cNvSpPr txBox="1"/>
              <p:nvPr/>
            </p:nvSpPr>
            <p:spPr>
              <a:xfrm>
                <a:off x="7703314" y="159212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36C778ED-A77C-4E31-B310-802AEAED8562}"/>
                  </a:ext>
                </a:extLst>
              </p:cNvPr>
              <p:cNvSpPr txBox="1"/>
              <p:nvPr/>
            </p:nvSpPr>
            <p:spPr>
              <a:xfrm>
                <a:off x="6682607" y="78587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FC4BE724-CC8A-4AAD-AE24-C6703DBE7809}"/>
                  </a:ext>
                </a:extLst>
              </p:cNvPr>
              <p:cNvSpPr txBox="1"/>
              <p:nvPr/>
            </p:nvSpPr>
            <p:spPr>
              <a:xfrm>
                <a:off x="5745188" y="162677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872148E4-1375-478B-B410-534E4E752F65}"/>
                  </a:ext>
                </a:extLst>
              </p:cNvPr>
              <p:cNvSpPr txBox="1"/>
              <p:nvPr/>
            </p:nvSpPr>
            <p:spPr>
              <a:xfrm>
                <a:off x="6700360" y="26478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9" name="文字方塊 118">
                <a:extLst>
                  <a:ext uri="{FF2B5EF4-FFF2-40B4-BE49-F238E27FC236}">
                    <a16:creationId xmlns:a16="http://schemas.microsoft.com/office/drawing/2014/main" id="{92DFC208-7E33-4AFA-9692-4CE531AC23A6}"/>
                  </a:ext>
                </a:extLst>
              </p:cNvPr>
              <p:cNvSpPr txBox="1"/>
              <p:nvPr/>
            </p:nvSpPr>
            <p:spPr>
              <a:xfrm>
                <a:off x="8611338" y="77436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0" name="文字方塊 119">
                <a:extLst>
                  <a:ext uri="{FF2B5EF4-FFF2-40B4-BE49-F238E27FC236}">
                    <a16:creationId xmlns:a16="http://schemas.microsoft.com/office/drawing/2014/main" id="{0C02D05A-19CA-4649-8B73-FF2BACB0F342}"/>
                  </a:ext>
                </a:extLst>
              </p:cNvPr>
              <p:cNvSpPr txBox="1"/>
              <p:nvPr/>
            </p:nvSpPr>
            <p:spPr>
              <a:xfrm>
                <a:off x="8611338" y="264407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1" name="文字方塊 120">
                <a:extLst>
                  <a:ext uri="{FF2B5EF4-FFF2-40B4-BE49-F238E27FC236}">
                    <a16:creationId xmlns:a16="http://schemas.microsoft.com/office/drawing/2014/main" id="{F88C7781-126C-4732-B416-731CA551DC04}"/>
                  </a:ext>
                </a:extLst>
              </p:cNvPr>
              <p:cNvSpPr txBox="1"/>
              <p:nvPr/>
            </p:nvSpPr>
            <p:spPr>
              <a:xfrm>
                <a:off x="9500457" y="182417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E4ABD7FA-40B3-4FE8-BC0D-584449707A8F}"/>
                      </a:ext>
                    </a:extLst>
                  </p:cNvPr>
                  <p:cNvSpPr txBox="1"/>
                  <p:nvPr/>
                </p:nvSpPr>
                <p:spPr>
                  <a:xfrm>
                    <a:off x="7004962" y="180030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E4ABD7FA-40B3-4FE8-BC0D-584449707A8F}"/>
                      </a:ext>
                    </a:extLst>
                  </p:cNvPr>
                  <p:cNvSpPr txBox="1">
                    <a:spLocks noRot="1" noChangeAspect="1" noMove="1" noResize="1" noEditPoints="1" noAdjustHandles="1" noChangeArrowheads="1" noChangeShapeType="1" noTextEdit="1"/>
                  </p:cNvSpPr>
                  <p:nvPr/>
                </p:nvSpPr>
                <p:spPr>
                  <a:xfrm>
                    <a:off x="7004962" y="1800305"/>
                    <a:ext cx="332369" cy="307777"/>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3" name="文字方塊 122">
                    <a:extLst>
                      <a:ext uri="{FF2B5EF4-FFF2-40B4-BE49-F238E27FC236}">
                        <a16:creationId xmlns:a16="http://schemas.microsoft.com/office/drawing/2014/main" id="{EC2CC104-96C8-4CFE-8762-71B98E94DB61}"/>
                      </a:ext>
                    </a:extLst>
                  </p:cNvPr>
                  <p:cNvSpPr txBox="1"/>
                  <p:nvPr/>
                </p:nvSpPr>
                <p:spPr>
                  <a:xfrm>
                    <a:off x="6537691" y="13124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3" name="文字方塊 122">
                    <a:extLst>
                      <a:ext uri="{FF2B5EF4-FFF2-40B4-BE49-F238E27FC236}">
                        <a16:creationId xmlns:a16="http://schemas.microsoft.com/office/drawing/2014/main" id="{EC2CC104-96C8-4CFE-8762-71B98E94DB61}"/>
                      </a:ext>
                    </a:extLst>
                  </p:cNvPr>
                  <p:cNvSpPr txBox="1">
                    <a:spLocks noRot="1" noChangeAspect="1" noMove="1" noResize="1" noEditPoints="1" noAdjustHandles="1" noChangeArrowheads="1" noChangeShapeType="1" noTextEdit="1"/>
                  </p:cNvSpPr>
                  <p:nvPr/>
                </p:nvSpPr>
                <p:spPr>
                  <a:xfrm>
                    <a:off x="6537691" y="1312479"/>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4" name="文字方塊 123">
                    <a:extLst>
                      <a:ext uri="{FF2B5EF4-FFF2-40B4-BE49-F238E27FC236}">
                        <a16:creationId xmlns:a16="http://schemas.microsoft.com/office/drawing/2014/main" id="{22776C41-A1CC-4F49-B102-F5A60EC60753}"/>
                      </a:ext>
                    </a:extLst>
                  </p:cNvPr>
                  <p:cNvSpPr txBox="1"/>
                  <p:nvPr/>
                </p:nvSpPr>
                <p:spPr>
                  <a:xfrm>
                    <a:off x="9021707" y="179010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4" name="文字方塊 123">
                    <a:extLst>
                      <a:ext uri="{FF2B5EF4-FFF2-40B4-BE49-F238E27FC236}">
                        <a16:creationId xmlns:a16="http://schemas.microsoft.com/office/drawing/2014/main" id="{22776C41-A1CC-4F49-B102-F5A60EC60753}"/>
                      </a:ext>
                    </a:extLst>
                  </p:cNvPr>
                  <p:cNvSpPr txBox="1">
                    <a:spLocks noRot="1" noChangeAspect="1" noMove="1" noResize="1" noEditPoints="1" noAdjustHandles="1" noChangeArrowheads="1" noChangeShapeType="1" noTextEdit="1"/>
                  </p:cNvSpPr>
                  <p:nvPr/>
                </p:nvSpPr>
                <p:spPr>
                  <a:xfrm>
                    <a:off x="9021707" y="1790106"/>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8B69D8F6-84BA-4CE6-9868-BCC4F0E7F1D4}"/>
                      </a:ext>
                    </a:extLst>
                  </p:cNvPr>
                  <p:cNvSpPr txBox="1"/>
                  <p:nvPr/>
                </p:nvSpPr>
                <p:spPr>
                  <a:xfrm>
                    <a:off x="8491962" y="13124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8B69D8F6-84BA-4CE6-9868-BCC4F0E7F1D4}"/>
                      </a:ext>
                    </a:extLst>
                  </p:cNvPr>
                  <p:cNvSpPr txBox="1">
                    <a:spLocks noRot="1" noChangeAspect="1" noMove="1" noResize="1" noEditPoints="1" noAdjustHandles="1" noChangeArrowheads="1" noChangeShapeType="1" noTextEdit="1"/>
                  </p:cNvSpPr>
                  <p:nvPr/>
                </p:nvSpPr>
                <p:spPr>
                  <a:xfrm>
                    <a:off x="8491962" y="1312479"/>
                    <a:ext cx="332369" cy="307777"/>
                  </a:xfrm>
                  <a:prstGeom prst="rect">
                    <a:avLst/>
                  </a:prstGeom>
                  <a:blipFill>
                    <a:blip r:embed="rId11"/>
                    <a:stretch>
                      <a:fillRect/>
                    </a:stretch>
                  </a:blipFill>
                </p:spPr>
                <p:txBody>
                  <a:bodyPr/>
                  <a:lstStyle/>
                  <a:p>
                    <a:r>
                      <a:rPr lang="zh-TW" altLang="en-US">
                        <a:noFill/>
                      </a:rPr>
                      <a:t> </a:t>
                    </a:r>
                  </a:p>
                </p:txBody>
              </p:sp>
            </mc:Fallback>
          </mc:AlternateContent>
        </p:grpSp>
      </p:grpSp>
      <p:grpSp>
        <p:nvGrpSpPr>
          <p:cNvPr id="9" name="群組 8">
            <a:extLst>
              <a:ext uri="{FF2B5EF4-FFF2-40B4-BE49-F238E27FC236}">
                <a16:creationId xmlns:a16="http://schemas.microsoft.com/office/drawing/2014/main" id="{5BA6E45F-83F4-49BA-9969-1BD52A089820}"/>
              </a:ext>
            </a:extLst>
          </p:cNvPr>
          <p:cNvGrpSpPr/>
          <p:nvPr/>
        </p:nvGrpSpPr>
        <p:grpSpPr>
          <a:xfrm>
            <a:off x="7685757" y="3310273"/>
            <a:ext cx="2738570" cy="2197507"/>
            <a:chOff x="7770470" y="3356356"/>
            <a:chExt cx="2738570" cy="2197507"/>
          </a:xfrm>
        </p:grpSpPr>
        <p:pic>
          <p:nvPicPr>
            <p:cNvPr id="7" name="圖片 6">
              <a:extLst>
                <a:ext uri="{FF2B5EF4-FFF2-40B4-BE49-F238E27FC236}">
                  <a16:creationId xmlns:a16="http://schemas.microsoft.com/office/drawing/2014/main" id="{2E260574-64ED-41C4-9F08-96A790DE1D8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25743" y="3454067"/>
              <a:ext cx="2488404" cy="2026650"/>
            </a:xfrm>
            <a:prstGeom prst="rect">
              <a:avLst/>
            </a:prstGeom>
          </p:spPr>
        </p:pic>
        <p:grpSp>
          <p:nvGrpSpPr>
            <p:cNvPr id="133" name="群組 132">
              <a:extLst>
                <a:ext uri="{FF2B5EF4-FFF2-40B4-BE49-F238E27FC236}">
                  <a16:creationId xmlns:a16="http://schemas.microsoft.com/office/drawing/2014/main" id="{05AB593D-3DDE-47C0-93D0-1FF33E1F6E12}"/>
                </a:ext>
              </a:extLst>
            </p:cNvPr>
            <p:cNvGrpSpPr/>
            <p:nvPr/>
          </p:nvGrpSpPr>
          <p:grpSpPr>
            <a:xfrm>
              <a:off x="7770470" y="3356356"/>
              <a:ext cx="2738570" cy="2197507"/>
              <a:chOff x="7770470" y="3356356"/>
              <a:chExt cx="2738570" cy="2197507"/>
            </a:xfrm>
          </p:grpSpPr>
          <p:grpSp>
            <p:nvGrpSpPr>
              <p:cNvPr id="111" name="群組 110">
                <a:extLst>
                  <a:ext uri="{FF2B5EF4-FFF2-40B4-BE49-F238E27FC236}">
                    <a16:creationId xmlns:a16="http://schemas.microsoft.com/office/drawing/2014/main" id="{B429A72B-68DB-41E5-9A77-601937261BE5}"/>
                  </a:ext>
                </a:extLst>
              </p:cNvPr>
              <p:cNvGrpSpPr/>
              <p:nvPr/>
            </p:nvGrpSpPr>
            <p:grpSpPr>
              <a:xfrm>
                <a:off x="7807394" y="3383336"/>
                <a:ext cx="2701646" cy="2140727"/>
                <a:chOff x="7139094" y="3815943"/>
                <a:chExt cx="2701646" cy="2140727"/>
              </a:xfrm>
            </p:grpSpPr>
            <p:grpSp>
              <p:nvGrpSpPr>
                <p:cNvPr id="110" name="群組 109">
                  <a:extLst>
                    <a:ext uri="{FF2B5EF4-FFF2-40B4-BE49-F238E27FC236}">
                      <a16:creationId xmlns:a16="http://schemas.microsoft.com/office/drawing/2014/main" id="{185FE1CC-FA74-495A-8F4C-C27BFA14E0E5}"/>
                    </a:ext>
                  </a:extLst>
                </p:cNvPr>
                <p:cNvGrpSpPr/>
                <p:nvPr/>
              </p:nvGrpSpPr>
              <p:grpSpPr>
                <a:xfrm>
                  <a:off x="7139094" y="3815943"/>
                  <a:ext cx="2642560" cy="2140727"/>
                  <a:chOff x="7139094" y="3815943"/>
                  <a:chExt cx="2642560" cy="2140727"/>
                </a:xfrm>
              </p:grpSpPr>
              <p:sp>
                <p:nvSpPr>
                  <p:cNvPr id="105" name="矩形 104">
                    <a:extLst>
                      <a:ext uri="{FF2B5EF4-FFF2-40B4-BE49-F238E27FC236}">
                        <a16:creationId xmlns:a16="http://schemas.microsoft.com/office/drawing/2014/main" id="{CEDE6DB8-73CE-4D0B-83CA-F007F7A25032}"/>
                      </a:ext>
                    </a:extLst>
                  </p:cNvPr>
                  <p:cNvSpPr/>
                  <p:nvPr/>
                </p:nvSpPr>
                <p:spPr>
                  <a:xfrm>
                    <a:off x="8092612" y="3815943"/>
                    <a:ext cx="277776" cy="255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DCD55C8F-296C-4E3C-984F-6EDF4B36539C}"/>
                      </a:ext>
                    </a:extLst>
                  </p:cNvPr>
                  <p:cNvSpPr/>
                  <p:nvPr/>
                </p:nvSpPr>
                <p:spPr>
                  <a:xfrm>
                    <a:off x="7139094" y="4788351"/>
                    <a:ext cx="277776" cy="210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a:extLst>
                      <a:ext uri="{FF2B5EF4-FFF2-40B4-BE49-F238E27FC236}">
                        <a16:creationId xmlns:a16="http://schemas.microsoft.com/office/drawing/2014/main" id="{CEA50DE1-0099-4B8E-B054-E2A2A728394C}"/>
                      </a:ext>
                    </a:extLst>
                  </p:cNvPr>
                  <p:cNvSpPr/>
                  <p:nvPr/>
                </p:nvSpPr>
                <p:spPr>
                  <a:xfrm>
                    <a:off x="8138267" y="5745831"/>
                    <a:ext cx="277776"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a:extLst>
                      <a:ext uri="{FF2B5EF4-FFF2-40B4-BE49-F238E27FC236}">
                        <a16:creationId xmlns:a16="http://schemas.microsoft.com/office/drawing/2014/main" id="{88D8E9D5-10C5-46A7-B1DD-C0FE37EAF05E}"/>
                      </a:ext>
                    </a:extLst>
                  </p:cNvPr>
                  <p:cNvSpPr/>
                  <p:nvPr/>
                </p:nvSpPr>
                <p:spPr>
                  <a:xfrm>
                    <a:off x="9105542" y="4788350"/>
                    <a:ext cx="221795"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矩形 108">
                    <a:extLst>
                      <a:ext uri="{FF2B5EF4-FFF2-40B4-BE49-F238E27FC236}">
                        <a16:creationId xmlns:a16="http://schemas.microsoft.com/office/drawing/2014/main" id="{2C626AEB-C80F-423D-A1AB-96EACC0012E6}"/>
                      </a:ext>
                    </a:extLst>
                  </p:cNvPr>
                  <p:cNvSpPr/>
                  <p:nvPr/>
                </p:nvSpPr>
                <p:spPr>
                  <a:xfrm>
                    <a:off x="9599653" y="4576159"/>
                    <a:ext cx="182001" cy="575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D20AA81C-7F37-4628-A13A-25DB08A1B0F2}"/>
                        </a:ext>
                      </a:extLst>
                    </p:cNvPr>
                    <p:cNvSpPr txBox="1"/>
                    <p:nvPr/>
                  </p:nvSpPr>
                  <p:spPr>
                    <a:xfrm rot="16200000">
                      <a:off x="8785951" y="4777791"/>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01" name="文字方塊 100">
                      <a:extLst>
                        <a:ext uri="{FF2B5EF4-FFF2-40B4-BE49-F238E27FC236}">
                          <a16:creationId xmlns:a16="http://schemas.microsoft.com/office/drawing/2014/main" id="{D20AA81C-7F37-4628-A13A-25DB08A1B0F2}"/>
                        </a:ext>
                      </a:extLst>
                    </p:cNvPr>
                    <p:cNvSpPr txBox="1">
                      <a:spLocks noRot="1" noChangeAspect="1" noMove="1" noResize="1" noEditPoints="1" noAdjustHandles="1" noChangeArrowheads="1" noChangeShapeType="1" noTextEdit="1"/>
                    </p:cNvSpPr>
                    <p:nvPr/>
                  </p:nvSpPr>
                  <p:spPr>
                    <a:xfrm rot="16200000">
                      <a:off x="8785951" y="4777791"/>
                      <a:ext cx="1832580" cy="276999"/>
                    </a:xfrm>
                    <a:prstGeom prst="rect">
                      <a:avLst/>
                    </a:prstGeom>
                    <a:blipFill>
                      <a:blip r:embed="rId13"/>
                      <a:stretch>
                        <a:fillRect l="-95556" t="-16000" r="-148889"/>
                      </a:stretch>
                    </a:blipFill>
                  </p:spPr>
                  <p:txBody>
                    <a:bodyPr/>
                    <a:lstStyle/>
                    <a:p>
                      <a:r>
                        <a:rPr lang="zh-TW" altLang="en-US">
                          <a:noFill/>
                        </a:rPr>
                        <a:t> </a:t>
                      </a:r>
                    </a:p>
                  </p:txBody>
                </p:sp>
              </mc:Fallback>
            </mc:AlternateContent>
          </p:grpSp>
          <p:sp>
            <p:nvSpPr>
              <p:cNvPr id="127" name="文字方塊 126">
                <a:extLst>
                  <a:ext uri="{FF2B5EF4-FFF2-40B4-BE49-F238E27FC236}">
                    <a16:creationId xmlns:a16="http://schemas.microsoft.com/office/drawing/2014/main" id="{CDEC9209-7690-47D1-8032-24B7836DC655}"/>
                  </a:ext>
                </a:extLst>
              </p:cNvPr>
              <p:cNvSpPr txBox="1"/>
              <p:nvPr/>
            </p:nvSpPr>
            <p:spPr>
              <a:xfrm>
                <a:off x="7770470" y="42135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8" name="文字方塊 127">
                <a:extLst>
                  <a:ext uri="{FF2B5EF4-FFF2-40B4-BE49-F238E27FC236}">
                    <a16:creationId xmlns:a16="http://schemas.microsoft.com/office/drawing/2014/main" id="{D74981A4-1E26-4DB7-83C6-33379484CDF8}"/>
                  </a:ext>
                </a:extLst>
              </p:cNvPr>
              <p:cNvSpPr txBox="1"/>
              <p:nvPr/>
            </p:nvSpPr>
            <p:spPr>
              <a:xfrm>
                <a:off x="8785619" y="335635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9" name="文字方塊 128">
                <a:extLst>
                  <a:ext uri="{FF2B5EF4-FFF2-40B4-BE49-F238E27FC236}">
                    <a16:creationId xmlns:a16="http://schemas.microsoft.com/office/drawing/2014/main" id="{8962DFBE-B504-4F5F-A4F2-59323633F711}"/>
                  </a:ext>
                </a:extLst>
              </p:cNvPr>
              <p:cNvSpPr txBox="1"/>
              <p:nvPr/>
            </p:nvSpPr>
            <p:spPr>
              <a:xfrm>
                <a:off x="8742098" y="524608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0" name="文字方塊 129">
                <a:extLst>
                  <a:ext uri="{FF2B5EF4-FFF2-40B4-BE49-F238E27FC236}">
                    <a16:creationId xmlns:a16="http://schemas.microsoft.com/office/drawing/2014/main" id="{DA7B902F-473B-42D1-B8E1-2790BCFA74C8}"/>
                  </a:ext>
                </a:extLst>
              </p:cNvPr>
              <p:cNvSpPr txBox="1"/>
              <p:nvPr/>
            </p:nvSpPr>
            <p:spPr>
              <a:xfrm>
                <a:off x="9672691" y="43985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A1426993-665E-4AF4-BC9A-4D892A836CB1}"/>
                      </a:ext>
                    </a:extLst>
                  </p:cNvPr>
                  <p:cNvSpPr txBox="1"/>
                  <p:nvPr/>
                </p:nvSpPr>
                <p:spPr>
                  <a:xfrm>
                    <a:off x="9086706" y="437794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A1426993-665E-4AF4-BC9A-4D892A836CB1}"/>
                      </a:ext>
                    </a:extLst>
                  </p:cNvPr>
                  <p:cNvSpPr txBox="1">
                    <a:spLocks noRot="1" noChangeAspect="1" noMove="1" noResize="1" noEditPoints="1" noAdjustHandles="1" noChangeArrowheads="1" noChangeShapeType="1" noTextEdit="1"/>
                  </p:cNvSpPr>
                  <p:nvPr/>
                </p:nvSpPr>
                <p:spPr>
                  <a:xfrm>
                    <a:off x="9086706" y="4377944"/>
                    <a:ext cx="332369" cy="307777"/>
                  </a:xfrm>
                  <a:prstGeom prst="rect">
                    <a:avLst/>
                  </a:prstGeom>
                  <a:blipFill>
                    <a:blip r:embed="rId14"/>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06B8C82E-92F7-445B-99DE-A74AF1C2956D}"/>
                      </a:ext>
                    </a:extLst>
                  </p:cNvPr>
                  <p:cNvSpPr txBox="1"/>
                  <p:nvPr/>
                </p:nvSpPr>
                <p:spPr>
                  <a:xfrm>
                    <a:off x="8619435" y="389011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06B8C82E-92F7-445B-99DE-A74AF1C2956D}"/>
                      </a:ext>
                    </a:extLst>
                  </p:cNvPr>
                  <p:cNvSpPr txBox="1">
                    <a:spLocks noRot="1" noChangeAspect="1" noMove="1" noResize="1" noEditPoints="1" noAdjustHandles="1" noChangeArrowheads="1" noChangeShapeType="1" noTextEdit="1"/>
                  </p:cNvSpPr>
                  <p:nvPr/>
                </p:nvSpPr>
                <p:spPr>
                  <a:xfrm>
                    <a:off x="8619435" y="3890118"/>
                    <a:ext cx="332369" cy="307777"/>
                  </a:xfrm>
                  <a:prstGeom prst="rect">
                    <a:avLst/>
                  </a:prstGeom>
                  <a:blipFill>
                    <a:blip r:embed="rId15"/>
                    <a:stretch>
                      <a:fillRect/>
                    </a:stretch>
                  </a:blipFill>
                </p:spPr>
                <p:txBody>
                  <a:bodyPr/>
                  <a:lstStyle/>
                  <a:p>
                    <a:r>
                      <a:rPr lang="zh-TW" altLang="en-US">
                        <a:noFill/>
                      </a:rPr>
                      <a:t> </a:t>
                    </a:r>
                  </a:p>
                </p:txBody>
              </p:sp>
            </mc:Fallback>
          </mc:AlternateContent>
        </p:grpSp>
      </p:gr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r>
              <a:rPr lang="en-US" altLang="zh-TW" sz="1600" dirty="0"/>
              <a:t>The three reference planes are mutually orthogonal and all pass through the origin; the inset shows how they sit inside the pole-tip sphere, each disc extending out to that sphere. On every plane the calibrated model is evaluated point by point and the capacity measure is mapped in polar form, with the two pole pairs lying in that plane marked on the rim. The pattern is the same everywhere: the capacity is lowest at the center, grows steadily outwards, and reaches its maxima in four lobes pointing at the in-plane poles, with troughs between them. This is the gain signature of Design A: the gain is not uniform over the workspace but is smallest at the center and largest along the pole axes near the tips, and its variation with direction follows the pole layout directly. Because the three maps are indistinguishable, the gain field carries the full symmetry of the six-pole arrangement — six poles of equal strength, arranged as three opposing pairs whose axes are mutually perpendicular. The consequence is that the gain is limited not by any particular plane or direction, but by radial position: the lowest gain of the whole workspace sits at its center.</a:t>
            </a:r>
          </a:p>
        </p:txBody>
      </p:sp>
    </p:spTree>
    <p:extLst>
      <p:ext uri="{BB962C8B-B14F-4D97-AF65-F5344CB8AC3E}">
        <p14:creationId xmlns:p14="http://schemas.microsoft.com/office/powerpoint/2010/main" val="452081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a:extLst>
              <a:ext uri="{FF2B5EF4-FFF2-40B4-BE49-F238E27FC236}">
                <a16:creationId xmlns:a16="http://schemas.microsoft.com/office/drawing/2014/main" id="{5B421D71-8641-46AC-AFEE-B118C73A4CD4}"/>
              </a:ext>
            </a:extLst>
          </p:cNvPr>
          <p:cNvSpPr txBox="1"/>
          <p:nvPr/>
        </p:nvSpPr>
        <p:spPr>
          <a:xfrm>
            <a:off x="186061" y="950588"/>
            <a:ext cx="6176432" cy="3693319"/>
          </a:xfrm>
          <a:prstGeom prst="rect">
            <a:avLst/>
          </a:prstGeom>
          <a:noFill/>
        </p:spPr>
        <p:txBody>
          <a:bodyPr wrap="square">
            <a:spAutoFit/>
          </a:bodyPr>
          <a:lstStyle/>
          <a:p>
            <a:pPr marL="285750" indent="-285750">
              <a:buFont typeface="Arial" panose="020B0604020202020204" pitchFamily="34" charset="0"/>
              <a:buChar char="•"/>
            </a:pPr>
            <a:r>
              <a:rPr lang="zh-TW" altLang="en-US" dirty="0"/>
              <a:t>Same three planes and the same calibrated model as before, but now mapping the isotropy. The picture is the exact complement of the capacity map: isotropy is highest at the centre and decays outwards in an almost circular pattern, reaching its lowest values at the rim. The reason is geometric — at the centre all six poles are equidistant, so the three singular values are nearly equal and the system can push with almost the same strength in any direction; moving outwards means approaching one pole pair while receding from the other two, so one singular value grows while the others shrink and the ratio collapses. Again the three planes are indistinguishable, confirming that the isotropy inherits the symmetry of the pole layout.</a:t>
            </a:r>
          </a:p>
        </p:txBody>
      </p:sp>
      <p:grpSp>
        <p:nvGrpSpPr>
          <p:cNvPr id="17" name="群組 16">
            <a:extLst>
              <a:ext uri="{FF2B5EF4-FFF2-40B4-BE49-F238E27FC236}">
                <a16:creationId xmlns:a16="http://schemas.microsoft.com/office/drawing/2014/main" id="{8BE4C305-B690-4A6A-AB62-66C15A5C438C}"/>
              </a:ext>
            </a:extLst>
          </p:cNvPr>
          <p:cNvGrpSpPr/>
          <p:nvPr/>
        </p:nvGrpSpPr>
        <p:grpSpPr>
          <a:xfrm>
            <a:off x="7125953" y="692423"/>
            <a:ext cx="4243544" cy="1987523"/>
            <a:chOff x="6892848" y="818649"/>
            <a:chExt cx="4243544" cy="1987523"/>
          </a:xfrm>
        </p:grpSpPr>
        <p:grpSp>
          <p:nvGrpSpPr>
            <p:cNvPr id="15" name="群組 14">
              <a:extLst>
                <a:ext uri="{FF2B5EF4-FFF2-40B4-BE49-F238E27FC236}">
                  <a16:creationId xmlns:a16="http://schemas.microsoft.com/office/drawing/2014/main" id="{612F600C-B391-4D02-BE5B-9A6D0B54E62C}"/>
                </a:ext>
              </a:extLst>
            </p:cNvPr>
            <p:cNvGrpSpPr/>
            <p:nvPr/>
          </p:nvGrpSpPr>
          <p:grpSpPr>
            <a:xfrm>
              <a:off x="6892848" y="818649"/>
              <a:ext cx="4243544" cy="1987523"/>
              <a:chOff x="6892848" y="818649"/>
              <a:chExt cx="4243544" cy="1987523"/>
            </a:xfrm>
          </p:grpSpPr>
          <p:grpSp>
            <p:nvGrpSpPr>
              <p:cNvPr id="11" name="群組 10">
                <a:extLst>
                  <a:ext uri="{FF2B5EF4-FFF2-40B4-BE49-F238E27FC236}">
                    <a16:creationId xmlns:a16="http://schemas.microsoft.com/office/drawing/2014/main" id="{D2C9EE08-81D0-4C2D-B956-F0B60EAB80F7}"/>
                  </a:ext>
                </a:extLst>
              </p:cNvPr>
              <p:cNvGrpSpPr/>
              <p:nvPr/>
            </p:nvGrpSpPr>
            <p:grpSpPr>
              <a:xfrm>
                <a:off x="6982366" y="885799"/>
                <a:ext cx="4132233" cy="1892123"/>
                <a:chOff x="6982366" y="885799"/>
                <a:chExt cx="4132233" cy="1892123"/>
              </a:xfrm>
            </p:grpSpPr>
            <p:pic>
              <p:nvPicPr>
                <p:cNvPr id="4" name="圖片 3">
                  <a:extLst>
                    <a:ext uri="{FF2B5EF4-FFF2-40B4-BE49-F238E27FC236}">
                      <a16:creationId xmlns:a16="http://schemas.microsoft.com/office/drawing/2014/main" id="{0EB7B0DC-0746-4953-B3A4-E878E8A4C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1223" y="950588"/>
                  <a:ext cx="3964553" cy="1762545"/>
                </a:xfrm>
                <a:prstGeom prst="rect">
                  <a:avLst/>
                </a:prstGeom>
              </p:spPr>
            </p:pic>
            <p:sp>
              <p:nvSpPr>
                <p:cNvPr id="10" name="矩形 9">
                  <a:extLst>
                    <a:ext uri="{FF2B5EF4-FFF2-40B4-BE49-F238E27FC236}">
                      <a16:creationId xmlns:a16="http://schemas.microsoft.com/office/drawing/2014/main" id="{F5F07B25-EAB2-4083-9FAC-EFC85D2120CD}"/>
                    </a:ext>
                  </a:extLst>
                </p:cNvPr>
                <p:cNvSpPr/>
                <p:nvPr/>
              </p:nvSpPr>
              <p:spPr>
                <a:xfrm>
                  <a:off x="7831667" y="885799"/>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FC3083EF-83C7-450B-8ADE-A99B46B37053}"/>
                    </a:ext>
                  </a:extLst>
                </p:cNvPr>
                <p:cNvSpPr/>
                <p:nvPr/>
              </p:nvSpPr>
              <p:spPr>
                <a:xfrm>
                  <a:off x="6982366" y="1730836"/>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3722C7AD-6A4A-4007-AF36-5CCD4C5E8597}"/>
                    </a:ext>
                  </a:extLst>
                </p:cNvPr>
                <p:cNvSpPr/>
                <p:nvPr/>
              </p:nvSpPr>
              <p:spPr>
                <a:xfrm>
                  <a:off x="7827456" y="2584416"/>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C041678-A44A-4B2F-A86A-6D773426879F}"/>
                    </a:ext>
                  </a:extLst>
                </p:cNvPr>
                <p:cNvSpPr/>
                <p:nvPr/>
              </p:nvSpPr>
              <p:spPr>
                <a:xfrm>
                  <a:off x="8664546" y="1732546"/>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0AB71390-058C-48DB-8F99-4472D1421CE3}"/>
                    </a:ext>
                  </a:extLst>
                </p:cNvPr>
                <p:cNvSpPr/>
                <p:nvPr/>
              </p:nvSpPr>
              <p:spPr>
                <a:xfrm>
                  <a:off x="9586634" y="904164"/>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276E6E7F-1958-4F14-9108-30888D35FA5F}"/>
                    </a:ext>
                  </a:extLst>
                </p:cNvPr>
                <p:cNvSpPr/>
                <p:nvPr/>
              </p:nvSpPr>
              <p:spPr>
                <a:xfrm>
                  <a:off x="9586634" y="2582681"/>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a:extLst>
                    <a:ext uri="{FF2B5EF4-FFF2-40B4-BE49-F238E27FC236}">
                      <a16:creationId xmlns:a16="http://schemas.microsoft.com/office/drawing/2014/main" id="{4FA014DA-9FFB-44C8-BC87-9425A4C49C84}"/>
                    </a:ext>
                  </a:extLst>
                </p:cNvPr>
                <p:cNvSpPr/>
                <p:nvPr/>
              </p:nvSpPr>
              <p:spPr>
                <a:xfrm>
                  <a:off x="10475277" y="1633803"/>
                  <a:ext cx="190544" cy="349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D3E9EE23-9AC3-43BC-BF47-30C82E12B2A2}"/>
                    </a:ext>
                  </a:extLst>
                </p:cNvPr>
                <p:cNvSpPr/>
                <p:nvPr/>
              </p:nvSpPr>
              <p:spPr>
                <a:xfrm>
                  <a:off x="10924055" y="1761534"/>
                  <a:ext cx="190544" cy="162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8" name="文字方塊 77">
                    <a:extLst>
                      <a:ext uri="{FF2B5EF4-FFF2-40B4-BE49-F238E27FC236}">
                        <a16:creationId xmlns:a16="http://schemas.microsoft.com/office/drawing/2014/main" id="{6E093EB9-B763-4483-A907-3DD06211420D}"/>
                      </a:ext>
                    </a:extLst>
                  </p:cNvPr>
                  <p:cNvSpPr txBox="1"/>
                  <p:nvPr/>
                </p:nvSpPr>
                <p:spPr>
                  <a:xfrm rot="16200000">
                    <a:off x="10554714" y="1607645"/>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78" name="文字方塊 77">
                    <a:extLst>
                      <a:ext uri="{FF2B5EF4-FFF2-40B4-BE49-F238E27FC236}">
                        <a16:creationId xmlns:a16="http://schemas.microsoft.com/office/drawing/2014/main" id="{6E093EB9-B763-4483-A907-3DD06211420D}"/>
                      </a:ext>
                    </a:extLst>
                  </p:cNvPr>
                  <p:cNvSpPr txBox="1">
                    <a:spLocks noRot="1" noChangeAspect="1" noMove="1" noResize="1" noEditPoints="1" noAdjustHandles="1" noChangeArrowheads="1" noChangeShapeType="1" noTextEdit="1"/>
                  </p:cNvSpPr>
                  <p:nvPr/>
                </p:nvSpPr>
                <p:spPr>
                  <a:xfrm rot="16200000">
                    <a:off x="10554714" y="1607645"/>
                    <a:ext cx="855579" cy="307777"/>
                  </a:xfrm>
                  <a:prstGeom prst="rect">
                    <a:avLst/>
                  </a:prstGeom>
                  <a:blipFill>
                    <a:blip r:embed="rId3"/>
                    <a:stretch>
                      <a:fillRect r="-6000"/>
                    </a:stretch>
                  </a:blipFill>
                </p:spPr>
                <p:txBody>
                  <a:bodyPr/>
                  <a:lstStyle/>
                  <a:p>
                    <a:r>
                      <a:rPr lang="zh-TW" altLang="en-US">
                        <a:noFill/>
                      </a:rPr>
                      <a:t> </a:t>
                    </a:r>
                  </a:p>
                </p:txBody>
              </p:sp>
            </mc:Fallback>
          </mc:AlternateContent>
          <p:sp>
            <p:nvSpPr>
              <p:cNvPr id="80" name="文字方塊 79">
                <a:extLst>
                  <a:ext uri="{FF2B5EF4-FFF2-40B4-BE49-F238E27FC236}">
                    <a16:creationId xmlns:a16="http://schemas.microsoft.com/office/drawing/2014/main" id="{9B8EB1CD-A79B-47D9-AB70-E74BF30A65B7}"/>
                  </a:ext>
                </a:extLst>
              </p:cNvPr>
              <p:cNvSpPr txBox="1"/>
              <p:nvPr/>
            </p:nvSpPr>
            <p:spPr>
              <a:xfrm>
                <a:off x="8601434" y="17704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92D55786-83DD-4F8D-8DFD-BE3DCCAD1169}"/>
                  </a:ext>
                </a:extLst>
              </p:cNvPr>
              <p:cNvSpPr txBox="1"/>
              <p:nvPr/>
            </p:nvSpPr>
            <p:spPr>
              <a:xfrm>
                <a:off x="7726146" y="8320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1" name="文字方塊 90">
                <a:extLst>
                  <a:ext uri="{FF2B5EF4-FFF2-40B4-BE49-F238E27FC236}">
                    <a16:creationId xmlns:a16="http://schemas.microsoft.com/office/drawing/2014/main" id="{481EAFC4-8465-4D04-8689-9DA473F00F16}"/>
                  </a:ext>
                </a:extLst>
              </p:cNvPr>
              <p:cNvSpPr txBox="1"/>
              <p:nvPr/>
            </p:nvSpPr>
            <p:spPr>
              <a:xfrm>
                <a:off x="6892848" y="157131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2" name="文字方塊 91">
                <a:extLst>
                  <a:ext uri="{FF2B5EF4-FFF2-40B4-BE49-F238E27FC236}">
                    <a16:creationId xmlns:a16="http://schemas.microsoft.com/office/drawing/2014/main" id="{58303001-9243-4CE3-AB16-9F0D7C0BAA8D}"/>
                  </a:ext>
                </a:extLst>
              </p:cNvPr>
              <p:cNvSpPr txBox="1"/>
              <p:nvPr/>
            </p:nvSpPr>
            <p:spPr>
              <a:xfrm>
                <a:off x="7749182" y="249839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3" name="文字方塊 92">
                <a:extLst>
                  <a:ext uri="{FF2B5EF4-FFF2-40B4-BE49-F238E27FC236}">
                    <a16:creationId xmlns:a16="http://schemas.microsoft.com/office/drawing/2014/main" id="{B50C7079-CAA8-4007-9D2F-2B2CD971FFD6}"/>
                  </a:ext>
                </a:extLst>
              </p:cNvPr>
              <p:cNvSpPr txBox="1"/>
              <p:nvPr/>
            </p:nvSpPr>
            <p:spPr>
              <a:xfrm>
                <a:off x="8738791" y="155177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9" name="文字方塊 98">
                <a:extLst>
                  <a:ext uri="{FF2B5EF4-FFF2-40B4-BE49-F238E27FC236}">
                    <a16:creationId xmlns:a16="http://schemas.microsoft.com/office/drawing/2014/main" id="{523FB46B-214B-4674-A0BB-F7A2E5B66450}"/>
                  </a:ext>
                </a:extLst>
              </p:cNvPr>
              <p:cNvSpPr txBox="1"/>
              <p:nvPr/>
            </p:nvSpPr>
            <p:spPr>
              <a:xfrm>
                <a:off x="9564509" y="81864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0" name="文字方塊 99">
                <a:extLst>
                  <a:ext uri="{FF2B5EF4-FFF2-40B4-BE49-F238E27FC236}">
                    <a16:creationId xmlns:a16="http://schemas.microsoft.com/office/drawing/2014/main" id="{6D0655F7-DECE-4E33-B8DB-34EAEA9FBCCD}"/>
                  </a:ext>
                </a:extLst>
              </p:cNvPr>
              <p:cNvSpPr txBox="1"/>
              <p:nvPr/>
            </p:nvSpPr>
            <p:spPr>
              <a:xfrm>
                <a:off x="9547808" y="248449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1" name="文字方塊 100">
                <a:extLst>
                  <a:ext uri="{FF2B5EF4-FFF2-40B4-BE49-F238E27FC236}">
                    <a16:creationId xmlns:a16="http://schemas.microsoft.com/office/drawing/2014/main" id="{15C241B5-3C9B-4E25-96F6-629915F58BB4}"/>
                  </a:ext>
                </a:extLst>
              </p:cNvPr>
              <p:cNvSpPr txBox="1"/>
              <p:nvPr/>
            </p:nvSpPr>
            <p:spPr>
              <a:xfrm>
                <a:off x="10394059" y="176317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D255ABDE-FE08-4D92-985E-D28FA82E5F65}"/>
                      </a:ext>
                    </a:extLst>
                  </p:cNvPr>
                  <p:cNvSpPr txBox="1"/>
                  <p:nvPr/>
                </p:nvSpPr>
                <p:spPr>
                  <a:xfrm>
                    <a:off x="8077059" y="1773962"/>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D255ABDE-FE08-4D92-985E-D28FA82E5F65}"/>
                      </a:ext>
                    </a:extLst>
                  </p:cNvPr>
                  <p:cNvSpPr txBox="1">
                    <a:spLocks noRot="1" noChangeAspect="1" noMove="1" noResize="1" noEditPoints="1" noAdjustHandles="1" noChangeArrowheads="1" noChangeShapeType="1" noTextEdit="1"/>
                  </p:cNvSpPr>
                  <p:nvPr/>
                </p:nvSpPr>
                <p:spPr>
                  <a:xfrm>
                    <a:off x="8077059" y="1773962"/>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8" name="文字方塊 137">
                    <a:extLst>
                      <a:ext uri="{FF2B5EF4-FFF2-40B4-BE49-F238E27FC236}">
                        <a16:creationId xmlns:a16="http://schemas.microsoft.com/office/drawing/2014/main" id="{04DB010C-9BAE-4354-BDBC-05D6FEB0ED55}"/>
                      </a:ext>
                    </a:extLst>
                  </p:cNvPr>
                  <p:cNvSpPr txBox="1"/>
                  <p:nvPr/>
                </p:nvSpPr>
                <p:spPr>
                  <a:xfrm>
                    <a:off x="7609788"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8" name="文字方塊 137">
                    <a:extLst>
                      <a:ext uri="{FF2B5EF4-FFF2-40B4-BE49-F238E27FC236}">
                        <a16:creationId xmlns:a16="http://schemas.microsoft.com/office/drawing/2014/main" id="{04DB010C-9BAE-4354-BDBC-05D6FEB0ED55}"/>
                      </a:ext>
                    </a:extLst>
                  </p:cNvPr>
                  <p:cNvSpPr txBox="1">
                    <a:spLocks noRot="1" noChangeAspect="1" noMove="1" noResize="1" noEditPoints="1" noAdjustHandles="1" noChangeArrowheads="1" noChangeShapeType="1" noTextEdit="1"/>
                  </p:cNvSpPr>
                  <p:nvPr/>
                </p:nvSpPr>
                <p:spPr>
                  <a:xfrm>
                    <a:off x="7609788" y="1286136"/>
                    <a:ext cx="332369" cy="307777"/>
                  </a:xfrm>
                  <a:prstGeom prst="rect">
                    <a:avLst/>
                  </a:prstGeom>
                  <a:blipFill>
                    <a:blip r:embed="rId5"/>
                    <a:stretch>
                      <a:fillRect b="-196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39" name="文字方塊 138">
                  <a:extLst>
                    <a:ext uri="{FF2B5EF4-FFF2-40B4-BE49-F238E27FC236}">
                      <a16:creationId xmlns:a16="http://schemas.microsoft.com/office/drawing/2014/main" id="{74515AE3-A20F-4F0C-AD65-88EE10FC7A5A}"/>
                    </a:ext>
                  </a:extLst>
                </p:cNvPr>
                <p:cNvSpPr txBox="1"/>
                <p:nvPr/>
              </p:nvSpPr>
              <p:spPr>
                <a:xfrm>
                  <a:off x="9905538" y="174071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9" name="文字方塊 138">
                  <a:extLst>
                    <a:ext uri="{FF2B5EF4-FFF2-40B4-BE49-F238E27FC236}">
                      <a16:creationId xmlns:a16="http://schemas.microsoft.com/office/drawing/2014/main" id="{74515AE3-A20F-4F0C-AD65-88EE10FC7A5A}"/>
                    </a:ext>
                  </a:extLst>
                </p:cNvPr>
                <p:cNvSpPr txBox="1">
                  <a:spLocks noRot="1" noChangeAspect="1" noMove="1" noResize="1" noEditPoints="1" noAdjustHandles="1" noChangeArrowheads="1" noChangeShapeType="1" noTextEdit="1"/>
                </p:cNvSpPr>
                <p:nvPr/>
              </p:nvSpPr>
              <p:spPr>
                <a:xfrm>
                  <a:off x="9905538" y="1740710"/>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62CB1572-73EF-459D-972D-CB9A0157F7EF}"/>
                    </a:ext>
                  </a:extLst>
                </p:cNvPr>
                <p:cNvSpPr txBox="1"/>
                <p:nvPr/>
              </p:nvSpPr>
              <p:spPr>
                <a:xfrm>
                  <a:off x="9452837"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62CB1572-73EF-459D-972D-CB9A0157F7EF}"/>
                    </a:ext>
                  </a:extLst>
                </p:cNvPr>
                <p:cNvSpPr txBox="1">
                  <a:spLocks noRot="1" noChangeAspect="1" noMove="1" noResize="1" noEditPoints="1" noAdjustHandles="1" noChangeArrowheads="1" noChangeShapeType="1" noTextEdit="1"/>
                </p:cNvSpPr>
                <p:nvPr/>
              </p:nvSpPr>
              <p:spPr>
                <a:xfrm>
                  <a:off x="9452837" y="1286136"/>
                  <a:ext cx="332369" cy="307777"/>
                </a:xfrm>
                <a:prstGeom prst="rect">
                  <a:avLst/>
                </a:prstGeom>
                <a:blipFill>
                  <a:blip r:embed="rId7"/>
                  <a:stretch>
                    <a:fillRect/>
                  </a:stretch>
                </a:blipFill>
              </p:spPr>
              <p:txBody>
                <a:bodyPr/>
                <a:lstStyle/>
                <a:p>
                  <a:r>
                    <a:rPr lang="zh-TW" altLang="en-US">
                      <a:noFill/>
                    </a:rPr>
                    <a:t> </a:t>
                  </a:r>
                </a:p>
              </p:txBody>
            </p:sp>
          </mc:Fallback>
        </mc:AlternateContent>
      </p:grpSp>
      <p:grpSp>
        <p:nvGrpSpPr>
          <p:cNvPr id="14" name="群組 13">
            <a:extLst>
              <a:ext uri="{FF2B5EF4-FFF2-40B4-BE49-F238E27FC236}">
                <a16:creationId xmlns:a16="http://schemas.microsoft.com/office/drawing/2014/main" id="{04A1EDD4-6ABC-4799-BBCC-2AA9A741A982}"/>
              </a:ext>
            </a:extLst>
          </p:cNvPr>
          <p:cNvGrpSpPr/>
          <p:nvPr/>
        </p:nvGrpSpPr>
        <p:grpSpPr>
          <a:xfrm>
            <a:off x="7936732" y="3644615"/>
            <a:ext cx="2846322" cy="2335619"/>
            <a:chOff x="7936732" y="3644615"/>
            <a:chExt cx="2846322" cy="2335619"/>
          </a:xfrm>
        </p:grpSpPr>
        <p:grpSp>
          <p:nvGrpSpPr>
            <p:cNvPr id="13" name="群組 12">
              <a:extLst>
                <a:ext uri="{FF2B5EF4-FFF2-40B4-BE49-F238E27FC236}">
                  <a16:creationId xmlns:a16="http://schemas.microsoft.com/office/drawing/2014/main" id="{92E71AB5-F95C-4C50-942F-461AE8C8E21F}"/>
                </a:ext>
              </a:extLst>
            </p:cNvPr>
            <p:cNvGrpSpPr/>
            <p:nvPr/>
          </p:nvGrpSpPr>
          <p:grpSpPr>
            <a:xfrm>
              <a:off x="8034760" y="3667301"/>
              <a:ext cx="2743620" cy="2312933"/>
              <a:chOff x="8034760" y="3667301"/>
              <a:chExt cx="2743620" cy="2312933"/>
            </a:xfrm>
          </p:grpSpPr>
          <p:pic>
            <p:nvPicPr>
              <p:cNvPr id="6" name="圖片 5">
                <a:extLst>
                  <a:ext uri="{FF2B5EF4-FFF2-40B4-BE49-F238E27FC236}">
                    <a16:creationId xmlns:a16="http://schemas.microsoft.com/office/drawing/2014/main" id="{1086DBF9-3699-46F5-A3B0-2969AEF673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66689" y="3771839"/>
                <a:ext cx="2590664" cy="2095390"/>
              </a:xfrm>
              <a:prstGeom prst="rect">
                <a:avLst/>
              </a:prstGeom>
            </p:spPr>
          </p:pic>
          <p:sp>
            <p:nvSpPr>
              <p:cNvPr id="12" name="矩形 11">
                <a:extLst>
                  <a:ext uri="{FF2B5EF4-FFF2-40B4-BE49-F238E27FC236}">
                    <a16:creationId xmlns:a16="http://schemas.microsoft.com/office/drawing/2014/main" id="{88E7A9EA-9DAB-451E-9FA8-F7163EE33F2E}"/>
                  </a:ext>
                </a:extLst>
              </p:cNvPr>
              <p:cNvSpPr/>
              <p:nvPr/>
            </p:nvSpPr>
            <p:spPr>
              <a:xfrm>
                <a:off x="9985682" y="4643907"/>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a:extLst>
                  <a:ext uri="{FF2B5EF4-FFF2-40B4-BE49-F238E27FC236}">
                    <a16:creationId xmlns:a16="http://schemas.microsoft.com/office/drawing/2014/main" id="{697C6A31-1322-4648-82CE-4C68B357ADE9}"/>
                  </a:ext>
                </a:extLst>
              </p:cNvPr>
              <p:cNvSpPr/>
              <p:nvPr/>
            </p:nvSpPr>
            <p:spPr>
              <a:xfrm>
                <a:off x="9022607" y="3667301"/>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a:extLst>
                  <a:ext uri="{FF2B5EF4-FFF2-40B4-BE49-F238E27FC236}">
                    <a16:creationId xmlns:a16="http://schemas.microsoft.com/office/drawing/2014/main" id="{252EA268-F4BF-4F6E-BC68-B74D1AB21EDC}"/>
                  </a:ext>
                </a:extLst>
              </p:cNvPr>
              <p:cNvSpPr/>
              <p:nvPr/>
            </p:nvSpPr>
            <p:spPr>
              <a:xfrm>
                <a:off x="8034760" y="468615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FD58DA12-398D-4D81-A4DB-E7FFB2E04049}"/>
                  </a:ext>
                </a:extLst>
              </p:cNvPr>
              <p:cNvSpPr/>
              <p:nvPr/>
            </p:nvSpPr>
            <p:spPr>
              <a:xfrm>
                <a:off x="9009363" y="571347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a:extLst>
                  <a:ext uri="{FF2B5EF4-FFF2-40B4-BE49-F238E27FC236}">
                    <a16:creationId xmlns:a16="http://schemas.microsoft.com/office/drawing/2014/main" id="{AAD8F26C-0C60-4BB4-A028-E7D8A910AD0D}"/>
                  </a:ext>
                </a:extLst>
              </p:cNvPr>
              <p:cNvSpPr/>
              <p:nvPr/>
            </p:nvSpPr>
            <p:spPr>
              <a:xfrm>
                <a:off x="10553262" y="4659017"/>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59C8220B-BA68-40B1-A2D1-60274F35F105}"/>
                    </a:ext>
                  </a:extLst>
                </p:cNvPr>
                <p:cNvSpPr txBox="1"/>
                <p:nvPr/>
              </p:nvSpPr>
              <p:spPr>
                <a:xfrm rot="16200000">
                  <a:off x="10201376" y="4665645"/>
                  <a:ext cx="85557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Isotropy</m:t>
                        </m:r>
                      </m:oMath>
                    </m:oMathPara>
                  </a14:m>
                  <a:endParaRPr lang="zh-TW" altLang="en-US" sz="1400" dirty="0"/>
                </a:p>
              </p:txBody>
            </p:sp>
          </mc:Choice>
          <mc:Fallback xmlns="">
            <p:sp>
              <p:nvSpPr>
                <p:cNvPr id="132" name="文字方塊 131">
                  <a:extLst>
                    <a:ext uri="{FF2B5EF4-FFF2-40B4-BE49-F238E27FC236}">
                      <a16:creationId xmlns:a16="http://schemas.microsoft.com/office/drawing/2014/main" id="{59C8220B-BA68-40B1-A2D1-60274F35F105}"/>
                    </a:ext>
                  </a:extLst>
                </p:cNvPr>
                <p:cNvSpPr txBox="1">
                  <a:spLocks noRot="1" noChangeAspect="1" noMove="1" noResize="1" noEditPoints="1" noAdjustHandles="1" noChangeArrowheads="1" noChangeShapeType="1" noTextEdit="1"/>
                </p:cNvSpPr>
                <p:nvPr/>
              </p:nvSpPr>
              <p:spPr>
                <a:xfrm rot="16200000">
                  <a:off x="10201376" y="4665645"/>
                  <a:ext cx="855579" cy="307777"/>
                </a:xfrm>
                <a:prstGeom prst="rect">
                  <a:avLst/>
                </a:prstGeom>
                <a:blipFill>
                  <a:blip r:embed="rId9"/>
                  <a:stretch>
                    <a:fillRect r="-5882"/>
                  </a:stretch>
                </a:blipFill>
              </p:spPr>
              <p:txBody>
                <a:bodyPr/>
                <a:lstStyle/>
                <a:p>
                  <a:r>
                    <a:rPr lang="zh-TW" altLang="en-US">
                      <a:noFill/>
                    </a:rPr>
                    <a:t> </a:t>
                  </a:r>
                </a:p>
              </p:txBody>
            </p:sp>
          </mc:Fallback>
        </mc:AlternateContent>
        <p:sp>
          <p:nvSpPr>
            <p:cNvPr id="133" name="文字方塊 132">
              <a:extLst>
                <a:ext uri="{FF2B5EF4-FFF2-40B4-BE49-F238E27FC236}">
                  <a16:creationId xmlns:a16="http://schemas.microsoft.com/office/drawing/2014/main" id="{6AB274B3-0995-4EEB-9013-E9FCFC70773D}"/>
                </a:ext>
              </a:extLst>
            </p:cNvPr>
            <p:cNvSpPr txBox="1"/>
            <p:nvPr/>
          </p:nvSpPr>
          <p:spPr>
            <a:xfrm>
              <a:off x="7936732" y="458386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4" name="文字方塊 133">
              <a:extLst>
                <a:ext uri="{FF2B5EF4-FFF2-40B4-BE49-F238E27FC236}">
                  <a16:creationId xmlns:a16="http://schemas.microsoft.com/office/drawing/2014/main" id="{860FFD41-4F96-4780-8E19-D375CBC57F46}"/>
                </a:ext>
              </a:extLst>
            </p:cNvPr>
            <p:cNvSpPr txBox="1"/>
            <p:nvPr/>
          </p:nvSpPr>
          <p:spPr>
            <a:xfrm>
              <a:off x="8923420" y="364461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5" name="文字方塊 134">
              <a:extLst>
                <a:ext uri="{FF2B5EF4-FFF2-40B4-BE49-F238E27FC236}">
                  <a16:creationId xmlns:a16="http://schemas.microsoft.com/office/drawing/2014/main" id="{18CB05BB-851D-48E2-B2C0-383926E2DC69}"/>
                </a:ext>
              </a:extLst>
            </p:cNvPr>
            <p:cNvSpPr txBox="1"/>
            <p:nvPr/>
          </p:nvSpPr>
          <p:spPr>
            <a:xfrm>
              <a:off x="8923420" y="56418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6" name="文字方塊 135">
              <a:extLst>
                <a:ext uri="{FF2B5EF4-FFF2-40B4-BE49-F238E27FC236}">
                  <a16:creationId xmlns:a16="http://schemas.microsoft.com/office/drawing/2014/main" id="{268A4645-B4C9-4C93-9DD7-258346092438}"/>
                </a:ext>
              </a:extLst>
            </p:cNvPr>
            <p:cNvSpPr txBox="1"/>
            <p:nvPr/>
          </p:nvSpPr>
          <p:spPr>
            <a:xfrm>
              <a:off x="9905538" y="479796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881B35F0-DFFE-4DE0-A1B4-E40D2CB808D8}"/>
                    </a:ext>
                  </a:extLst>
                </p:cNvPr>
                <p:cNvSpPr txBox="1"/>
                <p:nvPr/>
              </p:nvSpPr>
              <p:spPr>
                <a:xfrm>
                  <a:off x="9274555" y="472998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881B35F0-DFFE-4DE0-A1B4-E40D2CB808D8}"/>
                    </a:ext>
                  </a:extLst>
                </p:cNvPr>
                <p:cNvSpPr txBox="1">
                  <a:spLocks noRot="1" noChangeAspect="1" noMove="1" noResize="1" noEditPoints="1" noAdjustHandles="1" noChangeArrowheads="1" noChangeShapeType="1" noTextEdit="1"/>
                </p:cNvSpPr>
                <p:nvPr/>
              </p:nvSpPr>
              <p:spPr>
                <a:xfrm>
                  <a:off x="9274555" y="4729985"/>
                  <a:ext cx="332369" cy="307777"/>
                </a:xfrm>
                <a:prstGeom prst="rect">
                  <a:avLst/>
                </a:prstGeom>
                <a:blipFill>
                  <a:blip r:embed="rId10"/>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82249A39-0601-4737-8A03-EA956AB6FF5A}"/>
                    </a:ext>
                  </a:extLst>
                </p:cNvPr>
                <p:cNvSpPr txBox="1"/>
                <p:nvPr/>
              </p:nvSpPr>
              <p:spPr>
                <a:xfrm>
                  <a:off x="8807284" y="424215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2" name="文字方塊 141">
                  <a:extLst>
                    <a:ext uri="{FF2B5EF4-FFF2-40B4-BE49-F238E27FC236}">
                      <a16:creationId xmlns:a16="http://schemas.microsoft.com/office/drawing/2014/main" id="{82249A39-0601-4737-8A03-EA956AB6FF5A}"/>
                    </a:ext>
                  </a:extLst>
                </p:cNvPr>
                <p:cNvSpPr txBox="1">
                  <a:spLocks noRot="1" noChangeAspect="1" noMove="1" noResize="1" noEditPoints="1" noAdjustHandles="1" noChangeArrowheads="1" noChangeShapeType="1" noTextEdit="1"/>
                </p:cNvSpPr>
                <p:nvPr/>
              </p:nvSpPr>
              <p:spPr>
                <a:xfrm>
                  <a:off x="8807284" y="4242159"/>
                  <a:ext cx="332369" cy="307777"/>
                </a:xfrm>
                <a:prstGeom prst="rect">
                  <a:avLst/>
                </a:prstGeom>
                <a:blipFill>
                  <a:blip r:embed="rId11"/>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413084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34416" y="1018389"/>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6" name="文字方塊 35">
            <a:extLst>
              <a:ext uri="{FF2B5EF4-FFF2-40B4-BE49-F238E27FC236}">
                <a16:creationId xmlns:a16="http://schemas.microsoft.com/office/drawing/2014/main" id="{BC8D4A16-5CCA-40C5-9964-FFF5383065ED}"/>
              </a:ext>
            </a:extLst>
          </p:cNvPr>
          <p:cNvSpPr txBox="1"/>
          <p:nvPr/>
        </p:nvSpPr>
        <p:spPr>
          <a:xfrm>
            <a:off x="76852" y="703212"/>
            <a:ext cx="6176432" cy="4247317"/>
          </a:xfrm>
          <a:prstGeom prst="rect">
            <a:avLst/>
          </a:prstGeom>
          <a:noFill/>
        </p:spPr>
        <p:txBody>
          <a:bodyPr wrap="square">
            <a:spAutoFit/>
          </a:bodyPr>
          <a:lstStyle/>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zh-TW" altLang="en-US" dirty="0"/>
              <a:t>The three distributions separate clearly, and the separation is asymmetric: the largest singular value is roughly twice the other two and spreads over a wide range with a long tail towards high values, while the second and third are narrow and overlap heavily. Over most of its workspace Design A therefore has one dominant direction and two comparable, weaker ones, rather than three directions of similar strength; the isotropy deficit seen on the previous slide is driven mainly by the strong axis pulling away, not by the weakest axis collapsing. The long tail belongs to the points closest to the pole tips — the same points that form the four red lobes of the capacity map on slide 14.</a:t>
            </a:r>
            <a:endParaRPr lang="en-US" altLang="zh-TW" dirty="0"/>
          </a:p>
          <a:p>
            <a:pPr marL="285750" indent="-285750">
              <a:buFont typeface="Arial" panose="020B0604020202020204" pitchFamily="34" charset="0"/>
              <a:buChar char="•"/>
            </a:pPr>
            <a:r>
              <a:rPr lang="en-US" altLang="zh-TW" dirty="0"/>
              <a:t>Both histograms have the same resolution (22.04uT/A).</a:t>
            </a:r>
          </a:p>
          <a:p>
            <a:pPr marL="285750" indent="-285750">
              <a:buFont typeface="Arial" panose="020B0604020202020204" pitchFamily="34" charset="0"/>
              <a:buChar char="•"/>
            </a:pPr>
            <a:endParaRPr lang="zh-TW" altLang="en-US" dirty="0"/>
          </a:p>
        </p:txBody>
      </p:sp>
      <mc:AlternateContent xmlns:mc="http://schemas.openxmlformats.org/markup-compatibility/2006">
        <mc:Choice xmlns:a14="http://schemas.microsoft.com/office/drawing/2010/main"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4105875477"/>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15.7</a:t>
                          </a:r>
                          <a:endParaRPr lang="zh-TW" altLang="en-US" dirty="0"/>
                        </a:p>
                      </a:txBody>
                      <a:tcPr/>
                    </a:tc>
                    <a:tc>
                      <a:txBody>
                        <a:bodyPr/>
                        <a:lstStyle/>
                        <a:p>
                          <a:pPr algn="ctr"/>
                          <a:r>
                            <a:rPr lang="en-US" altLang="zh-TW" dirty="0"/>
                            <a:t>14.396</a:t>
                          </a:r>
                          <a:endParaRPr lang="zh-TW" altLang="en-US" dirty="0"/>
                        </a:p>
                      </a:txBody>
                      <a:tcPr/>
                    </a:tc>
                    <a:tc>
                      <a:txBody>
                        <a:bodyPr/>
                        <a:lstStyle/>
                        <a:p>
                          <a:pPr algn="ctr"/>
                          <a:r>
                            <a:rPr lang="en-US" altLang="zh-TW" dirty="0"/>
                            <a:t>13.85</a:t>
                          </a:r>
                          <a:endParaRPr lang="zh-TW" altLang="en-US" dirty="0"/>
                        </a:p>
                      </a:txBody>
                      <a:tcPr/>
                    </a:tc>
                    <a:extLst>
                      <a:ext uri="{0D108BD9-81ED-4DB2-BD59-A6C34878D82A}">
                        <a16:rowId xmlns:a16="http://schemas.microsoft.com/office/drawing/2014/main" val="3046649366"/>
                      </a:ext>
                    </a:extLst>
                  </a:tr>
                </a:tbl>
              </a:graphicData>
            </a:graphic>
          </p:graphicFrame>
        </mc:Choice>
        <mc:Fallback>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4105875477"/>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15.7</a:t>
                          </a:r>
                          <a:endParaRPr lang="zh-TW" altLang="en-US" dirty="0"/>
                        </a:p>
                      </a:txBody>
                      <a:tcPr/>
                    </a:tc>
                    <a:tc>
                      <a:txBody>
                        <a:bodyPr/>
                        <a:lstStyle/>
                        <a:p>
                          <a:pPr algn="ctr"/>
                          <a:r>
                            <a:rPr lang="en-US" altLang="zh-TW" dirty="0"/>
                            <a:t>14.396</a:t>
                          </a:r>
                          <a:endParaRPr lang="zh-TW" altLang="en-US" dirty="0"/>
                        </a:p>
                      </a:txBody>
                      <a:tcPr/>
                    </a:tc>
                    <a:tc>
                      <a:txBody>
                        <a:bodyPr/>
                        <a:lstStyle/>
                        <a:p>
                          <a:pPr algn="ctr"/>
                          <a:r>
                            <a:rPr lang="en-US" altLang="zh-TW" dirty="0"/>
                            <a:t>13.85</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6" name="群組 5">
            <a:extLst>
              <a:ext uri="{FF2B5EF4-FFF2-40B4-BE49-F238E27FC236}">
                <a16:creationId xmlns:a16="http://schemas.microsoft.com/office/drawing/2014/main" id="{D577C075-A95F-4CCF-8D75-65839574A314}"/>
              </a:ext>
            </a:extLst>
          </p:cNvPr>
          <p:cNvGrpSpPr/>
          <p:nvPr/>
        </p:nvGrpSpPr>
        <p:grpSpPr>
          <a:xfrm>
            <a:off x="7229536" y="1094983"/>
            <a:ext cx="4015292" cy="3098426"/>
            <a:chOff x="7471222" y="1375612"/>
            <a:chExt cx="4015292" cy="3098426"/>
          </a:xfrm>
        </p:grpSpPr>
        <p:pic>
          <p:nvPicPr>
            <p:cNvPr id="4" name="圖片 3">
              <a:extLst>
                <a:ext uri="{FF2B5EF4-FFF2-40B4-BE49-F238E27FC236}">
                  <a16:creationId xmlns:a16="http://schemas.microsoft.com/office/drawing/2014/main" id="{593E0BED-B07D-4318-A642-8E641FB6B2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6863" y="1375612"/>
              <a:ext cx="3869651" cy="3012131"/>
            </a:xfrm>
            <a:prstGeom prst="rect">
              <a:avLst/>
            </a:prstGeom>
          </p:spPr>
        </p:pic>
        <p:grpSp>
          <p:nvGrpSpPr>
            <p:cNvPr id="15" name="群組 14">
              <a:extLst>
                <a:ext uri="{FF2B5EF4-FFF2-40B4-BE49-F238E27FC236}">
                  <a16:creationId xmlns:a16="http://schemas.microsoft.com/office/drawing/2014/main" id="{B0A18187-7F13-41AC-A9F7-1436480D630C}"/>
                </a:ext>
              </a:extLst>
            </p:cNvPr>
            <p:cNvGrpSpPr/>
            <p:nvPr/>
          </p:nvGrpSpPr>
          <p:grpSpPr>
            <a:xfrm>
              <a:off x="7471222" y="1549006"/>
              <a:ext cx="2805564" cy="2925032"/>
              <a:chOff x="7471222" y="1549006"/>
              <a:chExt cx="2805564" cy="2925032"/>
            </a:xfrm>
          </p:grpSpPr>
          <p:grpSp>
            <p:nvGrpSpPr>
              <p:cNvPr id="14" name="群組 13">
                <a:extLst>
                  <a:ext uri="{FF2B5EF4-FFF2-40B4-BE49-F238E27FC236}">
                    <a16:creationId xmlns:a16="http://schemas.microsoft.com/office/drawing/2014/main" id="{C299C441-BCF8-4475-BFF9-35587BD5D694}"/>
                  </a:ext>
                </a:extLst>
              </p:cNvPr>
              <p:cNvGrpSpPr/>
              <p:nvPr/>
            </p:nvGrpSpPr>
            <p:grpSpPr>
              <a:xfrm>
                <a:off x="7569589" y="2027816"/>
                <a:ext cx="2644432" cy="2358472"/>
                <a:chOff x="7569589" y="2027816"/>
                <a:chExt cx="2644432" cy="2358472"/>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7019275" y="2578130"/>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444206" y="410470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444206" y="4104706"/>
                    <a:ext cx="1832580" cy="369332"/>
                  </a:xfrm>
                  <a:prstGeom prst="rect">
                    <a:avLst/>
                  </a:prstGeom>
                  <a:blipFill>
                    <a:blip r:embed="rId4"/>
                    <a:stretch>
                      <a:fillRect t="-116393" r="-73000"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513652" y="2506576"/>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513652" y="2506576"/>
                    <a:ext cx="2192139" cy="276999"/>
                  </a:xfrm>
                  <a:prstGeom prst="rect">
                    <a:avLst/>
                  </a:prstGeom>
                  <a:blipFill>
                    <a:blip r:embed="rId5"/>
                    <a:stretch>
                      <a:fillRect l="-2222" t="-2778" r="-35556" b="-2222"/>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2174014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D04B276D-81CC-4937-B2F5-C3C828784D45}"/>
              </a:ext>
            </a:extLst>
          </p:cNvPr>
          <p:cNvSpPr/>
          <p:nvPr/>
        </p:nvSpPr>
        <p:spPr>
          <a:xfrm>
            <a:off x="10917927" y="1323922"/>
            <a:ext cx="245534" cy="7981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97843" y="1658714"/>
            <a:ext cx="453262"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sp>
        <p:nvSpPr>
          <p:cNvPr id="24" name="文字方塊 23">
            <a:extLst>
              <a:ext uri="{FF2B5EF4-FFF2-40B4-BE49-F238E27FC236}">
                <a16:creationId xmlns:a16="http://schemas.microsoft.com/office/drawing/2014/main" id="{8FBFCE35-671F-43E8-AFE4-D4E5FC738992}"/>
              </a:ext>
            </a:extLst>
          </p:cNvPr>
          <p:cNvSpPr txBox="1"/>
          <p:nvPr/>
        </p:nvSpPr>
        <p:spPr>
          <a:xfrm>
            <a:off x="148346" y="1041403"/>
            <a:ext cx="6176432" cy="2031325"/>
          </a:xfrm>
          <a:prstGeom prst="rect">
            <a:avLst/>
          </a:prstGeom>
          <a:noFill/>
        </p:spPr>
        <p:txBody>
          <a:bodyPr wrap="square">
            <a:spAutoFit/>
          </a:bodyPr>
          <a:lstStyle/>
          <a:p>
            <a:pPr marL="285750" indent="-285750">
              <a:buFont typeface="Arial" panose="020B0604020202020204" pitchFamily="34" charset="0"/>
              <a:buChar char="•"/>
            </a:pPr>
            <a:r>
              <a:rPr lang="en-US" altLang="zh-TW" dirty="0" err="1"/>
              <a:t>Zhi</a:t>
            </a:r>
            <a:r>
              <a:rPr lang="en-US" altLang="zh-TW" dirty="0"/>
              <a:t>-Peng delivers 2.71× the actuation strength of Long Fei (39.58 vs 14.62 </a:t>
            </a:r>
            <a:r>
              <a:rPr lang="en-US" altLang="zh-TW" dirty="0" err="1"/>
              <a:t>mT</a:t>
            </a:r>
            <a:r>
              <a:rPr lang="en-US" altLang="zh-TW" dirty="0"/>
              <a:t>/A). Both share the same pattern: weakest at the </a:t>
            </a:r>
            <a:r>
              <a:rPr lang="en-US" altLang="zh-TW" dirty="0" err="1"/>
              <a:t>centre</a:t>
            </a:r>
            <a:r>
              <a:rPr lang="en-US" altLang="zh-TW" dirty="0"/>
              <a:t>, strengthening toward the pole tips, and almost constant with direction within the calibration radius</a:t>
            </a:r>
            <a:r>
              <a:rPr lang="zh-TW" altLang="en-US" dirty="0"/>
              <a:t>，</a:t>
            </a:r>
            <a:r>
              <a:rPr lang="en-US" altLang="zh-TW" dirty="0"/>
              <a:t>the planar hexapole wins outright on strength, and it is a pure gain improvement — the field shape is not degraded, and the advantage holds uniformly across the workspace.</a:t>
            </a:r>
            <a:endParaRPr lang="zh-TW" altLang="en-US" dirty="0"/>
          </a:p>
        </p:txBody>
      </p:sp>
      <p:sp>
        <p:nvSpPr>
          <p:cNvPr id="37" name="文字方塊 36">
            <a:extLst>
              <a:ext uri="{FF2B5EF4-FFF2-40B4-BE49-F238E27FC236}">
                <a16:creationId xmlns:a16="http://schemas.microsoft.com/office/drawing/2014/main" id="{F9278AA5-285E-4E53-8A98-184B8C758004}"/>
              </a:ext>
            </a:extLst>
          </p:cNvPr>
          <p:cNvSpPr txBox="1"/>
          <p:nvPr/>
        </p:nvSpPr>
        <p:spPr>
          <a:xfrm>
            <a:off x="8937798" y="11067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5C4B8AE7-45E1-41DF-A3D0-7AB92B7BDAF9}"/>
              </a:ext>
            </a:extLst>
          </p:cNvPr>
          <p:cNvSpPr txBox="1"/>
          <p:nvPr/>
        </p:nvSpPr>
        <p:spPr>
          <a:xfrm>
            <a:off x="9130215" y="226064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9" name="文字方塊 48">
            <a:extLst>
              <a:ext uri="{FF2B5EF4-FFF2-40B4-BE49-F238E27FC236}">
                <a16:creationId xmlns:a16="http://schemas.microsoft.com/office/drawing/2014/main" id="{07F417AB-B111-45B6-A15F-A6BE88FEC739}"/>
              </a:ext>
            </a:extLst>
          </p:cNvPr>
          <p:cNvSpPr txBox="1"/>
          <p:nvPr/>
        </p:nvSpPr>
        <p:spPr>
          <a:xfrm>
            <a:off x="10878068" y="275266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2" name="文字方塊 51">
                <a:extLst>
                  <a:ext uri="{FF2B5EF4-FFF2-40B4-BE49-F238E27FC236}">
                    <a16:creationId xmlns:a16="http://schemas.microsoft.com/office/drawing/2014/main" id="{3466B6D5-E082-4974-BC7C-83DA50FBD643}"/>
                  </a:ext>
                </a:extLst>
              </p:cNvPr>
              <p:cNvSpPr txBox="1"/>
              <p:nvPr/>
            </p:nvSpPr>
            <p:spPr>
              <a:xfrm>
                <a:off x="8270220" y="194381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2" name="文字方塊 51">
                <a:extLst>
                  <a:ext uri="{FF2B5EF4-FFF2-40B4-BE49-F238E27FC236}">
                    <a16:creationId xmlns:a16="http://schemas.microsoft.com/office/drawing/2014/main" id="{3466B6D5-E082-4974-BC7C-83DA50FBD643}"/>
                  </a:ext>
                </a:extLst>
              </p:cNvPr>
              <p:cNvSpPr txBox="1">
                <a:spLocks noRot="1" noChangeAspect="1" noMove="1" noResize="1" noEditPoints="1" noAdjustHandles="1" noChangeArrowheads="1" noChangeShapeType="1" noTextEdit="1"/>
              </p:cNvSpPr>
              <p:nvPr/>
            </p:nvSpPr>
            <p:spPr>
              <a:xfrm>
                <a:off x="8270220" y="1943819"/>
                <a:ext cx="332369" cy="30777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3" name="文字方塊 52">
                <a:extLst>
                  <a:ext uri="{FF2B5EF4-FFF2-40B4-BE49-F238E27FC236}">
                    <a16:creationId xmlns:a16="http://schemas.microsoft.com/office/drawing/2014/main" id="{4FA5E863-69D9-4E94-9E8E-CB25CF9BA993}"/>
                  </a:ext>
                </a:extLst>
              </p:cNvPr>
              <p:cNvSpPr txBox="1"/>
              <p:nvPr/>
            </p:nvSpPr>
            <p:spPr>
              <a:xfrm>
                <a:off x="7802949" y="145599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3" name="文字方塊 52">
                <a:extLst>
                  <a:ext uri="{FF2B5EF4-FFF2-40B4-BE49-F238E27FC236}">
                    <a16:creationId xmlns:a16="http://schemas.microsoft.com/office/drawing/2014/main" id="{4FA5E863-69D9-4E94-9E8E-CB25CF9BA993}"/>
                  </a:ext>
                </a:extLst>
              </p:cNvPr>
              <p:cNvSpPr txBox="1">
                <a:spLocks noRot="1" noChangeAspect="1" noMove="1" noResize="1" noEditPoints="1" noAdjustHandles="1" noChangeArrowheads="1" noChangeShapeType="1" noTextEdit="1"/>
              </p:cNvSpPr>
              <p:nvPr/>
            </p:nvSpPr>
            <p:spPr>
              <a:xfrm>
                <a:off x="7802949" y="1455993"/>
                <a:ext cx="332369" cy="307777"/>
              </a:xfrm>
              <a:prstGeom prst="rect">
                <a:avLst/>
              </a:prstGeom>
              <a:blipFill>
                <a:blip r:embed="rId3"/>
                <a:stretch>
                  <a:fillRect b="-4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4" name="文字方塊 53">
                <a:extLst>
                  <a:ext uri="{FF2B5EF4-FFF2-40B4-BE49-F238E27FC236}">
                    <a16:creationId xmlns:a16="http://schemas.microsoft.com/office/drawing/2014/main" id="{06575CDD-D32D-4C7A-A6D6-FC30A9C5669B}"/>
                  </a:ext>
                </a:extLst>
              </p:cNvPr>
              <p:cNvSpPr txBox="1"/>
              <p:nvPr/>
            </p:nvSpPr>
            <p:spPr>
              <a:xfrm>
                <a:off x="10286965" y="193362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4" name="文字方塊 53">
                <a:extLst>
                  <a:ext uri="{FF2B5EF4-FFF2-40B4-BE49-F238E27FC236}">
                    <a16:creationId xmlns:a16="http://schemas.microsoft.com/office/drawing/2014/main" id="{06575CDD-D32D-4C7A-A6D6-FC30A9C5669B}"/>
                  </a:ext>
                </a:extLst>
              </p:cNvPr>
              <p:cNvSpPr txBox="1">
                <a:spLocks noRot="1" noChangeAspect="1" noMove="1" noResize="1" noEditPoints="1" noAdjustHandles="1" noChangeArrowheads="1" noChangeShapeType="1" noTextEdit="1"/>
              </p:cNvSpPr>
              <p:nvPr/>
            </p:nvSpPr>
            <p:spPr>
              <a:xfrm>
                <a:off x="10286965" y="1933620"/>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5" name="文字方塊 54">
                <a:extLst>
                  <a:ext uri="{FF2B5EF4-FFF2-40B4-BE49-F238E27FC236}">
                    <a16:creationId xmlns:a16="http://schemas.microsoft.com/office/drawing/2014/main" id="{2D95AAF3-657B-4E85-A93E-232AFF17D1B9}"/>
                  </a:ext>
                </a:extLst>
              </p:cNvPr>
              <p:cNvSpPr txBox="1"/>
              <p:nvPr/>
            </p:nvSpPr>
            <p:spPr>
              <a:xfrm>
                <a:off x="9757220" y="145599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5" name="文字方塊 54">
                <a:extLst>
                  <a:ext uri="{FF2B5EF4-FFF2-40B4-BE49-F238E27FC236}">
                    <a16:creationId xmlns:a16="http://schemas.microsoft.com/office/drawing/2014/main" id="{2D95AAF3-657B-4E85-A93E-232AFF17D1B9}"/>
                  </a:ext>
                </a:extLst>
              </p:cNvPr>
              <p:cNvSpPr txBox="1">
                <a:spLocks noRot="1" noChangeAspect="1" noMove="1" noResize="1" noEditPoints="1" noAdjustHandles="1" noChangeArrowheads="1" noChangeShapeType="1" noTextEdit="1"/>
              </p:cNvSpPr>
              <p:nvPr/>
            </p:nvSpPr>
            <p:spPr>
              <a:xfrm>
                <a:off x="9757220" y="1455993"/>
                <a:ext cx="332369" cy="307777"/>
              </a:xfrm>
              <a:prstGeom prst="rect">
                <a:avLst/>
              </a:prstGeom>
              <a:blipFill>
                <a:blip r:embed="rId5"/>
                <a:stretch>
                  <a:fillRect/>
                </a:stretch>
              </a:blipFill>
            </p:spPr>
            <p:txBody>
              <a:bodyPr/>
              <a:lstStyle/>
              <a:p>
                <a:r>
                  <a:rPr lang="zh-TW" altLang="en-US">
                    <a:noFill/>
                  </a:rPr>
                  <a:t> </a:t>
                </a:r>
              </a:p>
            </p:txBody>
          </p:sp>
        </mc:Fallback>
      </mc:AlternateContent>
      <p:grpSp>
        <p:nvGrpSpPr>
          <p:cNvPr id="13" name="群組 12">
            <a:extLst>
              <a:ext uri="{FF2B5EF4-FFF2-40B4-BE49-F238E27FC236}">
                <a16:creationId xmlns:a16="http://schemas.microsoft.com/office/drawing/2014/main" id="{23F78EBC-70AE-46C7-8747-578090779B11}"/>
              </a:ext>
            </a:extLst>
          </p:cNvPr>
          <p:cNvGrpSpPr/>
          <p:nvPr/>
        </p:nvGrpSpPr>
        <p:grpSpPr>
          <a:xfrm>
            <a:off x="6848773" y="765798"/>
            <a:ext cx="5016271" cy="2406942"/>
            <a:chOff x="6848773" y="765798"/>
            <a:chExt cx="5016271" cy="2406942"/>
          </a:xfrm>
        </p:grpSpPr>
        <p:grpSp>
          <p:nvGrpSpPr>
            <p:cNvPr id="12" name="群組 11">
              <a:extLst>
                <a:ext uri="{FF2B5EF4-FFF2-40B4-BE49-F238E27FC236}">
                  <a16:creationId xmlns:a16="http://schemas.microsoft.com/office/drawing/2014/main" id="{11A70DA8-E9B0-420E-B026-CEFC7B78C7F4}"/>
                </a:ext>
              </a:extLst>
            </p:cNvPr>
            <p:cNvGrpSpPr/>
            <p:nvPr/>
          </p:nvGrpSpPr>
          <p:grpSpPr>
            <a:xfrm>
              <a:off x="6848773" y="765798"/>
              <a:ext cx="5016271" cy="2406942"/>
              <a:chOff x="6848773" y="765798"/>
              <a:chExt cx="5016271" cy="2406942"/>
            </a:xfrm>
          </p:grpSpPr>
          <p:pic>
            <p:nvPicPr>
              <p:cNvPr id="6" name="圖片 5">
                <a:extLst>
                  <a:ext uri="{FF2B5EF4-FFF2-40B4-BE49-F238E27FC236}">
                    <a16:creationId xmlns:a16="http://schemas.microsoft.com/office/drawing/2014/main" id="{73E8E03E-A962-43D4-A3EB-DA91173EBE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45866" y="978754"/>
                <a:ext cx="4548889" cy="2018161"/>
              </a:xfrm>
              <a:prstGeom prst="rect">
                <a:avLst/>
              </a:prstGeom>
            </p:spPr>
          </p:pic>
          <p:sp>
            <p:nvSpPr>
              <p:cNvPr id="3" name="矩形 2">
                <a:extLst>
                  <a:ext uri="{FF2B5EF4-FFF2-40B4-BE49-F238E27FC236}">
                    <a16:creationId xmlns:a16="http://schemas.microsoft.com/office/drawing/2014/main" id="{FB7DEFC0-C83A-40F7-A246-1F3C181E9589}"/>
                  </a:ext>
                </a:extLst>
              </p:cNvPr>
              <p:cNvSpPr/>
              <p:nvPr/>
            </p:nvSpPr>
            <p:spPr>
              <a:xfrm>
                <a:off x="8979362" y="1781231"/>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563B98D0-02FC-439F-AE72-8BAD0770C69D}"/>
                  </a:ext>
                </a:extLst>
              </p:cNvPr>
              <p:cNvSpPr/>
              <p:nvPr/>
            </p:nvSpPr>
            <p:spPr>
              <a:xfrm>
                <a:off x="7944187" y="812253"/>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C8494D76-B74B-4484-B710-DEA0CE05DEF5}"/>
                  </a:ext>
                </a:extLst>
              </p:cNvPr>
              <p:cNvSpPr/>
              <p:nvPr/>
            </p:nvSpPr>
            <p:spPr>
              <a:xfrm>
                <a:off x="6848773" y="176294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1A688309-ECAA-470D-BE33-2A7B523A5D69}"/>
                  </a:ext>
                </a:extLst>
              </p:cNvPr>
              <p:cNvSpPr/>
              <p:nvPr/>
            </p:nvSpPr>
            <p:spPr>
              <a:xfrm>
                <a:off x="7933529" y="2807146"/>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51C8839-26B5-4A4C-881B-A322C2415EDE}"/>
                  </a:ext>
                </a:extLst>
              </p:cNvPr>
              <p:cNvSpPr/>
              <p:nvPr/>
            </p:nvSpPr>
            <p:spPr>
              <a:xfrm>
                <a:off x="10057389" y="76579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F0B43A3-93E1-4BD2-B103-10B5D89BA837}"/>
                  </a:ext>
                </a:extLst>
              </p:cNvPr>
              <p:cNvSpPr/>
              <p:nvPr/>
            </p:nvSpPr>
            <p:spPr>
              <a:xfrm>
                <a:off x="11104629" y="1771413"/>
                <a:ext cx="178916"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8FA6A81E-4DAC-4EAA-8C02-C230117F7CEF}"/>
                  </a:ext>
                </a:extLst>
              </p:cNvPr>
              <p:cNvSpPr/>
              <p:nvPr/>
            </p:nvSpPr>
            <p:spPr>
              <a:xfrm>
                <a:off x="10059896" y="2827867"/>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1A4F4FD4-A05B-47E4-8245-43225E89C6AD}"/>
                  </a:ext>
                </a:extLst>
              </p:cNvPr>
              <p:cNvSpPr/>
              <p:nvPr/>
            </p:nvSpPr>
            <p:spPr>
              <a:xfrm>
                <a:off x="11582398" y="1701521"/>
                <a:ext cx="282646" cy="5900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57" name="文字方塊 56">
                  <a:extLst>
                    <a:ext uri="{FF2B5EF4-FFF2-40B4-BE49-F238E27FC236}">
                      <a16:creationId xmlns:a16="http://schemas.microsoft.com/office/drawing/2014/main" id="{EFBDAE91-6189-4E4D-883C-0FD776BDB2CB}"/>
                    </a:ext>
                  </a:extLst>
                </p:cNvPr>
                <p:cNvSpPr txBox="1"/>
                <p:nvPr/>
              </p:nvSpPr>
              <p:spPr>
                <a:xfrm rot="16200000">
                  <a:off x="10716581" y="1764676"/>
                  <a:ext cx="1869527"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p:sp>
              <p:nvSpPr>
                <p:cNvPr id="57" name="文字方塊 56">
                  <a:extLst>
                    <a:ext uri="{FF2B5EF4-FFF2-40B4-BE49-F238E27FC236}">
                      <a16:creationId xmlns:a16="http://schemas.microsoft.com/office/drawing/2014/main" id="{EFBDAE91-6189-4E4D-883C-0FD776BDB2CB}"/>
                    </a:ext>
                  </a:extLst>
                </p:cNvPr>
                <p:cNvSpPr txBox="1">
                  <a:spLocks noRot="1" noChangeAspect="1" noMove="1" noResize="1" noEditPoints="1" noAdjustHandles="1" noChangeArrowheads="1" noChangeShapeType="1" noTextEdit="1"/>
                </p:cNvSpPr>
                <p:nvPr/>
              </p:nvSpPr>
              <p:spPr>
                <a:xfrm rot="16200000">
                  <a:off x="10716581" y="1764676"/>
                  <a:ext cx="1869527" cy="276999"/>
                </a:xfrm>
                <a:prstGeom prst="rect">
                  <a:avLst/>
                </a:prstGeom>
                <a:blipFill>
                  <a:blip r:embed="rId7"/>
                  <a:stretch>
                    <a:fillRect l="-95556" t="-13681" r="-148889"/>
                  </a:stretch>
                </a:blipFill>
              </p:spPr>
              <p:txBody>
                <a:bodyPr/>
                <a:lstStyle/>
                <a:p>
                  <a:r>
                    <a:rPr lang="zh-TW" altLang="en-US">
                      <a:noFill/>
                    </a:rPr>
                    <a:t> </a:t>
                  </a:r>
                </a:p>
              </p:txBody>
            </p:sp>
          </mc:Fallback>
        </mc:AlternateContent>
        <p:sp>
          <p:nvSpPr>
            <p:cNvPr id="39" name="文字方塊 38">
              <a:extLst>
                <a:ext uri="{FF2B5EF4-FFF2-40B4-BE49-F238E27FC236}">
                  <a16:creationId xmlns:a16="http://schemas.microsoft.com/office/drawing/2014/main" id="{6FEFB949-8C79-4170-A169-EF49AF40D4C6}"/>
                </a:ext>
              </a:extLst>
            </p:cNvPr>
            <p:cNvSpPr txBox="1"/>
            <p:nvPr/>
          </p:nvSpPr>
          <p:spPr>
            <a:xfrm>
              <a:off x="7938400" y="8508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743B2967-29F8-465B-B884-7228C5279B20}"/>
                </a:ext>
              </a:extLst>
            </p:cNvPr>
            <p:cNvSpPr txBox="1"/>
            <p:nvPr/>
          </p:nvSpPr>
          <p:spPr>
            <a:xfrm>
              <a:off x="6952394" y="174928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04FD0DA2-53F6-40AD-A52B-DDA949A6354B}"/>
                </a:ext>
              </a:extLst>
            </p:cNvPr>
            <p:cNvSpPr txBox="1"/>
            <p:nvPr/>
          </p:nvSpPr>
          <p:spPr>
            <a:xfrm>
              <a:off x="7993939" y="279248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7D1CD685-DE49-4892-B90B-9A309ED5300B}"/>
                </a:ext>
              </a:extLst>
            </p:cNvPr>
            <p:cNvSpPr txBox="1"/>
            <p:nvPr/>
          </p:nvSpPr>
          <p:spPr>
            <a:xfrm>
              <a:off x="10089478" y="8508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F8EF116-F605-404F-A7E7-4CC8EFAD1CDA}"/>
                </a:ext>
              </a:extLst>
            </p:cNvPr>
            <p:cNvSpPr txBox="1"/>
            <p:nvPr/>
          </p:nvSpPr>
          <p:spPr>
            <a:xfrm>
              <a:off x="10054693" y="28223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ACA22AB4-DD5C-44F2-9B94-A855DA63B72F}"/>
                </a:ext>
              </a:extLst>
            </p:cNvPr>
            <p:cNvSpPr txBox="1"/>
            <p:nvPr/>
          </p:nvSpPr>
          <p:spPr>
            <a:xfrm>
              <a:off x="8907830" y="200397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06C8698D-9F77-4BB8-BE90-EEA0504474EC}"/>
                </a:ext>
              </a:extLst>
            </p:cNvPr>
            <p:cNvSpPr txBox="1"/>
            <p:nvPr/>
          </p:nvSpPr>
          <p:spPr>
            <a:xfrm>
              <a:off x="9122442" y="169244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60" name="文字方塊 59">
              <a:extLst>
                <a:ext uri="{FF2B5EF4-FFF2-40B4-BE49-F238E27FC236}">
                  <a16:creationId xmlns:a16="http://schemas.microsoft.com/office/drawing/2014/main" id="{663B200D-D195-4F6F-8D2E-3E58C9C0B9EF}"/>
                </a:ext>
              </a:extLst>
            </p:cNvPr>
            <p:cNvSpPr txBox="1"/>
            <p:nvPr/>
          </p:nvSpPr>
          <p:spPr>
            <a:xfrm>
              <a:off x="11039400" y="19936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8" name="文字方塊 67">
                  <a:extLst>
                    <a:ext uri="{FF2B5EF4-FFF2-40B4-BE49-F238E27FC236}">
                      <a16:creationId xmlns:a16="http://schemas.microsoft.com/office/drawing/2014/main" id="{81C7D68B-5FC7-452F-AAF6-E29BDBD1CAB7}"/>
                    </a:ext>
                  </a:extLst>
                </p:cNvPr>
                <p:cNvSpPr txBox="1"/>
                <p:nvPr/>
              </p:nvSpPr>
              <p:spPr>
                <a:xfrm>
                  <a:off x="8344461" y="192757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68" name="文字方塊 67">
                  <a:extLst>
                    <a:ext uri="{FF2B5EF4-FFF2-40B4-BE49-F238E27FC236}">
                      <a16:creationId xmlns:a16="http://schemas.microsoft.com/office/drawing/2014/main" id="{81C7D68B-5FC7-452F-AAF6-E29BDBD1CAB7}"/>
                    </a:ext>
                  </a:extLst>
                </p:cNvPr>
                <p:cNvSpPr txBox="1">
                  <a:spLocks noRot="1" noChangeAspect="1" noMove="1" noResize="1" noEditPoints="1" noAdjustHandles="1" noChangeArrowheads="1" noChangeShapeType="1" noTextEdit="1"/>
                </p:cNvSpPr>
                <p:nvPr/>
              </p:nvSpPr>
              <p:spPr>
                <a:xfrm>
                  <a:off x="8344461" y="1927570"/>
                  <a:ext cx="332369" cy="307777"/>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9" name="文字方塊 68">
                  <a:extLst>
                    <a:ext uri="{FF2B5EF4-FFF2-40B4-BE49-F238E27FC236}">
                      <a16:creationId xmlns:a16="http://schemas.microsoft.com/office/drawing/2014/main" id="{BD883E8A-8183-4AE5-A25C-90D9525852AD}"/>
                    </a:ext>
                  </a:extLst>
                </p:cNvPr>
                <p:cNvSpPr txBox="1"/>
                <p:nvPr/>
              </p:nvSpPr>
              <p:spPr>
                <a:xfrm>
                  <a:off x="7862079" y="138878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69" name="文字方塊 68">
                  <a:extLst>
                    <a:ext uri="{FF2B5EF4-FFF2-40B4-BE49-F238E27FC236}">
                      <a16:creationId xmlns:a16="http://schemas.microsoft.com/office/drawing/2014/main" id="{BD883E8A-8183-4AE5-A25C-90D9525852AD}"/>
                    </a:ext>
                  </a:extLst>
                </p:cNvPr>
                <p:cNvSpPr txBox="1">
                  <a:spLocks noRot="1" noChangeAspect="1" noMove="1" noResize="1" noEditPoints="1" noAdjustHandles="1" noChangeArrowheads="1" noChangeShapeType="1" noTextEdit="1"/>
                </p:cNvSpPr>
                <p:nvPr/>
              </p:nvSpPr>
              <p:spPr>
                <a:xfrm>
                  <a:off x="7862079" y="1388786"/>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0" name="文字方塊 69">
                  <a:extLst>
                    <a:ext uri="{FF2B5EF4-FFF2-40B4-BE49-F238E27FC236}">
                      <a16:creationId xmlns:a16="http://schemas.microsoft.com/office/drawing/2014/main" id="{55520A6D-7C89-4532-B995-5569B9F7B70E}"/>
                    </a:ext>
                  </a:extLst>
                </p:cNvPr>
                <p:cNvSpPr txBox="1"/>
                <p:nvPr/>
              </p:nvSpPr>
              <p:spPr>
                <a:xfrm>
                  <a:off x="10361206" y="191737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70" name="文字方塊 69">
                  <a:extLst>
                    <a:ext uri="{FF2B5EF4-FFF2-40B4-BE49-F238E27FC236}">
                      <a16:creationId xmlns:a16="http://schemas.microsoft.com/office/drawing/2014/main" id="{55520A6D-7C89-4532-B995-5569B9F7B70E}"/>
                    </a:ext>
                  </a:extLst>
                </p:cNvPr>
                <p:cNvSpPr txBox="1">
                  <a:spLocks noRot="1" noChangeAspect="1" noMove="1" noResize="1" noEditPoints="1" noAdjustHandles="1" noChangeArrowheads="1" noChangeShapeType="1" noTextEdit="1"/>
                </p:cNvSpPr>
                <p:nvPr/>
              </p:nvSpPr>
              <p:spPr>
                <a:xfrm>
                  <a:off x="10361206" y="1917371"/>
                  <a:ext cx="332369" cy="30777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1" name="文字方塊 70">
                  <a:extLst>
                    <a:ext uri="{FF2B5EF4-FFF2-40B4-BE49-F238E27FC236}">
                      <a16:creationId xmlns:a16="http://schemas.microsoft.com/office/drawing/2014/main" id="{B6FED279-D2A9-495B-BF5F-8B2CFB26DD46}"/>
                    </a:ext>
                  </a:extLst>
                </p:cNvPr>
                <p:cNvSpPr txBox="1"/>
                <p:nvPr/>
              </p:nvSpPr>
              <p:spPr>
                <a:xfrm>
                  <a:off x="9923404" y="136363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71" name="文字方塊 70">
                  <a:extLst>
                    <a:ext uri="{FF2B5EF4-FFF2-40B4-BE49-F238E27FC236}">
                      <a16:creationId xmlns:a16="http://schemas.microsoft.com/office/drawing/2014/main" id="{B6FED279-D2A9-495B-BF5F-8B2CFB26DD46}"/>
                    </a:ext>
                  </a:extLst>
                </p:cNvPr>
                <p:cNvSpPr txBox="1">
                  <a:spLocks noRot="1" noChangeAspect="1" noMove="1" noResize="1" noEditPoints="1" noAdjustHandles="1" noChangeArrowheads="1" noChangeShapeType="1" noTextEdit="1"/>
                </p:cNvSpPr>
                <p:nvPr/>
              </p:nvSpPr>
              <p:spPr>
                <a:xfrm>
                  <a:off x="9923404" y="1363639"/>
                  <a:ext cx="332369" cy="307777"/>
                </a:xfrm>
                <a:prstGeom prst="rect">
                  <a:avLst/>
                </a:prstGeom>
                <a:blipFill>
                  <a:blip r:embed="rId5"/>
                  <a:stretch>
                    <a:fillRect/>
                  </a:stretch>
                </a:blipFill>
              </p:spPr>
              <p:txBody>
                <a:bodyPr/>
                <a:lstStyle/>
                <a:p>
                  <a:r>
                    <a:rPr lang="zh-TW" altLang="en-US">
                      <a:noFill/>
                    </a:rPr>
                    <a:t> </a:t>
                  </a:r>
                </a:p>
              </p:txBody>
            </p:sp>
          </mc:Fallback>
        </mc:AlternateContent>
      </p:grpSp>
      <p:grpSp>
        <p:nvGrpSpPr>
          <p:cNvPr id="18" name="群組 17">
            <a:extLst>
              <a:ext uri="{FF2B5EF4-FFF2-40B4-BE49-F238E27FC236}">
                <a16:creationId xmlns:a16="http://schemas.microsoft.com/office/drawing/2014/main" id="{22DEE182-220C-4694-B0E8-4F293D6F7DFF}"/>
              </a:ext>
            </a:extLst>
          </p:cNvPr>
          <p:cNvGrpSpPr/>
          <p:nvPr/>
        </p:nvGrpSpPr>
        <p:grpSpPr>
          <a:xfrm>
            <a:off x="8136801" y="3386251"/>
            <a:ext cx="2628189" cy="2112783"/>
            <a:chOff x="8106683" y="3561381"/>
            <a:chExt cx="2628189" cy="2112783"/>
          </a:xfrm>
        </p:grpSpPr>
        <p:grpSp>
          <p:nvGrpSpPr>
            <p:cNvPr id="17" name="群組 16">
              <a:extLst>
                <a:ext uri="{FF2B5EF4-FFF2-40B4-BE49-F238E27FC236}">
                  <a16:creationId xmlns:a16="http://schemas.microsoft.com/office/drawing/2014/main" id="{55BB4621-7BD9-4679-83DF-BFD7799DF865}"/>
                </a:ext>
              </a:extLst>
            </p:cNvPr>
            <p:cNvGrpSpPr/>
            <p:nvPr/>
          </p:nvGrpSpPr>
          <p:grpSpPr>
            <a:xfrm>
              <a:off x="8205436" y="3679452"/>
              <a:ext cx="2455714" cy="1909035"/>
              <a:chOff x="8205436" y="3679452"/>
              <a:chExt cx="2455714" cy="1909035"/>
            </a:xfrm>
          </p:grpSpPr>
          <p:pic>
            <p:nvPicPr>
              <p:cNvPr id="10" name="圖片 9">
                <a:extLst>
                  <a:ext uri="{FF2B5EF4-FFF2-40B4-BE49-F238E27FC236}">
                    <a16:creationId xmlns:a16="http://schemas.microsoft.com/office/drawing/2014/main" id="{F30FFA08-112E-4294-8B00-78F19F08687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84596" y="3679452"/>
                <a:ext cx="2291585" cy="1866353"/>
              </a:xfrm>
              <a:prstGeom prst="rect">
                <a:avLst/>
              </a:prstGeom>
            </p:spPr>
          </p:pic>
          <p:sp>
            <p:nvSpPr>
              <p:cNvPr id="5" name="矩形 4">
                <a:extLst>
                  <a:ext uri="{FF2B5EF4-FFF2-40B4-BE49-F238E27FC236}">
                    <a16:creationId xmlns:a16="http://schemas.microsoft.com/office/drawing/2014/main" id="{814C6145-C47B-4D69-AAD2-1C7FDFF05D7C}"/>
                  </a:ext>
                </a:extLst>
              </p:cNvPr>
              <p:cNvSpPr/>
              <p:nvPr/>
            </p:nvSpPr>
            <p:spPr>
              <a:xfrm>
                <a:off x="8979362" y="3679452"/>
                <a:ext cx="471534" cy="1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0791F678-56AB-42BA-961F-31FF4CB4DF2D}"/>
                  </a:ext>
                </a:extLst>
              </p:cNvPr>
              <p:cNvSpPr/>
              <p:nvPr/>
            </p:nvSpPr>
            <p:spPr>
              <a:xfrm>
                <a:off x="8205436" y="4538000"/>
                <a:ext cx="244903"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9F216946-C27D-48B6-9FC9-3A7938C80A01}"/>
                  </a:ext>
                </a:extLst>
              </p:cNvPr>
              <p:cNvSpPr/>
              <p:nvPr/>
            </p:nvSpPr>
            <p:spPr>
              <a:xfrm>
                <a:off x="8979362" y="5407569"/>
                <a:ext cx="471534" cy="18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D95603DB-8850-4931-9119-271118BBBC31}"/>
                  </a:ext>
                </a:extLst>
              </p:cNvPr>
              <p:cNvSpPr/>
              <p:nvPr/>
            </p:nvSpPr>
            <p:spPr>
              <a:xfrm>
                <a:off x="9983492" y="4444068"/>
                <a:ext cx="244903" cy="283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1329119F-C529-4B40-91BE-B411B4240C93}"/>
                  </a:ext>
                </a:extLst>
              </p:cNvPr>
              <p:cNvSpPr/>
              <p:nvPr/>
            </p:nvSpPr>
            <p:spPr>
              <a:xfrm>
                <a:off x="10471709" y="4356913"/>
                <a:ext cx="189441" cy="584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80" name="文字方塊 79">
                  <a:extLst>
                    <a:ext uri="{FF2B5EF4-FFF2-40B4-BE49-F238E27FC236}">
                      <a16:creationId xmlns:a16="http://schemas.microsoft.com/office/drawing/2014/main" id="{27CD9186-2EE6-4F6E-A706-803E24D40A26}"/>
                    </a:ext>
                  </a:extLst>
                </p:cNvPr>
                <p:cNvSpPr txBox="1"/>
                <p:nvPr/>
              </p:nvSpPr>
              <p:spPr>
                <a:xfrm rot="16200000">
                  <a:off x="9680083" y="4550209"/>
                  <a:ext cx="183258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200" i="0" smtClean="0">
                            <a:latin typeface="Cambria Math" panose="02040503050406030204" pitchFamily="18" charset="0"/>
                            <a:ea typeface="Cambria Math" panose="02040503050406030204" pitchFamily="18" charset="0"/>
                          </a:rPr>
                          <m:t>C</m:t>
                        </m:r>
                        <m:r>
                          <m:rPr>
                            <m:sty m:val="p"/>
                          </m:rPr>
                          <a:rPr lang="en-US" altLang="zh-TW" sz="1200" b="0" i="0" smtClean="0">
                            <a:latin typeface="Cambria Math" panose="02040503050406030204" pitchFamily="18" charset="0"/>
                            <a:ea typeface="Cambria Math" panose="02040503050406030204" pitchFamily="18" charset="0"/>
                          </a:rPr>
                          <m:t>apacity</m:t>
                        </m:r>
                        <m:r>
                          <a:rPr lang="en-US" altLang="zh-TW" sz="1200" b="0" i="0" smtClean="0">
                            <a:latin typeface="Cambria Math" panose="02040503050406030204" pitchFamily="18" charset="0"/>
                            <a:ea typeface="Cambria Math" panose="02040503050406030204" pitchFamily="18" charset="0"/>
                          </a:rPr>
                          <m:t> </m:t>
                        </m:r>
                        <m:r>
                          <m:rPr>
                            <m:sty m:val="p"/>
                          </m:rPr>
                          <a:rPr lang="en-US" altLang="zh-TW" sz="1200" b="0" i="0" smtClean="0">
                            <a:latin typeface="Cambria Math" panose="02040503050406030204" pitchFamily="18" charset="0"/>
                            <a:ea typeface="Cambria Math" panose="02040503050406030204" pitchFamily="18" charset="0"/>
                          </a:rPr>
                          <m:t>measure</m:t>
                        </m:r>
                        <m:r>
                          <a:rPr lang="en-US" altLang="zh-TW" sz="1200" b="0" i="0" smtClean="0">
                            <a:latin typeface="Cambria Math" panose="02040503050406030204" pitchFamily="18" charset="0"/>
                            <a:ea typeface="Cambria Math" panose="02040503050406030204" pitchFamily="18" charset="0"/>
                          </a:rPr>
                          <m:t> </m:t>
                        </m:r>
                        <m:r>
                          <a:rPr lang="en-US" altLang="zh-TW" sz="1200" b="0" i="1" smtClean="0">
                            <a:latin typeface="Cambria Math" panose="02040503050406030204" pitchFamily="18" charset="0"/>
                            <a:ea typeface="Cambria Math" panose="02040503050406030204" pitchFamily="18" charset="0"/>
                          </a:rPr>
                          <m:t>(</m:t>
                        </m:r>
                        <m:f>
                          <m:fPr>
                            <m:type m:val="lin"/>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𝑚𝑇</m:t>
                            </m:r>
                          </m:num>
                          <m:den>
                            <m:r>
                              <a:rPr lang="en-US" altLang="zh-TW" sz="1200" b="0" i="1" smtClean="0">
                                <a:latin typeface="Cambria Math" panose="02040503050406030204" pitchFamily="18" charset="0"/>
                                <a:ea typeface="Cambria Math" panose="02040503050406030204" pitchFamily="18" charset="0"/>
                              </a:rPr>
                              <m:t>𝐴</m:t>
                            </m:r>
                          </m:den>
                        </m:f>
                        <m:r>
                          <a:rPr lang="en-US" altLang="zh-TW" sz="12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p:sp>
              <p:nvSpPr>
                <p:cNvPr id="80" name="文字方塊 79">
                  <a:extLst>
                    <a:ext uri="{FF2B5EF4-FFF2-40B4-BE49-F238E27FC236}">
                      <a16:creationId xmlns:a16="http://schemas.microsoft.com/office/drawing/2014/main" id="{27CD9186-2EE6-4F6E-A706-803E24D40A26}"/>
                    </a:ext>
                  </a:extLst>
                </p:cNvPr>
                <p:cNvSpPr txBox="1">
                  <a:spLocks noRot="1" noChangeAspect="1" noMove="1" noResize="1" noEditPoints="1" noAdjustHandles="1" noChangeArrowheads="1" noChangeShapeType="1" noTextEdit="1"/>
                </p:cNvSpPr>
                <p:nvPr/>
              </p:nvSpPr>
              <p:spPr>
                <a:xfrm rot="16200000">
                  <a:off x="9680083" y="4550209"/>
                  <a:ext cx="1832580" cy="276999"/>
                </a:xfrm>
                <a:prstGeom prst="rect">
                  <a:avLst/>
                </a:prstGeom>
                <a:blipFill>
                  <a:blip r:embed="rId11"/>
                  <a:stretch>
                    <a:fillRect l="-93478" t="-15947" r="-143478"/>
                  </a:stretch>
                </a:blipFill>
              </p:spPr>
              <p:txBody>
                <a:bodyPr/>
                <a:lstStyle/>
                <a:p>
                  <a:r>
                    <a:rPr lang="zh-TW" altLang="en-US">
                      <a:noFill/>
                    </a:rPr>
                    <a:t> </a:t>
                  </a:r>
                </a:p>
              </p:txBody>
            </p:sp>
          </mc:Fallback>
        </mc:AlternateContent>
        <p:sp>
          <p:nvSpPr>
            <p:cNvPr id="81" name="文字方塊 80">
              <a:extLst>
                <a:ext uri="{FF2B5EF4-FFF2-40B4-BE49-F238E27FC236}">
                  <a16:creationId xmlns:a16="http://schemas.microsoft.com/office/drawing/2014/main" id="{52CF3FFF-4A3A-4DF8-9571-F600210FEEA8}"/>
                </a:ext>
              </a:extLst>
            </p:cNvPr>
            <p:cNvSpPr txBox="1"/>
            <p:nvPr/>
          </p:nvSpPr>
          <p:spPr>
            <a:xfrm>
              <a:off x="8106683" y="430823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2" name="文字方塊 81">
              <a:extLst>
                <a:ext uri="{FF2B5EF4-FFF2-40B4-BE49-F238E27FC236}">
                  <a16:creationId xmlns:a16="http://schemas.microsoft.com/office/drawing/2014/main" id="{853AC494-5F6E-45D3-8AB8-45F0C907BFD2}"/>
                </a:ext>
              </a:extLst>
            </p:cNvPr>
            <p:cNvSpPr txBox="1"/>
            <p:nvPr/>
          </p:nvSpPr>
          <p:spPr>
            <a:xfrm>
              <a:off x="9011451" y="356138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3" name="文字方塊 82">
              <a:extLst>
                <a:ext uri="{FF2B5EF4-FFF2-40B4-BE49-F238E27FC236}">
                  <a16:creationId xmlns:a16="http://schemas.microsoft.com/office/drawing/2014/main" id="{8C1B137E-27CA-4FA8-BD49-47C50D6F832A}"/>
                </a:ext>
              </a:extLst>
            </p:cNvPr>
            <p:cNvSpPr txBox="1"/>
            <p:nvPr/>
          </p:nvSpPr>
          <p:spPr>
            <a:xfrm>
              <a:off x="9041621" y="536638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4" name="文字方塊 83">
              <a:extLst>
                <a:ext uri="{FF2B5EF4-FFF2-40B4-BE49-F238E27FC236}">
                  <a16:creationId xmlns:a16="http://schemas.microsoft.com/office/drawing/2014/main" id="{7712404E-07B6-4F6E-AF69-1455B3E1A4BB}"/>
                </a:ext>
              </a:extLst>
            </p:cNvPr>
            <p:cNvSpPr txBox="1"/>
            <p:nvPr/>
          </p:nvSpPr>
          <p:spPr>
            <a:xfrm>
              <a:off x="9932228" y="457665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5" name="文字方塊 84">
                  <a:extLst>
                    <a:ext uri="{FF2B5EF4-FFF2-40B4-BE49-F238E27FC236}">
                      <a16:creationId xmlns:a16="http://schemas.microsoft.com/office/drawing/2014/main" id="{540B8155-584E-4A94-B7CA-1691DEFFD750}"/>
                    </a:ext>
                  </a:extLst>
                </p:cNvPr>
                <p:cNvSpPr txBox="1"/>
                <p:nvPr/>
              </p:nvSpPr>
              <p:spPr>
                <a:xfrm>
                  <a:off x="9312538" y="458296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85" name="文字方塊 84">
                  <a:extLst>
                    <a:ext uri="{FF2B5EF4-FFF2-40B4-BE49-F238E27FC236}">
                      <a16:creationId xmlns:a16="http://schemas.microsoft.com/office/drawing/2014/main" id="{540B8155-584E-4A94-B7CA-1691DEFFD750}"/>
                    </a:ext>
                  </a:extLst>
                </p:cNvPr>
                <p:cNvSpPr txBox="1">
                  <a:spLocks noRot="1" noChangeAspect="1" noMove="1" noResize="1" noEditPoints="1" noAdjustHandles="1" noChangeArrowheads="1" noChangeShapeType="1" noTextEdit="1"/>
                </p:cNvSpPr>
                <p:nvPr/>
              </p:nvSpPr>
              <p:spPr>
                <a:xfrm>
                  <a:off x="9312538" y="4582969"/>
                  <a:ext cx="332369" cy="307777"/>
                </a:xfrm>
                <a:prstGeom prst="rect">
                  <a:avLst/>
                </a:prstGeom>
                <a:blipFill>
                  <a:blip r:embed="rId12"/>
                  <a:stretch>
                    <a:fillRect b="-196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6" name="文字方塊 85">
                  <a:extLst>
                    <a:ext uri="{FF2B5EF4-FFF2-40B4-BE49-F238E27FC236}">
                      <a16:creationId xmlns:a16="http://schemas.microsoft.com/office/drawing/2014/main" id="{867489ED-A813-4081-8B30-C7D8958005DE}"/>
                    </a:ext>
                  </a:extLst>
                </p:cNvPr>
                <p:cNvSpPr txBox="1"/>
                <p:nvPr/>
              </p:nvSpPr>
              <p:spPr>
                <a:xfrm>
                  <a:off x="8845267" y="409514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86" name="文字方塊 85">
                  <a:extLst>
                    <a:ext uri="{FF2B5EF4-FFF2-40B4-BE49-F238E27FC236}">
                      <a16:creationId xmlns:a16="http://schemas.microsoft.com/office/drawing/2014/main" id="{867489ED-A813-4081-8B30-C7D8958005DE}"/>
                    </a:ext>
                  </a:extLst>
                </p:cNvPr>
                <p:cNvSpPr txBox="1">
                  <a:spLocks noRot="1" noChangeAspect="1" noMove="1" noResize="1" noEditPoints="1" noAdjustHandles="1" noChangeArrowheads="1" noChangeShapeType="1" noTextEdit="1"/>
                </p:cNvSpPr>
                <p:nvPr/>
              </p:nvSpPr>
              <p:spPr>
                <a:xfrm>
                  <a:off x="8845267" y="4095143"/>
                  <a:ext cx="332369" cy="307777"/>
                </a:xfrm>
                <a:prstGeom prst="rect">
                  <a:avLst/>
                </a:prstGeom>
                <a:blipFill>
                  <a:blip r:embed="rId13"/>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751353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5CE909AB-7F0B-4394-A735-F542BEB3695B}"/>
              </a:ext>
            </a:extLst>
          </p:cNvPr>
          <p:cNvSpPr txBox="1"/>
          <p:nvPr/>
        </p:nvSpPr>
        <p:spPr>
          <a:xfrm>
            <a:off x="103410" y="975445"/>
            <a:ext cx="6176432" cy="2308324"/>
          </a:xfrm>
          <a:prstGeom prst="rect">
            <a:avLst/>
          </a:prstGeom>
          <a:noFill/>
        </p:spPr>
        <p:txBody>
          <a:bodyPr wrap="square">
            <a:spAutoFit/>
          </a:bodyPr>
          <a:lstStyle/>
          <a:p>
            <a:pPr marL="285750" indent="-285750">
              <a:buFont typeface="Arial" panose="020B0604020202020204" pitchFamily="34" charset="0"/>
              <a:buChar char="•"/>
            </a:pPr>
            <a:r>
              <a:rPr lang="zh-TW" altLang="en-US" dirty="0"/>
              <a:t>Zhi-Peng reaches only 0.62× the isotropy of Long Fei (0.544 vs 0.884). Long Fei's high-κ region is concentric about the origin, whereas Zhi-Peng's is offset, split into two diagonal lobes, and decays faster with radius.</a:t>
            </a:r>
            <a:r>
              <a:rPr lang="en-US" altLang="zh-TW" dirty="0"/>
              <a:t> the gain is bought at the cost of isotropy. More importantly, </a:t>
            </a:r>
            <a:r>
              <a:rPr lang="en-US" altLang="zh-TW" dirty="0" err="1"/>
              <a:t>Zhi</a:t>
            </a:r>
            <a:r>
              <a:rPr lang="en-US" altLang="zh-TW" dirty="0"/>
              <a:t>-Peng's best-isotropy point is not the origin — Long Fei gives the most balanced three-axis control simply by staying at the </a:t>
            </a:r>
            <a:r>
              <a:rPr lang="en-US" altLang="zh-TW" dirty="0" err="1"/>
              <a:t>centre</a:t>
            </a:r>
            <a:r>
              <a:rPr lang="en-US" altLang="zh-TW" dirty="0"/>
              <a:t>, whereas </a:t>
            </a:r>
            <a:r>
              <a:rPr lang="en-US" altLang="zh-TW" dirty="0" err="1"/>
              <a:t>Zhi</a:t>
            </a:r>
            <a:r>
              <a:rPr lang="en-US" altLang="zh-TW" dirty="0"/>
              <a:t>-Peng offers no such sweet spot.</a:t>
            </a:r>
            <a:endParaRPr lang="zh-TW" altLang="en-US" dirty="0"/>
          </a:p>
        </p:txBody>
      </p:sp>
      <p:grpSp>
        <p:nvGrpSpPr>
          <p:cNvPr id="9" name="群組 8">
            <a:extLst>
              <a:ext uri="{FF2B5EF4-FFF2-40B4-BE49-F238E27FC236}">
                <a16:creationId xmlns:a16="http://schemas.microsoft.com/office/drawing/2014/main" id="{E0A4D1A0-7FA6-495C-B437-6876730F0155}"/>
              </a:ext>
            </a:extLst>
          </p:cNvPr>
          <p:cNvGrpSpPr/>
          <p:nvPr/>
        </p:nvGrpSpPr>
        <p:grpSpPr>
          <a:xfrm>
            <a:off x="6608232" y="711678"/>
            <a:ext cx="5235209" cy="2427786"/>
            <a:chOff x="6608232" y="711678"/>
            <a:chExt cx="5235209" cy="2427786"/>
          </a:xfrm>
        </p:grpSpPr>
        <p:grpSp>
          <p:nvGrpSpPr>
            <p:cNvPr id="7" name="群組 6">
              <a:extLst>
                <a:ext uri="{FF2B5EF4-FFF2-40B4-BE49-F238E27FC236}">
                  <a16:creationId xmlns:a16="http://schemas.microsoft.com/office/drawing/2014/main" id="{69355053-8531-4B1F-BFAA-AB8A92D0B7EF}"/>
                </a:ext>
              </a:extLst>
            </p:cNvPr>
            <p:cNvGrpSpPr/>
            <p:nvPr/>
          </p:nvGrpSpPr>
          <p:grpSpPr>
            <a:xfrm>
              <a:off x="6706545" y="797676"/>
              <a:ext cx="5108379" cy="2252903"/>
              <a:chOff x="6706545" y="797676"/>
              <a:chExt cx="5108379" cy="2252903"/>
            </a:xfrm>
          </p:grpSpPr>
          <p:pic>
            <p:nvPicPr>
              <p:cNvPr id="5" name="圖片 4">
                <a:extLst>
                  <a:ext uri="{FF2B5EF4-FFF2-40B4-BE49-F238E27FC236}">
                    <a16:creationId xmlns:a16="http://schemas.microsoft.com/office/drawing/2014/main" id="{181F89EE-6F5C-409A-A82E-B9F7721EB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1680" y="819350"/>
                <a:ext cx="4965805" cy="2194831"/>
              </a:xfrm>
              <a:prstGeom prst="rect">
                <a:avLst/>
              </a:prstGeom>
            </p:spPr>
          </p:pic>
          <p:sp>
            <p:nvSpPr>
              <p:cNvPr id="3" name="矩形 2">
                <a:extLst>
                  <a:ext uri="{FF2B5EF4-FFF2-40B4-BE49-F238E27FC236}">
                    <a16:creationId xmlns:a16="http://schemas.microsoft.com/office/drawing/2014/main" id="{066663A0-2A15-4D43-A779-45D3A4D46AEC}"/>
                  </a:ext>
                </a:extLst>
              </p:cNvPr>
              <p:cNvSpPr/>
              <p:nvPr/>
            </p:nvSpPr>
            <p:spPr>
              <a:xfrm>
                <a:off x="7704667" y="797676"/>
                <a:ext cx="304800" cy="17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A1EE470-B38E-431A-BBF5-EB11EA15FCDA}"/>
                  </a:ext>
                </a:extLst>
              </p:cNvPr>
              <p:cNvSpPr/>
              <p:nvPr/>
            </p:nvSpPr>
            <p:spPr>
              <a:xfrm>
                <a:off x="8775023" y="1814501"/>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79BB90AF-E6FA-436F-A46A-20A62593B5EF}"/>
                  </a:ext>
                </a:extLst>
              </p:cNvPr>
              <p:cNvSpPr/>
              <p:nvPr/>
            </p:nvSpPr>
            <p:spPr>
              <a:xfrm>
                <a:off x="7638712" y="2860292"/>
                <a:ext cx="436709" cy="190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B807006A-EF85-4562-98C2-1789A732EE34}"/>
                  </a:ext>
                </a:extLst>
              </p:cNvPr>
              <p:cNvSpPr/>
              <p:nvPr/>
            </p:nvSpPr>
            <p:spPr>
              <a:xfrm>
                <a:off x="6706545" y="1814501"/>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28576603-9475-47D3-AF98-C00BDEC45B96}"/>
                  </a:ext>
                </a:extLst>
              </p:cNvPr>
              <p:cNvSpPr/>
              <p:nvPr/>
            </p:nvSpPr>
            <p:spPr>
              <a:xfrm>
                <a:off x="9867199" y="803617"/>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A54048D2-C0DE-4C4F-9F1E-0693E33DFFB9}"/>
                  </a:ext>
                </a:extLst>
              </p:cNvPr>
              <p:cNvSpPr/>
              <p:nvPr/>
            </p:nvSpPr>
            <p:spPr>
              <a:xfrm>
                <a:off x="9867199" y="2870487"/>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FFB2CBE2-454E-49C7-9237-73C780844D5C}"/>
                  </a:ext>
                </a:extLst>
              </p:cNvPr>
              <p:cNvSpPr/>
              <p:nvPr/>
            </p:nvSpPr>
            <p:spPr>
              <a:xfrm>
                <a:off x="11061656" y="1762316"/>
                <a:ext cx="218555" cy="3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91DA95A0-9053-4284-BB4B-6C2D36EDF2D9}"/>
                  </a:ext>
                </a:extLst>
              </p:cNvPr>
              <p:cNvSpPr/>
              <p:nvPr/>
            </p:nvSpPr>
            <p:spPr>
              <a:xfrm>
                <a:off x="11596368" y="1708908"/>
                <a:ext cx="218556" cy="420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33" name="文字方塊 32">
                  <a:extLst>
                    <a:ext uri="{FF2B5EF4-FFF2-40B4-BE49-F238E27FC236}">
                      <a16:creationId xmlns:a16="http://schemas.microsoft.com/office/drawing/2014/main" id="{F2B53346-329C-4222-BD3D-25F664BF71DB}"/>
                    </a:ext>
                  </a:extLst>
                </p:cNvPr>
                <p:cNvSpPr txBox="1"/>
                <p:nvPr/>
              </p:nvSpPr>
              <p:spPr>
                <a:xfrm rot="16200000">
                  <a:off x="11149435" y="1584037"/>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p:sp>
              <p:nvSpPr>
                <p:cNvPr id="33" name="文字方塊 32">
                  <a:extLst>
                    <a:ext uri="{FF2B5EF4-FFF2-40B4-BE49-F238E27FC236}">
                      <a16:creationId xmlns:a16="http://schemas.microsoft.com/office/drawing/2014/main" id="{F2B53346-329C-4222-BD3D-25F664BF71DB}"/>
                    </a:ext>
                  </a:extLst>
                </p:cNvPr>
                <p:cNvSpPr txBox="1">
                  <a:spLocks noRot="1" noChangeAspect="1" noMove="1" noResize="1" noEditPoints="1" noAdjustHandles="1" noChangeArrowheads="1" noChangeShapeType="1" noTextEdit="1"/>
                </p:cNvSpPr>
                <p:nvPr/>
              </p:nvSpPr>
              <p:spPr>
                <a:xfrm rot="16200000">
                  <a:off x="11149435" y="1584037"/>
                  <a:ext cx="1049457" cy="338554"/>
                </a:xfrm>
                <a:prstGeom prst="rect">
                  <a:avLst/>
                </a:prstGeom>
                <a:blipFill>
                  <a:blip r:embed="rId3"/>
                  <a:stretch>
                    <a:fillRect r="-8929"/>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46D7EB7F-B437-4C1E-8C67-E972B568E642}"/>
                </a:ext>
              </a:extLst>
            </p:cNvPr>
            <p:cNvSpPr txBox="1"/>
            <p:nvPr/>
          </p:nvSpPr>
          <p:spPr>
            <a:xfrm>
              <a:off x="7646479" y="7573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C6DD08B8-1F70-4D6A-B6EB-01194B3B2274}"/>
                </a:ext>
              </a:extLst>
            </p:cNvPr>
            <p:cNvSpPr txBox="1"/>
            <p:nvPr/>
          </p:nvSpPr>
          <p:spPr>
            <a:xfrm>
              <a:off x="6608232" y="16474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D60510BD-6D91-4688-AA6E-6524AE41DD60}"/>
                </a:ext>
              </a:extLst>
            </p:cNvPr>
            <p:cNvSpPr txBox="1"/>
            <p:nvPr/>
          </p:nvSpPr>
          <p:spPr>
            <a:xfrm>
              <a:off x="7660264" y="282254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9" name="文字方塊 38">
              <a:extLst>
                <a:ext uri="{FF2B5EF4-FFF2-40B4-BE49-F238E27FC236}">
                  <a16:creationId xmlns:a16="http://schemas.microsoft.com/office/drawing/2014/main" id="{47191FA6-66B4-4CB7-95ED-5A806F8C41FD}"/>
                </a:ext>
              </a:extLst>
            </p:cNvPr>
            <p:cNvSpPr txBox="1"/>
            <p:nvPr/>
          </p:nvSpPr>
          <p:spPr>
            <a:xfrm>
              <a:off x="9927870" y="71167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23C388AF-48D0-4F28-9422-5BAB6D9C6650}"/>
                </a:ext>
              </a:extLst>
            </p:cNvPr>
            <p:cNvSpPr txBox="1"/>
            <p:nvPr/>
          </p:nvSpPr>
          <p:spPr>
            <a:xfrm>
              <a:off x="9957650" y="283168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2C205D9-3D4F-4577-BC5D-3EC2B2B28E7D}"/>
                </a:ext>
              </a:extLst>
            </p:cNvPr>
            <p:cNvSpPr txBox="1"/>
            <p:nvPr/>
          </p:nvSpPr>
          <p:spPr>
            <a:xfrm>
              <a:off x="8692310" y="190539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ACEAA104-E9B9-4896-AF25-12B7240B7E87}"/>
                </a:ext>
              </a:extLst>
            </p:cNvPr>
            <p:cNvSpPr txBox="1"/>
            <p:nvPr/>
          </p:nvSpPr>
          <p:spPr>
            <a:xfrm>
              <a:off x="8914471" y="161575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3" name="文字方塊 42">
              <a:extLst>
                <a:ext uri="{FF2B5EF4-FFF2-40B4-BE49-F238E27FC236}">
                  <a16:creationId xmlns:a16="http://schemas.microsoft.com/office/drawing/2014/main" id="{4463D846-11D2-4909-AC2A-DC12DE06EC64}"/>
                </a:ext>
              </a:extLst>
            </p:cNvPr>
            <p:cNvSpPr txBox="1"/>
            <p:nvPr/>
          </p:nvSpPr>
          <p:spPr>
            <a:xfrm>
              <a:off x="10966073" y="191521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4" name="文字方塊 43">
                  <a:extLst>
                    <a:ext uri="{FF2B5EF4-FFF2-40B4-BE49-F238E27FC236}">
                      <a16:creationId xmlns:a16="http://schemas.microsoft.com/office/drawing/2014/main" id="{4543C79D-C8D4-4070-B22B-57B5E22FB84D}"/>
                    </a:ext>
                  </a:extLst>
                </p:cNvPr>
                <p:cNvSpPr txBox="1"/>
                <p:nvPr/>
              </p:nvSpPr>
              <p:spPr>
                <a:xfrm>
                  <a:off x="8059884" y="1908632"/>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44" name="文字方塊 43">
                  <a:extLst>
                    <a:ext uri="{FF2B5EF4-FFF2-40B4-BE49-F238E27FC236}">
                      <a16:creationId xmlns:a16="http://schemas.microsoft.com/office/drawing/2014/main" id="{4543C79D-C8D4-4070-B22B-57B5E22FB84D}"/>
                    </a:ext>
                  </a:extLst>
                </p:cNvPr>
                <p:cNvSpPr txBox="1">
                  <a:spLocks noRot="1" noChangeAspect="1" noMove="1" noResize="1" noEditPoints="1" noAdjustHandles="1" noChangeArrowheads="1" noChangeShapeType="1" noTextEdit="1"/>
                </p:cNvSpPr>
                <p:nvPr/>
              </p:nvSpPr>
              <p:spPr>
                <a:xfrm>
                  <a:off x="8059884" y="1908632"/>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8" name="文字方塊 47">
                  <a:extLst>
                    <a:ext uri="{FF2B5EF4-FFF2-40B4-BE49-F238E27FC236}">
                      <a16:creationId xmlns:a16="http://schemas.microsoft.com/office/drawing/2014/main" id="{9CD170C5-141E-4CBF-852E-6A45291E4F7A}"/>
                    </a:ext>
                  </a:extLst>
                </p:cNvPr>
                <p:cNvSpPr txBox="1"/>
                <p:nvPr/>
              </p:nvSpPr>
              <p:spPr>
                <a:xfrm>
                  <a:off x="7538482" y="128793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48" name="文字方塊 47">
                  <a:extLst>
                    <a:ext uri="{FF2B5EF4-FFF2-40B4-BE49-F238E27FC236}">
                      <a16:creationId xmlns:a16="http://schemas.microsoft.com/office/drawing/2014/main" id="{9CD170C5-141E-4CBF-852E-6A45291E4F7A}"/>
                    </a:ext>
                  </a:extLst>
                </p:cNvPr>
                <p:cNvSpPr txBox="1">
                  <a:spLocks noRot="1" noChangeAspect="1" noMove="1" noResize="1" noEditPoints="1" noAdjustHandles="1" noChangeArrowheads="1" noChangeShapeType="1" noTextEdit="1"/>
                </p:cNvSpPr>
                <p:nvPr/>
              </p:nvSpPr>
              <p:spPr>
                <a:xfrm>
                  <a:off x="7538482" y="1287935"/>
                  <a:ext cx="332369" cy="307777"/>
                </a:xfrm>
                <a:prstGeom prst="rect">
                  <a:avLst/>
                </a:prstGeom>
                <a:blipFill>
                  <a:blip r:embed="rId5"/>
                  <a:stretch>
                    <a:fillRect b="-1961"/>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9" name="文字方塊 48">
                  <a:extLst>
                    <a:ext uri="{FF2B5EF4-FFF2-40B4-BE49-F238E27FC236}">
                      <a16:creationId xmlns:a16="http://schemas.microsoft.com/office/drawing/2014/main" id="{97526D06-CC63-4E20-BEDC-AE749A143D8A}"/>
                    </a:ext>
                  </a:extLst>
                </p:cNvPr>
                <p:cNvSpPr txBox="1"/>
                <p:nvPr/>
              </p:nvSpPr>
              <p:spPr>
                <a:xfrm>
                  <a:off x="10380420" y="191676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49" name="文字方塊 48">
                  <a:extLst>
                    <a:ext uri="{FF2B5EF4-FFF2-40B4-BE49-F238E27FC236}">
                      <a16:creationId xmlns:a16="http://schemas.microsoft.com/office/drawing/2014/main" id="{97526D06-CC63-4E20-BEDC-AE749A143D8A}"/>
                    </a:ext>
                  </a:extLst>
                </p:cNvPr>
                <p:cNvSpPr txBox="1">
                  <a:spLocks noRot="1" noChangeAspect="1" noMove="1" noResize="1" noEditPoints="1" noAdjustHandles="1" noChangeArrowheads="1" noChangeShapeType="1" noTextEdit="1"/>
                </p:cNvSpPr>
                <p:nvPr/>
              </p:nvSpPr>
              <p:spPr>
                <a:xfrm>
                  <a:off x="10380420" y="1916765"/>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0" name="文字方塊 49">
                  <a:extLst>
                    <a:ext uri="{FF2B5EF4-FFF2-40B4-BE49-F238E27FC236}">
                      <a16:creationId xmlns:a16="http://schemas.microsoft.com/office/drawing/2014/main" id="{E586B4D8-B9B1-456E-9FA7-CFC535F32B8D}"/>
                    </a:ext>
                  </a:extLst>
                </p:cNvPr>
                <p:cNvSpPr txBox="1"/>
                <p:nvPr/>
              </p:nvSpPr>
              <p:spPr>
                <a:xfrm>
                  <a:off x="9791466" y="125445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0" name="文字方塊 49">
                  <a:extLst>
                    <a:ext uri="{FF2B5EF4-FFF2-40B4-BE49-F238E27FC236}">
                      <a16:creationId xmlns:a16="http://schemas.microsoft.com/office/drawing/2014/main" id="{E586B4D8-B9B1-456E-9FA7-CFC535F32B8D}"/>
                    </a:ext>
                  </a:extLst>
                </p:cNvPr>
                <p:cNvSpPr txBox="1">
                  <a:spLocks noRot="1" noChangeAspect="1" noMove="1" noResize="1" noEditPoints="1" noAdjustHandles="1" noChangeArrowheads="1" noChangeShapeType="1" noTextEdit="1"/>
                </p:cNvSpPr>
                <p:nvPr/>
              </p:nvSpPr>
              <p:spPr>
                <a:xfrm>
                  <a:off x="9791466" y="1254456"/>
                  <a:ext cx="332369" cy="307777"/>
                </a:xfrm>
                <a:prstGeom prst="rect">
                  <a:avLst/>
                </a:prstGeom>
                <a:blipFill>
                  <a:blip r:embed="rId7"/>
                  <a:stretch>
                    <a:fillRect/>
                  </a:stretch>
                </a:blipFill>
              </p:spPr>
              <p:txBody>
                <a:bodyPr/>
                <a:lstStyle/>
                <a:p>
                  <a:r>
                    <a:rPr lang="zh-TW" altLang="en-US">
                      <a:noFill/>
                    </a:rPr>
                    <a:t> </a:t>
                  </a:r>
                </a:p>
              </p:txBody>
            </p:sp>
          </mc:Fallback>
        </mc:AlternateContent>
      </p:grpSp>
      <p:grpSp>
        <p:nvGrpSpPr>
          <p:cNvPr id="11" name="群組 10">
            <a:extLst>
              <a:ext uri="{FF2B5EF4-FFF2-40B4-BE49-F238E27FC236}">
                <a16:creationId xmlns:a16="http://schemas.microsoft.com/office/drawing/2014/main" id="{FC25E01C-03E8-4714-B671-9402B31C7C8D}"/>
              </a:ext>
            </a:extLst>
          </p:cNvPr>
          <p:cNvGrpSpPr/>
          <p:nvPr/>
        </p:nvGrpSpPr>
        <p:grpSpPr>
          <a:xfrm>
            <a:off x="7829755" y="3386665"/>
            <a:ext cx="2986428" cy="2289491"/>
            <a:chOff x="7829755" y="3386665"/>
            <a:chExt cx="2986428" cy="2289491"/>
          </a:xfrm>
        </p:grpSpPr>
        <p:grpSp>
          <p:nvGrpSpPr>
            <p:cNvPr id="10" name="群組 9">
              <a:extLst>
                <a:ext uri="{FF2B5EF4-FFF2-40B4-BE49-F238E27FC236}">
                  <a16:creationId xmlns:a16="http://schemas.microsoft.com/office/drawing/2014/main" id="{5882E288-83CB-4429-9376-16291456A531}"/>
                </a:ext>
              </a:extLst>
            </p:cNvPr>
            <p:cNvGrpSpPr/>
            <p:nvPr/>
          </p:nvGrpSpPr>
          <p:grpSpPr>
            <a:xfrm>
              <a:off x="7966144" y="3457780"/>
              <a:ext cx="2818281" cy="2161789"/>
              <a:chOff x="7966144" y="3457780"/>
              <a:chExt cx="2818281" cy="2161789"/>
            </a:xfrm>
          </p:grpSpPr>
          <p:pic>
            <p:nvPicPr>
              <p:cNvPr id="8" name="圖片 7">
                <a:extLst>
                  <a:ext uri="{FF2B5EF4-FFF2-40B4-BE49-F238E27FC236}">
                    <a16:creationId xmlns:a16="http://schemas.microsoft.com/office/drawing/2014/main" id="{3222DF9D-8711-4737-9BB4-AD9854E0B9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09467" y="3487921"/>
                <a:ext cx="2622358" cy="2121025"/>
              </a:xfrm>
              <a:prstGeom prst="rect">
                <a:avLst/>
              </a:prstGeom>
            </p:spPr>
          </p:pic>
          <p:sp>
            <p:nvSpPr>
              <p:cNvPr id="22" name="矩形 21">
                <a:extLst>
                  <a:ext uri="{FF2B5EF4-FFF2-40B4-BE49-F238E27FC236}">
                    <a16:creationId xmlns:a16="http://schemas.microsoft.com/office/drawing/2014/main" id="{B0183DDC-6CF5-43DD-A985-8AACBD43AC2C}"/>
                  </a:ext>
                </a:extLst>
              </p:cNvPr>
              <p:cNvSpPr/>
              <p:nvPr/>
            </p:nvSpPr>
            <p:spPr>
              <a:xfrm>
                <a:off x="8993178" y="3457780"/>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DCC76607-AC9C-44A9-927A-CBCCDEFF1E7E}"/>
                  </a:ext>
                </a:extLst>
              </p:cNvPr>
              <p:cNvSpPr/>
              <p:nvPr/>
            </p:nvSpPr>
            <p:spPr>
              <a:xfrm>
                <a:off x="7966144" y="445838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E682C27-A024-41A5-B374-05289C829835}"/>
                  </a:ext>
                </a:extLst>
              </p:cNvPr>
              <p:cNvSpPr/>
              <p:nvPr/>
            </p:nvSpPr>
            <p:spPr>
              <a:xfrm>
                <a:off x="8975862" y="543947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D812B3E4-3553-410A-8F8F-BF0230CBA0B0}"/>
                  </a:ext>
                </a:extLst>
              </p:cNvPr>
              <p:cNvSpPr/>
              <p:nvPr/>
            </p:nvSpPr>
            <p:spPr>
              <a:xfrm>
                <a:off x="9976276" y="4455802"/>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F98E43F1-8F14-47C9-A4BB-94768E7FEABE}"/>
                  </a:ext>
                </a:extLst>
              </p:cNvPr>
              <p:cNvSpPr/>
              <p:nvPr/>
            </p:nvSpPr>
            <p:spPr>
              <a:xfrm>
                <a:off x="10565871" y="443628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1" name="文字方塊 50">
              <a:extLst>
                <a:ext uri="{FF2B5EF4-FFF2-40B4-BE49-F238E27FC236}">
                  <a16:creationId xmlns:a16="http://schemas.microsoft.com/office/drawing/2014/main" id="{E8199158-1BBA-48A4-9C66-85A151EC58AE}"/>
                </a:ext>
              </a:extLst>
            </p:cNvPr>
            <p:cNvSpPr txBox="1"/>
            <p:nvPr/>
          </p:nvSpPr>
          <p:spPr>
            <a:xfrm>
              <a:off x="7829755" y="425387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A54BBE8C-0244-4691-BA06-BD15DBED9F7D}"/>
                </a:ext>
              </a:extLst>
            </p:cNvPr>
            <p:cNvSpPr txBox="1"/>
            <p:nvPr/>
          </p:nvSpPr>
          <p:spPr>
            <a:xfrm>
              <a:off x="8868812" y="338666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3" name="文字方塊 52">
              <a:extLst>
                <a:ext uri="{FF2B5EF4-FFF2-40B4-BE49-F238E27FC236}">
                  <a16:creationId xmlns:a16="http://schemas.microsoft.com/office/drawing/2014/main" id="{437E939A-A4E2-4DE4-A25F-FE73D7B4D09B}"/>
                </a:ext>
              </a:extLst>
            </p:cNvPr>
            <p:cNvSpPr txBox="1"/>
            <p:nvPr/>
          </p:nvSpPr>
          <p:spPr>
            <a:xfrm>
              <a:off x="8891505" y="53683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4" name="文字方塊 53">
              <a:extLst>
                <a:ext uri="{FF2B5EF4-FFF2-40B4-BE49-F238E27FC236}">
                  <a16:creationId xmlns:a16="http://schemas.microsoft.com/office/drawing/2014/main" id="{AB124178-F659-4087-B362-F501C53AC314}"/>
                </a:ext>
              </a:extLst>
            </p:cNvPr>
            <p:cNvSpPr txBox="1"/>
            <p:nvPr/>
          </p:nvSpPr>
          <p:spPr>
            <a:xfrm>
              <a:off x="9882735" y="454584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5" name="文字方塊 54">
                  <a:extLst>
                    <a:ext uri="{FF2B5EF4-FFF2-40B4-BE49-F238E27FC236}">
                      <a16:creationId xmlns:a16="http://schemas.microsoft.com/office/drawing/2014/main" id="{E0593648-6206-4AA7-8668-795C2DF122C3}"/>
                    </a:ext>
                  </a:extLst>
                </p:cNvPr>
                <p:cNvSpPr txBox="1"/>
                <p:nvPr/>
              </p:nvSpPr>
              <p:spPr>
                <a:xfrm>
                  <a:off x="9275192" y="449051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5" name="文字方塊 54">
                  <a:extLst>
                    <a:ext uri="{FF2B5EF4-FFF2-40B4-BE49-F238E27FC236}">
                      <a16:creationId xmlns:a16="http://schemas.microsoft.com/office/drawing/2014/main" id="{E0593648-6206-4AA7-8668-795C2DF122C3}"/>
                    </a:ext>
                  </a:extLst>
                </p:cNvPr>
                <p:cNvSpPr txBox="1">
                  <a:spLocks noRot="1" noChangeAspect="1" noMove="1" noResize="1" noEditPoints="1" noAdjustHandles="1" noChangeArrowheads="1" noChangeShapeType="1" noTextEdit="1"/>
                </p:cNvSpPr>
                <p:nvPr/>
              </p:nvSpPr>
              <p:spPr>
                <a:xfrm>
                  <a:off x="9275192" y="4490514"/>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6" name="文字方塊 55">
                  <a:extLst>
                    <a:ext uri="{FF2B5EF4-FFF2-40B4-BE49-F238E27FC236}">
                      <a16:creationId xmlns:a16="http://schemas.microsoft.com/office/drawing/2014/main" id="{2CBEC5B6-53B3-4B1C-8C10-12503C16B8D1}"/>
                    </a:ext>
                  </a:extLst>
                </p:cNvPr>
                <p:cNvSpPr txBox="1"/>
                <p:nvPr/>
              </p:nvSpPr>
              <p:spPr>
                <a:xfrm>
                  <a:off x="8769722" y="391303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p:sp>
              <p:nvSpPr>
                <p:cNvPr id="56" name="文字方塊 55">
                  <a:extLst>
                    <a:ext uri="{FF2B5EF4-FFF2-40B4-BE49-F238E27FC236}">
                      <a16:creationId xmlns:a16="http://schemas.microsoft.com/office/drawing/2014/main" id="{2CBEC5B6-53B3-4B1C-8C10-12503C16B8D1}"/>
                    </a:ext>
                  </a:extLst>
                </p:cNvPr>
                <p:cNvSpPr txBox="1">
                  <a:spLocks noRot="1" noChangeAspect="1" noMove="1" noResize="1" noEditPoints="1" noAdjustHandles="1" noChangeArrowheads="1" noChangeShapeType="1" noTextEdit="1"/>
                </p:cNvSpPr>
                <p:nvPr/>
              </p:nvSpPr>
              <p:spPr>
                <a:xfrm>
                  <a:off x="8769722" y="3913037"/>
                  <a:ext cx="332369" cy="30777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7" name="文字方塊 56">
                  <a:extLst>
                    <a:ext uri="{FF2B5EF4-FFF2-40B4-BE49-F238E27FC236}">
                      <a16:creationId xmlns:a16="http://schemas.microsoft.com/office/drawing/2014/main" id="{D17A7547-B19D-4CA8-815A-4C78A6BCDC7C}"/>
                    </a:ext>
                  </a:extLst>
                </p:cNvPr>
                <p:cNvSpPr txBox="1"/>
                <p:nvPr/>
              </p:nvSpPr>
              <p:spPr>
                <a:xfrm rot="16200000">
                  <a:off x="10122177" y="4273204"/>
                  <a:ext cx="1049457"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Isotropy</m:t>
                        </m:r>
                      </m:oMath>
                    </m:oMathPara>
                  </a14:m>
                  <a:endParaRPr lang="zh-TW" altLang="en-US" sz="1600" dirty="0"/>
                </a:p>
              </p:txBody>
            </p:sp>
          </mc:Choice>
          <mc:Fallback>
            <p:sp>
              <p:nvSpPr>
                <p:cNvPr id="57" name="文字方塊 56">
                  <a:extLst>
                    <a:ext uri="{FF2B5EF4-FFF2-40B4-BE49-F238E27FC236}">
                      <a16:creationId xmlns:a16="http://schemas.microsoft.com/office/drawing/2014/main" id="{D17A7547-B19D-4CA8-815A-4C78A6BCDC7C}"/>
                    </a:ext>
                  </a:extLst>
                </p:cNvPr>
                <p:cNvSpPr txBox="1">
                  <a:spLocks noRot="1" noChangeAspect="1" noMove="1" noResize="1" noEditPoints="1" noAdjustHandles="1" noChangeArrowheads="1" noChangeShapeType="1" noTextEdit="1"/>
                </p:cNvSpPr>
                <p:nvPr/>
              </p:nvSpPr>
              <p:spPr>
                <a:xfrm rot="16200000">
                  <a:off x="10122177" y="4273204"/>
                  <a:ext cx="1049457" cy="338554"/>
                </a:xfrm>
                <a:prstGeom prst="rect">
                  <a:avLst/>
                </a:prstGeom>
                <a:blipFill>
                  <a:blip r:embed="rId11"/>
                  <a:stretch>
                    <a:fillRect r="-9091"/>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088140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234164576"/>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50.253</a:t>
                          </a:r>
                          <a:endParaRPr lang="zh-TW" altLang="en-US" dirty="0"/>
                        </a:p>
                      </a:txBody>
                      <a:tcPr/>
                    </a:tc>
                    <a:tc>
                      <a:txBody>
                        <a:bodyPr/>
                        <a:lstStyle/>
                        <a:p>
                          <a:pPr algn="ctr"/>
                          <a:r>
                            <a:rPr lang="en-US" altLang="zh-TW" dirty="0"/>
                            <a:t>45.386</a:t>
                          </a:r>
                          <a:endParaRPr lang="zh-TW" altLang="en-US" dirty="0"/>
                        </a:p>
                      </a:txBody>
                      <a:tcPr/>
                    </a:tc>
                    <a:tc>
                      <a:txBody>
                        <a:bodyPr/>
                        <a:lstStyle/>
                        <a:p>
                          <a:pPr algn="ctr"/>
                          <a:r>
                            <a:rPr lang="en-US" altLang="zh-TW" dirty="0"/>
                            <a:t>27.257</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234164576"/>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50.253</a:t>
                          </a:r>
                          <a:endParaRPr lang="zh-TW" altLang="en-US" dirty="0"/>
                        </a:p>
                      </a:txBody>
                      <a:tcPr/>
                    </a:tc>
                    <a:tc>
                      <a:txBody>
                        <a:bodyPr/>
                        <a:lstStyle/>
                        <a:p>
                          <a:pPr algn="ctr"/>
                          <a:r>
                            <a:rPr lang="en-US" altLang="zh-TW" dirty="0"/>
                            <a:t>45.386</a:t>
                          </a:r>
                          <a:endParaRPr lang="zh-TW" altLang="en-US" dirty="0"/>
                        </a:p>
                      </a:txBody>
                      <a:tcPr/>
                    </a:tc>
                    <a:tc>
                      <a:txBody>
                        <a:bodyPr/>
                        <a:lstStyle/>
                        <a:p>
                          <a:pPr algn="ctr"/>
                          <a:r>
                            <a:rPr lang="en-US" altLang="zh-TW" dirty="0"/>
                            <a:t>27.257</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2" name="群組 11">
            <a:extLst>
              <a:ext uri="{FF2B5EF4-FFF2-40B4-BE49-F238E27FC236}">
                <a16:creationId xmlns:a16="http://schemas.microsoft.com/office/drawing/2014/main" id="{B35BCC46-0A07-4B67-AE3C-8936B77F94F5}"/>
              </a:ext>
            </a:extLst>
          </p:cNvPr>
          <p:cNvGrpSpPr/>
          <p:nvPr/>
        </p:nvGrpSpPr>
        <p:grpSpPr>
          <a:xfrm>
            <a:off x="7616863" y="1527662"/>
            <a:ext cx="3798910" cy="2882610"/>
            <a:chOff x="7667639" y="1452832"/>
            <a:chExt cx="3798910" cy="2882610"/>
          </a:xfrm>
        </p:grpSpPr>
        <p:pic>
          <p:nvPicPr>
            <p:cNvPr id="5" name="圖片 4">
              <a:extLst>
                <a:ext uri="{FF2B5EF4-FFF2-40B4-BE49-F238E27FC236}">
                  <a16:creationId xmlns:a16="http://schemas.microsoft.com/office/drawing/2014/main" id="{DF0B517E-F12C-4242-AD3B-E5B43C0D6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9716" y="1452832"/>
              <a:ext cx="3686833" cy="2785533"/>
            </a:xfrm>
            <a:prstGeom prst="rect">
              <a:avLst/>
            </a:prstGeom>
          </p:spPr>
        </p:pic>
        <p:grpSp>
          <p:nvGrpSpPr>
            <p:cNvPr id="14" name="群組 13">
              <a:extLst>
                <a:ext uri="{FF2B5EF4-FFF2-40B4-BE49-F238E27FC236}">
                  <a16:creationId xmlns:a16="http://schemas.microsoft.com/office/drawing/2014/main" id="{9228C93D-A0C7-4332-A130-971EC1FF61DC}"/>
                </a:ext>
              </a:extLst>
            </p:cNvPr>
            <p:cNvGrpSpPr/>
            <p:nvPr/>
          </p:nvGrpSpPr>
          <p:grpSpPr>
            <a:xfrm>
              <a:off x="7667639" y="1504501"/>
              <a:ext cx="2727967" cy="2830941"/>
              <a:chOff x="7667639" y="1504501"/>
              <a:chExt cx="2727967" cy="2830941"/>
            </a:xfrm>
          </p:grpSpPr>
          <p:grpSp>
            <p:nvGrpSpPr>
              <p:cNvPr id="13" name="群組 12">
                <a:extLst>
                  <a:ext uri="{FF2B5EF4-FFF2-40B4-BE49-F238E27FC236}">
                    <a16:creationId xmlns:a16="http://schemas.microsoft.com/office/drawing/2014/main" id="{754FF10A-2874-44FD-BACF-660085804C6B}"/>
                  </a:ext>
                </a:extLst>
              </p:cNvPr>
              <p:cNvGrpSpPr/>
              <p:nvPr/>
            </p:nvGrpSpPr>
            <p:grpSpPr>
              <a:xfrm>
                <a:off x="7778898" y="2057398"/>
                <a:ext cx="2491929" cy="2180502"/>
                <a:chOff x="7778898" y="2057398"/>
                <a:chExt cx="2491929" cy="2180502"/>
              </a:xfrm>
            </p:grpSpPr>
            <p:sp>
              <p:nvSpPr>
                <p:cNvPr id="11" name="矩形 10">
                  <a:extLst>
                    <a:ext uri="{FF2B5EF4-FFF2-40B4-BE49-F238E27FC236}">
                      <a16:creationId xmlns:a16="http://schemas.microsoft.com/office/drawing/2014/main" id="{869E58BC-ED95-4378-BC0D-F59778A5C307}"/>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285244" y="2551052"/>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A527870-9240-4CAE-A7BD-03FC80337E83}"/>
                      </a:ext>
                    </a:extLst>
                  </p:cNvPr>
                  <p:cNvSpPr txBox="1"/>
                  <p:nvPr/>
                </p:nvSpPr>
                <p:spPr>
                  <a:xfrm>
                    <a:off x="8563026" y="3966110"/>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29" name="文字方塊 28">
                    <a:extLst>
                      <a:ext uri="{FF2B5EF4-FFF2-40B4-BE49-F238E27FC236}">
                        <a16:creationId xmlns:a16="http://schemas.microsoft.com/office/drawing/2014/main" id="{4A527870-9240-4CAE-A7BD-03FC80337E83}"/>
                      </a:ext>
                    </a:extLst>
                  </p:cNvPr>
                  <p:cNvSpPr txBox="1">
                    <a:spLocks noRot="1" noChangeAspect="1" noMove="1" noResize="1" noEditPoints="1" noAdjustHandles="1" noChangeArrowheads="1" noChangeShapeType="1" noTextEdit="1"/>
                  </p:cNvSpPr>
                  <p:nvPr/>
                </p:nvSpPr>
                <p:spPr>
                  <a:xfrm>
                    <a:off x="8563026" y="3966110"/>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4F5B4198-2C45-4E9A-B669-499DD550D761}"/>
                      </a:ext>
                    </a:extLst>
                  </p:cNvPr>
                  <p:cNvSpPr txBox="1"/>
                  <p:nvPr/>
                </p:nvSpPr>
                <p:spPr>
                  <a:xfrm rot="16200000">
                    <a:off x="6710069" y="2462071"/>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77" name="文字方塊 76">
                    <a:extLst>
                      <a:ext uri="{FF2B5EF4-FFF2-40B4-BE49-F238E27FC236}">
                        <a16:creationId xmlns:a16="http://schemas.microsoft.com/office/drawing/2014/main" id="{4F5B4198-2C45-4E9A-B669-499DD550D761}"/>
                      </a:ext>
                    </a:extLst>
                  </p:cNvPr>
                  <p:cNvSpPr txBox="1">
                    <a:spLocks noRot="1" noChangeAspect="1" noMove="1" noResize="1" noEditPoints="1" noAdjustHandles="1" noChangeArrowheads="1" noChangeShapeType="1" noTextEdit="1"/>
                  </p:cNvSpPr>
                  <p:nvPr/>
                </p:nvSpPr>
                <p:spPr>
                  <a:xfrm rot="16200000">
                    <a:off x="6710069" y="2462071"/>
                    <a:ext cx="2192139" cy="276999"/>
                  </a:xfrm>
                  <a:prstGeom prst="rect">
                    <a:avLst/>
                  </a:prstGeom>
                  <a:blipFill>
                    <a:blip r:embed="rId5"/>
                    <a:stretch>
                      <a:fillRect l="-2174" t="-2778" r="-32609" b="-2222"/>
                    </a:stretch>
                  </a:blipFill>
                </p:spPr>
                <p:txBody>
                  <a:bodyPr/>
                  <a:lstStyle/>
                  <a:p>
                    <a:r>
                      <a:rPr lang="zh-TW" altLang="en-US">
                        <a:noFill/>
                      </a:rPr>
                      <a:t> </a:t>
                    </a:r>
                  </a:p>
                </p:txBody>
              </p:sp>
            </mc:Fallback>
          </mc:AlternateContent>
        </p:grpSp>
      </p:grpSp>
      <p:sp>
        <p:nvSpPr>
          <p:cNvPr id="32" name="文字方塊 31">
            <a:extLst>
              <a:ext uri="{FF2B5EF4-FFF2-40B4-BE49-F238E27FC236}">
                <a16:creationId xmlns:a16="http://schemas.microsoft.com/office/drawing/2014/main" id="{BFC30FDF-C840-49F5-871F-B583D17F27FD}"/>
              </a:ext>
            </a:extLst>
          </p:cNvPr>
          <p:cNvSpPr txBox="1"/>
          <p:nvPr/>
        </p:nvSpPr>
        <p:spPr>
          <a:xfrm>
            <a:off x="321964" y="3855632"/>
            <a:ext cx="6176432"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Both histograms have the same resolution (184uT/A).</a:t>
            </a:r>
          </a:p>
        </p:txBody>
      </p:sp>
      <p:sp>
        <p:nvSpPr>
          <p:cNvPr id="36" name="文字方塊 35">
            <a:extLst>
              <a:ext uri="{FF2B5EF4-FFF2-40B4-BE49-F238E27FC236}">
                <a16:creationId xmlns:a16="http://schemas.microsoft.com/office/drawing/2014/main" id="{BCEA6580-59CB-491D-9A56-1E4B23E7DF7D}"/>
              </a:ext>
            </a:extLst>
          </p:cNvPr>
          <p:cNvSpPr txBox="1"/>
          <p:nvPr/>
        </p:nvSpPr>
        <p:spPr>
          <a:xfrm>
            <a:off x="212687" y="786378"/>
            <a:ext cx="6176432" cy="2031325"/>
          </a:xfrm>
          <a:prstGeom prst="rect">
            <a:avLst/>
          </a:prstGeom>
          <a:noFill/>
        </p:spPr>
        <p:txBody>
          <a:bodyPr wrap="square">
            <a:spAutoFit/>
          </a:bodyPr>
          <a:lstStyle/>
          <a:p>
            <a:pPr marL="285750" indent="-285750">
              <a:buFont typeface="Arial" panose="020B0604020202020204" pitchFamily="34" charset="0"/>
              <a:buChar char="•"/>
            </a:pPr>
            <a:r>
              <a:rPr lang="zh-TW" altLang="en-US" dirty="0"/>
              <a:t>The three singular values are σ₁ = 50.25, σ₂ = 45.39 and σ₃ = 27.26 mT/A. σ₁ and σ₂ differ by only 10.7 %, whereas σ₃ falls 40 % below σ₂ (σ₁/σ₃ = 1.84). All three distributions are tight，</a:t>
            </a:r>
            <a:r>
              <a:rPr lang="en-US" altLang="zh-TW" dirty="0"/>
              <a:t>the controllable set is an oblate ellipsoid — two strong axes and one weak — not a sphere. The weakest third axis is the bottleneck of the whole actuator, since it sets the force available in the worst direction.</a:t>
            </a:r>
            <a:endParaRPr lang="zh-TW" altLang="en-US" dirty="0"/>
          </a:p>
        </p:txBody>
      </p:sp>
    </p:spTree>
    <p:extLst>
      <p:ext uri="{BB962C8B-B14F-4D97-AF65-F5344CB8AC3E}">
        <p14:creationId xmlns:p14="http://schemas.microsoft.com/office/powerpoint/2010/main" val="1709554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65019" y="400118"/>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Compare </a:t>
            </a:r>
            <a:r>
              <a:rPr lang="en-US" altLang="zh-TW" dirty="0" err="1"/>
              <a:t>DesignA&amp;B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735F99E3-440E-4460-B29E-1B9638171658}"/>
              </a:ext>
            </a:extLst>
          </p:cNvPr>
          <p:cNvSpPr/>
          <p:nvPr/>
        </p:nvSpPr>
        <p:spPr>
          <a:xfrm>
            <a:off x="9987000" y="1369037"/>
            <a:ext cx="218554"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C8D4A16-5CCA-40C5-9964-FFF5383065ED}"/>
                  </a:ext>
                </a:extLst>
              </p:cNvPr>
              <p:cNvSpPr txBox="1"/>
              <p:nvPr/>
            </p:nvSpPr>
            <p:spPr>
              <a:xfrm>
                <a:off x="233277" y="2076294"/>
                <a:ext cx="11928881" cy="1754326"/>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dirty="0"/>
              </a:p>
              <a:p>
                <a:pPr marL="742950" lvl="1" indent="-285750">
                  <a:buFont typeface="Arial" panose="020B0604020202020204" pitchFamily="34" charset="0"/>
                  <a:buChar char="•"/>
                </a:pPr>
                <a:r>
                  <a:rPr lang="en-US" altLang="zh-TW" dirty="0"/>
                  <a:t>Capacity </a:t>
                </a:r>
                <a:r>
                  <a:rPr lang="en-US" altLang="zh-TW" dirty="0" err="1"/>
                  <a:t>mean:</a:t>
                </a:r>
                <a:r>
                  <a:rPr lang="en-US" altLang="zh-TW" dirty="0"/>
                  <a:t>A=</a:t>
                </a:r>
                <a14:m>
                  <m:oMath xmlns:m="http://schemas.openxmlformats.org/officeDocument/2006/math">
                    <m:r>
                      <a:rPr lang="en-US" altLang="zh-TW" b="0" i="1" smtClean="0">
                        <a:latin typeface="Cambria Math" panose="02040503050406030204" pitchFamily="18" charset="0"/>
                      </a:rPr>
                      <m:t>14.6246</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r>
                      <a:rPr lang="en-US" altLang="zh-TW" b="0" i="1" smtClean="0">
                        <a:latin typeface="Cambria Math" panose="02040503050406030204" pitchFamily="18" charset="0"/>
                      </a:rPr>
                      <m:t>𝐵</m:t>
                    </m:r>
                    <m:r>
                      <a:rPr lang="en-US" altLang="zh-TW" b="0" i="1" smtClean="0">
                        <a:latin typeface="Cambria Math" panose="02040503050406030204" pitchFamily="18" charset="0"/>
                      </a:rPr>
                      <m:t>=39.5813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r>
                  <a:rPr lang="en-US" altLang="zh-TW" dirty="0"/>
                  <a:t> </a:t>
                </a:r>
              </a:p>
              <a:p>
                <a:pPr marL="742950" lvl="1" indent="-285750">
                  <a:buFont typeface="Arial" panose="020B0604020202020204" pitchFamily="34" charset="0"/>
                  <a:buChar char="•"/>
                </a:pPr>
                <a:r>
                  <a:rPr lang="en-US" altLang="zh-TW" dirty="0"/>
                  <a:t>Iso mean :A=</a:t>
                </a:r>
                <a14:m>
                  <m:oMath xmlns:m="http://schemas.openxmlformats.org/officeDocument/2006/math">
                    <m:r>
                      <a:rPr lang="en-US" altLang="zh-TW" b="0" i="1" smtClean="0">
                        <a:latin typeface="Cambria Math" panose="02040503050406030204" pitchFamily="18" charset="0"/>
                      </a:rPr>
                      <m:t>0.8836,</m:t>
                    </m:r>
                    <m:r>
                      <a:rPr lang="en-US" altLang="zh-TW" b="0" i="1" smtClean="0">
                        <a:latin typeface="Cambria Math" panose="02040503050406030204" pitchFamily="18" charset="0"/>
                      </a:rPr>
                      <m:t>𝐵</m:t>
                    </m:r>
                    <m:r>
                      <a:rPr lang="en-US" altLang="zh-TW" b="0" i="1" smtClean="0">
                        <a:latin typeface="Cambria Math" panose="02040503050406030204" pitchFamily="18" charset="0"/>
                      </a:rPr>
                      <m:t>=0.5439</m:t>
                    </m:r>
                  </m:oMath>
                </a14:m>
                <a:endParaRPr lang="en-US" altLang="zh-TW" dirty="0"/>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endParaRPr lang="en-US" altLang="zh-TW" dirty="0"/>
              </a:p>
              <a:p>
                <a:endParaRPr lang="zh-TW" altLang="en-US" dirty="0"/>
              </a:p>
            </p:txBody>
          </p:sp>
        </mc:Choice>
        <mc:Fallback xmlns="">
          <p:sp>
            <p:nvSpPr>
              <p:cNvPr id="36" name="文字方塊 35">
                <a:extLst>
                  <a:ext uri="{FF2B5EF4-FFF2-40B4-BE49-F238E27FC236}">
                    <a16:creationId xmlns:a16="http://schemas.microsoft.com/office/drawing/2014/main" id="{BC8D4A16-5CCA-40C5-9964-FFF5383065ED}"/>
                  </a:ext>
                </a:extLst>
              </p:cNvPr>
              <p:cNvSpPr txBox="1">
                <a:spLocks noRot="1" noChangeAspect="1" noMove="1" noResize="1" noEditPoints="1" noAdjustHandles="1" noChangeArrowheads="1" noChangeShapeType="1" noTextEdit="1"/>
              </p:cNvSpPr>
              <p:nvPr/>
            </p:nvSpPr>
            <p:spPr>
              <a:xfrm>
                <a:off x="233277" y="2076294"/>
                <a:ext cx="11928881" cy="1754326"/>
              </a:xfrm>
              <a:prstGeom prst="rect">
                <a:avLst/>
              </a:prstGeom>
              <a:blipFill>
                <a:blip r:embed="rId2"/>
                <a:stretch>
                  <a:fillRect l="-307" t="-9059"/>
                </a:stretch>
              </a:blipFill>
            </p:spPr>
            <p:txBody>
              <a:bodyPr/>
              <a:lstStyle/>
              <a:p>
                <a:r>
                  <a:rPr lang="zh-TW" altLang="en-US">
                    <a:noFill/>
                  </a:rPr>
                  <a:t> </a:t>
                </a:r>
              </a:p>
            </p:txBody>
          </p:sp>
        </mc:Fallback>
      </mc:AlternateContent>
      <p:grpSp>
        <p:nvGrpSpPr>
          <p:cNvPr id="14" name="群組 13">
            <a:extLst>
              <a:ext uri="{FF2B5EF4-FFF2-40B4-BE49-F238E27FC236}">
                <a16:creationId xmlns:a16="http://schemas.microsoft.com/office/drawing/2014/main" id="{1D558F2A-14D7-43F6-867F-2DFC236AF3D5}"/>
              </a:ext>
            </a:extLst>
          </p:cNvPr>
          <p:cNvGrpSpPr/>
          <p:nvPr/>
        </p:nvGrpSpPr>
        <p:grpSpPr>
          <a:xfrm>
            <a:off x="530396" y="3177110"/>
            <a:ext cx="4031324" cy="2985095"/>
            <a:chOff x="1332170" y="3219785"/>
            <a:chExt cx="4031324" cy="2985095"/>
          </a:xfrm>
        </p:grpSpPr>
        <p:grpSp>
          <p:nvGrpSpPr>
            <p:cNvPr id="10" name="群組 9">
              <a:extLst>
                <a:ext uri="{FF2B5EF4-FFF2-40B4-BE49-F238E27FC236}">
                  <a16:creationId xmlns:a16="http://schemas.microsoft.com/office/drawing/2014/main" id="{484B6FB1-1C36-4F0F-AB89-DA92DE8D9626}"/>
                </a:ext>
              </a:extLst>
            </p:cNvPr>
            <p:cNvGrpSpPr/>
            <p:nvPr/>
          </p:nvGrpSpPr>
          <p:grpSpPr>
            <a:xfrm>
              <a:off x="1332170" y="3219785"/>
              <a:ext cx="4031324" cy="2985095"/>
              <a:chOff x="1332170" y="3219785"/>
              <a:chExt cx="4031324" cy="2985095"/>
            </a:xfrm>
          </p:grpSpPr>
          <p:pic>
            <p:nvPicPr>
              <p:cNvPr id="4" name="圖片 3">
                <a:extLst>
                  <a:ext uri="{FF2B5EF4-FFF2-40B4-BE49-F238E27FC236}">
                    <a16:creationId xmlns:a16="http://schemas.microsoft.com/office/drawing/2014/main" id="{C9B2C0BC-8E37-4E43-91BC-B3AA4B68D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804" y="3219785"/>
                <a:ext cx="3923690" cy="2899745"/>
              </a:xfrm>
              <a:prstGeom prst="rect">
                <a:avLst/>
              </a:prstGeom>
            </p:spPr>
          </p:pic>
          <p:sp>
            <p:nvSpPr>
              <p:cNvPr id="8" name="矩形 7">
                <a:extLst>
                  <a:ext uri="{FF2B5EF4-FFF2-40B4-BE49-F238E27FC236}">
                    <a16:creationId xmlns:a16="http://schemas.microsoft.com/office/drawing/2014/main" id="{235ADB45-D627-407A-A687-F1BC575B846F}"/>
                  </a:ext>
                </a:extLst>
              </p:cNvPr>
              <p:cNvSpPr/>
              <p:nvPr/>
            </p:nvSpPr>
            <p:spPr>
              <a:xfrm>
                <a:off x="3107267" y="5892621"/>
                <a:ext cx="1016000"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59532031-6E98-4741-9085-BA909E848C96}"/>
                  </a:ext>
                </a:extLst>
              </p:cNvPr>
              <p:cNvSpPr/>
              <p:nvPr/>
            </p:nvSpPr>
            <p:spPr>
              <a:xfrm rot="16200000">
                <a:off x="801366" y="4318803"/>
                <a:ext cx="1373867"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5ED9784D-451D-4348-AEC2-B2DDAE348FA0}"/>
                    </a:ext>
                  </a:extLst>
                </p:cNvPr>
                <p:cNvSpPr txBox="1"/>
                <p:nvPr/>
              </p:nvSpPr>
              <p:spPr>
                <a:xfrm>
                  <a:off x="2290687" y="5824512"/>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C</m:t>
                        </m:r>
                        <m:r>
                          <m:rPr>
                            <m:sty m:val="p"/>
                          </m:rPr>
                          <a:rPr lang="en-US" altLang="zh-TW" b="0" i="0" smtClean="0">
                            <a:latin typeface="Cambria Math" panose="02040503050406030204" pitchFamily="18" charset="0"/>
                            <a:ea typeface="Cambria Math" panose="02040503050406030204" pitchFamily="18" charset="0"/>
                          </a:rPr>
                          <m:t>apacity</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measure</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38" name="文字方塊 37">
                  <a:extLst>
                    <a:ext uri="{FF2B5EF4-FFF2-40B4-BE49-F238E27FC236}">
                      <a16:creationId xmlns:a16="http://schemas.microsoft.com/office/drawing/2014/main" id="{5ED9784D-451D-4348-AEC2-B2DDAE348FA0}"/>
                    </a:ext>
                  </a:extLst>
                </p:cNvPr>
                <p:cNvSpPr txBox="1">
                  <a:spLocks noRot="1" noChangeAspect="1" noMove="1" noResize="1" noEditPoints="1" noAdjustHandles="1" noChangeArrowheads="1" noChangeShapeType="1" noTextEdit="1"/>
                </p:cNvSpPr>
                <p:nvPr/>
              </p:nvSpPr>
              <p:spPr>
                <a:xfrm>
                  <a:off x="2290687" y="5824512"/>
                  <a:ext cx="1832580" cy="369332"/>
                </a:xfrm>
                <a:prstGeom prst="rect">
                  <a:avLst/>
                </a:prstGeom>
                <a:blipFill>
                  <a:blip r:embed="rId4"/>
                  <a:stretch>
                    <a:fillRect t="-118333" r="-72757"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832ECC67-316D-448E-8C37-98F7B0F4DC79}"/>
                    </a:ext>
                  </a:extLst>
                </p:cNvPr>
                <p:cNvSpPr txBox="1"/>
                <p:nvPr/>
              </p:nvSpPr>
              <p:spPr>
                <a:xfrm rot="16200000">
                  <a:off x="416731" y="4331740"/>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39" name="文字方塊 38">
                  <a:extLst>
                    <a:ext uri="{FF2B5EF4-FFF2-40B4-BE49-F238E27FC236}">
                      <a16:creationId xmlns:a16="http://schemas.microsoft.com/office/drawing/2014/main" id="{832ECC67-316D-448E-8C37-98F7B0F4DC79}"/>
                    </a:ext>
                  </a:extLst>
                </p:cNvPr>
                <p:cNvSpPr txBox="1">
                  <a:spLocks noRot="1" noChangeAspect="1" noMove="1" noResize="1" noEditPoints="1" noAdjustHandles="1" noChangeArrowheads="1" noChangeShapeType="1" noTextEdit="1"/>
                </p:cNvSpPr>
                <p:nvPr/>
              </p:nvSpPr>
              <p:spPr>
                <a:xfrm rot="16200000">
                  <a:off x="416731" y="4331740"/>
                  <a:ext cx="2192139" cy="276999"/>
                </a:xfrm>
                <a:prstGeom prst="rect">
                  <a:avLst/>
                </a:prstGeom>
                <a:blipFill>
                  <a:blip r:embed="rId5"/>
                  <a:stretch>
                    <a:fillRect l="-2222" t="-3064" r="-35556" b="-2507"/>
                  </a:stretch>
                </a:blipFill>
              </p:spPr>
              <p:txBody>
                <a:bodyPr/>
                <a:lstStyle/>
                <a:p>
                  <a:r>
                    <a:rPr lang="zh-TW" altLang="en-US">
                      <a:noFill/>
                    </a:rPr>
                    <a:t> </a:t>
                  </a:r>
                </a:p>
              </p:txBody>
            </p:sp>
          </mc:Fallback>
        </mc:AlternateContent>
      </p:grpSp>
      <p:grpSp>
        <p:nvGrpSpPr>
          <p:cNvPr id="11" name="群組 10">
            <a:extLst>
              <a:ext uri="{FF2B5EF4-FFF2-40B4-BE49-F238E27FC236}">
                <a16:creationId xmlns:a16="http://schemas.microsoft.com/office/drawing/2014/main" id="{5D72ED91-C0EB-43DC-8D91-0F641CE88F1C}"/>
              </a:ext>
            </a:extLst>
          </p:cNvPr>
          <p:cNvGrpSpPr/>
          <p:nvPr/>
        </p:nvGrpSpPr>
        <p:grpSpPr>
          <a:xfrm>
            <a:off x="6952571" y="3666826"/>
            <a:ext cx="2691752" cy="2290250"/>
            <a:chOff x="6672153" y="3864289"/>
            <a:chExt cx="2691752" cy="2290250"/>
          </a:xfrm>
        </p:grpSpPr>
        <p:sp>
          <p:nvSpPr>
            <p:cNvPr id="37" name="矩形 36">
              <a:extLst>
                <a:ext uri="{FF2B5EF4-FFF2-40B4-BE49-F238E27FC236}">
                  <a16:creationId xmlns:a16="http://schemas.microsoft.com/office/drawing/2014/main" id="{6DFEC5DC-57FA-452C-BC7B-B54575F5C83A}"/>
                </a:ext>
              </a:extLst>
            </p:cNvPr>
            <p:cNvSpPr/>
            <p:nvPr/>
          </p:nvSpPr>
          <p:spPr>
            <a:xfrm rot="16200000">
              <a:off x="6085426" y="4451016"/>
              <a:ext cx="1469372" cy="2959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9FE43A22-15EA-4BDB-8BBD-E6201C292CE3}"/>
                </a:ext>
              </a:extLst>
            </p:cNvPr>
            <p:cNvSpPr/>
            <p:nvPr/>
          </p:nvSpPr>
          <p:spPr>
            <a:xfrm>
              <a:off x="8347905" y="5842280"/>
              <a:ext cx="1016000" cy="312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2" name="文字方塊 41">
            <a:extLst>
              <a:ext uri="{FF2B5EF4-FFF2-40B4-BE49-F238E27FC236}">
                <a16:creationId xmlns:a16="http://schemas.microsoft.com/office/drawing/2014/main" id="{B9B12945-3B26-47E4-A0C4-3863F0238015}"/>
              </a:ext>
            </a:extLst>
          </p:cNvPr>
          <p:cNvSpPr txBox="1"/>
          <p:nvPr/>
        </p:nvSpPr>
        <p:spPr>
          <a:xfrm>
            <a:off x="233277" y="6314135"/>
            <a:ext cx="462659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resolution is 0.05mT/A </a:t>
            </a:r>
          </a:p>
        </p:txBody>
      </p:sp>
      <p:sp>
        <p:nvSpPr>
          <p:cNvPr id="43" name="文字方塊 42">
            <a:extLst>
              <a:ext uri="{FF2B5EF4-FFF2-40B4-BE49-F238E27FC236}">
                <a16:creationId xmlns:a16="http://schemas.microsoft.com/office/drawing/2014/main" id="{BF8620F4-E2B0-4F31-ACB6-4A4DE7CD4C07}"/>
              </a:ext>
            </a:extLst>
          </p:cNvPr>
          <p:cNvSpPr txBox="1"/>
          <p:nvPr/>
        </p:nvSpPr>
        <p:spPr>
          <a:xfrm>
            <a:off x="6894547" y="6250292"/>
            <a:ext cx="4626590"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resolution is 0.01</a:t>
            </a:r>
          </a:p>
        </p:txBody>
      </p:sp>
      <p:grpSp>
        <p:nvGrpSpPr>
          <p:cNvPr id="15" name="群組 14">
            <a:extLst>
              <a:ext uri="{FF2B5EF4-FFF2-40B4-BE49-F238E27FC236}">
                <a16:creationId xmlns:a16="http://schemas.microsoft.com/office/drawing/2014/main" id="{BD61B173-4718-4D76-92A7-C6440603C625}"/>
              </a:ext>
            </a:extLst>
          </p:cNvPr>
          <p:cNvGrpSpPr/>
          <p:nvPr/>
        </p:nvGrpSpPr>
        <p:grpSpPr>
          <a:xfrm>
            <a:off x="7272870" y="3270668"/>
            <a:ext cx="3323835" cy="2548264"/>
            <a:chOff x="7272870" y="3270668"/>
            <a:chExt cx="3323835" cy="2548264"/>
          </a:xfrm>
        </p:grpSpPr>
        <p:pic>
          <p:nvPicPr>
            <p:cNvPr id="6" name="圖片 5">
              <a:extLst>
                <a:ext uri="{FF2B5EF4-FFF2-40B4-BE49-F238E27FC236}">
                  <a16:creationId xmlns:a16="http://schemas.microsoft.com/office/drawing/2014/main" id="{F519D580-FAD7-43A2-89F2-28E45C9042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0909" y="3270668"/>
              <a:ext cx="3255796" cy="2489200"/>
            </a:xfrm>
            <a:prstGeom prst="rect">
              <a:avLst/>
            </a:prstGeom>
          </p:spPr>
        </p:pic>
        <p:sp>
          <p:nvSpPr>
            <p:cNvPr id="13" name="矩形 12">
              <a:extLst>
                <a:ext uri="{FF2B5EF4-FFF2-40B4-BE49-F238E27FC236}">
                  <a16:creationId xmlns:a16="http://schemas.microsoft.com/office/drawing/2014/main" id="{0A9AE2B9-4C41-4A3E-922B-83C28C90CB91}"/>
                </a:ext>
              </a:extLst>
            </p:cNvPr>
            <p:cNvSpPr/>
            <p:nvPr/>
          </p:nvSpPr>
          <p:spPr>
            <a:xfrm>
              <a:off x="8968807" y="5644817"/>
              <a:ext cx="396116" cy="174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4E527427-3575-4CD7-BFB1-42BB333B4950}"/>
                </a:ext>
              </a:extLst>
            </p:cNvPr>
            <p:cNvSpPr/>
            <p:nvPr/>
          </p:nvSpPr>
          <p:spPr>
            <a:xfrm rot="16200000">
              <a:off x="6812141" y="4229538"/>
              <a:ext cx="1133126" cy="211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7DCE6E4-3C26-4618-90E7-27B159EE30A3}"/>
                  </a:ext>
                </a:extLst>
              </p:cNvPr>
              <p:cNvSpPr txBox="1"/>
              <p:nvPr/>
            </p:nvSpPr>
            <p:spPr>
              <a:xfrm rot="16200000">
                <a:off x="6306602" y="4228238"/>
                <a:ext cx="2192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zh-TW" altLang="en-US" i="1">
                          <a:latin typeface="Cambria Math" panose="02040503050406030204" pitchFamily="18" charset="0"/>
                        </a:rPr>
                        <m:t> </m:t>
                      </m:r>
                      <m:r>
                        <m:rPr>
                          <m:sty m:val="p"/>
                        </m:rPr>
                        <a:rPr lang="en-US" altLang="zh-TW" b="0" i="0" smtClean="0">
                          <a:latin typeface="Cambria Math" panose="02040503050406030204" pitchFamily="18" charset="0"/>
                        </a:rPr>
                        <m:t>count</m:t>
                      </m:r>
                      <m:r>
                        <a:rPr lang="en-US" altLang="zh-TW" b="0" i="1" smtClean="0">
                          <a:latin typeface="Cambria Math" panose="02040503050406030204" pitchFamily="18" charset="0"/>
                        </a:rPr>
                        <m:t>(%)</m:t>
                      </m:r>
                    </m:oMath>
                  </m:oMathPara>
                </a14:m>
                <a:endParaRPr lang="zh-TW" altLang="en-US" sz="2400" dirty="0"/>
              </a:p>
            </p:txBody>
          </p:sp>
        </mc:Choice>
        <mc:Fallback xmlns="">
          <p:sp>
            <p:nvSpPr>
              <p:cNvPr id="41" name="文字方塊 40">
                <a:extLst>
                  <a:ext uri="{FF2B5EF4-FFF2-40B4-BE49-F238E27FC236}">
                    <a16:creationId xmlns:a16="http://schemas.microsoft.com/office/drawing/2014/main" id="{57DCE6E4-3C26-4618-90E7-27B159EE30A3}"/>
                  </a:ext>
                </a:extLst>
              </p:cNvPr>
              <p:cNvSpPr txBox="1">
                <a:spLocks noRot="1" noChangeAspect="1" noMove="1" noResize="1" noEditPoints="1" noAdjustHandles="1" noChangeArrowheads="1" noChangeShapeType="1" noTextEdit="1"/>
              </p:cNvSpPr>
              <p:nvPr/>
            </p:nvSpPr>
            <p:spPr>
              <a:xfrm rot="16200000">
                <a:off x="6306602" y="4228238"/>
                <a:ext cx="2192139" cy="276999"/>
              </a:xfrm>
              <a:prstGeom prst="rect">
                <a:avLst/>
              </a:prstGeom>
              <a:blipFill>
                <a:blip r:embed="rId7"/>
                <a:stretch>
                  <a:fillRect l="-4444" t="-3064" r="-35556" b="-25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4E9418D1-0ECC-4514-8FB2-4DD66B16CA12}"/>
                  </a:ext>
                </a:extLst>
              </p:cNvPr>
              <p:cNvSpPr txBox="1"/>
              <p:nvPr/>
            </p:nvSpPr>
            <p:spPr>
              <a:xfrm>
                <a:off x="8226749" y="5554726"/>
                <a:ext cx="18325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0" smtClean="0">
                          <a:latin typeface="Cambria Math" panose="02040503050406030204" pitchFamily="18" charset="0"/>
                          <a:ea typeface="Cambria Math" panose="02040503050406030204" pitchFamily="18" charset="0"/>
                        </a:rPr>
                        <m:t>I</m:t>
                      </m:r>
                      <m:r>
                        <m:rPr>
                          <m:sty m:val="p"/>
                        </m:rPr>
                        <a:rPr lang="en-US" altLang="zh-TW" b="0" i="0" smtClean="0">
                          <a:latin typeface="Cambria Math" panose="02040503050406030204" pitchFamily="18" charset="0"/>
                          <a:ea typeface="Cambria Math" panose="02040503050406030204" pitchFamily="18" charset="0"/>
                        </a:rPr>
                        <m:t>sotropy</m:t>
                      </m:r>
                    </m:oMath>
                  </m:oMathPara>
                </a14:m>
                <a:endParaRPr lang="zh-TW" altLang="en-US" sz="2400" dirty="0"/>
              </a:p>
            </p:txBody>
          </p:sp>
        </mc:Choice>
        <mc:Fallback xmlns="">
          <p:sp>
            <p:nvSpPr>
              <p:cNvPr id="40" name="文字方塊 39">
                <a:extLst>
                  <a:ext uri="{FF2B5EF4-FFF2-40B4-BE49-F238E27FC236}">
                    <a16:creationId xmlns:a16="http://schemas.microsoft.com/office/drawing/2014/main" id="{4E9418D1-0ECC-4514-8FB2-4DD66B16CA12}"/>
                  </a:ext>
                </a:extLst>
              </p:cNvPr>
              <p:cNvSpPr txBox="1">
                <a:spLocks noRot="1" noChangeAspect="1" noMove="1" noResize="1" noEditPoints="1" noAdjustHandles="1" noChangeArrowheads="1" noChangeShapeType="1" noTextEdit="1"/>
              </p:cNvSpPr>
              <p:nvPr/>
            </p:nvSpPr>
            <p:spPr>
              <a:xfrm>
                <a:off x="8226749" y="5554726"/>
                <a:ext cx="1832580" cy="369332"/>
              </a:xfrm>
              <a:prstGeom prst="rect">
                <a:avLst/>
              </a:prstGeom>
              <a:blipFill>
                <a:blip r:embed="rId8"/>
                <a:stretch>
                  <a:fillRect b="-9836"/>
                </a:stretch>
              </a:blipFill>
            </p:spPr>
            <p:txBody>
              <a:bodyPr/>
              <a:lstStyle/>
              <a:p>
                <a:r>
                  <a:rPr lang="zh-TW" altLang="en-US">
                    <a:noFill/>
                  </a:rPr>
                  <a:t> </a:t>
                </a:r>
              </a:p>
            </p:txBody>
          </p:sp>
        </mc:Fallback>
      </mc:AlternateContent>
      <p:sp>
        <p:nvSpPr>
          <p:cNvPr id="53" name="文字方塊 52">
            <a:extLst>
              <a:ext uri="{FF2B5EF4-FFF2-40B4-BE49-F238E27FC236}">
                <a16:creationId xmlns:a16="http://schemas.microsoft.com/office/drawing/2014/main" id="{0DD9E4FF-1601-4325-B042-9AA513DEEE52}"/>
              </a:ext>
            </a:extLst>
          </p:cNvPr>
          <p:cNvSpPr txBox="1"/>
          <p:nvPr/>
        </p:nvSpPr>
        <p:spPr>
          <a:xfrm>
            <a:off x="212687" y="686879"/>
            <a:ext cx="11843846" cy="1477328"/>
          </a:xfrm>
          <a:prstGeom prst="rect">
            <a:avLst/>
          </a:prstGeom>
          <a:noFill/>
        </p:spPr>
        <p:txBody>
          <a:bodyPr wrap="square">
            <a:spAutoFit/>
          </a:bodyPr>
          <a:lstStyle/>
          <a:p>
            <a:pPr marL="285750" indent="-285750">
              <a:buFont typeface="Arial" panose="020B0604020202020204" pitchFamily="34" charset="0"/>
              <a:buChar char="•"/>
            </a:pPr>
            <a:r>
              <a:rPr lang="zh-TW" altLang="en-US" dirty="0"/>
              <a:t>The two designs are completely disjoint in both metrics. In gain, Design B reaches 2.71× Design A (39.58 vs 14.62 mT/A); in isotropy, only 0.62× (</a:t>
            </a:r>
            <a:r>
              <a:rPr lang="en-US" altLang="zh-TW" dirty="0"/>
              <a:t>Isotropy</a:t>
            </a:r>
            <a:r>
              <a:rPr lang="zh-TW" altLang="en-US" dirty="0"/>
              <a:t> = 0.544 vs 0.884). Design A is also the tighter of the two (CV = 0.93 % vs 1.66 % for </a:t>
            </a:r>
            <a:r>
              <a:rPr lang="en-US" altLang="zh-TW" dirty="0"/>
              <a:t>Capacity</a:t>
            </a:r>
            <a:r>
              <a:rPr lang="zh-TW" altLang="en-US" dirty="0"/>
              <a:t>, 4.67 % vs 8.02 % for </a:t>
            </a:r>
            <a:r>
              <a:rPr lang="en-US" altLang="zh-TW" dirty="0"/>
              <a:t>isotropy</a:t>
            </a:r>
            <a:r>
              <a:rPr lang="zh-TW" altLang="en-US" dirty="0"/>
              <a:t>).</a:t>
            </a:r>
            <a:r>
              <a:rPr lang="en-US" altLang="zh-TW" dirty="0"/>
              <a:t> Each design sits at one end of a direct trade-off between strength and isotropy — neither is uniformly better. Design B suits applications demanding large force output, Design A those needing balanced three-axis control.</a:t>
            </a:r>
            <a:endParaRPr lang="zh-TW" altLang="en-US" dirty="0"/>
          </a:p>
        </p:txBody>
      </p:sp>
    </p:spTree>
    <p:extLst>
      <p:ext uri="{BB962C8B-B14F-4D97-AF65-F5344CB8AC3E}">
        <p14:creationId xmlns:p14="http://schemas.microsoft.com/office/powerpoint/2010/main" val="388950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4258733"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𝑅𝑒𝑠𝑖𝑑𝑢𝑎𝑙</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𝑚𝑖𝑛𝐽</m:t>
                            </m:r>
                          </m:num>
                          <m:den>
                            <m:r>
                              <a:rPr lang="en-US" altLang="zh-TW" b="0" i="1" smtClean="0">
                                <a:latin typeface="Cambria Math" panose="02040503050406030204" pitchFamily="18" charset="0"/>
                                <a:ea typeface="Cambria Math" panose="02040503050406030204" pitchFamily="18" charset="0"/>
                              </a:rPr>
                              <m:t>𝑁</m:t>
                            </m:r>
                          </m:den>
                        </m:f>
                      </m:e>
                    </m:rad>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4258733"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2" y="425029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2" y="4250299"/>
                <a:ext cx="4258733" cy="369332"/>
              </a:xfrm>
              <a:prstGeom prst="rect">
                <a:avLst/>
              </a:prstGeom>
              <a:blipFill>
                <a:blip r:embed="rId8"/>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2" y="359880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𝑎𝑝𝑎𝑐𝑖𝑡𝑦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𝑚𝑒𝑎𝑠𝑢𝑟𝑒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2" y="3598807"/>
                <a:ext cx="4258733" cy="369332"/>
              </a:xfrm>
              <a:prstGeom prst="rect">
                <a:avLst/>
              </a:prstGeom>
              <a:blipFill>
                <a:blip r:embed="rId9"/>
                <a:stretch>
                  <a:fillRect l="-858" t="-116393"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F6FC7C5-863F-44FE-B7F6-035F92FE2774}"/>
                  </a:ext>
                </a:extLst>
              </p:cNvPr>
              <p:cNvSpPr txBox="1"/>
              <p:nvPr/>
            </p:nvSpPr>
            <p:spPr>
              <a:xfrm>
                <a:off x="110061" y="4812587"/>
                <a:ext cx="4258733" cy="621709"/>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𝐴𝑣𝑒𝑟𝑎𝑔𝑒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𝑗</m:t>
                            </m:r>
                          </m:sub>
                          <m:sup/>
                          <m:e>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e>
                                </m:d>
                              </m:e>
                            </m:nary>
                          </m:e>
                        </m:nary>
                      </m:num>
                      <m:den>
                        <m:r>
                          <a:rPr lang="en-US" altLang="zh-TW" b="0" i="1" smtClean="0">
                            <a:latin typeface="Cambria Math" panose="02040503050406030204" pitchFamily="18" charset="0"/>
                            <a:ea typeface="Cambria Math" panose="02040503050406030204" pitchFamily="18" charset="0"/>
                          </a:rPr>
                          <m:t>6×</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oMath>
                </a14:m>
                <a:endParaRPr lang="zh-TW" altLang="en-US" dirty="0"/>
              </a:p>
            </p:txBody>
          </p:sp>
        </mc:Choice>
        <mc:Fallback xmlns="">
          <p:sp>
            <p:nvSpPr>
              <p:cNvPr id="12" name="文字方塊 11">
                <a:extLst>
                  <a:ext uri="{FF2B5EF4-FFF2-40B4-BE49-F238E27FC236}">
                    <a16:creationId xmlns:a16="http://schemas.microsoft.com/office/drawing/2014/main" id="{AF6FC7C5-863F-44FE-B7F6-035F92FE2774}"/>
                  </a:ext>
                </a:extLst>
              </p:cNvPr>
              <p:cNvSpPr txBox="1">
                <a:spLocks noRot="1" noChangeAspect="1" noMove="1" noResize="1" noEditPoints="1" noAdjustHandles="1" noChangeArrowheads="1" noChangeShapeType="1" noTextEdit="1"/>
              </p:cNvSpPr>
              <p:nvPr/>
            </p:nvSpPr>
            <p:spPr>
              <a:xfrm>
                <a:off x="110061" y="4812587"/>
                <a:ext cx="4258733" cy="621709"/>
              </a:xfrm>
              <a:prstGeom prst="rect">
                <a:avLst/>
              </a:prstGeom>
              <a:blipFill>
                <a:blip r:embed="rId10"/>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r>
                      <a:rPr lang="en-US" altLang="zh-TW" b="0" i="1" smtClean="0">
                        <a:latin typeface="Cambria Math" panose="02040503050406030204" pitchFamily="18" charset="0"/>
                      </a:rPr>
                      <m:t>𝑛𝑜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m:t>
                    </m:r>
                    <m:r>
                      <a:rPr lang="en-US" altLang="zh-TW" b="0" i="1"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4839" b="-161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(24 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(10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−0.0795</m:t>
                                </m:r>
                              </m:e>
                              <m:e>
                                <m:r>
                                  <a:rPr lang="en-US" sz="1200" b="0" i="0">
                                    <a:latin typeface="Cambria Math" panose="02040503050406030204" pitchFamily="18" charset="0"/>
                                  </a:rPr>
                                  <m:t>−0.2410</m:t>
                                </m:r>
                              </m:e>
                              <m:e>
                                <m:r>
                                  <a:rPr lang="en-US" sz="1200" b="0" i="0">
                                    <a:latin typeface="Cambria Math" panose="02040503050406030204" pitchFamily="18" charset="0"/>
                                  </a:rPr>
                                  <m:t>−0.1255</m:t>
                                </m:r>
                              </m:e>
                              <m:e>
                                <m:r>
                                  <a:rPr lang="en-US" sz="1200" b="0" i="0">
                                    <a:latin typeface="Cambria Math" panose="02040503050406030204" pitchFamily="18" charset="0"/>
                                  </a:rPr>
                                  <m:t>−0.1259</m:t>
                                </m:r>
                              </m:e>
                              <m:e>
                                <m:r>
                                  <a:rPr lang="en-US" sz="1200" b="0" i="0">
                                    <a:latin typeface="Cambria Math" panose="02040503050406030204" pitchFamily="18" charset="0"/>
                                  </a:rPr>
                                  <m:t>−0.2382</m:t>
                                </m:r>
                              </m:e>
                            </m:mr>
                            <m:mr>
                              <m:e>
                                <m:r>
                                  <a:rPr lang="en-US" sz="1200" b="0" i="0">
                                    <a:latin typeface="Cambria Math" panose="02040503050406030204" pitchFamily="18" charset="0"/>
                                  </a:rPr>
                                  <m:t>−0.0824</m:t>
                                </m:r>
                              </m:e>
                              <m:e>
                                <m:r>
                                  <a:rPr lang="en-US" sz="1200" b="0" i="0">
                                    <a:latin typeface="Cambria Math" panose="02040503050406030204" pitchFamily="18" charset="0"/>
                                  </a:rPr>
                                  <m:t>0.8293</m:t>
                                </m:r>
                              </m:e>
                              <m:e>
                                <m:r>
                                  <a:rPr lang="en-US" sz="1200" b="0" i="0">
                                    <a:latin typeface="Cambria Math" panose="02040503050406030204" pitchFamily="18" charset="0"/>
                                  </a:rPr>
                                  <m:t>−0.1307</m:t>
                                </m:r>
                              </m:e>
                              <m:e>
                                <m:r>
                                  <a:rPr lang="en-US" sz="1200" b="0" i="0">
                                    <a:latin typeface="Cambria Math" panose="02040503050406030204" pitchFamily="18" charset="0"/>
                                  </a:rPr>
                                  <m:t>−0.2399</m:t>
                                </m:r>
                              </m:e>
                              <m:e>
                                <m:r>
                                  <a:rPr lang="en-US" sz="1200" b="0" i="0">
                                    <a:latin typeface="Cambria Math" panose="02040503050406030204" pitchFamily="18" charset="0"/>
                                  </a:rPr>
                                  <m:t>−0.2404</m:t>
                                </m:r>
                              </m:e>
                              <m:e>
                                <m:r>
                                  <a:rPr lang="en-US" sz="1200" b="0" i="0">
                                    <a:latin typeface="Cambria Math" panose="02040503050406030204" pitchFamily="18" charset="0"/>
                                  </a:rPr>
                                  <m:t>−0.1280</m:t>
                                </m:r>
                              </m:e>
                            </m:mr>
                            <m:mr>
                              <m:e>
                                <m:r>
                                  <a:rPr lang="en-US" sz="1200" b="0" i="0">
                                    <a:latin typeface="Cambria Math" panose="02040503050406030204" pitchFamily="18" charset="0"/>
                                  </a:rPr>
                                  <m:t>−0.2795</m:t>
                                </m:r>
                              </m:e>
                              <m:e>
                                <m:r>
                                  <a:rPr lang="en-US" sz="1200" b="0" i="0">
                                    <a:latin typeface="Cambria Math" panose="02040503050406030204" pitchFamily="18" charset="0"/>
                                  </a:rPr>
                                  <m:t>−0.1247</m:t>
                                </m:r>
                              </m:e>
                              <m:e>
                                <m:r>
                                  <a:rPr lang="en-US" sz="1200" b="0" i="0">
                                    <a:latin typeface="Cambria Math" panose="02040503050406030204" pitchFamily="18" charset="0"/>
                                  </a:rPr>
                                  <m:t>0.7473</m:t>
                                </m:r>
                              </m:e>
                              <m:e>
                                <m:r>
                                  <a:rPr lang="en-US" sz="1200" b="0" i="0">
                                    <a:latin typeface="Cambria Math" panose="02040503050406030204" pitchFamily="18" charset="0"/>
                                  </a:rPr>
                                  <m:t>−0.0646</m:t>
                                </m:r>
                              </m:e>
                              <m:e>
                                <m:r>
                                  <a:rPr lang="en-US" sz="1200" b="0" i="0">
                                    <a:latin typeface="Cambria Math" panose="02040503050406030204" pitchFamily="18" charset="0"/>
                                  </a:rPr>
                                  <m:t>−0.0888</m:t>
                                </m:r>
                              </m:e>
                              <m:e>
                                <m:r>
                                  <a:rPr lang="en-US" sz="1200" b="0" i="0">
                                    <a:latin typeface="Cambria Math" panose="02040503050406030204" pitchFamily="18" charset="0"/>
                                  </a:rPr>
                                  <m:t>−0.2562</m:t>
                                </m:r>
                              </m:e>
                            </m:mr>
                            <m:mr>
                              <m:e>
                                <m:r>
                                  <a:rPr lang="en-US" sz="1200" b="0" i="0">
                                    <a:latin typeface="Cambria Math" panose="02040503050406030204" pitchFamily="18" charset="0"/>
                                  </a:rPr>
                                  <m:t>−0.1283</m:t>
                                </m:r>
                              </m:e>
                              <m:e>
                                <m:r>
                                  <a:rPr lang="en-US" sz="1200" b="0" i="0">
                                    <a:latin typeface="Cambria Math" panose="02040503050406030204" pitchFamily="18" charset="0"/>
                                  </a:rPr>
                                  <m:t>−0.2802</m:t>
                                </m:r>
                              </m:e>
                              <m:e>
                                <m:r>
                                  <a:rPr lang="en-US" sz="1200" b="0" i="0">
                                    <a:latin typeface="Cambria Math" panose="02040503050406030204" pitchFamily="18" charset="0"/>
                                  </a:rPr>
                                  <m:t>−0.0699</m:t>
                                </m:r>
                              </m:e>
                              <m:e>
                                <m:r>
                                  <a:rPr lang="en-US" sz="1200" b="0" i="0">
                                    <a:latin typeface="Cambria Math" panose="02040503050406030204" pitchFamily="18" charset="0"/>
                                  </a:rPr>
                                  <m:t>0.7452</m:t>
                                </m:r>
                              </m:e>
                              <m:e>
                                <m:r>
                                  <a:rPr lang="en-US" sz="1200" b="0" i="0">
                                    <a:latin typeface="Cambria Math" panose="02040503050406030204" pitchFamily="18" charset="0"/>
                                  </a:rPr>
                                  <m:t>−0.2586</m:t>
                                </m:r>
                              </m:e>
                              <m:e>
                                <m:r>
                                  <a:rPr lang="en-US" sz="1200" b="0" i="0">
                                    <a:latin typeface="Cambria Math" panose="02040503050406030204" pitchFamily="18" charset="0"/>
                                  </a:rPr>
                                  <m:t>−0.0914</m:t>
                                </m:r>
                              </m:e>
                            </m:mr>
                            <m:mr>
                              <m:e>
                                <m:r>
                                  <a:rPr lang="en-US" sz="1200" b="0" i="0">
                                    <a:latin typeface="Cambria Math" panose="02040503050406030204" pitchFamily="18" charset="0"/>
                                  </a:rPr>
                                  <m:t>−0.1281</m:t>
                                </m:r>
                              </m:e>
                              <m:e>
                                <m:r>
                                  <a:rPr lang="en-US" sz="1200" b="0" i="0">
                                    <a:latin typeface="Cambria Math" panose="02040503050406030204" pitchFamily="18" charset="0"/>
                                  </a:rPr>
                                  <m:t>−0.2802</m:t>
                                </m:r>
                              </m:e>
                              <m:e>
                                <m:r>
                                  <a:rPr lang="en-US" sz="1200" b="0" i="0">
                                    <a:latin typeface="Cambria Math" panose="02040503050406030204" pitchFamily="18" charset="0"/>
                                  </a:rPr>
                                  <m:t>−0.0941</m:t>
                                </m:r>
                              </m:e>
                              <m:e>
                                <m:r>
                                  <a:rPr lang="en-US" sz="1200" b="0" i="0">
                                    <a:latin typeface="Cambria Math" panose="02040503050406030204" pitchFamily="18" charset="0"/>
                                  </a:rPr>
                                  <m:t>−0.2580</m:t>
                                </m:r>
                              </m:e>
                              <m:e>
                                <m:r>
                                  <a:rPr lang="en-US" sz="1200" b="0" i="0">
                                    <a:latin typeface="Cambria Math" panose="02040503050406030204" pitchFamily="18" charset="0"/>
                                  </a:rPr>
                                  <m:t>0.7437</m:t>
                                </m:r>
                              </m:e>
                              <m:e>
                                <m:r>
                                  <a:rPr lang="en-US" sz="1200" b="0" i="0">
                                    <a:latin typeface="Cambria Math" panose="02040503050406030204" pitchFamily="18" charset="0"/>
                                  </a:rPr>
                                  <m:t>−0.0668</m:t>
                                </m:r>
                              </m:e>
                            </m:mr>
                            <m:mr>
                              <m:e>
                                <m:r>
                                  <a:rPr lang="en-US" sz="1200" b="0" i="0">
                                    <a:latin typeface="Cambria Math" panose="02040503050406030204" pitchFamily="18" charset="0"/>
                                  </a:rPr>
                                  <m:t>−0.2794</m:t>
                                </m:r>
                              </m:e>
                              <m:e>
                                <m:r>
                                  <a:rPr lang="en-US" sz="1200" b="0" i="0">
                                    <a:latin typeface="Cambria Math" panose="02040503050406030204" pitchFamily="18" charset="0"/>
                                  </a:rPr>
                                  <m:t>−0.1248</m:t>
                                </m:r>
                              </m:e>
                              <m:e>
                                <m:r>
                                  <a:rPr lang="en-US" sz="1200" b="0" i="0">
                                    <a:latin typeface="Cambria Math" panose="02040503050406030204" pitchFamily="18" charset="0"/>
                                  </a:rPr>
                                  <m:t>−0.2591</m:t>
                                </m:r>
                              </m:e>
                              <m:e>
                                <m:r>
                                  <a:rPr lang="en-US" sz="1200" b="0" i="0">
                                    <a:latin typeface="Cambria Math" panose="02040503050406030204" pitchFamily="18" charset="0"/>
                                  </a:rPr>
                                  <m:t>−0.0883</m:t>
                                </m:r>
                              </m:e>
                              <m:e>
                                <m:r>
                                  <a:rPr lang="en-US" sz="1200" b="0" i="0">
                                    <a:latin typeface="Cambria Math" panose="02040503050406030204" pitchFamily="18" charset="0"/>
                                  </a:rPr>
                                  <m:t>−0.0654</m:t>
                                </m:r>
                              </m:e>
                              <m:e>
                                <m:r>
                                  <a:rPr lang="en-US" sz="1200" b="0" i="0">
                                    <a:latin typeface="Cambria Math" panose="02040503050406030204" pitchFamily="18" charset="0"/>
                                  </a:rPr>
                                  <m:t>0.7507</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0" y="29536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751.8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32.9574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0" y="2953600"/>
                <a:ext cx="3457787"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%=11.02%</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−0.1061</m:t>
                                </m:r>
                              </m:e>
                              <m:e>
                                <m:r>
                                  <a:rPr lang="en-US" sz="1200" b="0" i="0">
                                    <a:latin typeface="Cambria Math" panose="02040503050406030204" pitchFamily="18" charset="0"/>
                                  </a:rPr>
                                  <m:t>−0.1152</m:t>
                                </m:r>
                              </m:e>
                              <m:e>
                                <m:r>
                                  <a:rPr lang="en-US" sz="1200" b="0" i="0">
                                    <a:latin typeface="Cambria Math" panose="02040503050406030204" pitchFamily="18" charset="0"/>
                                  </a:rPr>
                                  <m:t>−0.1882</m:t>
                                </m:r>
                              </m:e>
                              <m:e>
                                <m:r>
                                  <a:rPr lang="en-US" sz="1200" b="0" i="0">
                                    <a:latin typeface="Cambria Math" panose="02040503050406030204" pitchFamily="18" charset="0"/>
                                  </a:rPr>
                                  <m:t>−0.1888</m:t>
                                </m:r>
                              </m:e>
                              <m:e>
                                <m:r>
                                  <a:rPr lang="en-US" sz="1200" b="0" i="0">
                                    <a:latin typeface="Cambria Math" panose="02040503050406030204" pitchFamily="18" charset="0"/>
                                  </a:rPr>
                                  <m:t>−0.1149</m:t>
                                </m:r>
                              </m:e>
                            </m:mr>
                            <m:mr>
                              <m:e>
                                <m:r>
                                  <a:rPr lang="en-US" sz="1200" b="0" i="0">
                                    <a:latin typeface="Cambria Math" panose="02040503050406030204" pitchFamily="18" charset="0"/>
                                  </a:rPr>
                                  <m:t>−0.1119</m:t>
                                </m:r>
                              </m:e>
                              <m:e>
                                <m:r>
                                  <a:rPr lang="en-US" sz="1200" b="0" i="0">
                                    <a:latin typeface="Cambria Math" panose="02040503050406030204" pitchFamily="18" charset="0"/>
                                  </a:rPr>
                                  <m:t>0.8320</m:t>
                                </m:r>
                              </m:e>
                              <m:e>
                                <m:r>
                                  <a:rPr lang="en-US" sz="1200" b="0" i="0">
                                    <a:latin typeface="Cambria Math" panose="02040503050406030204" pitchFamily="18" charset="0"/>
                                  </a:rPr>
                                  <m:t>−0.1939</m:t>
                                </m:r>
                              </m:e>
                              <m:e>
                                <m:r>
                                  <a:rPr lang="en-US" sz="1200" b="0" i="0">
                                    <a:latin typeface="Cambria Math" panose="02040503050406030204" pitchFamily="18" charset="0"/>
                                  </a:rPr>
                                  <m:t>−0.1194</m:t>
                                </m:r>
                              </m:e>
                              <m:e>
                                <m:r>
                                  <a:rPr lang="en-US" sz="1200" b="0" i="0">
                                    <a:latin typeface="Cambria Math" panose="02040503050406030204" pitchFamily="18" charset="0"/>
                                  </a:rPr>
                                  <m:t>−0.1191</m:t>
                                </m:r>
                              </m:e>
                              <m:e>
                                <m:r>
                                  <a:rPr lang="en-US" sz="1200" b="0" i="0">
                                    <a:latin typeface="Cambria Math" panose="02040503050406030204" pitchFamily="18" charset="0"/>
                                  </a:rPr>
                                  <m:t>−0.1942</m:t>
                                </m:r>
                              </m:e>
                            </m:mr>
                            <m:mr>
                              <m:e>
                                <m:r>
                                  <a:rPr lang="en-US" sz="1200" b="0" i="0">
                                    <a:latin typeface="Cambria Math" panose="02040503050406030204" pitchFamily="18" charset="0"/>
                                  </a:rPr>
                                  <m:t>−0.1342</m:t>
                                </m:r>
                              </m:e>
                              <m:e>
                                <m:r>
                                  <a:rPr lang="en-US" sz="1200" b="0" i="0">
                                    <a:latin typeface="Cambria Math" panose="02040503050406030204" pitchFamily="18" charset="0"/>
                                  </a:rPr>
                                  <m:t>−0.1959</m:t>
                                </m:r>
                              </m:e>
                              <m:e>
                                <m:r>
                                  <a:rPr lang="en-US" sz="1200" b="0" i="0">
                                    <a:latin typeface="Cambria Math" panose="02040503050406030204" pitchFamily="18" charset="0"/>
                                  </a:rPr>
                                  <m:t>0.7514</m:t>
                                </m:r>
                              </m:e>
                              <m:e>
                                <m:r>
                                  <a:rPr lang="en-US" sz="1200" b="0" i="0">
                                    <a:latin typeface="Cambria Math" panose="02040503050406030204" pitchFamily="18" charset="0"/>
                                  </a:rPr>
                                  <m:t>−0.0932</m:t>
                                </m:r>
                              </m:e>
                              <m:e>
                                <m:r>
                                  <a:rPr lang="en-US" sz="1200" b="0" i="0">
                                    <a:latin typeface="Cambria Math" panose="02040503050406030204" pitchFamily="18" charset="0"/>
                                  </a:rPr>
                                  <m:t>−0.1592</m:t>
                                </m:r>
                              </m:e>
                              <m:e>
                                <m:r>
                                  <a:rPr lang="en-US" sz="1200" b="0" i="0">
                                    <a:latin typeface="Cambria Math" panose="02040503050406030204" pitchFamily="18" charset="0"/>
                                  </a:rPr>
                                  <m:t>−0.1302</m:t>
                                </m:r>
                              </m:e>
                            </m:mr>
                            <m:mr>
                              <m:e>
                                <m:r>
                                  <a:rPr lang="en-US" sz="1200" b="0" i="0">
                                    <a:latin typeface="Cambria Math" panose="02040503050406030204" pitchFamily="18" charset="0"/>
                                  </a:rPr>
                                  <m:t>−0.2011</m:t>
                                </m:r>
                              </m:e>
                              <m:e>
                                <m:r>
                                  <a:rPr lang="en-US" sz="1200" b="0" i="0">
                                    <a:latin typeface="Cambria Math" panose="02040503050406030204" pitchFamily="18" charset="0"/>
                                  </a:rPr>
                                  <m:t>−0.1369</m:t>
                                </m:r>
                              </m:e>
                              <m:e>
                                <m:r>
                                  <a:rPr lang="en-US" sz="1200" b="0" i="0">
                                    <a:latin typeface="Cambria Math" panose="02040503050406030204" pitchFamily="18" charset="0"/>
                                  </a:rPr>
                                  <m:t>−0.0963</m:t>
                                </m:r>
                              </m:e>
                              <m:e>
                                <m:r>
                                  <a:rPr lang="en-US" sz="1200" b="0" i="0">
                                    <a:latin typeface="Cambria Math" panose="02040503050406030204" pitchFamily="18" charset="0"/>
                                  </a:rPr>
                                  <m:t>0.7409</m:t>
                                </m:r>
                              </m:e>
                              <m:e>
                                <m:r>
                                  <a:rPr lang="en-US" sz="1200" b="0" i="0">
                                    <a:latin typeface="Cambria Math" panose="02040503050406030204" pitchFamily="18" charset="0"/>
                                  </a:rPr>
                                  <m:t>−0.1334</m:t>
                                </m:r>
                              </m:e>
                              <m:e>
                                <m:r>
                                  <a:rPr lang="en-US" sz="1200" b="0" i="0">
                                    <a:latin typeface="Cambria Math" panose="02040503050406030204" pitchFamily="18" charset="0"/>
                                  </a:rPr>
                                  <m:t>−0.1630</m:t>
                                </m:r>
                              </m:e>
                            </m:mr>
                            <m:mr>
                              <m:e>
                                <m:r>
                                  <a:rPr lang="en-US" sz="1200" b="0" i="0">
                                    <a:latin typeface="Cambria Math" panose="02040503050406030204" pitchFamily="18" charset="0"/>
                                  </a:rPr>
                                  <m:t>−0.2013</m:t>
                                </m:r>
                              </m:e>
                              <m:e>
                                <m:r>
                                  <a:rPr lang="en-US" sz="1200" b="0" i="0">
                                    <a:latin typeface="Cambria Math" panose="02040503050406030204" pitchFamily="18" charset="0"/>
                                  </a:rPr>
                                  <m:t>−0.1372</m:t>
                                </m:r>
                              </m:e>
                              <m:e>
                                <m:r>
                                  <a:rPr lang="en-US" sz="1200" b="0" i="0">
                                    <a:latin typeface="Cambria Math" panose="02040503050406030204" pitchFamily="18" charset="0"/>
                                  </a:rPr>
                                  <m:t>−0.1625</m:t>
                                </m:r>
                              </m:e>
                              <m:e>
                                <m:r>
                                  <a:rPr lang="en-US" sz="1200" b="0" i="0">
                                    <a:latin typeface="Cambria Math" panose="02040503050406030204" pitchFamily="18" charset="0"/>
                                  </a:rPr>
                                  <m:t>−0.1341</m:t>
                                </m:r>
                              </m:e>
                              <m:e>
                                <m:r>
                                  <a:rPr lang="en-US" sz="1200" b="0" i="0">
                                    <a:latin typeface="Cambria Math" panose="02040503050406030204" pitchFamily="18" charset="0"/>
                                  </a:rPr>
                                  <m:t>0.7421</m:t>
                                </m:r>
                              </m:e>
                              <m:e>
                                <m:r>
                                  <a:rPr lang="en-US" sz="1200" b="0" i="0">
                                    <a:latin typeface="Cambria Math" panose="02040503050406030204" pitchFamily="18" charset="0"/>
                                  </a:rPr>
                                  <m:t>−0.0969</m:t>
                                </m:r>
                              </m:e>
                            </m:mr>
                            <m:mr>
                              <m:e>
                                <m:r>
                                  <a:rPr lang="en-US" sz="1200" b="0" i="0">
                                    <a:latin typeface="Cambria Math" panose="02040503050406030204" pitchFamily="18" charset="0"/>
                                  </a:rPr>
                                  <m:t>−0.1337</m:t>
                                </m:r>
                              </m:e>
                              <m:e>
                                <m:r>
                                  <a:rPr lang="en-US" sz="1200" b="0" i="0">
                                    <a:latin typeface="Cambria Math" panose="02040503050406030204" pitchFamily="18" charset="0"/>
                                  </a:rPr>
                                  <m:t>−0.1958</m:t>
                                </m:r>
                              </m:e>
                              <m:e>
                                <m:r>
                                  <a:rPr lang="en-US" sz="1200" b="0" i="0">
                                    <a:latin typeface="Cambria Math" panose="02040503050406030204" pitchFamily="18" charset="0"/>
                                  </a:rPr>
                                  <m:t>−0.1296</m:t>
                                </m:r>
                              </m:e>
                              <m:e>
                                <m:r>
                                  <a:rPr lang="en-US" sz="1200" b="0" i="0">
                                    <a:latin typeface="Cambria Math" panose="02040503050406030204" pitchFamily="18" charset="0"/>
                                  </a:rPr>
                                  <m:t>−0.1589</m:t>
                                </m:r>
                              </m:e>
                              <m:e>
                                <m:r>
                                  <a:rPr lang="en-US" sz="1200" b="0" i="0">
                                    <a:latin typeface="Cambria Math" panose="02040503050406030204" pitchFamily="18" charset="0"/>
                                  </a:rPr>
                                  <m:t>−0.0928</m:t>
                                </m:r>
                              </m:e>
                              <m:e>
                                <m:r>
                                  <a:rPr lang="en-US" sz="1200" b="0" i="0">
                                    <a:latin typeface="Cambria Math" panose="02040503050406030204" pitchFamily="18" charset="0"/>
                                  </a:rPr>
                                  <m:t>0.7493</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603.8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37.3823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%=0.65%</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−0.0025</m:t>
                                </m:r>
                              </m:e>
                              <m:e>
                                <m:r>
                                  <a:rPr lang="en-US" sz="1200" b="0" i="0">
                                    <a:latin typeface="Cambria Math" panose="02040503050406030204" pitchFamily="18" charset="0"/>
                                  </a:rPr>
                                  <m:t>0.0001</m:t>
                                </m:r>
                              </m:e>
                              <m:e>
                                <m:r>
                                  <a:rPr lang="en-US" sz="1200" b="0" i="0">
                                    <a:latin typeface="Cambria Math" panose="02040503050406030204" pitchFamily="18" charset="0"/>
                                  </a:rPr>
                                  <m:t>−0.2172</m:t>
                                </m:r>
                              </m:e>
                              <m:e>
                                <m:r>
                                  <a:rPr lang="en-US" sz="1200" b="0" i="0">
                                    <a:latin typeface="Cambria Math" panose="02040503050406030204" pitchFamily="18" charset="0"/>
                                  </a:rPr>
                                  <m:t>0.2154</m:t>
                                </m:r>
                              </m:e>
                              <m:e>
                                <m:r>
                                  <a:rPr lang="en-US" sz="1200" b="0" i="0">
                                    <a:latin typeface="Cambria Math" panose="02040503050406030204" pitchFamily="18" charset="0"/>
                                  </a:rPr>
                                  <m:t>0.2168</m:t>
                                </m:r>
                              </m:e>
                              <m:e>
                                <m:r>
                                  <a:rPr lang="en-US" sz="1200" b="0" i="0">
                                    <a:latin typeface="Cambria Math" panose="02040503050406030204" pitchFamily="18" charset="0"/>
                                  </a:rPr>
                                  <m:t>−0.2171</m:t>
                                </m:r>
                              </m:e>
                            </m:mr>
                            <m:mr>
                              <m:e>
                                <m:r>
                                  <a:rPr lang="en-US" sz="1200" b="0" i="0">
                                    <a:latin typeface="Cambria Math" panose="02040503050406030204" pitchFamily="18" charset="0"/>
                                  </a:rPr>
                                  <m:t>−0.2164</m:t>
                                </m:r>
                              </m:e>
                              <m:e>
                                <m:r>
                                  <a:rPr lang="en-US" sz="1200" b="0" i="0">
                                    <a:latin typeface="Cambria Math" panose="02040503050406030204" pitchFamily="18" charset="0"/>
                                  </a:rPr>
                                  <m:t>0.2161</m:t>
                                </m:r>
                              </m:e>
                              <m:e>
                                <m:r>
                                  <a:rPr lang="en-US" sz="1200" b="0" i="0">
                                    <a:latin typeface="Cambria Math" panose="02040503050406030204" pitchFamily="18" charset="0"/>
                                  </a:rPr>
                                  <m:t>0.0020</m:t>
                                </m:r>
                              </m:e>
                              <m:e>
                                <m:r>
                                  <a:rPr lang="en-US" sz="1200" b="0" i="0">
                                    <a:latin typeface="Cambria Math" panose="02040503050406030204" pitchFamily="18" charset="0"/>
                                  </a:rPr>
                                  <m:t>0.0002</m:t>
                                </m:r>
                              </m:e>
                              <m:e>
                                <m:r>
                                  <a:rPr lang="en-US" sz="1200" b="0" i="0">
                                    <a:latin typeface="Cambria Math" panose="02040503050406030204" pitchFamily="18" charset="0"/>
                                  </a:rPr>
                                  <m:t>0.2178</m:t>
                                </m:r>
                              </m:e>
                              <m:e>
                                <m:r>
                                  <a:rPr lang="en-US" sz="1200" b="0" i="0">
                                    <a:latin typeface="Cambria Math" panose="02040503050406030204" pitchFamily="18" charset="0"/>
                                  </a:rPr>
                                  <m:t>−0.2163</m:t>
                                </m:r>
                              </m:e>
                            </m:mr>
                            <m:mr>
                              <m:e>
                                <m:r>
                                  <a:rPr lang="en-US" sz="1200" b="0" i="0">
                                    <a:latin typeface="Cambria Math" panose="02040503050406030204" pitchFamily="18" charset="0"/>
                                  </a:rPr>
                                  <m:t>0.2167</m:t>
                                </m:r>
                              </m:e>
                              <m:e>
                                <m:r>
                                  <a:rPr lang="en-US" sz="1200" b="0" i="0">
                                    <a:latin typeface="Cambria Math" panose="02040503050406030204" pitchFamily="18" charset="0"/>
                                  </a:rPr>
                                  <m:t>−0.2166</m:t>
                                </m:r>
                              </m:e>
                              <m:e>
                                <m:r>
                                  <a:rPr lang="en-US" sz="1200" b="0" i="0">
                                    <a:latin typeface="Cambria Math" panose="02040503050406030204" pitchFamily="18" charset="0"/>
                                  </a:rPr>
                                  <m:t>0.2164</m:t>
                                </m:r>
                              </m:e>
                              <m:e>
                                <m:r>
                                  <a:rPr lang="en-US" sz="1200" b="0" i="0">
                                    <a:latin typeface="Cambria Math" panose="02040503050406030204" pitchFamily="18" charset="0"/>
                                  </a:rPr>
                                  <m:t>−0.2176</m:t>
                                </m:r>
                              </m:e>
                              <m:e>
                                <m:r>
                                  <a:rPr lang="en-US" sz="1200" b="0" i="0">
                                    <a:latin typeface="Cambria Math" panose="02040503050406030204" pitchFamily="18" charset="0"/>
                                  </a:rPr>
                                  <m:t>0.0005</m:t>
                                </m:r>
                              </m:e>
                              <m:e>
                                <m:r>
                                  <a:rPr lang="en-US" sz="1200" b="0" i="0">
                                    <a:latin typeface="Cambria Math" panose="02040503050406030204" pitchFamily="18" charset="0"/>
                                  </a:rPr>
                                  <m:t>−0.0002</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53324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23767</TotalTime>
  <Words>3913</Words>
  <Application>Microsoft Office PowerPoint</Application>
  <PresentationFormat>寬螢幕</PresentationFormat>
  <Paragraphs>392</Paragraphs>
  <Slides>25</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25</vt:i4>
      </vt:variant>
    </vt:vector>
  </HeadingPairs>
  <TitlesOfParts>
    <vt:vector size="33"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357</cp:revision>
  <dcterms:created xsi:type="dcterms:W3CDTF">2026-07-23T11:39:15Z</dcterms:created>
  <dcterms:modified xsi:type="dcterms:W3CDTF">2026-08-21T13:25:55Z</dcterms:modified>
</cp:coreProperties>
</file>